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1.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df0f532ee5042b4" /><Relationship Type="http://schemas.openxmlformats.org/officeDocument/2006/relationships/extended-properties" Target="/docProps/app.xml" Id="R64355671f5604771" /><Relationship Type="http://schemas.openxmlformats.org/officeDocument/2006/relationships/officeDocument" Target="/ppt/presentation.xml" Id="R74414967915e463d" /></Relationships>
</file>

<file path=ppt/presentation.xml><?xml version="1.0" encoding="utf-8"?>
<p:presentation xmlns:p="http://schemas.openxmlformats.org/presentationml/2006/main">
  <p:sldMasterIdLst>
    <p:sldMasterId xmlns:r="http://schemas.openxmlformats.org/officeDocument/2006/relationships" id="2147483648" r:id="R54fc645a39c242d8"/>
  </p:sldMasterIdLst>
  <p:notesMasterIdLst>
    <p:notesMasterId xmlns:r="http://schemas.openxmlformats.org/officeDocument/2006/relationships" r:id="R31bdbbb98ecb49a2"/>
  </p:notesMasterIdLst>
  <p:sldIdLst>
    <p:sldId xmlns:r="http://schemas.openxmlformats.org/officeDocument/2006/relationships" id="256" r:id="Rb46db09da3cf4fc7"/>
    <p:sldId xmlns:r="http://schemas.openxmlformats.org/officeDocument/2006/relationships" id="257" r:id="R2dd031b2d03148c7"/>
    <p:sldId xmlns:r="http://schemas.openxmlformats.org/officeDocument/2006/relationships" id="258" r:id="R75189e4636664824"/>
    <p:sldId xmlns:r="http://schemas.openxmlformats.org/officeDocument/2006/relationships" id="259" r:id="Rf8e36295a6204fea"/>
    <p:sldId xmlns:r="http://schemas.openxmlformats.org/officeDocument/2006/relationships" id="260" r:id="Rf039d609add9427e"/>
    <p:sldId xmlns:r="http://schemas.openxmlformats.org/officeDocument/2006/relationships" id="261" r:id="R1a3807229f7a4bf6"/>
    <p:sldId xmlns:r="http://schemas.openxmlformats.org/officeDocument/2006/relationships" id="262" r:id="Rfa7b163b77a44fd4"/>
    <p:sldId xmlns:r="http://schemas.openxmlformats.org/officeDocument/2006/relationships" id="263" r:id="R051b35e82cc34211"/>
    <p:sldId xmlns:r="http://schemas.openxmlformats.org/officeDocument/2006/relationships" id="264" r:id="Rd9061cf1cc42487b"/>
    <p:sldId xmlns:r="http://schemas.openxmlformats.org/officeDocument/2006/relationships" id="265" r:id="R84fb87a8984f48fc"/>
    <p:sldId xmlns:r="http://schemas.openxmlformats.org/officeDocument/2006/relationships" id="266" r:id="R0632acf75f154b47"/>
    <p:sldId xmlns:r="http://schemas.openxmlformats.org/officeDocument/2006/relationships" id="267" r:id="Rdc79df2335e747ef"/>
    <p:sldId xmlns:r="http://schemas.openxmlformats.org/officeDocument/2006/relationships" id="268" r:id="R3e3a6850654f4a0e"/>
    <p:sldId xmlns:r="http://schemas.openxmlformats.org/officeDocument/2006/relationships" id="269" r:id="R89443ae1fd2c4d8f"/>
    <p:sldId xmlns:r="http://schemas.openxmlformats.org/officeDocument/2006/relationships" id="270" r:id="R3a9b7d07e08f4507"/>
    <p:sldId xmlns:r="http://schemas.openxmlformats.org/officeDocument/2006/relationships" id="271" r:id="Rb22f2e4d7ef3483e"/>
    <p:sldId xmlns:r="http://schemas.openxmlformats.org/officeDocument/2006/relationships" id="272" r:id="R0ead45b8a4af4e32"/>
    <p:sldId xmlns:r="http://schemas.openxmlformats.org/officeDocument/2006/relationships" id="273" r:id="Red7d91f3be8f4a1f"/>
    <p:sldId xmlns:r="http://schemas.openxmlformats.org/officeDocument/2006/relationships" id="274" r:id="Rc4fc4664a5f14df8"/>
    <p:sldId xmlns:r="http://schemas.openxmlformats.org/officeDocument/2006/relationships" id="275" r:id="R25fe64151da94edc"/>
    <p:sldId xmlns:r="http://schemas.openxmlformats.org/officeDocument/2006/relationships" id="276" r:id="Rf8adf4f6800f42d9"/>
    <p:sldId xmlns:r="http://schemas.openxmlformats.org/officeDocument/2006/relationships" id="277" r:id="R6d869928041e4a53"/>
    <p:sldId xmlns:r="http://schemas.openxmlformats.org/officeDocument/2006/relationships" id="278" r:id="R7dbda9b5fa284aaf"/>
    <p:sldId xmlns:r="http://schemas.openxmlformats.org/officeDocument/2006/relationships" id="279" r:id="Rde9b16cb69e04faf"/>
    <p:sldId xmlns:r="http://schemas.openxmlformats.org/officeDocument/2006/relationships" id="280" r:id="Rec480c64182a4131"/>
    <p:sldId xmlns:r="http://schemas.openxmlformats.org/officeDocument/2006/relationships" id="281" r:id="Rcfe422b05892406a"/>
    <p:sldId xmlns:r="http://schemas.openxmlformats.org/officeDocument/2006/relationships" id="282" r:id="Rfa6a366b5fc9414f"/>
    <p:sldId xmlns:r="http://schemas.openxmlformats.org/officeDocument/2006/relationships" id="283" r:id="R00590257abc949c1"/>
    <p:sldId xmlns:r="http://schemas.openxmlformats.org/officeDocument/2006/relationships" id="284" r:id="R904fd9f057c7462d"/>
    <p:sldId xmlns:r="http://schemas.openxmlformats.org/officeDocument/2006/relationships" id="285" r:id="R16b7577f4e2d46c5"/>
    <p:sldId xmlns:r="http://schemas.openxmlformats.org/officeDocument/2006/relationships" id="286" r:id="Rf3dd4e854d4e41c9"/>
    <p:sldId xmlns:r="http://schemas.openxmlformats.org/officeDocument/2006/relationships" id="287" r:id="R3c6e9fdafa6744b1"/>
    <p:sldId xmlns:r="http://schemas.openxmlformats.org/officeDocument/2006/relationships" id="288" r:id="Rcbacf6c94430481f"/>
    <p:sldId xmlns:r="http://schemas.openxmlformats.org/officeDocument/2006/relationships" id="289" r:id="R3ef5601e2545498d"/>
    <p:sldId xmlns:r="http://schemas.openxmlformats.org/officeDocument/2006/relationships" id="290" r:id="R579c96dd938043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8dc83415c4e4af8" /><Relationship Type="http://schemas.openxmlformats.org/officeDocument/2006/relationships/slideMaster" Target="/ppt/slideMasters/slideMaster1.xml" Id="R54fc645a39c242d8" /><Relationship Type="http://schemas.openxmlformats.org/officeDocument/2006/relationships/notesMaster" Target="/ppt/notesMasters/notesMaster1.xml" Id="R31bdbbb98ecb49a2" /><Relationship Type="http://schemas.openxmlformats.org/officeDocument/2006/relationships/presProps" Target="/ppt/presProps.xml" Id="R910788c6dc9e4ffb" /><Relationship Type="http://schemas.openxmlformats.org/officeDocument/2006/relationships/viewProps" Target="/ppt/viewProps.xml" Id="Ra1d5e795cb7c4bd4" /><Relationship Type="http://schemas.openxmlformats.org/officeDocument/2006/relationships/tableStyles" Target="/ppt/tableStyles.xml" Id="R27561f956bec4539" /><Relationship Type="http://schemas.openxmlformats.org/officeDocument/2006/relationships/slide" Target="/ppt/slides/slide1.xml" Id="Rb46db09da3cf4fc7" /><Relationship Type="http://schemas.openxmlformats.org/officeDocument/2006/relationships/slide" Target="/ppt/slides/slide2.xml" Id="R2dd031b2d03148c7" /><Relationship Type="http://schemas.openxmlformats.org/officeDocument/2006/relationships/slide" Target="/ppt/slides/slide3.xml" Id="R75189e4636664824" /><Relationship Type="http://schemas.openxmlformats.org/officeDocument/2006/relationships/slide" Target="/ppt/slides/slide4.xml" Id="Rf8e36295a6204fea" /><Relationship Type="http://schemas.openxmlformats.org/officeDocument/2006/relationships/slide" Target="/ppt/slides/slide5.xml" Id="Rf039d609add9427e" /><Relationship Type="http://schemas.openxmlformats.org/officeDocument/2006/relationships/slide" Target="/ppt/slides/slide6.xml" Id="R1a3807229f7a4bf6" /><Relationship Type="http://schemas.openxmlformats.org/officeDocument/2006/relationships/slide" Target="/ppt/slides/slide7.xml" Id="Rfa7b163b77a44fd4" /><Relationship Type="http://schemas.openxmlformats.org/officeDocument/2006/relationships/slide" Target="/ppt/slides/slide8.xml" Id="R051b35e82cc34211" /><Relationship Type="http://schemas.openxmlformats.org/officeDocument/2006/relationships/slide" Target="/ppt/slides/slide9.xml" Id="Rd9061cf1cc42487b" /><Relationship Type="http://schemas.openxmlformats.org/officeDocument/2006/relationships/slide" Target="/ppt/slides/slide10.xml" Id="R84fb87a8984f48fc" /><Relationship Type="http://schemas.openxmlformats.org/officeDocument/2006/relationships/slide" Target="/ppt/slides/slide11.xml" Id="R0632acf75f154b47" /><Relationship Type="http://schemas.openxmlformats.org/officeDocument/2006/relationships/slide" Target="/ppt/slides/slide12.xml" Id="Rdc79df2335e747ef" /><Relationship Type="http://schemas.openxmlformats.org/officeDocument/2006/relationships/slide" Target="/ppt/slides/slide13.xml" Id="R3e3a6850654f4a0e" /><Relationship Type="http://schemas.openxmlformats.org/officeDocument/2006/relationships/slide" Target="/ppt/slides/slide14.xml" Id="R89443ae1fd2c4d8f" /><Relationship Type="http://schemas.openxmlformats.org/officeDocument/2006/relationships/slide" Target="/ppt/slides/slide15.xml" Id="R3a9b7d07e08f4507" /><Relationship Type="http://schemas.openxmlformats.org/officeDocument/2006/relationships/slide" Target="/ppt/slides/slide16.xml" Id="Rb22f2e4d7ef3483e" /><Relationship Type="http://schemas.openxmlformats.org/officeDocument/2006/relationships/slide" Target="/ppt/slides/slide17.xml" Id="R0ead45b8a4af4e32" /><Relationship Type="http://schemas.openxmlformats.org/officeDocument/2006/relationships/slide" Target="/ppt/slides/slide18.xml" Id="Red7d91f3be8f4a1f" /><Relationship Type="http://schemas.openxmlformats.org/officeDocument/2006/relationships/slide" Target="/ppt/slides/slide19.xml" Id="Rc4fc4664a5f14df8" /><Relationship Type="http://schemas.openxmlformats.org/officeDocument/2006/relationships/slide" Target="/ppt/slides/slide20.xml" Id="R25fe64151da94edc" /><Relationship Type="http://schemas.openxmlformats.org/officeDocument/2006/relationships/slide" Target="/ppt/slides/slide21.xml" Id="Rf8adf4f6800f42d9" /><Relationship Type="http://schemas.openxmlformats.org/officeDocument/2006/relationships/slide" Target="/ppt/slides/slide22.xml" Id="R6d869928041e4a53" /><Relationship Type="http://schemas.openxmlformats.org/officeDocument/2006/relationships/slide" Target="/ppt/slides/slide23.xml" Id="R7dbda9b5fa284aaf" /><Relationship Type="http://schemas.openxmlformats.org/officeDocument/2006/relationships/slide" Target="/ppt/slides/slide24.xml" Id="Rde9b16cb69e04faf" /><Relationship Type="http://schemas.openxmlformats.org/officeDocument/2006/relationships/slide" Target="/ppt/slides/slide25.xml" Id="Rec480c64182a4131" /><Relationship Type="http://schemas.openxmlformats.org/officeDocument/2006/relationships/slide" Target="/ppt/slides/slide26.xml" Id="Rcfe422b05892406a" /><Relationship Type="http://schemas.openxmlformats.org/officeDocument/2006/relationships/slide" Target="/ppt/slides/slide27.xml" Id="Rfa6a366b5fc9414f" /><Relationship Type="http://schemas.openxmlformats.org/officeDocument/2006/relationships/slide" Target="/ppt/slides/slide28.xml" Id="R00590257abc949c1" /><Relationship Type="http://schemas.openxmlformats.org/officeDocument/2006/relationships/slide" Target="/ppt/slides/slide29.xml" Id="R904fd9f057c7462d" /><Relationship Type="http://schemas.openxmlformats.org/officeDocument/2006/relationships/slide" Target="/ppt/slides/slide30.xml" Id="R16b7577f4e2d46c5" /><Relationship Type="http://schemas.openxmlformats.org/officeDocument/2006/relationships/slide" Target="/ppt/slides/slide31.xml" Id="Rf3dd4e854d4e41c9" /><Relationship Type="http://schemas.openxmlformats.org/officeDocument/2006/relationships/slide" Target="/ppt/slides/slide32.xml" Id="R3c6e9fdafa6744b1" /><Relationship Type="http://schemas.openxmlformats.org/officeDocument/2006/relationships/slide" Target="/ppt/slides/slide33.xml" Id="Rcbacf6c94430481f" /><Relationship Type="http://schemas.openxmlformats.org/officeDocument/2006/relationships/slide" Target="/ppt/slides/slide34.xml" Id="R3ef5601e2545498d" /><Relationship Type="http://schemas.openxmlformats.org/officeDocument/2006/relationships/slide" Target="/ppt/slides/slide35.xml" Id="R579c96dd938043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2cccf41ed4c43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02d0cb12f849c4" /><Relationship Type="http://schemas.openxmlformats.org/officeDocument/2006/relationships/notesMaster" Target="/ppt/notesMasters/notesMaster1.xml" Id="R5eb49244d25e432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a1d237028d49b7" /><Relationship Type="http://schemas.openxmlformats.org/officeDocument/2006/relationships/notesMaster" Target="/ppt/notesMasters/notesMaster1.xml" Id="Rc167efdd2af047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3dcc3866934b4450" /><Relationship Type="http://schemas.openxmlformats.org/officeDocument/2006/relationships/notesMaster" Target="/ppt/notesMasters/notesMaster1.xml" Id="R94b0673a51964c0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063d3162384508" /><Relationship Type="http://schemas.openxmlformats.org/officeDocument/2006/relationships/notesMaster" Target="/ppt/notesMasters/notesMaster1.xml" Id="R3b2420c9992245db"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3f359b15564fb9" /><Relationship Type="http://schemas.openxmlformats.org/officeDocument/2006/relationships/notesMaster" Target="/ppt/notesMasters/notesMaster1.xml" Id="R5cd31517c50e4c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5bf91a2be54321" /><Relationship Type="http://schemas.openxmlformats.org/officeDocument/2006/relationships/notesMaster" Target="/ppt/notesMasters/notesMaster1.xml" Id="Rd8488db4ea2943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a7c86ceb7df540f6" /><Relationship Type="http://schemas.openxmlformats.org/officeDocument/2006/relationships/notesMaster" Target="/ppt/notesMasters/notesMaster1.xml" Id="Re88f9b7ba96343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0d47ff17944b1d" /><Relationship Type="http://schemas.openxmlformats.org/officeDocument/2006/relationships/notesMaster" Target="/ppt/notesMasters/notesMaster1.xml" Id="R35e64f0011f649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fa3fc2271584cac" /><Relationship Type="http://schemas.openxmlformats.org/officeDocument/2006/relationships/notesMaster" Target="/ppt/notesMasters/notesMaster1.xml" Id="R02215f1de9ad4bc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6705eb4678a4cf8" /><Relationship Type="http://schemas.openxmlformats.org/officeDocument/2006/relationships/notesMaster" Target="/ppt/notesMasters/notesMaster1.xml" Id="R0b22094d743a4a8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a0afc7adb604f0f" /><Relationship Type="http://schemas.openxmlformats.org/officeDocument/2006/relationships/notesMaster" Target="/ppt/notesMasters/notesMaster1.xml" Id="R5a9478375e654e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4464b24c3e48e9" /><Relationship Type="http://schemas.openxmlformats.org/officeDocument/2006/relationships/notesMaster" Target="/ppt/notesMasters/notesMaster1.xml" Id="R764cf8e46d9f4f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9b81a1e52b84280" /><Relationship Type="http://schemas.openxmlformats.org/officeDocument/2006/relationships/notesMaster" Target="/ppt/notesMasters/notesMaster1.xml" Id="Re351b2de3c1f45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71b72ef3b6f4d6f" /><Relationship Type="http://schemas.openxmlformats.org/officeDocument/2006/relationships/notesMaster" Target="/ppt/notesMasters/notesMaster1.xml" Id="R97c5563a192c48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2bd87c31c2480e" /><Relationship Type="http://schemas.openxmlformats.org/officeDocument/2006/relationships/notesMaster" Target="/ppt/notesMasters/notesMaster1.xml" Id="R7f9bd9e5fd1a48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b98f0ad16943e0" /><Relationship Type="http://schemas.openxmlformats.org/officeDocument/2006/relationships/notesMaster" Target="/ppt/notesMasters/notesMaster1.xml" Id="R4572e0bb3b914a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de8c599152e4c7f" /><Relationship Type="http://schemas.openxmlformats.org/officeDocument/2006/relationships/notesMaster" Target="/ppt/notesMasters/notesMaster1.xml" Id="R8fb8169b87ba4c6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7e582d254a24146" /><Relationship Type="http://schemas.openxmlformats.org/officeDocument/2006/relationships/notesMaster" Target="/ppt/notesMasters/notesMaster1.xml" Id="Rcdee411ecc31468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df91cb10cf44309" /><Relationship Type="http://schemas.openxmlformats.org/officeDocument/2006/relationships/notesMaster" Target="/ppt/notesMasters/notesMaster1.xml" Id="R9c096fd5a36f44c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3fae14a316b410f" /><Relationship Type="http://schemas.openxmlformats.org/officeDocument/2006/relationships/notesMaster" Target="/ppt/notesMasters/notesMaster1.xml" Id="R3c6aa1184fda476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04598ff8ab14f14" /><Relationship Type="http://schemas.openxmlformats.org/officeDocument/2006/relationships/notesMaster" Target="/ppt/notesMasters/notesMaster1.xml" Id="R6810777c8ced48f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e67673e660e4f72" /><Relationship Type="http://schemas.openxmlformats.org/officeDocument/2006/relationships/notesMaster" Target="/ppt/notesMasters/notesMaster1.xml" Id="R5477fdbdcd5c400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8ec1037a1f24474" /><Relationship Type="http://schemas.openxmlformats.org/officeDocument/2006/relationships/notesMaster" Target="/ppt/notesMasters/notesMaster1.xml" Id="Rdd364b5297c14e4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bd441d25c9241cb" /><Relationship Type="http://schemas.openxmlformats.org/officeDocument/2006/relationships/notesMaster" Target="/ppt/notesMasters/notesMaster1.xml" Id="Rfaa51e0c26204ea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56745fbdaf74eeb" /><Relationship Type="http://schemas.openxmlformats.org/officeDocument/2006/relationships/notesMaster" Target="/ppt/notesMasters/notesMaster1.xml" Id="Re59a93c7bdd8448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8a2ad6e71f824102" /><Relationship Type="http://schemas.openxmlformats.org/officeDocument/2006/relationships/notesMaster" Target="/ppt/notesMasters/notesMaster1.xml" Id="R9f2e6ef7e28d4d4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b56d10f912c4fc6" /><Relationship Type="http://schemas.openxmlformats.org/officeDocument/2006/relationships/notesMaster" Target="/ppt/notesMasters/notesMaster1.xml" Id="R09f244957a4541e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ca7dd1167a8402a" /><Relationship Type="http://schemas.openxmlformats.org/officeDocument/2006/relationships/notesMaster" Target="/ppt/notesMasters/notesMaster1.xml" Id="Rc99b695a963547c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054741497d5401c" /><Relationship Type="http://schemas.openxmlformats.org/officeDocument/2006/relationships/notesMaster" Target="/ppt/notesMasters/notesMaster1.xml" Id="R1ce3c6f5084f4f42"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6564454988e447d" /><Relationship Type="http://schemas.openxmlformats.org/officeDocument/2006/relationships/notesMaster" Target="/ppt/notesMasters/notesMaster1.xml" Id="R1dab329594c14d5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7b2e16d8c0c446e" /><Relationship Type="http://schemas.openxmlformats.org/officeDocument/2006/relationships/notesMaster" Target="/ppt/notesMasters/notesMaster1.xml" Id="R906b50a85e83421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ff4b2201bfef48c9" /><Relationship Type="http://schemas.openxmlformats.org/officeDocument/2006/relationships/notesMaster" Target="/ppt/notesMasters/notesMaster1.xml" Id="R9892c03324984b9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ba1d684966d4d8e" /><Relationship Type="http://schemas.openxmlformats.org/officeDocument/2006/relationships/notesMaster" Target="/ppt/notesMasters/notesMaster1.xml" Id="R0f92714f52964a6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790ea7262f74d7d" /><Relationship Type="http://schemas.openxmlformats.org/officeDocument/2006/relationships/notesMaster" Target="/ppt/notesMasters/notesMaster1.xml" Id="R3f61c4e42a184ed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f55a52216254298" /><Relationship Type="http://schemas.openxmlformats.org/officeDocument/2006/relationships/notesMaster" Target="/ppt/notesMasters/notesMaster1.xml" Id="Rd8d10cd6fa1e41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Good morning. We are presenting CAABC-FL, a hybrid privacy-preserving framework for secure collaboration among healthcare institutions. Our work focuses on privacy, communication cost, poisoning resilience, and accountable model release.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presentation follows the thesis structure. We begin with the problem and prior work, explain the system and experimental protocol, then present the results, limitations, and conclusions.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section introduces the setting, the unresolved engineering problem, our motivation, and the three research objectives.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Federated learning reduces the need to exchange raw patient records, but it does not solve every privacy and integrity problem. This thesis studies the full training path, including update protection, encrypted transport, poisoning response, and release governance. Sources: McMahan et al. [1], Sheller et al. [2], Dayan et al. [3], Shokri et al. [4], Zhu et al. [5], and Geiping et al. [6].</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problem has four connected parts. Privacy mechanisms can hide information, but encryption makes communication expensive and removes the update geometry used by robust aggregators. Governance controls must also prevent one service from silently changing or releasing a model.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selected this topic because healthcare institutions need collaboration without unrestricted data sharing. The work also addresses a practical systems question: a compressor is valuable only when encrypted network bytes decrease and the model remains useful.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supervisor requested three concise objectives. The first covers the integrated architecture, the second covers the communication contribution, and the third covers comparative evaluation under normal and adversarial operation.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RQ1 addresses the integrated privacy and trust architecture. RQ2 tests whether ciphertext-aligned compression produces real serialized communication savings without material utility loss. RQ3 evaluates the resulting system under benign and adversarial conditions using the registered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literature review groups prior work by healthcare collaboration, privacy and cryptography, communication reduction, and poisoning resilience.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FedAvg provides the optimization baseline. Healthcare studies show that institutions can collaborate without pooling records. FLDP and FAMHE strengthen privacy, but they do not evaluate the complete privacy, compression, poisoning, and governance combination used in our protocol.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Communication and robustness methods expose a compatibility gap. Methods such as FLTrust depend on individual update geometry, while sum-only homomorphic aggregation hides that geometry. Logical sparsity also fails to save bandwidth if the system encodes a dense ciphertext afterward.</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Recent integrated methods cover more than one security objective, but their assumptions and evaluation units differ. Our comparison therefore reports capabilities and uses same-protocol reproduction for numerical results rather than comparing headline numbers from unrelated experiments.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gap defines our contribution boundary. We do not claim to solve every privacy or Byzantine problem. We implement and test a specific integrated design that converts compression into serialized ciphertext savings and adds release-time controls compatible with encrypted sums.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methodology section explains the end-to-end system, the experimental design, the dataset, and the registered analysis methods.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architecture separates local data handling, privacy and cryptography, local training, trust management, encrypted aggregation, model distribution, and inference. Hospitals keep patient records. The coordinator aggregates ciphertexts, while verification and release controls prevent an unchecked model update from becoming global.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Notation: K is the number of institutions, D_k is the local dataset, C is the clipping norm, z_k is Gaussian noise, e_k is the error-feedback residual, Q selects the common ciphertext-aligned blocks, A_t is the accepted client set, and Dec_t denotes policy-governed decryption after verification and quorum checks.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a paired confirmatory design. Each method receives the same cohort, split, model, privacy configuration, training budget, and random seed. This controls many nuisance differences and supports paired confidence intervals and tests.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study uses 40,336 patient records from the public PhysioNet 2019 sepsis challenge. We preserve the two source hospital partitions because cross-institutional heterogeneity is part of the research question. Source: Reyna et al. [19].</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analysis covers more than predictive accuracy. We measure ranking and threshold metrics, probability error, privacy attacks, poisoning effects, encrypted network bytes, cryptographic error, and service latency. Five paired seeds form the confirmatory unit, and Holm correction controls multiplicity within registered endpoint families.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research used an open dataset, open-source tools, and existing hardware. We therefore report no major direct cost. Production-grade cloud infrastructure, hardware confidential computing, and clinical deployment remain future work rather than hidden project expenses.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results section presents the main utility and communication outcome, the same-protocol comparison, and the privacy, poisoning, and systems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strongest result is the encrypted communication saving. CAABC-FL reduced serialized upload by about 56 percent while maintaining AUROC within the registered non-inferiority margin. AUPRC and several operating-point metrics declined, so we present a bounded trade-off rather than universal superiority.</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five methods use the same data, model, privacy, and CKKS conditions. Their AUROC values overlap. CAABC-FL alone reduces the serialized encrypted payload materially. Logical sparsity in the other compressed baselines disappears after dense CKKS encoding. Source: results/q1-sota-reproduction-v1/analysis/sota_method_summary.csv.</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Membership-inference AUC remains near chance for the two private methods, but empirical attacks do not prove privacy. Mean aggregation fails under model replacement and sign flip. FLTrust and Multi-Krum perform well in plaintext but conflict with the implemented sum-only CKKS path. The service timing is single-host and sequential.</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The final section summarizes what the study established, identifies the contributions and limitations, and outlines the next engineering steps.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All three objectives were achieved within the stated scope. The implementation and evaluation support a bounded systems claim. We deliberately avoid claiming universal predictive superiority, formal Byzantine robustness, or a fully decentralized production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main contribution is not a single security primitive. It is the integration and evidence: ciphertext-aligned compression, a complete governed training path, and a broad paired evaluation that records both positive and negative results.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We separate research-system evidence from production claims. The results remain valid for the registered experiment, but they do not prove clinical effectiveness across hospitals or remove the need for networked key custodians, confidential hardware, and external evaluation.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 next phase should strengthen decentralization and external validity. The highest priority is service-integrated threshold custody, followed by privacy-compatible robust aggregation and real multi-host confidential deployment.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the foundations of federated learning, healthcare collaboration, differential privacy, membership inference, and gradient reconstruction.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These references cover secure aggregation, CKKS, privacy-aware communication, poisoning defence, recent integrated methods, and the PhysioNet sepsis dataset.</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This backup slide summarizes the principal project phases. The periods consolidate the detailed working timeline used during the proposal, implementation, evaluation, writing, and defense stages.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Backup glossary for acronyms used throughout the defense presentation.</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800" b="1" i="0" u="none">
                <a:solidFill>
                  <a:srgbClr val="000000"/>
                </a:solidFill>
                <a:latin typeface="Arial"/>
                <a:ea typeface="Arial"/>
                <a:cs typeface="Arial"/>
              </a:rPr>
              <a:t>Thank you for listening. We welcome questions about the architecture, CAABC-FL, the evaluation protocol, the claim boundaries, and the next deployment steps.</a:t>
            </a:r>
            <a:endParaRPr b="1"/>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t>This final slide remains on screen after the question session.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eb6b35787415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4d3230cad846b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1b2c7ebc4c432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c2d95a5a900477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003bbe3878d4c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09118c4fa774e70"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5731f963868482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6fd1b67ee83463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1dac149825b64c2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8f59ede8fb040af"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f53c5a5edac04f1b" /></Relationships>
</file>

<file path=ppt/slideLayouts/slideLayout1.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17" name="Google Shape;17;p2">
            <a:extLst xmlns:a="http://schemas.openxmlformats.org/drawingml/2006/main">
              <a:ext uri="{FF2B5EF4-FFF2-40B4-BE49-F238E27FC236}">
                <a16:creationId xmlns:a16="http://schemas.microsoft.com/office/drawing/2014/main" id="{FBD9D4DC-615E-4579-BBC9-8CBFCB08133F}"/>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18" name="Google Shape;18;p2">
            <a:extLst xmlns:a="http://schemas.openxmlformats.org/drawingml/2006/main">
              <a:ext uri="{FF2B5EF4-FFF2-40B4-BE49-F238E27FC236}">
                <a16:creationId xmlns:a16="http://schemas.microsoft.com/office/drawing/2014/main" id="{FD13C867-1391-4001-B1B6-38E3BA9EF7E0}"/>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19" name="Google Shape;19;p2">
            <a:extLst xmlns:a="http://schemas.openxmlformats.org/drawingml/2006/main">
              <a:ext uri="{FF2B5EF4-FFF2-40B4-BE49-F238E27FC236}">
                <a16:creationId xmlns:a16="http://schemas.microsoft.com/office/drawing/2014/main" id="{CD5AA07B-2DA5-41C7-B0E4-519BF84C41AF}"/>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0" name="Google Shape;20;p2">
            <a:extLst xmlns:a="http://schemas.openxmlformats.org/drawingml/2006/main">
              <a:ext uri="{FF2B5EF4-FFF2-40B4-BE49-F238E27FC236}">
                <a16:creationId xmlns:a16="http://schemas.microsoft.com/office/drawing/2014/main" id="{267BBE3B-F2FF-4C52-B4D0-FEC01A0E74B5}"/>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1" name="Google Shape;21;p2">
            <a:extLst xmlns:a="http://schemas.openxmlformats.org/drawingml/2006/main">
              <a:ext uri="{FF2B5EF4-FFF2-40B4-BE49-F238E27FC236}">
                <a16:creationId xmlns:a16="http://schemas.microsoft.com/office/drawing/2014/main" id="{D96D0613-8628-46C3-B74D-2A8C33DC4A81}"/>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3" name="Google Shape;23;p3">
            <a:extLst xmlns:a="http://schemas.openxmlformats.org/drawingml/2006/main">
              <a:ext uri="{FF2B5EF4-FFF2-40B4-BE49-F238E27FC236}">
                <a16:creationId xmlns:a16="http://schemas.microsoft.com/office/drawing/2014/main" id="{11980058-D5AA-4C82-BB63-69445D34ED5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4" name="Google Shape;24;p3">
            <a:extLst xmlns:a="http://schemas.openxmlformats.org/drawingml/2006/main">
              <a:ext uri="{FF2B5EF4-FFF2-40B4-BE49-F238E27FC236}">
                <a16:creationId xmlns:a16="http://schemas.microsoft.com/office/drawing/2014/main" id="{92807988-BCBE-44FD-A818-68CE119A8AC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5" name="Google Shape;25;p3">
            <a:extLst xmlns:a="http://schemas.openxmlformats.org/drawingml/2006/main">
              <a:ext uri="{FF2B5EF4-FFF2-40B4-BE49-F238E27FC236}">
                <a16:creationId xmlns:a16="http://schemas.microsoft.com/office/drawing/2014/main" id="{5F20EE75-38EF-4CF0-9364-B07D76F2654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6" name="Google Shape;26;p3">
            <a:extLst xmlns:a="http://schemas.openxmlformats.org/drawingml/2006/main">
              <a:ext uri="{FF2B5EF4-FFF2-40B4-BE49-F238E27FC236}">
                <a16:creationId xmlns:a16="http://schemas.microsoft.com/office/drawing/2014/main" id="{F33A1CB9-A997-4B02-B958-48500A659ADB}"/>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3AC89456-F5AD-45EE-B497-E08EC1A3346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29" name="Google Shape;29;p4">
            <a:extLst xmlns:a="http://schemas.openxmlformats.org/drawingml/2006/main">
              <a:ext uri="{FF2B5EF4-FFF2-40B4-BE49-F238E27FC236}">
                <a16:creationId xmlns:a16="http://schemas.microsoft.com/office/drawing/2014/main" id="{C1A08420-6584-4F02-BD54-C1BAB821757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0" name="Google Shape;30;p4">
            <a:extLst xmlns:a="http://schemas.openxmlformats.org/drawingml/2006/main">
              <a:ext uri="{FF2B5EF4-FFF2-40B4-BE49-F238E27FC236}">
                <a16:creationId xmlns:a16="http://schemas.microsoft.com/office/drawing/2014/main" id="{1BF89608-A441-4B76-BD18-4491870EF196}"/>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2" name="Google Shape;32;p5">
            <a:extLst xmlns:a="http://schemas.openxmlformats.org/drawingml/2006/main">
              <a:ext uri="{FF2B5EF4-FFF2-40B4-BE49-F238E27FC236}">
                <a16:creationId xmlns:a16="http://schemas.microsoft.com/office/drawing/2014/main" id="{1BD92A20-51B2-4DA3-A5EB-176B2FCE31C4}"/>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33" name="Google Shape;33;p5">
            <a:extLst xmlns:a="http://schemas.openxmlformats.org/drawingml/2006/main">
              <a:ext uri="{FF2B5EF4-FFF2-40B4-BE49-F238E27FC236}">
                <a16:creationId xmlns:a16="http://schemas.microsoft.com/office/drawing/2014/main" id="{6D908E5A-BA33-4585-B9BE-345DBA5109EC}"/>
              </a:ext>
            </a:extLst>
          </p:cNvPr>
          <p:cNvSpPr>
            <a:spLocks xmlns:a="http://schemas.openxmlformats.org/drawingml/2006/main" noGrp="1"/>
          </p:cNvSpPr>
          <p:nvPr>
            <p:ph type="ctrTitle" idx="0"/>
          </p:nvPr>
        </p:nvSpPr>
        <p:spPr>
          <a:xfrm xmlns:a="http://schemas.openxmlformats.org/drawingml/2006/main">
            <a:off x="1109980" y="882376"/>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1" cap="none">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4" name="Google Shape;34;p5">
            <a:extLst xmlns:a="http://schemas.openxmlformats.org/drawingml/2006/main">
              <a:ext uri="{FF2B5EF4-FFF2-40B4-BE49-F238E27FC236}">
                <a16:creationId xmlns:a16="http://schemas.microsoft.com/office/drawing/2014/main" id="{0121C429-AD11-45DE-A6E4-9CB28B8910DC}"/>
              </a:ext>
            </a:extLst>
          </p:cNvPr>
          <p:cNvSpPr>
            <a:spLocks xmlns:a="http://schemas.openxmlformats.org/drawingml/2006/main" noGrp="1"/>
          </p:cNvSpPr>
          <p:nvPr>
            <p:ph type="subTitle" idx="1"/>
          </p:nvPr>
        </p:nvSpPr>
        <p:spPr>
          <a:xfrm xmlns:a="http://schemas.openxmlformats.org/drawingml/2006/main">
            <a:off x="1709530" y="3869634"/>
            <a:ext cx="8767860" cy="138816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90000"/>
              </a:lnSpc>
              <a:spcBef>
                <a:spcPts val="1400"/>
              </a:spcBef>
              <a:spcAft>
                <a:spcPts val="0"/>
              </a:spcAft>
              <a:buSzPts val="1760"/>
              <a:buNone/>
              <a:defRPr sz="2200">
                <a:solidFill>
                  <a:schemeClr val="dk1"/>
                </a:solidFill>
              </a:defRPr>
            </a:lvl1pPr>
            <a:lvl2pPr algn="ctr">
              <a:lnSpc>
                <a:spcPct val="90000"/>
              </a:lnSpc>
              <a:spcBef>
                <a:spcPts val="200"/>
              </a:spcBef>
              <a:spcAft>
                <a:spcPts val="0"/>
              </a:spcAft>
              <a:buSzPts val="1760"/>
              <a:buNone/>
              <a:defRPr sz="2200"/>
            </a:lvl2pPr>
            <a:lvl3pPr algn="ctr">
              <a:lnSpc>
                <a:spcPct val="90000"/>
              </a:lnSpc>
              <a:spcBef>
                <a:spcPts val="400"/>
              </a:spcBef>
              <a:spcAft>
                <a:spcPts val="0"/>
              </a:spcAft>
              <a:buSzPts val="1760"/>
              <a:buNone/>
              <a:defRPr sz="2200"/>
            </a:lvl3pPr>
            <a:lvl4pPr algn="ctr">
              <a:lnSpc>
                <a:spcPct val="90000"/>
              </a:lnSpc>
              <a:spcBef>
                <a:spcPts val="400"/>
              </a:spcBef>
              <a:spcAft>
                <a:spcPts val="0"/>
              </a:spcAft>
              <a:buSzPts val="1600"/>
              <a:buNone/>
              <a:defRPr sz="2000"/>
            </a:lvl4pPr>
            <a:lvl5pPr algn="ctr">
              <a:lnSpc>
                <a:spcPct val="90000"/>
              </a:lnSpc>
              <a:spcBef>
                <a:spcPts val="400"/>
              </a:spcBef>
              <a:spcAft>
                <a:spcPts val="0"/>
              </a:spcAft>
              <a:buSzPts val="1600"/>
              <a:buNone/>
              <a:defRPr sz="2000"/>
            </a:lvl5pPr>
            <a:lvl6pPr algn="ctr">
              <a:lnSpc>
                <a:spcPct val="90000"/>
              </a:lnSpc>
              <a:spcBef>
                <a:spcPts val="400"/>
              </a:spcBef>
              <a:spcAft>
                <a:spcPts val="0"/>
              </a:spcAft>
              <a:buSzPts val="1600"/>
              <a:buNone/>
              <a:defRPr sz="2000"/>
            </a:lvl6pPr>
            <a:lvl7pPr algn="ctr">
              <a:lnSpc>
                <a:spcPct val="90000"/>
              </a:lnSpc>
              <a:spcBef>
                <a:spcPts val="400"/>
              </a:spcBef>
              <a:spcAft>
                <a:spcPts val="0"/>
              </a:spcAft>
              <a:buSzPts val="1600"/>
              <a:buNone/>
              <a:defRPr sz="2000"/>
            </a:lvl7pPr>
            <a:lvl8pPr algn="ctr">
              <a:lnSpc>
                <a:spcPct val="90000"/>
              </a:lnSpc>
              <a:spcBef>
                <a:spcPts val="400"/>
              </a:spcBef>
              <a:spcAft>
                <a:spcPts val="0"/>
              </a:spcAft>
              <a:buSzPts val="1600"/>
              <a:buNone/>
              <a:defRPr sz="2000"/>
            </a:lvl8pPr>
            <a:lvl9pPr algn="ctr">
              <a:lnSpc>
                <a:spcPct val="90000"/>
              </a:lnSpc>
              <a:spcBef>
                <a:spcPts val="400"/>
              </a:spcBef>
              <a:spcAft>
                <a:spcPts val="400"/>
              </a:spcAft>
              <a:buSzPts val="1600"/>
              <a:buNone/>
              <a:defRPr sz="2000"/>
            </a:lvl9pPr>
          </a:lstStyle>
          <a:p xmlns:a="http://schemas.openxmlformats.org/drawingml/2006/main">
            <a:endParaRPr/>
          </a:p>
        </p:txBody>
      </p:sp>
      <p:sp>
        <p:nvSpPr>
          <p:cNvPr id="35" name="Google Shape;35;p5">
            <a:extLst xmlns:a="http://schemas.openxmlformats.org/drawingml/2006/main">
              <a:ext uri="{FF2B5EF4-FFF2-40B4-BE49-F238E27FC236}">
                <a16:creationId xmlns:a16="http://schemas.microsoft.com/office/drawing/2014/main" id="{7C88B229-BE9C-48AB-BCDD-6B522818270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6" name="Google Shape;36;p5">
            <a:extLst xmlns:a="http://schemas.openxmlformats.org/drawingml/2006/main">
              <a:ext uri="{FF2B5EF4-FFF2-40B4-BE49-F238E27FC236}">
                <a16:creationId xmlns:a16="http://schemas.microsoft.com/office/drawing/2014/main" id="{B80F305A-AF4C-4C9E-B79F-75703659BCB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solidFill>
                  <a:schemeClr val="dk1"/>
                </a:solidFill>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37" name="Google Shape;37;p5">
            <a:extLst xmlns:a="http://schemas.openxmlformats.org/drawingml/2006/main">
              <a:ext uri="{FF2B5EF4-FFF2-40B4-BE49-F238E27FC236}">
                <a16:creationId xmlns:a16="http://schemas.microsoft.com/office/drawing/2014/main" id="{54D6FE42-6084-452E-9DB2-A2AF11A4A17F}"/>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66" name="Google Shape;38;p5"/>
          <p:cNvCxnSpPr/>
          <p:nvPr/>
        </p:nvCxnSpPr>
        <p:spPr>
          <a:xfrm xmlns:a="http://schemas.openxmlformats.org/drawingml/2006/main">
            <a:off x="1978660" y="3733800"/>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0" name="Google Shape;40;p6">
            <a:extLst xmlns:a="http://schemas.openxmlformats.org/drawingml/2006/main">
              <a:ext uri="{FF2B5EF4-FFF2-40B4-BE49-F238E27FC236}">
                <a16:creationId xmlns:a16="http://schemas.microsoft.com/office/drawing/2014/main" id="{0486CAB3-85CC-4608-925E-E0CAC0AEFB2C}"/>
              </a:ext>
            </a:extLst>
          </p:cNvPr>
          <p:cNvSpPr>
            <a:spLocks xmlns:a="http://schemas.openxmlformats.org/drawingml/2006/main" noGrp="1"/>
          </p:cNvSpPr>
          <p:nvPr>
            <p:ph type="title" idx="0"/>
          </p:nvPr>
        </p:nvSpPr>
        <p:spPr>
          <a:xfrm xmlns:a="http://schemas.openxmlformats.org/drawingml/2006/main">
            <a:off x="1106424" y="1173575"/>
            <a:ext cx="9966960" cy="2926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ctr">
              <a:lnSpc>
                <a:spcPct val="85000"/>
              </a:lnSpc>
              <a:spcBef>
                <a:spcPts val="0"/>
              </a:spcBef>
              <a:spcAft>
                <a:spcPts val="0"/>
              </a:spcAft>
              <a:buClr>
                <a:schemeClr val="dk1"/>
              </a:buClr>
              <a:buSzPts val="7200"/>
              <a:buFont typeface="Corbel"/>
              <a:buNone/>
              <a:defRPr sz="7200" b="0"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1" name="Google Shape;41;p6">
            <a:extLst xmlns:a="http://schemas.openxmlformats.org/drawingml/2006/main">
              <a:ext uri="{FF2B5EF4-FFF2-40B4-BE49-F238E27FC236}">
                <a16:creationId xmlns:a16="http://schemas.microsoft.com/office/drawing/2014/main" id="{F642E5A3-678F-4051-8AC6-7090B1AB4DC2}"/>
              </a:ext>
            </a:extLst>
          </p:cNvPr>
          <p:cNvSpPr>
            <a:spLocks xmlns:a="http://schemas.openxmlformats.org/drawingml/2006/main" noGrp="1"/>
          </p:cNvSpPr>
          <p:nvPr>
            <p:ph type="body" idx="1"/>
          </p:nvPr>
        </p:nvSpPr>
        <p:spPr>
          <a:xfrm xmlns:a="http://schemas.openxmlformats.org/drawingml/2006/main">
            <a:off x="1709928" y="4154520"/>
            <a:ext cx="8769096" cy="136380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ctr">
              <a:lnSpc>
                <a:spcPct val="90000"/>
              </a:lnSpc>
              <a:spcBef>
                <a:spcPts val="1400"/>
              </a:spcBef>
              <a:spcAft>
                <a:spcPts val="0"/>
              </a:spcAft>
              <a:buSzPts val="1760"/>
              <a:buNone/>
              <a:defRPr sz="2200">
                <a:solidFill>
                  <a:schemeClr val="dk1"/>
                </a:solidFill>
              </a:defRPr>
            </a:lvl1pPr>
            <a:lvl2pPr marL="914400" indent="-228600" algn="l">
              <a:lnSpc>
                <a:spcPct val="90000"/>
              </a:lnSpc>
              <a:spcBef>
                <a:spcPts val="200"/>
              </a:spcBef>
              <a:spcAft>
                <a:spcPts val="0"/>
              </a:spcAft>
              <a:buSzPts val="1440"/>
              <a:buNone/>
              <a:defRPr sz="1800">
                <a:solidFill>
                  <a:srgbClr val="888888"/>
                </a:solidFill>
              </a:defRPr>
            </a:lvl2pPr>
            <a:lvl3pPr marL="1371600" indent="-228600" algn="l">
              <a:lnSpc>
                <a:spcPct val="90000"/>
              </a:lnSpc>
              <a:spcBef>
                <a:spcPts val="400"/>
              </a:spcBef>
              <a:spcAft>
                <a:spcPts val="0"/>
              </a:spcAft>
              <a:buSzPts val="1280"/>
              <a:buNone/>
              <a:defRPr sz="1600">
                <a:solidFill>
                  <a:srgbClr val="888888"/>
                </a:solidFill>
              </a:defRPr>
            </a:lvl3pPr>
            <a:lvl4pPr marL="1828800" indent="-228600" algn="l">
              <a:lnSpc>
                <a:spcPct val="90000"/>
              </a:lnSpc>
              <a:spcBef>
                <a:spcPts val="400"/>
              </a:spcBef>
              <a:spcAft>
                <a:spcPts val="0"/>
              </a:spcAft>
              <a:buSzPts val="1120"/>
              <a:buNone/>
              <a:defRPr sz="1400">
                <a:solidFill>
                  <a:srgbClr val="888888"/>
                </a:solidFill>
              </a:defRPr>
            </a:lvl4pPr>
            <a:lvl5pPr marL="2286000" indent="-228600" algn="l">
              <a:lnSpc>
                <a:spcPct val="90000"/>
              </a:lnSpc>
              <a:spcBef>
                <a:spcPts val="400"/>
              </a:spcBef>
              <a:spcAft>
                <a:spcPts val="0"/>
              </a:spcAft>
              <a:buSzPts val="1120"/>
              <a:buNone/>
              <a:defRPr sz="1400">
                <a:solidFill>
                  <a:srgbClr val="888888"/>
                </a:solidFill>
              </a:defRPr>
            </a:lvl5pPr>
            <a:lvl6pPr marL="2743200" indent="-228600" algn="l">
              <a:lnSpc>
                <a:spcPct val="90000"/>
              </a:lnSpc>
              <a:spcBef>
                <a:spcPts val="400"/>
              </a:spcBef>
              <a:spcAft>
                <a:spcPts val="0"/>
              </a:spcAft>
              <a:buSzPts val="1120"/>
              <a:buNone/>
              <a:defRPr sz="1400">
                <a:solidFill>
                  <a:srgbClr val="888888"/>
                </a:solidFill>
              </a:defRPr>
            </a:lvl6pPr>
            <a:lvl7pPr marL="3200400" indent="-228600" algn="l">
              <a:lnSpc>
                <a:spcPct val="90000"/>
              </a:lnSpc>
              <a:spcBef>
                <a:spcPts val="400"/>
              </a:spcBef>
              <a:spcAft>
                <a:spcPts val="0"/>
              </a:spcAft>
              <a:buSzPts val="1120"/>
              <a:buNone/>
              <a:defRPr sz="1400">
                <a:solidFill>
                  <a:srgbClr val="888888"/>
                </a:solidFill>
              </a:defRPr>
            </a:lvl7pPr>
            <a:lvl8pPr marL="3657600" indent="-228600" algn="l">
              <a:lnSpc>
                <a:spcPct val="90000"/>
              </a:lnSpc>
              <a:spcBef>
                <a:spcPts val="400"/>
              </a:spcBef>
              <a:spcAft>
                <a:spcPts val="0"/>
              </a:spcAft>
              <a:buSzPts val="1120"/>
              <a:buNone/>
              <a:defRPr sz="1400">
                <a:solidFill>
                  <a:srgbClr val="888888"/>
                </a:solidFill>
              </a:defRPr>
            </a:lvl8pPr>
            <a:lvl9pPr marL="4114800" indent="-228600" algn="l">
              <a:lnSpc>
                <a:spcPct val="90000"/>
              </a:lnSpc>
              <a:spcBef>
                <a:spcPts val="400"/>
              </a:spcBef>
              <a:spcAft>
                <a:spcPts val="400"/>
              </a:spcAft>
              <a:buSzPts val="1120"/>
              <a:buNone/>
              <a:defRPr sz="1400">
                <a:solidFill>
                  <a:srgbClr val="888888"/>
                </a:solidFill>
              </a:defRPr>
            </a:lvl9pPr>
          </a:lstStyle>
          <a:p xmlns:a="http://schemas.openxmlformats.org/drawingml/2006/main">
            <a:endParaRPr/>
          </a:p>
        </p:txBody>
      </p:sp>
      <p:sp>
        <p:nvSpPr>
          <p:cNvPr id="42" name="Google Shape;42;p6">
            <a:extLst xmlns:a="http://schemas.openxmlformats.org/drawingml/2006/main">
              <a:ext uri="{FF2B5EF4-FFF2-40B4-BE49-F238E27FC236}">
                <a16:creationId xmlns:a16="http://schemas.microsoft.com/office/drawing/2014/main" id="{88F17270-9B6D-4C62-99CE-0ECD19DFCE3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3" name="Google Shape;43;p6">
            <a:extLst xmlns:a="http://schemas.openxmlformats.org/drawingml/2006/main">
              <a:ext uri="{FF2B5EF4-FFF2-40B4-BE49-F238E27FC236}">
                <a16:creationId xmlns:a16="http://schemas.microsoft.com/office/drawing/2014/main" id="{ABDEB05D-E590-4230-A65A-231F0064D7AF}"/>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4" name="Google Shape;44;p6">
            <a:extLst xmlns:a="http://schemas.openxmlformats.org/drawingml/2006/main">
              <a:ext uri="{FF2B5EF4-FFF2-40B4-BE49-F238E27FC236}">
                <a16:creationId xmlns:a16="http://schemas.microsoft.com/office/drawing/2014/main" id="{9C599CAB-D224-4627-A936-C90F5A61ABA8}"/>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cxnSp>
        <p:nvCxnSpPr>
          <p:cNvPr id="69" name="Google Shape;45;p6"/>
          <p:cNvCxnSpPr/>
          <p:nvPr/>
        </p:nvCxnSpPr>
        <p:spPr>
          <a:xfrm xmlns:a="http://schemas.openxmlformats.org/drawingml/2006/main">
            <a:off x="1981200" y="4020408"/>
            <a:ext cx="8229601" cy="0"/>
          </a:xfrm>
          <a:prstGeom xmlns:a="http://schemas.openxmlformats.org/drawingml/2006/main" prst="straightConnector1">
            <a:avLst/>
          </a:prstGeom>
          <a:ln xmlns:a="http://schemas.openxmlformats.org/drawingml/2006/main" w="10000" cap="flat">
            <a:solidFill>
              <a:schemeClr val="dk1"/>
            </a:solidFill>
            <a:prstDash val="solid"/>
            <a:round/>
            <a:headEnd type="none" w="sm" len="sm"/>
            <a:tailEnd type="none" w="sm" len="sm"/>
          </a:ln>
        </p:spPr>
      </p:cxnSp>
    </p:spTree>
  </p:cSld>
</p:sldLayout>
</file>

<file path=ppt/slideLayouts/slideLayout6.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47" name="Google Shape;47;p7">
            <a:extLst xmlns:a="http://schemas.openxmlformats.org/drawingml/2006/main">
              <a:ext uri="{FF2B5EF4-FFF2-40B4-BE49-F238E27FC236}">
                <a16:creationId xmlns:a16="http://schemas.microsoft.com/office/drawing/2014/main" id="{A88F6224-4C19-45BC-8E4C-4EDB510ABFB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48" name="Google Shape;48;p7">
            <a:extLst xmlns:a="http://schemas.openxmlformats.org/drawingml/2006/main">
              <a:ext uri="{FF2B5EF4-FFF2-40B4-BE49-F238E27FC236}">
                <a16:creationId xmlns:a16="http://schemas.microsoft.com/office/drawing/2014/main" id="{B66352A3-57DB-43E0-8F63-BDDCAF161A6F}"/>
              </a:ext>
            </a:extLst>
          </p:cNvPr>
          <p:cNvSpPr>
            <a:spLocks xmlns:a="http://schemas.openxmlformats.org/drawingml/2006/main" noGrp="1"/>
          </p:cNvSpPr>
          <p:nvPr>
            <p:ph type="body" idx="1"/>
          </p:nvPr>
        </p:nvSpPr>
        <p:spPr>
          <a:xfrm xmlns:a="http://schemas.openxmlformats.org/drawingml/2006/main">
            <a:off x="1143000" y="2057399"/>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49" name="Google Shape;49;p7">
            <a:extLst xmlns:a="http://schemas.openxmlformats.org/drawingml/2006/main">
              <a:ext uri="{FF2B5EF4-FFF2-40B4-BE49-F238E27FC236}">
                <a16:creationId xmlns:a16="http://schemas.microsoft.com/office/drawing/2014/main" id="{62E06904-5961-46D1-80C9-DC9F8DC11279}"/>
              </a:ext>
            </a:extLst>
          </p:cNvPr>
          <p:cNvSpPr>
            <a:spLocks xmlns:a="http://schemas.openxmlformats.org/drawingml/2006/main" noGrp="1"/>
          </p:cNvSpPr>
          <p:nvPr>
            <p:ph type="body" idx="2"/>
          </p:nvPr>
        </p:nvSpPr>
        <p:spPr>
          <a:xfrm xmlns:a="http://schemas.openxmlformats.org/drawingml/2006/main">
            <a:off x="6267612" y="2057400"/>
            <a:ext cx="4754880" cy="4023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0" name="Google Shape;50;p7">
            <a:extLst xmlns:a="http://schemas.openxmlformats.org/drawingml/2006/main">
              <a:ext uri="{FF2B5EF4-FFF2-40B4-BE49-F238E27FC236}">
                <a16:creationId xmlns:a16="http://schemas.microsoft.com/office/drawing/2014/main" id="{8080A104-8AA5-4585-9E75-4CD0E830DFE7}"/>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1" name="Google Shape;51;p7">
            <a:extLst xmlns:a="http://schemas.openxmlformats.org/drawingml/2006/main">
              <a:ext uri="{FF2B5EF4-FFF2-40B4-BE49-F238E27FC236}">
                <a16:creationId xmlns:a16="http://schemas.microsoft.com/office/drawing/2014/main" id="{4886F767-AA98-4549-9764-82804112AF63}"/>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2" name="Google Shape;52;p7">
            <a:extLst xmlns:a="http://schemas.openxmlformats.org/drawingml/2006/main">
              <a:ext uri="{FF2B5EF4-FFF2-40B4-BE49-F238E27FC236}">
                <a16:creationId xmlns:a16="http://schemas.microsoft.com/office/drawing/2014/main" id="{A8C7AF50-1422-48D4-9D6B-46886AE3CAC4}"/>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54" name="Google Shape;54;p8">
            <a:extLst xmlns:a="http://schemas.openxmlformats.org/drawingml/2006/main">
              <a:ext uri="{FF2B5EF4-FFF2-40B4-BE49-F238E27FC236}">
                <a16:creationId xmlns:a16="http://schemas.microsoft.com/office/drawing/2014/main" id="{FEE9B523-B5E0-4692-948F-F69BDE9C424E}"/>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55" name="Google Shape;55;p8">
            <a:extLst xmlns:a="http://schemas.openxmlformats.org/drawingml/2006/main">
              <a:ext uri="{FF2B5EF4-FFF2-40B4-BE49-F238E27FC236}">
                <a16:creationId xmlns:a16="http://schemas.microsoft.com/office/drawing/2014/main" id="{C8138D25-7461-4766-90D9-38E29D1B539F}"/>
              </a:ext>
            </a:extLst>
          </p:cNvPr>
          <p:cNvSpPr>
            <a:spLocks xmlns:a="http://schemas.openxmlformats.org/drawingml/2006/main" noGrp="1"/>
          </p:cNvSpPr>
          <p:nvPr>
            <p:ph type="body" idx="1"/>
          </p:nvPr>
        </p:nvSpPr>
        <p:spPr>
          <a:xfrm xmlns:a="http://schemas.openxmlformats.org/drawingml/2006/main">
            <a:off x="1143000" y="2001511"/>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6" name="Google Shape;56;p8">
            <a:extLst xmlns:a="http://schemas.openxmlformats.org/drawingml/2006/main">
              <a:ext uri="{FF2B5EF4-FFF2-40B4-BE49-F238E27FC236}">
                <a16:creationId xmlns:a16="http://schemas.microsoft.com/office/drawing/2014/main" id="{13A65957-C47B-426F-A86E-AC08896857BE}"/>
              </a:ext>
            </a:extLst>
          </p:cNvPr>
          <p:cNvSpPr>
            <a:spLocks xmlns:a="http://schemas.openxmlformats.org/drawingml/2006/main" noGrp="1"/>
          </p:cNvSpPr>
          <p:nvPr>
            <p:ph type="body" idx="2"/>
          </p:nvPr>
        </p:nvSpPr>
        <p:spPr>
          <a:xfrm xmlns:a="http://schemas.openxmlformats.org/drawingml/2006/main">
            <a:off x="1143000" y="2721483"/>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7" name="Google Shape;57;p8">
            <a:extLst xmlns:a="http://schemas.openxmlformats.org/drawingml/2006/main">
              <a:ext uri="{FF2B5EF4-FFF2-40B4-BE49-F238E27FC236}">
                <a16:creationId xmlns:a16="http://schemas.microsoft.com/office/drawing/2014/main" id="{023220B7-0BB2-4319-9A57-9402BBFD7762}"/>
              </a:ext>
            </a:extLst>
          </p:cNvPr>
          <p:cNvSpPr>
            <a:spLocks xmlns:a="http://schemas.openxmlformats.org/drawingml/2006/main" noGrp="1"/>
          </p:cNvSpPr>
          <p:nvPr>
            <p:ph type="body" idx="3"/>
          </p:nvPr>
        </p:nvSpPr>
        <p:spPr>
          <a:xfrm xmlns:a="http://schemas.openxmlformats.org/drawingml/2006/main">
            <a:off x="6269173" y="1999032"/>
            <a:ext cx="4754880" cy="7772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L="457200" indent="-228600" algn="l">
              <a:lnSpc>
                <a:spcPct val="90000"/>
              </a:lnSpc>
              <a:spcBef>
                <a:spcPts val="0"/>
              </a:spcBef>
              <a:spcAft>
                <a:spcPts val="0"/>
              </a:spcAft>
              <a:buSzPts val="1920"/>
              <a:buNone/>
              <a:defRPr sz="2400" b="1"/>
            </a:lvl1pPr>
            <a:lvl2pPr marL="914400" indent="-228600" algn="l">
              <a:lnSpc>
                <a:spcPct val="90000"/>
              </a:lnSpc>
              <a:spcBef>
                <a:spcPts val="200"/>
              </a:spcBef>
              <a:spcAft>
                <a:spcPts val="0"/>
              </a:spcAft>
              <a:buSzPts val="1600"/>
              <a:buNone/>
              <a:defRPr sz="2000" b="1"/>
            </a:lvl2pPr>
            <a:lvl3pPr marL="1371600" indent="-228600" algn="l">
              <a:lnSpc>
                <a:spcPct val="90000"/>
              </a:lnSpc>
              <a:spcBef>
                <a:spcPts val="400"/>
              </a:spcBef>
              <a:spcAft>
                <a:spcPts val="0"/>
              </a:spcAft>
              <a:buSzPts val="1440"/>
              <a:buNone/>
              <a:defRPr sz="1800" b="1"/>
            </a:lvl3pPr>
            <a:lvl4pPr marL="1828800" indent="-228600" algn="l">
              <a:lnSpc>
                <a:spcPct val="90000"/>
              </a:lnSpc>
              <a:spcBef>
                <a:spcPts val="400"/>
              </a:spcBef>
              <a:spcAft>
                <a:spcPts val="0"/>
              </a:spcAft>
              <a:buSzPts val="1280"/>
              <a:buNone/>
              <a:defRPr sz="1600" b="1"/>
            </a:lvl4pPr>
            <a:lvl5pPr marL="2286000" indent="-228600" algn="l">
              <a:lnSpc>
                <a:spcPct val="90000"/>
              </a:lnSpc>
              <a:spcBef>
                <a:spcPts val="400"/>
              </a:spcBef>
              <a:spcAft>
                <a:spcPts val="0"/>
              </a:spcAft>
              <a:buSzPts val="1280"/>
              <a:buNone/>
              <a:defRPr sz="1600" b="1"/>
            </a:lvl5pPr>
            <a:lvl6pPr marL="2743200" indent="-228600" algn="l">
              <a:lnSpc>
                <a:spcPct val="90000"/>
              </a:lnSpc>
              <a:spcBef>
                <a:spcPts val="400"/>
              </a:spcBef>
              <a:spcAft>
                <a:spcPts val="0"/>
              </a:spcAft>
              <a:buSzPts val="1280"/>
              <a:buNone/>
              <a:defRPr sz="1600" b="1"/>
            </a:lvl6pPr>
            <a:lvl7pPr marL="3200400" indent="-228600" algn="l">
              <a:lnSpc>
                <a:spcPct val="90000"/>
              </a:lnSpc>
              <a:spcBef>
                <a:spcPts val="400"/>
              </a:spcBef>
              <a:spcAft>
                <a:spcPts val="0"/>
              </a:spcAft>
              <a:buSzPts val="1280"/>
              <a:buNone/>
              <a:defRPr sz="1600" b="1"/>
            </a:lvl7pPr>
            <a:lvl8pPr marL="3657600" indent="-228600" algn="l">
              <a:lnSpc>
                <a:spcPct val="90000"/>
              </a:lnSpc>
              <a:spcBef>
                <a:spcPts val="400"/>
              </a:spcBef>
              <a:spcAft>
                <a:spcPts val="0"/>
              </a:spcAft>
              <a:buSzPts val="1280"/>
              <a:buNone/>
              <a:defRPr sz="1600" b="1"/>
            </a:lvl8pPr>
            <a:lvl9pPr marL="4114800" indent="-228600" algn="l">
              <a:lnSpc>
                <a:spcPct val="90000"/>
              </a:lnSpc>
              <a:spcBef>
                <a:spcPts val="400"/>
              </a:spcBef>
              <a:spcAft>
                <a:spcPts val="400"/>
              </a:spcAft>
              <a:buSzPts val="1280"/>
              <a:buNone/>
              <a:defRPr sz="1600" b="1"/>
            </a:lvl9pPr>
          </a:lstStyle>
          <a:p xmlns:a="http://schemas.openxmlformats.org/drawingml/2006/main">
            <a:endParaRPr/>
          </a:p>
        </p:txBody>
      </p:sp>
      <p:sp>
        <p:nvSpPr>
          <p:cNvPr id="58" name="Google Shape;58;p8">
            <a:extLst xmlns:a="http://schemas.openxmlformats.org/drawingml/2006/main">
              <a:ext uri="{FF2B5EF4-FFF2-40B4-BE49-F238E27FC236}">
                <a16:creationId xmlns:a16="http://schemas.microsoft.com/office/drawing/2014/main" id="{BABC99F3-8810-4EE2-BE04-B8458006A308}"/>
              </a:ext>
            </a:extLst>
          </p:cNvPr>
          <p:cNvSpPr>
            <a:spLocks xmlns:a="http://schemas.openxmlformats.org/drawingml/2006/main" noGrp="1"/>
          </p:cNvSpPr>
          <p:nvPr>
            <p:ph type="body" idx="4"/>
          </p:nvPr>
        </p:nvSpPr>
        <p:spPr>
          <a:xfrm xmlns:a="http://schemas.openxmlformats.org/drawingml/2006/main">
            <a:off x="6269173" y="2719322"/>
            <a:ext cx="4754880" cy="3383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0360" algn="l">
              <a:lnSpc>
                <a:spcPct val="90000"/>
              </a:lnSpc>
              <a:spcBef>
                <a:spcPts val="1400"/>
              </a:spcBef>
              <a:spcAft>
                <a:spcPts val="0"/>
              </a:spcAft>
              <a:buSzPts val="1760"/>
              <a:buChar char="•"/>
              <a:defRPr sz="2200"/>
            </a:lvl1pPr>
            <a:lvl2pPr marL="914400" indent="-330200" algn="l">
              <a:lnSpc>
                <a:spcPct val="90000"/>
              </a:lnSpc>
              <a:spcBef>
                <a:spcPts val="200"/>
              </a:spcBef>
              <a:spcAft>
                <a:spcPts val="0"/>
              </a:spcAft>
              <a:buSzPts val="1600"/>
              <a:buChar char="•"/>
              <a:defRPr sz="2000"/>
            </a:lvl2pPr>
            <a:lvl3pPr marL="1371600" indent="-320039" algn="l">
              <a:lnSpc>
                <a:spcPct val="90000"/>
              </a:lnSpc>
              <a:spcBef>
                <a:spcPts val="400"/>
              </a:spcBef>
              <a:spcAft>
                <a:spcPts val="0"/>
              </a:spcAft>
              <a:buSzPts val="1440"/>
              <a:buChar char="•"/>
              <a:defRPr sz="1800"/>
            </a:lvl3pPr>
            <a:lvl4pPr marL="1828800" indent="-309880" algn="l">
              <a:lnSpc>
                <a:spcPct val="90000"/>
              </a:lnSpc>
              <a:spcBef>
                <a:spcPts val="400"/>
              </a:spcBef>
              <a:spcAft>
                <a:spcPts val="0"/>
              </a:spcAft>
              <a:buSzPts val="1280"/>
              <a:buChar char="•"/>
              <a:defRPr sz="1600"/>
            </a:lvl4pPr>
            <a:lvl5pPr marL="2286000" indent="-309879" algn="l">
              <a:lnSpc>
                <a:spcPct val="90000"/>
              </a:lnSpc>
              <a:spcBef>
                <a:spcPts val="400"/>
              </a:spcBef>
              <a:spcAft>
                <a:spcPts val="0"/>
              </a:spcAft>
              <a:buSzPts val="1280"/>
              <a:buChar char="•"/>
              <a:defRPr sz="1600"/>
            </a:lvl5pPr>
            <a:lvl6pPr marL="2743200" indent="-309879" algn="l">
              <a:lnSpc>
                <a:spcPct val="90000"/>
              </a:lnSpc>
              <a:spcBef>
                <a:spcPts val="400"/>
              </a:spcBef>
              <a:spcAft>
                <a:spcPts val="0"/>
              </a:spcAft>
              <a:buSzPts val="1280"/>
              <a:buChar char="•"/>
              <a:defRPr sz="1600"/>
            </a:lvl6pPr>
            <a:lvl7pPr marL="3200400" indent="-309879" algn="l">
              <a:lnSpc>
                <a:spcPct val="90000"/>
              </a:lnSpc>
              <a:spcBef>
                <a:spcPts val="400"/>
              </a:spcBef>
              <a:spcAft>
                <a:spcPts val="0"/>
              </a:spcAft>
              <a:buSzPts val="1280"/>
              <a:buChar char="•"/>
              <a:defRPr sz="1600"/>
            </a:lvl7pPr>
            <a:lvl8pPr marL="3657600" indent="-309879" algn="l">
              <a:lnSpc>
                <a:spcPct val="90000"/>
              </a:lnSpc>
              <a:spcBef>
                <a:spcPts val="400"/>
              </a:spcBef>
              <a:spcAft>
                <a:spcPts val="0"/>
              </a:spcAft>
              <a:buSzPts val="1280"/>
              <a:buChar char="•"/>
              <a:defRPr sz="1600"/>
            </a:lvl8pPr>
            <a:lvl9pPr marL="4114800" indent="-309879" algn="l">
              <a:lnSpc>
                <a:spcPct val="90000"/>
              </a:lnSpc>
              <a:spcBef>
                <a:spcPts val="400"/>
              </a:spcBef>
              <a:spcAft>
                <a:spcPts val="400"/>
              </a:spcAft>
              <a:buSzPts val="1280"/>
              <a:buChar char="•"/>
              <a:defRPr sz="1600"/>
            </a:lvl9pPr>
          </a:lstStyle>
          <a:p xmlns:a="http://schemas.openxmlformats.org/drawingml/2006/main">
            <a:endParaRPr/>
          </a:p>
        </p:txBody>
      </p:sp>
      <p:sp>
        <p:nvSpPr>
          <p:cNvPr id="59" name="Google Shape;59;p8">
            <a:extLst xmlns:a="http://schemas.openxmlformats.org/drawingml/2006/main">
              <a:ext uri="{FF2B5EF4-FFF2-40B4-BE49-F238E27FC236}">
                <a16:creationId xmlns:a16="http://schemas.microsoft.com/office/drawing/2014/main" id="{638707D7-23B9-45C1-A8F2-598B2AE38F5B}"/>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0" name="Google Shape;60;p8">
            <a:extLst xmlns:a="http://schemas.openxmlformats.org/drawingml/2006/main">
              <a:ext uri="{FF2B5EF4-FFF2-40B4-BE49-F238E27FC236}">
                <a16:creationId xmlns:a16="http://schemas.microsoft.com/office/drawing/2014/main" id="{CDE3DF0F-A9E3-450B-ABD1-1F5396CAD3D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1" name="Google Shape;61;p8">
            <a:extLst xmlns:a="http://schemas.openxmlformats.org/drawingml/2006/main">
              <a:ext uri="{FF2B5EF4-FFF2-40B4-BE49-F238E27FC236}">
                <a16:creationId xmlns:a16="http://schemas.microsoft.com/office/drawing/2014/main" id="{70B19D17-8237-4B08-A8B2-1648F42350E0}"/>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63" name="Google Shape;63;p9">
            <a:extLst xmlns:a="http://schemas.openxmlformats.org/drawingml/2006/main">
              <a:ext uri="{FF2B5EF4-FFF2-40B4-BE49-F238E27FC236}">
                <a16:creationId xmlns:a16="http://schemas.microsoft.com/office/drawing/2014/main" id="{D08F7266-7985-4AC9-B2A3-F0E202E2E4E7}"/>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4" name="Google Shape;64;p9">
            <a:extLst xmlns:a="http://schemas.openxmlformats.org/drawingml/2006/main">
              <a:ext uri="{FF2B5EF4-FFF2-40B4-BE49-F238E27FC236}">
                <a16:creationId xmlns:a16="http://schemas.microsoft.com/office/drawing/2014/main" id="{6CB2082C-D06C-482C-B967-E3492112D839}"/>
              </a:ext>
            </a:extLst>
          </p:cNvPr>
          <p:cNvSpPr>
            <a:spLocks xmlns:a="http://schemas.openxmlformats.org/drawingml/2006/main" noGrp="1"/>
          </p:cNvSpPr>
          <p:nvPr>
            <p:ph type="body" idx="1"/>
          </p:nvPr>
        </p:nvSpPr>
        <p:spPr>
          <a:xfrm xmlns:a="http://schemas.openxmlformats.org/drawingml/2006/main">
            <a:off x="5852159" y="1097280"/>
            <a:ext cx="5212080" cy="4663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91160" algn="l">
              <a:lnSpc>
                <a:spcPct val="90000"/>
              </a:lnSpc>
              <a:spcBef>
                <a:spcPts val="1400"/>
              </a:spcBef>
              <a:spcAft>
                <a:spcPts val="0"/>
              </a:spcAft>
              <a:buSzPts val="2560"/>
              <a:buChar char="•"/>
              <a:defRPr sz="3200"/>
            </a:lvl1pPr>
            <a:lvl2pPr marL="914400" indent="-370840" algn="l">
              <a:lnSpc>
                <a:spcPct val="90000"/>
              </a:lnSpc>
              <a:spcBef>
                <a:spcPts val="200"/>
              </a:spcBef>
              <a:spcAft>
                <a:spcPts val="0"/>
              </a:spcAft>
              <a:buSzPts val="2240"/>
              <a:buChar char="•"/>
              <a:defRPr sz="2800"/>
            </a:lvl2pPr>
            <a:lvl3pPr marL="1371600" indent="-350519" algn="l">
              <a:lnSpc>
                <a:spcPct val="90000"/>
              </a:lnSpc>
              <a:spcBef>
                <a:spcPts val="400"/>
              </a:spcBef>
              <a:spcAft>
                <a:spcPts val="0"/>
              </a:spcAft>
              <a:buSzPts val="1920"/>
              <a:buChar char="•"/>
              <a:defRPr sz="2400"/>
            </a:lvl3pPr>
            <a:lvl4pPr marL="1828800" indent="-330200" algn="l">
              <a:lnSpc>
                <a:spcPct val="90000"/>
              </a:lnSpc>
              <a:spcBef>
                <a:spcPts val="400"/>
              </a:spcBef>
              <a:spcAft>
                <a:spcPts val="0"/>
              </a:spcAft>
              <a:buSzPts val="1600"/>
              <a:buChar char="•"/>
              <a:defRPr sz="2000"/>
            </a:lvl4pPr>
            <a:lvl5pPr marL="2286000" indent="-330200" algn="l">
              <a:lnSpc>
                <a:spcPct val="90000"/>
              </a:lnSpc>
              <a:spcBef>
                <a:spcPts val="400"/>
              </a:spcBef>
              <a:spcAft>
                <a:spcPts val="0"/>
              </a:spcAft>
              <a:buSzPts val="1600"/>
              <a:buChar char="•"/>
              <a:defRPr sz="2000"/>
            </a:lvl5pPr>
            <a:lvl6pPr marL="2743200" indent="-330200" algn="l">
              <a:lnSpc>
                <a:spcPct val="90000"/>
              </a:lnSpc>
              <a:spcBef>
                <a:spcPts val="400"/>
              </a:spcBef>
              <a:spcAft>
                <a:spcPts val="0"/>
              </a:spcAft>
              <a:buSzPts val="1600"/>
              <a:buChar char="•"/>
              <a:defRPr sz="2000"/>
            </a:lvl6pPr>
            <a:lvl7pPr marL="3200400" indent="-330200" algn="l">
              <a:lnSpc>
                <a:spcPct val="90000"/>
              </a:lnSpc>
              <a:spcBef>
                <a:spcPts val="400"/>
              </a:spcBef>
              <a:spcAft>
                <a:spcPts val="0"/>
              </a:spcAft>
              <a:buSzPts val="1600"/>
              <a:buChar char="•"/>
              <a:defRPr sz="2000"/>
            </a:lvl7pPr>
            <a:lvl8pPr marL="3657600" indent="-330200" algn="l">
              <a:lnSpc>
                <a:spcPct val="90000"/>
              </a:lnSpc>
              <a:spcBef>
                <a:spcPts val="400"/>
              </a:spcBef>
              <a:spcAft>
                <a:spcPts val="0"/>
              </a:spcAft>
              <a:buSzPts val="1600"/>
              <a:buChar char="•"/>
              <a:defRPr sz="2000"/>
            </a:lvl8pPr>
            <a:lvl9pPr marL="4114800" indent="-330200" algn="l">
              <a:lnSpc>
                <a:spcPct val="90000"/>
              </a:lnSpc>
              <a:spcBef>
                <a:spcPts val="400"/>
              </a:spcBef>
              <a:spcAft>
                <a:spcPts val="400"/>
              </a:spcAft>
              <a:buSzPts val="1600"/>
              <a:buChar char="•"/>
              <a:defRPr sz="2000"/>
            </a:lvl9pPr>
          </a:lstStyle>
          <a:p xmlns:a="http://schemas.openxmlformats.org/drawingml/2006/main">
            <a:endParaRPr/>
          </a:p>
        </p:txBody>
      </p:sp>
      <p:sp>
        <p:nvSpPr>
          <p:cNvPr id="65" name="Google Shape;65;p9">
            <a:extLst xmlns:a="http://schemas.openxmlformats.org/drawingml/2006/main">
              <a:ext uri="{FF2B5EF4-FFF2-40B4-BE49-F238E27FC236}">
                <a16:creationId xmlns:a16="http://schemas.microsoft.com/office/drawing/2014/main" id="{F199FB3C-DA4D-43F4-BD3F-8C530DA0CFE1}"/>
              </a:ext>
            </a:extLst>
          </p:cNvPr>
          <p:cNvSpPr>
            <a:spLocks xmlns:a="http://schemas.openxmlformats.org/drawingml/2006/main" noGrp="1"/>
          </p:cNvSpPr>
          <p:nvPr>
            <p:ph type="body" idx="2"/>
          </p:nvPr>
        </p:nvSpPr>
        <p:spPr>
          <a:xfrm xmlns:a="http://schemas.openxmlformats.org/drawingml/2006/main">
            <a:off x="1143000" y="2834640"/>
            <a:ext cx="3931920" cy="30175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66" name="Google Shape;66;p9">
            <a:extLst xmlns:a="http://schemas.openxmlformats.org/drawingml/2006/main">
              <a:ext uri="{FF2B5EF4-FFF2-40B4-BE49-F238E27FC236}">
                <a16:creationId xmlns:a16="http://schemas.microsoft.com/office/drawing/2014/main" id="{CE00638A-17BC-4D96-93ED-FF7C773CD5FD}"/>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7" name="Google Shape;67;p9">
            <a:extLst xmlns:a="http://schemas.openxmlformats.org/drawingml/2006/main">
              <a:ext uri="{FF2B5EF4-FFF2-40B4-BE49-F238E27FC236}">
                <a16:creationId xmlns:a16="http://schemas.microsoft.com/office/drawing/2014/main" id="{5E9F3C43-ADB4-4110-89BC-B62B8721AAD4}"/>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68" name="Google Shape;68;p9">
            <a:extLst xmlns:a="http://schemas.openxmlformats.org/drawingml/2006/main">
              <a:ext uri="{FF2B5EF4-FFF2-40B4-BE49-F238E27FC236}">
                <a16:creationId xmlns:a16="http://schemas.microsoft.com/office/drawing/2014/main" id="{A8AF8AD0-C3A8-4519-8B75-95A8A3BBE3C5}"/>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70" name="Google Shape;70;p10">
            <a:extLst xmlns:a="http://schemas.openxmlformats.org/drawingml/2006/main">
              <a:ext uri="{FF2B5EF4-FFF2-40B4-BE49-F238E27FC236}">
                <a16:creationId xmlns:a16="http://schemas.microsoft.com/office/drawing/2014/main" id="{04E68BC8-DDD5-4D61-B55C-32052B491239}"/>
              </a:ext>
            </a:extLst>
          </p:cNvPr>
          <p:cNvSpPr>
            <a:spLocks xmlns:a="http://schemas.openxmlformats.org/drawingml/2006/main" noGrp="1"/>
          </p:cNvSpPr>
          <p:nvPr>
            <p:ph type="title" idx="0"/>
          </p:nvPr>
        </p:nvSpPr>
        <p:spPr>
          <a:xfrm xmlns:a="http://schemas.openxmlformats.org/drawingml/2006/main">
            <a:off x="1143000" y="1097280"/>
            <a:ext cx="3931920" cy="1737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Autofit/>
          </a:bodyPr>
          <a:lstStyle xmlns:a="http://schemas.openxmlformats.org/drawingml/2006/main">
            <a:lvl1pPr algn="l">
              <a:lnSpc>
                <a:spcPct val="90000"/>
              </a:lnSpc>
              <a:spcBef>
                <a:spcPts val="0"/>
              </a:spcBef>
              <a:spcAft>
                <a:spcPts val="0"/>
              </a:spcAft>
              <a:buClr>
                <a:schemeClr val="dk1"/>
              </a:buClr>
              <a:buSzPts val="4000"/>
              <a:buFont typeface="Corbel"/>
              <a:buNone/>
              <a:defRPr sz="4000" b="0"/>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1" name="Google Shape;71;p10">
            <a:extLst xmlns:a="http://schemas.openxmlformats.org/drawingml/2006/main">
              <a:ext uri="{FF2B5EF4-FFF2-40B4-BE49-F238E27FC236}">
                <a16:creationId xmlns:a16="http://schemas.microsoft.com/office/drawing/2014/main" id="{1F80EB45-7B7E-4817-8DAB-3697C87ABEAB}"/>
              </a:ext>
            </a:extLst>
          </p:cNvPr>
          <p:cNvSpPr>
            <a:spLocks xmlns:a="http://schemas.openxmlformats.org/drawingml/2006/main" noGrp="1"/>
          </p:cNvSpPr>
          <p:nvPr>
            <p:ph type="pic" idx="2"/>
          </p:nvPr>
        </p:nvSpPr>
        <p:spPr>
          <a:xfrm xmlns:a="http://schemas.openxmlformats.org/drawingml/2006/main">
            <a:off x="5413248" y="1069847"/>
            <a:ext cx="6099048" cy="4800600"/>
          </a:xfrm>
          <a:prstGeom xmlns:a="http://schemas.openxmlformats.org/drawingml/2006/main" prst="rect">
            <a:avLst/>
          </a:prstGeom>
          <a:noFill xmlns:a="http://schemas.openxmlformats.org/drawingml/2006/main"/>
          <a:ln xmlns:a="http://schemas.openxmlformats.org/drawingml/2006/main">
            <a:noFill/>
          </a:ln>
        </p:spPr>
      </p:sp>
      <p:sp>
        <p:nvSpPr>
          <p:cNvPr id="72" name="Google Shape;72;p10">
            <a:extLst xmlns:a="http://schemas.openxmlformats.org/drawingml/2006/main">
              <a:ext uri="{FF2B5EF4-FFF2-40B4-BE49-F238E27FC236}">
                <a16:creationId xmlns:a16="http://schemas.microsoft.com/office/drawing/2014/main" id="{35BF28FC-2A92-4CFA-8FED-1362F12E5430}"/>
              </a:ext>
            </a:extLst>
          </p:cNvPr>
          <p:cNvSpPr>
            <a:spLocks xmlns:a="http://schemas.openxmlformats.org/drawingml/2006/main" noGrp="1"/>
          </p:cNvSpPr>
          <p:nvPr>
            <p:ph type="body" idx="1"/>
          </p:nvPr>
        </p:nvSpPr>
        <p:spPr>
          <a:xfrm xmlns:a="http://schemas.openxmlformats.org/drawingml/2006/main">
            <a:off x="1143000" y="2834640"/>
            <a:ext cx="3931920" cy="2880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1000"/>
              </a:spcBef>
              <a:spcAft>
                <a:spcPts val="0"/>
              </a:spcAft>
              <a:buSzPts val="1360"/>
              <a:buNone/>
              <a:defRPr sz="1700"/>
            </a:lvl1pPr>
            <a:lvl2pPr marL="914400" indent="-228600" algn="l">
              <a:lnSpc>
                <a:spcPct val="90000"/>
              </a:lnSpc>
              <a:spcBef>
                <a:spcPts val="200"/>
              </a:spcBef>
              <a:spcAft>
                <a:spcPts val="0"/>
              </a:spcAft>
              <a:buSzPts val="960"/>
              <a:buNone/>
              <a:defRPr sz="1200"/>
            </a:lvl2pPr>
            <a:lvl3pPr marL="1371600" indent="-228600" algn="l">
              <a:lnSpc>
                <a:spcPct val="90000"/>
              </a:lnSpc>
              <a:spcBef>
                <a:spcPts val="400"/>
              </a:spcBef>
              <a:spcAft>
                <a:spcPts val="0"/>
              </a:spcAft>
              <a:buSzPts val="800"/>
              <a:buNone/>
              <a:defRPr sz="1000"/>
            </a:lvl3pPr>
            <a:lvl4pPr marL="1828800" indent="-228600" algn="l">
              <a:lnSpc>
                <a:spcPct val="90000"/>
              </a:lnSpc>
              <a:spcBef>
                <a:spcPts val="400"/>
              </a:spcBef>
              <a:spcAft>
                <a:spcPts val="0"/>
              </a:spcAft>
              <a:buSzPts val="720"/>
              <a:buNone/>
              <a:defRPr sz="900"/>
            </a:lvl4pPr>
            <a:lvl5pPr marL="2286000" indent="-228600" algn="l">
              <a:lnSpc>
                <a:spcPct val="90000"/>
              </a:lnSpc>
              <a:spcBef>
                <a:spcPts val="400"/>
              </a:spcBef>
              <a:spcAft>
                <a:spcPts val="0"/>
              </a:spcAft>
              <a:buSzPts val="720"/>
              <a:buNone/>
              <a:defRPr sz="900"/>
            </a:lvl5pPr>
            <a:lvl6pPr marL="2743200" indent="-228600" algn="l">
              <a:lnSpc>
                <a:spcPct val="90000"/>
              </a:lnSpc>
              <a:spcBef>
                <a:spcPts val="400"/>
              </a:spcBef>
              <a:spcAft>
                <a:spcPts val="0"/>
              </a:spcAft>
              <a:buSzPts val="720"/>
              <a:buNone/>
              <a:defRPr sz="900"/>
            </a:lvl6pPr>
            <a:lvl7pPr marL="3200400" indent="-228600" algn="l">
              <a:lnSpc>
                <a:spcPct val="90000"/>
              </a:lnSpc>
              <a:spcBef>
                <a:spcPts val="400"/>
              </a:spcBef>
              <a:spcAft>
                <a:spcPts val="0"/>
              </a:spcAft>
              <a:buSzPts val="720"/>
              <a:buNone/>
              <a:defRPr sz="900"/>
            </a:lvl7pPr>
            <a:lvl8pPr marL="3657600" indent="-228600" algn="l">
              <a:lnSpc>
                <a:spcPct val="90000"/>
              </a:lnSpc>
              <a:spcBef>
                <a:spcPts val="400"/>
              </a:spcBef>
              <a:spcAft>
                <a:spcPts val="0"/>
              </a:spcAft>
              <a:buSzPts val="720"/>
              <a:buNone/>
              <a:defRPr sz="900"/>
            </a:lvl8pPr>
            <a:lvl9pPr marL="4114800" indent="-228600" algn="l">
              <a:lnSpc>
                <a:spcPct val="90000"/>
              </a:lnSpc>
              <a:spcBef>
                <a:spcPts val="400"/>
              </a:spcBef>
              <a:spcAft>
                <a:spcPts val="400"/>
              </a:spcAft>
              <a:buSzPts val="720"/>
              <a:buNone/>
              <a:defRPr sz="900"/>
            </a:lvl9pPr>
          </a:lstStyle>
          <a:p xmlns:a="http://schemas.openxmlformats.org/drawingml/2006/main">
            <a:endParaRPr/>
          </a:p>
        </p:txBody>
      </p:sp>
      <p:sp>
        <p:nvSpPr>
          <p:cNvPr id="73" name="Google Shape;73;p10">
            <a:extLst xmlns:a="http://schemas.openxmlformats.org/drawingml/2006/main">
              <a:ext uri="{FF2B5EF4-FFF2-40B4-BE49-F238E27FC236}">
                <a16:creationId xmlns:a16="http://schemas.microsoft.com/office/drawing/2014/main" id="{FEC253A5-2192-4CD0-9899-8C0FDCE80D70}"/>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4" name="Google Shape;74;p10">
            <a:extLst xmlns:a="http://schemas.openxmlformats.org/drawingml/2006/main">
              <a:ext uri="{FF2B5EF4-FFF2-40B4-BE49-F238E27FC236}">
                <a16:creationId xmlns:a16="http://schemas.microsoft.com/office/drawing/2014/main" id="{1057E711-2A97-48B1-8C57-A5736F4E9A0A}"/>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5" name="Google Shape;75;p10">
            <a:extLst xmlns:a="http://schemas.openxmlformats.org/drawingml/2006/main">
              <a:ext uri="{FF2B5EF4-FFF2-40B4-BE49-F238E27FC236}">
                <a16:creationId xmlns:a16="http://schemas.microsoft.com/office/drawing/2014/main" id="{F1AEB198-0E92-4630-B285-6E52913A1B7A}"/>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77" name="Google Shape;77;p11">
            <a:extLst xmlns:a="http://schemas.openxmlformats.org/drawingml/2006/main">
              <a:ext uri="{FF2B5EF4-FFF2-40B4-BE49-F238E27FC236}">
                <a16:creationId xmlns:a16="http://schemas.microsoft.com/office/drawing/2014/main" id="{AB4897EE-16CB-46B7-9ED3-6A5D929B02D0}"/>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78" name="Google Shape;78;p11">
            <a:extLst xmlns:a="http://schemas.openxmlformats.org/drawingml/2006/main">
              <a:ext uri="{FF2B5EF4-FFF2-40B4-BE49-F238E27FC236}">
                <a16:creationId xmlns:a16="http://schemas.microsoft.com/office/drawing/2014/main" id="{C49A1845-162D-4FA8-9AD9-9E0EE8995BE6}"/>
              </a:ext>
            </a:extLst>
          </p:cNvPr>
          <p:cNvSpPr>
            <a:spLocks xmlns:a="http://schemas.openxmlformats.org/drawingml/2006/main" noGrp="1"/>
          </p:cNvSpPr>
          <p:nvPr>
            <p:ph type="body" idx="1"/>
          </p:nvPr>
        </p:nvSpPr>
        <p:spPr>
          <a:xfrm xmlns:a="http://schemas.openxmlformats.org/drawingml/2006/main" rot="5400000">
            <a:off x="4060136" y="-859736"/>
            <a:ext cx="4038600" cy="987287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79" name="Google Shape;79;p11">
            <a:extLst xmlns:a="http://schemas.openxmlformats.org/drawingml/2006/main">
              <a:ext uri="{FF2B5EF4-FFF2-40B4-BE49-F238E27FC236}">
                <a16:creationId xmlns:a16="http://schemas.microsoft.com/office/drawing/2014/main" id="{9FE3742A-2E3C-4839-90CB-774EC859D703}"/>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0" name="Google Shape;80;p11">
            <a:extLst xmlns:a="http://schemas.openxmlformats.org/drawingml/2006/main">
              <a:ext uri="{FF2B5EF4-FFF2-40B4-BE49-F238E27FC236}">
                <a16:creationId xmlns:a16="http://schemas.microsoft.com/office/drawing/2014/main" id="{DCCFEB6D-F9E1-4B34-B38C-7A37DC179179}"/>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1" name="Google Shape;81;p11">
            <a:extLst xmlns:a="http://schemas.openxmlformats.org/drawingml/2006/main">
              <a:ext uri="{FF2B5EF4-FFF2-40B4-BE49-F238E27FC236}">
                <a16:creationId xmlns:a16="http://schemas.microsoft.com/office/drawing/2014/main" id="{61BFBD49-C078-43B3-9C44-D5E6840250C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83" name="Google Shape;83;p12">
            <a:extLst xmlns:a="http://schemas.openxmlformats.org/drawingml/2006/main">
              <a:ext uri="{FF2B5EF4-FFF2-40B4-BE49-F238E27FC236}">
                <a16:creationId xmlns:a16="http://schemas.microsoft.com/office/drawing/2014/main" id="{17D57E8B-F927-4A0C-9496-52D5CE46C6D2}"/>
              </a:ext>
            </a:extLst>
          </p:cNvPr>
          <p:cNvSpPr>
            <a:spLocks xmlns:a="http://schemas.openxmlformats.org/drawingml/2006/main" noGrp="1"/>
          </p:cNvSpPr>
          <p:nvPr>
            <p:ph type="title" idx="0"/>
          </p:nvPr>
        </p:nvSpPr>
        <p:spPr>
          <a:xfrm xmlns:a="http://schemas.openxmlformats.org/drawingml/2006/main" rot="5400000">
            <a:off x="7181850" y="2305050"/>
            <a:ext cx="5410200" cy="232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l">
              <a:lnSpc>
                <a:spcPct val="9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4" name="Google Shape;84;p12">
            <a:extLst xmlns:a="http://schemas.openxmlformats.org/drawingml/2006/main">
              <a:ext uri="{FF2B5EF4-FFF2-40B4-BE49-F238E27FC236}">
                <a16:creationId xmlns:a16="http://schemas.microsoft.com/office/drawing/2014/main" id="{97B2F746-CE3C-4721-8D29-FF03CDFB1BD3}"/>
              </a:ext>
            </a:extLst>
          </p:cNvPr>
          <p:cNvSpPr>
            <a:spLocks xmlns:a="http://schemas.openxmlformats.org/drawingml/2006/main" noGrp="1"/>
          </p:cNvSpPr>
          <p:nvPr>
            <p:ph type="body" idx="1"/>
          </p:nvPr>
        </p:nvSpPr>
        <p:spPr>
          <a:xfrm xmlns:a="http://schemas.openxmlformats.org/drawingml/2006/main" rot="5400000">
            <a:off x="2152650" y="-247650"/>
            <a:ext cx="5410200" cy="7429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20040" algn="l">
              <a:lnSpc>
                <a:spcPct val="90000"/>
              </a:lnSpc>
              <a:spcBef>
                <a:spcPts val="1400"/>
              </a:spcBef>
              <a:spcAft>
                <a:spcPts val="0"/>
              </a:spcAft>
              <a:buSzPts val="1440"/>
              <a:buChar char="•"/>
              <a:defRPr/>
            </a:lvl1pPr>
            <a:lvl2pPr marL="914400" indent="-320040" algn="l">
              <a:lnSpc>
                <a:spcPct val="90000"/>
              </a:lnSpc>
              <a:spcBef>
                <a:spcPts val="200"/>
              </a:spcBef>
              <a:spcAft>
                <a:spcPts val="0"/>
              </a:spcAft>
              <a:buSzPts val="1440"/>
              <a:buChar char="•"/>
              <a:defRPr/>
            </a:lvl2pPr>
            <a:lvl3pPr marL="1371600" indent="-320039" algn="l">
              <a:lnSpc>
                <a:spcPct val="90000"/>
              </a:lnSpc>
              <a:spcBef>
                <a:spcPts val="400"/>
              </a:spcBef>
              <a:spcAft>
                <a:spcPts val="0"/>
              </a:spcAft>
              <a:buSzPts val="1440"/>
              <a:buChar char="•"/>
              <a:defRPr/>
            </a:lvl3pPr>
            <a:lvl4pPr marL="1828800" indent="-320039" algn="l">
              <a:lnSpc>
                <a:spcPct val="90000"/>
              </a:lnSpc>
              <a:spcBef>
                <a:spcPts val="400"/>
              </a:spcBef>
              <a:spcAft>
                <a:spcPts val="0"/>
              </a:spcAft>
              <a:buSzPts val="1440"/>
              <a:buChar char="•"/>
              <a:defRPr/>
            </a:lvl4pPr>
            <a:lvl5pPr marL="2286000" indent="-320039" algn="l">
              <a:lnSpc>
                <a:spcPct val="90000"/>
              </a:lnSpc>
              <a:spcBef>
                <a:spcPts val="400"/>
              </a:spcBef>
              <a:spcAft>
                <a:spcPts val="0"/>
              </a:spcAft>
              <a:buSzPts val="1440"/>
              <a:buChar char="•"/>
              <a:defRPr/>
            </a:lvl5pPr>
            <a:lvl6pPr marL="2743200" indent="-320039" algn="l">
              <a:lnSpc>
                <a:spcPct val="90000"/>
              </a:lnSpc>
              <a:spcBef>
                <a:spcPts val="400"/>
              </a:spcBef>
              <a:spcAft>
                <a:spcPts val="0"/>
              </a:spcAft>
              <a:buSzPts val="1440"/>
              <a:buChar char="•"/>
              <a:defRPr/>
            </a:lvl6pPr>
            <a:lvl7pPr marL="3200400" indent="-320039" algn="l">
              <a:lnSpc>
                <a:spcPct val="90000"/>
              </a:lnSpc>
              <a:spcBef>
                <a:spcPts val="400"/>
              </a:spcBef>
              <a:spcAft>
                <a:spcPts val="0"/>
              </a:spcAft>
              <a:buSzPts val="1440"/>
              <a:buChar char="•"/>
              <a:defRPr/>
            </a:lvl7pPr>
            <a:lvl8pPr marL="3657600" indent="-320040" algn="l">
              <a:lnSpc>
                <a:spcPct val="90000"/>
              </a:lnSpc>
              <a:spcBef>
                <a:spcPts val="400"/>
              </a:spcBef>
              <a:spcAft>
                <a:spcPts val="0"/>
              </a:spcAft>
              <a:buSzPts val="1440"/>
              <a:buChar char="•"/>
              <a:defRPr/>
            </a:lvl8pPr>
            <a:lvl9pPr marL="4114800" indent="-320040" algn="l">
              <a:lnSpc>
                <a:spcPct val="90000"/>
              </a:lnSpc>
              <a:spcBef>
                <a:spcPts val="400"/>
              </a:spcBef>
              <a:spcAft>
                <a:spcPts val="400"/>
              </a:spcAft>
              <a:buSzPts val="1440"/>
              <a:buChar char="•"/>
              <a:defRPr/>
            </a:lvl9pPr>
          </a:lstStyle>
          <a:p xmlns:a="http://schemas.openxmlformats.org/drawingml/2006/main">
            <a:endParaRPr/>
          </a:p>
        </p:txBody>
      </p:sp>
      <p:sp>
        <p:nvSpPr>
          <p:cNvPr id="85" name="Google Shape;85;p12">
            <a:extLst xmlns:a="http://schemas.openxmlformats.org/drawingml/2006/main">
              <a:ext uri="{FF2B5EF4-FFF2-40B4-BE49-F238E27FC236}">
                <a16:creationId xmlns:a16="http://schemas.microsoft.com/office/drawing/2014/main" id="{C5B234B9-E110-4BA3-937C-DCF7DDB12F94}"/>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6" name="Google Shape;86;p12">
            <a:extLst xmlns:a="http://schemas.openxmlformats.org/drawingml/2006/main">
              <a:ext uri="{FF2B5EF4-FFF2-40B4-BE49-F238E27FC236}">
                <a16:creationId xmlns:a16="http://schemas.microsoft.com/office/drawing/2014/main" id="{936C881C-947F-49E4-916B-70D53C631E6D}"/>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a:endParaRPr/>
          </a:p>
        </p:txBody>
      </p:sp>
      <p:sp>
        <p:nvSpPr>
          <p:cNvPr id="87" name="Google Shape;87;p12">
            <a:extLst xmlns:a="http://schemas.openxmlformats.org/drawingml/2006/main">
              <a:ext uri="{FF2B5EF4-FFF2-40B4-BE49-F238E27FC236}">
                <a16:creationId xmlns:a16="http://schemas.microsoft.com/office/drawing/2014/main" id="{97C09B98-C1AD-4688-94AB-81DBD1FF230E}"/>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264a47a9d04d34" /><Relationship Type="http://schemas.openxmlformats.org/officeDocument/2006/relationships/slideLayout" Target="/ppt/slideLayouts/slideLayout1.xml" Id="Rf3f7c82ee39346f8" /><Relationship Type="http://schemas.openxmlformats.org/officeDocument/2006/relationships/slideLayout" Target="/ppt/slideLayouts/slideLayout2.xml" Id="R3314cdfcbc9f4bba" /><Relationship Type="http://schemas.openxmlformats.org/officeDocument/2006/relationships/slideLayout" Target="/ppt/slideLayouts/slideLayout3.xml" Id="R13264806c3b1499c" /><Relationship Type="http://schemas.openxmlformats.org/officeDocument/2006/relationships/slideLayout" Target="/ppt/slideLayouts/slideLayout4.xml" Id="R63cfd7002b4946a3" /><Relationship Type="http://schemas.openxmlformats.org/officeDocument/2006/relationships/slideLayout" Target="/ppt/slideLayouts/slideLayout5.xml" Id="R0a5debbb7ea24dcc" /><Relationship Type="http://schemas.openxmlformats.org/officeDocument/2006/relationships/slideLayout" Target="/ppt/slideLayouts/slideLayout6.xml" Id="R49221a5f7fc44326" /><Relationship Type="http://schemas.openxmlformats.org/officeDocument/2006/relationships/slideLayout" Target="/ppt/slideLayouts/slideLayout7.xml" Id="R69daea1e8f0e4c81" /><Relationship Type="http://schemas.openxmlformats.org/officeDocument/2006/relationships/slideLayout" Target="/ppt/slideLayouts/slideLayout8.xml" Id="R20891a29dd0542b6" /><Relationship Type="http://schemas.openxmlformats.org/officeDocument/2006/relationships/slideLayout" Target="/ppt/slideLayouts/slideLayout9.xml" Id="Rf7fb1a21ff714262" /><Relationship Type="http://schemas.openxmlformats.org/officeDocument/2006/relationships/slideLayout" Target="/ppt/slideLayouts/slideLayout10.xml" Id="R774071b11e024724" /><Relationship Type="http://schemas.openxmlformats.org/officeDocument/2006/relationships/slideLayout" Target="/ppt/slideLayouts/slideLayout11.xml" Id="Rfa731047e1794512"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10" name="Google Shape;10;p1">
            <a:extLst xmlns:a="http://schemas.openxmlformats.org/drawingml/2006/main">
              <a:ext uri="{FF2B5EF4-FFF2-40B4-BE49-F238E27FC236}">
                <a16:creationId xmlns:a16="http://schemas.microsoft.com/office/drawing/2014/main" id="{4A910320-64AF-41C6-B724-6D533C7C6A5B}"/>
              </a:ext>
            </a:extLst>
          </p:cNvPr>
          <p:cNvSpPr>
            <a:spLocks xmlns:a="http://schemas.openxmlformats.org/drawingml/2006/main" noGrp="1"/>
          </p:cNvSpPr>
          <p:nvPr/>
        </p:nvSpPr>
        <p:spPr>
          <a:xfrm xmlns:a="http://schemas.openxmlformats.org/drawingml/2006/main">
            <a:off x="231140" y="243840"/>
            <a:ext cx="11724640" cy="6377939"/>
          </a:xfrm>
          <a:prstGeom xmlns:a="http://schemas.openxmlformats.org/drawingml/2006/main" prst="rect">
            <a:avLst/>
          </a:prstGeom>
          <a:solidFill xmlns:a="http://schemas.openxmlformats.org/drawingml/2006/main">
            <a:schemeClr val="lt1"/>
          </a:solidFill>
          <a:ln xmlns:a="http://schemas.openxmlformats.org/drawingml/2006/main" w="12700" cmpd="sng">
            <a:solidFill>
              <a:schemeClr val="dk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cap="none">
              <a:solidFill>
                <a:srgbClr val="000000"/>
              </a:solidFill>
              <a:latin typeface="Arial"/>
              <a:ea typeface="Arial"/>
              <a:cs typeface="Arial"/>
            </a:endParaRPr>
          </a:p>
        </p:txBody>
      </p:sp>
      <p:sp>
        <p:nvSpPr>
          <p:cNvPr id="11" name="Google Shape;11;p1">
            <a:extLst xmlns:a="http://schemas.openxmlformats.org/drawingml/2006/main">
              <a:ext uri="{FF2B5EF4-FFF2-40B4-BE49-F238E27FC236}">
                <a16:creationId xmlns:a16="http://schemas.microsoft.com/office/drawing/2014/main" id="{A45123B7-A767-42E9-9BA9-6A84E1CD867A}"/>
              </a:ext>
            </a:extLst>
          </p:cNvPr>
          <p:cNvSpPr>
            <a:spLocks xmlns:a="http://schemas.openxmlformats.org/drawingml/2006/main" noGrp="1"/>
          </p:cNvSpPr>
          <p:nvPr>
            <p:ph type="title" idx="0"/>
          </p:nvPr>
        </p:nvSpPr>
        <p:spPr>
          <a:xfrm xmlns:a="http://schemas.openxmlformats.org/drawingml/2006/main">
            <a:off x="1143000" y="609600"/>
            <a:ext cx="9875520" cy="1356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l">
              <a:lnSpc>
                <a:spcPct val="90000"/>
              </a:lnSpc>
              <a:spcBef>
                <a:spcPts val="0"/>
              </a:spcBef>
              <a:spcAft>
                <a:spcPts val="0"/>
              </a:spcAft>
              <a:buClr>
                <a:schemeClr val="dk1"/>
              </a:buClr>
              <a:buSzPts val="4400"/>
              <a:buFont typeface="Corbel"/>
              <a:buNone/>
              <a:defRPr sz="44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cap="none">
                <a:solidFill>
                  <a:srgbClr val="000000"/>
                </a:solidFill>
                <a:latin typeface="Arial"/>
                <a:ea typeface="Arial"/>
                <a:cs typeface="Arial"/>
              </a:defRPr>
            </a:lvl9pPr>
          </a:lstStyle>
          <a:p xmlns:a="http://schemas.openxmlformats.org/drawingml/2006/main">
            <a:endParaRPr/>
          </a:p>
        </p:txBody>
      </p:sp>
      <p:sp>
        <p:nvSpPr>
          <p:cNvPr id="12" name="Google Shape;12;p1">
            <a:extLst xmlns:a="http://schemas.openxmlformats.org/drawingml/2006/main">
              <a:ext uri="{FF2B5EF4-FFF2-40B4-BE49-F238E27FC236}">
                <a16:creationId xmlns:a16="http://schemas.microsoft.com/office/drawing/2014/main" id="{FEFC9674-3380-4A29-B556-22D7F8C1635F}"/>
              </a:ext>
            </a:extLst>
          </p:cNvPr>
          <p:cNvSpPr>
            <a:spLocks xmlns:a="http://schemas.openxmlformats.org/drawingml/2006/main" noGrp="1"/>
          </p:cNvSpPr>
          <p:nvPr>
            <p:ph type="body" idx="1"/>
          </p:nvPr>
        </p:nvSpPr>
        <p:spPr>
          <a:xfrm xmlns:a="http://schemas.openxmlformats.org/drawingml/2006/main">
            <a:off x="1143000" y="2057400"/>
            <a:ext cx="9872871" cy="403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340360" algn="l">
              <a:lnSpc>
                <a:spcPct val="90000"/>
              </a:lnSpc>
              <a:spcBef>
                <a:spcPts val="1400"/>
              </a:spcBef>
              <a:spcAft>
                <a:spcPts val="0"/>
              </a:spcAft>
              <a:buClr>
                <a:schemeClr val="dk1"/>
              </a:buClr>
              <a:buSzPts val="1760"/>
              <a:buFont typeface="Corbel"/>
              <a:buChar char="•"/>
              <a:defRPr sz="2200" b="0" i="0" u="none" cap="none">
                <a:solidFill>
                  <a:schemeClr val="dk1"/>
                </a:solidFill>
                <a:latin typeface="Corbel"/>
                <a:ea typeface="Corbel"/>
                <a:cs typeface="Corbel"/>
              </a:defRPr>
            </a:lvl1pPr>
            <a:lvl2pPr marL="914400" marR="0" indent="-330200" algn="l">
              <a:lnSpc>
                <a:spcPct val="90000"/>
              </a:lnSpc>
              <a:spcBef>
                <a:spcPts val="200"/>
              </a:spcBef>
              <a:spcAft>
                <a:spcPts val="0"/>
              </a:spcAft>
              <a:buClr>
                <a:schemeClr val="dk1"/>
              </a:buClr>
              <a:buSzPts val="1600"/>
              <a:buFont typeface="Corbel"/>
              <a:buChar char="•"/>
              <a:defRPr sz="2000" b="0" i="0" u="none" cap="none">
                <a:solidFill>
                  <a:schemeClr val="dk1"/>
                </a:solidFill>
                <a:latin typeface="Corbel"/>
                <a:ea typeface="Corbel"/>
                <a:cs typeface="Corbel"/>
              </a:defRPr>
            </a:lvl2pPr>
            <a:lvl3pPr marL="1371600" marR="0" indent="-320039" algn="l">
              <a:lnSpc>
                <a:spcPct val="90000"/>
              </a:lnSpc>
              <a:spcBef>
                <a:spcPts val="400"/>
              </a:spcBef>
              <a:spcAft>
                <a:spcPts val="0"/>
              </a:spcAft>
              <a:buClr>
                <a:schemeClr val="dk1"/>
              </a:buClr>
              <a:buSzPts val="1440"/>
              <a:buFont typeface="Corbel"/>
              <a:buChar char="•"/>
              <a:defRPr sz="1800" b="0" i="0" u="none" cap="none">
                <a:solidFill>
                  <a:schemeClr val="dk1"/>
                </a:solidFill>
                <a:latin typeface="Corbel"/>
                <a:ea typeface="Corbel"/>
                <a:cs typeface="Corbel"/>
              </a:defRPr>
            </a:lvl3pPr>
            <a:lvl4pPr marL="1828800" marR="0" indent="-309880"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4pPr>
            <a:lvl5pPr marL="22860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5pPr>
            <a:lvl6pPr marL="27432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6pPr>
            <a:lvl7pPr marL="32004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7pPr>
            <a:lvl8pPr marL="3657600" marR="0" indent="-309879" algn="l">
              <a:lnSpc>
                <a:spcPct val="90000"/>
              </a:lnSpc>
              <a:spcBef>
                <a:spcPts val="400"/>
              </a:spcBef>
              <a:spcAft>
                <a:spcPts val="0"/>
              </a:spcAft>
              <a:buClr>
                <a:schemeClr val="dk1"/>
              </a:buClr>
              <a:buSzPts val="1280"/>
              <a:buFont typeface="Corbel"/>
              <a:buChar char="•"/>
              <a:defRPr sz="1600" b="0" i="0" u="none" cap="none">
                <a:solidFill>
                  <a:schemeClr val="dk1"/>
                </a:solidFill>
                <a:latin typeface="Corbel"/>
                <a:ea typeface="Corbel"/>
                <a:cs typeface="Corbel"/>
              </a:defRPr>
            </a:lvl8pPr>
            <a:lvl9pPr marL="4114800" marR="0" indent="-309879" algn="l">
              <a:lnSpc>
                <a:spcPct val="90000"/>
              </a:lnSpc>
              <a:spcBef>
                <a:spcPts val="400"/>
              </a:spcBef>
              <a:spcAft>
                <a:spcPts val="400"/>
              </a:spcAft>
              <a:buClr>
                <a:schemeClr val="dk1"/>
              </a:buClr>
              <a:buSzPts val="1280"/>
              <a:buFont typeface="Corbel"/>
              <a:buChar char="•"/>
              <a:defRPr sz="1600" b="0" i="0" u="none" cap="none">
                <a:solidFill>
                  <a:schemeClr val="dk1"/>
                </a:solidFill>
                <a:latin typeface="Corbel"/>
                <a:ea typeface="Corbel"/>
                <a:cs typeface="Corbel"/>
              </a:defRPr>
            </a:lvl9pPr>
          </a:lstStyle>
          <a:p xmlns:a="http://schemas.openxmlformats.org/drawingml/2006/main">
            <a:endParaRPr/>
          </a:p>
        </p:txBody>
      </p:sp>
      <p:sp>
        <p:nvSpPr>
          <p:cNvPr id="13" name="Google Shape;13;p1">
            <a:extLst xmlns:a="http://schemas.openxmlformats.org/drawingml/2006/main">
              <a:ext uri="{FF2B5EF4-FFF2-40B4-BE49-F238E27FC236}">
                <a16:creationId xmlns:a16="http://schemas.microsoft.com/office/drawing/2014/main" id="{10E6EE13-9D4C-486C-8058-3BA2696D9AE9}"/>
              </a:ext>
            </a:extLst>
          </p:cNvPr>
          <p:cNvSpPr>
            <a:spLocks xmlns:a="http://schemas.openxmlformats.org/drawingml/2006/main" noGrp="1"/>
          </p:cNvSpPr>
          <p:nvPr>
            <p:ph type="dt" idx="10"/>
          </p:nvPr>
        </p:nvSpPr>
        <p:spPr>
          <a:xfrm xmlns:a="http://schemas.openxmlformats.org/drawingml/2006/main">
            <a:off x="1142996" y="6223828"/>
            <a:ext cx="23290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4" name="Google Shape;14;p1">
            <a:extLst xmlns:a="http://schemas.openxmlformats.org/drawingml/2006/main">
              <a:ext uri="{FF2B5EF4-FFF2-40B4-BE49-F238E27FC236}">
                <a16:creationId xmlns:a16="http://schemas.microsoft.com/office/drawing/2014/main" id="{CAF8DEDC-38CB-4BB0-92BD-088BD67C6DE8}"/>
              </a:ext>
            </a:extLst>
          </p:cNvPr>
          <p:cNvSpPr>
            <a:spLocks xmlns:a="http://schemas.openxmlformats.org/drawingml/2006/main" noGrp="1"/>
          </p:cNvSpPr>
          <p:nvPr>
            <p:ph type="ftr" idx="11"/>
          </p:nvPr>
        </p:nvSpPr>
        <p:spPr>
          <a:xfrm xmlns:a="http://schemas.openxmlformats.org/drawingml/2006/main">
            <a:off x="3949148" y="6223828"/>
            <a:ext cx="4717774"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cap="none">
                <a:solidFill>
                  <a:schemeClr val="dk1"/>
                </a:solidFill>
                <a:latin typeface="Corbel"/>
                <a:ea typeface="Corbel"/>
                <a:cs typeface="Corbel"/>
              </a:defRPr>
            </a:lvl1pPr>
            <a:lvl2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2pPr>
            <a:lvl3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3pPr>
            <a:lvl4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4pPr>
            <a:lvl5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5pPr>
            <a:lvl6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6pPr>
            <a:lvl7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7pPr>
            <a:lvl8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8pPr>
            <a:lvl9pPr marR="0" algn="l">
              <a:lnSpc>
                <a:spcPct val="100000"/>
              </a:lnSpc>
              <a:spcBef>
                <a:spcPts val="0"/>
              </a:spcBef>
              <a:spcAft>
                <a:spcPts val="0"/>
              </a:spcAft>
              <a:buClr>
                <a:srgbClr val="000000"/>
              </a:buClr>
              <a:buSzPts val="1400"/>
              <a:buFont typeface="Arial"/>
              <a:buNone/>
              <a:defRPr sz="1800" b="0" i="0" u="none" cap="none">
                <a:solidFill>
                  <a:schemeClr val="dk1"/>
                </a:solidFill>
                <a:latin typeface="Corbel"/>
                <a:ea typeface="Corbel"/>
                <a:cs typeface="Corbel"/>
              </a:defRPr>
            </a:lvl9pPr>
          </a:lstStyle>
          <a:p xmlns:a="http://schemas.openxmlformats.org/drawingml/2006/main">
            <a:endParaRPr/>
          </a:p>
        </p:txBody>
      </p:sp>
      <p:sp>
        <p:nvSpPr>
          <p:cNvPr id="15" name="Google Shape;15;p1">
            <a:extLst xmlns:a="http://schemas.openxmlformats.org/drawingml/2006/main">
              <a:ext uri="{FF2B5EF4-FFF2-40B4-BE49-F238E27FC236}">
                <a16:creationId xmlns:a16="http://schemas.microsoft.com/office/drawing/2014/main" id="{3D188BE8-38E8-4AFD-868E-F034EB790649}"/>
              </a:ext>
            </a:extLst>
          </p:cNvPr>
          <p:cNvSpPr>
            <a:spLocks xmlns:a="http://schemas.openxmlformats.org/drawingml/2006/main" noGrp="1"/>
          </p:cNvSpPr>
          <p:nvPr>
            <p:ph type="sldNum" idx="12"/>
          </p:nvPr>
        </p:nvSpPr>
        <p:spPr>
          <a:xfrm xmlns:a="http://schemas.openxmlformats.org/drawingml/2006/main">
            <a:off x="9329530" y="6223828"/>
            <a:ext cx="1706217" cy="36512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1pPr>
            <a:lvl2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2pPr>
            <a:lvl3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3pPr>
            <a:lvl4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4pPr>
            <a:lvl5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5pPr>
            <a:lvl6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6pPr>
            <a:lvl7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7pPr>
            <a:lvl8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8pPr>
            <a:lvl9pPr marL="0" marR="0" indent="0" algn="r">
              <a:lnSpc>
                <a:spcPct val="100000"/>
              </a:lnSpc>
              <a:spcBef>
                <a:spcPts val="0"/>
              </a:spcBef>
              <a:spcAft>
                <a:spcPts val="0"/>
              </a:spcAft>
              <a:buClr>
                <a:srgbClr val="000000"/>
              </a:buClr>
              <a:buSzPts val="1200"/>
              <a:buFont typeface="Arial"/>
              <a:buNone/>
              <a:defRPr sz="1200" b="0" i="0" u="none" cap="none">
                <a:solidFill>
                  <a:schemeClr val="dk1"/>
                </a:solidFill>
                <a:latin typeface="Corbel"/>
                <a:ea typeface="Corbel"/>
                <a:cs typeface="Corbe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3f7c82ee39346f8"/>
    <p:sldLayoutId xmlns:r="http://schemas.openxmlformats.org/officeDocument/2006/relationships" id="2147483650" r:id="R3314cdfcbc9f4bba"/>
    <p:sldLayoutId xmlns:r="http://schemas.openxmlformats.org/officeDocument/2006/relationships" id="2147483651" r:id="R13264806c3b1499c"/>
    <p:sldLayoutId xmlns:r="http://schemas.openxmlformats.org/officeDocument/2006/relationships" id="2147483652" r:id="R63cfd7002b4946a3"/>
    <p:sldLayoutId xmlns:r="http://schemas.openxmlformats.org/officeDocument/2006/relationships" id="2147483653" r:id="R0a5debbb7ea24dcc"/>
    <p:sldLayoutId xmlns:r="http://schemas.openxmlformats.org/officeDocument/2006/relationships" id="2147483654" r:id="R49221a5f7fc44326"/>
    <p:sldLayoutId xmlns:r="http://schemas.openxmlformats.org/officeDocument/2006/relationships" id="2147483655" r:id="R69daea1e8f0e4c81"/>
    <p:sldLayoutId xmlns:r="http://schemas.openxmlformats.org/officeDocument/2006/relationships" id="2147483656" r:id="R20891a29dd0542b6"/>
    <p:sldLayoutId xmlns:r="http://schemas.openxmlformats.org/officeDocument/2006/relationships" id="2147483657" r:id="Rf7fb1a21ff714262"/>
    <p:sldLayoutId xmlns:r="http://schemas.openxmlformats.org/officeDocument/2006/relationships" id="2147483658" r:id="R774071b11e024724"/>
    <p:sldLayoutId xmlns:r="http://schemas.openxmlformats.org/officeDocument/2006/relationships" id="2147483659" r:id="Rfa731047e1794512"/>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e95355a8e2745bf" /><Relationship Type="http://schemas.openxmlformats.org/officeDocument/2006/relationships/image" Target="/ppt/media/image.png" Id="R5d63fe3aeb8c4d04" /><Relationship Type="http://schemas.openxmlformats.org/officeDocument/2006/relationships/image" Target="/ppt/media/image2.png" Id="R24ea09ff2bad4d41" /><Relationship Type="http://schemas.openxmlformats.org/officeDocument/2006/relationships/notesSlide" Target="/ppt/notesSlides/notesSlide1.xml" Id="Rd8767d12c06d44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343299ab324efd" /><Relationship Type="http://schemas.openxmlformats.org/officeDocument/2006/relationships/image" Target="/ppt/media/image.jpeg" Id="Rd9d81288c2804189" /><Relationship Type="http://schemas.openxmlformats.org/officeDocument/2006/relationships/image" Target="/ppt/media/image3.png" Id="Rb0598b4027834ffe" /><Relationship Type="http://schemas.openxmlformats.org/officeDocument/2006/relationships/notesSlide" Target="/ppt/notesSlides/notesSlide2.xml" Id="Rca9323c7693e4af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7310e9318a54613" /><Relationship Type="http://schemas.openxmlformats.org/officeDocument/2006/relationships/image" Target="/ppt/media/image2.jpeg" Id="R97ef2ad33c79423d" /><Relationship Type="http://schemas.openxmlformats.org/officeDocument/2006/relationships/image" Target="/ppt/media/image2.png" Id="R045b07c9a485475d" /><Relationship Type="http://schemas.openxmlformats.org/officeDocument/2006/relationships/image" Target="/ppt/media/image4.png" Id="R073f06e8fb274147" /><Relationship Type="http://schemas.openxmlformats.org/officeDocument/2006/relationships/image" Target="/ppt/media/image5.png" Id="Rf661102530074136" /><Relationship Type="http://schemas.openxmlformats.org/officeDocument/2006/relationships/notesSlide" Target="/ppt/notesSlides/notesSlide3.xml" Id="R78f6b9a1aee0491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a467593cac4681" /><Relationship Type="http://schemas.openxmlformats.org/officeDocument/2006/relationships/image" Target="/ppt/media/image2.jpeg" Id="R59904b6a9f554768" /><Relationship Type="http://schemas.openxmlformats.org/officeDocument/2006/relationships/image" Target="/ppt/media/image2.png" Id="Rdbff7dfe3e8046fa" /><Relationship Type="http://schemas.openxmlformats.org/officeDocument/2006/relationships/notesSlide" Target="/ppt/notesSlides/notesSlide4.xml" Id="R8672ea10ce8c40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2c75f0ad6954dc0" /><Relationship Type="http://schemas.openxmlformats.org/officeDocument/2006/relationships/image" Target="/ppt/media/image2.jpeg" Id="Rbc326f6f3bf8488d" /><Relationship Type="http://schemas.openxmlformats.org/officeDocument/2006/relationships/image" Target="/ppt/media/image2.png" Id="R926487743ef647ec" /><Relationship Type="http://schemas.openxmlformats.org/officeDocument/2006/relationships/notesSlide" Target="/ppt/notesSlides/notesSlide5.xml" Id="R32491421a54645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730e7ff99f428d" /><Relationship Type="http://schemas.openxmlformats.org/officeDocument/2006/relationships/image" Target="/ppt/media/image2.jpeg" Id="Reab17f639f4e42ca" /><Relationship Type="http://schemas.openxmlformats.org/officeDocument/2006/relationships/image" Target="/ppt/media/image2.png" Id="R21967e0288b94f10" /><Relationship Type="http://schemas.openxmlformats.org/officeDocument/2006/relationships/notesSlide" Target="/ppt/notesSlides/notesSlide6.xml" Id="R9e35eba8bd1d475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cd5accdd9d4d02" /><Relationship Type="http://schemas.openxmlformats.org/officeDocument/2006/relationships/image" Target="/ppt/media/image2.jpeg" Id="R5fb1b8fa62c94659" /><Relationship Type="http://schemas.openxmlformats.org/officeDocument/2006/relationships/image" Target="/ppt/media/image2.png" Id="Rec039407020442de" /><Relationship Type="http://schemas.openxmlformats.org/officeDocument/2006/relationships/notesSlide" Target="/ppt/notesSlides/notesSlide7.xml" Id="R42dbed7afc484b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ea5ebd35a40403c" /><Relationship Type="http://schemas.openxmlformats.org/officeDocument/2006/relationships/image" Target="/ppt/media/image2.jpeg" Id="R2dd804c4dc384a9c" /><Relationship Type="http://schemas.openxmlformats.org/officeDocument/2006/relationships/image" Target="/ppt/media/image2.png" Id="R39c2d094810a41b4" /><Relationship Type="http://schemas.openxmlformats.org/officeDocument/2006/relationships/notesSlide" Target="/ppt/notesSlides/notesSlide8.xml" Id="Rc2a7c8d6f1df48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4e8cb34f1de84a4f" /><Relationship Type="http://schemas.openxmlformats.org/officeDocument/2006/relationships/image" Target="/ppt/media/image2.jpeg" Id="R25c974ef1aa142cd" /><Relationship Type="http://schemas.openxmlformats.org/officeDocument/2006/relationships/image" Target="/ppt/media/image2.png" Id="Ref1d3f1d1fb14fd6" /><Relationship Type="http://schemas.openxmlformats.org/officeDocument/2006/relationships/image" Target="/ppt/media/image4.png" Id="Rdba2935de0f449ce" /><Relationship Type="http://schemas.openxmlformats.org/officeDocument/2006/relationships/image" Target="/ppt/media/image6.png" Id="R25cd65b74eb94bc6" /><Relationship Type="http://schemas.openxmlformats.org/officeDocument/2006/relationships/notesSlide" Target="/ppt/notesSlides/notesSlide9.xml" Id="Rf1d1917b8a9543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502a10923bb4fc4" /><Relationship Type="http://schemas.openxmlformats.org/officeDocument/2006/relationships/image" Target="/ppt/media/image2.jpeg" Id="R26d7b98a75634f0e" /><Relationship Type="http://schemas.openxmlformats.org/officeDocument/2006/relationships/image" Target="/ppt/media/image2.png" Id="R5ec971b0a4064c7f" /><Relationship Type="http://schemas.openxmlformats.org/officeDocument/2006/relationships/notesSlide" Target="/ppt/notesSlides/notesSlide10.xml" Id="Rb48b8ead510942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f4a43105e094c1b" /><Relationship Type="http://schemas.openxmlformats.org/officeDocument/2006/relationships/image" Target="/ppt/media/image3.jpeg" Id="R508fbf8719c043ca" /><Relationship Type="http://schemas.openxmlformats.org/officeDocument/2006/relationships/image" Target="/ppt/media/image7.png" Id="R6173eed1723443a4" /><Relationship Type="http://schemas.openxmlformats.org/officeDocument/2006/relationships/notesSlide" Target="/ppt/notesSlides/notesSlide11.xml" Id="R5dbdee60d9fb4a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8effe9ac6644d72" /><Relationship Type="http://schemas.openxmlformats.org/officeDocument/2006/relationships/image" Target="/ppt/media/image2.jpeg" Id="R386b2b71d58344f9" /><Relationship Type="http://schemas.openxmlformats.org/officeDocument/2006/relationships/image" Target="/ppt/media/image2.png" Id="Ra992a29cae01415b" /><Relationship Type="http://schemas.openxmlformats.org/officeDocument/2006/relationships/notesSlide" Target="/ppt/notesSlides/notesSlide12.xml" Id="R6728b3fb784d42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62b0d72732046cc" /><Relationship Type="http://schemas.openxmlformats.org/officeDocument/2006/relationships/image" Target="/ppt/media/image2.jpeg" Id="R12c2bb9a5e474790" /><Relationship Type="http://schemas.openxmlformats.org/officeDocument/2006/relationships/image" Target="/ppt/media/image2.png" Id="R309a6ab5f2de475e" /><Relationship Type="http://schemas.openxmlformats.org/officeDocument/2006/relationships/notesSlide" Target="/ppt/notesSlides/notesSlide13.xml" Id="R3f06e720b0d94f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f9ed57823bf4ba6" /><Relationship Type="http://schemas.openxmlformats.org/officeDocument/2006/relationships/image" Target="/ppt/media/image2.jpeg" Id="Re0c6bd54c3044f35" /><Relationship Type="http://schemas.openxmlformats.org/officeDocument/2006/relationships/image" Target="/ppt/media/image2.png" Id="R867bdf67a05e4c90" /><Relationship Type="http://schemas.openxmlformats.org/officeDocument/2006/relationships/image" Target="/ppt/media/image4.png" Id="Ra2cc6dcf4f2544b1" /><Relationship Type="http://schemas.openxmlformats.org/officeDocument/2006/relationships/image" Target="/ppt/media/image8.png" Id="Rad591c1b347e484a" /><Relationship Type="http://schemas.openxmlformats.org/officeDocument/2006/relationships/notesSlide" Target="/ppt/notesSlides/notesSlide14.xml" Id="R1c629f4bdae144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1a898bb56d4223" /><Relationship Type="http://schemas.openxmlformats.org/officeDocument/2006/relationships/image" Target="/ppt/media/image2.jpeg" Id="R10ec71083e294884" /><Relationship Type="http://schemas.openxmlformats.org/officeDocument/2006/relationships/image" Target="/ppt/media/image2.png" Id="R01fc259496c34f71" /><Relationship Type="http://schemas.openxmlformats.org/officeDocument/2006/relationships/image" Target="/ppt/media/image9.png" Id="Rfa91682e6c52404b" /><Relationship Type="http://schemas.openxmlformats.org/officeDocument/2006/relationships/notesSlide" Target="/ppt/notesSlides/notesSlide15.xml" Id="Rb2dae51b9fd24fb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2182b1903944678" /><Relationship Type="http://schemas.openxmlformats.org/officeDocument/2006/relationships/image" Target="/ppt/media/image2.jpeg" Id="R21b8b0f567a54df4" /><Relationship Type="http://schemas.openxmlformats.org/officeDocument/2006/relationships/image" Target="/ppt/media/image2.png" Id="Re0b8bd34c96d42be" /><Relationship Type="http://schemas.openxmlformats.org/officeDocument/2006/relationships/notesSlide" Target="/ppt/notesSlides/notesSlide16.xml" Id="R8a71ac979666482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d7b63f8636d4025" /><Relationship Type="http://schemas.openxmlformats.org/officeDocument/2006/relationships/image" Target="/ppt/media/image2.jpeg" Id="R474c1d6337fa4d69" /><Relationship Type="http://schemas.openxmlformats.org/officeDocument/2006/relationships/image" Target="/ppt/media/image2.png" Id="Rfbbc129881ad4490" /><Relationship Type="http://schemas.openxmlformats.org/officeDocument/2006/relationships/notesSlide" Target="/ppt/notesSlides/notesSlide17.xml" Id="R71a06dd231b948f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26f899c7d9a41db" /><Relationship Type="http://schemas.openxmlformats.org/officeDocument/2006/relationships/image" Target="/ppt/media/image2.jpeg" Id="Rcd881a86a95a4dc8" /><Relationship Type="http://schemas.openxmlformats.org/officeDocument/2006/relationships/image" Target="/ppt/media/image2.png" Id="R428c258387984510" /><Relationship Type="http://schemas.openxmlformats.org/officeDocument/2006/relationships/notesSlide" Target="/ppt/notesSlides/notesSlide18.xml" Id="R3b4f32aaf7c74f9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849d9077d254b5b" /><Relationship Type="http://schemas.openxmlformats.org/officeDocument/2006/relationships/image" Target="/ppt/media/image2.jpeg" Id="R2195c789e16d4014" /><Relationship Type="http://schemas.openxmlformats.org/officeDocument/2006/relationships/image" Target="/ppt/media/image2.png" Id="R3cf233b73da1438b" /><Relationship Type="http://schemas.openxmlformats.org/officeDocument/2006/relationships/notesSlide" Target="/ppt/notesSlides/notesSlide19.xml" Id="Raf49640aa8ce432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9534b65805ab4eec" /><Relationship Type="http://schemas.openxmlformats.org/officeDocument/2006/relationships/image" Target="/ppt/media/image2.jpeg" Id="R056f1709c0694630" /><Relationship Type="http://schemas.openxmlformats.org/officeDocument/2006/relationships/image" Target="/ppt/media/image2.png" Id="R52db6f300a1343c9" /><Relationship Type="http://schemas.openxmlformats.org/officeDocument/2006/relationships/notesSlide" Target="/ppt/notesSlides/notesSlide20.xml" Id="Rc5c022d8e8d946c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3c6450be75c4088" /><Relationship Type="http://schemas.openxmlformats.org/officeDocument/2006/relationships/image" Target="/ppt/media/image2.jpeg" Id="R4d6d95462fd8454a" /><Relationship Type="http://schemas.openxmlformats.org/officeDocument/2006/relationships/image" Target="/ppt/media/image2.png" Id="Rdef811d82cfc4b3b" /><Relationship Type="http://schemas.openxmlformats.org/officeDocument/2006/relationships/image" Target="/ppt/media/image4.png" Id="R85f8e23514e8488f" /><Relationship Type="http://schemas.openxmlformats.org/officeDocument/2006/relationships/image" Target="/ppt/media/image10.png" Id="R25d0aee214ba42cb" /><Relationship Type="http://schemas.openxmlformats.org/officeDocument/2006/relationships/notesSlide" Target="/ppt/notesSlides/notesSlide21.xml" Id="R42137aa257b94c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3154c600176493c" /><Relationship Type="http://schemas.openxmlformats.org/officeDocument/2006/relationships/image" Target="/ppt/media/image2.jpeg" Id="R6debe639311d45bf" /><Relationship Type="http://schemas.openxmlformats.org/officeDocument/2006/relationships/image" Target="/ppt/media/image2.png" Id="R7eb116b89c2d493f" /><Relationship Type="http://schemas.openxmlformats.org/officeDocument/2006/relationships/notesSlide" Target="/ppt/notesSlides/notesSlide22.xml" Id="R32642b3aec834d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f3d4187690e24f84" /><Relationship Type="http://schemas.openxmlformats.org/officeDocument/2006/relationships/image" Target="/ppt/media/image2.jpeg" Id="Rc71f061a6d524034" /><Relationship Type="http://schemas.openxmlformats.org/officeDocument/2006/relationships/image" Target="/ppt/media/image2.png" Id="Rdb6b775e0142411f" /><Relationship Type="http://schemas.openxmlformats.org/officeDocument/2006/relationships/chart" Target="/ppt/slides/charts/chart1.xml" Id="R33bcf9959358424f" /><Relationship Type="http://schemas.openxmlformats.org/officeDocument/2006/relationships/notesSlide" Target="/ppt/notesSlides/notesSlide23.xml" Id="R4f73b03d5404475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8f53c8ef5554e74" /><Relationship Type="http://schemas.openxmlformats.org/officeDocument/2006/relationships/image" Target="/ppt/media/image2.jpeg" Id="Rd8125a27b690423c" /><Relationship Type="http://schemas.openxmlformats.org/officeDocument/2006/relationships/image" Target="/ppt/media/image2.png" Id="R7a988999b65640b0" /><Relationship Type="http://schemas.openxmlformats.org/officeDocument/2006/relationships/image" Target="/ppt/media/image11.png" Id="R79390c6261f348ad" /><Relationship Type="http://schemas.openxmlformats.org/officeDocument/2006/relationships/image" Target="/ppt/media/image12.png" Id="R0e7a149a613144b5" /><Relationship Type="http://schemas.openxmlformats.org/officeDocument/2006/relationships/notesSlide" Target="/ppt/notesSlides/notesSlide24.xml" Id="R40f7500c97ac4f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870abce8742c494d" /><Relationship Type="http://schemas.openxmlformats.org/officeDocument/2006/relationships/image" Target="/ppt/media/image2.jpeg" Id="Recc9b658fb8e4119" /><Relationship Type="http://schemas.openxmlformats.org/officeDocument/2006/relationships/image" Target="/ppt/media/image2.png" Id="R4e66ff21d6734b11" /><Relationship Type="http://schemas.openxmlformats.org/officeDocument/2006/relationships/image" Target="/ppt/media/image4.png" Id="R155c054fc71f4763" /><Relationship Type="http://schemas.openxmlformats.org/officeDocument/2006/relationships/image" Target="/ppt/media/image13.png" Id="R1df1cebe55944feb" /><Relationship Type="http://schemas.openxmlformats.org/officeDocument/2006/relationships/notesSlide" Target="/ppt/notesSlides/notesSlide25.xml" Id="R198b2de2ed3648a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4b43631d8ca4dd7" /><Relationship Type="http://schemas.openxmlformats.org/officeDocument/2006/relationships/image" Target="/ppt/media/image2.jpeg" Id="Rade442b6b18a4e16" /><Relationship Type="http://schemas.openxmlformats.org/officeDocument/2006/relationships/image" Target="/ppt/media/image2.png" Id="R26f6544890724d2e" /><Relationship Type="http://schemas.openxmlformats.org/officeDocument/2006/relationships/notesSlide" Target="/ppt/notesSlides/notesSlide26.xml" Id="Rbfad4978912645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780d87ce1a814bf8" /><Relationship Type="http://schemas.openxmlformats.org/officeDocument/2006/relationships/image" Target="/ppt/media/image2.jpeg" Id="R01b0db7169eb4a90" /><Relationship Type="http://schemas.openxmlformats.org/officeDocument/2006/relationships/image" Target="/ppt/media/image2.png" Id="R0e7930224e914a37" /><Relationship Type="http://schemas.openxmlformats.org/officeDocument/2006/relationships/notesSlide" Target="/ppt/notesSlides/notesSlide27.xml" Id="Rda9293e0f3df4e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8a0528eacfe46e6" /><Relationship Type="http://schemas.openxmlformats.org/officeDocument/2006/relationships/image" Target="/ppt/media/image2.jpeg" Id="R5a29d9e893d042db" /><Relationship Type="http://schemas.openxmlformats.org/officeDocument/2006/relationships/image" Target="/ppt/media/image2.png" Id="R9610cba997014120" /><Relationship Type="http://schemas.openxmlformats.org/officeDocument/2006/relationships/notesSlide" Target="/ppt/notesSlides/notesSlide28.xml" Id="R75f5ac6b767a4ae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cbd5db9d0c045c5" /><Relationship Type="http://schemas.openxmlformats.org/officeDocument/2006/relationships/image" Target="/ppt/media/image2.jpeg" Id="Rd3b8c7ffaaaa4ffb" /><Relationship Type="http://schemas.openxmlformats.org/officeDocument/2006/relationships/image" Target="/ppt/media/image2.png" Id="R9cdd355483e84db5" /><Relationship Type="http://schemas.openxmlformats.org/officeDocument/2006/relationships/notesSlide" Target="/ppt/notesSlides/notesSlide29.xml" Id="Rfb40741aafbc44b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1244fc0204624eb6" /><Relationship Type="http://schemas.openxmlformats.org/officeDocument/2006/relationships/image" Target="/ppt/media/image2.jpeg" Id="R2e7244aa3e904aa5" /><Relationship Type="http://schemas.openxmlformats.org/officeDocument/2006/relationships/image" Target="/ppt/media/image2.png" Id="Rf1fe0d39d6554e06" /><Relationship Type="http://schemas.openxmlformats.org/officeDocument/2006/relationships/notesSlide" Target="/ppt/notesSlides/notesSlide30.xml" Id="R618b9d6014874ba7"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2a343dde1ec64fd3" /><Relationship Type="http://schemas.openxmlformats.org/officeDocument/2006/relationships/image" Target="/ppt/media/image2.jpeg" Id="R91e93f3db77846be" /><Relationship Type="http://schemas.openxmlformats.org/officeDocument/2006/relationships/image" Target="/ppt/media/image2.png" Id="R246899c5d097404c" /><Relationship Type="http://schemas.openxmlformats.org/officeDocument/2006/relationships/notesSlide" Target="/ppt/notesSlides/notesSlide31.xml" Id="Re9157b9bf7cb49f0"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83d6a6a7f744118" /><Relationship Type="http://schemas.openxmlformats.org/officeDocument/2006/relationships/image" Target="/ppt/media/image2.jpeg" Id="Rb4c381a132cf47c6" /><Relationship Type="http://schemas.openxmlformats.org/officeDocument/2006/relationships/image" Target="/ppt/media/image2.png" Id="R0917ee70f11145da" /><Relationship Type="http://schemas.openxmlformats.org/officeDocument/2006/relationships/notesSlide" Target="/ppt/notesSlides/notesSlide32.xml" Id="Rfa7aa7aaf46148b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c0a96abd6054461" /><Relationship Type="http://schemas.openxmlformats.org/officeDocument/2006/relationships/image" Target="/ppt/media/image2.jpeg" Id="R7e690a6051b84546" /><Relationship Type="http://schemas.openxmlformats.org/officeDocument/2006/relationships/image" Target="/ppt/media/image2.png" Id="R8e08bd8e5ad14676" /><Relationship Type="http://schemas.openxmlformats.org/officeDocument/2006/relationships/notesSlide" Target="/ppt/notesSlides/notesSlide33.xml" Id="Rf5f3962581894f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906dc728c8b4472" /><Relationship Type="http://schemas.openxmlformats.org/officeDocument/2006/relationships/image" Target="/ppt/media/image2.jpeg" Id="R1a9d4741dfd34aa6" /><Relationship Type="http://schemas.openxmlformats.org/officeDocument/2006/relationships/image" Target="/ppt/media/image2.png" Id="R62e4840f9b84464e" /><Relationship Type="http://schemas.openxmlformats.org/officeDocument/2006/relationships/image" Target="/ppt/media/image14.png" Id="R4abb0118d21e462a" /><Relationship Type="http://schemas.openxmlformats.org/officeDocument/2006/relationships/notesSlide" Target="/ppt/notesSlides/notesSlide34.xml" Id="R5b737e5e200e453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cef8674d0ea742b7" /><Relationship Type="http://schemas.openxmlformats.org/officeDocument/2006/relationships/image" Target="/ppt/media/image2.jpeg" Id="Ra0de11a4e9cc4cd5" /><Relationship Type="http://schemas.openxmlformats.org/officeDocument/2006/relationships/image" Target="/ppt/media/image.gif" Id="Rff1768cee5e14c1b" /><Relationship Type="http://schemas.openxmlformats.org/officeDocument/2006/relationships/image" Target="/ppt/media/image2.png" Id="R19da8812efbf46b9" /><Relationship Type="http://schemas.openxmlformats.org/officeDocument/2006/relationships/notesSlide" Target="/ppt/notesSlides/notesSlide35.xml" Id="Ra1b79d560e154497"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350" b="1">
                <a:solidFill>
                  <a:srgbClr val="17365D"/>
                </a:solidFill>
                <a:latin typeface="Arial"/>
                <a:ea typeface="Arial"/>
                <a:cs typeface="Arial"/>
              </a:rPr>
              <a:t>Actual encrypted upload reduction (%)</a:t>
            </a:r>
          </a:p>
        </c:rich>
      </c:tx>
      <c:overlay val="0"/>
      <c:txPr>
        <a:bodyPr xmlns:a="http://schemas.openxmlformats.org/drawingml/2006/main" anchorCtr="1"/>
        <a:lstStyle xmlns:a="http://schemas.openxmlformats.org/drawingml/2006/main"/>
        <a:p xmlns:a="http://schemas.openxmlformats.org/drawingml/2006/main">
          <a:pPr>
            <a:defRPr sz="1350" b="1">
              <a:solidFill>
                <a:srgbClr val="17365D"/>
              </a:solidFill>
              <a:latin typeface="Arial"/>
              <a:ea typeface="Arial"/>
              <a:cs typeface="Arial"/>
            </a:defRPr>
          </a:pPr>
        </a:p>
      </c:txPr>
    </c:title>
    <c:plotArea>
      <c:barChart>
        <c:barDir val="bar"/>
        <c:grouping val="clustered"/>
        <c:varyColors val="0"/>
        <c:ser>
          <c:idx val="0"/>
          <c:order val="0"/>
          <c:tx>
            <c:v>Reduction</c:v>
          </c:tx>
          <c:spPr>
            <a:solidFill xmlns:a="http://schemas.openxmlformats.org/drawingml/2006/main">
              <a:srgbClr val="00843D"/>
            </a:solidFill>
          </c:spPr>
          <c:cat>
            <c:strLit>
              <c:ptCount val="5"/>
              <c:pt idx="0">
                <c:v>DP-FedAvg</c:v>
              </c:pt>
              <c:pt idx="1">
                <c:v>CAABC-FL</c:v>
              </c:pt>
              <c:pt idx="2">
                <c:v>Fed-EF-SGD</c:v>
              </c:pt>
              <c:pt idx="3">
                <c:v>Fed-EF-AMS</c:v>
              </c:pt>
              <c:pt idx="4">
                <c:v>SoteriaFL</c:v>
              </c:pt>
            </c:strLit>
          </c:cat>
          <c:val>
            <c:numLit>
              <c:formatCode>0.0</c:formatCode>
              <c:ptCount val="5"/>
              <c:pt idx="0">
                <c:v>0</c:v>
              </c:pt>
              <c:pt idx="1">
                <c:v>55.999</c:v>
              </c:pt>
              <c:pt idx="2">
                <c:v>0.0067</c:v>
              </c:pt>
              <c:pt idx="3">
                <c:v>0.0033</c:v>
              </c:pt>
              <c:pt idx="4">
                <c:v>0.0004</c:v>
              </c:pt>
            </c:numLit>
          </c:val>
        </c:ser>
        <c:dLbls>
          <c:txPr>
            <a:bodyPr xmlns:a="http://schemas.openxmlformats.org/drawingml/2006/main" anchorCtr="1"/>
            <a:lstStyle xmlns:a="http://schemas.openxmlformats.org/drawingml/2006/main"/>
            <a:p xmlns:a="http://schemas.openxmlformats.org/drawingml/2006/main">
              <a:pPr>
                <a:defRPr sz="975" b="1">
                  <a:solidFill>
                    <a:srgbClr val="1F2937"/>
                  </a:solidFill>
                  <a:latin typeface="Arial"/>
                  <a:ea typeface="Arial"/>
                  <a:cs typeface="Arial"/>
                </a:defRPr>
              </a:pPr>
            </a:p>
          </c:txPr>
          <c:dLblPos val="outEnd"/>
          <c:showLegendKey val="0"/>
          <c:showVal val="1"/>
          <c:showCatName val="0"/>
          <c:showSerName val="0"/>
          <c:showPercent val="0"/>
          <c:showBubbleSize val="0"/>
          <c:showLeaderLines val="0"/>
        </c:dLbls>
        <c:gapWidth val="4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valAx>
    </c:plotArea>
    <c:plotVisOnly val="1"/>
  </c:chart>
  <c:spPr>
    <a:solidFill xmlns:a="http://schemas.openxmlformats.org/drawingml/2006/main">
      <a:srgbClr val="FFFFFF"/>
    </a:solidFill>
    <a:ln xmlns:a="http://schemas.openxmlformats.org/drawingml/2006/main" w="9525">
      <a:solidFill>
        <a:srgbClr val="B8C4CE"/>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85" name="Google Shape;173;p25"/>
          <p:cNvPicPr>
            <a:picLocks xmlns:a="http://schemas.openxmlformats.org/drawingml/2006/main" noChangeAspect="1"/>
          </p:cNvPicPr>
          <p:nvPr/>
        </p:nvPicPr>
        <p:blipFill rotWithShape="1">
          <a:blip xmlns:r="http://schemas.openxmlformats.org/officeDocument/2006/relationships" xmlns:a="http://schemas.openxmlformats.org/drawingml/2006/main" r:embed="R5d63fe3aeb8c4d04">
            <a:alphaModFix amt="25000"/>
          </a:blip>
          <a:srcRect xmlns:a="http://schemas.openxmlformats.org/drawingml/2006/main" l="0" t="0" r="0" b="0"/>
          <a:stretch xmlns:a="http://schemas.openxmlformats.org/drawingml/2006/main"/>
        </p:blipFill>
        <p:spPr>
          <a:xfrm xmlns:a="http://schemas.openxmlformats.org/drawingml/2006/main" flipH="0" flipV="0">
            <a:off x="249382" y="251522"/>
            <a:ext cx="11684000" cy="6354956"/>
          </a:xfrm>
          <a:prstGeom xmlns:a="http://schemas.openxmlformats.org/drawingml/2006/main" prst="rect">
            <a:avLst/>
          </a:prstGeom>
          <a:ln xmlns:a="http://schemas.openxmlformats.org/drawingml/2006/main">
            <a:noFill/>
          </a:ln>
          <a:effectLst xmlns:a="http://schemas.openxmlformats.org/drawingml/2006/main">
            <a:outerShdw blurRad="1003300" sx="89000" sy="89000" algn="ctr" rotWithShape="0">
              <a:schemeClr val="lt1">
                <a:alpha val="3921"/>
              </a:schemeClr>
            </a:outerShdw>
          </a:effectLst>
        </p:spPr>
      </p:pic>
      <p:sp>
        <p:nvSpPr>
          <p:cNvPr id="175" name="Google Shape;175;p25">
            <a:extLst xmlns:a="http://schemas.openxmlformats.org/drawingml/2006/main">
              <a:ext uri="{FF2B5EF4-FFF2-40B4-BE49-F238E27FC236}">
                <a16:creationId xmlns:a16="http://schemas.microsoft.com/office/drawing/2014/main" id="{D25FF023-60FE-468B-940A-B4DA65D2FC5E}"/>
              </a:ext>
            </a:extLst>
          </p:cNvPr>
          <p:cNvSpPr>
            <a:spLocks xmlns:a="http://schemas.openxmlformats.org/drawingml/2006/main" noGrp="1"/>
          </p:cNvSpPr>
          <p:nvPr/>
        </p:nvSpPr>
        <p:spPr>
          <a:xfrm xmlns:a="http://schemas.openxmlformats.org/drawingml/2006/main">
            <a:off x="762000" y="1000125"/>
            <a:ext cx="10668000" cy="2103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fontScale="100000"/>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800"/>
              <a:buFont typeface="Arial"/>
              <a:buNone/>
              <a:defRPr sz="2925" b="1">
                <a:solidFill>
                  <a:srgbClr val="17365D"/>
                </a:solidFill>
                <a:latin typeface="Arial"/>
                <a:ea typeface="Arial"/>
                <a:cs typeface="Arial"/>
              </a:defRPr>
            </a:pPr>
            <a:r>
              <a:rPr sz="2925" b="1" i="0" u="none" cap="none">
                <a:solidFill>
                  <a:srgbClr val="17365D"/>
                </a:solidFill>
                <a:latin typeface="Arial"/>
                <a:ea typeface="Arial"/>
                <a:cs typeface="Arial"/>
              </a:rPr>
              <a:t>CAABC-FL: A Hybrid Privacy-Preserving Framework for Secure Multi-Institutional Collaboration</a:t>
            </a:r>
            <a:endParaRPr sz="4400" b="0" i="0" u="none" cap="none">
              <a:solidFill>
                <a:srgbClr val="000000"/>
              </a:solidFill>
              <a:latin typeface="Arial"/>
              <a:ea typeface="Arial"/>
              <a:cs typeface="Arial"/>
            </a:endParaRPr>
          </a:p>
        </p:txBody>
      </p:sp>
      <p:sp>
        <p:nvSpPr>
          <p:cNvPr id="177" name="Google Shape;177;p25">
            <a:extLst xmlns:a="http://schemas.openxmlformats.org/drawingml/2006/main">
              <a:ext uri="{FF2B5EF4-FFF2-40B4-BE49-F238E27FC236}">
                <a16:creationId xmlns:a16="http://schemas.microsoft.com/office/drawing/2014/main" id="{1A787CBB-2971-4C31-9293-4909EA4C0262}"/>
              </a:ext>
            </a:extLst>
          </p:cNvPr>
          <p:cNvSpPr>
            <a:spLocks xmlns:a="http://schemas.openxmlformats.org/drawingml/2006/main" noGrp="1"/>
          </p:cNvSpPr>
          <p:nvPr>
            <p:ph type="dt" idx="10"/>
          </p:nvPr>
        </p:nvSpPr>
        <p:spPr>
          <a:xfrm xmlns:a="http://schemas.openxmlformats.org/drawingml/2006/main">
            <a:off x="462800" y="6396575"/>
            <a:ext cx="1556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178" name="Google Shape;178;p25">
            <a:extLst xmlns:a="http://schemas.openxmlformats.org/drawingml/2006/main">
              <a:ext uri="{FF2B5EF4-FFF2-40B4-BE49-F238E27FC236}">
                <a16:creationId xmlns:a16="http://schemas.microsoft.com/office/drawing/2014/main" id="{EC7E38E7-131A-4955-84CA-2ACE593A8C3D}"/>
              </a:ext>
            </a:extLst>
          </p:cNvPr>
          <p:cNvSpPr>
            <a:spLocks xmlns:a="http://schemas.openxmlformats.org/drawingml/2006/main" noGrp="1"/>
          </p:cNvSpPr>
          <p:nvPr/>
        </p:nvSpPr>
        <p:spPr>
          <a:xfrm xmlns:a="http://schemas.openxmlformats.org/drawingml/2006/main">
            <a:off x="2498421" y="2436934"/>
            <a:ext cx="7302500" cy="892512"/>
          </a:xfrm>
          <a:prstGeom xmlns:a="http://schemas.openxmlformats.org/drawingml/2006/main" prst="rect">
            <a:avLst/>
          </a:prstGeom>
          <a:noFill xmlns:a="http://schemas.openxmlformats.org/drawingml/2006/main"/>
          <a:ln xmlns:a="http://schemas.openxmlformats.org/drawingml/2006/main">
            <a:noFill/>
          </a:ln>
          <a:effectLst xmlns:a="http://schemas.openxmlformats.org/drawingml/2006/main">
            <a:outerShdw blurRad="50800" dist="50800" dir="5400000" algn="ctr" rotWithShape="0">
              <a:schemeClr val="lt1"/>
            </a:outerShdw>
          </a:effectLst>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800" b="1" i="0" u="none" cap="none">
                <a:solidFill>
                  <a:srgbClr val="6E6E6E"/>
                </a:solidFill>
                <a:latin typeface="Arial"/>
                <a:ea typeface="Arial"/>
                <a:cs typeface="Arial"/>
              </a:rPr>
              <a:t>Thesis Final Defense</a:t>
            </a:r>
            <a:endParaRPr sz="2800"/>
          </a:p>
          <a:p xmlns:a="http://schemas.openxmlformats.org/drawingml/2006/main">
            <a:pPr marL="0" marR="0" lvl="0" indent="0" algn="ctr">
              <a:lnSpc>
                <a:spcPct val="100000"/>
              </a:lnSpc>
              <a:spcBef>
                <a:spcPts val="0"/>
              </a:spcBef>
              <a:spcAft>
                <a:spcPts val="0"/>
              </a:spcAft>
              <a:buNone/>
            </a:pPr>
            <a:r>
              <a:rPr sz="2400" b="1" i="0" u="none" cap="none">
                <a:solidFill>
                  <a:srgbClr val="000000"/>
                </a:solidFill>
                <a:latin typeface="Arial"/>
                <a:ea typeface="Arial"/>
                <a:cs typeface="Arial"/>
              </a:rPr>
              <a:t>Fall 2025</a:t>
            </a:r>
            <a:endParaRPr sz="2400" b="1" i="0" u="none" cap="none">
              <a:solidFill>
                <a:srgbClr val="000000"/>
              </a:solidFill>
              <a:latin typeface="Arial"/>
              <a:ea typeface="Arial"/>
              <a:cs typeface="Arial"/>
            </a:endParaRPr>
          </a:p>
        </p:txBody>
      </p:sp>
      <p:sp>
        <p:nvSpPr>
          <p:cNvPr id="179" name="Google Shape;179;p25">
            <a:extLst xmlns:a="http://schemas.openxmlformats.org/drawingml/2006/main">
              <a:ext uri="{FF2B5EF4-FFF2-40B4-BE49-F238E27FC236}">
                <a16:creationId xmlns:a16="http://schemas.microsoft.com/office/drawing/2014/main" id="{CC827AB5-2338-4A5C-8992-FA8BBB93B06C}"/>
              </a:ext>
            </a:extLst>
          </p:cNvPr>
          <p:cNvSpPr>
            <a:spLocks xmlns:a="http://schemas.openxmlformats.org/drawingml/2006/main" noGrp="1"/>
          </p:cNvSpPr>
          <p:nvPr/>
        </p:nvSpPr>
        <p:spPr>
          <a:xfrm xmlns:a="http://schemas.openxmlformats.org/drawingml/2006/main">
            <a:off x="1235210" y="5643678"/>
            <a:ext cx="9676661" cy="1015663"/>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None/>
            </a:pPr>
            <a:r>
              <a:rPr sz="2600" b="1" i="0" u="none" cap="none">
                <a:solidFill>
                  <a:srgbClr val="000000"/>
                </a:solidFill>
                <a:latin typeface="Arial"/>
                <a:ea typeface="Arial"/>
                <a:cs typeface="Arial"/>
              </a:rPr>
              <a:t>Department of Computer Science and Engineering</a:t>
            </a:r>
            <a:endParaRPr/>
          </a:p>
          <a:p xmlns:a="http://schemas.openxmlformats.org/drawingml/2006/main">
            <a:pPr marL="0" marR="0" lvl="0" indent="0" algn="ctr">
              <a:lnSpc>
                <a:spcPct val="100000"/>
              </a:lnSpc>
              <a:spcBef>
                <a:spcPts val="0"/>
              </a:spcBef>
              <a:spcAft>
                <a:spcPts val="0"/>
              </a:spcAft>
              <a:buNone/>
            </a:pPr>
            <a:r>
              <a:rPr sz="3200" b="1" i="0" u="none" cap="none">
                <a:solidFill>
                  <a:srgbClr val="000000"/>
                </a:solidFill>
                <a:latin typeface="Arial"/>
                <a:ea typeface="Arial"/>
                <a:cs typeface="Arial"/>
              </a:rPr>
              <a:t>Green University of Bangladesh </a:t>
            </a:r>
            <a:endParaRPr/>
          </a:p>
        </p:txBody>
      </p:sp>
      <p:pic>
        <p:nvPicPr>
          <p:cNvPr id="190" name="Google Shape;180;p25"/>
          <p:cNvPicPr>
            <a:picLocks xmlns:a="http://schemas.openxmlformats.org/drawingml/2006/main" noChangeAspect="1"/>
          </p:cNvPicPr>
          <p:nvPr/>
        </p:nvPicPr>
        <p:blipFill rotWithShape="1">
          <a:blip xmlns:r="http://schemas.openxmlformats.org/officeDocument/2006/relationships" xmlns:a="http://schemas.openxmlformats.org/drawingml/2006/main" r:embed="R24ea09ff2bad4d41">
            <a:alphaModFix/>
          </a:blip>
          <a:srcRect xmlns:a="http://schemas.openxmlformats.org/drawingml/2006/main" l="0" t="0" r="0" b="0"/>
          <a:stretch xmlns:a="http://schemas.openxmlformats.org/drawingml/2006/main"/>
        </p:blipFill>
        <p:spPr>
          <a:xfrm xmlns:a="http://schemas.openxmlformats.org/drawingml/2006/main">
            <a:off x="4624251" y="250163"/>
            <a:ext cx="2773947" cy="1154019"/>
          </a:xfrm>
          <a:prstGeom xmlns:a="http://schemas.openxmlformats.org/drawingml/2006/main" prst="rect">
            <a:avLst/>
          </a:prstGeom>
          <a:ln xmlns:a="http://schemas.openxmlformats.org/drawingml/2006/main">
            <a:noFill/>
          </a:ln>
        </p:spPr>
      </p:pic>
      <p:sp>
        <p:nvSpPr>
          <p:cNvPr id="3" name="Google Shape;176;p25">
            <a:extLst xmlns:a="http://schemas.openxmlformats.org/drawingml/2006/main">
              <a:ext uri="{FF2B5EF4-FFF2-40B4-BE49-F238E27FC236}">
                <a16:creationId xmlns:a16="http://schemas.microsoft.com/office/drawing/2014/main" id="{0A0AC8FA-28A6-AAC3-1B13-5F28531E7A18}"/>
              </a:ext>
            </a:extLst>
          </p:cNvPr>
          <p:cNvSpPr>
            <a:spLocks xmlns:a="http://schemas.openxmlformats.org/drawingml/2006/main" noGrp="1"/>
          </p:cNvSpPr>
          <p:nvPr/>
        </p:nvSpPr>
        <p:spPr>
          <a:xfrm xmlns:a="http://schemas.openxmlformats.org/drawingml/2006/main">
            <a:off x="3450333" y="3620754"/>
            <a:ext cx="5121781" cy="1754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800"/>
              <a:buFont typeface="Arial"/>
              <a:buNone/>
            </a:pPr>
            <a:r>
              <a:rPr sz="2400" b="1" i="0" u="none" cap="none">
                <a:solidFill>
                  <a:srgbClr val="0070C0"/>
                </a:solidFill>
                <a:latin typeface="Arial"/>
                <a:ea typeface="Arial"/>
                <a:cs typeface="Arial"/>
              </a:rPr>
              <a:t>Presented by</a:t>
            </a:r>
            <a:endParaRPr sz="2400" b="1" i="0" u="none" cap="none">
              <a:solidFill>
                <a:srgbClr val="0070C0"/>
              </a:solidFill>
              <a:latin typeface="Arial"/>
              <a:ea typeface="Arial"/>
              <a:cs typeface="Arial"/>
            </a:endParaRPr>
          </a:p>
          <a:p xmlns:a="http://schemas.openxmlformats.org/drawingml/2006/main">
            <a:pPr marL="0" marR="0" lvl="0" indent="0" algn="ctr">
              <a:lnSpc>
                <a:spcPct val="100000"/>
              </a:lnSpc>
              <a:spcBef>
                <a:spcPts val="800"/>
              </a:spcBef>
              <a:spcAft>
                <a:spcPts val="0"/>
              </a:spcAft>
              <a:buClr>
                <a:srgbClr val="000000"/>
              </a:buClr>
              <a:buSzPts val="2400"/>
              <a:buFont typeface="Arial"/>
              <a:buNone/>
            </a:pPr>
            <a:r>
              <a:rPr sz="2000">
                <a:solidFill>
                  <a:srgbClr val="00B0F0"/>
                </a:solidFill>
              </a:rPr>
              <a:t>Md. Robiul Islam - 222002068</a:t>
            </a:r>
            <a:endParaRPr sz="2000" b="0" i="0" u="none" cap="none">
              <a:solidFill>
                <a:srgbClr val="00B0F0"/>
              </a:solidFill>
              <a:latin typeface="Arial"/>
              <a:ea typeface="Arial"/>
              <a:cs typeface="Arial"/>
            </a:endParaRPr>
          </a:p>
          <a:p xmlns:a="http://schemas.openxmlformats.org/drawingml/2006/main">
            <a:pPr lvl="0" algn="ctr">
              <a:spcBef>
                <a:spcPts val="800"/>
              </a:spcBef>
              <a:buSzPts val="2400"/>
              <a:buNone/>
            </a:pPr>
            <a:r>
              <a:rPr sz="2000">
                <a:solidFill>
                  <a:srgbClr val="00B0F0"/>
                </a:solidFill>
              </a:rPr>
              <a:t>Ashrafun Nahar Arifa - 222002066</a:t>
            </a:r>
          </a:p>
          <a:p xmlns:a="http://schemas.openxmlformats.org/drawingml/2006/main">
            <a:pPr algn="ctr">
              <a:spcBef>
                <a:spcPts val="800"/>
              </a:spcBef>
              <a:buSzPts val="2400"/>
              <a:buNone/>
            </a:pPr>
            <a:r>
              <a:rPr sz="2000">
                <a:solidFill>
                  <a:srgbClr val="00B0F0"/>
                </a:solidFill>
              </a:rPr>
              <a:t>Md. Atikur Rahman - 221902166</a:t>
            </a:r>
          </a:p>
        </p:txBody>
      </p:sp>
      <p:sp>
        <p:nvSpPr>
          <p:cNvPr id="182" name="visible-footer-date-1">
            <a:extLst xmlns:a="http://schemas.openxmlformats.org/drawingml/2006/main">
              <a:ext uri="{FF2B5EF4-FFF2-40B4-BE49-F238E27FC236}">
                <a16:creationId xmlns:a16="http://schemas.microsoft.com/office/drawing/2014/main" id="{A331825A-019A-4D52-BDFB-671BA143512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918647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d9d81288c2804189"/>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0598b4027834ffe"/>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2">
            <a:extLst xmlns:a="http://schemas.openxmlformats.org/drawingml/2006/main">
              <a:ext uri="{FF2B5EF4-FFF2-40B4-BE49-F238E27FC236}">
                <a16:creationId xmlns:a16="http://schemas.microsoft.com/office/drawing/2014/main" id="{F6C4A783-6CA1-4234-BF2F-58C8FDF86203}"/>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Table of Contents</a:t>
            </a:r>
          </a:p>
        </p:txBody>
      </p:sp>
      <p:sp>
        <p:nvSpPr>
          <p:cNvPr id="4" name="rule-45-665">
            <a:extLst xmlns:a="http://schemas.openxmlformats.org/drawingml/2006/main">
              <a:ext uri="{FF2B5EF4-FFF2-40B4-BE49-F238E27FC236}">
                <a16:creationId xmlns:a16="http://schemas.microsoft.com/office/drawing/2014/main" id="{5D12E25B-FFA4-49DA-8BDE-DEA98565E2D0}"/>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2">
            <a:extLst xmlns:a="http://schemas.openxmlformats.org/drawingml/2006/main">
              <a:ext uri="{FF2B5EF4-FFF2-40B4-BE49-F238E27FC236}">
                <a16:creationId xmlns:a16="http://schemas.microsoft.com/office/drawing/2014/main" id="{5F63C4D7-EA98-4A2A-AC2B-F552F36B0142}"/>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2">
            <a:extLst xmlns:a="http://schemas.openxmlformats.org/drawingml/2006/main">
              <a:ext uri="{FF2B5EF4-FFF2-40B4-BE49-F238E27FC236}">
                <a16:creationId xmlns:a16="http://schemas.microsoft.com/office/drawing/2014/main" id="{D3DD6AD1-30EB-442B-9FB7-6E3415E9A1A8}"/>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2">
            <a:extLst xmlns:a="http://schemas.openxmlformats.org/drawingml/2006/main">
              <a:ext uri="{FF2B5EF4-FFF2-40B4-BE49-F238E27FC236}">
                <a16:creationId xmlns:a16="http://schemas.microsoft.com/office/drawing/2014/main" id="{B090BECB-4C48-47F7-85E9-2310EFE0B0E3}"/>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2</a:t>
            </a:r>
          </a:p>
        </p:txBody>
      </p:sp>
      <p:sp>
        <p:nvSpPr>
          <p:cNvPr id="8" name="toc-left">
            <a:extLst xmlns:a="http://schemas.openxmlformats.org/drawingml/2006/main">
              <a:ext uri="{FF2B5EF4-FFF2-40B4-BE49-F238E27FC236}">
                <a16:creationId xmlns:a16="http://schemas.microsoft.com/office/drawing/2014/main" id="{E64BE7FF-2629-4A0E-9774-DCE8509C9B56}"/>
              </a:ext>
            </a:extLst>
          </p:cNvPr>
          <p:cNvSpPr>
            <a:spLocks xmlns:a="http://schemas.openxmlformats.org/drawingml/2006/main" noGrp="1"/>
          </p:cNvSpPr>
          <p:nvPr/>
        </p:nvSpPr>
        <p:spPr>
          <a:xfrm xmlns:a="http://schemas.openxmlformats.org/drawingml/2006/main">
            <a:off x="14287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1  Introduction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2  Literature Review</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3  Proposed Methodology</a:t>
            </a:r>
          </a:p>
        </p:txBody>
      </p:sp>
      <p:sp>
        <p:nvSpPr>
          <p:cNvPr id="9" name="rule-630-150">
            <a:extLst xmlns:a="http://schemas.openxmlformats.org/drawingml/2006/main">
              <a:ext uri="{FF2B5EF4-FFF2-40B4-BE49-F238E27FC236}">
                <a16:creationId xmlns:a16="http://schemas.microsoft.com/office/drawing/2014/main" id="{205F7E81-2495-4748-8738-FCD3AA9CDD6B}"/>
              </a:ext>
            </a:extLst>
          </p:cNvPr>
          <p:cNvSpPr>
            <a:spLocks xmlns:a="http://schemas.openxmlformats.org/drawingml/2006/main" noGrp="1"/>
          </p:cNvSpPr>
          <p:nvPr/>
        </p:nvSpPr>
        <p:spPr>
          <a:xfrm xmlns:a="http://schemas.openxmlformats.org/drawingml/2006/main">
            <a:off x="6000750" y="1428750"/>
            <a:ext cx="28575" cy="38100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10" name="toc-right">
            <a:extLst xmlns:a="http://schemas.openxmlformats.org/drawingml/2006/main">
              <a:ext uri="{FF2B5EF4-FFF2-40B4-BE49-F238E27FC236}">
                <a16:creationId xmlns:a16="http://schemas.microsoft.com/office/drawing/2014/main" id="{9E244E5D-05B7-4052-B9B8-DFA1E983C134}"/>
              </a:ext>
            </a:extLst>
          </p:cNvPr>
          <p:cNvSpPr>
            <a:spLocks xmlns:a="http://schemas.openxmlformats.org/drawingml/2006/main" noGrp="1"/>
          </p:cNvSpPr>
          <p:nvPr/>
        </p:nvSpPr>
        <p:spPr>
          <a:xfrm xmlns:a="http://schemas.openxmlformats.org/drawingml/2006/main">
            <a:off x="6572250" y="1571625"/>
            <a:ext cx="428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4  Results and Discussion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5  Conclusion</a:t>
            </a:r>
          </a:p>
          <a:p xmlns:a="http://schemas.openxmlformats.org/drawingml/2006/main">
            <a:r>
              <a:t/>
            </a:r>
          </a:p>
          <a:p xmlns:a="http://schemas.openxmlformats.org/drawingml/2006/main">
            <a:pPr algn="l">
              <a:buNone/>
              <a:defRPr sz="2250" b="1" i="0">
                <a:solidFill>
                  <a:srgbClr val="17365D"/>
                </a:solidFill>
                <a:latin typeface="Arial"/>
                <a:ea typeface="Arial"/>
                <a:cs typeface="Arial"/>
              </a:defRPr>
            </a:pPr>
            <a:r>
              <a:rPr sz="2250" b="1" i="0">
                <a:solidFill>
                  <a:srgbClr val="17365D"/>
                </a:solidFill>
                <a:latin typeface="Arial"/>
                <a:ea typeface="Arial"/>
                <a:cs typeface="Arial"/>
              </a:rPr>
              <a:t>6  References, Backup and Q&amp;A</a:t>
            </a:r>
          </a:p>
        </p:txBody>
      </p:sp>
      <p:sp>
        <p:nvSpPr>
          <p:cNvPr id="13" name="visible-footer-date-2">
            <a:extLst xmlns:a="http://schemas.openxmlformats.org/drawingml/2006/main">
              <a:ext uri="{FF2B5EF4-FFF2-40B4-BE49-F238E27FC236}">
                <a16:creationId xmlns:a16="http://schemas.microsoft.com/office/drawing/2014/main" id="{1A3CE9A8-5845-45E2-91F0-A01D971DE4F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2329875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39" name="Google Shape;198;p27"/>
          <p:cNvPicPr>
            <a:picLocks xmlns:a="http://schemas.openxmlformats.org/drawingml/2006/main" noChangeAspect="1"/>
          </p:cNvPicPr>
          <p:nvPr/>
        </p:nvPicPr>
        <p:blipFill rotWithShape="1">
          <a:blip xmlns:r="http://schemas.openxmlformats.org/officeDocument/2006/relationships" xmlns:a="http://schemas.openxmlformats.org/drawingml/2006/main" r:embed="R97ef2ad33c79423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199;p27"/>
          <p:cNvPicPr>
            <a:picLocks xmlns:a="http://schemas.openxmlformats.org/drawingml/2006/main" noChangeAspect="1"/>
          </p:cNvPicPr>
          <p:nvPr/>
        </p:nvPicPr>
        <p:blipFill rotWithShape="1">
          <a:blip xmlns:r="http://schemas.openxmlformats.org/officeDocument/2006/relationships" xmlns:a="http://schemas.openxmlformats.org/drawingml/2006/main" r:embed="R045b07c9a485475d">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241" name="Google Shape;200;p27"/>
          <p:cNvPicPr>
            <a:picLocks xmlns:a="http://schemas.openxmlformats.org/drawingml/2006/main" noChangeAspect="1"/>
          </p:cNvPicPr>
          <p:nvPr/>
        </p:nvPicPr>
        <p:blipFill rotWithShape="1">
          <a:blip xmlns:r="http://schemas.openxmlformats.org/officeDocument/2006/relationships" xmlns:a="http://schemas.openxmlformats.org/drawingml/2006/main" r:embed="R073f06e8fb274147">
            <a:alphaModFix/>
          </a:blip>
          <a:srcRect xmlns:a="http://schemas.openxmlformats.org/drawingml/2006/main" l="1187" t="2321" r="3422" b="0"/>
          <a:stretch xmlns:a="http://schemas.openxmlformats.org/drawingml/2006/main"/>
        </p:blipFill>
        <p:spPr>
          <a:xfrm xmlns:a="http://schemas.openxmlformats.org/drawingml/2006/main">
            <a:off x="2210143" y="387774"/>
            <a:ext cx="7565366" cy="5537780"/>
          </a:xfrm>
          <a:prstGeom xmlns:a="http://schemas.openxmlformats.org/drawingml/2006/main" prst="rect">
            <a:avLst/>
          </a:prstGeom>
          <a:ln xmlns:a="http://schemas.openxmlformats.org/drawingml/2006/main">
            <a:noFill/>
          </a:ln>
        </p:spPr>
      </p:pic>
      <p:sp>
        <p:nvSpPr>
          <p:cNvPr id="201" name="Google Shape;201;p27">
            <a:extLst xmlns:a="http://schemas.openxmlformats.org/drawingml/2006/main">
              <a:ext uri="{FF2B5EF4-FFF2-40B4-BE49-F238E27FC236}">
                <a16:creationId xmlns:a16="http://schemas.microsoft.com/office/drawing/2014/main" id="{93E0F582-6E51-4162-8A2F-EFB74E6438E3}"/>
              </a:ext>
            </a:extLst>
          </p:cNvPr>
          <p:cNvSpPr>
            <a:spLocks xmlns:a="http://schemas.openxmlformats.org/drawingml/2006/main" noGrp="1"/>
          </p:cNvSpPr>
          <p:nvPr>
            <p:ph type="title" idx="0"/>
          </p:nvPr>
        </p:nvSpPr>
        <p:spPr>
          <a:xfrm xmlns:a="http://schemas.openxmlformats.org/drawingml/2006/main">
            <a:off x="3812946" y="4409776"/>
            <a:ext cx="4607154"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Introduction</a:t>
            </a:r>
            <a:endParaRPr/>
          </a:p>
        </p:txBody>
      </p:sp>
      <p:pic>
        <p:nvPicPr>
          <p:cNvPr id="243" name="Google Shape;202;p27"/>
          <p:cNvPicPr>
            <a:picLocks xmlns:a="http://schemas.openxmlformats.org/drawingml/2006/main" noChangeAspect="1"/>
          </p:cNvPicPr>
          <p:nvPr/>
        </p:nvPicPr>
        <p:blipFill rotWithShape="1">
          <a:blip xmlns:r="http://schemas.openxmlformats.org/officeDocument/2006/relationships" xmlns:a="http://schemas.openxmlformats.org/drawingml/2006/main" r:embed="Rf661102530074136">
            <a:alphaModFix/>
          </a:blip>
          <a:srcRect xmlns:a="http://schemas.openxmlformats.org/drawingml/2006/main" l="0" t="0" r="4230" b="13909"/>
          <a:stretch xmlns:a="http://schemas.openxmlformats.org/drawingml/2006/main"/>
        </p:blipFill>
        <p:spPr>
          <a:xfrm xmlns:a="http://schemas.openxmlformats.org/drawingml/2006/main">
            <a:off x="3842633" y="1651423"/>
            <a:ext cx="4300387" cy="2571491"/>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cxnSp>
        <p:nvCxnSpPr>
          <p:cNvPr id="244" name="Google Shape;203;p27"/>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5" name="Google Shape;212;p28">
            <a:extLst xmlns:a="http://schemas.openxmlformats.org/drawingml/2006/main">
              <a:ext uri="{FF2B5EF4-FFF2-40B4-BE49-F238E27FC236}">
                <a16:creationId xmlns:a16="http://schemas.microsoft.com/office/drawing/2014/main" id="{56147DD4-9B84-A1BE-89BE-879B8166E80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a:t>
            </a:r>
            <a:endParaRPr sz="2800"/>
          </a:p>
        </p:txBody>
      </p:sp>
      <p:sp>
        <p:nvSpPr>
          <p:cNvPr id="6" name="Google Shape;216;p28">
            <a:extLst xmlns:a="http://schemas.openxmlformats.org/drawingml/2006/main">
              <a:ext uri="{FF2B5EF4-FFF2-40B4-BE49-F238E27FC236}">
                <a16:creationId xmlns:a16="http://schemas.microsoft.com/office/drawing/2014/main" id="{1980D1FA-5005-7E4D-C30C-9433C3A7A1F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7" name="Google Shape;217;p28">
            <a:extLst xmlns:a="http://schemas.openxmlformats.org/drawingml/2006/main">
              <a:ext uri="{FF2B5EF4-FFF2-40B4-BE49-F238E27FC236}">
                <a16:creationId xmlns:a16="http://schemas.microsoft.com/office/drawing/2014/main" id="{96F754A5-1FF9-D925-27C6-B06305285E25}"/>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18" name="visible-footer-date-3">
            <a:extLst xmlns:a="http://schemas.openxmlformats.org/drawingml/2006/main">
              <a:ext uri="{FF2B5EF4-FFF2-40B4-BE49-F238E27FC236}">
                <a16:creationId xmlns:a16="http://schemas.microsoft.com/office/drawing/2014/main" id="{0D974343-99E9-4287-BF9D-988FF4ED080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6555850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8060B94-F0A7-BBB7-7486-80C8EB40E694}"/>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Background</a:t>
            </a:r>
            <a:endParaRPr/>
          </a:p>
        </p:txBody>
      </p:sp>
      <p:sp>
        <p:nvSpPr>
          <p:cNvPr id="212" name="Google Shape;212;p28">
            <a:extLst xmlns:a="http://schemas.openxmlformats.org/drawingml/2006/main">
              <a:ext uri="{FF2B5EF4-FFF2-40B4-BE49-F238E27FC236}">
                <a16:creationId xmlns:a16="http://schemas.microsoft.com/office/drawing/2014/main" id="{094C318A-19D8-5521-E2E0-1C2CFE74D475}"/>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4</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9904b6a9f55476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bff7dfe3e8046f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A258BE3-D874-B47F-982B-9CAFDD5EE44E}"/>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B2A7D1B-9045-6E27-810C-56812FE0C22C}"/>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ackground-bullets">
            <a:extLst xmlns:a="http://schemas.openxmlformats.org/drawingml/2006/main">
              <a:ext uri="{FF2B5EF4-FFF2-40B4-BE49-F238E27FC236}">
                <a16:creationId xmlns:a16="http://schemas.microsoft.com/office/drawing/2014/main" id="{7A35AAE5-73D3-4501-9C42-D8BB41FFAE7D}"/>
              </a:ext>
            </a:extLst>
          </p:cNvPr>
          <p:cNvSpPr>
            <a:spLocks xmlns:a="http://schemas.openxmlformats.org/drawingml/2006/main" noGrp="1"/>
          </p:cNvSpPr>
          <p:nvPr/>
        </p:nvSpPr>
        <p:spPr>
          <a:xfrm xmlns:a="http://schemas.openxmlformats.org/drawingml/2006/main">
            <a:off x="1000125" y="1381125"/>
            <a:ext cx="10191750" cy="400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Hospitals hold complementary clinical data, but direct pooling increases privacy, ownership, and breach risks.</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Federated learning keeps source records local while hospitals contribute model updates to a shared training process [1]-[3].</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Model updates can still reveal membership or training features, and encryption increases communication cost [4]-[6].</a:t>
            </a:r>
          </a:p>
          <a:p xmlns:a="http://schemas.openxmlformats.org/drawingml/2006/main">
            <a:pPr marL="254000" indent="-127000">
              <a:spcAft>
                <a:spcPts val="1400"/>
              </a:spcAft>
              <a:buChar char="•"/>
              <a:defRPr sz="2025">
                <a:solidFill>
                  <a:srgbClr val="1F2937"/>
                </a:solidFill>
                <a:latin typeface="Arial"/>
                <a:ea typeface="Arial"/>
                <a:cs typeface="Arial"/>
              </a:defRPr>
            </a:pPr>
            <a:r>
              <a:rPr sz="2025">
                <a:solidFill>
                  <a:srgbClr val="1F2937"/>
                </a:solidFill>
                <a:latin typeface="Arial"/>
                <a:ea typeface="Arial"/>
                <a:cs typeface="Arial"/>
              </a:rPr>
              <a:t>Recent systems combine privacy, secure aggregation, compression, or robustness, but usually evaluate these controls separately.</a:t>
            </a:r>
          </a:p>
        </p:txBody>
      </p:sp>
      <p:sp>
        <p:nvSpPr>
          <p:cNvPr id="221" name="background-takeaway">
            <a:extLst xmlns:a="http://schemas.openxmlformats.org/drawingml/2006/main">
              <a:ext uri="{FF2B5EF4-FFF2-40B4-BE49-F238E27FC236}">
                <a16:creationId xmlns:a16="http://schemas.microsoft.com/office/drawing/2014/main" id="{F1DFCBD7-E7DC-4151-B28C-2EBE70C2B2CC}"/>
              </a:ext>
            </a:extLst>
          </p:cNvPr>
          <p:cNvSpPr>
            <a:spLocks xmlns:a="http://schemas.openxmlformats.org/drawingml/2006/main" noGrp="1"/>
          </p:cNvSpPr>
          <p:nvPr/>
        </p:nvSpPr>
        <p:spPr>
          <a:xfrm xmlns:a="http://schemas.openxmlformats.org/drawingml/2006/main">
            <a:off x="1238250" y="5381625"/>
            <a:ext cx="971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00843D"/>
                </a:solidFill>
                <a:latin typeface="Arial"/>
                <a:ea typeface="Arial"/>
                <a:cs typeface="Arial"/>
              </a:defRPr>
            </a:pPr>
            <a:r>
              <a:rPr sz="1725" b="1" i="0">
                <a:solidFill>
                  <a:srgbClr val="00843D"/>
                </a:solidFill>
                <a:latin typeface="Arial"/>
                <a:ea typeface="Arial"/>
                <a:cs typeface="Arial"/>
              </a:rPr>
              <a:t>Research context: useful collaboration requires privacy controls that remain practical under encryption and adversarial participation.</a:t>
            </a:r>
          </a:p>
        </p:txBody>
      </p:sp>
      <p:sp>
        <p:nvSpPr>
          <p:cNvPr id="224" name="visible-footer-date-4">
            <a:extLst xmlns:a="http://schemas.openxmlformats.org/drawingml/2006/main">
              <a:ext uri="{FF2B5EF4-FFF2-40B4-BE49-F238E27FC236}">
                <a16:creationId xmlns:a16="http://schemas.microsoft.com/office/drawing/2014/main" id="{F0E64F9B-250A-466D-8D13-72D9F2A8EE9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406152535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6008738-B2C1-0318-4913-BD8F65E3BEE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Statement</a:t>
            </a:r>
            <a:endParaRPr/>
          </a:p>
        </p:txBody>
      </p:sp>
      <p:sp>
        <p:nvSpPr>
          <p:cNvPr id="212" name="Google Shape;212;p28">
            <a:extLst xmlns:a="http://schemas.openxmlformats.org/drawingml/2006/main">
              <a:ext uri="{FF2B5EF4-FFF2-40B4-BE49-F238E27FC236}">
                <a16:creationId xmlns:a16="http://schemas.microsoft.com/office/drawing/2014/main" id="{BEDC7090-C035-9865-94B8-1E35B6B2D2E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5</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c326f6f3bf8488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26487743ef647e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206E9E3C-2F4C-B1FD-95E0-AACB117CFB9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BE9B0B5-9C9E-A926-7825-CCA60148B2CE}"/>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problem-bullets">
            <a:extLst xmlns:a="http://schemas.openxmlformats.org/drawingml/2006/main">
              <a:ext uri="{FF2B5EF4-FFF2-40B4-BE49-F238E27FC236}">
                <a16:creationId xmlns:a16="http://schemas.microsoft.com/office/drawing/2014/main" id="{66DF49F5-AD15-4A07-8E3C-869437662638}"/>
              </a:ext>
            </a:extLst>
          </p:cNvPr>
          <p:cNvSpPr>
            <a:spLocks xmlns:a="http://schemas.openxmlformats.org/drawingml/2006/main" noGrp="1"/>
          </p:cNvSpPr>
          <p:nvPr/>
        </p:nvSpPr>
        <p:spPr>
          <a:xfrm xmlns:a="http://schemas.openxmlformats.org/drawingml/2006/main">
            <a:off x="1000125" y="1381125"/>
            <a:ext cx="10191750"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Patient data remain local, yet gradients and model updates can leak sensitive information.</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CKKS aggregation hides update values but expands serialized payloads and blocks many plaintext poisoning defences.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A central decryptor, unverified aggregation, and weak audit evidence concentrate trust in a small set of services.</a:t>
            </a:r>
          </a:p>
          <a:p xmlns:a="http://schemas.openxmlformats.org/drawingml/2006/main">
            <a:pPr marL="254000" indent="-127000">
              <a:spcAft>
                <a:spcPts val="1100"/>
              </a:spcAft>
              <a:buChar char="•"/>
              <a:defRPr sz="2025">
                <a:solidFill>
                  <a:srgbClr val="1F2937"/>
                </a:solidFill>
                <a:latin typeface="Arial"/>
                <a:ea typeface="Arial"/>
                <a:cs typeface="Arial"/>
              </a:defRPr>
            </a:pPr>
            <a:r>
              <a:rPr sz="2025">
                <a:solidFill>
                  <a:srgbClr val="1F2937"/>
                </a:solidFill>
                <a:latin typeface="Arial"/>
                <a:ea typeface="Arial"/>
                <a:cs typeface="Arial"/>
              </a:rPr>
              <a:t>Existing studies rarely test utility, privacy attacks, poisoning, communication, and governance under one frozen protocol.</a:t>
            </a:r>
          </a:p>
        </p:txBody>
      </p:sp>
      <p:sp>
        <p:nvSpPr>
          <p:cNvPr id="221" name="research-question">
            <a:extLst xmlns:a="http://schemas.openxmlformats.org/drawingml/2006/main">
              <a:ext uri="{FF2B5EF4-FFF2-40B4-BE49-F238E27FC236}">
                <a16:creationId xmlns:a16="http://schemas.microsoft.com/office/drawing/2014/main" id="{27B7B9B5-0C1A-48D0-8F2B-9D5F9BAA1BE7}"/>
              </a:ext>
            </a:extLst>
          </p:cNvPr>
          <p:cNvSpPr>
            <a:spLocks xmlns:a="http://schemas.openxmlformats.org/drawingml/2006/main" noGrp="1"/>
          </p:cNvSpPr>
          <p:nvPr/>
        </p:nvSpPr>
        <p:spPr>
          <a:xfrm xmlns:a="http://schemas.openxmlformats.org/drawingml/2006/main">
            <a:off x="1143000" y="4810125"/>
            <a:ext cx="9906000" cy="1000125"/>
          </a:xfrm>
          <a:prstGeom xmlns:a="http://schemas.openxmlformats.org/drawingml/2006/main" prst="roundRect">
            <a:avLst>
              <a:gd name="adj" fmla="val 7619"/>
            </a:avLst>
          </a:prstGeom>
          <a:solidFill xmlns:a="http://schemas.openxmlformats.org/drawingml/2006/main">
            <a:srgbClr val="EAF2F8"/>
          </a:solidFill>
          <a:ln xmlns:a="http://schemas.openxmlformats.org/drawingml/2006/main" w="19050">
            <a:solidFill>
              <a:srgbClr val="00AEEF"/>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Research question</a:t>
            </a:r>
          </a:p>
          <a:p xmlns:a="http://schemas.openxmlformats.org/drawingml/2006/main">
            <a:pPr algn="ctr">
              <a:buNone/>
              <a:defRPr sz="1725" b="1">
                <a:solidFill>
                  <a:srgbClr val="17365D"/>
                </a:solidFill>
                <a:latin typeface="Arial"/>
                <a:ea typeface="Arial"/>
                <a:cs typeface="Arial"/>
              </a:defRPr>
            </a:pPr>
            <a:r>
              <a:rPr sz="1725" b="1">
                <a:solidFill>
                  <a:srgbClr val="17365D"/>
                </a:solidFill>
                <a:latin typeface="Arial"/>
                <a:ea typeface="Arial"/>
                <a:cs typeface="Arial"/>
              </a:rPr>
              <a:t>How can multiple institutions train a useful shared model while limiting privacy exposure, encrypted communication cost, poisoning damage, and unilateral control?</a:t>
            </a:r>
          </a:p>
        </p:txBody>
      </p:sp>
      <p:sp>
        <p:nvSpPr>
          <p:cNvPr id="224" name="visible-footer-date-5">
            <a:extLst xmlns:a="http://schemas.openxmlformats.org/drawingml/2006/main">
              <a:ext uri="{FF2B5EF4-FFF2-40B4-BE49-F238E27FC236}">
                <a16:creationId xmlns:a16="http://schemas.microsoft.com/office/drawing/2014/main" id="{AD61C2BA-765E-42A0-B4FD-3AD8841EC0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80351465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8327212-D758-BDD8-0AC3-710F979CD218}"/>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Motivation</a:t>
            </a:r>
            <a:endParaRPr/>
          </a:p>
        </p:txBody>
      </p:sp>
      <p:sp>
        <p:nvSpPr>
          <p:cNvPr id="212" name="Google Shape;212;p28">
            <a:extLst xmlns:a="http://schemas.openxmlformats.org/drawingml/2006/main">
              <a:ext uri="{FF2B5EF4-FFF2-40B4-BE49-F238E27FC236}">
                <a16:creationId xmlns:a16="http://schemas.microsoft.com/office/drawing/2014/main" id="{E7FFFA5F-706E-F59C-2331-92A1FCF7E581}"/>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eab17f639f4e42c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1967e0288b94f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37FB91E-C648-4259-0447-534D4953123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E937F21F-131E-F61D-2A3A-8635D27CBC73}"/>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otivation-heading-0">
            <a:extLst xmlns:a="http://schemas.openxmlformats.org/drawingml/2006/main">
              <a:ext uri="{FF2B5EF4-FFF2-40B4-BE49-F238E27FC236}">
                <a16:creationId xmlns:a16="http://schemas.microsoft.com/office/drawing/2014/main" id="{14A171B0-83C8-4934-A272-DC1FE3A12919}"/>
              </a:ext>
            </a:extLst>
          </p:cNvPr>
          <p:cNvSpPr>
            <a:spLocks xmlns:a="http://schemas.openxmlformats.org/drawingml/2006/main" noGrp="1"/>
          </p:cNvSpPr>
          <p:nvPr/>
        </p:nvSpPr>
        <p:spPr>
          <a:xfrm xmlns:a="http://schemas.openxmlformats.org/drawingml/2006/main">
            <a:off x="8096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Clinical collaboration</a:t>
            </a:r>
          </a:p>
        </p:txBody>
      </p:sp>
      <p:sp>
        <p:nvSpPr>
          <p:cNvPr id="221" name="rule-105-255">
            <a:extLst xmlns:a="http://schemas.openxmlformats.org/drawingml/2006/main">
              <a:ext uri="{FF2B5EF4-FFF2-40B4-BE49-F238E27FC236}">
                <a16:creationId xmlns:a16="http://schemas.microsoft.com/office/drawing/2014/main" id="{E5090A77-5EBC-49F7-AA49-0C779200C562}"/>
              </a:ext>
            </a:extLst>
          </p:cNvPr>
          <p:cNvSpPr>
            <a:spLocks xmlns:a="http://schemas.openxmlformats.org/drawingml/2006/main" noGrp="1"/>
          </p:cNvSpPr>
          <p:nvPr/>
        </p:nvSpPr>
        <p:spPr>
          <a:xfrm xmlns:a="http://schemas.openxmlformats.org/drawingml/2006/main">
            <a:off x="10001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motivation-body-0">
            <a:extLst xmlns:a="http://schemas.openxmlformats.org/drawingml/2006/main">
              <a:ext uri="{FF2B5EF4-FFF2-40B4-BE49-F238E27FC236}">
                <a16:creationId xmlns:a16="http://schemas.microsoft.com/office/drawing/2014/main" id="{3754FDFD-4FD5-4944-A570-00B5E343FF7B}"/>
              </a:ext>
            </a:extLst>
          </p:cNvPr>
          <p:cNvSpPr>
            <a:spLocks xmlns:a="http://schemas.openxmlformats.org/drawingml/2006/main" noGrp="1"/>
          </p:cNvSpPr>
          <p:nvPr/>
        </p:nvSpPr>
        <p:spPr>
          <a:xfrm xmlns:a="http://schemas.openxmlformats.org/drawingml/2006/main">
            <a:off x="8096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Use diverse hospital data without transferring source records.</a:t>
            </a:r>
          </a:p>
        </p:txBody>
      </p:sp>
      <p:sp>
        <p:nvSpPr>
          <p:cNvPr id="223" name="motivation-heading-1">
            <a:extLst xmlns:a="http://schemas.openxmlformats.org/drawingml/2006/main">
              <a:ext uri="{FF2B5EF4-FFF2-40B4-BE49-F238E27FC236}">
                <a16:creationId xmlns:a16="http://schemas.microsoft.com/office/drawing/2014/main" id="{8BD53C23-3158-4388-922E-A2955C2B72C8}"/>
              </a:ext>
            </a:extLst>
          </p:cNvPr>
          <p:cNvSpPr>
            <a:spLocks xmlns:a="http://schemas.openxmlformats.org/drawingml/2006/main" noGrp="1"/>
          </p:cNvSpPr>
          <p:nvPr/>
        </p:nvSpPr>
        <p:spPr>
          <a:xfrm xmlns:a="http://schemas.openxmlformats.org/drawingml/2006/main">
            <a:off x="35909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Measurable privacy</a:t>
            </a:r>
          </a:p>
        </p:txBody>
      </p:sp>
      <p:sp>
        <p:nvSpPr>
          <p:cNvPr id="224" name="rule-397-255">
            <a:extLst xmlns:a="http://schemas.openxmlformats.org/drawingml/2006/main">
              <a:ext uri="{FF2B5EF4-FFF2-40B4-BE49-F238E27FC236}">
                <a16:creationId xmlns:a16="http://schemas.microsoft.com/office/drawing/2014/main" id="{C11FE3ED-7396-42C9-A9AF-60BA17EA4AF5}"/>
              </a:ext>
            </a:extLst>
          </p:cNvPr>
          <p:cNvSpPr>
            <a:spLocks xmlns:a="http://schemas.openxmlformats.org/drawingml/2006/main" noGrp="1"/>
          </p:cNvSpPr>
          <p:nvPr/>
        </p:nvSpPr>
        <p:spPr>
          <a:xfrm xmlns:a="http://schemas.openxmlformats.org/drawingml/2006/main">
            <a:off x="37814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motivation-body-1">
            <a:extLst xmlns:a="http://schemas.openxmlformats.org/drawingml/2006/main">
              <a:ext uri="{FF2B5EF4-FFF2-40B4-BE49-F238E27FC236}">
                <a16:creationId xmlns:a16="http://schemas.microsoft.com/office/drawing/2014/main" id="{423A7667-0058-4E83-8599-24DD016E4200}"/>
              </a:ext>
            </a:extLst>
          </p:cNvPr>
          <p:cNvSpPr>
            <a:spLocks xmlns:a="http://schemas.openxmlformats.org/drawingml/2006/main" noGrp="1"/>
          </p:cNvSpPr>
          <p:nvPr/>
        </p:nvSpPr>
        <p:spPr>
          <a:xfrm xmlns:a="http://schemas.openxmlformats.org/drawingml/2006/main">
            <a:off x="35909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Combine formal differential privacy with empirical attack evaluation.</a:t>
            </a:r>
          </a:p>
        </p:txBody>
      </p:sp>
      <p:sp>
        <p:nvSpPr>
          <p:cNvPr id="226" name="motivation-heading-2">
            <a:extLst xmlns:a="http://schemas.openxmlformats.org/drawingml/2006/main">
              <a:ext uri="{FF2B5EF4-FFF2-40B4-BE49-F238E27FC236}">
                <a16:creationId xmlns:a16="http://schemas.microsoft.com/office/drawing/2014/main" id="{2E7B4BD8-ADFE-48CC-B302-794592BF9FB2}"/>
              </a:ext>
            </a:extLst>
          </p:cNvPr>
          <p:cNvSpPr>
            <a:spLocks xmlns:a="http://schemas.openxmlformats.org/drawingml/2006/main" noGrp="1"/>
          </p:cNvSpPr>
          <p:nvPr/>
        </p:nvSpPr>
        <p:spPr>
          <a:xfrm xmlns:a="http://schemas.openxmlformats.org/drawingml/2006/main">
            <a:off x="63722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00843D"/>
                </a:solidFill>
                <a:latin typeface="Arial"/>
                <a:ea typeface="Arial"/>
                <a:cs typeface="Arial"/>
              </a:defRPr>
            </a:pPr>
            <a:r>
              <a:rPr sz="1950" b="1" i="0">
                <a:solidFill>
                  <a:srgbClr val="00843D"/>
                </a:solidFill>
                <a:latin typeface="Arial"/>
                <a:ea typeface="Arial"/>
                <a:cs typeface="Arial"/>
              </a:rPr>
              <a:t>Encrypted efficiency</a:t>
            </a:r>
          </a:p>
        </p:txBody>
      </p:sp>
      <p:sp>
        <p:nvSpPr>
          <p:cNvPr id="227" name="rule-689-255">
            <a:extLst xmlns:a="http://schemas.openxmlformats.org/drawingml/2006/main">
              <a:ext uri="{FF2B5EF4-FFF2-40B4-BE49-F238E27FC236}">
                <a16:creationId xmlns:a16="http://schemas.microsoft.com/office/drawing/2014/main" id="{2789D004-EE09-4233-BEAE-C409C37985E8}"/>
              </a:ext>
            </a:extLst>
          </p:cNvPr>
          <p:cNvSpPr>
            <a:spLocks xmlns:a="http://schemas.openxmlformats.org/drawingml/2006/main" noGrp="1"/>
          </p:cNvSpPr>
          <p:nvPr/>
        </p:nvSpPr>
        <p:spPr>
          <a:xfrm xmlns:a="http://schemas.openxmlformats.org/drawingml/2006/main">
            <a:off x="6562725" y="2428875"/>
            <a:ext cx="1952625"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motivation-body-2">
            <a:extLst xmlns:a="http://schemas.openxmlformats.org/drawingml/2006/main">
              <a:ext uri="{FF2B5EF4-FFF2-40B4-BE49-F238E27FC236}">
                <a16:creationId xmlns:a16="http://schemas.microsoft.com/office/drawing/2014/main" id="{0AB54D3B-1C6B-4B72-B52C-1D85664316AC}"/>
              </a:ext>
            </a:extLst>
          </p:cNvPr>
          <p:cNvSpPr>
            <a:spLocks xmlns:a="http://schemas.openxmlformats.org/drawingml/2006/main" noGrp="1"/>
          </p:cNvSpPr>
          <p:nvPr/>
        </p:nvSpPr>
        <p:spPr>
          <a:xfrm xmlns:a="http://schemas.openxmlformats.org/drawingml/2006/main">
            <a:off x="63722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Reduce real serialized ciphertext bytes, not only logical coordinates.</a:t>
            </a:r>
          </a:p>
        </p:txBody>
      </p:sp>
      <p:sp>
        <p:nvSpPr>
          <p:cNvPr id="229" name="motivation-heading-3">
            <a:extLst xmlns:a="http://schemas.openxmlformats.org/drawingml/2006/main">
              <a:ext uri="{FF2B5EF4-FFF2-40B4-BE49-F238E27FC236}">
                <a16:creationId xmlns:a16="http://schemas.microsoft.com/office/drawing/2014/main" id="{C57D8F51-B74C-4F60-82AA-2FFC42884BD2}"/>
              </a:ext>
            </a:extLst>
          </p:cNvPr>
          <p:cNvSpPr>
            <a:spLocks xmlns:a="http://schemas.openxmlformats.org/drawingml/2006/main" noGrp="1"/>
          </p:cNvSpPr>
          <p:nvPr/>
        </p:nvSpPr>
        <p:spPr>
          <a:xfrm xmlns:a="http://schemas.openxmlformats.org/drawingml/2006/main">
            <a:off x="9153525" y="1666875"/>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795"/>
          </a:bodyPr>
          <a:lstStyle xmlns:a="http://schemas.openxmlformats.org/drawingml/2006/main"/>
          <a:p xmlns:a="http://schemas.openxmlformats.org/drawingml/2006/main">
            <a:pPr algn="ctr">
              <a:buNone/>
              <a:defRPr sz="1950" b="1" i="0">
                <a:solidFill>
                  <a:srgbClr val="17365D"/>
                </a:solidFill>
                <a:latin typeface="Arial"/>
                <a:ea typeface="Arial"/>
                <a:cs typeface="Arial"/>
              </a:defRPr>
            </a:pPr>
            <a:r>
              <a:rPr sz="1950" b="1" i="0">
                <a:solidFill>
                  <a:srgbClr val="17365D"/>
                </a:solidFill>
                <a:latin typeface="Arial"/>
                <a:ea typeface="Arial"/>
                <a:cs typeface="Arial"/>
              </a:rPr>
              <a:t>Accountable release</a:t>
            </a:r>
          </a:p>
        </p:txBody>
      </p:sp>
      <p:sp>
        <p:nvSpPr>
          <p:cNvPr id="230" name="rule-981-255">
            <a:extLst xmlns:a="http://schemas.openxmlformats.org/drawingml/2006/main">
              <a:ext uri="{FF2B5EF4-FFF2-40B4-BE49-F238E27FC236}">
                <a16:creationId xmlns:a16="http://schemas.microsoft.com/office/drawing/2014/main" id="{DC981718-FDBA-440E-8D3D-7CE191FB1268}"/>
              </a:ext>
            </a:extLst>
          </p:cNvPr>
          <p:cNvSpPr>
            <a:spLocks xmlns:a="http://schemas.openxmlformats.org/drawingml/2006/main" noGrp="1"/>
          </p:cNvSpPr>
          <p:nvPr/>
        </p:nvSpPr>
        <p:spPr>
          <a:xfrm xmlns:a="http://schemas.openxmlformats.org/drawingml/2006/main">
            <a:off x="9344025" y="2428875"/>
            <a:ext cx="1952625"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motivation-body-3">
            <a:extLst xmlns:a="http://schemas.openxmlformats.org/drawingml/2006/main">
              <a:ext uri="{FF2B5EF4-FFF2-40B4-BE49-F238E27FC236}">
                <a16:creationId xmlns:a16="http://schemas.microsoft.com/office/drawing/2014/main" id="{CAA93CDD-05C3-4AC1-8211-2B0AE4B52DA9}"/>
              </a:ext>
            </a:extLst>
          </p:cNvPr>
          <p:cNvSpPr>
            <a:spLocks xmlns:a="http://schemas.openxmlformats.org/drawingml/2006/main" noGrp="1"/>
          </p:cNvSpPr>
          <p:nvPr/>
        </p:nvSpPr>
        <p:spPr>
          <a:xfrm xmlns:a="http://schemas.openxmlformats.org/drawingml/2006/main">
            <a:off x="9153525" y="2667000"/>
            <a:ext cx="2333625"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725" b="0" i="0">
                <a:solidFill>
                  <a:srgbClr val="1F2937"/>
                </a:solidFill>
                <a:latin typeface="Arial"/>
                <a:ea typeface="Arial"/>
                <a:cs typeface="Arial"/>
              </a:defRPr>
            </a:pPr>
            <a:r>
              <a:rPr sz="1725" b="0" i="0">
                <a:solidFill>
                  <a:srgbClr val="1F2937"/>
                </a:solidFill>
                <a:latin typeface="Arial"/>
                <a:ea typeface="Arial"/>
                <a:cs typeface="Arial"/>
              </a:rPr>
              <a:t>Verify aggregation and record rollback, reputation, and audit evidence.</a:t>
            </a:r>
          </a:p>
        </p:txBody>
      </p:sp>
      <p:sp>
        <p:nvSpPr>
          <p:cNvPr id="232" name="motivation-close">
            <a:extLst xmlns:a="http://schemas.openxmlformats.org/drawingml/2006/main">
              <a:ext uri="{FF2B5EF4-FFF2-40B4-BE49-F238E27FC236}">
                <a16:creationId xmlns:a16="http://schemas.microsoft.com/office/drawing/2014/main" id="{9EBE3E1D-C266-4EFE-B091-4D7FF55EA7E1}"/>
              </a:ext>
            </a:extLst>
          </p:cNvPr>
          <p:cNvSpPr>
            <a:spLocks xmlns:a="http://schemas.openxmlformats.org/drawingml/2006/main" noGrp="1"/>
          </p:cNvSpPr>
          <p:nvPr/>
        </p:nvSpPr>
        <p:spPr>
          <a:xfrm xmlns:a="http://schemas.openxmlformats.org/drawingml/2006/main">
            <a:off x="1666875" y="5143500"/>
            <a:ext cx="885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33"/>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The thesis treats privacy, systems cost, adversarial resilience, and trust as one engineering problem.</a:t>
            </a:r>
          </a:p>
        </p:txBody>
      </p:sp>
      <p:sp>
        <p:nvSpPr>
          <p:cNvPr id="235" name="visible-footer-date-6">
            <a:extLst xmlns:a="http://schemas.openxmlformats.org/drawingml/2006/main">
              <a:ext uri="{FF2B5EF4-FFF2-40B4-BE49-F238E27FC236}">
                <a16:creationId xmlns:a16="http://schemas.microsoft.com/office/drawing/2014/main" id="{84D29736-8B5D-4B2B-A79E-01AA1A8FBA2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4845371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Objectives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7</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fb1b8fa62c9465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c039407020442d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4763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4287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Design and implement a secure, privacy-preserving architecture for collaborative learning across institutions.</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85750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Develop a communication-efficient method for protected model exchange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33387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57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2100" b="0" i="0">
                <a:solidFill>
                  <a:srgbClr val="1F2937"/>
                </a:solidFill>
                <a:latin typeface="Arial"/>
                <a:ea typeface="Arial"/>
                <a:cs typeface="Arial"/>
              </a:defRPr>
            </a:pPr>
            <a:r>
              <a:rPr sz="2100" b="0" i="0">
                <a:solidFill>
                  <a:srgbClr val="1F2937"/>
                </a:solidFill>
                <a:latin typeface="Arial"/>
                <a:ea typeface="Arial"/>
                <a:cs typeface="Arial"/>
              </a:rPr>
              <a:t>Evaluate the framework against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EEA6A2F0-B7DA-4A68-7753-B725935F302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Questions</a:t>
            </a:r>
            <a:endParaRPr/>
          </a:p>
        </p:txBody>
      </p:sp>
      <p:sp>
        <p:nvSpPr>
          <p:cNvPr id="212" name="Google Shape;212;p28">
            <a:extLst xmlns:a="http://schemas.openxmlformats.org/drawingml/2006/main">
              <a:ext uri="{FF2B5EF4-FFF2-40B4-BE49-F238E27FC236}">
                <a16:creationId xmlns:a16="http://schemas.microsoft.com/office/drawing/2014/main" id="{CB9C8E9E-52E3-F028-3FC7-A92838E6F5F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8</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dd804c4dc384a9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9c2d094810a41b4">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776A135-D8F3-2554-1D23-8D340FFD863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EEEF175-9482-918F-7734-2A5787534231}"/>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objective-1">
            <a:extLst xmlns:a="http://schemas.openxmlformats.org/drawingml/2006/main">
              <a:ext uri="{FF2B5EF4-FFF2-40B4-BE49-F238E27FC236}">
                <a16:creationId xmlns:a16="http://schemas.microsoft.com/office/drawing/2014/main" id="{E5A36458-5BB8-4AA0-B30E-573E9C9AEABA}"/>
              </a:ext>
            </a:extLst>
          </p:cNvPr>
          <p:cNvSpPr>
            <a:spLocks xmlns:a="http://schemas.openxmlformats.org/drawingml/2006/main" noGrp="1"/>
          </p:cNvSpPr>
          <p:nvPr/>
        </p:nvSpPr>
        <p:spPr>
          <a:xfrm xmlns:a="http://schemas.openxmlformats.org/drawingml/2006/main">
            <a:off x="1190625" y="1381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1</a:t>
            </a:r>
          </a:p>
        </p:txBody>
      </p:sp>
      <p:sp>
        <p:nvSpPr>
          <p:cNvPr id="221" name="objective-text-1">
            <a:extLst xmlns:a="http://schemas.openxmlformats.org/drawingml/2006/main">
              <a:ext uri="{FF2B5EF4-FFF2-40B4-BE49-F238E27FC236}">
                <a16:creationId xmlns:a16="http://schemas.microsoft.com/office/drawing/2014/main" id="{96E5B020-9993-43E4-9348-202EB89AB0FF}"/>
              </a:ext>
            </a:extLst>
          </p:cNvPr>
          <p:cNvSpPr>
            <a:spLocks xmlns:a="http://schemas.openxmlformats.org/drawingml/2006/main" noGrp="1"/>
          </p:cNvSpPr>
          <p:nvPr/>
        </p:nvSpPr>
        <p:spPr>
          <a:xfrm xmlns:a="http://schemas.openxmlformats.org/drawingml/2006/main">
            <a:off x="2333625" y="1238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can multi-institutional learning protect patient records, model updates, and release decisions without centralizing raw data?</a:t>
            </a:r>
          </a:p>
        </p:txBody>
      </p:sp>
      <p:sp>
        <p:nvSpPr>
          <p:cNvPr id="222" name="objective-2">
            <a:extLst xmlns:a="http://schemas.openxmlformats.org/drawingml/2006/main">
              <a:ext uri="{FF2B5EF4-FFF2-40B4-BE49-F238E27FC236}">
                <a16:creationId xmlns:a16="http://schemas.microsoft.com/office/drawing/2014/main" id="{3ECA1D2D-BF00-4DBD-B298-8071DC815DA7}"/>
              </a:ext>
            </a:extLst>
          </p:cNvPr>
          <p:cNvSpPr>
            <a:spLocks xmlns:a="http://schemas.openxmlformats.org/drawingml/2006/main" noGrp="1"/>
          </p:cNvSpPr>
          <p:nvPr/>
        </p:nvSpPr>
        <p:spPr>
          <a:xfrm xmlns:a="http://schemas.openxmlformats.org/drawingml/2006/main">
            <a:off x="1190625" y="2905125"/>
            <a:ext cx="781050" cy="781050"/>
          </a:xfrm>
          <a:prstGeom xmlns:a="http://schemas.openxmlformats.org/drawingml/2006/main" prst="ellipse">
            <a:avLst/>
          </a:prstGeom>
          <a:solidFill xmlns:a="http://schemas.openxmlformats.org/drawingml/2006/main">
            <a:srgbClr val="17365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2</a:t>
            </a:r>
          </a:p>
        </p:txBody>
      </p:sp>
      <p:sp>
        <p:nvSpPr>
          <p:cNvPr id="223" name="objective-text-2">
            <a:extLst xmlns:a="http://schemas.openxmlformats.org/drawingml/2006/main">
              <a:ext uri="{FF2B5EF4-FFF2-40B4-BE49-F238E27FC236}">
                <a16:creationId xmlns:a16="http://schemas.microsoft.com/office/drawing/2014/main" id="{091234BF-1A23-47A7-AFE5-0F1BC2914BA9}"/>
              </a:ext>
            </a:extLst>
          </p:cNvPr>
          <p:cNvSpPr>
            <a:spLocks xmlns:a="http://schemas.openxmlformats.org/drawingml/2006/main" noGrp="1"/>
          </p:cNvSpPr>
          <p:nvPr/>
        </p:nvSpPr>
        <p:spPr>
          <a:xfrm xmlns:a="http://schemas.openxmlformats.org/drawingml/2006/main">
            <a:off x="2333625" y="2762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Can CAABC-FL reduce serialized encrypted communication while maintaining predictive utility?</a:t>
            </a:r>
          </a:p>
        </p:txBody>
      </p:sp>
      <p:sp>
        <p:nvSpPr>
          <p:cNvPr id="224" name="objective-3">
            <a:extLst xmlns:a="http://schemas.openxmlformats.org/drawingml/2006/main">
              <a:ext uri="{FF2B5EF4-FFF2-40B4-BE49-F238E27FC236}">
                <a16:creationId xmlns:a16="http://schemas.microsoft.com/office/drawing/2014/main" id="{6B3CBF94-377C-4221-A20F-0CFD7A4AFFE5}"/>
              </a:ext>
            </a:extLst>
          </p:cNvPr>
          <p:cNvSpPr>
            <a:spLocks xmlns:a="http://schemas.openxmlformats.org/drawingml/2006/main" noGrp="1"/>
          </p:cNvSpPr>
          <p:nvPr/>
        </p:nvSpPr>
        <p:spPr>
          <a:xfrm xmlns:a="http://schemas.openxmlformats.org/drawingml/2006/main">
            <a:off x="1190625" y="4429125"/>
            <a:ext cx="781050" cy="781050"/>
          </a:xfrm>
          <a:prstGeom xmlns:a="http://schemas.openxmlformats.org/drawingml/2006/main" prst="ellipse">
            <a:avLst/>
          </a:prstGeom>
          <a:solidFill xmlns:a="http://schemas.openxmlformats.org/drawingml/2006/main">
            <a:srgbClr val="00843D"/>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buNone/>
              <a:defRPr sz="2400" b="1">
                <a:solidFill>
                  <a:srgbClr val="FFFFFF"/>
                </a:solidFill>
                <a:latin typeface="Arial"/>
                <a:ea typeface="Arial"/>
                <a:cs typeface="Arial"/>
              </a:defRPr>
            </a:pPr>
            <a:r>
              <a:rPr sz="2400" b="1">
                <a:solidFill>
                  <a:srgbClr val="FFFFFF"/>
                </a:solidFill>
                <a:latin typeface="Arial"/>
                <a:ea typeface="Arial"/>
                <a:cs typeface="Arial"/>
              </a:rPr>
              <a:t>3</a:t>
            </a:r>
          </a:p>
        </p:txBody>
      </p:sp>
      <p:sp>
        <p:nvSpPr>
          <p:cNvPr id="225" name="objective-text-3">
            <a:extLst xmlns:a="http://schemas.openxmlformats.org/drawingml/2006/main">
              <a:ext uri="{FF2B5EF4-FFF2-40B4-BE49-F238E27FC236}">
                <a16:creationId xmlns:a16="http://schemas.microsoft.com/office/drawing/2014/main" id="{EFF868F0-E0AE-4B68-AF26-BEBC0AED50FC}"/>
              </a:ext>
            </a:extLst>
          </p:cNvPr>
          <p:cNvSpPr>
            <a:spLocks xmlns:a="http://schemas.openxmlformats.org/drawingml/2006/main" noGrp="1"/>
          </p:cNvSpPr>
          <p:nvPr/>
        </p:nvSpPr>
        <p:spPr>
          <a:xfrm xmlns:a="http://schemas.openxmlformats.org/drawingml/2006/main">
            <a:off x="2333625" y="4286250"/>
            <a:ext cx="8763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0" i="0">
                <a:solidFill>
                  <a:srgbClr val="1F2937"/>
                </a:solidFill>
                <a:latin typeface="Arial"/>
                <a:ea typeface="Arial"/>
                <a:cs typeface="Arial"/>
              </a:defRPr>
            </a:pPr>
            <a:r>
              <a:rPr sz="1875" b="0" i="0">
                <a:solidFill>
                  <a:srgbClr val="1F2937"/>
                </a:solidFill>
                <a:latin typeface="Arial"/>
                <a:ea typeface="Arial"/>
                <a:cs typeface="Arial"/>
              </a:rPr>
              <a:t>How does the framework compare with relevant baselines under benign and adversarial conditions?</a:t>
            </a:r>
          </a:p>
        </p:txBody>
      </p:sp>
      <p:sp>
        <p:nvSpPr>
          <p:cNvPr id="228" name="visible-footer-date-7">
            <a:extLst xmlns:a="http://schemas.openxmlformats.org/drawingml/2006/main">
              <a:ext uri="{FF2B5EF4-FFF2-40B4-BE49-F238E27FC236}">
                <a16:creationId xmlns:a16="http://schemas.microsoft.com/office/drawing/2014/main" id="{8A081462-9D50-4C15-961B-5F4D0F50A87E}"/>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1391608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309" name="Google Shape;266;p32"/>
          <p:cNvPicPr>
            <a:picLocks xmlns:a="http://schemas.openxmlformats.org/drawingml/2006/main" noChangeAspect="1"/>
          </p:cNvPicPr>
          <p:nvPr/>
        </p:nvPicPr>
        <p:blipFill rotWithShape="1">
          <a:blip xmlns:r="http://schemas.openxmlformats.org/officeDocument/2006/relationships" xmlns:a="http://schemas.openxmlformats.org/drawingml/2006/main" r:embed="R25c974ef1aa142cd">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310" name="Google Shape;267;p32"/>
          <p:cNvPicPr>
            <a:picLocks xmlns:a="http://schemas.openxmlformats.org/drawingml/2006/main" noChangeAspect="1"/>
          </p:cNvPicPr>
          <p:nvPr/>
        </p:nvPicPr>
        <p:blipFill rotWithShape="1">
          <a:blip xmlns:r="http://schemas.openxmlformats.org/officeDocument/2006/relationships" xmlns:a="http://schemas.openxmlformats.org/drawingml/2006/main" r:embed="Ref1d3f1d1fb14fd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311" name="Google Shape;268;p32"/>
          <p:cNvPicPr>
            <a:picLocks xmlns:a="http://schemas.openxmlformats.org/drawingml/2006/main" noChangeAspect="1"/>
          </p:cNvPicPr>
          <p:nvPr/>
        </p:nvPicPr>
        <p:blipFill rotWithShape="1">
          <a:blip xmlns:r="http://schemas.openxmlformats.org/officeDocument/2006/relationships" xmlns:a="http://schemas.openxmlformats.org/drawingml/2006/main" r:embed="Rdba2935de0f449ce">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269" name="Google Shape;269;p32">
            <a:extLst xmlns:a="http://schemas.openxmlformats.org/drawingml/2006/main">
              <a:ext uri="{FF2B5EF4-FFF2-40B4-BE49-F238E27FC236}">
                <a16:creationId xmlns:a16="http://schemas.microsoft.com/office/drawing/2014/main" id="{EFA1EBEB-4757-4D2D-A4CA-B29E9E716CB0}"/>
              </a:ext>
            </a:extLst>
          </p:cNvPr>
          <p:cNvSpPr>
            <a:spLocks xmlns:a="http://schemas.openxmlformats.org/drawingml/2006/main" noGrp="1"/>
          </p:cNvSpPr>
          <p:nvPr>
            <p:ph type="title" idx="0"/>
          </p:nvPr>
        </p:nvSpPr>
        <p:spPr>
          <a:xfrm xmlns:a="http://schemas.openxmlformats.org/drawingml/2006/main">
            <a:off x="4235570" y="4439737"/>
            <a:ext cx="4390845"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90000"/>
              </a:lnSpc>
              <a:spcBef>
                <a:spcPts val="0"/>
              </a:spcBef>
              <a:spcAft>
                <a:spcPts val="0"/>
              </a:spcAft>
              <a:buClr>
                <a:schemeClr val="dk1"/>
              </a:buClr>
              <a:buSzPts val="4000"/>
              <a:buFont typeface="Arial"/>
              <a:buNone/>
            </a:pPr>
            <a:r>
              <a:rPr sz="4000">
                <a:latin typeface="Arial"/>
                <a:ea typeface="Arial"/>
                <a:cs typeface="Arial"/>
              </a:rPr>
              <a:t>Literature Review</a:t>
            </a:r>
            <a:endParaRPr/>
          </a:p>
        </p:txBody>
      </p:sp>
      <p:pic>
        <p:nvPicPr>
          <p:cNvPr id="313" name="Google Shape;270;p32"/>
          <p:cNvPicPr>
            <a:picLocks xmlns:a="http://schemas.openxmlformats.org/drawingml/2006/main" noChangeAspect="1"/>
          </p:cNvPicPr>
          <p:nvPr/>
        </p:nvPicPr>
        <p:blipFill rotWithShape="1">
          <a:blip xmlns:r="http://schemas.openxmlformats.org/officeDocument/2006/relationships" xmlns:a="http://schemas.openxmlformats.org/drawingml/2006/main" r:embed="R25cd65b74eb94bc6">
            <a:alphaModFix/>
          </a:blip>
          <a:srcRect xmlns:a="http://schemas.openxmlformats.org/drawingml/2006/main" l="0" t="0" r="0" b="0"/>
          <a:stretch xmlns:a="http://schemas.openxmlformats.org/drawingml/2006/main"/>
        </p:blipFill>
        <p:spPr>
          <a:xfrm xmlns:a="http://schemas.openxmlformats.org/drawingml/2006/main">
            <a:off x="5218502" y="2234977"/>
            <a:ext cx="1754993" cy="1754993"/>
          </a:xfrm>
          <a:prstGeom xmlns:a="http://schemas.openxmlformats.org/drawingml/2006/main" prst="rect">
            <a:avLst/>
          </a:prstGeom>
          <a:ln xmlns:a="http://schemas.openxmlformats.org/drawingml/2006/main">
            <a:noFill/>
          </a:ln>
        </p:spPr>
      </p:pic>
      <p:cxnSp>
        <p:nvCxnSpPr>
          <p:cNvPr id="314"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273" name="Google Shape;273;p32">
            <a:extLst xmlns:a="http://schemas.openxmlformats.org/drawingml/2006/main">
              <a:ext uri="{FF2B5EF4-FFF2-40B4-BE49-F238E27FC236}">
                <a16:creationId xmlns:a16="http://schemas.microsoft.com/office/drawing/2014/main" id="{21EC93A7-9D19-4AA4-BE61-A30549A4E0AA}"/>
              </a:ext>
            </a:extLst>
          </p:cNvPr>
          <p:cNvSpPr>
            <a:spLocks xmlns:a="http://schemas.openxmlformats.org/drawingml/2006/main" noGrp="1"/>
          </p:cNvSpPr>
          <p:nvPr>
            <p:ph type="dt" idx="10"/>
          </p:nvPr>
        </p:nvSpPr>
        <p:spPr>
          <a:xfrm xmlns:a="http://schemas.openxmlformats.org/drawingml/2006/main">
            <a:off x="462799" y="6396587"/>
            <a:ext cx="1442201" cy="22383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5B36D3E7-D169-B467-758A-64E9328C77F7}"/>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0EBF0282-AEFF-01E7-BA7D-5A1333B214B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9</a:t>
            </a:r>
            <a:endParaRPr sz="2800"/>
          </a:p>
        </p:txBody>
      </p:sp>
      <p:sp>
        <p:nvSpPr>
          <p:cNvPr id="288" name="visible-footer-date-8">
            <a:extLst xmlns:a="http://schemas.openxmlformats.org/drawingml/2006/main">
              <a:ext uri="{FF2B5EF4-FFF2-40B4-BE49-F238E27FC236}">
                <a16:creationId xmlns:a16="http://schemas.microsoft.com/office/drawing/2014/main" id="{E3832783-4ED4-44A9-876A-64C9E9ED3DC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4320198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(1/3)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10</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6d7b98a75634f0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ec971b0a4064c7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1">
            <a:extLst xmlns:a="http://schemas.openxmlformats.org/drawingml/2006/main">
              <a:ext uri="{FF2B5EF4-FFF2-40B4-BE49-F238E27FC236}">
                <a16:creationId xmlns:a16="http://schemas.microsoft.com/office/drawing/2014/main" id="{1FF44775-1E87-4275-9D7B-EDEF5136F97D}"/>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 Representative foundations for collaborative and private learning</a:t>
            </a:r>
          </a:p>
        </p:txBody>
      </p:sp>
      <p:graphicFrame>
        <p:nvGraphicFramePr>
          <p:cNvPr id="237" name=""/>
          <p:cNvGraphicFramePr/>
          <p:nvPr/>
        </p:nvGraphicFramePr>
        <p:xfrm>
          <a:off xmlns:a="http://schemas.openxmlformats.org/drawingml/2006/main" x="762000" y="1619250"/>
          <a:ext xmlns:a="http://schemas.openxmlformats.org/drawingml/2006/main" cx="10668000" cy="3762375"/>
        </p:xfrm>
        <a:graphic xmlns:a="http://schemas.openxmlformats.org/drawingml/2006/main">
          <a:graphicData uri="http://schemas.openxmlformats.org/drawingml/2006/table">
            <a:tbl>
              <a:tblPr firstRow="1" bandRow="1"/>
              <a:tblGrid>
                <a:gridCol w="1809750"/>
                <a:gridCol w="2047875"/>
                <a:gridCol w="3286125"/>
                <a:gridCol w="3524250"/>
              </a:tblGrid>
              <a:tr h="752475">
                <a:tc>
                  <a:txBody>
                    <a:bodyPr/>
                    <a:lstStyle/>
                    <a:p>
                      <a:r>
                        <a:rPr sz="1350" b="1">
                          <a:solidFill>
                            <a:srgbClr val="FFFFFF"/>
                          </a:solidFill>
                          <a:latin typeface="Arial"/>
                          <a:ea typeface="Arial"/>
                          <a:cs typeface="Arial"/>
                        </a:rPr>
                        <a:t>Study</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Focus</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Main contribution</a:t>
                      </a:r>
                    </a:p>
                  </a:txBody>
                  <a:tcPr marL="66675" marR="66675" marT="47625" marB="47625" anchor="ctr">
                    <a:solidFill>
                      <a:srgbClr val="17365D"/>
                    </a:solidFill>
                  </a:tcPr>
                </a:tc>
                <a:tc>
                  <a:txBody>
                    <a:bodyPr/>
                    <a:lstStyle/>
                    <a:p>
                      <a:r>
                        <a:rPr sz="1350" b="1">
                          <a:solidFill>
                            <a:srgbClr val="FFFFFF"/>
                          </a:solidFill>
                          <a:latin typeface="Arial"/>
                          <a:ea typeface="Arial"/>
                          <a:cs typeface="Arial"/>
                        </a:rPr>
                        <a:t>Limitation for this thesis</a:t>
                      </a:r>
                    </a:p>
                  </a:txBody>
                  <a:tcPr marL="66675" marR="66675" marT="47625" marB="47625" anchor="ctr">
                    <a:solidFill>
                      <a:srgbClr val="17365D"/>
                    </a:solidFill>
                  </a:tcPr>
                </a:tc>
              </a:tr>
              <a:tr h="752475">
                <a:tc>
                  <a:txBody>
                    <a:bodyPr/>
                    <a:lstStyle/>
                    <a:p>
                      <a:r>
                        <a:rPr sz="1275">
                          <a:solidFill>
                            <a:srgbClr val="1F2937"/>
                          </a:solidFill>
                          <a:latin typeface="Arial"/>
                          <a:ea typeface="Arial"/>
                          <a:cs typeface="Arial"/>
                        </a:rPr>
                        <a:t>FedAvg [1]</a:t>
                      </a:r>
                    </a:p>
                  </a:txBody>
                  <a:tcPr marL="66675" marR="66675" marT="47625" marB="47625" anchor="ctr">
                    <a:solidFill>
                      <a:srgbClr val="FFFFFF"/>
                    </a:solidFill>
                  </a:tcPr>
                </a:tc>
                <a:tc>
                  <a:txBody>
                    <a:bodyPr/>
                    <a:lstStyle/>
                    <a:p>
                      <a:r>
                        <a:rPr sz="1275">
                          <a:solidFill>
                            <a:srgbClr val="1F2937"/>
                          </a:solidFill>
                          <a:latin typeface="Arial"/>
                          <a:ea typeface="Arial"/>
                          <a:cs typeface="Arial"/>
                        </a:rPr>
                        <a:t>Federated optimization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Iterative training without centralizing data</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privacy or poisoning control</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Sheller et al. [2]</a:t>
                      </a:r>
                    </a:p>
                  </a:txBody>
                  <a:tcPr marL="66675" marR="66675" marT="47625" marB="47625" anchor="ctr">
                    <a:solidFill>
                      <a:srgbClr val="FFFFFF"/>
                    </a:solidFill>
                  </a:tcPr>
                </a:tc>
                <a:tc>
                  <a:txBody>
                    <a:bodyPr/>
                    <a:lstStyle/>
                    <a:p>
                      <a:r>
                        <a:rPr sz="1275">
                          <a:solidFill>
                            <a:srgbClr val="1F2937"/>
                          </a:solidFill>
                          <a:latin typeface="Arial"/>
                          <a:ea typeface="Arial"/>
                          <a:cs typeface="Arial"/>
                        </a:rPr>
                        <a:t>Healthcare FL</a:t>
                      </a:r>
                    </a:p>
                  </a:txBody>
                  <a:tcPr marL="66675" marR="66675" marT="47625" marB="47625" anchor="ctr">
                    <a:solidFill>
                      <a:srgbClr val="FFFFFF"/>
                    </a:solidFill>
                  </a:tcPr>
                </a:tc>
                <a:tc>
                  <a:txBody>
                    <a:bodyPr/>
                    <a:lstStyle/>
                    <a:p>
                      <a:r>
                        <a:rPr sz="1275">
                          <a:solidFill>
                            <a:srgbClr val="1F2937"/>
                          </a:solidFill>
                          <a:latin typeface="Arial"/>
                          <a:ea typeface="Arial"/>
                          <a:cs typeface="Arial"/>
                        </a:rPr>
                        <a:t>Natural multi-institution collaboration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Limited integrated security evidence</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275">
                          <a:solidFill>
                            <a:srgbClr val="1F2937"/>
                          </a:solidFill>
                          <a:latin typeface="Arial"/>
                          <a:ea typeface="Arial"/>
                          <a:cs typeface="Arial"/>
                        </a:rPr>
                        <a:t>Private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Efficient malicious-secure DP aggregation</a:t>
                      </a:r>
                    </a:p>
                  </a:txBody>
                  <a:tcPr marL="66675" marR="66675" marT="47625" marB="47625" anchor="ctr">
                    <a:solidFill>
                      <a:srgbClr val="FFFFFF"/>
                    </a:solidFill>
                  </a:tcPr>
                </a:tc>
                <a:tc>
                  <a:txBody>
                    <a:bodyPr/>
                    <a:lstStyle/>
                    <a:p>
                      <a:r>
                        <a:rPr sz="1275">
                          <a:solidFill>
                            <a:srgbClr val="1F2937"/>
                          </a:solidFill>
                          <a:latin typeface="Arial"/>
                          <a:ea typeface="Arial"/>
                          <a:cs typeface="Arial"/>
                        </a:rPr>
                        <a:t>No poisoning layer</a:t>
                      </a:r>
                    </a:p>
                  </a:txBody>
                  <a:tcPr marL="66675" marR="66675" marT="47625" marB="47625" anchor="ctr">
                    <a:solidFill>
                      <a:srgbClr val="FFFFFF"/>
                    </a:solidFill>
                  </a:tcPr>
                </a:tc>
              </a:tr>
              <a:tr h="752475">
                <a:tc>
                  <a:txBody>
                    <a:bodyPr/>
                    <a:lstStyle/>
                    <a:p>
                      <a:r>
                        <a:rPr sz="1275">
                          <a:solidFill>
                            <a:srgbClr val="1F2937"/>
                          </a:solidFill>
                          <a:latin typeface="Arial"/>
                          <a:ea typeface="Arial"/>
                          <a:cs typeface="Arial"/>
                        </a:rPr>
                        <a:t>FAMHE [12]</a:t>
                      </a:r>
                    </a:p>
                  </a:txBody>
                  <a:tcPr marL="66675" marR="66675" marT="47625" marB="47625" anchor="ctr">
                    <a:solidFill>
                      <a:srgbClr val="FFFFFF"/>
                    </a:solidFill>
                  </a:tcPr>
                </a:tc>
                <a:tc>
                  <a:txBody>
                    <a:bodyPr/>
                    <a:lstStyle/>
                    <a:p>
                      <a:r>
                        <a:rPr sz="1275">
                          <a:solidFill>
                            <a:srgbClr val="1F2937"/>
                          </a:solidFill>
                          <a:latin typeface="Arial"/>
                          <a:ea typeface="Arial"/>
                          <a:cs typeface="Arial"/>
                        </a:rPr>
                        <a:t>Multiparty HE</a:t>
                      </a:r>
                    </a:p>
                  </a:txBody>
                  <a:tcPr marL="66675" marR="66675" marT="47625" marB="47625" anchor="ctr">
                    <a:solidFill>
                      <a:srgbClr val="FFFFFF"/>
                    </a:solidFill>
                  </a:tcPr>
                </a:tc>
                <a:tc>
                  <a:txBody>
                    <a:bodyPr/>
                    <a:lstStyle/>
                    <a:p>
                      <a:r>
                        <a:rPr sz="1275">
                          <a:solidFill>
                            <a:srgbClr val="1F2937"/>
                          </a:solidFill>
                          <a:latin typeface="Arial"/>
                          <a:ea typeface="Arial"/>
                          <a:cs typeface="Arial"/>
                        </a:rPr>
                        <a:t>Protected biomedical analytics</a:t>
                      </a:r>
                    </a:p>
                  </a:txBody>
                  <a:tcPr marL="66675" marR="66675" marT="47625" marB="47625" anchor="ctr">
                    <a:solidFill>
                      <a:srgbClr val="FFFFFF"/>
                    </a:solidFill>
                  </a:tcPr>
                </a:tc>
                <a:tc>
                  <a:txBody>
                    <a:bodyPr/>
                    <a:lstStyle/>
                    <a:p>
                      <a:r>
                        <a:rPr sz="1275">
                          <a:solidFill>
                            <a:srgbClr val="1F2937"/>
                          </a:solidFill>
                          <a:latin typeface="Arial"/>
                          <a:ea typeface="Arial"/>
                          <a:cs typeface="Arial"/>
                        </a:rPr>
                        <a:t>Communication and trust assumptions differ</a:t>
                      </a:r>
                    </a:p>
                  </a:txBody>
                  <a:tcPr marL="66675" marR="66675" marT="47625" marB="47625" anchor="ctr">
                    <a:solidFill>
                      <a:srgbClr val="FFFFFF"/>
                    </a:solidFill>
                  </a:tcPr>
                </a:tc>
              </a:tr>
            </a:tbl>
          </a:graphicData>
        </a:graphic>
      </p:graphicFrame>
      <p:sp>
        <p:nvSpPr>
          <p:cNvPr id="222" name="rs1-note">
            <a:extLst xmlns:a="http://schemas.openxmlformats.org/drawingml/2006/main">
              <a:ext uri="{FF2B5EF4-FFF2-40B4-BE49-F238E27FC236}">
                <a16:creationId xmlns:a16="http://schemas.microsoft.com/office/drawing/2014/main" id="{CF9C0F2B-DC4D-44E3-BF88-F17429951DE9}"/>
              </a:ext>
            </a:extLst>
          </p:cNvPr>
          <p:cNvSpPr>
            <a:spLocks xmlns:a="http://schemas.openxmlformats.org/drawingml/2006/main" noGrp="1"/>
          </p:cNvSpPr>
          <p:nvPr/>
        </p:nvSpPr>
        <p:spPr>
          <a:xfrm xmlns:a="http://schemas.openxmlformats.org/drawingml/2006/main">
            <a:off x="1428750" y="5572125"/>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Prior work established feasibility, but each stream optimized a different part of the problem.</a:t>
            </a:r>
          </a:p>
        </p:txBody>
      </p:sp>
      <p:sp>
        <p:nvSpPr>
          <p:cNvPr id="226" name="visible-footer-date-9">
            <a:extLst xmlns:a="http://schemas.openxmlformats.org/drawingml/2006/main">
              <a:ext uri="{FF2B5EF4-FFF2-40B4-BE49-F238E27FC236}">
                <a16:creationId xmlns:a16="http://schemas.microsoft.com/office/drawing/2014/main" id="{EC8BF6F9-FF7D-45BB-9A54-4FA81A2ACF4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08fbf8719c043ca"/>
          <a:stretch xmlns:a="http://schemas.openxmlformats.org/drawingml/2006/main"/>
        </p:blipFill>
        <p:spPr>
          <a:xfrm xmlns:a="http://schemas.openxmlformats.org/drawingml/2006/main">
            <a:off x="361950" y="371475"/>
            <a:ext cx="685800" cy="685800"/>
          </a:xfrm>
          <a:prstGeom xmlns:a="http://schemas.openxmlformats.org/drawingml/2006/main" prst="rect">
            <a:avLst/>
          </a:prstGeom>
        </p:spPr>
      </p:pic>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173eed1723443a4"/>
          <a:stretch xmlns:a="http://schemas.openxmlformats.org/drawingml/2006/main"/>
        </p:blipFill>
        <p:spPr>
          <a:xfrm xmlns:a="http://schemas.openxmlformats.org/drawingml/2006/main">
            <a:off x="9915525" y="248278"/>
            <a:ext cx="1943100" cy="808370"/>
          </a:xfrm>
          <a:prstGeom xmlns:a="http://schemas.openxmlformats.org/drawingml/2006/main" prst="rect">
            <a:avLst/>
          </a:prstGeom>
        </p:spPr>
      </p:pic>
      <p:sp>
        <p:nvSpPr>
          <p:cNvPr id="3" name="chrome-title-10">
            <a:extLst xmlns:a="http://schemas.openxmlformats.org/drawingml/2006/main">
              <a:ext uri="{FF2B5EF4-FFF2-40B4-BE49-F238E27FC236}">
                <a16:creationId xmlns:a16="http://schemas.microsoft.com/office/drawing/2014/main" id="{E5F1E6B4-5640-4DCF-87B7-2C533A24BD34}"/>
              </a:ext>
            </a:extLst>
          </p:cNvPr>
          <p:cNvSpPr>
            <a:spLocks xmlns:a="http://schemas.openxmlformats.org/drawingml/2006/main" noGrp="1"/>
          </p:cNvSpPr>
          <p:nvPr/>
        </p:nvSpPr>
        <p:spPr>
          <a:xfrm xmlns:a="http://schemas.openxmlformats.org/drawingml/2006/main">
            <a:off x="1885950" y="257175"/>
            <a:ext cx="80295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925" b="1" i="0">
                <a:solidFill>
                  <a:srgbClr val="17365D"/>
                </a:solidFill>
                <a:latin typeface="Arial"/>
                <a:ea typeface="Arial"/>
                <a:cs typeface="Arial"/>
              </a:defRPr>
            </a:pPr>
            <a:r>
              <a:rPr sz="2925" b="1" i="0">
                <a:solidFill>
                  <a:srgbClr val="17365D"/>
                </a:solidFill>
                <a:latin typeface="Arial"/>
                <a:ea typeface="Arial"/>
                <a:cs typeface="Arial"/>
              </a:rPr>
              <a:t>Related Studies (2/3)</a:t>
            </a:r>
          </a:p>
        </p:txBody>
      </p:sp>
      <p:sp>
        <p:nvSpPr>
          <p:cNvPr id="4" name="rule-45-665">
            <a:extLst xmlns:a="http://schemas.openxmlformats.org/drawingml/2006/main">
              <a:ext uri="{FF2B5EF4-FFF2-40B4-BE49-F238E27FC236}">
                <a16:creationId xmlns:a16="http://schemas.microsoft.com/office/drawing/2014/main" id="{27D44CFB-B734-48FA-99EF-282E3116AB71}"/>
              </a:ext>
            </a:extLst>
          </p:cNvPr>
          <p:cNvSpPr>
            <a:spLocks xmlns:a="http://schemas.openxmlformats.org/drawingml/2006/main" noGrp="1"/>
          </p:cNvSpPr>
          <p:nvPr/>
        </p:nvSpPr>
        <p:spPr>
          <a:xfrm xmlns:a="http://schemas.openxmlformats.org/drawingml/2006/main">
            <a:off x="428625" y="6334125"/>
            <a:ext cx="11334750" cy="9525"/>
          </a:xfrm>
          <a:prstGeom xmlns:a="http://schemas.openxmlformats.org/drawingml/2006/main" prst="rect">
            <a:avLst/>
          </a:prstGeom>
          <a:solidFill xmlns:a="http://schemas.openxmlformats.org/drawingml/2006/main">
            <a:srgbClr val="C8D9A5"/>
          </a:solidFill>
          <a:ln xmlns:a="http://schemas.openxmlformats.org/drawingml/2006/main" w="0">
            <a:noFill/>
          </a:ln>
        </p:spPr>
      </p:sp>
      <p:sp>
        <p:nvSpPr>
          <p:cNvPr id="5" name="chrome-date-10">
            <a:extLst xmlns:a="http://schemas.openxmlformats.org/drawingml/2006/main">
              <a:ext uri="{FF2B5EF4-FFF2-40B4-BE49-F238E27FC236}">
                <a16:creationId xmlns:a16="http://schemas.microsoft.com/office/drawing/2014/main" id="{41926EB2-1F02-4343-97A9-E20CB53A474C}"/>
              </a:ext>
            </a:extLst>
          </p:cNvPr>
          <p:cNvSpPr>
            <a:spLocks xmlns:a="http://schemas.openxmlformats.org/drawingml/2006/main" noGrp="1"/>
          </p:cNvSpPr>
          <p:nvPr/>
        </p:nvSpPr>
        <p:spPr>
          <a:xfrm xmlns:a="http://schemas.openxmlformats.org/drawingml/2006/main">
            <a:off x="466725" y="639127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a:bodyPr>
          <a:lstStyle xmlns:a="http://schemas.openxmlformats.org/drawingml/2006/main"/>
          <a:p xmlns:a="http://schemas.openxmlformats.org/drawingml/2006/main">
            <a:pPr algn="l">
              <a:buNone/>
              <a:defRPr sz="900" b="0" i="0">
                <a:solidFill>
                  <a:srgbClr val="17365D"/>
                </a:solidFill>
                <a:latin typeface="Arial"/>
                <a:ea typeface="Arial"/>
                <a:cs typeface="Arial"/>
              </a:defRPr>
            </a:pPr>
            <a:r>
              <a:rPr sz="900" b="0" i="0">
                <a:solidFill>
                  <a:srgbClr val="17365D"/>
                </a:solidFill>
                <a:latin typeface="Arial"/>
                <a:ea typeface="Arial"/>
                <a:cs typeface="Arial"/>
              </a:rPr>
              <a:t/>
            </a:r>
          </a:p>
        </p:txBody>
      </p:sp>
      <p:sp>
        <p:nvSpPr>
          <p:cNvPr id="6" name="chrome-footer-10">
            <a:extLst xmlns:a="http://schemas.openxmlformats.org/drawingml/2006/main">
              <a:ext uri="{FF2B5EF4-FFF2-40B4-BE49-F238E27FC236}">
                <a16:creationId xmlns:a16="http://schemas.microsoft.com/office/drawing/2014/main" id="{0BF3CB06-8452-4282-91A8-E926925581F3}"/>
              </a:ext>
            </a:extLst>
          </p:cNvPr>
          <p:cNvSpPr>
            <a:spLocks xmlns:a="http://schemas.openxmlformats.org/drawingml/2006/main" noGrp="1"/>
          </p:cNvSpPr>
          <p:nvPr/>
        </p:nvSpPr>
        <p:spPr>
          <a:xfrm xmlns:a="http://schemas.openxmlformats.org/drawingml/2006/main">
            <a:off x="2667000" y="6515100"/>
            <a:ext cx="66865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900" b="0" i="0">
                <a:solidFill>
                  <a:srgbClr val="6B7280"/>
                </a:solidFill>
                <a:latin typeface="Arial"/>
                <a:ea typeface="Arial"/>
                <a:cs typeface="Arial"/>
              </a:defRPr>
            </a:pPr>
            <a:r>
              <a:rPr sz="900" b="0" i="0">
                <a:solidFill>
                  <a:srgbClr val="6B7280"/>
                </a:solidFill>
                <a:latin typeface="Arial"/>
                <a:ea typeface="Arial"/>
                <a:cs typeface="Arial"/>
              </a:rPr>
              <a:t>CAABC-FL: A Hybrid Privacy-Preserving Framework for Secure Multi-Institutional Collaboration</a:t>
            </a:r>
          </a:p>
        </p:txBody>
      </p:sp>
      <p:sp>
        <p:nvSpPr>
          <p:cNvPr id="7" name="chrome-page-10">
            <a:extLst xmlns:a="http://schemas.openxmlformats.org/drawingml/2006/main">
              <a:ext uri="{FF2B5EF4-FFF2-40B4-BE49-F238E27FC236}">
                <a16:creationId xmlns:a16="http://schemas.microsoft.com/office/drawing/2014/main" id="{5AF2CF82-A8D8-4B89-A2FF-9F3CFF9D4BD8}"/>
              </a:ext>
            </a:extLst>
          </p:cNvPr>
          <p:cNvSpPr>
            <a:spLocks xmlns:a="http://schemas.openxmlformats.org/drawingml/2006/main" noGrp="1"/>
          </p:cNvSpPr>
          <p:nvPr/>
        </p:nvSpPr>
        <p:spPr>
          <a:xfrm xmlns:a="http://schemas.openxmlformats.org/drawingml/2006/main">
            <a:off x="11277600" y="6124575"/>
            <a:ext cx="685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2550" b="1" i="0">
                <a:solidFill>
                  <a:srgbClr val="17365D"/>
                </a:solidFill>
                <a:latin typeface="Arial"/>
                <a:ea typeface="Arial"/>
                <a:cs typeface="Arial"/>
              </a:defRPr>
            </a:pPr>
            <a:r>
              <a:rPr sz="2550" b="1" i="0">
                <a:solidFill>
                  <a:srgbClr val="17365D"/>
                </a:solidFill>
                <a:latin typeface="Arial"/>
                <a:ea typeface="Arial"/>
                <a:cs typeface="Arial"/>
              </a:rPr>
              <a:t>11</a:t>
            </a:r>
          </a:p>
        </p:txBody>
      </p:sp>
      <p:sp>
        <p:nvSpPr>
          <p:cNvPr id="8" name="table-caption-rs2">
            <a:extLst xmlns:a="http://schemas.openxmlformats.org/drawingml/2006/main">
              <a:ext uri="{FF2B5EF4-FFF2-40B4-BE49-F238E27FC236}">
                <a16:creationId xmlns:a16="http://schemas.microsoft.com/office/drawing/2014/main" id="{B183B579-7D91-4042-B92A-4DE6C7672D84}"/>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 Communication and robustness methods</a:t>
            </a:r>
          </a:p>
        </p:txBody>
      </p:sp>
      <p:graphicFrame>
        <p:nvGraphicFramePr>
          <p:cNvPr id="26" name=""/>
          <p:cNvGraphicFramePr/>
          <p:nvPr/>
        </p:nvGraphicFramePr>
        <p:xfrm>
          <a:off xmlns:a="http://schemas.openxmlformats.org/drawingml/2006/main" x="523875" y="1619250"/>
          <a:ext xmlns:a="http://schemas.openxmlformats.org/drawingml/2006/main" cx="11144250" cy="3762375"/>
        </p:xfrm>
        <a:graphic xmlns:a="http://schemas.openxmlformats.org/drawingml/2006/main">
          <a:graphicData uri="http://schemas.openxmlformats.org/drawingml/2006/table">
            <a:tbl>
              <a:tblPr firstRow="1" bandRow="1"/>
              <a:tblGrid>
                <a:gridCol w="1762125"/>
                <a:gridCol w="1714500"/>
                <a:gridCol w="1952625"/>
                <a:gridCol w="2524125"/>
                <a:gridCol w="3190875"/>
              </a:tblGrid>
              <a:tr h="752475">
                <a:tc>
                  <a:txBody>
                    <a:bodyPr/>
                    <a:lstStyle/>
                    <a:p>
                      <a:r>
                        <a:rPr sz="1275" b="1">
                          <a:solidFill>
                            <a:srgbClr val="FFFFFF"/>
                          </a:solidFill>
                          <a:latin typeface="Arial"/>
                          <a:ea typeface="Arial"/>
                          <a:cs typeface="Arial"/>
                        </a:rPr>
                        <a:t>Approach</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Privacy</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Communication</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Poisoning response</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Main assumption</a:t>
                      </a:r>
                    </a:p>
                  </a:txBody>
                  <a:tcPr marL="66675" marR="66675" marT="47625" marB="47625" anchor="ctr">
                    <a:solidFill>
                      <a:srgbClr val="17365D"/>
                    </a:solidFill>
                  </a:tcPr>
                </a:tc>
              </a:tr>
              <a:tr h="752475">
                <a:tc>
                  <a:txBody>
                    <a:bodyPr/>
                    <a:lstStyle/>
                    <a:p>
                      <a:r>
                        <a:rPr sz="1200">
                          <a:solidFill>
                            <a:srgbClr val="1F2937"/>
                          </a:solidFill>
                          <a:latin typeface="Arial"/>
                          <a:ea typeface="Arial"/>
                          <a:cs typeface="Arial"/>
                        </a:rPr>
                        <a:t>SoteriaFL [13]</a:t>
                      </a:r>
                    </a:p>
                  </a:txBody>
                  <a:tcPr marL="66675" marR="66675" marT="47625" marB="47625" anchor="ctr">
                    <a:solidFill>
                      <a:srgbClr val="FFFFFF"/>
                    </a:solidFill>
                  </a:tcPr>
                </a:tc>
                <a:tc>
                  <a:txBody>
                    <a:bodyPr/>
                    <a:lstStyle/>
                    <a:p>
                      <a:r>
                        <a:rPr sz="1200">
                          <a:solidFill>
                            <a:srgbClr val="1F2937"/>
                          </a:solidFill>
                          <a:latin typeface="Arial"/>
                          <a:ea typeface="Arial"/>
                          <a:cs typeface="Arial"/>
                        </a:rPr>
                        <a:t>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Logical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Dense encryption can remove wire savings</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Fed-EF [14]</a:t>
                      </a:r>
                    </a:p>
                  </a:txBody>
                  <a:tcPr marL="66675" marR="66675" marT="47625" marB="47625" anchor="ctr">
                    <a:solidFill>
                      <a:srgbClr val="FFFFFF"/>
                    </a:solidFill>
                  </a:tcPr>
                </a:tc>
                <a:tc>
                  <a:txBody>
                    <a:bodyPr/>
                    <a:lstStyle/>
                    <a:p>
                      <a:r>
                        <a:rPr sz="1200">
                          <a:solidFill>
                            <a:srgbClr val="1F2937"/>
                          </a:solidFill>
                          <a:latin typeface="Arial"/>
                          <a:ea typeface="Arial"/>
                          <a:cs typeface="Arial"/>
                        </a:rPr>
                        <a:t>No formal DP</a:t>
                      </a:r>
                    </a:p>
                  </a:txBody>
                  <a:tcPr marL="66675" marR="66675" marT="47625" marB="47625" anchor="ctr">
                    <a:solidFill>
                      <a:srgbClr val="FFFFFF"/>
                    </a:solidFill>
                  </a:tcPr>
                </a:tc>
                <a:tc>
                  <a:txBody>
                    <a:bodyPr/>
                    <a:lstStyle/>
                    <a:p>
                      <a:r>
                        <a:rPr sz="1200">
                          <a:solidFill>
                            <a:srgbClr val="1F2937"/>
                          </a:solidFill>
                          <a:latin typeface="Arial"/>
                          <a:ea typeface="Arial"/>
                          <a:cs typeface="Arial"/>
                        </a:rPr>
                        <a:t>Error-feedback compression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Individual updates remain visible</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FLTrust [15]</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No</a:t>
                      </a:r>
                    </a:p>
                  </a:txBody>
                  <a:tcPr marL="66675" marR="66675" marT="47625" marB="47625" anchor="ctr">
                    <a:solidFill>
                      <a:srgbClr val="FFFFFF"/>
                    </a:solidFill>
                  </a:tcPr>
                </a:tc>
                <a:tc>
                  <a:txBody>
                    <a:bodyPr/>
                    <a:lstStyle/>
                    <a:p>
                      <a:r>
                        <a:rPr sz="1200">
                          <a:solidFill>
                            <a:srgbClr val="1F2937"/>
                          </a:solidFill>
                          <a:latin typeface="Arial"/>
                          <a:ea typeface="Arial"/>
                          <a:cs typeface="Arial"/>
                        </a:rPr>
                        <a:t>Trust-weighted aggregation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Clean representative root data</a:t>
                      </a:r>
                    </a:p>
                  </a:txBody>
                  <a:tcPr marL="66675" marR="66675" marT="47625" marB="47625" anchor="ctr">
                    <a:solidFill>
                      <a:srgbClr val="FFFFFF"/>
                    </a:solidFill>
                  </a:tcPr>
                </a:tc>
              </a:tr>
              <a:tr h="752475">
                <a:tc>
                  <a:txBody>
                    <a:bodyPr/>
                    <a:lstStyle/>
                    <a:p>
                      <a:r>
                        <a:rPr sz="1200">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updates</a:t>
                      </a:r>
                    </a:p>
                  </a:txBody>
                  <a:tcPr marL="66675" marR="66675" marT="47625" marB="47625" anchor="ctr">
                    <a:solidFill>
                      <a:srgbClr val="FFFFFF"/>
                    </a:solidFill>
                  </a:tcPr>
                </a:tc>
                <a:tc>
                  <a:txBody>
                    <a:bodyPr/>
                    <a:lstStyle/>
                    <a:p>
                      <a:r>
                        <a:rPr sz="1200">
                          <a:solidFill>
                            <a:srgbClr val="1F2937"/>
                          </a:solidFill>
                          <a:latin typeface="Arial"/>
                          <a:ea typeface="Arial"/>
                          <a:cs typeface="Arial"/>
                        </a:rPr>
                        <a:t>Secondary</a:t>
                      </a:r>
                    </a:p>
                  </a:txBody>
                  <a:tcPr marL="66675" marR="66675" marT="47625" marB="47625" anchor="ctr">
                    <a:solidFill>
                      <a:srgbClr val="FFFFFF"/>
                    </a:solidFill>
                  </a:tcPr>
                </a:tc>
                <a:tc>
                  <a:txBody>
                    <a:bodyPr/>
                    <a:lstStyle/>
                    <a:p>
                      <a:r>
                        <a:rPr sz="1200">
                          <a:solidFill>
                            <a:srgbClr val="1F2937"/>
                          </a:solidFill>
                          <a:latin typeface="Arial"/>
                          <a:ea typeface="Arial"/>
                          <a:cs typeface="Arial"/>
                        </a:rPr>
                        <a:t>Encrypted anomaly detection</a:t>
                      </a:r>
                    </a:p>
                  </a:txBody>
                  <a:tcPr marL="66675" marR="66675" marT="47625" marB="47625" anchor="ctr">
                    <a:solidFill>
                      <a:srgbClr val="FFFFFF"/>
                    </a:solidFill>
                  </a:tcPr>
                </a:tc>
                <a:tc>
                  <a:txBody>
                    <a:bodyPr/>
                    <a:lstStyle/>
                    <a:p>
                      <a:r>
                        <a:rPr sz="1200">
                          <a:solidFill>
                            <a:srgbClr val="1F2937"/>
                          </a:solidFill>
                          <a:latin typeface="Arial"/>
                          <a:ea typeface="Arial"/>
                          <a:cs typeface="Arial"/>
                        </a:rPr>
                        <a:t>FHE and anomaly model</a:t>
                      </a:r>
                    </a:p>
                  </a:txBody>
                  <a:tcPr marL="66675" marR="66675" marT="47625" marB="47625" anchor="ctr">
                    <a:solidFill>
                      <a:srgbClr val="FFFFFF"/>
                    </a:solidFill>
                  </a:tcPr>
                </a:tc>
              </a:tr>
            </a:tbl>
          </a:graphicData>
        </a:graphic>
      </p:graphicFrame>
      <p:sp>
        <p:nvSpPr>
          <p:cNvPr id="10" name="rs2-note">
            <a:extLst xmlns:a="http://schemas.openxmlformats.org/drawingml/2006/main">
              <a:ext uri="{FF2B5EF4-FFF2-40B4-BE49-F238E27FC236}">
                <a16:creationId xmlns:a16="http://schemas.microsoft.com/office/drawing/2014/main" id="{D5A34EEF-6719-4EBF-BAF3-B1EEA9E8F519}"/>
              </a:ext>
            </a:extLst>
          </p:cNvPr>
          <p:cNvSpPr>
            <a:spLocks xmlns:a="http://schemas.openxmlformats.org/drawingml/2006/main" noGrp="1"/>
          </p:cNvSpPr>
          <p:nvPr/>
        </p:nvSpPr>
        <p:spPr>
          <a:xfrm xmlns:a="http://schemas.openxmlformats.org/drawingml/2006/main">
            <a:off x="1285875" y="5572125"/>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48"/>
          </a:bodyPr>
          <a:lstStyle xmlns:a="http://schemas.openxmlformats.org/drawingml/2006/main"/>
          <a:p xmlns:a="http://schemas.openxmlformats.org/drawingml/2006/main">
            <a:pPr algn="ctr">
              <a:buNone/>
              <a:defRPr sz="1650" b="1" i="0">
                <a:solidFill>
                  <a:srgbClr val="17365D"/>
                </a:solidFill>
                <a:latin typeface="Arial"/>
                <a:ea typeface="Arial"/>
                <a:cs typeface="Arial"/>
              </a:defRPr>
            </a:pPr>
            <a:r>
              <a:rPr sz="1650" b="1" i="0">
                <a:solidFill>
                  <a:srgbClr val="17365D"/>
                </a:solidFill>
                <a:latin typeface="Arial"/>
                <a:ea typeface="Arial"/>
                <a:cs typeface="Arial"/>
              </a:rPr>
              <a:t>Plaintext robust aggregation often conflicts with the update hiding provided by homomorphic aggregation.</a:t>
            </a:r>
          </a:p>
        </p:txBody>
      </p:sp>
      <p:sp>
        <p:nvSpPr>
          <p:cNvPr id="14" name="visible-footer-date-10">
            <a:extLst xmlns:a="http://schemas.openxmlformats.org/drawingml/2006/main">
              <a:ext uri="{FF2B5EF4-FFF2-40B4-BE49-F238E27FC236}">
                <a16:creationId xmlns:a16="http://schemas.microsoft.com/office/drawing/2014/main" id="{21FF7D5C-3264-4359-8EC6-14D1C8ECC20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Related Studies (3/3)</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12</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386b2b71d58344f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a992a29cae01415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rs3">
            <a:extLst xmlns:a="http://schemas.openxmlformats.org/drawingml/2006/main">
              <a:ext uri="{FF2B5EF4-FFF2-40B4-BE49-F238E27FC236}">
                <a16:creationId xmlns:a16="http://schemas.microsoft.com/office/drawing/2014/main" id="{D5FB49E3-377F-4081-9952-52800B850D3C}"/>
              </a:ext>
            </a:extLst>
          </p:cNvPr>
          <p:cNvSpPr>
            <a:spLocks xmlns:a="http://schemas.openxmlformats.org/drawingml/2006/main" noGrp="1"/>
          </p:cNvSpPr>
          <p:nvPr/>
        </p:nvSpPr>
        <p:spPr>
          <a:xfrm xmlns:a="http://schemas.openxmlformats.org/drawingml/2006/main">
            <a:off x="1428750" y="1143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III. Capability map of recent integrated methods</a:t>
            </a:r>
          </a:p>
        </p:txBody>
      </p:sp>
      <p:graphicFrame>
        <p:nvGraphicFramePr>
          <p:cNvPr id="237" name=""/>
          <p:cNvGraphicFramePr/>
          <p:nvPr/>
        </p:nvGraphicFramePr>
        <p:xfrm>
          <a:off xmlns:a="http://schemas.openxmlformats.org/drawingml/2006/main" x="428625" y="1571625"/>
          <a:ext xmlns:a="http://schemas.openxmlformats.org/drawingml/2006/main" cx="11334750" cy="4000500"/>
        </p:xfrm>
        <a:graphic xmlns:a="http://schemas.openxmlformats.org/drawingml/2006/main">
          <a:graphicData uri="http://schemas.openxmlformats.org/drawingml/2006/table">
            <a:tbl>
              <a:tblPr firstRow="1" bandRow="1"/>
              <a:tblGrid>
                <a:gridCol w="1524000"/>
                <a:gridCol w="1809750"/>
                <a:gridCol w="1285875"/>
                <a:gridCol w="2190750"/>
                <a:gridCol w="2143125"/>
                <a:gridCol w="2381250"/>
              </a:tblGrid>
              <a:tr h="666750">
                <a:tc>
                  <a:txBody>
                    <a:bodyPr/>
                    <a:lstStyle/>
                    <a:p>
                      <a:r>
                        <a:rPr sz="1163"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Healthcare evidence</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Formal DP</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Protected aggregation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Wire-aware compression</a:t>
                      </a:r>
                    </a:p>
                  </a:txBody>
                  <a:tcPr marL="66675" marR="66675" marT="47625" marB="47625" anchor="ctr">
                    <a:solidFill>
                      <a:srgbClr val="17365D"/>
                    </a:solidFill>
                  </a:tcPr>
                </a:tc>
                <a:tc>
                  <a:txBody>
                    <a:bodyPr/>
                    <a:lstStyle/>
                    <a:p>
                      <a:r>
                        <a:rPr sz="1163" b="1">
                          <a:solidFill>
                            <a:srgbClr val="FFFFFF"/>
                          </a:solidFill>
                          <a:latin typeface="Arial"/>
                          <a:ea typeface="Arial"/>
                          <a:cs typeface="Arial"/>
                        </a:rPr>
                        <a:t>Poisoning defence</a:t>
                      </a:r>
                    </a:p>
                  </a:txBody>
                  <a:tcPr marL="66675" marR="66675" marT="47625" marB="47625" anchor="ctr">
                    <a:solidFill>
                      <a:srgbClr val="17365D"/>
                    </a:solidFill>
                  </a:tcPr>
                </a:tc>
              </a:tr>
              <a:tr h="666750">
                <a:tc>
                  <a:txBody>
                    <a:bodyPr/>
                    <a:lstStyle/>
                    <a:p>
                      <a:r>
                        <a:rPr sz="1125">
                          <a:solidFill>
                            <a:srgbClr val="1F2937"/>
                          </a:solidFill>
                          <a:latin typeface="Arial"/>
                          <a:ea typeface="Arial"/>
                          <a:cs typeface="Arial"/>
                        </a:rPr>
                        <a:t>FLDP [11]</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Protocol-level</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DDFed [16]</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DP-BREM+ [17]</a:t>
                      </a:r>
                    </a:p>
                  </a:txBody>
                  <a:tcPr marL="66675" marR="66675" marT="47625" marB="47625" anchor="ctr">
                    <a:solidFill>
                      <a:srgbClr val="FFFFFF"/>
                    </a:solidFill>
                  </a:tcPr>
                </a:tc>
                <a:tc>
                  <a:txBody>
                    <a:bodyPr/>
                    <a:lstStyle/>
                    <a:p>
                      <a:r>
                        <a:rPr sz="1125">
                          <a:solidFill>
                            <a:srgbClr val="1F2937"/>
                          </a:solidFill>
                          <a:latin typeface="Arial"/>
                          <a:ea typeface="Arial"/>
                          <a:cs typeface="Arial"/>
                        </a:rPr>
                        <a:t>Limited</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PREAMBLE [18]</a:t>
                      </a:r>
                    </a:p>
                  </a:txBody>
                  <a:tcPr marL="66675" marR="66675" marT="47625" marB="47625" anchor="ctr">
                    <a:solidFill>
                      <a:srgbClr val="FFFFFF"/>
                    </a:solidFill>
                  </a:tcPr>
                </a:tc>
                <a:tc>
                  <a:txBody>
                    <a:bodyPr/>
                    <a:lstStyle/>
                    <a:p>
                      <a:r>
                        <a:rPr sz="1125">
                          <a:solidFill>
                            <a:srgbClr val="1F2937"/>
                          </a:solidFill>
                          <a:latin typeface="Arial"/>
                          <a:ea typeface="Arial"/>
                          <a:cs typeface="Arial"/>
                        </a:rPr>
                        <a:t>Different task</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No</a:t>
                      </a:r>
                    </a:p>
                  </a:txBody>
                  <a:tcPr marL="66675" marR="66675" marT="47625" marB="47625" anchor="ctr">
                    <a:solidFill>
                      <a:srgbClr val="FFFFFF"/>
                    </a:solidFill>
                  </a:tcPr>
                </a:tc>
              </a:tr>
              <a:tr h="666750">
                <a:tc>
                  <a:txBody>
                    <a:bodyPr/>
                    <a:lstStyle/>
                    <a:p>
                      <a:r>
                        <a:rPr sz="1125">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125">
                          <a:solidFill>
                            <a:srgbClr val="1F2937"/>
                          </a:solidFill>
                          <a:latin typeface="Arial"/>
                          <a:ea typeface="Arial"/>
                          <a:cs typeface="Arial"/>
                        </a:rPr>
                        <a:t>PhysioNet 2019</a:t>
                      </a:r>
                    </a:p>
                  </a:txBody>
                  <a:tcPr marL="66675" marR="66675" marT="47625" marB="47625" anchor="ctr">
                    <a:solidFill>
                      <a:srgbClr val="FFFFFF"/>
                    </a:solidFill>
                  </a:tcPr>
                </a:tc>
                <a:tc>
                  <a:txBody>
                    <a:bodyPr/>
                    <a:lstStyle/>
                    <a:p>
                      <a:r>
                        <a:rPr sz="1125">
                          <a:solidFill>
                            <a:srgbClr val="1F2937"/>
                          </a:solidFill>
                          <a:latin typeface="Arial"/>
                          <a:ea typeface="Arial"/>
                          <a:cs typeface="Arial"/>
                        </a:rPr>
                        <a:t>Yes</a:t>
                      </a:r>
                    </a:p>
                  </a:txBody>
                  <a:tcPr marL="66675" marR="66675" marT="47625" marB="47625" anchor="ctr">
                    <a:solidFill>
                      <a:srgbClr val="FFFFFF"/>
                    </a:solidFill>
                  </a:tcPr>
                </a:tc>
                <a:tc>
                  <a:txBody>
                    <a:bodyPr/>
                    <a:lstStyle/>
                    <a:p>
                      <a:r>
                        <a:rPr sz="1125">
                          <a:solidFill>
                            <a:srgbClr val="1F2937"/>
                          </a:solidFill>
                          <a:latin typeface="Arial"/>
                          <a:ea typeface="Arial"/>
                          <a:cs typeface="Arial"/>
                        </a:rPr>
                        <a:t>CKKS sum path</a:t>
                      </a:r>
                    </a:p>
                  </a:txBody>
                  <a:tcPr marL="66675" marR="66675" marT="47625" marB="47625" anchor="ctr">
                    <a:solidFill>
                      <a:srgbClr val="FFFFFF"/>
                    </a:solidFill>
                  </a:tcPr>
                </a:tc>
                <a:tc>
                  <a:txBody>
                    <a:bodyPr/>
                    <a:lstStyle/>
                    <a:p>
                      <a:r>
                        <a:rPr sz="1125">
                          <a:solidFill>
                            <a:srgbClr val="1F2937"/>
                          </a:solidFill>
                          <a:latin typeface="Arial"/>
                          <a:ea typeface="Arial"/>
                          <a:cs typeface="Arial"/>
                        </a:rPr>
                        <a:t>Measured bytes</a:t>
                      </a:r>
                    </a:p>
                  </a:txBody>
                  <a:tcPr marL="66675" marR="66675" marT="47625" marB="47625" anchor="ctr">
                    <a:solidFill>
                      <a:srgbClr val="FFFFFF"/>
                    </a:solidFill>
                  </a:tcPr>
                </a:tc>
                <a:tc>
                  <a:txBody>
                    <a:bodyPr/>
                    <a:lstStyle/>
                    <a:p>
                      <a:r>
                        <a:rPr sz="1125">
                          <a:solidFill>
                            <a:srgbClr val="1F2937"/>
                          </a:solidFill>
                          <a:latin typeface="Arial"/>
                          <a:ea typeface="Arial"/>
                          <a:cs typeface="Arial"/>
                        </a:rPr>
                        <a:t>Release control</a:t>
                      </a:r>
                    </a:p>
                  </a:txBody>
                  <a:tcPr marL="66675" marR="66675" marT="47625" marB="47625" anchor="ctr">
                    <a:solidFill>
                      <a:srgbClr val="FFFFFF"/>
                    </a:solidFill>
                  </a:tcPr>
                </a:tc>
              </a:tr>
            </a:tbl>
          </a:graphicData>
        </a:graphic>
      </p:graphicFrame>
      <p:sp>
        <p:nvSpPr>
          <p:cNvPr id="222" name="rs3-note">
            <a:extLst xmlns:a="http://schemas.openxmlformats.org/drawingml/2006/main">
              <a:ext uri="{FF2B5EF4-FFF2-40B4-BE49-F238E27FC236}">
                <a16:creationId xmlns:a16="http://schemas.microsoft.com/office/drawing/2014/main" id="{3CBE3883-65EE-4FF6-905B-D06FF17E7E80}"/>
              </a:ext>
            </a:extLst>
          </p:cNvPr>
          <p:cNvSpPr>
            <a:spLocks xmlns:a="http://schemas.openxmlformats.org/drawingml/2006/main" noGrp="1"/>
          </p:cNvSpPr>
          <p:nvPr/>
        </p:nvSpPr>
        <p:spPr>
          <a:xfrm xmlns:a="http://schemas.openxmlformats.org/drawingml/2006/main">
            <a:off x="1428750" y="5715000"/>
            <a:ext cx="933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00" b="0" i="1">
                <a:solidFill>
                  <a:srgbClr val="5B6573"/>
                </a:solidFill>
                <a:latin typeface="Arial"/>
                <a:ea typeface="Arial"/>
                <a:cs typeface="Arial"/>
              </a:defRPr>
            </a:pPr>
            <a:r>
              <a:rPr sz="1500" b="0" i="1">
                <a:solidFill>
                  <a:srgbClr val="5B6573"/>
                </a:solidFill>
                <a:latin typeface="Arial"/>
                <a:ea typeface="Arial"/>
                <a:cs typeface="Arial"/>
              </a:rPr>
              <a:t>The rows use different datasets and threat models, so this map describes scope rather than rank.</a:t>
            </a:r>
          </a:p>
        </p:txBody>
      </p:sp>
      <p:sp>
        <p:nvSpPr>
          <p:cNvPr id="226" name="visible-footer-date-11">
            <a:extLst xmlns:a="http://schemas.openxmlformats.org/drawingml/2006/main">
              <a:ext uri="{FF2B5EF4-FFF2-40B4-BE49-F238E27FC236}">
                <a16:creationId xmlns:a16="http://schemas.microsoft.com/office/drawing/2014/main" id="{AC6EAD33-26BD-47B1-84B2-8A6BC3518A8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4F441C9C-DB24-BC90-E1A8-06BB78A42B4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Gap</a:t>
            </a:r>
            <a:endParaRPr/>
          </a:p>
        </p:txBody>
      </p:sp>
      <p:sp>
        <p:nvSpPr>
          <p:cNvPr id="212" name="Google Shape;212;p28">
            <a:extLst xmlns:a="http://schemas.openxmlformats.org/drawingml/2006/main">
              <a:ext uri="{FF2B5EF4-FFF2-40B4-BE49-F238E27FC236}">
                <a16:creationId xmlns:a16="http://schemas.microsoft.com/office/drawing/2014/main" id="{04AC4499-7181-9004-D4F7-FF8D445EA12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13</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2c2bb9a5e47479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09a6ab5f2de475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4B3C55C-04DC-095A-55DA-789E59E8DFB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8F63699-FF2B-3B57-7160-D273E7E2D3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gap-bullets">
            <a:extLst xmlns:a="http://schemas.openxmlformats.org/drawingml/2006/main">
              <a:ext uri="{FF2B5EF4-FFF2-40B4-BE49-F238E27FC236}">
                <a16:creationId xmlns:a16="http://schemas.microsoft.com/office/drawing/2014/main" id="{2DFEB144-76F9-43F8-87E2-D826FFA3D6E8}"/>
              </a:ext>
            </a:extLst>
          </p:cNvPr>
          <p:cNvSpPr>
            <a:spLocks xmlns:a="http://schemas.openxmlformats.org/drawingml/2006/main" noGrp="1"/>
          </p:cNvSpPr>
          <p:nvPr/>
        </p:nvSpPr>
        <p:spPr>
          <a:xfrm xmlns:a="http://schemas.openxmlformats.org/drawingml/2006/main">
            <a:off x="904875" y="1381125"/>
            <a:ext cx="1038225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No reviewed study evaluates patient-level DP, real CKKS serialization, adaptive common-block compression, poisoning-aware release, and external audit evidence under one protocol.</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Many compressors reduce plaintext coordinates but recover little or no encrypted network bandwidth.</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Robust plaintext aggregators require individual update distances that a sum-only encrypted path intentionally hides.</a:t>
            </a:r>
          </a:p>
          <a:p xmlns:a="http://schemas.openxmlformats.org/drawingml/2006/main">
            <a:pPr marL="254000" indent="-127000">
              <a:spcAft>
                <a:spcPts val="1000"/>
              </a:spcAft>
              <a:buChar char="•"/>
              <a:defRPr sz="1950">
                <a:solidFill>
                  <a:srgbClr val="1F2937"/>
                </a:solidFill>
                <a:latin typeface="Arial"/>
                <a:ea typeface="Arial"/>
                <a:cs typeface="Arial"/>
              </a:defRPr>
            </a:pPr>
            <a:r>
              <a:rPr sz="1950">
                <a:solidFill>
                  <a:srgbClr val="1F2937"/>
                </a:solidFill>
                <a:latin typeface="Arial"/>
                <a:ea typeface="Arial"/>
                <a:cs typeface="Arial"/>
              </a:rPr>
              <a:t>Prior evaluations seldom combine paired multi-seed utility, membership inference, gradient reconstruction, one-round poisoning, longitudinal poisoning, and service timing.</a:t>
            </a:r>
          </a:p>
        </p:txBody>
      </p:sp>
      <p:sp>
        <p:nvSpPr>
          <p:cNvPr id="221" name="gap-response">
            <a:extLst xmlns:a="http://schemas.openxmlformats.org/drawingml/2006/main">
              <a:ext uri="{FF2B5EF4-FFF2-40B4-BE49-F238E27FC236}">
                <a16:creationId xmlns:a16="http://schemas.microsoft.com/office/drawing/2014/main" id="{66E1C845-31B3-4F02-9C0E-56EF08B8DD0D}"/>
              </a:ext>
            </a:extLst>
          </p:cNvPr>
          <p:cNvSpPr>
            <a:spLocks xmlns:a="http://schemas.openxmlformats.org/drawingml/2006/main" noGrp="1"/>
          </p:cNvSpPr>
          <p:nvPr/>
        </p:nvSpPr>
        <p:spPr>
          <a:xfrm xmlns:a="http://schemas.openxmlformats.org/drawingml/2006/main">
            <a:off x="1095375" y="4905375"/>
            <a:ext cx="10001250" cy="952500"/>
          </a:xfrm>
          <a:prstGeom xmlns:a="http://schemas.openxmlformats.org/drawingml/2006/main" prst="roundRect">
            <a:avLst>
              <a:gd name="adj" fmla="val 8000"/>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Thesis response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 aligns adaptive compression with CKKS blocks and places verification, validation, rollback, threshold policy, and witnessed audit evidence around the encrypted training round.</a:t>
            </a:r>
          </a:p>
        </p:txBody>
      </p:sp>
      <p:sp>
        <p:nvSpPr>
          <p:cNvPr id="224" name="visible-footer-date-12">
            <a:extLst xmlns:a="http://schemas.openxmlformats.org/drawingml/2006/main">
              <a:ext uri="{FF2B5EF4-FFF2-40B4-BE49-F238E27FC236}">
                <a16:creationId xmlns:a16="http://schemas.microsoft.com/office/drawing/2014/main" id="{A85C2E33-42AD-4E2A-9450-64B073424856}"/>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02666196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411" name="Google Shape;359;p39"/>
          <p:cNvPicPr>
            <a:picLocks xmlns:a="http://schemas.openxmlformats.org/drawingml/2006/main" noChangeAspect="1"/>
          </p:cNvPicPr>
          <p:nvPr/>
        </p:nvPicPr>
        <p:blipFill rotWithShape="1">
          <a:blip xmlns:r="http://schemas.openxmlformats.org/officeDocument/2006/relationships" xmlns:a="http://schemas.openxmlformats.org/drawingml/2006/main" r:embed="Re0c6bd54c3044f3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412" name="Google Shape;360;p39"/>
          <p:cNvPicPr>
            <a:picLocks xmlns:a="http://schemas.openxmlformats.org/drawingml/2006/main" noChangeAspect="1"/>
          </p:cNvPicPr>
          <p:nvPr/>
        </p:nvPicPr>
        <p:blipFill rotWithShape="1">
          <a:blip xmlns:r="http://schemas.openxmlformats.org/officeDocument/2006/relationships" xmlns:a="http://schemas.openxmlformats.org/drawingml/2006/main" r:embed="R867bdf67a05e4c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413" name="Google Shape;361;p39"/>
          <p:cNvPicPr>
            <a:picLocks xmlns:a="http://schemas.openxmlformats.org/drawingml/2006/main" noChangeAspect="1"/>
          </p:cNvPicPr>
          <p:nvPr/>
        </p:nvPicPr>
        <p:blipFill rotWithShape="1">
          <a:blip xmlns:r="http://schemas.openxmlformats.org/officeDocument/2006/relationships" xmlns:a="http://schemas.openxmlformats.org/drawingml/2006/main" r:embed="Ra2cc6dcf4f2544b1">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362" name="Google Shape;362;p39">
            <a:extLst xmlns:a="http://schemas.openxmlformats.org/drawingml/2006/main">
              <a:ext uri="{FF2B5EF4-FFF2-40B4-BE49-F238E27FC236}">
                <a16:creationId xmlns:a16="http://schemas.microsoft.com/office/drawing/2014/main" id="{EEFF338C-48B1-8132-B969-54ACC4C332A7}"/>
              </a:ext>
            </a:extLst>
          </p:cNvPr>
          <p:cNvSpPr>
            <a:spLocks xmlns:a="http://schemas.openxmlformats.org/drawingml/2006/main" noGrp="1"/>
          </p:cNvSpPr>
          <p:nvPr>
            <p:ph type="title" idx="0"/>
          </p:nvPr>
        </p:nvSpPr>
        <p:spPr>
          <a:xfrm xmlns:a="http://schemas.openxmlformats.org/drawingml/2006/main">
            <a:off x="1664208" y="4207482"/>
            <a:ext cx="8613648"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algn="ctr">
              <a:buNone/>
            </a:pPr>
            <a:r>
              <a:rPr sz="4000"/>
              <a:t>Methodology</a:t>
            </a:r>
          </a:p>
        </p:txBody>
      </p:sp>
      <p:pic>
        <p:nvPicPr>
          <p:cNvPr id="415" name="Google Shape;363;p39"/>
          <p:cNvPicPr>
            <a:picLocks xmlns:a="http://schemas.openxmlformats.org/drawingml/2006/main" noChangeAspect="1"/>
          </p:cNvPicPr>
          <p:nvPr/>
        </p:nvPicPr>
        <p:blipFill rotWithShape="1">
          <a:blip xmlns:r="http://schemas.openxmlformats.org/officeDocument/2006/relationships" xmlns:a="http://schemas.openxmlformats.org/drawingml/2006/main" r:embed="Rad591c1b347e484a">
            <a:alphaModFix/>
          </a:blip>
          <a:srcRect xmlns:a="http://schemas.openxmlformats.org/drawingml/2006/main" l="0" t="0" r="0" b="0"/>
          <a:stretch xmlns:a="http://schemas.openxmlformats.org/drawingml/2006/main"/>
        </p:blipFill>
        <p:spPr>
          <a:xfrm xmlns:a="http://schemas.openxmlformats.org/drawingml/2006/main">
            <a:off x="4785233" y="1949845"/>
            <a:ext cx="2056847" cy="2056847"/>
          </a:xfrm>
          <a:prstGeom xmlns:a="http://schemas.openxmlformats.org/drawingml/2006/main" prst="roundRect">
            <a:avLst>
              <a:gd name="adj" fmla="val 16667"/>
            </a:avLst>
          </a:prstGeom>
          <a:ln xmlns:a="http://schemas.openxmlformats.org/drawingml/2006/main">
            <a:noFill/>
          </a:ln>
          <a:effectLst xmlns:a="http://schemas.openxmlformats.org/drawingml/2006/main">
            <a:outerShdw blurRad="76200" dist="38100" dir="7800000" algn="tl" rotWithShape="0">
              <a:srgbClr val="000000">
                <a:alpha val="40000"/>
              </a:srgbClr>
            </a:outerShdw>
          </a:effectLst>
        </p:spPr>
      </p:pic>
      <p:sp>
        <p:nvSpPr>
          <p:cNvPr id="366" name="Google Shape;366;p39">
            <a:extLst xmlns:a="http://schemas.openxmlformats.org/drawingml/2006/main">
              <a:ext uri="{FF2B5EF4-FFF2-40B4-BE49-F238E27FC236}">
                <a16:creationId xmlns:a16="http://schemas.microsoft.com/office/drawing/2014/main" id="{F0D6F430-373C-B89E-A5FB-517372D44D5D}"/>
              </a:ext>
            </a:extLst>
          </p:cNvPr>
          <p:cNvSpPr>
            <a:spLocks xmlns:a="http://schemas.openxmlformats.org/drawingml/2006/main" noGrp="1"/>
          </p:cNvSpPr>
          <p:nvPr>
            <p:ph type="dt" idx="10"/>
          </p:nvPr>
        </p:nvSpPr>
        <p:spPr>
          <a:xfrm xmlns:a="http://schemas.openxmlformats.org/drawingml/2006/main">
            <a:off x="462800" y="6396575"/>
            <a:ext cx="14601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4AC777A5-57EB-AFC4-A5F3-AC25B803C8B5}"/>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486602C0-C428-5611-E318-DE85074D6D16}"/>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14</a:t>
            </a:r>
            <a:endParaRPr sz="2800"/>
          </a:p>
        </p:txBody>
      </p:sp>
      <p:cxnSp>
        <p:nvCxnSpPr>
          <p:cNvPr id="419" name="Google Shape;271;p32"/>
          <p:cNvCxnSpPr/>
          <p:nvPr/>
        </p:nvCxnSpPr>
        <p:spPr>
          <a:xfrm xmlns:a="http://schemas.openxmlformats.org/drawingml/2006/main">
            <a:off x="424707" y="5119185"/>
            <a:ext cx="11342585"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84" name="visible-footer-date-13">
            <a:extLst xmlns:a="http://schemas.openxmlformats.org/drawingml/2006/main">
              <a:ext uri="{FF2B5EF4-FFF2-40B4-BE49-F238E27FC236}">
                <a16:creationId xmlns:a16="http://schemas.microsoft.com/office/drawing/2014/main" id="{F0EB0EB9-746C-4502-95C1-397FF73DAD8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89875798"/>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D53C2C4-0238-2DF2-4E36-7218D813FEA6}"/>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System Approach</a:t>
            </a:r>
            <a:endParaRPr/>
          </a:p>
        </p:txBody>
      </p:sp>
      <p:sp>
        <p:nvSpPr>
          <p:cNvPr id="212" name="Google Shape;212;p28">
            <a:extLst xmlns:a="http://schemas.openxmlformats.org/drawingml/2006/main">
              <a:ext uri="{FF2B5EF4-FFF2-40B4-BE49-F238E27FC236}">
                <a16:creationId xmlns:a16="http://schemas.microsoft.com/office/drawing/2014/main" id="{7D7835C0-40C3-DEA8-DB7B-B74329928B9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15</a:t>
            </a:r>
            <a:endParaRPr sz="2800"/>
          </a:p>
        </p:txBody>
      </p:sp>
      <p:pic>
        <p:nvPicPr>
          <p:cNvPr id="23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0ec71083e29488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1fc259496c34f7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9BA7BDD1-B401-9532-3A90-883A29A4D80C}"/>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3082E332-C627-E60D-22BD-F2A00B3BF1F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5" name=""/>
          <p:cNvPicPr>
            <a:picLocks xmlns:a="http://schemas.openxmlformats.org/drawingml/2006/main" noChangeAspect="1"/>
          </p:cNvPicPr>
          <p:nvPr/>
        </p:nvPicPr>
        <p:blipFill>
          <a:blip xmlns:r="http://schemas.openxmlformats.org/officeDocument/2006/relationships" xmlns:a="http://schemas.openxmlformats.org/drawingml/2006/main" r:embed="Rfa91682e6c52404b"/>
          <a:stretch xmlns:a="http://schemas.openxmlformats.org/drawingml/2006/main"/>
        </p:blipFill>
        <p:spPr>
          <a:xfrm xmlns:a="http://schemas.openxmlformats.org/drawingml/2006/main">
            <a:off x="3111500" y="1143000"/>
            <a:ext cx="5969000" cy="4476750"/>
          </a:xfrm>
          <a:prstGeom xmlns:a="http://schemas.openxmlformats.org/drawingml/2006/main" prst="rect">
            <a:avLst/>
          </a:prstGeom>
        </p:spPr>
      </p:pic>
      <p:sp>
        <p:nvSpPr>
          <p:cNvPr id="221" name="architecture-caption">
            <a:extLst xmlns:a="http://schemas.openxmlformats.org/drawingml/2006/main">
              <a:ext uri="{FF2B5EF4-FFF2-40B4-BE49-F238E27FC236}">
                <a16:creationId xmlns:a16="http://schemas.microsoft.com/office/drawing/2014/main" id="{5F354A9E-A34D-443F-9641-0389D0C1B311}"/>
              </a:ext>
            </a:extLst>
          </p:cNvPr>
          <p:cNvSpPr>
            <a:spLocks xmlns:a="http://schemas.openxmlformats.org/drawingml/2006/main" noGrp="1"/>
          </p:cNvSpPr>
          <p:nvPr/>
        </p:nvSpPr>
        <p:spPr>
          <a:xfrm xmlns:a="http://schemas.openxmlformats.org/drawingml/2006/main">
            <a:off x="1095375" y="5619750"/>
            <a:ext cx="1000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425" b="0" i="1">
                <a:solidFill>
                  <a:srgbClr val="1F2937"/>
                </a:solidFill>
                <a:latin typeface="Arial"/>
                <a:ea typeface="Arial"/>
                <a:cs typeface="Arial"/>
              </a:defRPr>
            </a:pPr>
            <a:r>
              <a:rPr sz="1425" b="0" i="1">
                <a:solidFill>
                  <a:srgbClr val="1F2937"/>
                </a:solidFill>
                <a:latin typeface="Arial"/>
                <a:ea typeface="Arial"/>
                <a:cs typeface="Arial"/>
              </a:rPr>
              <a:t>Fig. 1. End-to-end CAABC-FL architecture with privacy, encrypted transport, verification, governance, and audit layers.</a:t>
            </a:r>
          </a:p>
        </p:txBody>
      </p:sp>
      <p:sp>
        <p:nvSpPr>
          <p:cNvPr id="225" name="visible-footer-date-14">
            <a:extLst xmlns:a="http://schemas.openxmlformats.org/drawingml/2006/main">
              <a:ext uri="{FF2B5EF4-FFF2-40B4-BE49-F238E27FC236}">
                <a16:creationId xmlns:a16="http://schemas.microsoft.com/office/drawing/2014/main" id="{814A7836-9876-42DA-930B-6EA53E85DC10}"/>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446828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Problem Formulation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16</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1b8b0f567a54df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e0b8bd34c96d42b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Learning objective</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F(w) = Σₖ (nₖ/N)Fₖ(w)</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Fₖ(w) = (1/nₖ)Σᵢ ℓ(w; xᵢ, yᵢ)</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Protected local update</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ḡₖᵗ = gₖᵗ / max(1, ||gₖᵗ||₂/C)</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uₖᵗ = Qₛₜ(ḡₖᵗ + zₖᵗ + eₖᵗ)</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Encrypted aggregation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cₜ = ⊕ₖ∈Aₜ Encₚₖ(uₖᵗ)</a:t>
            </a:r>
          </a:p>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wₜ₊₁ = wₜ − ηₜ Decₜ(cₜ)/|Aₜ|</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Design constraints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Minimize final loss and serialized bytes subject to record-level DP, verified aggregation, threshold-authorized release, and auditable execution.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0B393FC-42F7-D7BB-5BEF-646BBB8320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Design</a:t>
            </a:r>
            <a:endParaRPr/>
          </a:p>
        </p:txBody>
      </p:sp>
      <p:sp>
        <p:nvSpPr>
          <p:cNvPr id="212" name="Google Shape;212;p28">
            <a:extLst xmlns:a="http://schemas.openxmlformats.org/drawingml/2006/main">
              <a:ext uri="{FF2B5EF4-FFF2-40B4-BE49-F238E27FC236}">
                <a16:creationId xmlns:a16="http://schemas.microsoft.com/office/drawing/2014/main" id="{F0F25C4D-A462-7DA7-C209-CF24A66829D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474c1d6337fa4d6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bbc129881ad449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AB162E3B-8DFF-696B-E379-B77DF5DD1E54}"/>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FF335FC-219B-D214-8F49-6CB76510354D}"/>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esign-step-1">
            <a:extLst xmlns:a="http://schemas.openxmlformats.org/drawingml/2006/main">
              <a:ext uri="{FF2B5EF4-FFF2-40B4-BE49-F238E27FC236}">
                <a16:creationId xmlns:a16="http://schemas.microsoft.com/office/drawing/2014/main" id="{8B47488A-154B-4C19-9728-8035407A57B6}"/>
              </a:ext>
            </a:extLst>
          </p:cNvPr>
          <p:cNvSpPr>
            <a:spLocks xmlns:a="http://schemas.openxmlformats.org/drawingml/2006/main" noGrp="1"/>
          </p:cNvSpPr>
          <p:nvPr/>
        </p:nvSpPr>
        <p:spPr>
          <a:xfrm xmlns:a="http://schemas.openxmlformats.org/drawingml/2006/main">
            <a:off x="61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PhysioNet 2019</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40,336 patients</a:t>
            </a:r>
          </a:p>
        </p:txBody>
      </p:sp>
      <p:sp>
        <p:nvSpPr>
          <p:cNvPr id="221" name="rule-230-302">
            <a:extLst xmlns:a="http://schemas.openxmlformats.org/drawingml/2006/main">
              <a:ext uri="{FF2B5EF4-FFF2-40B4-BE49-F238E27FC236}">
                <a16:creationId xmlns:a16="http://schemas.microsoft.com/office/drawing/2014/main" id="{3E29BB4F-BB59-440E-8972-FAFBC3519283}"/>
              </a:ext>
            </a:extLst>
          </p:cNvPr>
          <p:cNvSpPr>
            <a:spLocks xmlns:a="http://schemas.openxmlformats.org/drawingml/2006/main" noGrp="1"/>
          </p:cNvSpPr>
          <p:nvPr/>
        </p:nvSpPr>
        <p:spPr>
          <a:xfrm xmlns:a="http://schemas.openxmlformats.org/drawingml/2006/main">
            <a:off x="219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design-step-2">
            <a:extLst xmlns:a="http://schemas.openxmlformats.org/drawingml/2006/main">
              <a:ext uri="{FF2B5EF4-FFF2-40B4-BE49-F238E27FC236}">
                <a16:creationId xmlns:a16="http://schemas.microsoft.com/office/drawing/2014/main" id="{84C8675A-03B7-4272-8D88-E7B5FC535C39}"/>
              </a:ext>
            </a:extLst>
          </p:cNvPr>
          <p:cNvSpPr>
            <a:spLocks xmlns:a="http://schemas.openxmlformats.org/drawingml/2006/main" noGrp="1"/>
          </p:cNvSpPr>
          <p:nvPr/>
        </p:nvSpPr>
        <p:spPr>
          <a:xfrm xmlns:a="http://schemas.openxmlformats.org/drawingml/2006/main">
            <a:off x="252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Natural split</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Hospital A and B</a:t>
            </a:r>
          </a:p>
        </p:txBody>
      </p:sp>
      <p:sp>
        <p:nvSpPr>
          <p:cNvPr id="223" name="rule-430-302">
            <a:extLst xmlns:a="http://schemas.openxmlformats.org/drawingml/2006/main">
              <a:ext uri="{FF2B5EF4-FFF2-40B4-BE49-F238E27FC236}">
                <a16:creationId xmlns:a16="http://schemas.microsoft.com/office/drawing/2014/main" id="{CE82DF3B-F7C1-4C56-905B-554E1A1B8C97}"/>
              </a:ext>
            </a:extLst>
          </p:cNvPr>
          <p:cNvSpPr>
            <a:spLocks xmlns:a="http://schemas.openxmlformats.org/drawingml/2006/main" noGrp="1"/>
          </p:cNvSpPr>
          <p:nvPr/>
        </p:nvSpPr>
        <p:spPr>
          <a:xfrm xmlns:a="http://schemas.openxmlformats.org/drawingml/2006/main">
            <a:off x="409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4" name="design-step-3">
            <a:extLst xmlns:a="http://schemas.openxmlformats.org/drawingml/2006/main">
              <a:ext uri="{FF2B5EF4-FFF2-40B4-BE49-F238E27FC236}">
                <a16:creationId xmlns:a16="http://schemas.microsoft.com/office/drawing/2014/main" id="{2DA4CED2-59B1-4E4B-B407-41898578097A}"/>
              </a:ext>
            </a:extLst>
          </p:cNvPr>
          <p:cNvSpPr>
            <a:spLocks xmlns:a="http://schemas.openxmlformats.org/drawingml/2006/main" noGrp="1"/>
          </p:cNvSpPr>
          <p:nvPr/>
        </p:nvSpPr>
        <p:spPr>
          <a:xfrm xmlns:a="http://schemas.openxmlformats.org/drawingml/2006/main">
            <a:off x="442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Five paired seeds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Frozen protocol</a:t>
            </a:r>
          </a:p>
        </p:txBody>
      </p:sp>
      <p:sp>
        <p:nvSpPr>
          <p:cNvPr id="225" name="rule-630-302">
            <a:extLst xmlns:a="http://schemas.openxmlformats.org/drawingml/2006/main">
              <a:ext uri="{FF2B5EF4-FFF2-40B4-BE49-F238E27FC236}">
                <a16:creationId xmlns:a16="http://schemas.microsoft.com/office/drawing/2014/main" id="{9DE0EBB8-AA62-4581-BD02-9DE6FF5C4994}"/>
              </a:ext>
            </a:extLst>
          </p:cNvPr>
          <p:cNvSpPr>
            <a:spLocks xmlns:a="http://schemas.openxmlformats.org/drawingml/2006/main" noGrp="1"/>
          </p:cNvSpPr>
          <p:nvPr/>
        </p:nvSpPr>
        <p:spPr>
          <a:xfrm xmlns:a="http://schemas.openxmlformats.org/drawingml/2006/main">
            <a:off x="600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6" name="design-step-4">
            <a:extLst xmlns:a="http://schemas.openxmlformats.org/drawingml/2006/main">
              <a:ext uri="{FF2B5EF4-FFF2-40B4-BE49-F238E27FC236}">
                <a16:creationId xmlns:a16="http://schemas.microsoft.com/office/drawing/2014/main" id="{6C501C09-CAC3-4E5E-B35C-8FE6F90B0D4E}"/>
              </a:ext>
            </a:extLst>
          </p:cNvPr>
          <p:cNvSpPr>
            <a:spLocks xmlns:a="http://schemas.openxmlformats.org/drawingml/2006/main" noGrp="1"/>
          </p:cNvSpPr>
          <p:nvPr/>
        </p:nvSpPr>
        <p:spPr>
          <a:xfrm xmlns:a="http://schemas.openxmlformats.org/drawingml/2006/main">
            <a:off x="633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Baselines and</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CAABC-FL</a:t>
            </a:r>
          </a:p>
        </p:txBody>
      </p:sp>
      <p:sp>
        <p:nvSpPr>
          <p:cNvPr id="227" name="rule-830-302">
            <a:extLst xmlns:a="http://schemas.openxmlformats.org/drawingml/2006/main">
              <a:ext uri="{FF2B5EF4-FFF2-40B4-BE49-F238E27FC236}">
                <a16:creationId xmlns:a16="http://schemas.microsoft.com/office/drawing/2014/main" id="{56AE0268-473C-4919-9E91-78D2E8B3CA68}"/>
              </a:ext>
            </a:extLst>
          </p:cNvPr>
          <p:cNvSpPr>
            <a:spLocks xmlns:a="http://schemas.openxmlformats.org/drawingml/2006/main" noGrp="1"/>
          </p:cNvSpPr>
          <p:nvPr/>
        </p:nvSpPr>
        <p:spPr>
          <a:xfrm xmlns:a="http://schemas.openxmlformats.org/drawingml/2006/main">
            <a:off x="7905750" y="2876550"/>
            <a:ext cx="333375" cy="38100"/>
          </a:xfrm>
          <a:prstGeom xmlns:a="http://schemas.openxmlformats.org/drawingml/2006/main" prst="rect">
            <a:avLst/>
          </a:prstGeom>
          <a:solidFill xmlns:a="http://schemas.openxmlformats.org/drawingml/2006/main">
            <a:srgbClr val="17365D"/>
          </a:solidFill>
          <a:ln xmlns:a="http://schemas.openxmlformats.org/drawingml/2006/main" w="0">
            <a:noFill/>
          </a:ln>
        </p:spPr>
      </p:sp>
      <p:sp>
        <p:nvSpPr>
          <p:cNvPr id="228" name="design-step-5">
            <a:extLst xmlns:a="http://schemas.openxmlformats.org/drawingml/2006/main">
              <a:ext uri="{FF2B5EF4-FFF2-40B4-BE49-F238E27FC236}">
                <a16:creationId xmlns:a16="http://schemas.microsoft.com/office/drawing/2014/main" id="{3478D8CC-727A-4AF4-9774-3ED0CDC2523B}"/>
              </a:ext>
            </a:extLst>
          </p:cNvPr>
          <p:cNvSpPr>
            <a:spLocks xmlns:a="http://schemas.openxmlformats.org/drawingml/2006/main" noGrp="1"/>
          </p:cNvSpPr>
          <p:nvPr/>
        </p:nvSpPr>
        <p:spPr>
          <a:xfrm xmlns:a="http://schemas.openxmlformats.org/drawingml/2006/main">
            <a:off x="8239125" y="2333625"/>
            <a:ext cx="1571625" cy="1143000"/>
          </a:xfrm>
          <a:prstGeom xmlns:a="http://schemas.openxmlformats.org/drawingml/2006/main" prst="roundRect">
            <a:avLst>
              <a:gd name="adj" fmla="val 6667"/>
            </a:avLst>
          </a:prstGeom>
          <a:solidFill xmlns:a="http://schemas.openxmlformats.org/drawingml/2006/main">
            <a:srgbClr val="E8F3EC"/>
          </a:solidFill>
          <a:ln xmlns:a="http://schemas.openxmlformats.org/drawingml/2006/main" w="19050">
            <a:solidFill>
              <a:srgbClr val="00843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Utility, attacks,</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wire and systems</a:t>
            </a:r>
          </a:p>
        </p:txBody>
      </p:sp>
      <p:sp>
        <p:nvSpPr>
          <p:cNvPr id="229" name="rule-1030-302">
            <a:extLst xmlns:a="http://schemas.openxmlformats.org/drawingml/2006/main">
              <a:ext uri="{FF2B5EF4-FFF2-40B4-BE49-F238E27FC236}">
                <a16:creationId xmlns:a16="http://schemas.microsoft.com/office/drawing/2014/main" id="{806F1D3C-48E0-4725-B9C8-6F200AAEEADE}"/>
              </a:ext>
            </a:extLst>
          </p:cNvPr>
          <p:cNvSpPr>
            <a:spLocks xmlns:a="http://schemas.openxmlformats.org/drawingml/2006/main" noGrp="1"/>
          </p:cNvSpPr>
          <p:nvPr/>
        </p:nvSpPr>
        <p:spPr>
          <a:xfrm xmlns:a="http://schemas.openxmlformats.org/drawingml/2006/main">
            <a:off x="9810750" y="2876550"/>
            <a:ext cx="333375" cy="381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30" name="design-step-6">
            <a:extLst xmlns:a="http://schemas.openxmlformats.org/drawingml/2006/main">
              <a:ext uri="{FF2B5EF4-FFF2-40B4-BE49-F238E27FC236}">
                <a16:creationId xmlns:a16="http://schemas.microsoft.com/office/drawing/2014/main" id="{D8B96DD7-3444-487E-850F-33106000B96A}"/>
              </a:ext>
            </a:extLst>
          </p:cNvPr>
          <p:cNvSpPr>
            <a:spLocks xmlns:a="http://schemas.openxmlformats.org/drawingml/2006/main" noGrp="1"/>
          </p:cNvSpPr>
          <p:nvPr/>
        </p:nvSpPr>
        <p:spPr>
          <a:xfrm xmlns:a="http://schemas.openxmlformats.org/drawingml/2006/main">
            <a:off x="10144125" y="2333625"/>
            <a:ext cx="1571625" cy="1143000"/>
          </a:xfrm>
          <a:prstGeom xmlns:a="http://schemas.openxmlformats.org/drawingml/2006/main" prst="roundRect">
            <a:avLst>
              <a:gd name="adj" fmla="val 6667"/>
            </a:avLst>
          </a:prstGeom>
          <a:solidFill xmlns:a="http://schemas.openxmlformats.org/drawingml/2006/main">
            <a:srgbClr val="EAF2F8"/>
          </a:solidFill>
          <a:ln xmlns:a="http://schemas.openxmlformats.org/drawingml/2006/main" w="19050">
            <a:solidFill>
              <a:srgbClr val="17365D"/>
            </a:solidFill>
            <a:prstDash val="solid"/>
          </a:ln>
        </p:spPr>
        <p:txBody>
          <a:bodyPr xmlns:a="http://schemas.openxmlformats.org/drawingml/2006/main" anchor="ctr">
            <a:normAutofit fontScale="100000"/>
          </a:bodyPr>
          <a:lstStyle xmlns:a="http://schemas.openxmlformats.org/drawingml/2006/main"/>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Paired inference</a:t>
            </a:r>
          </a:p>
          <a:p xmlns:a="http://schemas.openxmlformats.org/drawingml/2006/main">
            <a:pPr algn="ctr">
              <a:buNone/>
              <a:defRPr sz="1650" b="1">
                <a:solidFill>
                  <a:srgbClr val="17365D"/>
                </a:solidFill>
                <a:latin typeface="Arial"/>
                <a:ea typeface="Arial"/>
                <a:cs typeface="Arial"/>
              </a:defRPr>
            </a:pPr>
            <a:r>
              <a:rPr sz="1650" b="1">
                <a:solidFill>
                  <a:srgbClr val="17365D"/>
                </a:solidFill>
                <a:latin typeface="Arial"/>
                <a:ea typeface="Arial"/>
                <a:cs typeface="Arial"/>
              </a:rPr>
              <a:t>and claim boundary</a:t>
            </a:r>
          </a:p>
        </p:txBody>
      </p:sp>
      <p:sp>
        <p:nvSpPr>
          <p:cNvPr id="231" name="design-bullets">
            <a:extLst xmlns:a="http://schemas.openxmlformats.org/drawingml/2006/main">
              <a:ext uri="{FF2B5EF4-FFF2-40B4-BE49-F238E27FC236}">
                <a16:creationId xmlns:a16="http://schemas.microsoft.com/office/drawing/2014/main" id="{87C7EF95-D8FE-4386-BABD-F9B7504F2A1E}"/>
              </a:ext>
            </a:extLst>
          </p:cNvPr>
          <p:cNvSpPr>
            <a:spLocks xmlns:a="http://schemas.openxmlformats.org/drawingml/2006/main" noGrp="1"/>
          </p:cNvSpPr>
          <p:nvPr/>
        </p:nvSpPr>
        <p:spPr>
          <a:xfrm xmlns:a="http://schemas.openxmlformats.org/drawingml/2006/main">
            <a:off x="1428750" y="3952875"/>
            <a:ext cx="9334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Cross-silo client-server experiment with a naturally partitioned healthcare cohort.</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Same model, privacy budget, CKKS context, round budget, and evaluation split across compared methods.</a:t>
            </a:r>
          </a:p>
          <a:p xmlns:a="http://schemas.openxmlformats.org/drawingml/2006/main">
            <a:pPr marL="254000" indent="-127000">
              <a:spcAft>
                <a:spcPts val="700"/>
              </a:spcAft>
              <a:buChar char="•"/>
              <a:defRPr sz="1800">
                <a:solidFill>
                  <a:srgbClr val="1F2937"/>
                </a:solidFill>
                <a:latin typeface="Arial"/>
                <a:ea typeface="Arial"/>
                <a:cs typeface="Arial"/>
              </a:defRPr>
            </a:pPr>
            <a:r>
              <a:rPr sz="1800">
                <a:solidFill>
                  <a:srgbClr val="1F2937"/>
                </a:solidFill>
                <a:latin typeface="Arial"/>
                <a:ea typeface="Arial"/>
                <a:cs typeface="Arial"/>
              </a:rPr>
              <a:t>Claims restricted to the evaluated data, attacks, deployment, and trust assumptions.</a:t>
            </a:r>
          </a:p>
        </p:txBody>
      </p:sp>
      <p:sp>
        <p:nvSpPr>
          <p:cNvPr id="234" name="visible-footer-date-15">
            <a:extLst xmlns:a="http://schemas.openxmlformats.org/drawingml/2006/main">
              <a:ext uri="{FF2B5EF4-FFF2-40B4-BE49-F238E27FC236}">
                <a16:creationId xmlns:a16="http://schemas.microsoft.com/office/drawing/2014/main" id="{A61205BE-2644-47EC-8F1A-C75D6617A9F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251748902"/>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2A1079EE-366E-379B-6617-A562F928AC23}"/>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Collection Methods</a:t>
            </a:r>
            <a:endParaRPr/>
          </a:p>
        </p:txBody>
      </p:sp>
      <p:sp>
        <p:nvSpPr>
          <p:cNvPr id="212" name="Google Shape;212;p28">
            <a:extLst xmlns:a="http://schemas.openxmlformats.org/drawingml/2006/main">
              <a:ext uri="{FF2B5EF4-FFF2-40B4-BE49-F238E27FC236}">
                <a16:creationId xmlns:a16="http://schemas.microsoft.com/office/drawing/2014/main" id="{8569B78E-82D5-1F00-FFF4-A1F4DD38C16B}"/>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18</a:t>
            </a:r>
            <a:endParaRPr sz="2800"/>
          </a:p>
        </p:txBody>
      </p:sp>
      <p:pic>
        <p:nvPicPr>
          <p:cNvPr id="232"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d881a86a95a4dc8">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3"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428c25838798451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FC08CC14-CDF6-806A-B93A-0FA7436F423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4499EB51-E4C9-FA4D-EE6B-97CAA41AFCB0}"/>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dataset-number">
            <a:extLst xmlns:a="http://schemas.openxmlformats.org/drawingml/2006/main">
              <a:ext uri="{FF2B5EF4-FFF2-40B4-BE49-F238E27FC236}">
                <a16:creationId xmlns:a16="http://schemas.microsoft.com/office/drawing/2014/main" id="{5EAA8510-E034-4D48-B664-788A309791E6}"/>
              </a:ext>
            </a:extLst>
          </p:cNvPr>
          <p:cNvSpPr>
            <a:spLocks xmlns:a="http://schemas.openxmlformats.org/drawingml/2006/main" noGrp="1"/>
          </p:cNvSpPr>
          <p:nvPr/>
        </p:nvSpPr>
        <p:spPr>
          <a:xfrm xmlns:a="http://schemas.openxmlformats.org/drawingml/2006/main">
            <a:off x="857250" y="15240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650" b="1" i="0">
                <a:solidFill>
                  <a:srgbClr val="00843D"/>
                </a:solidFill>
                <a:latin typeface="Arial"/>
                <a:ea typeface="Arial"/>
                <a:cs typeface="Arial"/>
              </a:defRPr>
            </a:pPr>
            <a:r>
              <a:rPr sz="4650" b="1" i="0">
                <a:solidFill>
                  <a:srgbClr val="00843D"/>
                </a:solidFill>
                <a:latin typeface="Arial"/>
                <a:ea typeface="Arial"/>
                <a:cs typeface="Arial"/>
              </a:rPr>
              <a:t>40,336</a:t>
            </a:r>
          </a:p>
        </p:txBody>
      </p:sp>
      <p:sp>
        <p:nvSpPr>
          <p:cNvPr id="221" name="dataset-label">
            <a:extLst xmlns:a="http://schemas.openxmlformats.org/drawingml/2006/main">
              <a:ext uri="{FF2B5EF4-FFF2-40B4-BE49-F238E27FC236}">
                <a16:creationId xmlns:a16="http://schemas.microsoft.com/office/drawing/2014/main" id="{68F1A882-762B-4DE6-92F9-57C0EFB3AE60}"/>
              </a:ext>
            </a:extLst>
          </p:cNvPr>
          <p:cNvSpPr>
            <a:spLocks xmlns:a="http://schemas.openxmlformats.org/drawingml/2006/main" noGrp="1"/>
          </p:cNvSpPr>
          <p:nvPr/>
        </p:nvSpPr>
        <p:spPr>
          <a:xfrm xmlns:a="http://schemas.openxmlformats.org/drawingml/2006/main">
            <a:off x="857250" y="2476500"/>
            <a:ext cx="333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875" b="1" i="0">
                <a:solidFill>
                  <a:srgbClr val="17365D"/>
                </a:solidFill>
                <a:latin typeface="Arial"/>
                <a:ea typeface="Arial"/>
                <a:cs typeface="Arial"/>
              </a:defRPr>
            </a:pPr>
            <a:r>
              <a:rPr sz="1875" b="1" i="0">
                <a:solidFill>
                  <a:srgbClr val="17365D"/>
                </a:solidFill>
                <a:latin typeface="Arial"/>
                <a:ea typeface="Arial"/>
                <a:cs typeface="Arial"/>
              </a:rPr>
              <a:t>patient records in the PhysioNet 2019 sepsis cohort</a:t>
            </a:r>
          </a:p>
        </p:txBody>
      </p:sp>
      <p:sp>
        <p:nvSpPr>
          <p:cNvPr id="222" name="rule-475-150">
            <a:extLst xmlns:a="http://schemas.openxmlformats.org/drawingml/2006/main">
              <a:ext uri="{FF2B5EF4-FFF2-40B4-BE49-F238E27FC236}">
                <a16:creationId xmlns:a16="http://schemas.microsoft.com/office/drawing/2014/main" id="{BE5BC648-CA59-4609-88EA-F682A6F3B7FD}"/>
              </a:ext>
            </a:extLst>
          </p:cNvPr>
          <p:cNvSpPr>
            <a:spLocks xmlns:a="http://schemas.openxmlformats.org/drawingml/2006/main" noGrp="1"/>
          </p:cNvSpPr>
          <p:nvPr/>
        </p:nvSpPr>
        <p:spPr>
          <a:xfrm xmlns:a="http://schemas.openxmlformats.org/drawingml/2006/main">
            <a:off x="4524375" y="1428750"/>
            <a:ext cx="28575" cy="4000500"/>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3" name="collection-bullets">
            <a:extLst xmlns:a="http://schemas.openxmlformats.org/drawingml/2006/main">
              <a:ext uri="{FF2B5EF4-FFF2-40B4-BE49-F238E27FC236}">
                <a16:creationId xmlns:a16="http://schemas.microsoft.com/office/drawing/2014/main" id="{CBAD06CC-1B5F-413F-9972-4F496E0E3893}"/>
              </a:ext>
            </a:extLst>
          </p:cNvPr>
          <p:cNvSpPr>
            <a:spLocks xmlns:a="http://schemas.openxmlformats.org/drawingml/2006/main" noGrp="1"/>
          </p:cNvSpPr>
          <p:nvPr/>
        </p:nvSpPr>
        <p:spPr>
          <a:xfrm xmlns:a="http://schemas.openxmlformats.org/drawingml/2006/main">
            <a:off x="5048250" y="1476375"/>
            <a:ext cx="619125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Open retrospective critical-care data released for the PhysioNet/Computing in Cardiology Challenge [19].</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Two natural source partitions retained as Hospital A and Hospital B rather than randomly mixing institutions.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Patient records remain local during the simulated cross-silo training process.</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Consent and governance assumptions follow the public dataset terms. The study does not involve prospective patient recruitment.</a:t>
            </a:r>
          </a:p>
        </p:txBody>
      </p:sp>
      <p:sp>
        <p:nvSpPr>
          <p:cNvPr id="224" name="collection-source">
            <a:extLst xmlns:a="http://schemas.openxmlformats.org/drawingml/2006/main">
              <a:ext uri="{FF2B5EF4-FFF2-40B4-BE49-F238E27FC236}">
                <a16:creationId xmlns:a16="http://schemas.microsoft.com/office/drawing/2014/main" id="{167C21B0-EB7E-4D39-9DFF-3ECA0A072CE1}"/>
              </a:ext>
            </a:extLst>
          </p:cNvPr>
          <p:cNvSpPr>
            <a:spLocks xmlns:a="http://schemas.openxmlformats.org/drawingml/2006/main" noGrp="1"/>
          </p:cNvSpPr>
          <p:nvPr/>
        </p:nvSpPr>
        <p:spPr>
          <a:xfrm xmlns:a="http://schemas.openxmlformats.org/drawingml/2006/main">
            <a:off x="5048250"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1">
                <a:solidFill>
                  <a:srgbClr val="5B6573"/>
                </a:solidFill>
                <a:latin typeface="Arial"/>
                <a:ea typeface="Arial"/>
                <a:cs typeface="Arial"/>
              </a:defRPr>
            </a:pPr>
            <a:r>
              <a:rPr sz="1350" b="0" i="1">
                <a:solidFill>
                  <a:srgbClr val="5B6573"/>
                </a:solidFill>
                <a:latin typeface="Arial"/>
                <a:ea typeface="Arial"/>
                <a:cs typeface="Arial"/>
              </a:rPr>
              <a:t>Source: Reyna et al., Critical Care Medicine, 2020 [19].</a:t>
            </a:r>
          </a:p>
        </p:txBody>
      </p:sp>
      <p:sp>
        <p:nvSpPr>
          <p:cNvPr id="227" name="visible-footer-date-16">
            <a:extLst xmlns:a="http://schemas.openxmlformats.org/drawingml/2006/main">
              <a:ext uri="{FF2B5EF4-FFF2-40B4-BE49-F238E27FC236}">
                <a16:creationId xmlns:a16="http://schemas.microsoft.com/office/drawing/2014/main" id="{07201868-099B-4C0E-959D-74FC956B67D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244198176"/>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Data Analysis Methods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19</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195c789e16d401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3cf233b73da1438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Utility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Accuracy, precision, recall, F1, AUROC, AUPRC, balanced accuracy, MCC, and Brier score.</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Privacy</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LiRA and RMIA membership inference with eight reference models per seed. A 300-step gradient reconstruction attack.</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Poisoning</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Seven one-round attacks at 40% malicious clients and two longitudinal attack settings.</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Systems and statistics</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Serialized CKKS bytes, latency, cryptographic correctness, five paired seeds, 95% t intervals, and Holm correction.</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Budget Plan</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20</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56f1709c069463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52db6f300a1343c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No major project cost was required</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IV. Resources used for the thesis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Resource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Provision</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Direct project cost</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PhysioNet 2019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Public research dataset</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Python, PyTorch, TenSEAL, OpenFHE</a:t>
                      </a:r>
                    </a:p>
                  </a:txBody>
                  <a:tcPr marL="66675" marR="66675" marT="47625" marB="47625" anchor="ctr">
                    <a:solidFill>
                      <a:srgbClr val="FFFFFF"/>
                    </a:solidFill>
                  </a:tcPr>
                </a:tc>
                <a:tc>
                  <a:txBody>
                    <a:bodyPr/>
                    <a:lstStyle/>
                    <a:p>
                      <a:r>
                        <a:rPr sz="1350">
                          <a:solidFill>
                            <a:srgbClr val="1F2937"/>
                          </a:solidFill>
                          <a:latin typeface="Arial"/>
                          <a:ea typeface="Arial"/>
                          <a:cs typeface="Arial"/>
                        </a:rPr>
                        <a:t>Open-source software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licence fee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Development hardware</a:t>
                      </a:r>
                    </a:p>
                  </a:txBody>
                  <a:tcPr marL="66675" marR="66675" marT="47625" marB="47625" anchor="ctr">
                    <a:solidFill>
                      <a:srgbClr val="FFFFFF"/>
                    </a:solidFill>
                  </a:tcPr>
                </a:tc>
                <a:tc>
                  <a:txBody>
                    <a:bodyPr/>
                    <a:lstStyle/>
                    <a:p>
                      <a:r>
                        <a:rPr sz="1350">
                          <a:solidFill>
                            <a:srgbClr val="1F2937"/>
                          </a:solidFill>
                          <a:latin typeface="Arial"/>
                          <a:ea typeface="Arial"/>
                          <a:cs typeface="Arial"/>
                        </a:rPr>
                        <a:t>Existing personal computer</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new purchase</a:t>
                      </a:r>
                    </a:p>
                  </a:txBody>
                  <a:tcPr marL="66675" marR="66675" marT="47625" marB="47625" anchor="ctr">
                    <a:solidFill>
                      <a:srgbClr val="FFFFFF"/>
                    </a:solidFill>
                  </a:tcPr>
                </a:tc>
              </a:tr>
              <a:tr h="628650">
                <a:tc>
                  <a:txBody>
                    <a:bodyPr/>
                    <a:lstStyle/>
                    <a:p>
                      <a:r>
                        <a:rPr sz="1350">
                          <a:solidFill>
                            <a:srgbClr val="1F2937"/>
                          </a:solidFill>
                          <a:latin typeface="Arial"/>
                          <a:ea typeface="Arial"/>
                          <a:cs typeface="Arial"/>
                        </a:rPr>
                        <a:t>Documentation and collaboration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University and existing services</a:t>
                      </a:r>
                    </a:p>
                  </a:txBody>
                  <a:tcPr marL="66675" marR="66675" marT="47625" marB="47625" anchor="ctr">
                    <a:solidFill>
                      <a:srgbClr val="FFFFFF"/>
                    </a:solidFill>
                  </a:tcPr>
                </a:tc>
                <a:tc>
                  <a:txBody>
                    <a:bodyPr/>
                    <a:lstStyle/>
                    <a:p>
                      <a:r>
                        <a:rPr sz="1350">
                          <a:solidFill>
                            <a:srgbClr val="1F2937"/>
                          </a:solidFill>
                          <a:latin typeface="Arial"/>
                          <a:ea typeface="Arial"/>
                          <a:cs typeface="Arial"/>
                        </a:rPr>
                        <a:t>No major additional cost</a:t>
                      </a:r>
                    </a:p>
                  </a:txBody>
                  <a:tcPr marL="66675" marR="66675" marT="47625" marB="47625" anchor="ctr">
                    <a:solidFill>
                      <a:srgbClr val="FFFFFF"/>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Optional cloud hardware and production deployment were outside the funded scope.</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527" name="Google Shape;484;p49"/>
          <p:cNvPicPr>
            <a:picLocks xmlns:a="http://schemas.openxmlformats.org/drawingml/2006/main" noChangeAspect="1"/>
          </p:cNvPicPr>
          <p:nvPr/>
        </p:nvPicPr>
        <p:blipFill rotWithShape="1">
          <a:blip xmlns:r="http://schemas.openxmlformats.org/officeDocument/2006/relationships" xmlns:a="http://schemas.openxmlformats.org/drawingml/2006/main" r:embed="R4d6d95462fd8454a">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28" name="Google Shape;485;p49"/>
          <p:cNvPicPr>
            <a:picLocks xmlns:a="http://schemas.openxmlformats.org/drawingml/2006/main" noChangeAspect="1"/>
          </p:cNvPicPr>
          <p:nvPr/>
        </p:nvPicPr>
        <p:blipFill rotWithShape="1">
          <a:blip xmlns:r="http://schemas.openxmlformats.org/officeDocument/2006/relationships" xmlns:a="http://schemas.openxmlformats.org/drawingml/2006/main" r:embed="Rdef811d82cfc4b3b">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29" name="Google Shape;486;p49"/>
          <p:cNvPicPr>
            <a:picLocks xmlns:a="http://schemas.openxmlformats.org/drawingml/2006/main" noChangeAspect="1"/>
          </p:cNvPicPr>
          <p:nvPr/>
        </p:nvPicPr>
        <p:blipFill rotWithShape="1">
          <a:blip xmlns:r="http://schemas.openxmlformats.org/officeDocument/2006/relationships" xmlns:a="http://schemas.openxmlformats.org/drawingml/2006/main" r:embed="R85f8e23514e8488f">
            <a:alphaModFix/>
          </a:blip>
          <a:srcRect xmlns:a="http://schemas.openxmlformats.org/drawingml/2006/main" l="1182" t="2324" r="3424" b="0"/>
          <a:stretch xmlns:a="http://schemas.openxmlformats.org/drawingml/2006/main"/>
        </p:blipFill>
        <p:spPr>
          <a:xfrm xmlns:a="http://schemas.openxmlformats.org/drawingml/2006/main">
            <a:off x="2210143" y="374895"/>
            <a:ext cx="7565367" cy="5537780"/>
          </a:xfrm>
          <a:prstGeom xmlns:a="http://schemas.openxmlformats.org/drawingml/2006/main" prst="rect">
            <a:avLst/>
          </a:prstGeom>
          <a:ln xmlns:a="http://schemas.openxmlformats.org/drawingml/2006/main">
            <a:noFill/>
          </a:ln>
        </p:spPr>
      </p:pic>
      <p:sp>
        <p:nvSpPr>
          <p:cNvPr id="487" name="Google Shape;487;p49">
            <a:extLst xmlns:a="http://schemas.openxmlformats.org/drawingml/2006/main">
              <a:ext uri="{FF2B5EF4-FFF2-40B4-BE49-F238E27FC236}">
                <a16:creationId xmlns:a16="http://schemas.microsoft.com/office/drawing/2014/main" id="{78E1052A-C591-416F-86AE-AD46DA65D61B}"/>
              </a:ext>
            </a:extLst>
          </p:cNvPr>
          <p:cNvSpPr>
            <a:spLocks xmlns:a="http://schemas.openxmlformats.org/drawingml/2006/main" noGrp="1"/>
          </p:cNvSpPr>
          <p:nvPr>
            <p:ph type="title" idx="0"/>
          </p:nvPr>
        </p:nvSpPr>
        <p:spPr>
          <a:xfrm xmlns:a="http://schemas.openxmlformats.org/drawingml/2006/main">
            <a:off x="3308410" y="4417569"/>
            <a:ext cx="5865900" cy="79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lvl="0" algn="ctr">
              <a:buSzPts val="4000"/>
              <a:buNone/>
            </a:pPr>
            <a:r>
              <a:rPr sz="4000">
                <a:latin typeface="Arial"/>
                <a:ea typeface="Arial"/>
                <a:cs typeface="Arial"/>
              </a:rPr>
              <a:t>Results and Discussion</a:t>
            </a:r>
            <a:endParaRPr/>
          </a:p>
        </p:txBody>
      </p:sp>
      <p:pic>
        <p:nvPicPr>
          <p:cNvPr id="531" name="Google Shape;488;p49"/>
          <p:cNvPicPr>
            <a:picLocks xmlns:a="http://schemas.openxmlformats.org/drawingml/2006/main" noChangeAspect="1"/>
          </p:cNvPicPr>
          <p:nvPr/>
        </p:nvPicPr>
        <p:blipFill rotWithShape="1">
          <a:blip xmlns:r="http://schemas.openxmlformats.org/officeDocument/2006/relationships" xmlns:a="http://schemas.openxmlformats.org/drawingml/2006/main" r:embed="R25d0aee214ba42cb">
            <a:alphaModFix/>
          </a:blip>
          <a:srcRect xmlns:a="http://schemas.openxmlformats.org/drawingml/2006/main" l="0" t="0" r="0" b="0"/>
          <a:stretch xmlns:a="http://schemas.openxmlformats.org/drawingml/2006/main"/>
        </p:blipFill>
        <p:spPr>
          <a:xfrm xmlns:a="http://schemas.openxmlformats.org/drawingml/2006/main">
            <a:off x="4782271" y="1829206"/>
            <a:ext cx="2341861" cy="2341861"/>
          </a:xfrm>
          <a:prstGeom xmlns:a="http://schemas.openxmlformats.org/drawingml/2006/main" prst="rect">
            <a:avLst/>
          </a:prstGeom>
          <a:ln xmlns:a="http://schemas.openxmlformats.org/drawingml/2006/main">
            <a:noFill/>
          </a:ln>
        </p:spPr>
      </p:pic>
      <p:cxnSp>
        <p:nvCxnSpPr>
          <p:cNvPr id="53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491" name="Google Shape;491;p49">
            <a:extLst xmlns:a="http://schemas.openxmlformats.org/drawingml/2006/main">
              <a:ext uri="{FF2B5EF4-FFF2-40B4-BE49-F238E27FC236}">
                <a16:creationId xmlns:a16="http://schemas.microsoft.com/office/drawing/2014/main" id="{386DBC97-F1BF-4EB9-A553-93FA54200B8D}"/>
              </a:ext>
            </a:extLst>
          </p:cNvPr>
          <p:cNvSpPr>
            <a:spLocks xmlns:a="http://schemas.openxmlformats.org/drawingml/2006/main" noGrp="1"/>
          </p:cNvSpPr>
          <p:nvPr>
            <p:ph type="dt" idx="10"/>
          </p:nvPr>
        </p:nvSpPr>
        <p:spPr>
          <a:xfrm xmlns:a="http://schemas.openxmlformats.org/drawingml/2006/main">
            <a:off x="462800" y="6396577"/>
            <a:ext cx="139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 name="Google Shape;216;p28">
            <a:extLst xmlns:a="http://schemas.openxmlformats.org/drawingml/2006/main">
              <a:ext uri="{FF2B5EF4-FFF2-40B4-BE49-F238E27FC236}">
                <a16:creationId xmlns:a16="http://schemas.microsoft.com/office/drawing/2014/main" id="{A60FB40A-D25F-F66E-D3EC-B635D9E753B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3" name="Google Shape;212;p28">
            <a:extLst xmlns:a="http://schemas.openxmlformats.org/drawingml/2006/main">
              <a:ext uri="{FF2B5EF4-FFF2-40B4-BE49-F238E27FC236}">
                <a16:creationId xmlns:a16="http://schemas.microsoft.com/office/drawing/2014/main" id="{F0366C7A-4C73-D4CB-3B84-166111325F0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21</a:t>
            </a:r>
            <a:endParaRPr sz="2800"/>
          </a:p>
        </p:txBody>
      </p:sp>
      <p:sp>
        <p:nvSpPr>
          <p:cNvPr id="506" name="visible-footer-date-19">
            <a:extLst xmlns:a="http://schemas.openxmlformats.org/drawingml/2006/main">
              <a:ext uri="{FF2B5EF4-FFF2-40B4-BE49-F238E27FC236}">
                <a16:creationId xmlns:a16="http://schemas.microsoft.com/office/drawing/2014/main" id="{1AD8E625-EAFD-4388-9F52-DF4218A5D8B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51185477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9749074-61B2-7B23-C5FD-A3C425EE12E5}"/>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Key Findings</a:t>
            </a:r>
            <a:endParaRPr/>
          </a:p>
        </p:txBody>
      </p:sp>
      <p:sp>
        <p:nvSpPr>
          <p:cNvPr id="212" name="Google Shape;212;p28">
            <a:extLst xmlns:a="http://schemas.openxmlformats.org/drawingml/2006/main">
              <a:ext uri="{FF2B5EF4-FFF2-40B4-BE49-F238E27FC236}">
                <a16:creationId xmlns:a16="http://schemas.microsoft.com/office/drawing/2014/main" id="{35C11982-4687-AC0D-8620-6C19505BCB5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22</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6debe639311d45bf">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eb116b89c2d493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E2474A79-A604-DA23-71E4-29A8E265570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D789CD-D6D2-713C-348F-D575DA199AE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metric-value-0">
            <a:extLst xmlns:a="http://schemas.openxmlformats.org/drawingml/2006/main">
              <a:ext uri="{FF2B5EF4-FFF2-40B4-BE49-F238E27FC236}">
                <a16:creationId xmlns:a16="http://schemas.microsoft.com/office/drawing/2014/main" id="{81FCF53F-B390-49AA-B12A-27362E742030}"/>
              </a:ext>
            </a:extLst>
          </p:cNvPr>
          <p:cNvSpPr>
            <a:spLocks xmlns:a="http://schemas.openxmlformats.org/drawingml/2006/main" noGrp="1"/>
          </p:cNvSpPr>
          <p:nvPr/>
        </p:nvSpPr>
        <p:spPr>
          <a:xfrm xmlns:a="http://schemas.openxmlformats.org/drawingml/2006/main">
            <a:off x="57150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0.730</a:t>
            </a:r>
          </a:p>
        </p:txBody>
      </p:sp>
      <p:sp>
        <p:nvSpPr>
          <p:cNvPr id="221" name="metric-label-0">
            <a:extLst xmlns:a="http://schemas.openxmlformats.org/drawingml/2006/main">
              <a:ext uri="{FF2B5EF4-FFF2-40B4-BE49-F238E27FC236}">
                <a16:creationId xmlns:a16="http://schemas.microsoft.com/office/drawing/2014/main" id="{CE4EE827-C2BA-4B8D-8FD7-4CA11C6BAF5F}"/>
              </a:ext>
            </a:extLst>
          </p:cNvPr>
          <p:cNvSpPr>
            <a:spLocks xmlns:a="http://schemas.openxmlformats.org/drawingml/2006/main" noGrp="1"/>
          </p:cNvSpPr>
          <p:nvPr/>
        </p:nvSpPr>
        <p:spPr>
          <a:xfrm xmlns:a="http://schemas.openxmlformats.org/drawingml/2006/main">
            <a:off x="57150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AUROC</a:t>
            </a:r>
          </a:p>
        </p:txBody>
      </p:sp>
      <p:sp>
        <p:nvSpPr>
          <p:cNvPr id="222" name="rule-335-165">
            <a:extLst xmlns:a="http://schemas.openxmlformats.org/drawingml/2006/main">
              <a:ext uri="{FF2B5EF4-FFF2-40B4-BE49-F238E27FC236}">
                <a16:creationId xmlns:a16="http://schemas.microsoft.com/office/drawing/2014/main" id="{C7811AF5-FFCE-40EC-B2B6-0A1CACD2D75A}"/>
              </a:ext>
            </a:extLst>
          </p:cNvPr>
          <p:cNvSpPr>
            <a:spLocks xmlns:a="http://schemas.openxmlformats.org/drawingml/2006/main" noGrp="1"/>
          </p:cNvSpPr>
          <p:nvPr/>
        </p:nvSpPr>
        <p:spPr>
          <a:xfrm xmlns:a="http://schemas.openxmlformats.org/drawingml/2006/main">
            <a:off x="319087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metric-value-1">
            <a:extLst xmlns:a="http://schemas.openxmlformats.org/drawingml/2006/main">
              <a:ext uri="{FF2B5EF4-FFF2-40B4-BE49-F238E27FC236}">
                <a16:creationId xmlns:a16="http://schemas.microsoft.com/office/drawing/2014/main" id="{756F8A59-9ACA-4C1F-AEF2-EE1D91C9555B}"/>
              </a:ext>
            </a:extLst>
          </p:cNvPr>
          <p:cNvSpPr>
            <a:spLocks xmlns:a="http://schemas.openxmlformats.org/drawingml/2006/main" noGrp="1"/>
          </p:cNvSpPr>
          <p:nvPr/>
        </p:nvSpPr>
        <p:spPr>
          <a:xfrm xmlns:a="http://schemas.openxmlformats.org/drawingml/2006/main">
            <a:off x="347662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17365D"/>
                </a:solidFill>
                <a:latin typeface="Arial"/>
                <a:ea typeface="Arial"/>
                <a:cs typeface="Arial"/>
              </a:defRPr>
            </a:pPr>
            <a:r>
              <a:rPr sz="4200" b="1" i="0">
                <a:solidFill>
                  <a:srgbClr val="17365D"/>
                </a:solidFill>
                <a:latin typeface="Arial"/>
                <a:ea typeface="Arial"/>
                <a:cs typeface="Arial"/>
              </a:rPr>
              <a:t>0.384</a:t>
            </a:r>
          </a:p>
        </p:txBody>
      </p:sp>
      <p:sp>
        <p:nvSpPr>
          <p:cNvPr id="224" name="metric-label-1">
            <a:extLst xmlns:a="http://schemas.openxmlformats.org/drawingml/2006/main">
              <a:ext uri="{FF2B5EF4-FFF2-40B4-BE49-F238E27FC236}">
                <a16:creationId xmlns:a16="http://schemas.microsoft.com/office/drawing/2014/main" id="{9127602C-9C01-4A7E-AEEF-62548F94789E}"/>
              </a:ext>
            </a:extLst>
          </p:cNvPr>
          <p:cNvSpPr>
            <a:spLocks xmlns:a="http://schemas.openxmlformats.org/drawingml/2006/main" noGrp="1"/>
          </p:cNvSpPr>
          <p:nvPr/>
        </p:nvSpPr>
        <p:spPr>
          <a:xfrm xmlns:a="http://schemas.openxmlformats.org/drawingml/2006/main">
            <a:off x="347662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Mean test AUPRC</a:t>
            </a:r>
          </a:p>
        </p:txBody>
      </p:sp>
      <p:sp>
        <p:nvSpPr>
          <p:cNvPr id="225" name="rule-640-165">
            <a:extLst xmlns:a="http://schemas.openxmlformats.org/drawingml/2006/main">
              <a:ext uri="{FF2B5EF4-FFF2-40B4-BE49-F238E27FC236}">
                <a16:creationId xmlns:a16="http://schemas.microsoft.com/office/drawing/2014/main" id="{89547A79-1C4C-4AD2-94FF-D3B20425459D}"/>
              </a:ext>
            </a:extLst>
          </p:cNvPr>
          <p:cNvSpPr>
            <a:spLocks xmlns:a="http://schemas.openxmlformats.org/drawingml/2006/main" noGrp="1"/>
          </p:cNvSpPr>
          <p:nvPr/>
        </p:nvSpPr>
        <p:spPr>
          <a:xfrm xmlns:a="http://schemas.openxmlformats.org/drawingml/2006/main">
            <a:off x="6096000"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metric-value-2">
            <a:extLst xmlns:a="http://schemas.openxmlformats.org/drawingml/2006/main">
              <a:ext uri="{FF2B5EF4-FFF2-40B4-BE49-F238E27FC236}">
                <a16:creationId xmlns:a16="http://schemas.microsoft.com/office/drawing/2014/main" id="{DA443CB4-E551-4B2F-92D4-E0C463124B8A}"/>
              </a:ext>
            </a:extLst>
          </p:cNvPr>
          <p:cNvSpPr>
            <a:spLocks xmlns:a="http://schemas.openxmlformats.org/drawingml/2006/main" noGrp="1"/>
          </p:cNvSpPr>
          <p:nvPr/>
        </p:nvSpPr>
        <p:spPr>
          <a:xfrm xmlns:a="http://schemas.openxmlformats.org/drawingml/2006/main">
            <a:off x="6381750"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4200" b="1" i="0">
                <a:solidFill>
                  <a:srgbClr val="00843D"/>
                </a:solidFill>
                <a:latin typeface="Arial"/>
                <a:ea typeface="Arial"/>
                <a:cs typeface="Arial"/>
              </a:defRPr>
            </a:pPr>
            <a:r>
              <a:rPr sz="4200" b="1" i="0">
                <a:solidFill>
                  <a:srgbClr val="00843D"/>
                </a:solidFill>
                <a:latin typeface="Arial"/>
                <a:ea typeface="Arial"/>
                <a:cs typeface="Arial"/>
              </a:rPr>
              <a:t>56.0%</a:t>
            </a:r>
          </a:p>
        </p:txBody>
      </p:sp>
      <p:sp>
        <p:nvSpPr>
          <p:cNvPr id="227" name="metric-label-2">
            <a:extLst xmlns:a="http://schemas.openxmlformats.org/drawingml/2006/main">
              <a:ext uri="{FF2B5EF4-FFF2-40B4-BE49-F238E27FC236}">
                <a16:creationId xmlns:a16="http://schemas.microsoft.com/office/drawing/2014/main" id="{BAF988F8-780C-48FA-A3DC-692446A8A2BD}"/>
              </a:ext>
            </a:extLst>
          </p:cNvPr>
          <p:cNvSpPr>
            <a:spLocks xmlns:a="http://schemas.openxmlformats.org/drawingml/2006/main" noGrp="1"/>
          </p:cNvSpPr>
          <p:nvPr/>
        </p:nvSpPr>
        <p:spPr>
          <a:xfrm xmlns:a="http://schemas.openxmlformats.org/drawingml/2006/main">
            <a:off x="6381750"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Encrypted upload reduction</a:t>
            </a:r>
          </a:p>
        </p:txBody>
      </p:sp>
      <p:sp>
        <p:nvSpPr>
          <p:cNvPr id="228" name="rule-945-165">
            <a:extLst xmlns:a="http://schemas.openxmlformats.org/drawingml/2006/main">
              <a:ext uri="{FF2B5EF4-FFF2-40B4-BE49-F238E27FC236}">
                <a16:creationId xmlns:a16="http://schemas.microsoft.com/office/drawing/2014/main" id="{78C123C2-3991-4E21-8749-EAF3B51C0BC4}"/>
              </a:ext>
            </a:extLst>
          </p:cNvPr>
          <p:cNvSpPr>
            <a:spLocks xmlns:a="http://schemas.openxmlformats.org/drawingml/2006/main" noGrp="1"/>
          </p:cNvSpPr>
          <p:nvPr/>
        </p:nvSpPr>
        <p:spPr>
          <a:xfrm xmlns:a="http://schemas.openxmlformats.org/drawingml/2006/main">
            <a:off x="9001125" y="1571625"/>
            <a:ext cx="19050" cy="19526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metric-value-3">
            <a:extLst xmlns:a="http://schemas.openxmlformats.org/drawingml/2006/main">
              <a:ext uri="{FF2B5EF4-FFF2-40B4-BE49-F238E27FC236}">
                <a16:creationId xmlns:a16="http://schemas.microsoft.com/office/drawing/2014/main" id="{B8BFB624-1091-4870-BBD2-DAEA3E982CDC}"/>
              </a:ext>
            </a:extLst>
          </p:cNvPr>
          <p:cNvSpPr>
            <a:spLocks xmlns:a="http://schemas.openxmlformats.org/drawingml/2006/main" noGrp="1"/>
          </p:cNvSpPr>
          <p:nvPr/>
        </p:nvSpPr>
        <p:spPr>
          <a:xfrm xmlns:a="http://schemas.openxmlformats.org/drawingml/2006/main">
            <a:off x="9286875" y="1666875"/>
            <a:ext cx="2381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3225" b="1" i="0">
                <a:solidFill>
                  <a:srgbClr val="17365D"/>
                </a:solidFill>
                <a:latin typeface="Arial"/>
                <a:ea typeface="Arial"/>
                <a:cs typeface="Arial"/>
              </a:defRPr>
            </a:pPr>
            <a:r>
              <a:rPr sz="3225" b="1" i="0">
                <a:solidFill>
                  <a:srgbClr val="17365D"/>
                </a:solidFill>
                <a:latin typeface="Arial"/>
                <a:ea typeface="Arial"/>
                <a:cs typeface="Arial"/>
              </a:rPr>
              <a:t>0.496-0.507</a:t>
            </a:r>
          </a:p>
        </p:txBody>
      </p:sp>
      <p:sp>
        <p:nvSpPr>
          <p:cNvPr id="230" name="metric-label-3">
            <a:extLst xmlns:a="http://schemas.openxmlformats.org/drawingml/2006/main">
              <a:ext uri="{FF2B5EF4-FFF2-40B4-BE49-F238E27FC236}">
                <a16:creationId xmlns:a16="http://schemas.microsoft.com/office/drawing/2014/main" id="{2C0F81FD-81D4-456F-BF65-6BF085CFE3F5}"/>
              </a:ext>
            </a:extLst>
          </p:cNvPr>
          <p:cNvSpPr>
            <a:spLocks xmlns:a="http://schemas.openxmlformats.org/drawingml/2006/main" noGrp="1"/>
          </p:cNvSpPr>
          <p:nvPr/>
        </p:nvSpPr>
        <p:spPr>
          <a:xfrm xmlns:a="http://schemas.openxmlformats.org/drawingml/2006/main">
            <a:off x="9286875" y="2571750"/>
            <a:ext cx="2381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725" b="1" i="0">
                <a:solidFill>
                  <a:srgbClr val="17365D"/>
                </a:solidFill>
                <a:latin typeface="Arial"/>
                <a:ea typeface="Arial"/>
                <a:cs typeface="Arial"/>
              </a:defRPr>
            </a:pPr>
            <a:r>
              <a:rPr sz="1725" b="1" i="0">
                <a:solidFill>
                  <a:srgbClr val="17365D"/>
                </a:solidFill>
                <a:latin typeface="Arial"/>
                <a:ea typeface="Arial"/>
                <a:cs typeface="Arial"/>
              </a:rPr>
              <a:t>Private-model attack AUC</a:t>
            </a:r>
          </a:p>
        </p:txBody>
      </p:sp>
      <p:sp>
        <p:nvSpPr>
          <p:cNvPr id="231" name="finding-bullets">
            <a:extLst xmlns:a="http://schemas.openxmlformats.org/drawingml/2006/main">
              <a:ext uri="{FF2B5EF4-FFF2-40B4-BE49-F238E27FC236}">
                <a16:creationId xmlns:a16="http://schemas.microsoft.com/office/drawing/2014/main" id="{75FFB60E-1FC8-4EE1-BB1F-4F4B853F2D0E}"/>
              </a:ext>
            </a:extLst>
          </p:cNvPr>
          <p:cNvSpPr>
            <a:spLocks xmlns:a="http://schemas.openxmlformats.org/drawingml/2006/main" noGrp="1"/>
          </p:cNvSpPr>
          <p:nvPr/>
        </p:nvSpPr>
        <p:spPr>
          <a:xfrm xmlns:a="http://schemas.openxmlformats.org/drawingml/2006/main">
            <a:off x="1238250" y="3762375"/>
            <a:ext cx="971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076"/>
          </a:bodyPr>
          <a:lstStyle xmlns:a="http://schemas.openxmlformats.org/drawingml/2006/main"/>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CAABC-FL passed the registered AUROC non-inferiority gate against dense DP-FedAvg-CKKS.</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AUPRC difference was negative, so the evidence does not support universal utility superiority.</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The governance layer contained the tested longitudinal backdoor with 60% rollback and a 0.0293 clean-AUROC cost.</a:t>
            </a:r>
          </a:p>
          <a:p xmlns:a="http://schemas.openxmlformats.org/drawingml/2006/main">
            <a:pPr marL="254000" indent="-127000">
              <a:spcAft>
                <a:spcPts val="700"/>
              </a:spcAft>
              <a:buChar char="•"/>
              <a:defRPr sz="1725">
                <a:solidFill>
                  <a:srgbClr val="1F2937"/>
                </a:solidFill>
                <a:latin typeface="Arial"/>
                <a:ea typeface="Arial"/>
                <a:cs typeface="Arial"/>
              </a:defRPr>
            </a:pPr>
            <a:r>
              <a:rPr sz="1725">
                <a:solidFill>
                  <a:srgbClr val="1F2937"/>
                </a:solidFill>
                <a:latin typeface="Arial"/>
                <a:ea typeface="Arial"/>
                <a:cs typeface="Arial"/>
              </a:rPr>
              <a:t>OpenFHE 3-of-3 CKKS achieved maximum error of 1.34 x 10^-13, while the main service remained centrally keyed.</a:t>
            </a:r>
          </a:p>
        </p:txBody>
      </p:sp>
      <p:sp>
        <p:nvSpPr>
          <p:cNvPr id="234" name="visible-footer-date-20">
            <a:extLst xmlns:a="http://schemas.openxmlformats.org/drawingml/2006/main">
              <a:ext uri="{FF2B5EF4-FFF2-40B4-BE49-F238E27FC236}">
                <a16:creationId xmlns:a16="http://schemas.microsoft.com/office/drawing/2014/main" id="{51EA2B7B-2F1F-48B1-8E4B-475805A7E5A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86240585"/>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D6E90B73-F2C3-53A1-7B13-3555FC0B642C}"/>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Same-Protocol Comparison</a:t>
            </a:r>
            <a:endParaRPr/>
          </a:p>
        </p:txBody>
      </p:sp>
      <p:sp>
        <p:nvSpPr>
          <p:cNvPr id="212" name="Google Shape;212;p28">
            <a:extLst xmlns:a="http://schemas.openxmlformats.org/drawingml/2006/main">
              <a:ext uri="{FF2B5EF4-FFF2-40B4-BE49-F238E27FC236}">
                <a16:creationId xmlns:a16="http://schemas.microsoft.com/office/drawing/2014/main" id="{329DDF94-3FDB-C82D-677A-0954FAB0B9D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23</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c71f061a6d524034">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db6b775e0142411f">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F8A4CD7-C5F7-3AFA-03D4-7EFB3D4151A6}"/>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0E5151AA-EEDD-79DB-FB2C-1543D68B7F1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table-caption-comparison">
            <a:extLst xmlns:a="http://schemas.openxmlformats.org/drawingml/2006/main">
              <a:ext uri="{FF2B5EF4-FFF2-40B4-BE49-F238E27FC236}">
                <a16:creationId xmlns:a16="http://schemas.microsoft.com/office/drawing/2014/main" id="{78FD406A-6BCF-4178-9769-D011AF2B62AD}"/>
              </a:ext>
            </a:extLst>
          </p:cNvPr>
          <p:cNvSpPr>
            <a:spLocks xmlns:a="http://schemas.openxmlformats.org/drawingml/2006/main" noGrp="1"/>
          </p:cNvSpPr>
          <p:nvPr/>
        </p:nvSpPr>
        <p:spPr>
          <a:xfrm xmlns:a="http://schemas.openxmlformats.org/drawingml/2006/main">
            <a:off x="619125" y="114300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TABLE V. Five-seed same-protocol comparison</a:t>
            </a:r>
          </a:p>
        </p:txBody>
      </p:sp>
      <p:graphicFrame>
        <p:nvGraphicFramePr>
          <p:cNvPr id="240" name=""/>
          <p:cNvGraphicFramePr/>
          <p:nvPr/>
        </p:nvGraphicFramePr>
        <p:xfrm>
          <a:off xmlns:a="http://schemas.openxmlformats.org/drawingml/2006/main" x="428625" y="1571625"/>
          <a:ext xmlns:a="http://schemas.openxmlformats.org/drawingml/2006/main" cx="6191250" cy="3667125"/>
        </p:xfrm>
        <a:graphic xmlns:a="http://schemas.openxmlformats.org/drawingml/2006/main">
          <a:graphicData uri="http://schemas.openxmlformats.org/drawingml/2006/table">
            <a:tbl>
              <a:tblPr firstRow="1" bandRow="1"/>
              <a:tblGrid>
                <a:gridCol w="2381250"/>
                <a:gridCol w="1238250"/>
                <a:gridCol w="1238250"/>
                <a:gridCol w="1333500"/>
              </a:tblGrid>
              <a:tr h="611188">
                <a:tc>
                  <a:txBody>
                    <a:bodyPr/>
                    <a:lstStyle/>
                    <a:p>
                      <a:r>
                        <a:rPr sz="1275" b="1">
                          <a:solidFill>
                            <a:srgbClr val="FFFFFF"/>
                          </a:solidFill>
                          <a:latin typeface="Arial"/>
                          <a:ea typeface="Arial"/>
                          <a:cs typeface="Arial"/>
                        </a:rPr>
                        <a:t>Method</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AUROC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AUPRC</a:t>
                      </a:r>
                    </a:p>
                  </a:txBody>
                  <a:tcPr marL="66675" marR="66675" marT="47625" marB="47625" anchor="ctr">
                    <a:solidFill>
                      <a:srgbClr val="17365D"/>
                    </a:solidFill>
                  </a:tcPr>
                </a:tc>
                <a:tc>
                  <a:txBody>
                    <a:bodyPr/>
                    <a:lstStyle/>
                    <a:p>
                      <a:r>
                        <a:rPr sz="1275" b="1">
                          <a:solidFill>
                            <a:srgbClr val="FFFFFF"/>
                          </a:solidFill>
                          <a:latin typeface="Arial"/>
                          <a:ea typeface="Arial"/>
                          <a:cs typeface="Arial"/>
                        </a:rPr>
                        <a:t>Upload (MiB)</a:t>
                      </a:r>
                    </a:p>
                  </a:txBody>
                  <a:tcPr marL="66675" marR="66675" marT="47625" marB="47625" anchor="ctr">
                    <a:solidFill>
                      <a:srgbClr val="17365D"/>
                    </a:solidFill>
                  </a:tcPr>
                </a:tc>
              </a:tr>
              <a:tr h="611188">
                <a:tc>
                  <a:txBody>
                    <a:bodyPr/>
                    <a:lstStyle/>
                    <a:p>
                      <a:r>
                        <a:rPr sz="1238">
                          <a:solidFill>
                            <a:srgbClr val="1F2937"/>
                          </a:solidFill>
                          <a:latin typeface="Arial"/>
                          <a:ea typeface="Arial"/>
                          <a:cs typeface="Arial"/>
                        </a:rPr>
                        <a:t>DP-FedAvg-CKKS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0.394</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CAABC-FL</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0.730</a:t>
                      </a:r>
                    </a:p>
                  </a:txBody>
                  <a:tcPr marL="66675" marR="66675" marT="47625" marB="47625" anchor="ctr">
                    <a:solidFill>
                      <a:srgbClr val="FFFFFF"/>
                    </a:solidFill>
                  </a:tcPr>
                </a:tc>
                <a:tc>
                  <a:txBody>
                    <a:bodyPr/>
                    <a:lstStyle/>
                    <a:p>
                      <a:r>
                        <a:rPr sz="1238">
                          <a:solidFill>
                            <a:srgbClr val="1F2937"/>
                          </a:solidFill>
                          <a:latin typeface="Arial"/>
                          <a:ea typeface="Arial"/>
                          <a:cs typeface="Arial"/>
                        </a:rPr>
                        <a:t>0.384</a:t>
                      </a:r>
                    </a:p>
                  </a:txBody>
                  <a:tcPr marL="66675" marR="66675" marT="47625" marB="47625" anchor="ctr">
                    <a:solidFill>
                      <a:srgbClr val="FFFFFF"/>
                    </a:solidFill>
                  </a:tcPr>
                </a:tc>
                <a:tc>
                  <a:txBody>
                    <a:bodyPr/>
                    <a:lstStyle/>
                    <a:p>
                      <a:r>
                        <a:rPr sz="1238">
                          <a:solidFill>
                            <a:srgbClr val="1F2937"/>
                          </a:solidFill>
                          <a:latin typeface="Arial"/>
                          <a:ea typeface="Arial"/>
                          <a:cs typeface="Arial"/>
                        </a:rPr>
                        <a:t>27.81</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0.731</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0.395</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Fed-EF-AMS</a:t>
                      </a:r>
                    </a:p>
                  </a:txBody>
                  <a:tcPr marL="66675" marR="66675" marT="47625" marB="47625" anchor="ctr">
                    <a:solidFill>
                      <a:srgbClr val="FFFFFF"/>
                    </a:solidFill>
                  </a:tcPr>
                </a:tc>
                <a:tc>
                  <a:txBody>
                    <a:bodyPr/>
                    <a:lstStyle/>
                    <a:p>
                      <a:r>
                        <a:rPr sz="1238">
                          <a:solidFill>
                            <a:srgbClr val="1F2937"/>
                          </a:solidFill>
                          <a:latin typeface="Arial"/>
                          <a:ea typeface="Arial"/>
                          <a:cs typeface="Arial"/>
                        </a:rPr>
                        <a:t>0.732</a:t>
                      </a:r>
                    </a:p>
                  </a:txBody>
                  <a:tcPr marL="66675" marR="66675" marT="47625" marB="47625" anchor="ctr">
                    <a:solidFill>
                      <a:srgbClr val="FFFFFF"/>
                    </a:solidFill>
                  </a:tcPr>
                </a:tc>
                <a:tc>
                  <a:txBody>
                    <a:bodyPr/>
                    <a:lstStyle/>
                    <a:p>
                      <a:r>
                        <a:rPr sz="1238">
                          <a:solidFill>
                            <a:srgbClr val="1F2937"/>
                          </a:solidFill>
                          <a:latin typeface="Arial"/>
                          <a:ea typeface="Arial"/>
                          <a:cs typeface="Arial"/>
                        </a:rPr>
                        <a:t>0.341</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63.20</a:t>
                      </a:r>
                    </a:p>
                  </a:txBody>
                  <a:tcPr marL="66675" marR="66675" marT="47625" marB="47625" anchor="ctr">
                    <a:solidFill>
                      <a:srgbClr val="FFFFFF"/>
                    </a:solidFill>
                  </a:tcPr>
                </a:tc>
              </a:tr>
              <a:tr h="611188">
                <a:tc>
                  <a:txBody>
                    <a:bodyPr/>
                    <a:lstStyle/>
                    <a:p>
                      <a:r>
                        <a:rPr sz="1238">
                          <a:solidFill>
                            <a:srgbClr val="1F2937"/>
                          </a:solidFill>
                          <a:latin typeface="Arial"/>
                          <a:ea typeface="Arial"/>
                          <a:cs typeface="Arial"/>
                        </a:rPr>
                        <a:t>SoteriaFL-SGD</a:t>
                      </a:r>
                    </a:p>
                  </a:txBody>
                  <a:tcPr marL="66675" marR="66675" marT="47625" marB="47625" anchor="ctr">
                    <a:solidFill>
                      <a:srgbClr val="FFFFFF"/>
                    </a:solidFill>
                  </a:tcPr>
                </a:tc>
                <a:tc>
                  <a:txBody>
                    <a:bodyPr/>
                    <a:lstStyle/>
                    <a:p>
                      <a:r>
                        <a:rPr sz="1238">
                          <a:solidFill>
                            <a:srgbClr val="1F2937"/>
                          </a:solidFill>
                          <a:latin typeface="Arial"/>
                          <a:ea typeface="Arial"/>
                          <a:cs typeface="Arial"/>
                        </a:rPr>
                        <a:t>0.727</a:t>
                      </a:r>
                    </a:p>
                  </a:txBody>
                  <a:tcPr marL="66675" marR="66675" marT="47625" marB="47625" anchor="ctr">
                    <a:solidFill>
                      <a:srgbClr val="FFFFFF"/>
                    </a:solidFill>
                  </a:tcPr>
                </a:tc>
                <a:tc>
                  <a:txBody>
                    <a:bodyPr/>
                    <a:lstStyle/>
                    <a:p>
                      <a:r>
                        <a:rPr sz="1238">
                          <a:solidFill>
                            <a:srgbClr val="1F2937"/>
                          </a:solidFill>
                          <a:latin typeface="Arial"/>
                          <a:ea typeface="Arial"/>
                          <a:cs typeface="Arial"/>
                        </a:rPr>
                        <a:t>0.392</a:t>
                      </a:r>
                    </a:p>
                  </a:txBody>
                  <a:tcPr marL="66675" marR="66675" marT="47625" marB="47625" anchor="ctr">
                    <a:solidFill>
                      <a:srgbClr val="FFFFFF"/>
                    </a:solidFill>
                  </a:tcPr>
                </a:tc>
                <a:tc>
                  <a:txBody>
                    <a:bodyPr/>
                    <a:lstStyle/>
                    <a:p>
                      <a:r>
                        <a:rPr sz="1238">
                          <a:solidFill>
                            <a:srgbClr val="1F2937"/>
                          </a:solidFill>
                          <a:latin typeface="Arial"/>
                          <a:ea typeface="Arial"/>
                          <a:cs typeface="Arial"/>
                        </a:rPr>
                        <a:t>63.21</a:t>
                      </a:r>
                    </a:p>
                  </a:txBody>
                  <a:tcPr marL="66675" marR="66675" marT="47625" marB="47625" anchor="ctr">
                    <a:solidFill>
                      <a:srgbClr val="FFFFFF"/>
                    </a:solidFill>
                  </a:tcPr>
                </a:tc>
              </a:tr>
            </a:tbl>
          </a:graphicData>
        </a:graphic>
      </p:graphicFrame>
      <p:graphicFrame>
        <p:nvGraphicFramePr>
          <p:cNvPr id="241" name="Chart"/>
          <p:cNvGraphicFramePr/>
          <p:nvPr/>
        </p:nvGraphicFramePr>
        <p:xfrm>
          <a:off xmlns:a="http://schemas.openxmlformats.org/drawingml/2006/main" x="6905625" y="1476375"/>
          <a:ext xmlns:a="http://schemas.openxmlformats.org/drawingml/2006/main" cx="4762500" cy="3810000"/>
        </p:xfrm>
        <a:graphic xmlns:a="http://schemas.openxmlformats.org/drawingml/2006/main">
          <a:graphicData uri="http://schemas.openxmlformats.org/drawingml/2006/chart">
            <c:chart xmlns:r="http://schemas.openxmlformats.org/officeDocument/2006/relationships" xmlns:c="http://schemas.openxmlformats.org/drawingml/2006/chart" r:id="R33bcf9959358424f"/>
          </a:graphicData>
        </a:graphic>
      </p:graphicFrame>
      <p:sp>
        <p:nvSpPr>
          <p:cNvPr id="223" name="comparison-note">
            <a:extLst xmlns:a="http://schemas.openxmlformats.org/drawingml/2006/main">
              <a:ext uri="{FF2B5EF4-FFF2-40B4-BE49-F238E27FC236}">
                <a16:creationId xmlns:a16="http://schemas.microsoft.com/office/drawing/2014/main" id="{4359A255-8DEF-4094-838B-EFAE84812294}"/>
              </a:ext>
            </a:extLst>
          </p:cNvPr>
          <p:cNvSpPr>
            <a:spLocks xmlns:a="http://schemas.openxmlformats.org/drawingml/2006/main" noGrp="1"/>
          </p:cNvSpPr>
          <p:nvPr/>
        </p:nvSpPr>
        <p:spPr>
          <a:xfrm xmlns:a="http://schemas.openxmlformats.org/drawingml/2006/main">
            <a:off x="1047750" y="547687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650" b="1" i="0">
                <a:solidFill>
                  <a:srgbClr val="00843D"/>
                </a:solidFill>
                <a:latin typeface="Arial"/>
                <a:ea typeface="Arial"/>
                <a:cs typeface="Arial"/>
              </a:defRPr>
            </a:pPr>
            <a:r>
              <a:rPr sz="1650" b="1" i="0">
                <a:solidFill>
                  <a:srgbClr val="00843D"/>
                </a:solidFill>
                <a:latin typeface="Arial"/>
                <a:ea typeface="Arial"/>
                <a:cs typeface="Arial"/>
              </a:rPr>
              <a:t>Only CAABC-FL converted compression into a material serialized CKKS upload saving.</a:t>
            </a:r>
          </a:p>
        </p:txBody>
      </p:sp>
      <p:sp>
        <p:nvSpPr>
          <p:cNvPr id="228" name="visible-footer-date-21">
            <a:extLst xmlns:a="http://schemas.openxmlformats.org/drawingml/2006/main">
              <a:ext uri="{FF2B5EF4-FFF2-40B4-BE49-F238E27FC236}">
                <a16:creationId xmlns:a16="http://schemas.microsoft.com/office/drawing/2014/main" id="{947B7AE5-8DFC-4CBC-90D6-BF20E0CA27DB}"/>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17829261"/>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EBD26CE-42E7-A335-8292-6E657AEDDA37}"/>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71093"/>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Privacy, Poisoning and Systems Performance</a:t>
            </a:r>
            <a:endParaRPr/>
          </a:p>
        </p:txBody>
      </p:sp>
      <p:sp>
        <p:nvSpPr>
          <p:cNvPr id="212" name="Google Shape;212;p28">
            <a:extLst xmlns:a="http://schemas.openxmlformats.org/drawingml/2006/main">
              <a:ext uri="{FF2B5EF4-FFF2-40B4-BE49-F238E27FC236}">
                <a16:creationId xmlns:a16="http://schemas.microsoft.com/office/drawing/2014/main" id="{F0383842-FFA2-4244-D4A7-5EBBE73A3CD4}"/>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24</a:t>
            </a:r>
            <a:endParaRPr sz="2800"/>
          </a:p>
        </p:txBody>
      </p:sp>
      <p:pic>
        <p:nvPicPr>
          <p:cNvPr id="236"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8125a27b690423c">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7a988999b65640b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AC7F58F-7858-E83B-ED46-884D28D5F233}"/>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67366EB0-0EAE-5D0C-C397-83FE1DDBDDD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79390c6261f348ad"/>
          <a:stretch xmlns:a="http://schemas.openxmlformats.org/drawingml/2006/main"/>
        </p:blipFill>
        <p:spPr>
          <a:xfrm xmlns:a="http://schemas.openxmlformats.org/drawingml/2006/main">
            <a:off x="428625" y="1666462"/>
            <a:ext cx="5476875" cy="2763076"/>
          </a:xfrm>
          <a:prstGeom xmlns:a="http://schemas.openxmlformats.org/drawingml/2006/main" prst="rect">
            <a:avLst/>
          </a:prstGeom>
        </p:spPr>
      </p:pic>
      <p:pic>
        <p:nvPicPr>
          <p:cNvPr id="241" name=""/>
          <p:cNvPicPr>
            <a:picLocks xmlns:a="http://schemas.openxmlformats.org/drawingml/2006/main" noChangeAspect="1"/>
          </p:cNvPicPr>
          <p:nvPr/>
        </p:nvPicPr>
        <p:blipFill>
          <a:blip xmlns:r="http://schemas.openxmlformats.org/officeDocument/2006/relationships" xmlns:a="http://schemas.openxmlformats.org/drawingml/2006/main" r:embed="R0e7a149a613144b5"/>
          <a:stretch xmlns:a="http://schemas.openxmlformats.org/drawingml/2006/main"/>
        </p:blipFill>
        <p:spPr>
          <a:xfrm xmlns:a="http://schemas.openxmlformats.org/drawingml/2006/main">
            <a:off x="6217004" y="1238250"/>
            <a:ext cx="5520616" cy="3619500"/>
          </a:xfrm>
          <a:prstGeom xmlns:a="http://schemas.openxmlformats.org/drawingml/2006/main" prst="rect">
            <a:avLst/>
          </a:prstGeom>
        </p:spPr>
      </p:pic>
      <p:sp>
        <p:nvSpPr>
          <p:cNvPr id="222" name="privacy-caption">
            <a:extLst xmlns:a="http://schemas.openxmlformats.org/drawingml/2006/main">
              <a:ext uri="{FF2B5EF4-FFF2-40B4-BE49-F238E27FC236}">
                <a16:creationId xmlns:a16="http://schemas.microsoft.com/office/drawing/2014/main" id="{9FE689F8-DBEE-43EB-A250-5B6E19B44C94}"/>
              </a:ext>
            </a:extLst>
          </p:cNvPr>
          <p:cNvSpPr>
            <a:spLocks xmlns:a="http://schemas.openxmlformats.org/drawingml/2006/main" noGrp="1"/>
          </p:cNvSpPr>
          <p:nvPr/>
        </p:nvSpPr>
        <p:spPr>
          <a:xfrm xmlns:a="http://schemas.openxmlformats.org/drawingml/2006/main">
            <a:off x="571500" y="4857750"/>
            <a:ext cx="5191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2. Membership-inference diagnostics. Values near 0.5 indicate chance-level discrimination.</a:t>
            </a:r>
          </a:p>
        </p:txBody>
      </p:sp>
      <p:sp>
        <p:nvSpPr>
          <p:cNvPr id="223" name="poison-caption">
            <a:extLst xmlns:a="http://schemas.openxmlformats.org/drawingml/2006/main">
              <a:ext uri="{FF2B5EF4-FFF2-40B4-BE49-F238E27FC236}">
                <a16:creationId xmlns:a16="http://schemas.microsoft.com/office/drawing/2014/main" id="{2256AF0E-6549-4BCA-9BBE-3D443185F89B}"/>
              </a:ext>
            </a:extLst>
          </p:cNvPr>
          <p:cNvSpPr>
            <a:spLocks xmlns:a="http://schemas.openxmlformats.org/drawingml/2006/main" noGrp="1"/>
          </p:cNvSpPr>
          <p:nvPr/>
        </p:nvSpPr>
        <p:spPr>
          <a:xfrm xmlns:a="http://schemas.openxmlformats.org/drawingml/2006/main">
            <a:off x="6334125" y="4857750"/>
            <a:ext cx="5286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13" b="0" i="1">
                <a:solidFill>
                  <a:srgbClr val="1F2937"/>
                </a:solidFill>
                <a:latin typeface="Arial"/>
                <a:ea typeface="Arial"/>
                <a:cs typeface="Arial"/>
              </a:defRPr>
            </a:pPr>
            <a:r>
              <a:rPr sz="1313" b="0" i="1">
                <a:solidFill>
                  <a:srgbClr val="1F2937"/>
                </a:solidFill>
                <a:latin typeface="Arial"/>
                <a:ea typeface="Arial"/>
                <a:cs typeface="Arial"/>
              </a:rPr>
              <a:t>Fig. 3. Mean paired AUROC change at 40% malicious clients. More negative values indicate greater damage.</a:t>
            </a:r>
          </a:p>
        </p:txBody>
      </p:sp>
      <p:sp>
        <p:nvSpPr>
          <p:cNvPr id="224" name="systems-summary">
            <a:extLst xmlns:a="http://schemas.openxmlformats.org/drawingml/2006/main">
              <a:ext uri="{FF2B5EF4-FFF2-40B4-BE49-F238E27FC236}">
                <a16:creationId xmlns:a16="http://schemas.microsoft.com/office/drawing/2014/main" id="{DE003543-2634-4122-A61F-A3DE15EBCEFC}"/>
              </a:ext>
            </a:extLst>
          </p:cNvPr>
          <p:cNvSpPr>
            <a:spLocks xmlns:a="http://schemas.openxmlformats.org/drawingml/2006/main" noGrp="1"/>
          </p:cNvSpPr>
          <p:nvPr/>
        </p:nvSpPr>
        <p:spPr>
          <a:xfrm xmlns:a="http://schemas.openxmlformats.org/drawingml/2006/main">
            <a:off x="1095375" y="552450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246"/>
          </a:bodyPr>
          <a:lstStyle xmlns:a="http://schemas.openxmlformats.org/drawingml/2006/main"/>
          <a:p xmlns:a="http://schemas.openxmlformats.org/drawingml/2006/main">
            <a:pPr algn="ctr">
              <a:buNone/>
              <a:defRPr sz="1538" b="1" i="0">
                <a:solidFill>
                  <a:srgbClr val="17365D"/>
                </a:solidFill>
                <a:latin typeface="Arial"/>
                <a:ea typeface="Arial"/>
                <a:cs typeface="Arial"/>
              </a:defRPr>
            </a:pPr>
            <a:r>
              <a:rPr sz="1538" b="1" i="0">
                <a:solidFill>
                  <a:srgbClr val="17365D"/>
                </a:solidFill>
                <a:latin typeface="Arial"/>
                <a:ea typeface="Arial"/>
                <a:cs typeface="Arial"/>
              </a:rPr>
              <a:t>System evidence: 16-client CKKS upload 25.28 MiB, end-to-end latency 7.080 s, and verified 3-of-3 OpenFHE correctness. These tests do not establish WAN or dropout-tolerant production performance.</a:t>
            </a:r>
          </a:p>
        </p:txBody>
      </p:sp>
      <p:sp>
        <p:nvSpPr>
          <p:cNvPr id="229" name="visible-footer-date-22">
            <a:extLst xmlns:a="http://schemas.openxmlformats.org/drawingml/2006/main">
              <a:ext uri="{FF2B5EF4-FFF2-40B4-BE49-F238E27FC236}">
                <a16:creationId xmlns:a16="http://schemas.microsoft.com/office/drawing/2014/main" id="{70C5A8A9-35E4-4ACA-9FE6-F5D3E9EE31A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436405984"/>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pic>
        <p:nvPicPr>
          <p:cNvPr id="566" name="Google Shape;520;p52"/>
          <p:cNvPicPr>
            <a:picLocks xmlns:a="http://schemas.openxmlformats.org/drawingml/2006/main" noChangeAspect="1"/>
          </p:cNvPicPr>
          <p:nvPr/>
        </p:nvPicPr>
        <p:blipFill rotWithShape="1">
          <a:blip xmlns:r="http://schemas.openxmlformats.org/officeDocument/2006/relationships" xmlns:a="http://schemas.openxmlformats.org/drawingml/2006/main" r:embed="Recc9b658fb8e4119">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567" name="Google Shape;521;p52"/>
          <p:cNvPicPr>
            <a:picLocks xmlns:a="http://schemas.openxmlformats.org/drawingml/2006/main" noChangeAspect="1"/>
          </p:cNvPicPr>
          <p:nvPr/>
        </p:nvPicPr>
        <p:blipFill rotWithShape="1">
          <a:blip xmlns:r="http://schemas.openxmlformats.org/officeDocument/2006/relationships" xmlns:a="http://schemas.openxmlformats.org/drawingml/2006/main" r:embed="R4e66ff21d6734b11">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pic>
        <p:nvPicPr>
          <p:cNvPr id="568" name="Google Shape;522;p52"/>
          <p:cNvPicPr>
            <a:picLocks xmlns:a="http://schemas.openxmlformats.org/drawingml/2006/main" noChangeAspect="1"/>
          </p:cNvPicPr>
          <p:nvPr/>
        </p:nvPicPr>
        <p:blipFill rotWithShape="1">
          <a:blip xmlns:r="http://schemas.openxmlformats.org/officeDocument/2006/relationships" xmlns:a="http://schemas.openxmlformats.org/drawingml/2006/main" r:embed="R155c054fc71f4763">
            <a:alphaModFix/>
          </a:blip>
          <a:srcRect xmlns:a="http://schemas.openxmlformats.org/drawingml/2006/main" l="1187" t="2321" r="3422" b="0"/>
          <a:stretch xmlns:a="http://schemas.openxmlformats.org/drawingml/2006/main"/>
        </p:blipFill>
        <p:spPr>
          <a:xfrm xmlns:a="http://schemas.openxmlformats.org/drawingml/2006/main">
            <a:off x="2210143" y="374895"/>
            <a:ext cx="7565366" cy="5537780"/>
          </a:xfrm>
          <a:prstGeom xmlns:a="http://schemas.openxmlformats.org/drawingml/2006/main" prst="rect">
            <a:avLst/>
          </a:prstGeom>
          <a:ln xmlns:a="http://schemas.openxmlformats.org/drawingml/2006/main">
            <a:noFill/>
          </a:ln>
        </p:spPr>
      </p:pic>
      <p:sp>
        <p:nvSpPr>
          <p:cNvPr id="523" name="Google Shape;523;p52">
            <a:extLst xmlns:a="http://schemas.openxmlformats.org/drawingml/2006/main">
              <a:ext uri="{FF2B5EF4-FFF2-40B4-BE49-F238E27FC236}">
                <a16:creationId xmlns:a16="http://schemas.microsoft.com/office/drawing/2014/main" id="{5BEFE073-EE09-4104-A7BE-8EE711AE965F}"/>
              </a:ext>
            </a:extLst>
          </p:cNvPr>
          <p:cNvSpPr>
            <a:spLocks xmlns:a="http://schemas.openxmlformats.org/drawingml/2006/main" noGrp="1"/>
          </p:cNvSpPr>
          <p:nvPr>
            <p:ph type="title" idx="0"/>
          </p:nvPr>
        </p:nvSpPr>
        <p:spPr>
          <a:xfrm xmlns:a="http://schemas.openxmlformats.org/drawingml/2006/main">
            <a:off x="1047745" y="4410315"/>
            <a:ext cx="9675673" cy="79680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90000"/>
              </a:lnSpc>
              <a:spcBef>
                <a:spcPts val="0"/>
              </a:spcBef>
              <a:spcAft>
                <a:spcPts val="0"/>
              </a:spcAft>
              <a:buClr>
                <a:schemeClr val="dk1"/>
              </a:buClr>
              <a:buSzPts val="4000"/>
              <a:buFont typeface="Arial"/>
              <a:buNone/>
            </a:pPr>
            <a:r>
              <a:rPr sz="4000">
                <a:latin typeface="Arial"/>
                <a:ea typeface="Arial"/>
                <a:cs typeface="Arial"/>
              </a:rPr>
              <a:t>Conclusion</a:t>
            </a:r>
            <a:endParaRPr/>
          </a:p>
        </p:txBody>
      </p:sp>
      <p:pic>
        <p:nvPicPr>
          <p:cNvPr id="570" name="Google Shape;524;p52"/>
          <p:cNvPicPr>
            <a:picLocks xmlns:a="http://schemas.openxmlformats.org/drawingml/2006/main" noChangeAspect="1"/>
          </p:cNvPicPr>
          <p:nvPr/>
        </p:nvPicPr>
        <p:blipFill rotWithShape="1">
          <a:blip xmlns:r="http://schemas.openxmlformats.org/officeDocument/2006/relationships" xmlns:a="http://schemas.openxmlformats.org/drawingml/2006/main" r:embed="R1df1cebe55944feb">
            <a:alphaModFix/>
          </a:blip>
          <a:srcRect xmlns:a="http://schemas.openxmlformats.org/drawingml/2006/main" l="0" t="0" r="0" b="0"/>
          <a:stretch xmlns:a="http://schemas.openxmlformats.org/drawingml/2006/main"/>
        </p:blipFill>
        <p:spPr>
          <a:xfrm xmlns:a="http://schemas.openxmlformats.org/drawingml/2006/main">
            <a:off x="4662664" y="1409347"/>
            <a:ext cx="2866672" cy="2866672"/>
          </a:xfrm>
          <a:prstGeom xmlns:a="http://schemas.openxmlformats.org/drawingml/2006/main" prst="rect">
            <a:avLst/>
          </a:prstGeom>
          <a:ln xmlns:a="http://schemas.openxmlformats.org/drawingml/2006/main">
            <a:noFill/>
          </a:ln>
          <a:effectLst xmlns:a="http://schemas.openxmlformats.org/drawingml/2006/main">
            <a:outerShdw blurRad="190500" algn="tl" rotWithShape="0">
              <a:srgbClr val="000000">
                <a:alpha val="69411"/>
              </a:srgbClr>
            </a:outerShdw>
          </a:effectLst>
        </p:spPr>
      </p:pic>
      <p:sp>
        <p:nvSpPr>
          <p:cNvPr id="527" name="Google Shape;527;p52">
            <a:extLst xmlns:a="http://schemas.openxmlformats.org/drawingml/2006/main">
              <a:ext uri="{FF2B5EF4-FFF2-40B4-BE49-F238E27FC236}">
                <a16:creationId xmlns:a16="http://schemas.microsoft.com/office/drawing/2014/main" id="{F14FAE87-7C0F-43AF-80E6-F7FCF94F7758}"/>
              </a:ext>
            </a:extLst>
          </p:cNvPr>
          <p:cNvSpPr>
            <a:spLocks xmlns:a="http://schemas.openxmlformats.org/drawingml/2006/main" noGrp="1"/>
          </p:cNvSpPr>
          <p:nvPr>
            <p:ph type="dt" idx="10"/>
          </p:nvPr>
        </p:nvSpPr>
        <p:spPr>
          <a:xfrm xmlns:a="http://schemas.openxmlformats.org/drawingml/2006/main">
            <a:off x="462800" y="6396574"/>
            <a:ext cx="14406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cxnSp>
        <p:nvCxnSpPr>
          <p:cNvPr id="572" name="Google Shape;489;p49"/>
          <p:cNvCxnSpPr/>
          <p:nvPr/>
        </p:nvCxnSpPr>
        <p:spPr>
          <a:xfrm xmlns:a="http://schemas.openxmlformats.org/drawingml/2006/main">
            <a:off x="424707" y="5119185"/>
            <a:ext cx="11342700" cy="0"/>
          </a:xfrm>
          <a:prstGeom xmlns:a="http://schemas.openxmlformats.org/drawingml/2006/main" prst="straightConnector1">
            <a:avLst/>
          </a:prstGeom>
          <a:ln xmlns:a="http://schemas.openxmlformats.org/drawingml/2006/main" w="10000" cap="flat">
            <a:solidFill>
              <a:schemeClr val="accent1"/>
            </a:solidFill>
            <a:prstDash val="solid"/>
            <a:round/>
            <a:headEnd type="none" w="sm" len="sm"/>
            <a:tailEnd type="none" w="sm" len="sm"/>
          </a:ln>
        </p:spPr>
      </p:cxnSp>
      <p:sp>
        <p:nvSpPr>
          <p:cNvPr id="3" name="Google Shape;216;p28">
            <a:extLst xmlns:a="http://schemas.openxmlformats.org/drawingml/2006/main">
              <a:ext uri="{FF2B5EF4-FFF2-40B4-BE49-F238E27FC236}">
                <a16:creationId xmlns:a16="http://schemas.microsoft.com/office/drawing/2014/main" id="{7DBA4BD6-77AB-D07E-A6E8-7C8CBE15257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4" name="Google Shape;212;p28">
            <a:extLst xmlns:a="http://schemas.openxmlformats.org/drawingml/2006/main">
              <a:ext uri="{FF2B5EF4-FFF2-40B4-BE49-F238E27FC236}">
                <a16:creationId xmlns:a16="http://schemas.microsoft.com/office/drawing/2014/main" id="{BC4D2D4B-B4D3-EB5F-77A1-B175A9873E58}"/>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25</a:t>
            </a:r>
            <a:endParaRPr sz="2800"/>
          </a:p>
        </p:txBody>
      </p:sp>
      <p:sp>
        <p:nvSpPr>
          <p:cNvPr id="543" name="visible-footer-date-23">
            <a:extLst xmlns:a="http://schemas.openxmlformats.org/drawingml/2006/main">
              <a:ext uri="{FF2B5EF4-FFF2-40B4-BE49-F238E27FC236}">
                <a16:creationId xmlns:a16="http://schemas.microsoft.com/office/drawing/2014/main" id="{CD5C7620-55DD-4ED4-8FBA-BCF7F34BB34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675858018"/>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0E81DA35-E830-0E70-0FAC-BB25692B139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Summary of Key Findings</a:t>
            </a:r>
            <a:endParaRPr/>
          </a:p>
        </p:txBody>
      </p:sp>
      <p:sp>
        <p:nvSpPr>
          <p:cNvPr id="212" name="Google Shape;212;p28">
            <a:extLst xmlns:a="http://schemas.openxmlformats.org/drawingml/2006/main">
              <a:ext uri="{FF2B5EF4-FFF2-40B4-BE49-F238E27FC236}">
                <a16:creationId xmlns:a16="http://schemas.microsoft.com/office/drawing/2014/main" id="{0339D4F0-DDFA-B188-A7AE-DB1F9883C189}"/>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26</a:t>
            </a:r>
            <a:endParaRPr sz="2800"/>
          </a:p>
        </p:txBody>
      </p:sp>
      <p:pic>
        <p:nvPicPr>
          <p:cNvPr id="240"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ade442b6b18a4e1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1"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6f6544890724d2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17EF49E2-6D37-5982-5793-B7ED3CAA0F2A}"/>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F47E314-515A-93E2-2775-6C3E36A4D489}"/>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summary-objective-0">
            <a:extLst xmlns:a="http://schemas.openxmlformats.org/drawingml/2006/main">
              <a:ext uri="{FF2B5EF4-FFF2-40B4-BE49-F238E27FC236}">
                <a16:creationId xmlns:a16="http://schemas.microsoft.com/office/drawing/2014/main" id="{78880B25-0CCF-4207-9281-BC7FCC98EDDE}"/>
              </a:ext>
            </a:extLst>
          </p:cNvPr>
          <p:cNvSpPr>
            <a:spLocks xmlns:a="http://schemas.openxmlformats.org/drawingml/2006/main" noGrp="1"/>
          </p:cNvSpPr>
          <p:nvPr/>
        </p:nvSpPr>
        <p:spPr>
          <a:xfrm xmlns:a="http://schemas.openxmlformats.org/drawingml/2006/main">
            <a:off x="952500" y="14763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1</a:t>
            </a:r>
          </a:p>
        </p:txBody>
      </p:sp>
      <p:sp>
        <p:nvSpPr>
          <p:cNvPr id="221" name="summary-status-0">
            <a:extLst xmlns:a="http://schemas.openxmlformats.org/drawingml/2006/main">
              <a:ext uri="{FF2B5EF4-FFF2-40B4-BE49-F238E27FC236}">
                <a16:creationId xmlns:a16="http://schemas.microsoft.com/office/drawing/2014/main" id="{4E67885F-049A-4749-B3F3-D0EA7A5D9DA6}"/>
              </a:ext>
            </a:extLst>
          </p:cNvPr>
          <p:cNvSpPr>
            <a:spLocks xmlns:a="http://schemas.openxmlformats.org/drawingml/2006/main" noGrp="1"/>
          </p:cNvSpPr>
          <p:nvPr/>
        </p:nvSpPr>
        <p:spPr>
          <a:xfrm xmlns:a="http://schemas.openxmlformats.org/drawingml/2006/main">
            <a:off x="3000375" y="14763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2" name="summary-evidence-0">
            <a:extLst xmlns:a="http://schemas.openxmlformats.org/drawingml/2006/main">
              <a:ext uri="{FF2B5EF4-FFF2-40B4-BE49-F238E27FC236}">
                <a16:creationId xmlns:a16="http://schemas.microsoft.com/office/drawing/2014/main" id="{FAD254E6-9B81-4D8E-8F01-67AA01A5AA7A}"/>
              </a:ext>
            </a:extLst>
          </p:cNvPr>
          <p:cNvSpPr>
            <a:spLocks xmlns:a="http://schemas.openxmlformats.org/drawingml/2006/main" noGrp="1"/>
          </p:cNvSpPr>
          <p:nvPr/>
        </p:nvSpPr>
        <p:spPr>
          <a:xfrm xmlns:a="http://schemas.openxmlformats.org/drawingml/2006/main">
            <a:off x="5381625" y="14287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Implemented the layered privacy, encrypted aggregation, verification, release, and audit workflow.</a:t>
            </a:r>
          </a:p>
        </p:txBody>
      </p:sp>
      <p:sp>
        <p:nvSpPr>
          <p:cNvPr id="223" name="rule-100-247">
            <a:extLst xmlns:a="http://schemas.openxmlformats.org/drawingml/2006/main">
              <a:ext uri="{FF2B5EF4-FFF2-40B4-BE49-F238E27FC236}">
                <a16:creationId xmlns:a16="http://schemas.microsoft.com/office/drawing/2014/main" id="{9DEEFB91-E5DC-4755-8E44-5433891E2517}"/>
              </a:ext>
            </a:extLst>
          </p:cNvPr>
          <p:cNvSpPr>
            <a:spLocks xmlns:a="http://schemas.openxmlformats.org/drawingml/2006/main" noGrp="1"/>
          </p:cNvSpPr>
          <p:nvPr/>
        </p:nvSpPr>
        <p:spPr>
          <a:xfrm xmlns:a="http://schemas.openxmlformats.org/drawingml/2006/main">
            <a:off x="952500" y="23526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4" name="summary-objective-1">
            <a:extLst xmlns:a="http://schemas.openxmlformats.org/drawingml/2006/main">
              <a:ext uri="{FF2B5EF4-FFF2-40B4-BE49-F238E27FC236}">
                <a16:creationId xmlns:a16="http://schemas.microsoft.com/office/drawing/2014/main" id="{76CA895B-DF34-4C00-AAD5-580BBDEC2F4C}"/>
              </a:ext>
            </a:extLst>
          </p:cNvPr>
          <p:cNvSpPr>
            <a:spLocks xmlns:a="http://schemas.openxmlformats.org/drawingml/2006/main" noGrp="1"/>
          </p:cNvSpPr>
          <p:nvPr/>
        </p:nvSpPr>
        <p:spPr>
          <a:xfrm xmlns:a="http://schemas.openxmlformats.org/drawingml/2006/main">
            <a:off x="952500" y="290512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2</a:t>
            </a:r>
          </a:p>
        </p:txBody>
      </p:sp>
      <p:sp>
        <p:nvSpPr>
          <p:cNvPr id="225" name="summary-status-1">
            <a:extLst xmlns:a="http://schemas.openxmlformats.org/drawingml/2006/main">
              <a:ext uri="{FF2B5EF4-FFF2-40B4-BE49-F238E27FC236}">
                <a16:creationId xmlns:a16="http://schemas.microsoft.com/office/drawing/2014/main" id="{98A2AEC9-1016-4953-8F74-56E2D3AB154D}"/>
              </a:ext>
            </a:extLst>
          </p:cNvPr>
          <p:cNvSpPr>
            <a:spLocks xmlns:a="http://schemas.openxmlformats.org/drawingml/2006/main" noGrp="1"/>
          </p:cNvSpPr>
          <p:nvPr/>
        </p:nvSpPr>
        <p:spPr>
          <a:xfrm xmlns:a="http://schemas.openxmlformats.org/drawingml/2006/main">
            <a:off x="3000375" y="29051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a:t>
            </a:r>
          </a:p>
        </p:txBody>
      </p:sp>
      <p:sp>
        <p:nvSpPr>
          <p:cNvPr id="226" name="summary-evidence-1">
            <a:extLst xmlns:a="http://schemas.openxmlformats.org/drawingml/2006/main">
              <a:ext uri="{FF2B5EF4-FFF2-40B4-BE49-F238E27FC236}">
                <a16:creationId xmlns:a16="http://schemas.microsoft.com/office/drawing/2014/main" id="{283AE25D-E5C5-46E5-8ED9-7D04CD2194A4}"/>
              </a:ext>
            </a:extLst>
          </p:cNvPr>
          <p:cNvSpPr>
            <a:spLocks xmlns:a="http://schemas.openxmlformats.org/drawingml/2006/main" noGrp="1"/>
          </p:cNvSpPr>
          <p:nvPr/>
        </p:nvSpPr>
        <p:spPr>
          <a:xfrm xmlns:a="http://schemas.openxmlformats.org/drawingml/2006/main">
            <a:off x="5381625" y="285750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CAABC-FL reduced measured encrypted upload by 55.998% with an AUROC non-inferiority result.</a:t>
            </a:r>
          </a:p>
        </p:txBody>
      </p:sp>
      <p:sp>
        <p:nvSpPr>
          <p:cNvPr id="227" name="rule-100-397">
            <a:extLst xmlns:a="http://schemas.openxmlformats.org/drawingml/2006/main">
              <a:ext uri="{FF2B5EF4-FFF2-40B4-BE49-F238E27FC236}">
                <a16:creationId xmlns:a16="http://schemas.microsoft.com/office/drawing/2014/main" id="{F0F9BF1B-C1C9-4A4F-BAC9-F457B5310B22}"/>
              </a:ext>
            </a:extLst>
          </p:cNvPr>
          <p:cNvSpPr>
            <a:spLocks xmlns:a="http://schemas.openxmlformats.org/drawingml/2006/main" noGrp="1"/>
          </p:cNvSpPr>
          <p:nvPr/>
        </p:nvSpPr>
        <p:spPr>
          <a:xfrm xmlns:a="http://schemas.openxmlformats.org/drawingml/2006/main">
            <a:off x="952500" y="378142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8" name="summary-objective-2">
            <a:extLst xmlns:a="http://schemas.openxmlformats.org/drawingml/2006/main">
              <a:ext uri="{FF2B5EF4-FFF2-40B4-BE49-F238E27FC236}">
                <a16:creationId xmlns:a16="http://schemas.microsoft.com/office/drawing/2014/main" id="{2FF0C7F1-CA05-4515-B46A-CED9E1D78F46}"/>
              </a:ext>
            </a:extLst>
          </p:cNvPr>
          <p:cNvSpPr>
            <a:spLocks xmlns:a="http://schemas.openxmlformats.org/drawingml/2006/main" noGrp="1"/>
          </p:cNvSpPr>
          <p:nvPr/>
        </p:nvSpPr>
        <p:spPr>
          <a:xfrm xmlns:a="http://schemas.openxmlformats.org/drawingml/2006/main">
            <a:off x="952500" y="4333875"/>
            <a:ext cx="1809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950" b="1" i="0">
                <a:solidFill>
                  <a:srgbClr val="17365D"/>
                </a:solidFill>
                <a:latin typeface="Arial"/>
                <a:ea typeface="Arial"/>
                <a:cs typeface="Arial"/>
              </a:defRPr>
            </a:pPr>
            <a:r>
              <a:rPr sz="1950" b="1" i="0">
                <a:solidFill>
                  <a:srgbClr val="17365D"/>
                </a:solidFill>
                <a:latin typeface="Arial"/>
                <a:ea typeface="Arial"/>
                <a:cs typeface="Arial"/>
              </a:rPr>
              <a:t>Objective 3</a:t>
            </a:r>
          </a:p>
        </p:txBody>
      </p:sp>
      <p:sp>
        <p:nvSpPr>
          <p:cNvPr id="229" name="summary-status-2">
            <a:extLst xmlns:a="http://schemas.openxmlformats.org/drawingml/2006/main">
              <a:ext uri="{FF2B5EF4-FFF2-40B4-BE49-F238E27FC236}">
                <a16:creationId xmlns:a16="http://schemas.microsoft.com/office/drawing/2014/main" id="{9104D8D9-D695-42EB-B0E3-104D3B6756F7}"/>
              </a:ext>
            </a:extLst>
          </p:cNvPr>
          <p:cNvSpPr>
            <a:spLocks xmlns:a="http://schemas.openxmlformats.org/drawingml/2006/main" noGrp="1"/>
          </p:cNvSpPr>
          <p:nvPr/>
        </p:nvSpPr>
        <p:spPr>
          <a:xfrm xmlns:a="http://schemas.openxmlformats.org/drawingml/2006/main">
            <a:off x="3000375" y="4333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33"/>
          </a:bodyPr>
          <a:lstStyle xmlns:a="http://schemas.openxmlformats.org/drawingml/2006/main"/>
          <a:p xmlns:a="http://schemas.openxmlformats.org/drawingml/2006/main">
            <a:pPr algn="ctr">
              <a:buNone/>
              <a:defRPr sz="1875" b="1" i="0">
                <a:solidFill>
                  <a:srgbClr val="00843D"/>
                </a:solidFill>
                <a:latin typeface="Arial"/>
                <a:ea typeface="Arial"/>
                <a:cs typeface="Arial"/>
              </a:defRPr>
            </a:pPr>
            <a:r>
              <a:rPr sz="1875" b="1" i="0">
                <a:solidFill>
                  <a:srgbClr val="00843D"/>
                </a:solidFill>
                <a:latin typeface="Arial"/>
                <a:ea typeface="Arial"/>
                <a:cs typeface="Arial"/>
              </a:rPr>
              <a:t>Achieved within scope</a:t>
            </a:r>
          </a:p>
        </p:txBody>
      </p:sp>
      <p:sp>
        <p:nvSpPr>
          <p:cNvPr id="230" name="summary-evidence-2">
            <a:extLst xmlns:a="http://schemas.openxmlformats.org/drawingml/2006/main">
              <a:ext uri="{FF2B5EF4-FFF2-40B4-BE49-F238E27FC236}">
                <a16:creationId xmlns:a16="http://schemas.microsoft.com/office/drawing/2014/main" id="{E6AE9D9D-4E64-4F0D-A042-911D9CB29ADC}"/>
              </a:ext>
            </a:extLst>
          </p:cNvPr>
          <p:cNvSpPr>
            <a:spLocks xmlns:a="http://schemas.openxmlformats.org/drawingml/2006/main" noGrp="1"/>
          </p:cNvSpPr>
          <p:nvPr/>
        </p:nvSpPr>
        <p:spPr>
          <a:xfrm xmlns:a="http://schemas.openxmlformats.org/drawingml/2006/main">
            <a:off x="5381625" y="4286250"/>
            <a:ext cx="5810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Completed same-protocol utility, privacy, poisoning, cryptographic, and system evaluations.</a:t>
            </a:r>
          </a:p>
        </p:txBody>
      </p:sp>
      <p:sp>
        <p:nvSpPr>
          <p:cNvPr id="231" name="rule-100-547">
            <a:extLst xmlns:a="http://schemas.openxmlformats.org/drawingml/2006/main">
              <a:ext uri="{FF2B5EF4-FFF2-40B4-BE49-F238E27FC236}">
                <a16:creationId xmlns:a16="http://schemas.microsoft.com/office/drawing/2014/main" id="{3FAE6C79-8547-40D2-AC6B-F1B7396E6FC3}"/>
              </a:ext>
            </a:extLst>
          </p:cNvPr>
          <p:cNvSpPr>
            <a:spLocks xmlns:a="http://schemas.openxmlformats.org/drawingml/2006/main" noGrp="1"/>
          </p:cNvSpPr>
          <p:nvPr/>
        </p:nvSpPr>
        <p:spPr>
          <a:xfrm xmlns:a="http://schemas.openxmlformats.org/drawingml/2006/main">
            <a:off x="952500" y="5210175"/>
            <a:ext cx="10239375"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summary-boundary">
            <a:extLst xmlns:a="http://schemas.openxmlformats.org/drawingml/2006/main">
              <a:ext uri="{FF2B5EF4-FFF2-40B4-BE49-F238E27FC236}">
                <a16:creationId xmlns:a16="http://schemas.microsoft.com/office/drawing/2014/main" id="{EA6F3D57-D308-4322-BBE9-0639FDB2D524}"/>
              </a:ext>
            </a:extLst>
          </p:cNvPr>
          <p:cNvSpPr>
            <a:spLocks xmlns:a="http://schemas.openxmlformats.org/drawingml/2006/main" noGrp="1"/>
          </p:cNvSpPr>
          <p:nvPr/>
        </p:nvSpPr>
        <p:spPr>
          <a:xfrm xmlns:a="http://schemas.openxmlformats.org/drawingml/2006/main">
            <a:off x="1190625" y="5381625"/>
            <a:ext cx="981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051"/>
          </a:bodyPr>
          <a:lstStyle xmlns:a="http://schemas.openxmlformats.org/drawingml/2006/main"/>
          <a:p xmlns:a="http://schemas.openxmlformats.org/drawingml/2006/main">
            <a:pPr algn="ctr">
              <a:buNone/>
              <a:defRPr sz="1688" b="1" i="0">
                <a:solidFill>
                  <a:srgbClr val="17365D"/>
                </a:solidFill>
                <a:latin typeface="Arial"/>
                <a:ea typeface="Arial"/>
                <a:cs typeface="Arial"/>
              </a:defRPr>
            </a:pPr>
            <a:r>
              <a:rPr sz="1688" b="1" i="0">
                <a:solidFill>
                  <a:srgbClr val="17365D"/>
                </a:solidFill>
                <a:latin typeface="Arial"/>
                <a:ea typeface="Arial"/>
                <a:cs typeface="Arial"/>
              </a:rPr>
              <a:t>Conclusion: CAABC-FL provides a defensible privacy-utility-communication trade-off under the registered protocol. The evidence does not support universal superiority or a production-decentralization claim.</a:t>
            </a:r>
          </a:p>
        </p:txBody>
      </p:sp>
      <p:sp>
        <p:nvSpPr>
          <p:cNvPr id="235" name="visible-footer-date-24">
            <a:extLst xmlns:a="http://schemas.openxmlformats.org/drawingml/2006/main">
              <a:ext uri="{FF2B5EF4-FFF2-40B4-BE49-F238E27FC236}">
                <a16:creationId xmlns:a16="http://schemas.microsoft.com/office/drawing/2014/main" id="{0F9E5A8B-EB33-4260-A21D-29627D0B5F92}"/>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093132514"/>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FF3FB8C6-8C90-BAC8-9FAB-EE0D74D6369F}"/>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Research Contributions</a:t>
            </a:r>
            <a:endParaRPr/>
          </a:p>
        </p:txBody>
      </p:sp>
      <p:sp>
        <p:nvSpPr>
          <p:cNvPr id="212" name="Google Shape;212;p28">
            <a:extLst xmlns:a="http://schemas.openxmlformats.org/drawingml/2006/main">
              <a:ext uri="{FF2B5EF4-FFF2-40B4-BE49-F238E27FC236}">
                <a16:creationId xmlns:a16="http://schemas.microsoft.com/office/drawing/2014/main" id="{8B71ED3F-DBB8-F69D-D1E4-790728995D7F}"/>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27</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01b0db7169eb4a90">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e7930224e914a37">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EB34F6F-4553-7D85-D279-122BFB7FF768}"/>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AAB9FE30-4DDC-5248-36F1-22CA6EF59F74}"/>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contribution-heading-0">
            <a:extLst xmlns:a="http://schemas.openxmlformats.org/drawingml/2006/main">
              <a:ext uri="{FF2B5EF4-FFF2-40B4-BE49-F238E27FC236}">
                <a16:creationId xmlns:a16="http://schemas.microsoft.com/office/drawing/2014/main" id="{52C1C6FD-464B-47F3-96C2-6859D207F95D}"/>
              </a:ext>
            </a:extLst>
          </p:cNvPr>
          <p:cNvSpPr>
            <a:spLocks xmlns:a="http://schemas.openxmlformats.org/drawingml/2006/main" noGrp="1"/>
          </p:cNvSpPr>
          <p:nvPr/>
        </p:nvSpPr>
        <p:spPr>
          <a:xfrm xmlns:a="http://schemas.openxmlformats.org/drawingml/2006/main">
            <a:off x="809625"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Integrated framework</a:t>
            </a:r>
          </a:p>
        </p:txBody>
      </p:sp>
      <p:sp>
        <p:nvSpPr>
          <p:cNvPr id="221" name="rule-85-205">
            <a:extLst xmlns:a="http://schemas.openxmlformats.org/drawingml/2006/main">
              <a:ext uri="{FF2B5EF4-FFF2-40B4-BE49-F238E27FC236}">
                <a16:creationId xmlns:a16="http://schemas.microsoft.com/office/drawing/2014/main" id="{6BF6761C-D851-47E9-8FC3-252B8B1593DB}"/>
              </a:ext>
            </a:extLst>
          </p:cNvPr>
          <p:cNvSpPr>
            <a:spLocks xmlns:a="http://schemas.openxmlformats.org/drawingml/2006/main" noGrp="1"/>
          </p:cNvSpPr>
          <p:nvPr/>
        </p:nvSpPr>
        <p:spPr>
          <a:xfrm xmlns:a="http://schemas.openxmlformats.org/drawingml/2006/main">
            <a:off x="80962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contribution-body-0">
            <a:extLst xmlns:a="http://schemas.openxmlformats.org/drawingml/2006/main">
              <a:ext uri="{FF2B5EF4-FFF2-40B4-BE49-F238E27FC236}">
                <a16:creationId xmlns:a16="http://schemas.microsoft.com/office/drawing/2014/main" id="{322A2455-2797-49DF-93D2-DA5A552B246A}"/>
              </a:ext>
            </a:extLst>
          </p:cNvPr>
          <p:cNvSpPr>
            <a:spLocks xmlns:a="http://schemas.openxmlformats.org/drawingml/2006/main" noGrp="1"/>
          </p:cNvSpPr>
          <p:nvPr/>
        </p:nvSpPr>
        <p:spPr>
          <a:xfrm xmlns:a="http://schemas.openxmlformats.org/drawingml/2006/main">
            <a:off x="809625"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 working cross-silo pipeline combines patient-level DP, CKKS aggregation, authenticated messages, verification, governed release, and witnessed audit evidence.</a:t>
            </a:r>
          </a:p>
        </p:txBody>
      </p:sp>
      <p:sp>
        <p:nvSpPr>
          <p:cNvPr id="223" name="contribution-heading-1">
            <a:extLst xmlns:a="http://schemas.openxmlformats.org/drawingml/2006/main">
              <a:ext uri="{FF2B5EF4-FFF2-40B4-BE49-F238E27FC236}">
                <a16:creationId xmlns:a16="http://schemas.microsoft.com/office/drawing/2014/main" id="{92FFF5B2-5DC0-4B27-91C5-A8AFAAA92067}"/>
              </a:ext>
            </a:extLst>
          </p:cNvPr>
          <p:cNvSpPr>
            <a:spLocks xmlns:a="http://schemas.openxmlformats.org/drawingml/2006/main" noGrp="1"/>
          </p:cNvSpPr>
          <p:nvPr/>
        </p:nvSpPr>
        <p:spPr>
          <a:xfrm xmlns:a="http://schemas.openxmlformats.org/drawingml/2006/main">
            <a:off x="6286500" y="13811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CAABC-FL</a:t>
            </a:r>
          </a:p>
        </p:txBody>
      </p:sp>
      <p:sp>
        <p:nvSpPr>
          <p:cNvPr id="224" name="rule-660-205">
            <a:extLst xmlns:a="http://schemas.openxmlformats.org/drawingml/2006/main">
              <a:ext uri="{FF2B5EF4-FFF2-40B4-BE49-F238E27FC236}">
                <a16:creationId xmlns:a16="http://schemas.microsoft.com/office/drawing/2014/main" id="{6F490125-C547-4511-ABA5-469FBFFC3BFF}"/>
              </a:ext>
            </a:extLst>
          </p:cNvPr>
          <p:cNvSpPr>
            <a:spLocks xmlns:a="http://schemas.openxmlformats.org/drawingml/2006/main" noGrp="1"/>
          </p:cNvSpPr>
          <p:nvPr/>
        </p:nvSpPr>
        <p:spPr>
          <a:xfrm xmlns:a="http://schemas.openxmlformats.org/drawingml/2006/main">
            <a:off x="628650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contribution-body-1">
            <a:extLst xmlns:a="http://schemas.openxmlformats.org/drawingml/2006/main">
              <a:ext uri="{FF2B5EF4-FFF2-40B4-BE49-F238E27FC236}">
                <a16:creationId xmlns:a16="http://schemas.microsoft.com/office/drawing/2014/main" id="{2336BA83-36CE-4241-A14D-79C74F34819F}"/>
              </a:ext>
            </a:extLst>
          </p:cNvPr>
          <p:cNvSpPr>
            <a:spLocks xmlns:a="http://schemas.openxmlformats.org/drawingml/2006/main" noGrp="1"/>
          </p:cNvSpPr>
          <p:nvPr/>
        </p:nvSpPr>
        <p:spPr>
          <a:xfrm xmlns:a="http://schemas.openxmlformats.org/drawingml/2006/main">
            <a:off x="6286500" y="2143125"/>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Adaptive common blocks align with ciphertext packing, so compression reduces serialized network bytes while error feedback limits discarded-update loss.</a:t>
            </a:r>
          </a:p>
        </p:txBody>
      </p:sp>
      <p:sp>
        <p:nvSpPr>
          <p:cNvPr id="226" name="contribution-heading-2">
            <a:extLst xmlns:a="http://schemas.openxmlformats.org/drawingml/2006/main">
              <a:ext uri="{FF2B5EF4-FFF2-40B4-BE49-F238E27FC236}">
                <a16:creationId xmlns:a16="http://schemas.microsoft.com/office/drawing/2014/main" id="{17CDFF91-A584-4FA0-AB9F-65812ABE4A2E}"/>
              </a:ext>
            </a:extLst>
          </p:cNvPr>
          <p:cNvSpPr>
            <a:spLocks xmlns:a="http://schemas.openxmlformats.org/drawingml/2006/main" noGrp="1"/>
          </p:cNvSpPr>
          <p:nvPr/>
        </p:nvSpPr>
        <p:spPr>
          <a:xfrm xmlns:a="http://schemas.openxmlformats.org/drawingml/2006/main">
            <a:off x="809625"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Reproducible evaluation</a:t>
            </a:r>
          </a:p>
        </p:txBody>
      </p:sp>
      <p:sp>
        <p:nvSpPr>
          <p:cNvPr id="227" name="rule-85-440">
            <a:extLst xmlns:a="http://schemas.openxmlformats.org/drawingml/2006/main">
              <a:ext uri="{FF2B5EF4-FFF2-40B4-BE49-F238E27FC236}">
                <a16:creationId xmlns:a16="http://schemas.microsoft.com/office/drawing/2014/main" id="{CEC27297-928F-4A84-A737-5BFFBC3C3594}"/>
              </a:ext>
            </a:extLst>
          </p:cNvPr>
          <p:cNvSpPr>
            <a:spLocks xmlns:a="http://schemas.openxmlformats.org/drawingml/2006/main" noGrp="1"/>
          </p:cNvSpPr>
          <p:nvPr/>
        </p:nvSpPr>
        <p:spPr>
          <a:xfrm xmlns:a="http://schemas.openxmlformats.org/drawingml/2006/main">
            <a:off x="809625" y="419100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contribution-body-2">
            <a:extLst xmlns:a="http://schemas.openxmlformats.org/drawingml/2006/main">
              <a:ext uri="{FF2B5EF4-FFF2-40B4-BE49-F238E27FC236}">
                <a16:creationId xmlns:a16="http://schemas.microsoft.com/office/drawing/2014/main" id="{B4FD7A21-EA7E-47DC-9B27-61F10A59C19B}"/>
              </a:ext>
            </a:extLst>
          </p:cNvPr>
          <p:cNvSpPr>
            <a:spLocks xmlns:a="http://schemas.openxmlformats.org/drawingml/2006/main" noGrp="1"/>
          </p:cNvSpPr>
          <p:nvPr/>
        </p:nvSpPr>
        <p:spPr>
          <a:xfrm xmlns:a="http://schemas.openxmlformats.org/drawingml/2006/main">
            <a:off x="809625"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Five paired seeds cover utility, LiRA/RMIA, 300-step reconstruction, seven one-round attacks, longitudinal poisoning, CKKS correctness, and service timing.</a:t>
            </a:r>
          </a:p>
        </p:txBody>
      </p:sp>
      <p:sp>
        <p:nvSpPr>
          <p:cNvPr id="229" name="contribution-heading-3">
            <a:extLst xmlns:a="http://schemas.openxmlformats.org/drawingml/2006/main">
              <a:ext uri="{FF2B5EF4-FFF2-40B4-BE49-F238E27FC236}">
                <a16:creationId xmlns:a16="http://schemas.microsoft.com/office/drawing/2014/main" id="{E6D68144-989E-418A-A459-6C7D6D695583}"/>
              </a:ext>
            </a:extLst>
          </p:cNvPr>
          <p:cNvSpPr>
            <a:spLocks xmlns:a="http://schemas.openxmlformats.org/drawingml/2006/main" noGrp="1"/>
          </p:cNvSpPr>
          <p:nvPr/>
        </p:nvSpPr>
        <p:spPr>
          <a:xfrm xmlns:a="http://schemas.openxmlformats.org/drawingml/2006/main">
            <a:off x="6286500" y="361950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Explicit claim boundary</a:t>
            </a:r>
          </a:p>
        </p:txBody>
      </p:sp>
      <p:sp>
        <p:nvSpPr>
          <p:cNvPr id="230" name="rule-660-440">
            <a:extLst xmlns:a="http://schemas.openxmlformats.org/drawingml/2006/main">
              <a:ext uri="{FF2B5EF4-FFF2-40B4-BE49-F238E27FC236}">
                <a16:creationId xmlns:a16="http://schemas.microsoft.com/office/drawing/2014/main" id="{98C5FDC7-1253-4C25-8939-F8D015C30AB5}"/>
              </a:ext>
            </a:extLst>
          </p:cNvPr>
          <p:cNvSpPr>
            <a:spLocks xmlns:a="http://schemas.openxmlformats.org/drawingml/2006/main" noGrp="1"/>
          </p:cNvSpPr>
          <p:nvPr/>
        </p:nvSpPr>
        <p:spPr>
          <a:xfrm xmlns:a="http://schemas.openxmlformats.org/drawingml/2006/main">
            <a:off x="6286500" y="419100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contribution-body-3">
            <a:extLst xmlns:a="http://schemas.openxmlformats.org/drawingml/2006/main">
              <a:ext uri="{FF2B5EF4-FFF2-40B4-BE49-F238E27FC236}">
                <a16:creationId xmlns:a16="http://schemas.microsoft.com/office/drawing/2014/main" id="{0BFF1A3B-FBEE-4A8F-8DBE-FE83B0228182}"/>
              </a:ext>
            </a:extLst>
          </p:cNvPr>
          <p:cNvSpPr>
            <a:spLocks xmlns:a="http://schemas.openxmlformats.org/drawingml/2006/main" noGrp="1"/>
          </p:cNvSpPr>
          <p:nvPr/>
        </p:nvSpPr>
        <p:spPr>
          <a:xfrm xmlns:a="http://schemas.openxmlformats.org/drawingml/2006/main">
            <a:off x="6286500" y="4381500"/>
            <a:ext cx="4857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688" b="0" i="0">
                <a:solidFill>
                  <a:srgbClr val="1F2937"/>
                </a:solidFill>
                <a:latin typeface="Arial"/>
                <a:ea typeface="Arial"/>
                <a:cs typeface="Arial"/>
              </a:defRPr>
            </a:pPr>
            <a:r>
              <a:rPr sz="1688" b="0" i="0">
                <a:solidFill>
                  <a:srgbClr val="1F2937"/>
                </a:solidFill>
                <a:latin typeface="Arial"/>
                <a:ea typeface="Arial"/>
                <a:cs typeface="Arial"/>
              </a:rPr>
              <a:t>Negative AUPRC, rollback cost, central key custody, and deployment limits remain visible rather than being hidden by a single headline metric.</a:t>
            </a:r>
          </a:p>
        </p:txBody>
      </p:sp>
      <p:sp>
        <p:nvSpPr>
          <p:cNvPr id="234" name="visible-footer-date-25">
            <a:extLst xmlns:a="http://schemas.openxmlformats.org/drawingml/2006/main">
              <a:ext uri="{FF2B5EF4-FFF2-40B4-BE49-F238E27FC236}">
                <a16:creationId xmlns:a16="http://schemas.microsoft.com/office/drawing/2014/main" id="{5DBD99E7-AB9A-45D3-A9A8-2E566FE9E409}"/>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838165317"/>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B791FA7-8393-831E-8AB3-1E71F24E09B1}"/>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Limitations</a:t>
            </a:r>
            <a:endParaRPr/>
          </a:p>
        </p:txBody>
      </p:sp>
      <p:sp>
        <p:nvSpPr>
          <p:cNvPr id="212" name="Google Shape;212;p28">
            <a:extLst xmlns:a="http://schemas.openxmlformats.org/drawingml/2006/main">
              <a:ext uri="{FF2B5EF4-FFF2-40B4-BE49-F238E27FC236}">
                <a16:creationId xmlns:a16="http://schemas.microsoft.com/office/drawing/2014/main" id="{4A5D3A6C-140B-C181-80E5-1FCC8C53247D}"/>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28</a:t>
            </a:r>
            <a:endParaRPr sz="2800"/>
          </a:p>
        </p:txBody>
      </p:sp>
      <p:pic>
        <p:nvPicPr>
          <p:cNvPr id="22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5a29d9e893d042d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610cba997014120">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E7B93C6-6A94-E8D9-9C08-C771DFA446BF}"/>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2083596-6F1F-F68D-870C-C931593560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limitations-bullets">
            <a:extLst xmlns:a="http://schemas.openxmlformats.org/drawingml/2006/main">
              <a:ext uri="{FF2B5EF4-FFF2-40B4-BE49-F238E27FC236}">
                <a16:creationId xmlns:a16="http://schemas.microsoft.com/office/drawing/2014/main" id="{66535D40-F506-4541-B5A4-1EB729B3D51A}"/>
              </a:ext>
            </a:extLst>
          </p:cNvPr>
          <p:cNvSpPr>
            <a:spLocks xmlns:a="http://schemas.openxmlformats.org/drawingml/2006/main" noGrp="1"/>
          </p:cNvSpPr>
          <p:nvPr/>
        </p:nvSpPr>
        <p:spPr>
          <a:xfrm xmlns:a="http://schemas.openxmlformats.org/drawingml/2006/main">
            <a:off x="1047750" y="1381125"/>
            <a:ext cx="100965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One retrospective sepsis cohort, two source hospitals, one MLP, and no prospective or external clinical validation.</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The main TenSEAL service uses central key custody. The OpenFHE threshold experiment remains an isolated 3-of-3 test without dropout tolerance.</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Network timing comes from sequential single-host runs, not a wide-area multi-institution deployment.</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No physical Intel TDX or AMD SEV-SNP experiment, medical-device assessment, or stakeholder usability study.</a:t>
            </a:r>
          </a:p>
          <a:p xmlns:a="http://schemas.openxmlformats.org/drawingml/2006/main">
            <a:pPr marL="254000" indent="-127000">
              <a:spcAft>
                <a:spcPts val="1000"/>
              </a:spcAft>
              <a:buChar char="•"/>
              <a:defRPr sz="1875">
                <a:solidFill>
                  <a:srgbClr val="1F2937"/>
                </a:solidFill>
                <a:latin typeface="Arial"/>
                <a:ea typeface="Arial"/>
                <a:cs typeface="Arial"/>
              </a:defRPr>
            </a:pPr>
            <a:r>
              <a:rPr sz="1875">
                <a:solidFill>
                  <a:srgbClr val="1F2937"/>
                </a:solidFill>
                <a:latin typeface="Arial"/>
                <a:ea typeface="Arial"/>
                <a:cs typeface="Arial"/>
              </a:rPr>
              <a:t>Membership, reconstruction, and poisoning findings remain specific to the registered attacks and five security seeds.</a:t>
            </a:r>
          </a:p>
        </p:txBody>
      </p:sp>
      <p:sp>
        <p:nvSpPr>
          <p:cNvPr id="221" name="limitations-close">
            <a:extLst xmlns:a="http://schemas.openxmlformats.org/drawingml/2006/main">
              <a:ext uri="{FF2B5EF4-FFF2-40B4-BE49-F238E27FC236}">
                <a16:creationId xmlns:a16="http://schemas.microsoft.com/office/drawing/2014/main" id="{93C4C268-4512-4584-BECF-715A2CCF774A}"/>
              </a:ext>
            </a:extLst>
          </p:cNvPr>
          <p:cNvSpPr>
            <a:spLocks xmlns:a="http://schemas.openxmlformats.org/drawingml/2006/main" noGrp="1"/>
          </p:cNvSpPr>
          <p:nvPr/>
        </p:nvSpPr>
        <p:spPr>
          <a:xfrm xmlns:a="http://schemas.openxmlformats.org/drawingml/2006/main">
            <a:off x="1381125" y="5572125"/>
            <a:ext cx="942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580"/>
          </a:bodyPr>
          <a:lstStyle xmlns:a="http://schemas.openxmlformats.org/drawingml/2006/main"/>
          <a:p xmlns:a="http://schemas.openxmlformats.org/drawingml/2006/main">
            <a:pPr algn="ctr">
              <a:buNone/>
              <a:defRPr sz="1688" b="1" i="0">
                <a:solidFill>
                  <a:srgbClr val="C00000"/>
                </a:solidFill>
                <a:latin typeface="Arial"/>
                <a:ea typeface="Arial"/>
                <a:cs typeface="Arial"/>
              </a:defRPr>
            </a:pPr>
            <a:r>
              <a:rPr sz="1688" b="1" i="0">
                <a:solidFill>
                  <a:srgbClr val="C00000"/>
                </a:solidFill>
                <a:latin typeface="Arial"/>
                <a:ea typeface="Arial"/>
                <a:cs typeface="Arial"/>
              </a:rPr>
              <a:t>These limitations restrict deployment claims but do not invalidate the measured protocol-level results.</a:t>
            </a:r>
          </a:p>
        </p:txBody>
      </p:sp>
      <p:sp>
        <p:nvSpPr>
          <p:cNvPr id="224" name="visible-footer-date-26">
            <a:extLst xmlns:a="http://schemas.openxmlformats.org/drawingml/2006/main">
              <a:ext uri="{FF2B5EF4-FFF2-40B4-BE49-F238E27FC236}">
                <a16:creationId xmlns:a16="http://schemas.microsoft.com/office/drawing/2014/main" id="{37B6C764-FE79-41A7-B5D0-D4EC72E1AE78}"/>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96104022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EE1420B-D505-7F3F-F820-A0568A0EF77B}"/>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Future Work</a:t>
            </a:r>
            <a:endParaRPr/>
          </a:p>
        </p:txBody>
      </p:sp>
      <p:sp>
        <p:nvSpPr>
          <p:cNvPr id="212" name="Google Shape;212;p28">
            <a:extLst xmlns:a="http://schemas.openxmlformats.org/drawingml/2006/main">
              <a:ext uri="{FF2B5EF4-FFF2-40B4-BE49-F238E27FC236}">
                <a16:creationId xmlns:a16="http://schemas.microsoft.com/office/drawing/2014/main" id="{DEFBA6C7-8677-BA99-896A-D45BF6267A33}"/>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29</a:t>
            </a:r>
            <a:endParaRPr sz="2800"/>
          </a:p>
        </p:txBody>
      </p:sp>
      <p:pic>
        <p:nvPicPr>
          <p:cNvPr id="241"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d3b8c7ffaaaa4ffb">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2"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9cdd355483e84db5">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BE7B3C8F-E948-A1D6-7FC6-3DFC5D71625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16187B56-C42F-E6AA-4F92-6A4AFFA85B62}"/>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future-heading-0">
            <a:extLst xmlns:a="http://schemas.openxmlformats.org/drawingml/2006/main">
              <a:ext uri="{FF2B5EF4-FFF2-40B4-BE49-F238E27FC236}">
                <a16:creationId xmlns:a16="http://schemas.microsoft.com/office/drawing/2014/main" id="{F2ECD84B-E76C-4495-B9CA-4D1D6AFB6122}"/>
              </a:ext>
            </a:extLst>
          </p:cNvPr>
          <p:cNvSpPr>
            <a:spLocks xmlns:a="http://schemas.openxmlformats.org/drawingml/2006/main" noGrp="1"/>
          </p:cNvSpPr>
          <p:nvPr/>
        </p:nvSpPr>
        <p:spPr>
          <a:xfrm xmlns:a="http://schemas.openxmlformats.org/drawingml/2006/main">
            <a:off x="952500" y="12382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Threshold custody</a:t>
            </a:r>
          </a:p>
        </p:txBody>
      </p:sp>
      <p:sp>
        <p:nvSpPr>
          <p:cNvPr id="221" name="future-body-0">
            <a:extLst xmlns:a="http://schemas.openxmlformats.org/drawingml/2006/main">
              <a:ext uri="{FF2B5EF4-FFF2-40B4-BE49-F238E27FC236}">
                <a16:creationId xmlns:a16="http://schemas.microsoft.com/office/drawing/2014/main" id="{1765C348-CDF5-4D16-952C-9760DDF9ECBE}"/>
              </a:ext>
            </a:extLst>
          </p:cNvPr>
          <p:cNvSpPr>
            <a:spLocks xmlns:a="http://schemas.openxmlformats.org/drawingml/2006/main" noGrp="1"/>
          </p:cNvSpPr>
          <p:nvPr/>
        </p:nvSpPr>
        <p:spPr>
          <a:xfrm xmlns:a="http://schemas.openxmlformats.org/drawingml/2006/main">
            <a:off x="3714750" y="12382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Integrate dropout-tolerant t-of-n decryption with networked independent custodians.</a:t>
            </a:r>
          </a:p>
        </p:txBody>
      </p:sp>
      <p:sp>
        <p:nvSpPr>
          <p:cNvPr id="222" name="rule-100-202">
            <a:extLst xmlns:a="http://schemas.openxmlformats.org/drawingml/2006/main">
              <a:ext uri="{FF2B5EF4-FFF2-40B4-BE49-F238E27FC236}">
                <a16:creationId xmlns:a16="http://schemas.microsoft.com/office/drawing/2014/main" id="{D1B4CE68-A843-47DE-A326-0F8CD92B6A5F}"/>
              </a:ext>
            </a:extLst>
          </p:cNvPr>
          <p:cNvSpPr>
            <a:spLocks xmlns:a="http://schemas.openxmlformats.org/drawingml/2006/main" noGrp="1"/>
          </p:cNvSpPr>
          <p:nvPr/>
        </p:nvSpPr>
        <p:spPr>
          <a:xfrm xmlns:a="http://schemas.openxmlformats.org/drawingml/2006/main">
            <a:off x="952500" y="19240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3" name="future-heading-1">
            <a:extLst xmlns:a="http://schemas.openxmlformats.org/drawingml/2006/main">
              <a:ext uri="{FF2B5EF4-FFF2-40B4-BE49-F238E27FC236}">
                <a16:creationId xmlns:a16="http://schemas.microsoft.com/office/drawing/2014/main" id="{568495B0-C246-4E92-A3A4-897C78E24B8B}"/>
              </a:ext>
            </a:extLst>
          </p:cNvPr>
          <p:cNvSpPr>
            <a:spLocks xmlns:a="http://schemas.openxmlformats.org/drawingml/2006/main" noGrp="1"/>
          </p:cNvSpPr>
          <p:nvPr/>
        </p:nvSpPr>
        <p:spPr>
          <a:xfrm xmlns:a="http://schemas.openxmlformats.org/drawingml/2006/main">
            <a:off x="952500" y="21717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126"/>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Encrypted robustness</a:t>
            </a:r>
          </a:p>
        </p:txBody>
      </p:sp>
      <p:sp>
        <p:nvSpPr>
          <p:cNvPr id="224" name="future-body-1">
            <a:extLst xmlns:a="http://schemas.openxmlformats.org/drawingml/2006/main">
              <a:ext uri="{FF2B5EF4-FFF2-40B4-BE49-F238E27FC236}">
                <a16:creationId xmlns:a16="http://schemas.microsoft.com/office/drawing/2014/main" id="{79E69313-3063-41C9-97D9-3260C1BA5A1D}"/>
              </a:ext>
            </a:extLst>
          </p:cNvPr>
          <p:cNvSpPr>
            <a:spLocks xmlns:a="http://schemas.openxmlformats.org/drawingml/2006/main" noGrp="1"/>
          </p:cNvSpPr>
          <p:nvPr/>
        </p:nvSpPr>
        <p:spPr>
          <a:xfrm xmlns:a="http://schemas.openxmlformats.org/drawingml/2006/main">
            <a:off x="3714750" y="21717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Develop secure robust statistics that do not require exposing individual plaintext updates.</a:t>
            </a:r>
          </a:p>
        </p:txBody>
      </p:sp>
      <p:sp>
        <p:nvSpPr>
          <p:cNvPr id="225" name="rule-100-300">
            <a:extLst xmlns:a="http://schemas.openxmlformats.org/drawingml/2006/main">
              <a:ext uri="{FF2B5EF4-FFF2-40B4-BE49-F238E27FC236}">
                <a16:creationId xmlns:a16="http://schemas.microsoft.com/office/drawing/2014/main" id="{ED8913E1-5FCF-43AE-AF34-B1BE0DC35E50}"/>
              </a:ext>
            </a:extLst>
          </p:cNvPr>
          <p:cNvSpPr>
            <a:spLocks xmlns:a="http://schemas.openxmlformats.org/drawingml/2006/main" noGrp="1"/>
          </p:cNvSpPr>
          <p:nvPr/>
        </p:nvSpPr>
        <p:spPr>
          <a:xfrm xmlns:a="http://schemas.openxmlformats.org/drawingml/2006/main">
            <a:off x="952500" y="28575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6" name="future-heading-2">
            <a:extLst xmlns:a="http://schemas.openxmlformats.org/drawingml/2006/main">
              <a:ext uri="{FF2B5EF4-FFF2-40B4-BE49-F238E27FC236}">
                <a16:creationId xmlns:a16="http://schemas.microsoft.com/office/drawing/2014/main" id="{78D8A5C4-F2F6-4295-9470-8454CA08421A}"/>
              </a:ext>
            </a:extLst>
          </p:cNvPr>
          <p:cNvSpPr>
            <a:spLocks xmlns:a="http://schemas.openxmlformats.org/drawingml/2006/main" noGrp="1"/>
          </p:cNvSpPr>
          <p:nvPr/>
        </p:nvSpPr>
        <p:spPr>
          <a:xfrm xmlns:a="http://schemas.openxmlformats.org/drawingml/2006/main">
            <a:off x="952500" y="31051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Production deployment</a:t>
            </a:r>
          </a:p>
        </p:txBody>
      </p:sp>
      <p:sp>
        <p:nvSpPr>
          <p:cNvPr id="227" name="future-body-2">
            <a:extLst xmlns:a="http://schemas.openxmlformats.org/drawingml/2006/main">
              <a:ext uri="{FF2B5EF4-FFF2-40B4-BE49-F238E27FC236}">
                <a16:creationId xmlns:a16="http://schemas.microsoft.com/office/drawing/2014/main" id="{E9104F83-5B73-4D84-9A61-93FFD3BDFBE0}"/>
              </a:ext>
            </a:extLst>
          </p:cNvPr>
          <p:cNvSpPr>
            <a:spLocks xmlns:a="http://schemas.openxmlformats.org/drawingml/2006/main" noGrp="1"/>
          </p:cNvSpPr>
          <p:nvPr/>
        </p:nvSpPr>
        <p:spPr>
          <a:xfrm xmlns:a="http://schemas.openxmlformats.org/drawingml/2006/main">
            <a:off x="3714750" y="31051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Run concurrent multi-host WAN experiments and physical TDX or SEV-SNP attestation.</a:t>
            </a:r>
          </a:p>
        </p:txBody>
      </p:sp>
      <p:sp>
        <p:nvSpPr>
          <p:cNvPr id="228" name="rule-100-398">
            <a:extLst xmlns:a="http://schemas.openxmlformats.org/drawingml/2006/main">
              <a:ext uri="{FF2B5EF4-FFF2-40B4-BE49-F238E27FC236}">
                <a16:creationId xmlns:a16="http://schemas.microsoft.com/office/drawing/2014/main" id="{CD4C655C-3676-4349-9C17-A269F31B71C9}"/>
              </a:ext>
            </a:extLst>
          </p:cNvPr>
          <p:cNvSpPr>
            <a:spLocks xmlns:a="http://schemas.openxmlformats.org/drawingml/2006/main" noGrp="1"/>
          </p:cNvSpPr>
          <p:nvPr/>
        </p:nvSpPr>
        <p:spPr>
          <a:xfrm xmlns:a="http://schemas.openxmlformats.org/drawingml/2006/main">
            <a:off x="952500" y="379095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29" name="future-heading-3">
            <a:extLst xmlns:a="http://schemas.openxmlformats.org/drawingml/2006/main">
              <a:ext uri="{FF2B5EF4-FFF2-40B4-BE49-F238E27FC236}">
                <a16:creationId xmlns:a16="http://schemas.microsoft.com/office/drawing/2014/main" id="{B534CBAC-79B1-4870-8F32-30613F27B2DA}"/>
              </a:ext>
            </a:extLst>
          </p:cNvPr>
          <p:cNvSpPr>
            <a:spLocks xmlns:a="http://schemas.openxmlformats.org/drawingml/2006/main" noGrp="1"/>
          </p:cNvSpPr>
          <p:nvPr/>
        </p:nvSpPr>
        <p:spPr>
          <a:xfrm xmlns:a="http://schemas.openxmlformats.org/drawingml/2006/main">
            <a:off x="952500" y="403860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862"/>
          </a:bodyPr>
          <a:lstStyle xmlns:a="http://schemas.openxmlformats.org/drawingml/2006/main"/>
          <a:p xmlns:a="http://schemas.openxmlformats.org/drawingml/2006/main">
            <a:pPr algn="l">
              <a:buNone/>
              <a:defRPr sz="1875" b="1" i="0">
                <a:solidFill>
                  <a:srgbClr val="17365D"/>
                </a:solidFill>
                <a:latin typeface="Arial"/>
                <a:ea typeface="Arial"/>
                <a:cs typeface="Arial"/>
              </a:defRPr>
            </a:pPr>
            <a:r>
              <a:rPr sz="1875" b="1" i="0">
                <a:solidFill>
                  <a:srgbClr val="17365D"/>
                </a:solidFill>
                <a:latin typeface="Arial"/>
                <a:ea typeface="Arial"/>
                <a:cs typeface="Arial"/>
              </a:rPr>
              <a:t>Clinical generalization</a:t>
            </a:r>
          </a:p>
        </p:txBody>
      </p:sp>
      <p:sp>
        <p:nvSpPr>
          <p:cNvPr id="230" name="future-body-3">
            <a:extLst xmlns:a="http://schemas.openxmlformats.org/drawingml/2006/main">
              <a:ext uri="{FF2B5EF4-FFF2-40B4-BE49-F238E27FC236}">
                <a16:creationId xmlns:a16="http://schemas.microsoft.com/office/drawing/2014/main" id="{03245E0B-7FD7-4653-B3E8-DADF827963BB}"/>
              </a:ext>
            </a:extLst>
          </p:cNvPr>
          <p:cNvSpPr>
            <a:spLocks xmlns:a="http://schemas.openxmlformats.org/drawingml/2006/main" noGrp="1"/>
          </p:cNvSpPr>
          <p:nvPr/>
        </p:nvSpPr>
        <p:spPr>
          <a:xfrm xmlns:a="http://schemas.openxmlformats.org/drawingml/2006/main">
            <a:off x="3714750" y="403860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Evaluate additional institutions, diseases, model families, fairness endpoints, and prospective workflows.</a:t>
            </a:r>
          </a:p>
        </p:txBody>
      </p:sp>
      <p:sp>
        <p:nvSpPr>
          <p:cNvPr id="231" name="rule-100-496">
            <a:extLst xmlns:a="http://schemas.openxmlformats.org/drawingml/2006/main">
              <a:ext uri="{FF2B5EF4-FFF2-40B4-BE49-F238E27FC236}">
                <a16:creationId xmlns:a16="http://schemas.microsoft.com/office/drawing/2014/main" id="{52FB6D97-7A77-4E9E-9850-066828288E2F}"/>
              </a:ext>
            </a:extLst>
          </p:cNvPr>
          <p:cNvSpPr>
            <a:spLocks xmlns:a="http://schemas.openxmlformats.org/drawingml/2006/main" noGrp="1"/>
          </p:cNvSpPr>
          <p:nvPr/>
        </p:nvSpPr>
        <p:spPr>
          <a:xfrm xmlns:a="http://schemas.openxmlformats.org/drawingml/2006/main">
            <a:off x="952500" y="4724400"/>
            <a:ext cx="10287000" cy="9525"/>
          </a:xfrm>
          <a:prstGeom xmlns:a="http://schemas.openxmlformats.org/drawingml/2006/main" prst="rect">
            <a:avLst/>
          </a:prstGeom>
          <a:solidFill xmlns:a="http://schemas.openxmlformats.org/drawingml/2006/main">
            <a:srgbClr val="B8C4CE"/>
          </a:solidFill>
          <a:ln xmlns:a="http://schemas.openxmlformats.org/drawingml/2006/main" w="0">
            <a:noFill/>
          </a:ln>
        </p:spPr>
      </p:sp>
      <p:sp>
        <p:nvSpPr>
          <p:cNvPr id="232" name="future-heading-4">
            <a:extLst xmlns:a="http://schemas.openxmlformats.org/drawingml/2006/main">
              <a:ext uri="{FF2B5EF4-FFF2-40B4-BE49-F238E27FC236}">
                <a16:creationId xmlns:a16="http://schemas.microsoft.com/office/drawing/2014/main" id="{E998B5CE-32BD-4323-8567-B6FA18FAE274}"/>
              </a:ext>
            </a:extLst>
          </p:cNvPr>
          <p:cNvSpPr>
            <a:spLocks xmlns:a="http://schemas.openxmlformats.org/drawingml/2006/main" noGrp="1"/>
          </p:cNvSpPr>
          <p:nvPr/>
        </p:nvSpPr>
        <p:spPr>
          <a:xfrm xmlns:a="http://schemas.openxmlformats.org/drawingml/2006/main">
            <a:off x="952500" y="4972050"/>
            <a:ext cx="257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910"/>
          </a:bodyPr>
          <a:lstStyle xmlns:a="http://schemas.openxmlformats.org/drawingml/2006/main"/>
          <a:p xmlns:a="http://schemas.openxmlformats.org/drawingml/2006/main">
            <a:pPr algn="l">
              <a:buNone/>
              <a:defRPr sz="1875" b="1" i="0">
                <a:solidFill>
                  <a:srgbClr val="00843D"/>
                </a:solidFill>
                <a:latin typeface="Arial"/>
                <a:ea typeface="Arial"/>
                <a:cs typeface="Arial"/>
              </a:defRPr>
            </a:pPr>
            <a:r>
              <a:rPr sz="1875" b="1" i="0">
                <a:solidFill>
                  <a:srgbClr val="00843D"/>
                </a:solidFill>
                <a:latin typeface="Arial"/>
                <a:ea typeface="Arial"/>
                <a:cs typeface="Arial"/>
              </a:rPr>
              <a:t>Independent assurance</a:t>
            </a:r>
          </a:p>
        </p:txBody>
      </p:sp>
      <p:sp>
        <p:nvSpPr>
          <p:cNvPr id="233" name="future-body-4">
            <a:extLst xmlns:a="http://schemas.openxmlformats.org/drawingml/2006/main">
              <a:ext uri="{FF2B5EF4-FFF2-40B4-BE49-F238E27FC236}">
                <a16:creationId xmlns:a16="http://schemas.microsoft.com/office/drawing/2014/main" id="{9483DACB-F39A-44B7-BC69-6391486F16C4}"/>
              </a:ext>
            </a:extLst>
          </p:cNvPr>
          <p:cNvSpPr>
            <a:spLocks xmlns:a="http://schemas.openxmlformats.org/drawingml/2006/main" noGrp="1"/>
          </p:cNvSpPr>
          <p:nvPr/>
        </p:nvSpPr>
        <p:spPr>
          <a:xfrm xmlns:a="http://schemas.openxmlformats.org/drawingml/2006/main">
            <a:off x="3714750" y="4972050"/>
            <a:ext cx="752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304"/>
          </a:bodyPr>
          <a:lstStyle xmlns:a="http://schemas.openxmlformats.org/drawingml/2006/main"/>
          <a:p xmlns:a="http://schemas.openxmlformats.org/drawingml/2006/main">
            <a:pPr algn="l">
              <a:buNone/>
              <a:defRPr sz="1725" b="0" i="0">
                <a:solidFill>
                  <a:srgbClr val="1F2937"/>
                </a:solidFill>
                <a:latin typeface="Arial"/>
                <a:ea typeface="Arial"/>
                <a:cs typeface="Arial"/>
              </a:defRPr>
            </a:pPr>
            <a:r>
              <a:rPr sz="1725" b="0" i="0">
                <a:solidFill>
                  <a:srgbClr val="1F2937"/>
                </a:solidFill>
                <a:latin typeface="Arial"/>
                <a:ea typeface="Arial"/>
                <a:cs typeface="Arial"/>
              </a:rPr>
              <a:t>Audit secure randomness, cryptographic configuration, governance logic, and threat-control evidence.</a:t>
            </a:r>
          </a:p>
        </p:txBody>
      </p:sp>
      <p:sp>
        <p:nvSpPr>
          <p:cNvPr id="236" name="visible-footer-date-27">
            <a:extLst xmlns:a="http://schemas.openxmlformats.org/drawingml/2006/main">
              <a:ext uri="{FF2B5EF4-FFF2-40B4-BE49-F238E27FC236}">
                <a16:creationId xmlns:a16="http://schemas.microsoft.com/office/drawing/2014/main" id="{A06A22BD-BF09-481E-8BEA-555507DFCF21}"/>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3557563943"/>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E2344E4-1A22-60C2-AFF0-304AE3DCA42D}"/>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(1/2)</a:t>
            </a:r>
            <a:endParaRPr/>
          </a:p>
        </p:txBody>
      </p:sp>
      <p:sp>
        <p:nvSpPr>
          <p:cNvPr id="212" name="Google Shape;212;p28">
            <a:extLst xmlns:a="http://schemas.openxmlformats.org/drawingml/2006/main">
              <a:ext uri="{FF2B5EF4-FFF2-40B4-BE49-F238E27FC236}">
                <a16:creationId xmlns:a16="http://schemas.microsoft.com/office/drawing/2014/main" id="{FFFFB3C5-9869-C9B2-9CA3-CEB218044FFE}"/>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30</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2e7244aa3e904aa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f1fe0d39d6554e0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5D3DE624-6115-A665-B7B3-FA10FA71AE1B}"/>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2527088A-4217-01E2-32ED-810E572B3F8A}"/>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8-0">
            <a:extLst xmlns:a="http://schemas.openxmlformats.org/drawingml/2006/main">
              <a:ext uri="{FF2B5EF4-FFF2-40B4-BE49-F238E27FC236}">
                <a16:creationId xmlns:a16="http://schemas.microsoft.com/office/drawing/2014/main" id="{A0904099-BC47-48DD-9FC7-D316955AC3E0}"/>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 H. B. McMahan et al., 'Communication-Efficient Learning of Deep Networks from Decentralized Data,' AISTATS, 2017.</a:t>
            </a:r>
          </a:p>
        </p:txBody>
      </p:sp>
      <p:sp>
        <p:nvSpPr>
          <p:cNvPr id="221" name="reference-28-1">
            <a:extLst xmlns:a="http://schemas.openxmlformats.org/drawingml/2006/main">
              <a:ext uri="{FF2B5EF4-FFF2-40B4-BE49-F238E27FC236}">
                <a16:creationId xmlns:a16="http://schemas.microsoft.com/office/drawing/2014/main" id="{9AA22853-C5D3-4E4D-BEA1-5FB35A4D455D}"/>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[2] M. J. Sheller et al., 'Federated Learning in Medicine,' Scientific Reports, vol. 10, 2020.</a:t>
            </a:r>
          </a:p>
        </p:txBody>
      </p:sp>
      <p:sp>
        <p:nvSpPr>
          <p:cNvPr id="222" name="reference-28-2">
            <a:extLst xmlns:a="http://schemas.openxmlformats.org/drawingml/2006/main">
              <a:ext uri="{FF2B5EF4-FFF2-40B4-BE49-F238E27FC236}">
                <a16:creationId xmlns:a16="http://schemas.microsoft.com/office/drawing/2014/main" id="{E59A6721-22D0-4840-981D-9DB09BD0AB56}"/>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[3] I. Dayan et al., 'Federated Learning for Predicting Clinical Outcomes in Patients with COVID-19,' Nature Medicine, 2021.</a:t>
            </a:r>
          </a:p>
        </p:txBody>
      </p:sp>
      <p:sp>
        <p:nvSpPr>
          <p:cNvPr id="223" name="reference-28-3">
            <a:extLst xmlns:a="http://schemas.openxmlformats.org/drawingml/2006/main">
              <a:ext uri="{FF2B5EF4-FFF2-40B4-BE49-F238E27FC236}">
                <a16:creationId xmlns:a16="http://schemas.microsoft.com/office/drawing/2014/main" id="{C69B131B-3082-4FFA-B58A-55201112CC76}"/>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[4] R. Shokri et al., 'Membership Inference Attacks Against Machine Learning Models,' IEEE S&amp;P, 2017.</a:t>
            </a:r>
          </a:p>
        </p:txBody>
      </p:sp>
      <p:sp>
        <p:nvSpPr>
          <p:cNvPr id="224" name="reference-28-4">
            <a:extLst xmlns:a="http://schemas.openxmlformats.org/drawingml/2006/main">
              <a:ext uri="{FF2B5EF4-FFF2-40B4-BE49-F238E27FC236}">
                <a16:creationId xmlns:a16="http://schemas.microsoft.com/office/drawing/2014/main" id="{05EABF6C-6284-465D-AF53-D60D1CF7452B}"/>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[5] L. Zhu, Z. Liu, and S. Han, 'Deep Leakage from Gradients,' NeurIPS, 2019.</a:t>
            </a:r>
          </a:p>
        </p:txBody>
      </p:sp>
      <p:sp>
        <p:nvSpPr>
          <p:cNvPr id="225" name="reference-28-5">
            <a:extLst xmlns:a="http://schemas.openxmlformats.org/drawingml/2006/main">
              <a:ext uri="{FF2B5EF4-FFF2-40B4-BE49-F238E27FC236}">
                <a16:creationId xmlns:a16="http://schemas.microsoft.com/office/drawing/2014/main" id="{9D247F58-02B2-4B19-9361-1F69FAE13E2D}"/>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[6] J. Geiping et al., 'Inverting Gradients - How Easy Is It to Break Privacy in Federated Learning?' NeurIPS, 2020.</a:t>
            </a:r>
          </a:p>
        </p:txBody>
      </p:sp>
      <p:sp>
        <p:nvSpPr>
          <p:cNvPr id="226" name="reference-28-6">
            <a:extLst xmlns:a="http://schemas.openxmlformats.org/drawingml/2006/main">
              <a:ext uri="{FF2B5EF4-FFF2-40B4-BE49-F238E27FC236}">
                <a16:creationId xmlns:a16="http://schemas.microsoft.com/office/drawing/2014/main" id="{32590E15-6E4E-419E-A8E8-E5787E778FE6}"/>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[7] C. Dwork et al., 'Calibrating Noise to Sensitivity in Private Data Analysis,' TCC, 2006.</a:t>
            </a:r>
          </a:p>
        </p:txBody>
      </p:sp>
      <p:sp>
        <p:nvSpPr>
          <p:cNvPr id="227" name="reference-28-7">
            <a:extLst xmlns:a="http://schemas.openxmlformats.org/drawingml/2006/main">
              <a:ext uri="{FF2B5EF4-FFF2-40B4-BE49-F238E27FC236}">
                <a16:creationId xmlns:a16="http://schemas.microsoft.com/office/drawing/2014/main" id="{B323B6D2-81E3-4645-8F35-DD0FD8668298}"/>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[8] M. Abadi et al., 'Deep Learning with Differential Privacy,' ACM CCS, 2016.</a:t>
            </a:r>
          </a:p>
        </p:txBody>
      </p:sp>
      <p:sp>
        <p:nvSpPr>
          <p:cNvPr id="230" name="visible-footer-date-28">
            <a:extLst xmlns:a="http://schemas.openxmlformats.org/drawingml/2006/main">
              <a:ext uri="{FF2B5EF4-FFF2-40B4-BE49-F238E27FC236}">
                <a16:creationId xmlns:a16="http://schemas.microsoft.com/office/drawing/2014/main" id="{0F0451F1-6B73-4633-9F09-522DF5783B23}"/>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42205720"/>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3C2DD68F-AB1C-3D5D-DF80-8BB6117EDD7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References (2/2)</a:t>
            </a:r>
            <a:endParaRPr/>
          </a:p>
        </p:txBody>
      </p:sp>
      <p:sp>
        <p:nvSpPr>
          <p:cNvPr id="212" name="Google Shape;212;p28">
            <a:extLst xmlns:a="http://schemas.openxmlformats.org/drawingml/2006/main">
              <a:ext uri="{FF2B5EF4-FFF2-40B4-BE49-F238E27FC236}">
                <a16:creationId xmlns:a16="http://schemas.microsoft.com/office/drawing/2014/main" id="{393189EB-7FA1-8916-432D-45E7E59377BC}"/>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31</a:t>
            </a:r>
            <a:endParaRPr sz="2800"/>
          </a:p>
        </p:txBody>
      </p:sp>
      <p:pic>
        <p:nvPicPr>
          <p:cNvPr id="235"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91e93f3db77846be">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6"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246899c5d097404c">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0A2DBA02-EB63-E4A9-87A4-4B734A102E12}"/>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74CAF7A9-99E3-CEA9-46FF-8064363DACFF}"/>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reference-29-0">
            <a:extLst xmlns:a="http://schemas.openxmlformats.org/drawingml/2006/main">
              <a:ext uri="{FF2B5EF4-FFF2-40B4-BE49-F238E27FC236}">
                <a16:creationId xmlns:a16="http://schemas.microsoft.com/office/drawing/2014/main" id="{A2142EB4-CEE1-41A8-9608-5F83BE112E7C}"/>
              </a:ext>
            </a:extLst>
          </p:cNvPr>
          <p:cNvSpPr>
            <a:spLocks xmlns:a="http://schemas.openxmlformats.org/drawingml/2006/main" noGrp="1"/>
          </p:cNvSpPr>
          <p:nvPr/>
        </p:nvSpPr>
        <p:spPr>
          <a:xfrm xmlns:a="http://schemas.openxmlformats.org/drawingml/2006/main">
            <a:off x="809625" y="11430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[9] K. Bonawitz et al., 'Practical Secure Aggregation for Privacy-Preserving Machine Learning,' ACM CCS, 2017.</a:t>
            </a:r>
          </a:p>
        </p:txBody>
      </p:sp>
      <p:sp>
        <p:nvSpPr>
          <p:cNvPr id="221" name="reference-29-1">
            <a:extLst xmlns:a="http://schemas.openxmlformats.org/drawingml/2006/main">
              <a:ext uri="{FF2B5EF4-FFF2-40B4-BE49-F238E27FC236}">
                <a16:creationId xmlns:a16="http://schemas.microsoft.com/office/drawing/2014/main" id="{8C0CE6AE-36A7-45F2-9DFC-7EED13DC9638}"/>
              </a:ext>
            </a:extLst>
          </p:cNvPr>
          <p:cNvSpPr>
            <a:spLocks xmlns:a="http://schemas.openxmlformats.org/drawingml/2006/main" noGrp="1"/>
          </p:cNvSpPr>
          <p:nvPr/>
        </p:nvSpPr>
        <p:spPr>
          <a:xfrm xmlns:a="http://schemas.openxmlformats.org/drawingml/2006/main">
            <a:off x="809625" y="17430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[10] J. H. Cheon et al., 'Homomorphic Encryption for Arithmetic of Approximate Numbers,' ASIACRYPT, 2017.</a:t>
            </a:r>
          </a:p>
        </p:txBody>
      </p:sp>
      <p:sp>
        <p:nvSpPr>
          <p:cNvPr id="222" name="reference-29-2">
            <a:extLst xmlns:a="http://schemas.openxmlformats.org/drawingml/2006/main">
              <a:ext uri="{FF2B5EF4-FFF2-40B4-BE49-F238E27FC236}">
                <a16:creationId xmlns:a16="http://schemas.microsoft.com/office/drawing/2014/main" id="{8EFA07C1-5F7E-4E6B-BF1D-2EF7DC637EB9}"/>
              </a:ext>
            </a:extLst>
          </p:cNvPr>
          <p:cNvSpPr>
            <a:spLocks xmlns:a="http://schemas.openxmlformats.org/drawingml/2006/main" noGrp="1"/>
          </p:cNvSpPr>
          <p:nvPr/>
        </p:nvSpPr>
        <p:spPr>
          <a:xfrm xmlns:a="http://schemas.openxmlformats.org/drawingml/2006/main">
            <a:off x="809625" y="23431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[11] T. Stevens et al., 'Efficient Differentially Private Secure Aggregation for Federated Learning,' USENIX Security, 2022.</a:t>
            </a:r>
          </a:p>
        </p:txBody>
      </p:sp>
      <p:sp>
        <p:nvSpPr>
          <p:cNvPr id="223" name="reference-29-3">
            <a:extLst xmlns:a="http://schemas.openxmlformats.org/drawingml/2006/main">
              <a:ext uri="{FF2B5EF4-FFF2-40B4-BE49-F238E27FC236}">
                <a16:creationId xmlns:a16="http://schemas.microsoft.com/office/drawing/2014/main" id="{AD8F6965-0F28-4E37-AEEE-0229DDC34CE9}"/>
              </a:ext>
            </a:extLst>
          </p:cNvPr>
          <p:cNvSpPr>
            <a:spLocks xmlns:a="http://schemas.openxmlformats.org/drawingml/2006/main" noGrp="1"/>
          </p:cNvSpPr>
          <p:nvPr/>
        </p:nvSpPr>
        <p:spPr>
          <a:xfrm xmlns:a="http://schemas.openxmlformats.org/drawingml/2006/main">
            <a:off x="809625" y="29432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[12] D. Froelicher et al., 'Truly Privacy-Preserving Federated Analytics for Precision Medicine,' Nature Communications, 2021.</a:t>
            </a:r>
          </a:p>
        </p:txBody>
      </p:sp>
      <p:sp>
        <p:nvSpPr>
          <p:cNvPr id="224" name="reference-29-4">
            <a:extLst xmlns:a="http://schemas.openxmlformats.org/drawingml/2006/main">
              <a:ext uri="{FF2B5EF4-FFF2-40B4-BE49-F238E27FC236}">
                <a16:creationId xmlns:a16="http://schemas.microsoft.com/office/drawing/2014/main" id="{AEEAED04-E5C3-4021-852E-D0AC7A2AF494}"/>
              </a:ext>
            </a:extLst>
          </p:cNvPr>
          <p:cNvSpPr>
            <a:spLocks xmlns:a="http://schemas.openxmlformats.org/drawingml/2006/main" noGrp="1"/>
          </p:cNvSpPr>
          <p:nvPr/>
        </p:nvSpPr>
        <p:spPr>
          <a:xfrm xmlns:a="http://schemas.openxmlformats.org/drawingml/2006/main">
            <a:off x="809625" y="35433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[13] Z. Li et al., 'SoteriaFL,' NeurIPS, 2022.   [14] X. Li and P. Li, 'Analysis and Enhancement of Federated Learning with Biased Compression,' ICML, 2023.</a:t>
            </a:r>
          </a:p>
        </p:txBody>
      </p:sp>
      <p:sp>
        <p:nvSpPr>
          <p:cNvPr id="225" name="reference-29-5">
            <a:extLst xmlns:a="http://schemas.openxmlformats.org/drawingml/2006/main">
              <a:ext uri="{FF2B5EF4-FFF2-40B4-BE49-F238E27FC236}">
                <a16:creationId xmlns:a16="http://schemas.microsoft.com/office/drawing/2014/main" id="{4F2574DD-0A40-48A4-854E-D03067D93C23}"/>
              </a:ext>
            </a:extLst>
          </p:cNvPr>
          <p:cNvSpPr>
            <a:spLocks xmlns:a="http://schemas.openxmlformats.org/drawingml/2006/main" noGrp="1"/>
          </p:cNvSpPr>
          <p:nvPr/>
        </p:nvSpPr>
        <p:spPr>
          <a:xfrm xmlns:a="http://schemas.openxmlformats.org/drawingml/2006/main">
            <a:off x="809625" y="41433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[15] X. Cao et al., 'FLTrust,' NDSS, 2021.   [16] R. Xu et al., 'Dual Defense,' NeurIPS, 2024.</a:t>
            </a:r>
          </a:p>
        </p:txBody>
      </p:sp>
      <p:sp>
        <p:nvSpPr>
          <p:cNvPr id="226" name="reference-29-6">
            <a:extLst xmlns:a="http://schemas.openxmlformats.org/drawingml/2006/main">
              <a:ext uri="{FF2B5EF4-FFF2-40B4-BE49-F238E27FC236}">
                <a16:creationId xmlns:a16="http://schemas.microsoft.com/office/drawing/2014/main" id="{9C630596-65E6-4BF9-91B1-AC65554EF9FD}"/>
              </a:ext>
            </a:extLst>
          </p:cNvPr>
          <p:cNvSpPr>
            <a:spLocks xmlns:a="http://schemas.openxmlformats.org/drawingml/2006/main" noGrp="1"/>
          </p:cNvSpPr>
          <p:nvPr/>
        </p:nvSpPr>
        <p:spPr>
          <a:xfrm xmlns:a="http://schemas.openxmlformats.org/drawingml/2006/main">
            <a:off x="809625" y="474345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[17] X. Gu, M. Li, and L. Xiong, 'DP-BREM,' USENIX Security, 2025.   [18] H. Asi et al., 'PREAMBLE,' NeurIPS, 2025.</a:t>
            </a:r>
          </a:p>
        </p:txBody>
      </p:sp>
      <p:sp>
        <p:nvSpPr>
          <p:cNvPr id="227" name="reference-29-7">
            <a:extLst xmlns:a="http://schemas.openxmlformats.org/drawingml/2006/main">
              <a:ext uri="{FF2B5EF4-FFF2-40B4-BE49-F238E27FC236}">
                <a16:creationId xmlns:a16="http://schemas.microsoft.com/office/drawing/2014/main" id="{F19B9063-46BF-4F12-8672-7E4DD622D342}"/>
              </a:ext>
            </a:extLst>
          </p:cNvPr>
          <p:cNvSpPr>
            <a:spLocks xmlns:a="http://schemas.openxmlformats.org/drawingml/2006/main" noGrp="1"/>
          </p:cNvSpPr>
          <p:nvPr/>
        </p:nvSpPr>
        <p:spPr>
          <a:xfrm xmlns:a="http://schemas.openxmlformats.org/drawingml/2006/main">
            <a:off x="809625" y="53435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88" b="0" i="0">
                <a:solidFill>
                  <a:srgbClr val="1F2937"/>
                </a:solidFill>
                <a:latin typeface="Arial"/>
                <a:ea typeface="Arial"/>
                <a:cs typeface="Arial"/>
              </a:defRPr>
            </a:pPr>
            <a:r>
              <a:rPr sz="1388" b="0" i="0">
                <a:solidFill>
                  <a:srgbClr val="1F2937"/>
                </a:solidFill>
                <a:latin typeface="Arial"/>
                <a:ea typeface="Arial"/>
                <a:cs typeface="Arial"/>
              </a:rPr>
              <a:t>[19] M. A. Reyna et al., 'Early Prediction of Sepsis from Clinical Data,' Critical Care Medicine, 2020.</a:t>
            </a:r>
          </a:p>
        </p:txBody>
      </p:sp>
      <p:sp>
        <p:nvSpPr>
          <p:cNvPr id="230" name="visible-footer-date-29">
            <a:extLst xmlns:a="http://schemas.openxmlformats.org/drawingml/2006/main">
              <a:ext uri="{FF2B5EF4-FFF2-40B4-BE49-F238E27FC236}">
                <a16:creationId xmlns:a16="http://schemas.microsoft.com/office/drawing/2014/main" id="{9EF3CE28-3C42-45BA-8462-0A5184EC31B4}"/>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24378017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Project Timeline</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32</a:t>
            </a:r>
            <a:endParaRPr sz="2800"/>
          </a:p>
        </p:txBody>
      </p:sp>
      <p:pic>
        <p:nvPicPr>
          <p:cNvPr id="233"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b4c381a132cf47c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34"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0917ee70f11145da">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budget-summary">
            <a:extLst xmlns:a="http://schemas.openxmlformats.org/drawingml/2006/main">
              <a:ext uri="{FF2B5EF4-FFF2-40B4-BE49-F238E27FC236}">
                <a16:creationId xmlns:a16="http://schemas.microsoft.com/office/drawing/2014/main" id="{8137B54B-653C-4133-9587-F93E6F3F151F}"/>
              </a:ext>
            </a:extLst>
          </p:cNvPr>
          <p:cNvSpPr>
            <a:spLocks xmlns:a="http://schemas.openxmlformats.org/drawingml/2006/main" noGrp="1"/>
          </p:cNvSpPr>
          <p:nvPr/>
        </p:nvSpPr>
        <p:spPr>
          <a:xfrm xmlns:a="http://schemas.openxmlformats.org/drawingml/2006/main">
            <a:off x="1524000" y="1190625"/>
            <a:ext cx="914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2325" b="1" i="0">
                <a:solidFill>
                  <a:srgbClr val="00843D"/>
                </a:solidFill>
                <a:latin typeface="Arial"/>
                <a:ea typeface="Arial"/>
                <a:cs typeface="Arial"/>
              </a:defRPr>
            </a:pPr>
            <a:r>
              <a:rPr sz="2325" b="1" i="0">
                <a:solidFill>
                  <a:srgbClr val="00843D"/>
                </a:solidFill>
                <a:latin typeface="Arial"/>
                <a:ea typeface="Arial"/>
                <a:cs typeface="Arial"/>
              </a:rPr>
              <a:t>Research phases from proposal to final defense</a:t>
            </a:r>
          </a:p>
        </p:txBody>
      </p:sp>
      <p:sp>
        <p:nvSpPr>
          <p:cNvPr id="221" name="table-caption-budget">
            <a:extLst xmlns:a="http://schemas.openxmlformats.org/drawingml/2006/main">
              <a:ext uri="{FF2B5EF4-FFF2-40B4-BE49-F238E27FC236}">
                <a16:creationId xmlns:a16="http://schemas.microsoft.com/office/drawing/2014/main" id="{30FA90FD-4715-4D7B-80EA-6AD40A2657BE}"/>
              </a:ext>
            </a:extLst>
          </p:cNvPr>
          <p:cNvSpPr>
            <a:spLocks xmlns:a="http://schemas.openxmlformats.org/drawingml/2006/main" noGrp="1"/>
          </p:cNvSpPr>
          <p:nvPr/>
        </p:nvSpPr>
        <p:spPr>
          <a:xfrm xmlns:a="http://schemas.openxmlformats.org/drawingml/2006/main">
            <a:off x="1714500" y="1809750"/>
            <a:ext cx="876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350" b="0" i="1">
                <a:solidFill>
                  <a:srgbClr val="1F2937"/>
                </a:solidFill>
                <a:latin typeface="Arial"/>
                <a:ea typeface="Arial"/>
                <a:cs typeface="Arial"/>
              </a:defRPr>
            </a:pPr>
            <a:r>
              <a:rPr sz="1350" b="0" i="1">
                <a:solidFill>
                  <a:srgbClr val="1F2937"/>
                </a:solidFill>
                <a:latin typeface="Arial"/>
                <a:ea typeface="Arial"/>
                <a:cs typeface="Arial"/>
              </a:rPr>
              <a:t>GANTT SUMMARY. Completed project milestones</a:t>
            </a:r>
          </a:p>
        </p:txBody>
      </p:sp>
      <p:graphicFrame>
        <p:nvGraphicFramePr>
          <p:cNvPr id="239" name=""/>
          <p:cNvGraphicFramePr/>
          <p:nvPr/>
        </p:nvGraphicFramePr>
        <p:xfrm>
          <a:off xmlns:a="http://schemas.openxmlformats.org/drawingml/2006/main" x="1524000" y="2238375"/>
          <a:ext xmlns:a="http://schemas.openxmlformats.org/drawingml/2006/main" cx="9144000" cy="3143250"/>
        </p:xfrm>
        <a:graphic xmlns:a="http://schemas.openxmlformats.org/drawingml/2006/main">
          <a:graphicData uri="http://schemas.openxmlformats.org/drawingml/2006/table">
            <a:tbl>
              <a:tblPr firstRow="1" bandRow="1"/>
              <a:tblGrid>
                <a:gridCol w="2952750"/>
                <a:gridCol w="3714750"/>
                <a:gridCol w="2476500"/>
              </a:tblGrid>
              <a:tr h="628650">
                <a:tc>
                  <a:txBody>
                    <a:bodyPr/>
                    <a:lstStyle/>
                    <a:p>
                      <a:r>
                        <a:rPr sz="1425" b="1">
                          <a:solidFill>
                            <a:srgbClr val="FFFFFF"/>
                          </a:solidFill>
                          <a:latin typeface="Arial"/>
                          <a:ea typeface="Arial"/>
                          <a:cs typeface="Arial"/>
                        </a:rPr>
                        <a:t>Phase</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Period</a:t>
                      </a:r>
                    </a:p>
                  </a:txBody>
                  <a:tcPr marL="66675" marR="66675" marT="47625" marB="47625" anchor="ctr">
                    <a:solidFill>
                      <a:srgbClr val="17365D"/>
                    </a:solidFill>
                  </a:tcPr>
                </a:tc>
                <a:tc>
                  <a:txBody>
                    <a:bodyPr/>
                    <a:lstStyle/>
                    <a:p>
                      <a:r>
                        <a:rPr sz="1425" b="1">
                          <a:solidFill>
                            <a:srgbClr val="FFFFFF"/>
                          </a:solidFill>
                          <a:latin typeface="Arial"/>
                          <a:ea typeface="Arial"/>
                          <a:cs typeface="Arial"/>
                        </a:rPr>
                        <a:t>Status</a:t>
                      </a:r>
                    </a:p>
                  </a:txBody>
                  <a:tcPr marL="66675" marR="66675" marT="47625" marB="47625" anchor="ctr">
                    <a:solidFill>
                      <a:srgbClr val="17365D"/>
                    </a:solidFill>
                  </a:tcPr>
                </a:tc>
              </a:tr>
              <a:tr h="628650">
                <a:tc>
                  <a:txBody>
                    <a:bodyPr/>
                    <a:lstStyle/>
                    <a:p>
                      <a:r>
                        <a:rPr sz="1350">
                          <a:solidFill>
                            <a:srgbClr val="1F2937"/>
                          </a:solidFill>
                          <a:latin typeface="Arial"/>
                          <a:ea typeface="Arial"/>
                          <a:cs typeface="Arial"/>
                        </a:rPr>
                        <a:t>Proposal, literature review, and research design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Jun–Nov 2025</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Framework implementation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Dec 2025–Mar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Security, privacy, poisoning, and statistical evaluation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Apr–Jul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r h="628650">
                <a:tc>
                  <a:txBody>
                    <a:bodyPr/>
                    <a:lstStyle/>
                    <a:p>
                      <a:r>
                        <a:rPr sz="1350">
                          <a:solidFill>
                            <a:srgbClr val="1F2937"/>
                          </a:solidFill>
                          <a:latin typeface="Arial"/>
                          <a:ea typeface="Arial"/>
                          <a:cs typeface="Arial"/>
                        </a:rPr>
                        <a:t>Report writing, revision, and defense preparation</a:t>
                      </a:r>
                    </a:p>
                  </a:txBody>
                  <a:tcPr marL="66675" marR="66675" marT="47625" marB="47625" anchor="ctr">
                    <a:solidFill>
                      <a:srgbClr val="FFFFFF"/>
                    </a:solidFill>
                  </a:tcPr>
                </a:tc>
                <a:tc>
                  <a:txBody>
                    <a:bodyPr/>
                    <a:lstStyle/>
                    <a:p>
                      <a:r>
                        <a:rPr sz="1350">
                          <a:solidFill>
                            <a:srgbClr val="1F2937"/>
                          </a:solidFill>
                          <a:latin typeface="Arial"/>
                          <a:ea typeface="Arial"/>
                          <a:cs typeface="Arial"/>
                        </a:rPr>
                        <a:t>Jul–Sep 2026</a:t>
                      </a:r>
                    </a:p>
                  </a:txBody>
                  <a:tcPr marL="66675" marR="66675" marT="47625" marB="47625" anchor="ctr">
                    <a:solidFill>
                      <a:srgbClr val="FFFFFF"/>
                    </a:solidFill>
                  </a:tcPr>
                </a:tc>
                <a:tc>
                  <a:txBody>
                    <a:bodyPr/>
                    <a:lstStyle/>
                    <a:p>
                      <a:r>
                        <a:rPr sz="1350" b="1">
                          <a:solidFill>
                            <a:srgbClr val="008A46"/>
                          </a:solidFill>
                          <a:latin typeface="Arial"/>
                          <a:ea typeface="Arial"/>
                          <a:cs typeface="Arial"/>
                        </a:rPr>
                        <a:t>Completed</a:t>
                      </a:r>
                    </a:p>
                  </a:txBody>
                  <a:tcPr marL="66675" marR="66675" marT="47625" marB="47625" anchor="ctr">
                    <a:solidFill>
                      <a:srgbClr val="E7F4EC"/>
                    </a:solidFill>
                  </a:tcPr>
                </a:tc>
              </a:tr>
            </a:tbl>
          </a:graphicData>
        </a:graphic>
      </p:graphicFrame>
      <p:sp>
        <p:nvSpPr>
          <p:cNvPr id="223" name="budget-note">
            <a:extLst xmlns:a="http://schemas.openxmlformats.org/drawingml/2006/main">
              <a:ext uri="{FF2B5EF4-FFF2-40B4-BE49-F238E27FC236}">
                <a16:creationId xmlns:a16="http://schemas.microsoft.com/office/drawing/2014/main" id="{0C7FFF23-BDBF-4879-ACBD-CC6DCB51F554}"/>
              </a:ext>
            </a:extLst>
          </p:cNvPr>
          <p:cNvSpPr>
            <a:spLocks xmlns:a="http://schemas.openxmlformats.org/drawingml/2006/main" noGrp="1"/>
          </p:cNvSpPr>
          <p:nvPr/>
        </p:nvSpPr>
        <p:spPr>
          <a:xfrm xmlns:a="http://schemas.openxmlformats.org/drawingml/2006/main">
            <a:off x="1619250" y="5572125"/>
            <a:ext cx="895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575" b="0" i="1">
                <a:solidFill>
                  <a:srgbClr val="5B6573"/>
                </a:solidFill>
                <a:latin typeface="Arial"/>
                <a:ea typeface="Arial"/>
                <a:cs typeface="Arial"/>
              </a:defRPr>
            </a:pPr>
            <a:r>
              <a:rPr sz="1575" b="0" i="1">
                <a:solidFill>
                  <a:srgbClr val="5B6573"/>
                </a:solidFill>
                <a:latin typeface="Arial"/>
                <a:ea typeface="Arial"/>
                <a:cs typeface="Arial"/>
              </a:rPr>
              <a:t>Final defense: 25 September 2026</a:t>
            </a:r>
          </a:p>
        </p:txBody>
      </p:sp>
      <p:sp>
        <p:nvSpPr>
          <p:cNvPr id="227" name="visible-footer-date-18">
            <a:extLst xmlns:a="http://schemas.openxmlformats.org/drawingml/2006/main">
              <a:ext uri="{FF2B5EF4-FFF2-40B4-BE49-F238E27FC236}">
                <a16:creationId xmlns:a16="http://schemas.microsoft.com/office/drawing/2014/main" id="{019C4209-3297-4541-91A5-92028810CB27}"/>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74219589-FF0D-0016-65FB-82D97E591C60}"/>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Abbreviations</a:t>
            </a:r>
            <a:endParaRPr/>
          </a:p>
        </p:txBody>
      </p:sp>
      <p:sp>
        <p:nvSpPr>
          <p:cNvPr id="212" name="Google Shape;212;p28">
            <a:extLst xmlns:a="http://schemas.openxmlformats.org/drawingml/2006/main">
              <a:ext uri="{FF2B5EF4-FFF2-40B4-BE49-F238E27FC236}">
                <a16:creationId xmlns:a16="http://schemas.microsoft.com/office/drawing/2014/main" id="{2C98E475-BDF3-B8A4-1CAA-8B8D130FDEC0}"/>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33</a:t>
            </a:r>
            <a:endParaRPr sz="2800"/>
          </a:p>
        </p:txBody>
      </p:sp>
      <p:pic>
        <p:nvPicPr>
          <p:cNvPr id="239"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7e690a6051b8454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40"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8e08bd8e5ad14676">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4999D0E1-2F4D-AE34-87C0-BF28C6B115E0}"/>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94D277A2-A98B-E41A-1A2F-C69DB4D99418}"/>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sp>
        <p:nvSpPr>
          <p:cNvPr id="220" name="analysis-heading-0">
            <a:extLst xmlns:a="http://schemas.openxmlformats.org/drawingml/2006/main">
              <a:ext uri="{FF2B5EF4-FFF2-40B4-BE49-F238E27FC236}">
                <a16:creationId xmlns:a16="http://schemas.microsoft.com/office/drawing/2014/main" id="{3ECCB687-E844-4C46-8D87-97DED2082525}"/>
              </a:ext>
            </a:extLst>
          </p:cNvPr>
          <p:cNvSpPr>
            <a:spLocks xmlns:a="http://schemas.openxmlformats.org/drawingml/2006/main" noGrp="1"/>
          </p:cNvSpPr>
          <p:nvPr/>
        </p:nvSpPr>
        <p:spPr>
          <a:xfrm xmlns:a="http://schemas.openxmlformats.org/drawingml/2006/main">
            <a:off x="904875"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Framework and privacy</a:t>
            </a:r>
          </a:p>
        </p:txBody>
      </p:sp>
      <p:sp>
        <p:nvSpPr>
          <p:cNvPr id="221" name="rule-95-205">
            <a:extLst xmlns:a="http://schemas.openxmlformats.org/drawingml/2006/main">
              <a:ext uri="{FF2B5EF4-FFF2-40B4-BE49-F238E27FC236}">
                <a16:creationId xmlns:a16="http://schemas.microsoft.com/office/drawing/2014/main" id="{352B6B40-0702-4168-8048-430375DFED3B}"/>
              </a:ext>
            </a:extLst>
          </p:cNvPr>
          <p:cNvSpPr>
            <a:spLocks xmlns:a="http://schemas.openxmlformats.org/drawingml/2006/main" noGrp="1"/>
          </p:cNvSpPr>
          <p:nvPr/>
        </p:nvSpPr>
        <p:spPr>
          <a:xfrm xmlns:a="http://schemas.openxmlformats.org/drawingml/2006/main">
            <a:off x="904875" y="1952625"/>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2" name="analysis-body-0">
            <a:extLst xmlns:a="http://schemas.openxmlformats.org/drawingml/2006/main">
              <a:ext uri="{FF2B5EF4-FFF2-40B4-BE49-F238E27FC236}">
                <a16:creationId xmlns:a16="http://schemas.microsoft.com/office/drawing/2014/main" id="{E1145757-13C9-434A-9AA9-83512B8A0F01}"/>
              </a:ext>
            </a:extLst>
          </p:cNvPr>
          <p:cNvSpPr>
            <a:spLocks xmlns:a="http://schemas.openxmlformats.org/drawingml/2006/main" noGrp="1"/>
          </p:cNvSpPr>
          <p:nvPr/>
        </p:nvSpPr>
        <p:spPr>
          <a:xfrm xmlns:a="http://schemas.openxmlformats.org/drawingml/2006/main">
            <a:off x="904875"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CAABC-FL: Ciphertext-Aligned Adaptive Block Compression for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FL: Federated Learning</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DP: Differential Privacy</a:t>
            </a:r>
          </a:p>
        </p:txBody>
      </p:sp>
      <p:sp>
        <p:nvSpPr>
          <p:cNvPr id="223" name="analysis-heading-1">
            <a:extLst xmlns:a="http://schemas.openxmlformats.org/drawingml/2006/main">
              <a:ext uri="{FF2B5EF4-FFF2-40B4-BE49-F238E27FC236}">
                <a16:creationId xmlns:a16="http://schemas.microsoft.com/office/drawing/2014/main" id="{67D7186D-BE3C-4FC7-BC15-C60486E3FADA}"/>
              </a:ext>
            </a:extLst>
          </p:cNvPr>
          <p:cNvSpPr>
            <a:spLocks xmlns:a="http://schemas.openxmlformats.org/drawingml/2006/main" noGrp="1"/>
          </p:cNvSpPr>
          <p:nvPr/>
        </p:nvSpPr>
        <p:spPr>
          <a:xfrm xmlns:a="http://schemas.openxmlformats.org/drawingml/2006/main">
            <a:off x="6381750" y="14287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Cryptography and systems</a:t>
            </a:r>
          </a:p>
        </p:txBody>
      </p:sp>
      <p:sp>
        <p:nvSpPr>
          <p:cNvPr id="224" name="rule-670-205">
            <a:extLst xmlns:a="http://schemas.openxmlformats.org/drawingml/2006/main">
              <a:ext uri="{FF2B5EF4-FFF2-40B4-BE49-F238E27FC236}">
                <a16:creationId xmlns:a16="http://schemas.microsoft.com/office/drawing/2014/main" id="{D6C87596-8434-4BD7-9CCB-4FE6EA7D1472}"/>
              </a:ext>
            </a:extLst>
          </p:cNvPr>
          <p:cNvSpPr>
            <a:spLocks xmlns:a="http://schemas.openxmlformats.org/drawingml/2006/main" noGrp="1"/>
          </p:cNvSpPr>
          <p:nvPr/>
        </p:nvSpPr>
        <p:spPr>
          <a:xfrm xmlns:a="http://schemas.openxmlformats.org/drawingml/2006/main">
            <a:off x="6381750" y="1952625"/>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25" name="analysis-body-1">
            <a:extLst xmlns:a="http://schemas.openxmlformats.org/drawingml/2006/main">
              <a:ext uri="{FF2B5EF4-FFF2-40B4-BE49-F238E27FC236}">
                <a16:creationId xmlns:a16="http://schemas.microsoft.com/office/drawing/2014/main" id="{F7809C9B-0102-4004-9388-E586B6FE72E6}"/>
              </a:ext>
            </a:extLst>
          </p:cNvPr>
          <p:cNvSpPr>
            <a:spLocks xmlns:a="http://schemas.openxmlformats.org/drawingml/2006/main" noGrp="1"/>
          </p:cNvSpPr>
          <p:nvPr/>
        </p:nvSpPr>
        <p:spPr>
          <a:xfrm xmlns:a="http://schemas.openxmlformats.org/drawingml/2006/main">
            <a:off x="6381750" y="21431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CKKS: Approximate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HE: Homomorphic Encryption</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TEE: Trusted Execution Environment</a:t>
            </a:r>
          </a:p>
        </p:txBody>
      </p:sp>
      <p:sp>
        <p:nvSpPr>
          <p:cNvPr id="226" name="analysis-heading-2">
            <a:extLst xmlns:a="http://schemas.openxmlformats.org/drawingml/2006/main">
              <a:ext uri="{FF2B5EF4-FFF2-40B4-BE49-F238E27FC236}">
                <a16:creationId xmlns:a16="http://schemas.microsoft.com/office/drawing/2014/main" id="{963F3648-552A-4F3B-B427-1B855DDDFDCD}"/>
              </a:ext>
            </a:extLst>
          </p:cNvPr>
          <p:cNvSpPr>
            <a:spLocks xmlns:a="http://schemas.openxmlformats.org/drawingml/2006/main" noGrp="1"/>
          </p:cNvSpPr>
          <p:nvPr/>
        </p:nvSpPr>
        <p:spPr>
          <a:xfrm xmlns:a="http://schemas.openxmlformats.org/drawingml/2006/main">
            <a:off x="904875"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00843D"/>
                </a:solidFill>
                <a:latin typeface="Arial"/>
                <a:ea typeface="Arial"/>
                <a:cs typeface="Arial"/>
              </a:defRPr>
            </a:pPr>
            <a:r>
              <a:rPr sz="2100" b="1" i="0">
                <a:solidFill>
                  <a:srgbClr val="00843D"/>
                </a:solidFill>
                <a:latin typeface="Arial"/>
                <a:ea typeface="Arial"/>
                <a:cs typeface="Arial"/>
              </a:rPr>
              <a:t>Evaluation</a:t>
            </a:r>
          </a:p>
        </p:txBody>
      </p:sp>
      <p:sp>
        <p:nvSpPr>
          <p:cNvPr id="227" name="rule-95-430">
            <a:extLst xmlns:a="http://schemas.openxmlformats.org/drawingml/2006/main">
              <a:ext uri="{FF2B5EF4-FFF2-40B4-BE49-F238E27FC236}">
                <a16:creationId xmlns:a16="http://schemas.microsoft.com/office/drawing/2014/main" id="{C2B4816D-3834-4F9F-9806-0BAF559D77AA}"/>
              </a:ext>
            </a:extLst>
          </p:cNvPr>
          <p:cNvSpPr>
            <a:spLocks xmlns:a="http://schemas.openxmlformats.org/drawingml/2006/main" noGrp="1"/>
          </p:cNvSpPr>
          <p:nvPr/>
        </p:nvSpPr>
        <p:spPr>
          <a:xfrm xmlns:a="http://schemas.openxmlformats.org/drawingml/2006/main">
            <a:off x="904875" y="4095750"/>
            <a:ext cx="4762500" cy="28575"/>
          </a:xfrm>
          <a:prstGeom xmlns:a="http://schemas.openxmlformats.org/drawingml/2006/main" prst="rect">
            <a:avLst/>
          </a:prstGeom>
          <a:solidFill xmlns:a="http://schemas.openxmlformats.org/drawingml/2006/main">
            <a:srgbClr val="00843D"/>
          </a:solidFill>
          <a:ln xmlns:a="http://schemas.openxmlformats.org/drawingml/2006/main" w="0">
            <a:noFill/>
          </a:ln>
        </p:spPr>
      </p:sp>
      <p:sp>
        <p:nvSpPr>
          <p:cNvPr id="228" name="analysis-body-2">
            <a:extLst xmlns:a="http://schemas.openxmlformats.org/drawingml/2006/main">
              <a:ext uri="{FF2B5EF4-FFF2-40B4-BE49-F238E27FC236}">
                <a16:creationId xmlns:a16="http://schemas.microsoft.com/office/drawing/2014/main" id="{C30C5366-B15D-42D8-84BE-05EB22CCA644}"/>
              </a:ext>
            </a:extLst>
          </p:cNvPr>
          <p:cNvSpPr>
            <a:spLocks xmlns:a="http://schemas.openxmlformats.org/drawingml/2006/main" noGrp="1"/>
          </p:cNvSpPr>
          <p:nvPr/>
        </p:nvSpPr>
        <p:spPr>
          <a:xfrm xmlns:a="http://schemas.openxmlformats.org/drawingml/2006/main">
            <a:off x="904875"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AUROC: Area Under the ROC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AUPRC: Area Under the Precision-Recall Curve</a:t>
            </a:r>
          </a:p>
          <a:p xmlns:a="http://schemas.openxmlformats.org/drawingml/2006/main">
            <a:pPr algn="l">
              <a:buNone/>
              <a:defRPr sz="1425" b="0" i="0">
                <a:solidFill>
                  <a:srgbClr val="1F2937"/>
                </a:solidFill>
                <a:latin typeface="Arial"/>
                <a:ea typeface="Arial"/>
                <a:cs typeface="Arial"/>
              </a:defRPr>
            </a:pPr>
            <a:r>
              <a:rPr sz="1425" b="0" i="0">
                <a:solidFill>
                  <a:srgbClr val="1F2937"/>
                </a:solidFill>
                <a:latin typeface="Arial"/>
                <a:ea typeface="Arial"/>
                <a:cs typeface="Arial"/>
              </a:rPr>
              <a:t>MCC: Matthews Correlation Coefficient</a:t>
            </a:r>
          </a:p>
        </p:txBody>
      </p:sp>
      <p:sp>
        <p:nvSpPr>
          <p:cNvPr id="229" name="analysis-heading-3">
            <a:extLst xmlns:a="http://schemas.openxmlformats.org/drawingml/2006/main">
              <a:ext uri="{FF2B5EF4-FFF2-40B4-BE49-F238E27FC236}">
                <a16:creationId xmlns:a16="http://schemas.microsoft.com/office/drawing/2014/main" id="{8579A858-5086-44ED-9B76-162A3A49E573}"/>
              </a:ext>
            </a:extLst>
          </p:cNvPr>
          <p:cNvSpPr>
            <a:spLocks xmlns:a="http://schemas.openxmlformats.org/drawingml/2006/main" noGrp="1"/>
          </p:cNvSpPr>
          <p:nvPr/>
        </p:nvSpPr>
        <p:spPr>
          <a:xfrm xmlns:a="http://schemas.openxmlformats.org/drawingml/2006/main">
            <a:off x="6381750" y="3571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2100" b="1" i="0">
                <a:solidFill>
                  <a:srgbClr val="17365D"/>
                </a:solidFill>
                <a:latin typeface="Arial"/>
                <a:ea typeface="Arial"/>
                <a:cs typeface="Arial"/>
              </a:defRPr>
            </a:pPr>
            <a:r>
              <a:rPr sz="2100" b="1" i="0">
                <a:solidFill>
                  <a:srgbClr val="17365D"/>
                </a:solidFill>
                <a:latin typeface="Arial"/>
                <a:ea typeface="Arial"/>
                <a:cs typeface="Arial"/>
              </a:rPr>
              <a:t>Attacks and deployment</a:t>
            </a:r>
          </a:p>
        </p:txBody>
      </p:sp>
      <p:sp>
        <p:nvSpPr>
          <p:cNvPr id="230" name="rule-670-430">
            <a:extLst xmlns:a="http://schemas.openxmlformats.org/drawingml/2006/main">
              <a:ext uri="{FF2B5EF4-FFF2-40B4-BE49-F238E27FC236}">
                <a16:creationId xmlns:a16="http://schemas.microsoft.com/office/drawing/2014/main" id="{36A2713B-9577-45B2-BDBB-D5A09125D637}"/>
              </a:ext>
            </a:extLst>
          </p:cNvPr>
          <p:cNvSpPr>
            <a:spLocks xmlns:a="http://schemas.openxmlformats.org/drawingml/2006/main" noGrp="1"/>
          </p:cNvSpPr>
          <p:nvPr/>
        </p:nvSpPr>
        <p:spPr>
          <a:xfrm xmlns:a="http://schemas.openxmlformats.org/drawingml/2006/main">
            <a:off x="6381750" y="4095750"/>
            <a:ext cx="4762500" cy="28575"/>
          </a:xfrm>
          <a:prstGeom xmlns:a="http://schemas.openxmlformats.org/drawingml/2006/main" prst="rect">
            <a:avLst/>
          </a:prstGeom>
          <a:solidFill xmlns:a="http://schemas.openxmlformats.org/drawingml/2006/main">
            <a:srgbClr val="00AEEF"/>
          </a:solidFill>
          <a:ln xmlns:a="http://schemas.openxmlformats.org/drawingml/2006/main" w="0">
            <a:noFill/>
          </a:ln>
        </p:spPr>
      </p:sp>
      <p:sp>
        <p:nvSpPr>
          <p:cNvPr id="231" name="analysis-body-3">
            <a:extLst xmlns:a="http://schemas.openxmlformats.org/drawingml/2006/main">
              <a:ext uri="{FF2B5EF4-FFF2-40B4-BE49-F238E27FC236}">
                <a16:creationId xmlns:a16="http://schemas.microsoft.com/office/drawing/2014/main" id="{3C4AA0AE-85F2-42F7-AEAD-380C38D88CF9}"/>
              </a:ext>
            </a:extLst>
          </p:cNvPr>
          <p:cNvSpPr>
            <a:spLocks xmlns:a="http://schemas.openxmlformats.org/drawingml/2006/main" noGrp="1"/>
          </p:cNvSpPr>
          <p:nvPr/>
        </p:nvSpPr>
        <p:spPr>
          <a:xfrm xmlns:a="http://schemas.openxmlformats.org/drawingml/2006/main">
            <a:off x="6381750" y="4286250"/>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MIA: Membership Inference Attack</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LiRA/RMIA: Membership inference tests</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ASR: Attack Success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TPR/FPR: True-/False-Positive Rate</a:t>
            </a:r>
          </a:p>
          <a:p xmlns:a="http://schemas.openxmlformats.org/drawingml/2006/main">
            <a:pPr algn="l">
              <a:buNone/>
              <a:defRPr sz="1350" b="0" i="0">
                <a:solidFill>
                  <a:srgbClr val="1F2937"/>
                </a:solidFill>
                <a:latin typeface="Arial"/>
                <a:ea typeface="Arial"/>
                <a:cs typeface="Arial"/>
              </a:defRPr>
            </a:pPr>
            <a:r>
              <a:rPr sz="1350" b="0" i="0">
                <a:solidFill>
                  <a:srgbClr val="1F2937"/>
                </a:solidFill>
                <a:latin typeface="Arial"/>
                <a:ea typeface="Arial"/>
                <a:cs typeface="Arial"/>
              </a:rPr>
              <a:t>WAN: Wide-Area Network</a:t>
            </a:r>
          </a:p>
        </p:txBody>
      </p:sp>
      <p:sp>
        <p:nvSpPr>
          <p:cNvPr id="234" name="visible-footer-date-17">
            <a:extLst xmlns:a="http://schemas.openxmlformats.org/drawingml/2006/main">
              <a:ext uri="{FF2B5EF4-FFF2-40B4-BE49-F238E27FC236}">
                <a16:creationId xmlns:a16="http://schemas.microsoft.com/office/drawing/2014/main" id="{4AC84D05-C535-4C09-A644-6BEFDB214365}"/>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970286495"/>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211" name="Google Shape;211;p28">
            <a:extLst xmlns:a="http://schemas.openxmlformats.org/drawingml/2006/main">
              <a:ext uri="{FF2B5EF4-FFF2-40B4-BE49-F238E27FC236}">
                <a16:creationId xmlns:a16="http://schemas.microsoft.com/office/drawing/2014/main" id="{8F2F3A18-3D4A-89E9-DF3C-2CD6AD919AEA}"/>
              </a:ext>
            </a:extLst>
          </p:cNvPr>
          <p:cNvSpPr>
            <a:spLocks xmlns:a="http://schemas.openxmlformats.org/drawingml/2006/main" noGrp="1"/>
          </p:cNvSpPr>
          <p:nvPr>
            <p:ph type="title" idx="0"/>
          </p:nvPr>
        </p:nvSpPr>
        <p:spPr>
          <a:xfrm xmlns:a="http://schemas.openxmlformats.org/drawingml/2006/main">
            <a:off x="1892046" y="171450"/>
            <a:ext cx="8026908" cy="8084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fontScale="100000"/>
          </a:bodyPr>
          <a:lstStyle xmlns:a="http://schemas.openxmlformats.org/drawingml/2006/main"/>
          <a:p xmlns:a="http://schemas.openxmlformats.org/drawingml/2006/main">
            <a:pPr lvl="0" algn="ctr">
              <a:buClr>
                <a:srgbClr val="002060"/>
              </a:buClr>
              <a:buSzPts val="4000"/>
              <a:buNone/>
            </a:pPr>
            <a:r>
              <a:rPr sz="4000" b="1">
                <a:solidFill>
                  <a:srgbClr val="002060"/>
                </a:solidFill>
                <a:latin typeface="Arial"/>
                <a:ea typeface="Arial"/>
                <a:cs typeface="Arial"/>
              </a:rPr>
              <a:t>Q&amp;A Session</a:t>
            </a:r>
            <a:endParaRPr/>
          </a:p>
        </p:txBody>
      </p:sp>
      <p:sp>
        <p:nvSpPr>
          <p:cNvPr id="212" name="Google Shape;212;p28">
            <a:extLst xmlns:a="http://schemas.openxmlformats.org/drawingml/2006/main">
              <a:ext uri="{FF2B5EF4-FFF2-40B4-BE49-F238E27FC236}">
                <a16:creationId xmlns:a16="http://schemas.microsoft.com/office/drawing/2014/main" id="{9E209038-E0AD-56EF-CCF5-260B133795F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34</a:t>
            </a:r>
            <a:endParaRPr sz="2800"/>
          </a:p>
        </p:txBody>
      </p:sp>
      <p:pic>
        <p:nvPicPr>
          <p:cNvPr id="227" name="Google Shape;213;p28"/>
          <p:cNvPicPr>
            <a:picLocks xmlns:a="http://schemas.openxmlformats.org/drawingml/2006/main" noChangeAspect="1"/>
          </p:cNvPicPr>
          <p:nvPr/>
        </p:nvPicPr>
        <p:blipFill rotWithShape="1">
          <a:blip xmlns:r="http://schemas.openxmlformats.org/officeDocument/2006/relationships" xmlns:a="http://schemas.openxmlformats.org/drawingml/2006/main" r:embed="R1a9d4741dfd34aa6">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pic>
        <p:nvPicPr>
          <p:cNvPr id="228"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62e4840f9b84464e">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216" name="Google Shape;216;p28">
            <a:extLst xmlns:a="http://schemas.openxmlformats.org/drawingml/2006/main">
              <a:ext uri="{FF2B5EF4-FFF2-40B4-BE49-F238E27FC236}">
                <a16:creationId xmlns:a16="http://schemas.microsoft.com/office/drawing/2014/main" id="{30135F10-9448-D0E1-E18F-F2F3234362E9}"/>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217" name="Google Shape;217;p28">
            <a:extLst xmlns:a="http://schemas.openxmlformats.org/drawingml/2006/main">
              <a:ext uri="{FF2B5EF4-FFF2-40B4-BE49-F238E27FC236}">
                <a16:creationId xmlns:a16="http://schemas.microsoft.com/office/drawing/2014/main" id="{C70043F5-38B0-81DD-4581-EAF4D7303997}"/>
              </a:ext>
            </a:extLst>
          </p:cNvPr>
          <p:cNvSpPr>
            <a:spLocks xmlns:a="http://schemas.openxmlformats.org/drawingml/2006/main" noGrp="1"/>
          </p:cNvSpPr>
          <p:nvPr>
            <p:ph type="dt" idx="10"/>
          </p:nvPr>
        </p:nvSpPr>
        <p:spPr>
          <a:xfrm xmlns:a="http://schemas.openxmlformats.org/drawingml/2006/main">
            <a:off x="462800" y="6396578"/>
            <a:ext cx="14292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231" name="Google Shape;614;p60"/>
          <p:cNvPicPr>
            <a:picLocks xmlns:a="http://schemas.openxmlformats.org/drawingml/2006/main" noChangeAspect="1"/>
          </p:cNvPicPr>
          <p:nvPr/>
        </p:nvPicPr>
        <p:blipFill rotWithShape="1">
          <a:blip xmlns:r="http://schemas.openxmlformats.org/officeDocument/2006/relationships" xmlns:a="http://schemas.openxmlformats.org/drawingml/2006/main" r:embed="R4abb0118d21e462a">
            <a:alphaModFix/>
          </a:blip>
          <a:srcRect xmlns:a="http://schemas.openxmlformats.org/drawingml/2006/main" l="0" t="0" r="0" b="0"/>
          <a:stretch xmlns:a="http://schemas.openxmlformats.org/drawingml/2006/main"/>
        </p:blipFill>
        <p:spPr>
          <a:xfrm xmlns:a="http://schemas.openxmlformats.org/drawingml/2006/main">
            <a:off x="4754485" y="1899759"/>
            <a:ext cx="2683029" cy="2543938"/>
          </a:xfrm>
          <a:prstGeom xmlns:a="http://schemas.openxmlformats.org/drawingml/2006/main" prst="rect">
            <a:avLst/>
          </a:prstGeom>
          <a:ln xmlns:a="http://schemas.openxmlformats.org/drawingml/2006/main">
            <a:noFill/>
          </a:ln>
        </p:spPr>
      </p:pic>
      <p:sp>
        <p:nvSpPr>
          <p:cNvPr id="3" name="Google Shape;615;p60">
            <a:extLst xmlns:a="http://schemas.openxmlformats.org/drawingml/2006/main">
              <a:ext uri="{FF2B5EF4-FFF2-40B4-BE49-F238E27FC236}">
                <a16:creationId xmlns:a16="http://schemas.microsoft.com/office/drawing/2014/main" id="{84610837-AC87-0B4A-F256-6FFB0ABA363C}"/>
              </a:ext>
            </a:extLst>
          </p:cNvPr>
          <p:cNvSpPr>
            <a:spLocks xmlns:a="http://schemas.openxmlformats.org/drawingml/2006/main" noGrp="1"/>
          </p:cNvSpPr>
          <p:nvPr/>
        </p:nvSpPr>
        <p:spPr>
          <a:xfrm xmlns:a="http://schemas.openxmlformats.org/drawingml/2006/main">
            <a:off x="1047746" y="4443697"/>
            <a:ext cx="10675917" cy="10156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00"/>
              <a:buFont typeface="Arial"/>
              <a:buNone/>
            </a:pPr>
            <a:r>
              <a:rPr sz="5400" b="1" i="0" u="none" cap="none">
                <a:solidFill>
                  <a:srgbClr val="00B0F0"/>
                </a:solidFill>
                <a:latin typeface="Arial"/>
                <a:ea typeface="Arial"/>
                <a:cs typeface="Arial"/>
              </a:rPr>
              <a:t>Questions and Discussion</a:t>
            </a:r>
            <a:endParaRPr sz="5400" b="1" i="0" u="none" cap="none">
              <a:solidFill>
                <a:srgbClr val="00B0F0"/>
              </a:solidFill>
              <a:latin typeface="Arial"/>
              <a:ea typeface="Arial"/>
              <a:cs typeface="Arial"/>
            </a:endParaRPr>
          </a:p>
        </p:txBody>
      </p:sp>
      <p:sp>
        <p:nvSpPr>
          <p:cNvPr id="221" name="visible-footer-date-30">
            <a:extLst xmlns:a="http://schemas.openxmlformats.org/drawingml/2006/main">
              <a:ext uri="{FF2B5EF4-FFF2-40B4-BE49-F238E27FC236}">
                <a16:creationId xmlns:a16="http://schemas.microsoft.com/office/drawing/2014/main" id="{121E6093-7387-46A2-A79C-636EB6C0933C}"/>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909310205"/>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pic>
        <p:nvPicPr>
          <p:cNvPr id="612" name="Google Shape;599;p59"/>
          <p:cNvPicPr>
            <a:picLocks xmlns:a="http://schemas.openxmlformats.org/drawingml/2006/main" noChangeAspect="1"/>
          </p:cNvPicPr>
          <p:nvPr/>
        </p:nvPicPr>
        <p:blipFill rotWithShape="1">
          <a:blip xmlns:r="http://schemas.openxmlformats.org/officeDocument/2006/relationships" xmlns:a="http://schemas.openxmlformats.org/drawingml/2006/main" r:embed="Ra0de11a4e9cc4cd5">
            <a:alphaModFix/>
          </a:blip>
          <a:srcRect xmlns:a="http://schemas.openxmlformats.org/drawingml/2006/main" l="0" t="0" r="0" b="0"/>
          <a:stretch xmlns:a="http://schemas.openxmlformats.org/drawingml/2006/main"/>
        </p:blipFill>
        <p:spPr>
          <a:xfrm xmlns:a="http://schemas.openxmlformats.org/drawingml/2006/main">
            <a:off x="362465" y="374895"/>
            <a:ext cx="685281" cy="685281"/>
          </a:xfrm>
          <a:prstGeom xmlns:a="http://schemas.openxmlformats.org/drawingml/2006/main" prst="rect">
            <a:avLst/>
          </a:prstGeom>
          <a:ln xmlns:a="http://schemas.openxmlformats.org/drawingml/2006/main">
            <a:noFill/>
          </a:ln>
        </p:spPr>
      </p:pic>
      <p:sp>
        <p:nvSpPr>
          <p:cNvPr id="604" name="Google Shape;604;p59">
            <a:extLst xmlns:a="http://schemas.openxmlformats.org/drawingml/2006/main">
              <a:ext uri="{FF2B5EF4-FFF2-40B4-BE49-F238E27FC236}">
                <a16:creationId xmlns:a16="http://schemas.microsoft.com/office/drawing/2014/main" id="{B00DAB80-8746-4128-A967-88D723EA1BCC}"/>
              </a:ext>
            </a:extLst>
          </p:cNvPr>
          <p:cNvSpPr>
            <a:spLocks xmlns:a="http://schemas.openxmlformats.org/drawingml/2006/main" noGrp="1"/>
          </p:cNvSpPr>
          <p:nvPr>
            <p:ph type="dt" idx="10"/>
          </p:nvPr>
        </p:nvSpPr>
        <p:spPr>
          <a:xfrm xmlns:a="http://schemas.openxmlformats.org/drawingml/2006/main">
            <a:off x="462800" y="6396573"/>
            <a:ext cx="1605000" cy="2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1400"/>
              <a:buNone/>
            </a:pPr>
            <a:r>
              <a:rPr b="1">
                <a:solidFill>
                  <a:srgbClr val="002060"/>
                </a:solidFill>
                <a:latin typeface="Arial"/>
                <a:ea typeface="Arial"/>
                <a:cs typeface="Arial"/>
              </a:rPr>
              <a:t/>
            </a:r>
            <a:endParaRPr b="1">
              <a:solidFill>
                <a:srgbClr val="002060"/>
              </a:solidFill>
              <a:latin typeface="Arial"/>
              <a:ea typeface="Arial"/>
              <a:cs typeface="Arial"/>
            </a:endParaRPr>
          </a:p>
        </p:txBody>
      </p:sp>
      <p:pic>
        <p:nvPicPr>
          <p:cNvPr id="614" name="Google Shape;157;p13"/>
          <p:cNvPicPr>
            <a:picLocks xmlns:a="http://schemas.openxmlformats.org/drawingml/2006/main" noChangeAspect="1"/>
          </p:cNvPicPr>
          <p:nvPr/>
        </p:nvPicPr>
        <p:blipFill rotWithShape="1">
          <a:blip xmlns:r="http://schemas.openxmlformats.org/officeDocument/2006/relationships" xmlns:a="http://schemas.openxmlformats.org/drawingml/2006/main" r:embed="Rff1768cee5e14c1b">
            <a:alphaModFix/>
          </a:blip>
          <a:srcRect xmlns:a="http://schemas.openxmlformats.org/drawingml/2006/main" l="0" t="0" r="0" b="0"/>
          <a:stretch xmlns:a="http://schemas.openxmlformats.org/drawingml/2006/main"/>
        </p:blipFill>
        <p:spPr>
          <a:xfrm xmlns:a="http://schemas.openxmlformats.org/drawingml/2006/main">
            <a:off x="3763389" y="610325"/>
            <a:ext cx="4597090" cy="3186975"/>
          </a:xfrm>
          <a:prstGeom xmlns:a="http://schemas.openxmlformats.org/drawingml/2006/main" prst="rect">
            <a:avLst/>
          </a:prstGeom>
          <a:ln xmlns:a="http://schemas.openxmlformats.org/drawingml/2006/main">
            <a:noFill/>
          </a:ln>
        </p:spPr>
      </p:pic>
      <p:sp>
        <p:nvSpPr>
          <p:cNvPr id="9" name="Google Shape;158;p13">
            <a:extLst xmlns:a="http://schemas.openxmlformats.org/drawingml/2006/main">
              <a:ext uri="{FF2B5EF4-FFF2-40B4-BE49-F238E27FC236}">
                <a16:creationId xmlns:a16="http://schemas.microsoft.com/office/drawing/2014/main" id="{2D8B1C7A-65C6-C8DC-AC78-9534DDE706B0}"/>
              </a:ext>
            </a:extLst>
          </p:cNvPr>
          <p:cNvSpPr>
            <a:spLocks xmlns:a="http://schemas.openxmlformats.org/drawingml/2006/main" noGrp="1"/>
          </p:cNvSpPr>
          <p:nvPr>
            <p:ph type="title" idx="0"/>
          </p:nvPr>
        </p:nvSpPr>
        <p:spPr>
          <a:xfrm xmlns:a="http://schemas.openxmlformats.org/drawingml/2006/main">
            <a:off x="2520012" y="3849079"/>
            <a:ext cx="7340600" cy="1142021"/>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vert="horz" wrap="square" lIns="137150" tIns="68550" rIns="137150" bIns="68550" anchor="ctr">
            <a:normAutofit fontScale="100000"/>
          </a:bodyPr>
          <a:lstStyle xmlns:a="http://schemas.openxmlformats.org/drawingml/2006/main"/>
          <a:p xmlns:a="http://schemas.openxmlformats.org/drawingml/2006/main">
            <a:pPr algn="ctr">
              <a:lnSpc>
                <a:spcPct val="90000"/>
              </a:lnSpc>
              <a:spcBef>
                <a:spcPts val="0"/>
              </a:spcBef>
              <a:buClr>
                <a:schemeClr val="dk1"/>
              </a:buClr>
              <a:buSzPts val="4200"/>
              <a:buNone/>
              <a:defRPr sz="3600" b="1">
                <a:solidFill>
                  <a:srgbClr val="17365D"/>
                </a:solidFill>
                <a:latin typeface="Arial"/>
                <a:ea typeface="Arial"/>
                <a:cs typeface="Arial"/>
              </a:defRPr>
            </a:pPr>
            <a:r>
              <a:rPr sz="3600" b="1">
                <a:solidFill>
                  <a:srgbClr val="17365D"/>
                </a:solidFill>
                <a:latin typeface="Arial"/>
                <a:ea typeface="Arial"/>
                <a:cs typeface="Arial"/>
              </a:rPr>
              <a:t>Thank You</a:t>
            </a:r>
            <a:endParaRPr sz="6000" b="1">
              <a:latin typeface="Bookman Old Style"/>
              <a:ea typeface="Bookman Old Style"/>
              <a:cs typeface="Bookman Old Style"/>
            </a:endParaRPr>
          </a:p>
        </p:txBody>
      </p:sp>
      <p:sp>
        <p:nvSpPr>
          <p:cNvPr id="10" name="Google Shape;160;p13">
            <a:extLst xmlns:a="http://schemas.openxmlformats.org/drawingml/2006/main">
              <a:ext uri="{FF2B5EF4-FFF2-40B4-BE49-F238E27FC236}">
                <a16:creationId xmlns:a16="http://schemas.microsoft.com/office/drawing/2014/main" id="{92C7E31B-48F1-10E0-622E-5B5B1647541E}"/>
              </a:ext>
            </a:extLst>
          </p:cNvPr>
          <p:cNvSpPr>
            <a:spLocks xmlns:a="http://schemas.openxmlformats.org/drawingml/2006/main" noGrp="1"/>
          </p:cNvSpPr>
          <p:nvPr/>
        </p:nvSpPr>
        <p:spPr>
          <a:xfrm xmlns:a="http://schemas.openxmlformats.org/drawingml/2006/main">
            <a:off x="2865500" y="5042879"/>
            <a:ext cx="7340600" cy="74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137150" tIns="68550" rIns="137150" bIns="68550" anchor="ctr">
            <a:normAutofit fontScale="100000"/>
          </a:bodyPr>
          <a:lstStyle xmlns:a="http://schemas.openxmlformats.org/drawingml/2006/main"/>
          <a:p xmlns:a="http://schemas.openxmlformats.org/drawingml/2006/main">
            <a:pPr algn="ctr">
              <a:lnSpc>
                <a:spcPct val="90000"/>
              </a:lnSpc>
              <a:buClr>
                <a:schemeClr val="dk1"/>
              </a:buClr>
              <a:buSzPts val="1400"/>
              <a:buNone/>
              <a:defRPr sz="1800" b="1">
                <a:solidFill>
                  <a:srgbClr val="1F2937"/>
                </a:solidFill>
                <a:latin typeface="Arial"/>
                <a:ea typeface="Arial"/>
                <a:cs typeface="Arial"/>
              </a:defRPr>
            </a:pPr>
            <a:r>
              <a:rPr sz="1800" b="1">
                <a:solidFill>
                  <a:srgbClr val="1F2937"/>
                </a:solidFill>
                <a:latin typeface="Arial"/>
                <a:ea typeface="Arial"/>
                <a:cs typeface="Arial"/>
              </a:rPr>
              <a:t>CAABC-FL: Secure collaboration with explicit trust boundaries</a:t>
            </a:r>
            <a:endParaRPr sz="2800" b="1">
              <a:solidFill>
                <a:schemeClr val="dk1"/>
              </a:solidFill>
              <a:latin typeface="Bookman Old Style"/>
              <a:ea typeface="Bookman Old Style"/>
              <a:cs typeface="Bookman Old Style"/>
            </a:endParaRPr>
          </a:p>
        </p:txBody>
      </p:sp>
      <p:pic>
        <p:nvPicPr>
          <p:cNvPr id="617" name="Google Shape;214;p28"/>
          <p:cNvPicPr>
            <a:picLocks xmlns:a="http://schemas.openxmlformats.org/drawingml/2006/main" noChangeAspect="1"/>
          </p:cNvPicPr>
          <p:nvPr/>
        </p:nvPicPr>
        <p:blipFill rotWithShape="1">
          <a:blip xmlns:r="http://schemas.openxmlformats.org/officeDocument/2006/relationships" xmlns:a="http://schemas.openxmlformats.org/drawingml/2006/main" r:embed="R19da8812efbf46b9">
            <a:alphaModFix/>
          </a:blip>
          <a:srcRect xmlns:a="http://schemas.openxmlformats.org/drawingml/2006/main" l="0" t="0" r="0" b="0"/>
          <a:stretch xmlns:a="http://schemas.openxmlformats.org/drawingml/2006/main"/>
        </p:blipFill>
        <p:spPr>
          <a:xfrm xmlns:a="http://schemas.openxmlformats.org/drawingml/2006/main">
            <a:off x="9918916" y="251522"/>
            <a:ext cx="1943783" cy="808654"/>
          </a:xfrm>
          <a:prstGeom xmlns:a="http://schemas.openxmlformats.org/drawingml/2006/main" prst="rect">
            <a:avLst/>
          </a:prstGeom>
          <a:ln xmlns:a="http://schemas.openxmlformats.org/drawingml/2006/main">
            <a:noFill/>
          </a:ln>
        </p:spPr>
      </p:pic>
      <p:sp>
        <p:nvSpPr>
          <p:cNvPr id="12" name="Google Shape;216;p28">
            <a:extLst xmlns:a="http://schemas.openxmlformats.org/drawingml/2006/main">
              <a:ext uri="{FF2B5EF4-FFF2-40B4-BE49-F238E27FC236}">
                <a16:creationId xmlns:a16="http://schemas.microsoft.com/office/drawing/2014/main" id="{BAE9B701-0B71-3DF7-9134-3C31531BBDE1}"/>
              </a:ext>
            </a:extLst>
          </p:cNvPr>
          <p:cNvSpPr>
            <a:spLocks xmlns:a="http://schemas.openxmlformats.org/drawingml/2006/main" noGrp="1"/>
          </p:cNvSpPr>
          <p:nvPr>
            <p:ph type="ftr" idx="11"/>
          </p:nvPr>
        </p:nvSpPr>
        <p:spPr>
          <a:xfrm xmlns:a="http://schemas.openxmlformats.org/drawingml/2006/main">
            <a:off x="2671629" y="6620423"/>
            <a:ext cx="6679251" cy="22383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ctr">
              <a:lnSpc>
                <a:spcPct val="100000"/>
              </a:lnSpc>
              <a:spcBef>
                <a:spcPts val="0"/>
              </a:spcBef>
              <a:spcAft>
                <a:spcPts val="0"/>
              </a:spcAft>
              <a:buSzPts val="1400"/>
              <a:buNone/>
            </a:pPr>
            <a:r>
              <a:rPr>
                <a:solidFill>
                  <a:srgbClr val="002060"/>
                </a:solidFill>
                <a:latin typeface="Arial"/>
                <a:ea typeface="Arial"/>
                <a:cs typeface="Arial"/>
              </a:rPr>
              <a:t>CAABC-FL: A Hybrid Privacy-Preserving Framework for Secure Multi-Institutional Collaboration</a:t>
            </a:r>
            <a:endParaRPr/>
          </a:p>
        </p:txBody>
      </p:sp>
      <p:sp>
        <p:nvSpPr>
          <p:cNvPr id="13" name="Google Shape;212;p28">
            <a:extLst xmlns:a="http://schemas.openxmlformats.org/drawingml/2006/main">
              <a:ext uri="{FF2B5EF4-FFF2-40B4-BE49-F238E27FC236}">
                <a16:creationId xmlns:a16="http://schemas.microsoft.com/office/drawing/2014/main" id="{C48B2691-E39A-6C8C-B995-3D935B990D5A}"/>
              </a:ext>
            </a:extLst>
          </p:cNvPr>
          <p:cNvSpPr>
            <a:spLocks xmlns:a="http://schemas.openxmlformats.org/drawingml/2006/main" noGrp="1"/>
          </p:cNvSpPr>
          <p:nvPr>
            <p:ph type="sldNum" idx="12"/>
          </p:nvPr>
        </p:nvSpPr>
        <p:spPr>
          <a:xfrm xmlns:a="http://schemas.openxmlformats.org/drawingml/2006/main">
            <a:off x="11272838" y="6122194"/>
            <a:ext cx="683418" cy="4981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lvl="0" indent="0" algn="r">
              <a:lnSpc>
                <a:spcPct val="100000"/>
              </a:lnSpc>
              <a:spcBef>
                <a:spcPts val="0"/>
              </a:spcBef>
              <a:spcAft>
                <a:spcPts val="0"/>
              </a:spcAft>
              <a:buSzPts val="3600"/>
              <a:buNone/>
            </a:pPr>
            <a:r>
              <a:rPr sz="3200">
                <a:solidFill>
                  <a:srgbClr val="002060"/>
                </a:solidFill>
                <a:latin typeface="Arial"/>
                <a:ea typeface="Arial"/>
                <a:cs typeface="Arial"/>
              </a:rPr>
              <a:t>35</a:t>
            </a:r>
            <a:endParaRPr sz="2800"/>
          </a:p>
        </p:txBody>
      </p:sp>
      <p:sp>
        <p:nvSpPr>
          <p:cNvPr id="608" name="visible-footer-date-31">
            <a:extLst xmlns:a="http://schemas.openxmlformats.org/drawingml/2006/main">
              <a:ext uri="{FF2B5EF4-FFF2-40B4-BE49-F238E27FC236}">
                <a16:creationId xmlns:a16="http://schemas.microsoft.com/office/drawing/2014/main" id="{84DACE26-F993-4C93-AA06-D9765FE9F8ED}"/>
              </a:ext>
            </a:extLst>
          </p:cNvPr>
          <p:cNvSpPr>
            <a:spLocks xmlns:a="http://schemas.openxmlformats.org/drawingml/2006/main" noGrp="1"/>
          </p:cNvSpPr>
          <p:nvPr/>
        </p:nvSpPr>
        <p:spPr>
          <a:xfrm xmlns:a="http://schemas.openxmlformats.org/drawingml/2006/main">
            <a:off x="466725" y="63817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lgn="l">
              <a:buNone/>
              <a:defRPr sz="825">
                <a:solidFill>
                  <a:srgbClr val="17365D"/>
                </a:solidFill>
                <a:latin typeface="Arial"/>
                <a:ea typeface="Arial"/>
                <a:cs typeface="Arial"/>
              </a:defRPr>
            </a:pPr>
            <a:r>
              <a:rPr sz="825">
                <a:solidFill>
                  <a:srgbClr val="17365D"/>
                </a:solidFill>
                <a:latin typeface="Arial"/>
                <a:ea typeface="Arial"/>
                <a:cs typeface="Arial"/>
              </a:rPr>
              <a:t>25 September 2026</a:t>
            </a:r>
          </a:p>
        </p:txBody>
      </p:sp>
    </p:spTree>
    <p:extLst>
      <p:ext uri="{BB962C8B-B14F-4D97-AF65-F5344CB8AC3E}">
        <p14:creationId xmlns:p14="http://schemas.microsoft.com/office/powerpoint/2010/main" val="1718927550"/>
      </p:ext>
    </p:extLst>
  </p:cSld>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as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2026-09-24T01:18:48.7070000Z</dcterms:created>
  <dcterms:modified xsi:type="dcterms:W3CDTF">2026-09-24T01:18:48.7070000Z</dcterms:modified>
</coreProperties>
</file>