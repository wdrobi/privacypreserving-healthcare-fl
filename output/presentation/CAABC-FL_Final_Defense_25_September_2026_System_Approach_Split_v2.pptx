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slides/charts/chart2.xml" ContentType="application/vnd.openxmlformats-officedocument.drawingml.chart+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d51e7201c8b4c4d" /><Relationship Type="http://schemas.openxmlformats.org/officeDocument/2006/relationships/extended-properties" Target="/docProps/app.xml" Id="R0652d553c74e42ea" /><Relationship Type="http://schemas.openxmlformats.org/officeDocument/2006/relationships/officeDocument" Target="/ppt/presentation.xml" Id="R7d084a8599c54a33" /></Relationships>
</file>

<file path=ppt/presentation.xml><?xml version="1.0" encoding="utf-8"?>
<p:presentation xmlns:p="http://schemas.openxmlformats.org/presentationml/2006/main">
  <p:sldMasterIdLst>
    <p:sldMasterId xmlns:r="http://schemas.openxmlformats.org/officeDocument/2006/relationships" id="2147483648" r:id="R580f9b5214d94248"/>
  </p:sldMasterIdLst>
  <p:notesMasterIdLst>
    <p:notesMasterId xmlns:r="http://schemas.openxmlformats.org/officeDocument/2006/relationships" r:id="Re5e3e03932654def"/>
  </p:notesMasterIdLst>
  <p:sldIdLst>
    <p:sldId xmlns:r="http://schemas.openxmlformats.org/officeDocument/2006/relationships" id="256" r:id="R14ac2f71bd984664"/>
    <p:sldId xmlns:r="http://schemas.openxmlformats.org/officeDocument/2006/relationships" id="257" r:id="R36097240bbb84fb4"/>
    <p:sldId xmlns:r="http://schemas.openxmlformats.org/officeDocument/2006/relationships" id="258" r:id="R36e34d4138d84b24"/>
    <p:sldId xmlns:r="http://schemas.openxmlformats.org/officeDocument/2006/relationships" id="259" r:id="R56981f6857934ddd"/>
    <p:sldId xmlns:r="http://schemas.openxmlformats.org/officeDocument/2006/relationships" id="260" r:id="Rd7b89075c6e94517"/>
    <p:sldId xmlns:r="http://schemas.openxmlformats.org/officeDocument/2006/relationships" id="261" r:id="R750bc217fa364204"/>
    <p:sldId xmlns:r="http://schemas.openxmlformats.org/officeDocument/2006/relationships" id="262" r:id="R11917da145f34182"/>
    <p:sldId xmlns:r="http://schemas.openxmlformats.org/officeDocument/2006/relationships" id="263" r:id="R94767d4029954296"/>
    <p:sldId xmlns:r="http://schemas.openxmlformats.org/officeDocument/2006/relationships" id="264" r:id="R5667052234ac44b1"/>
    <p:sldId xmlns:r="http://schemas.openxmlformats.org/officeDocument/2006/relationships" id="265" r:id="Rd2a0fd2bfe41455c"/>
    <p:sldId xmlns:r="http://schemas.openxmlformats.org/officeDocument/2006/relationships" id="266" r:id="Re437d155c44247d5"/>
    <p:sldId xmlns:r="http://schemas.openxmlformats.org/officeDocument/2006/relationships" id="267" r:id="Rf4941652747a425f"/>
    <p:sldId xmlns:r="http://schemas.openxmlformats.org/officeDocument/2006/relationships" id="268" r:id="R7444c393016349af"/>
    <p:sldId xmlns:r="http://schemas.openxmlformats.org/officeDocument/2006/relationships" id="269" r:id="R413d91e6976948e1"/>
    <p:sldId xmlns:r="http://schemas.openxmlformats.org/officeDocument/2006/relationships" id="270" r:id="Rcd533775fb954761"/>
    <p:sldId xmlns:r="http://schemas.openxmlformats.org/officeDocument/2006/relationships" id="271" r:id="Raa4c569460b24696"/>
    <p:sldId xmlns:r="http://schemas.openxmlformats.org/officeDocument/2006/relationships" id="272" r:id="R02d236af60f34520"/>
    <p:sldId xmlns:r="http://schemas.openxmlformats.org/officeDocument/2006/relationships" id="273" r:id="R5ea9ebfad1f04061"/>
    <p:sldId xmlns:r="http://schemas.openxmlformats.org/officeDocument/2006/relationships" id="274" r:id="Rbd07564b63a14f10"/>
    <p:sldId xmlns:r="http://schemas.openxmlformats.org/officeDocument/2006/relationships" id="275" r:id="Ra8ad0416d6ac455f"/>
    <p:sldId xmlns:r="http://schemas.openxmlformats.org/officeDocument/2006/relationships" id="276" r:id="R548858c2f4ea4e3c"/>
    <p:sldId xmlns:r="http://schemas.openxmlformats.org/officeDocument/2006/relationships" id="277" r:id="Re7235a5613e04c26"/>
    <p:sldId xmlns:r="http://schemas.openxmlformats.org/officeDocument/2006/relationships" id="278" r:id="R1278dcf624df4c24"/>
    <p:sldId xmlns:r="http://schemas.openxmlformats.org/officeDocument/2006/relationships" id="279" r:id="Rcc49d9cf58644e17"/>
    <p:sldId xmlns:r="http://schemas.openxmlformats.org/officeDocument/2006/relationships" id="280" r:id="R7d7b83d950124323"/>
    <p:sldId xmlns:r="http://schemas.openxmlformats.org/officeDocument/2006/relationships" id="281" r:id="Rfe40d9e36b2040af"/>
    <p:sldId xmlns:r="http://schemas.openxmlformats.org/officeDocument/2006/relationships" id="282" r:id="R941fbb74454048a5"/>
    <p:sldId xmlns:r="http://schemas.openxmlformats.org/officeDocument/2006/relationships" id="283" r:id="Rfe29622260934eb8"/>
    <p:sldId xmlns:r="http://schemas.openxmlformats.org/officeDocument/2006/relationships" id="284" r:id="R213e0677c271492e"/>
    <p:sldId xmlns:r="http://schemas.openxmlformats.org/officeDocument/2006/relationships" id="285" r:id="R95b7e8669000465d"/>
    <p:sldId xmlns:r="http://schemas.openxmlformats.org/officeDocument/2006/relationships" id="286" r:id="Rf9da4307863a447c"/>
    <p:sldId xmlns:r="http://schemas.openxmlformats.org/officeDocument/2006/relationships" id="287" r:id="Rb85e013ed2844da1"/>
    <p:sldId xmlns:r="http://schemas.openxmlformats.org/officeDocument/2006/relationships" id="288" r:id="Rcc519b051e2a45e7"/>
    <p:sldId xmlns:r="http://schemas.openxmlformats.org/officeDocument/2006/relationships" id="289" r:id="Rccf44fecb90a41fb"/>
    <p:sldId xmlns:r="http://schemas.openxmlformats.org/officeDocument/2006/relationships" id="290" r:id="R3c5e247ed01648ce"/>
    <p:sldId xmlns:r="http://schemas.openxmlformats.org/officeDocument/2006/relationships" id="291" r:id="R73c0943d10744893"/>
    <p:sldId xmlns:r="http://schemas.openxmlformats.org/officeDocument/2006/relationships" id="292" r:id="R926e771900834549"/>
    <p:sldId xmlns:r="http://schemas.openxmlformats.org/officeDocument/2006/relationships" id="293" r:id="R5eec6a39938e4d4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eca3699a43444e4c" /><Relationship Type="http://schemas.openxmlformats.org/officeDocument/2006/relationships/slideMaster" Target="/ppt/slideMasters/slideMaster1.xml" Id="R580f9b5214d94248" /><Relationship Type="http://schemas.openxmlformats.org/officeDocument/2006/relationships/notesMaster" Target="/ppt/notesMasters/notesMaster1.xml" Id="Re5e3e03932654def" /><Relationship Type="http://schemas.openxmlformats.org/officeDocument/2006/relationships/presProps" Target="/ppt/presProps.xml" Id="Rebf494447eee4b4b" /><Relationship Type="http://schemas.openxmlformats.org/officeDocument/2006/relationships/viewProps" Target="/ppt/viewProps.xml" Id="Rf5abd9c4ac454b76" /><Relationship Type="http://schemas.openxmlformats.org/officeDocument/2006/relationships/tableStyles" Target="/ppt/tableStyles.xml" Id="R9947a61af03d435b" /><Relationship Type="http://schemas.openxmlformats.org/officeDocument/2006/relationships/slide" Target="/ppt/slides/slide1.xml" Id="R14ac2f71bd984664" /><Relationship Type="http://schemas.openxmlformats.org/officeDocument/2006/relationships/slide" Target="/ppt/slides/slide2.xml" Id="R36097240bbb84fb4" /><Relationship Type="http://schemas.openxmlformats.org/officeDocument/2006/relationships/slide" Target="/ppt/slides/slide3.xml" Id="R36e34d4138d84b24" /><Relationship Type="http://schemas.openxmlformats.org/officeDocument/2006/relationships/slide" Target="/ppt/slides/slide4.xml" Id="R56981f6857934ddd" /><Relationship Type="http://schemas.openxmlformats.org/officeDocument/2006/relationships/slide" Target="/ppt/slides/slide5.xml" Id="Rd7b89075c6e94517" /><Relationship Type="http://schemas.openxmlformats.org/officeDocument/2006/relationships/slide" Target="/ppt/slides/slide6.xml" Id="R750bc217fa364204" /><Relationship Type="http://schemas.openxmlformats.org/officeDocument/2006/relationships/slide" Target="/ppt/slides/slide7.xml" Id="R11917da145f34182" /><Relationship Type="http://schemas.openxmlformats.org/officeDocument/2006/relationships/slide" Target="/ppt/slides/slide8.xml" Id="R94767d4029954296" /><Relationship Type="http://schemas.openxmlformats.org/officeDocument/2006/relationships/slide" Target="/ppt/slides/slide9.xml" Id="R5667052234ac44b1" /><Relationship Type="http://schemas.openxmlformats.org/officeDocument/2006/relationships/slide" Target="/ppt/slides/slide10.xml" Id="Rd2a0fd2bfe41455c" /><Relationship Type="http://schemas.openxmlformats.org/officeDocument/2006/relationships/slide" Target="/ppt/slides/slide11.xml" Id="Re437d155c44247d5" /><Relationship Type="http://schemas.openxmlformats.org/officeDocument/2006/relationships/slide" Target="/ppt/slides/slide12.xml" Id="Rf4941652747a425f" /><Relationship Type="http://schemas.openxmlformats.org/officeDocument/2006/relationships/slide" Target="/ppt/slides/slide13.xml" Id="R7444c393016349af" /><Relationship Type="http://schemas.openxmlformats.org/officeDocument/2006/relationships/slide" Target="/ppt/slides/slide14.xml" Id="R413d91e6976948e1" /><Relationship Type="http://schemas.openxmlformats.org/officeDocument/2006/relationships/slide" Target="/ppt/slides/slide15.xml" Id="Rcd533775fb954761" /><Relationship Type="http://schemas.openxmlformats.org/officeDocument/2006/relationships/slide" Target="/ppt/slides/slide16.xml" Id="Raa4c569460b24696" /><Relationship Type="http://schemas.openxmlformats.org/officeDocument/2006/relationships/slide" Target="/ppt/slides/slide17.xml" Id="R02d236af60f34520" /><Relationship Type="http://schemas.openxmlformats.org/officeDocument/2006/relationships/slide" Target="/ppt/slides/slide18.xml" Id="R5ea9ebfad1f04061" /><Relationship Type="http://schemas.openxmlformats.org/officeDocument/2006/relationships/slide" Target="/ppt/slides/slide19.xml" Id="Rbd07564b63a14f10" /><Relationship Type="http://schemas.openxmlformats.org/officeDocument/2006/relationships/slide" Target="/ppt/slides/slide20.xml" Id="Ra8ad0416d6ac455f" /><Relationship Type="http://schemas.openxmlformats.org/officeDocument/2006/relationships/slide" Target="/ppt/slides/slide21.xml" Id="R548858c2f4ea4e3c" /><Relationship Type="http://schemas.openxmlformats.org/officeDocument/2006/relationships/slide" Target="/ppt/slides/slide22.xml" Id="Re7235a5613e04c26" /><Relationship Type="http://schemas.openxmlformats.org/officeDocument/2006/relationships/slide" Target="/ppt/slides/slide23.xml" Id="R1278dcf624df4c24" /><Relationship Type="http://schemas.openxmlformats.org/officeDocument/2006/relationships/slide" Target="/ppt/slides/slide24.xml" Id="Rcc49d9cf58644e17" /><Relationship Type="http://schemas.openxmlformats.org/officeDocument/2006/relationships/slide" Target="/ppt/slides/slide25.xml" Id="R7d7b83d950124323" /><Relationship Type="http://schemas.openxmlformats.org/officeDocument/2006/relationships/slide" Target="/ppt/slides/slide26.xml" Id="Rfe40d9e36b2040af" /><Relationship Type="http://schemas.openxmlformats.org/officeDocument/2006/relationships/slide" Target="/ppt/slides/slide27.xml" Id="R941fbb74454048a5" /><Relationship Type="http://schemas.openxmlformats.org/officeDocument/2006/relationships/slide" Target="/ppt/slides/slide28.xml" Id="Rfe29622260934eb8" /><Relationship Type="http://schemas.openxmlformats.org/officeDocument/2006/relationships/slide" Target="/ppt/slides/slide29.xml" Id="R213e0677c271492e" /><Relationship Type="http://schemas.openxmlformats.org/officeDocument/2006/relationships/slide" Target="/ppt/slides/slide30.xml" Id="R95b7e8669000465d" /><Relationship Type="http://schemas.openxmlformats.org/officeDocument/2006/relationships/slide" Target="/ppt/slides/slide31.xml" Id="Rf9da4307863a447c" /><Relationship Type="http://schemas.openxmlformats.org/officeDocument/2006/relationships/slide" Target="/ppt/slides/slide32.xml" Id="Rb85e013ed2844da1" /><Relationship Type="http://schemas.openxmlformats.org/officeDocument/2006/relationships/slide" Target="/ppt/slides/slide33.xml" Id="Rcc519b051e2a45e7" /><Relationship Type="http://schemas.openxmlformats.org/officeDocument/2006/relationships/slide" Target="/ppt/slides/slide34.xml" Id="Rccf44fecb90a41fb" /><Relationship Type="http://schemas.openxmlformats.org/officeDocument/2006/relationships/slide" Target="/ppt/slides/slide35.xml" Id="R3c5e247ed01648ce" /><Relationship Type="http://schemas.openxmlformats.org/officeDocument/2006/relationships/slide" Target="/ppt/slides/slide36.xml" Id="R73c0943d10744893" /><Relationship Type="http://schemas.openxmlformats.org/officeDocument/2006/relationships/slide" Target="/ppt/slides/slide37.xml" Id="R926e771900834549" /><Relationship Type="http://schemas.openxmlformats.org/officeDocument/2006/relationships/slide" Target="/ppt/slides/slide38.xml" Id="R5eec6a39938e4d4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353e137467b489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17c22f8eb554d9f" /><Relationship Type="http://schemas.openxmlformats.org/officeDocument/2006/relationships/notesMaster" Target="/ppt/notesMasters/notesMaster1.xml" Id="Rbf3f1cea7da04ebd" /></Relationships>
</file>

<file path=ppt/notesSlides/_rels/notesSlide2.xml.rels>&#65279;<?xml version="1.0" encoding="utf-8"?><Relationships xmlns="http://schemas.openxmlformats.org/package/2006/relationships"><Relationship Type="http://schemas.openxmlformats.org/officeDocument/2006/relationships/slide" Target="/ppt/slides/slide2.xml" Id="Rb49174632d014266" /><Relationship Type="http://schemas.openxmlformats.org/officeDocument/2006/relationships/notesMaster" Target="/ppt/notesMasters/notesMaster1.xml" Id="Rb329194a21f6421e" /></Relationships>
</file>

<file path=ppt/notesSlides/_rels/notesSlide3.xml.rels>&#65279;<?xml version="1.0" encoding="utf-8"?><Relationships xmlns="http://schemas.openxmlformats.org/package/2006/relationships"><Relationship Type="http://schemas.openxmlformats.org/officeDocument/2006/relationships/slide" Target="/ppt/slides/slide3.xml" Id="R67502fdb719e4575" /><Relationship Type="http://schemas.openxmlformats.org/officeDocument/2006/relationships/notesMaster" Target="/ppt/notesMasters/notesMaster1.xml" Id="R7854e71f243947e1" /></Relationships>
</file>

<file path=ppt/notesSlides/_rels/notesSlide4.xml.rels>&#65279;<?xml version="1.0" encoding="utf-8"?><Relationships xmlns="http://schemas.openxmlformats.org/package/2006/relationships"><Relationship Type="http://schemas.openxmlformats.org/officeDocument/2006/relationships/slide" Target="/ppt/slides/slide4.xml" Id="Rc35e4d7e40b94ea6" /><Relationship Type="http://schemas.openxmlformats.org/officeDocument/2006/relationships/notesMaster" Target="/ppt/notesMasters/notesMaster1.xml" Id="R101aff1fd73049e7" /></Relationships>
</file>

<file path=ppt/notesSlides/_rels/notesSlide5.xml.rels>&#65279;<?xml version="1.0" encoding="utf-8"?><Relationships xmlns="http://schemas.openxmlformats.org/package/2006/relationships"><Relationship Type="http://schemas.openxmlformats.org/officeDocument/2006/relationships/slide" Target="/ppt/slides/slide5.xml" Id="R4e848178eaea45dd" /><Relationship Type="http://schemas.openxmlformats.org/officeDocument/2006/relationships/notesMaster" Target="/ppt/notesMasters/notesMaster1.xml" Id="Rb2f34f08cfcd4a16" /></Relationships>
</file>

<file path=ppt/notesSlides/_rels/notesSlide6.xml.rels>&#65279;<?xml version="1.0" encoding="utf-8"?><Relationships xmlns="http://schemas.openxmlformats.org/package/2006/relationships"><Relationship Type="http://schemas.openxmlformats.org/officeDocument/2006/relationships/slide" Target="/ppt/slides/slide6.xml" Id="R2e8e6bceeba74658" /><Relationship Type="http://schemas.openxmlformats.org/officeDocument/2006/relationships/notesMaster" Target="/ppt/notesMasters/notesMaster1.xml" Id="R29576b36747b4ad9" /></Relationships>
</file>

<file path=ppt/notesSlides/_rels/notesSlide7.xml.rels>&#65279;<?xml version="1.0" encoding="utf-8"?><Relationships xmlns="http://schemas.openxmlformats.org/package/2006/relationships"><Relationship Type="http://schemas.openxmlformats.org/officeDocument/2006/relationships/slide" Target="/ppt/slides/slide7.xml" Id="R6780b6daa9934bed" /><Relationship Type="http://schemas.openxmlformats.org/officeDocument/2006/relationships/notesMaster" Target="/ppt/notesMasters/notesMaster1.xml" Id="Rbcdfcc61c32544ca" /></Relationships>
</file>

<file path=ppt/notesSlides/_rels/notesSlide8.xml.rels>&#65279;<?xml version="1.0" encoding="utf-8"?><Relationships xmlns="http://schemas.openxmlformats.org/package/2006/relationships"><Relationship Type="http://schemas.openxmlformats.org/officeDocument/2006/relationships/slide" Target="/ppt/slides/slide8.xml" Id="R49aede3f9ce1470e" /><Relationship Type="http://schemas.openxmlformats.org/officeDocument/2006/relationships/notesMaster" Target="/ppt/notesMasters/notesMaster1.xml" Id="R225b4e5cebca43b3" /></Relationships>
</file>

<file path=ppt/notesSlides/_rels/notesSlide9.xml.rels>&#65279;<?xml version="1.0" encoding="utf-8"?><Relationships xmlns="http://schemas.openxmlformats.org/package/2006/relationships"><Relationship Type="http://schemas.openxmlformats.org/officeDocument/2006/relationships/slide" Target="/ppt/slides/slide9.xml" Id="Re8fa82e6d51c4eb5" /><Relationship Type="http://schemas.openxmlformats.org/officeDocument/2006/relationships/notesMaster" Target="/ppt/notesMasters/notesMaster1.xml" Id="Rfba2aba05784414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a68a26f131c4246" /><Relationship Type="http://schemas.openxmlformats.org/officeDocument/2006/relationships/notesMaster" Target="/ppt/notesMasters/notesMaster1.xml" Id="R7fb34263fedb438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0add18c45424ba5" /><Relationship Type="http://schemas.openxmlformats.org/officeDocument/2006/relationships/notesMaster" Target="/ppt/notesMasters/notesMaster1.xml" Id="R35fd88970ca647f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4077aa3a147456c" /><Relationship Type="http://schemas.openxmlformats.org/officeDocument/2006/relationships/notesMaster" Target="/ppt/notesMasters/notesMaster1.xml" Id="R60e0867443734f5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a025ebd65dc43c1" /><Relationship Type="http://schemas.openxmlformats.org/officeDocument/2006/relationships/notesMaster" Target="/ppt/notesMasters/notesMaster1.xml" Id="R4c0ff2ed3768413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c407fba71824fc5" /><Relationship Type="http://schemas.openxmlformats.org/officeDocument/2006/relationships/notesMaster" Target="/ppt/notesMasters/notesMaster1.xml" Id="R05e80f1b6f8343c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708c9cfd8e64f14" /><Relationship Type="http://schemas.openxmlformats.org/officeDocument/2006/relationships/notesMaster" Target="/ppt/notesMasters/notesMaster1.xml" Id="R4be7c165f484479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a2e031c278641a3" /><Relationship Type="http://schemas.openxmlformats.org/officeDocument/2006/relationships/notesMaster" Target="/ppt/notesMasters/notesMaster1.xml" Id="R9dfacce0944c42a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1435987ec87498c" /><Relationship Type="http://schemas.openxmlformats.org/officeDocument/2006/relationships/notesMaster" Target="/ppt/notesMasters/notesMaster1.xml" Id="R88173889814347b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1fc14d1f2394722" /><Relationship Type="http://schemas.openxmlformats.org/officeDocument/2006/relationships/notesMaster" Target="/ppt/notesMasters/notesMaster1.xml" Id="Rd4fee6c2ddc84e6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589e2621a264a6d" /><Relationship Type="http://schemas.openxmlformats.org/officeDocument/2006/relationships/notesMaster" Target="/ppt/notesMasters/notesMaster1.xml" Id="Re6c12487923747c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e0b69541f93419a" /><Relationship Type="http://schemas.openxmlformats.org/officeDocument/2006/relationships/notesMaster" Target="/ppt/notesMasters/notesMaster1.xml" Id="R67edf9ede282493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2c003e7174846a8" /><Relationship Type="http://schemas.openxmlformats.org/officeDocument/2006/relationships/notesMaster" Target="/ppt/notesMasters/notesMaster1.xml" Id="Rb2bec8f5ad724cf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086e6eeace24fe1" /><Relationship Type="http://schemas.openxmlformats.org/officeDocument/2006/relationships/notesMaster" Target="/ppt/notesMasters/notesMaster1.xml" Id="Rb9258b5a82b74a0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87cea520e8045d8" /><Relationship Type="http://schemas.openxmlformats.org/officeDocument/2006/relationships/notesMaster" Target="/ppt/notesMasters/notesMaster1.xml" Id="Rad43f97b9c4e4f4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aeaa28f73be45e2" /><Relationship Type="http://schemas.openxmlformats.org/officeDocument/2006/relationships/notesMaster" Target="/ppt/notesMasters/notesMaster1.xml" Id="Rf4791d2a875d456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7531a1fb9324cef" /><Relationship Type="http://schemas.openxmlformats.org/officeDocument/2006/relationships/notesMaster" Target="/ppt/notesMasters/notesMaster1.xml" Id="R986dd8e8a37c45a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a4f38f94e074a82" /><Relationship Type="http://schemas.openxmlformats.org/officeDocument/2006/relationships/notesMaster" Target="/ppt/notesMasters/notesMaster1.xml" Id="Rbd8d528ea45e49f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7b491951f68472f" /><Relationship Type="http://schemas.openxmlformats.org/officeDocument/2006/relationships/notesMaster" Target="/ppt/notesMasters/notesMaster1.xml" Id="R696fdca7d13342c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683c7d3b94f419c" /><Relationship Type="http://schemas.openxmlformats.org/officeDocument/2006/relationships/notesMaster" Target="/ppt/notesMasters/notesMaster1.xml" Id="R66f535f9b39a4de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4e61df64db74540" /><Relationship Type="http://schemas.openxmlformats.org/officeDocument/2006/relationships/notesMaster" Target="/ppt/notesMasters/notesMaster1.xml" Id="R76085f89229947a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6cf9e3f827b4005" /><Relationship Type="http://schemas.openxmlformats.org/officeDocument/2006/relationships/notesMaster" Target="/ppt/notesMasters/notesMaster1.xml" Id="Rb1d92639b6c04af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28fe395d2f7436f" /><Relationship Type="http://schemas.openxmlformats.org/officeDocument/2006/relationships/notesMaster" Target="/ppt/notesMasters/notesMaster1.xml" Id="R157f20e71d184ad8"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bb4cdcb139834aba" /><Relationship Type="http://schemas.openxmlformats.org/officeDocument/2006/relationships/notesMaster" Target="/ppt/notesMasters/notesMaster1.xml" Id="Re2c18f19378246f9"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ee26e87224846d4" /><Relationship Type="http://schemas.openxmlformats.org/officeDocument/2006/relationships/notesMaster" Target="/ppt/notesMasters/notesMaster1.xml" Id="R79229ea4cc94484c"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e59c7f1f5ac64c0f" /><Relationship Type="http://schemas.openxmlformats.org/officeDocument/2006/relationships/notesMaster" Target="/ppt/notesMasters/notesMaster1.xml" Id="R73ebbc4105364703"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b3f51faa59ef4b6b" /><Relationship Type="http://schemas.openxmlformats.org/officeDocument/2006/relationships/notesMaster" Target="/ppt/notesMasters/notesMaster1.xml" Id="Ra19ead1f02894e93"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e673c8996df84465" /><Relationship Type="http://schemas.openxmlformats.org/officeDocument/2006/relationships/notesMaster" Target="/ppt/notesMasters/notesMaster1.xml" Id="R4ada5cfc34674b58"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09c96e7c1e1c4d87" /><Relationship Type="http://schemas.openxmlformats.org/officeDocument/2006/relationships/notesMaster" Target="/ppt/notesMasters/notesMaster1.xml" Id="Rc87ba15c8b294e84"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1189281f4dac42a9" /><Relationship Type="http://schemas.openxmlformats.org/officeDocument/2006/relationships/notesMaster" Target="/ppt/notesMasters/notesMaster1.xml" Id="Rb90324ead3c7411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Good morning. We are presenting CAABC-FL, a hybrid privacy-preserving framework for secure collaboration among healthcare institutions. Our work focuses on privacy, communication cost, poisoning resilience, and accountable model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presentation follows the thesis structure. We begin with the problem and prior work, explain the system and experimental protocol, then present the results, limitations, and conclusions.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section introduces the setting, the unresolved engineering problem, our motivation, and the three research objectives.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reduces the need to exchange raw patient records, but it does not solve every privacy and integrity problem. The illustration summarizes the setting: hospitals retain their data, protected model updates support collaborative learning, and the system produces a shared model. This thesis studies update protection, encrypted transport, poisoning response, and release governance. Sources: McMahan et al. [1], Sheller et al. [2], Dayan et al. [3], Shokri et al. [4], Zhu et al. [5], and Geiping et al. [6]. The illustration is conceptual and does not represent an experimental result.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keeps source records local, but exchanged updates can still leak information. CKKS improves confidentiality while increasing communication cost and hiding the update geometry used by many poisoning defenses. Centralized decryption, unverified aggregation, and limited audit evidence create additional trust concerns. The thesis therefore treats privacy, efficiency, adversarial resilience, and release governance as one engineering problem.</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selected this topic because healthcare institutions need collaboration without unrestricted data sharing. The work also addresses a practical systems question: a compressor is valuable only when encrypted network bytes decrease and the model remains useful.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Published healthcare studies motivate multi-institutional learning. Sheller et al. reported that federated training across 10 institutions reached 99% of the model quality achieved with centralized data. The EXAM study trained on 16,148 cases from 20 clinical sites across four continents and reported an average local-test AUC increase from 0.795 for local models to 0.920 for the federated model. These results establish the value of collaboration, while this thesis addresses the remaining privacy, encrypted communication, poisoning, and governance challenges. Sources: Sheller et al., Scientific Reports 10, 12598 (2020), doi:10.1038/s41598-020-69250-1; Dayan et al., Nature Medicine 27, 1735–1743 (2021), doi:10.1038/s41591-021-01506-3.</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supervisor requested three concise objectives. The first covers the integrated architecture, the second covers the communication contribution, and the third covers comparative evaluation under normal and adversarial operation.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RQ1 addresses the integrated privacy and trust architecture. RQ2 tests whether ciphertext-aligned compression produces real serialized communication savings without material utility loss. RQ3 evaluates the resulting system under benign and adversarial conditions using the registered protocol.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literature review groups prior work by healthcare collaboration, privacy and cryptography, communication reduction, and poisoning resilience.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DDFed is one of the closest integrated studies because it addresses both privacy and poisoning. It uses fully homomorphic encryption and a two-phase anomaly detector based on secure similarity computation and feedback-driven collaborative selection. Its experiments cover model-poisoning attacks in cross-device and cross-silo federated learning. Relative to this thesis, DDFed does not provide record-level differential privacy, ciphertext-aligned adaptive compression, threshold-governed release, or an external permissioned audit trail. Source: https://proceedings.neurips.cc/paper_files/paper/2024/hash/824f98c4e9bb301b0b96fa2ae071360b-Abstract-Conference.html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DP-BREM and DP-BREM+ jointly address differential privacy and Byzantine robustness in cross-silo federated learning. Client momentum averages each client's updates over time, reducing honest-client variance and making accumulated malicious perturbations easier to detect. DP-BREM assumes a trusted server; DP-BREM+ removes that assumption with secure aggregation and client-generated distributed noise. Relative to this thesis, it does not address ciphertext-aware adaptive compression, healthcare deployment evidence, independently verified aggregation, or external audit logging. Source: https://www.usenix.org/conference/usenixsecurity25/presentation/gu-xiaolan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PREAMBLE addresses private aggregation of high-dimensional vectors in a two-server architecture. It uses block-sparse distributed point functions, random sampling, and privacy amplification so that communication and computation depend more strongly on active blocks than on the full vector dimension. Its formal analysis is a strong example of co-designing representation and privacy transport. Relative to this thesis, PREAMBLE assumes two non-colluding servers, targets private vector aggregation rather than iterative CKKS healthcare training, and does not study poisoning or release governance. Source: https://proceedings.neurips.cc/paper_files/paper/2025/hash/1d3c1c0bade7b2b1974d3120ab6232b0-Abstract-Conference.html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table compares five anchor studies that contribute directly to the design space of this thesis. FLDP and FAMHE establish protected aggregation and biomedical multiparty computation. DDFed and DP-BREM+ integrate privacy with poisoning or Byzantine robustness. PREAMBLE aligns block sparsity with private transport. The table reports scope rather than a numerical ranking because the studies use different datasets, cryptographic assumptions, and threat models. Sources: Stevens et al., USENIX Security 2022; Froelicher et al., Nature Communications 2021; Xu et al., NeurIPS 2024; Gu et al., USENIX Security 2025; Asi et al., NeurIPS 2025.</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gap defines our contribution boundary. We do not claim to solve every privacy or Byzantine problem. We implement and test a specific integrated design that converts compression into serialized ciphertext savings and adds release-time controls compatible with encrypted sums.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methodology section explains the end-to-end system, the experimental design, the dataset, and the registered analysis methods.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Part one covers layers L0 to L3. The consortium defines identity, consent, and governance policies before each hospital prepares local data. Hospitals jointly establish the CKKS public key and threshold key shares. Each participant then trains locally, clips per-record gradients, applies calibrated differential-privacy noise, compresses aligned parameter blocks with CAABC-FL, encrypts the update, and signs the round submission.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Part two covers layers L4 to L7. The framework authenticates each encrypted update, checks freshness and admission policy, and records only hashes and status on the permissioned ledger. The coordinator aggregates ciphertexts, applies reputation-aware weighting, and requests threshold decryption of the aggregate only. Validation either accepts the candidate model or triggers rollback and quarantine. Hospitals verify the released model hash before the next round, while inference follows the same consent and controlled-decryption policy.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Notation: K is the number of institutions, D_k is the local dataset, C is the clipping norm, z_k is Gaussian noise, e_k is the error-feedback residual, Q selects the common ciphertext-aligned blocks, A_t is the accepted client set, and Dec_t denotes policy-governed decryption after verification and quorum checks.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a paired confirmatory design. Each method receives the same cohort, split, model, privacy configuration, training budget, and random seed. This controls many nuisance differences and supports paired confidence intervals and tests.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40,336 patient records from the public PhysioNet 2019 sepsis challenge. We preserve the two source hospital partitions because cross-institutional heterogeneity is part of the research question. Source: Reyna et al. [19].</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analysis covers more than predictive accuracy. We measure ranking and threshold metrics, probability error, privacy attacks, poisoning effects, encrypted network bytes, cryptographic error, and service latency. Five paired seeds form the confirmatory unit, and Holm correction controls multiplicity within registered endpoint families.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research used an open dataset, open-source tools, and existing hardware. We therefore report no major direct cost. Production-grade cloud infrastructure, hardware confidential computing, and clinical deployment remain future work rather than hidden project expenses.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results section presents the main utility and communication outcome, the same-protocol comparison, and the privacy, poisoning, and systems evidence.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strongest result is the encrypted communication saving. CAABC-FL reduced serialized upload by about 56 percent while maintaining AUROC within the registered non-inferiority margin. AUPRC and several operating-point metrics declined, so we present a bounded trade-off rather than universal superiority.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five methods use the same data, model, privacy, and CKKS conditions. Their AUROC values overlap. CAABC-FL alone reduces the serialized encrypted payload materially. Logical sparsity in the other compressed baselines disappears after dense CKKS encoding. Source: results/q1-sota-reproduction-v1/analysis/sota_method_summary.csv.</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Membership-inference AUC remains near chance for the two private methods, but empirical attacks do not prove privacy. Mean aggregation fails under model replacement and sign flip. FLTrust and Multi-Krum perform well in plaintext but conflict with the implemented sum-only CKKS path. The service timing is single-host and sequential.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final section summarizes what the study established, identifies the contributions and limitations, and outlines the next engineering steps.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three objectives were achieved within the stated scope. The implementation and evaluation support a bounded systems claim. We deliberately avoid claiming universal predictive superiority, formal Byzantine robustness, or a fully decentralized production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main contribution is not a single security primitive. It is the integration and evidence: ciphertext-aligned compression, a complete governed training path, and a broad paired evaluation that records both positive and negative results.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separate research-system evidence from production claims. The results remain valid for the registered experiment, but they do not prove clinical effectiveness across hospitals or remove the need for networked key custodians, confidential hardware, and external evaluation.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next phase should strengthen decentralization and external validity. The highest priority is service-integrated threshold custody, followed by privacy-compatible robust aggregation and real multi-host confidential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the foundations of federated learning, healthcare collaboration, differential privacy, membership inference, and gradient reconstruction.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secure aggregation, CKKS, privacy-aware communication, poisoning defence, recent integrated methods, and the PhysioNet sepsis dataset.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backup slide summarizes the principal project phases. The periods consolidate the detailed working timeline used during the proposal, implementation, evaluation, writing, and defense stages.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Backup glossary for acronyms used throughout the defense presentation.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Thank you for listening. We welcome questions about the architecture, CAABC-FL, the evaluation protocol, the claim boundaries, and the next deployment steps.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final slide remains on screen after the question session.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bf4887a594748e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18440416cef424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c09a598ad2c400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8529b629e5b439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326fb16215744f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be6b42977954cf5"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0fce775ccb43446f"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e26ec4c10d2b40f7"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0516671cf4934c13"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ee54d863db59406d"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92b8348cfb764c2b" /></Relationships>
</file>

<file path=ppt/slideLayouts/slideLayout1.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17" name="Google Shape;17;p2">
            <a:extLst xmlns:a="http://schemas.openxmlformats.org/drawingml/2006/main">
              <a:ext uri="{FF2B5EF4-FFF2-40B4-BE49-F238E27FC236}">
                <a16:creationId xmlns:a16="http://schemas.microsoft.com/office/drawing/2014/main" id="{FBD9D4DC-615E-4579-BBC9-8CBFCB08133F}"/>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8" name="Google Shape;18;p2">
            <a:extLst xmlns:a="http://schemas.openxmlformats.org/drawingml/2006/main">
              <a:ext uri="{FF2B5EF4-FFF2-40B4-BE49-F238E27FC236}">
                <a16:creationId xmlns:a16="http://schemas.microsoft.com/office/drawing/2014/main" id="{FD13C867-1391-4001-B1B6-38E3BA9EF7E0}"/>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19" name="Google Shape;19;p2">
            <a:extLst xmlns:a="http://schemas.openxmlformats.org/drawingml/2006/main">
              <a:ext uri="{FF2B5EF4-FFF2-40B4-BE49-F238E27FC236}">
                <a16:creationId xmlns:a16="http://schemas.microsoft.com/office/drawing/2014/main" id="{CD5AA07B-2DA5-41C7-B0E4-519BF84C41AF}"/>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0" name="Google Shape;20;p2">
            <a:extLst xmlns:a="http://schemas.openxmlformats.org/drawingml/2006/main">
              <a:ext uri="{FF2B5EF4-FFF2-40B4-BE49-F238E27FC236}">
                <a16:creationId xmlns:a16="http://schemas.microsoft.com/office/drawing/2014/main" id="{267BBE3B-F2FF-4C52-B4D0-FEC01A0E74B5}"/>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1" name="Google Shape;21;p2">
            <a:extLst xmlns:a="http://schemas.openxmlformats.org/drawingml/2006/main">
              <a:ext uri="{FF2B5EF4-FFF2-40B4-BE49-F238E27FC236}">
                <a16:creationId xmlns:a16="http://schemas.microsoft.com/office/drawing/2014/main" id="{D96D0613-8628-46C3-B74D-2A8C33DC4A81}"/>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3" name="Google Shape;23;p3">
            <a:extLst xmlns:a="http://schemas.openxmlformats.org/drawingml/2006/main">
              <a:ext uri="{FF2B5EF4-FFF2-40B4-BE49-F238E27FC236}">
                <a16:creationId xmlns:a16="http://schemas.microsoft.com/office/drawing/2014/main" id="{11980058-D5AA-4C82-BB63-69445D34ED5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4" name="Google Shape;24;p3">
            <a:extLst xmlns:a="http://schemas.openxmlformats.org/drawingml/2006/main">
              <a:ext uri="{FF2B5EF4-FFF2-40B4-BE49-F238E27FC236}">
                <a16:creationId xmlns:a16="http://schemas.microsoft.com/office/drawing/2014/main" id="{92807988-BCBE-44FD-A818-68CE119A8AC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5" name="Google Shape;25;p3">
            <a:extLst xmlns:a="http://schemas.openxmlformats.org/drawingml/2006/main">
              <a:ext uri="{FF2B5EF4-FFF2-40B4-BE49-F238E27FC236}">
                <a16:creationId xmlns:a16="http://schemas.microsoft.com/office/drawing/2014/main" id="{5F20EE75-38EF-4CF0-9364-B07D76F2654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6" name="Google Shape;26;p3">
            <a:extLst xmlns:a="http://schemas.openxmlformats.org/drawingml/2006/main">
              <a:ext uri="{FF2B5EF4-FFF2-40B4-BE49-F238E27FC236}">
                <a16:creationId xmlns:a16="http://schemas.microsoft.com/office/drawing/2014/main" id="{F33A1CB9-A997-4B02-B958-48500A659ADB}"/>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28" name="Google Shape;28;p4">
            <a:extLst xmlns:a="http://schemas.openxmlformats.org/drawingml/2006/main">
              <a:ext uri="{FF2B5EF4-FFF2-40B4-BE49-F238E27FC236}">
                <a16:creationId xmlns:a16="http://schemas.microsoft.com/office/drawing/2014/main" id="{3AC89456-F5AD-45EE-B497-E08EC1A3346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9" name="Google Shape;29;p4">
            <a:extLst xmlns:a="http://schemas.openxmlformats.org/drawingml/2006/main">
              <a:ext uri="{FF2B5EF4-FFF2-40B4-BE49-F238E27FC236}">
                <a16:creationId xmlns:a16="http://schemas.microsoft.com/office/drawing/2014/main" id="{C1A08420-6584-4F02-BD54-C1BAB821757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0" name="Google Shape;30;p4">
            <a:extLst xmlns:a="http://schemas.openxmlformats.org/drawingml/2006/main">
              <a:ext uri="{FF2B5EF4-FFF2-40B4-BE49-F238E27FC236}">
                <a16:creationId xmlns:a16="http://schemas.microsoft.com/office/drawing/2014/main" id="{1BF89608-A441-4B76-BD18-4491870EF196}"/>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32" name="Google Shape;32;p5">
            <a:extLst xmlns:a="http://schemas.openxmlformats.org/drawingml/2006/main">
              <a:ext uri="{FF2B5EF4-FFF2-40B4-BE49-F238E27FC236}">
                <a16:creationId xmlns:a16="http://schemas.microsoft.com/office/drawing/2014/main" id="{1BD92A20-51B2-4DA3-A5EB-176B2FCE31C4}"/>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3" name="Google Shape;33;p5">
            <a:extLst xmlns:a="http://schemas.openxmlformats.org/drawingml/2006/main">
              <a:ext uri="{FF2B5EF4-FFF2-40B4-BE49-F238E27FC236}">
                <a16:creationId xmlns:a16="http://schemas.microsoft.com/office/drawing/2014/main" id="{6D908E5A-BA33-4585-B9BE-345DBA5109EC}"/>
              </a:ext>
            </a:extLst>
          </p:cNvPr>
          <p:cNvSpPr>
            <a:spLocks xmlns:a="http://schemas.openxmlformats.org/drawingml/2006/main" noGrp="1"/>
          </p:cNvSpPr>
          <p:nvPr>
            <p:ph type="ctrTitle" idx="0"/>
          </p:nvPr>
        </p:nvSpPr>
        <p:spPr>
          <a:xfrm xmlns:a="http://schemas.openxmlformats.org/drawingml/2006/main">
            <a:off x="1109980" y="882376"/>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1" cap="none">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4" name="Google Shape;34;p5">
            <a:extLst xmlns:a="http://schemas.openxmlformats.org/drawingml/2006/main">
              <a:ext uri="{FF2B5EF4-FFF2-40B4-BE49-F238E27FC236}">
                <a16:creationId xmlns:a16="http://schemas.microsoft.com/office/drawing/2014/main" id="{0121C429-AD11-45DE-A6E4-9CB28B8910DC}"/>
              </a:ext>
            </a:extLst>
          </p:cNvPr>
          <p:cNvSpPr>
            <a:spLocks xmlns:a="http://schemas.openxmlformats.org/drawingml/2006/main" noGrp="1"/>
          </p:cNvSpPr>
          <p:nvPr>
            <p:ph type="subTitle" idx="1"/>
          </p:nvPr>
        </p:nvSpPr>
        <p:spPr>
          <a:xfrm xmlns:a="http://schemas.openxmlformats.org/drawingml/2006/main">
            <a:off x="1709530" y="3869634"/>
            <a:ext cx="8767860" cy="13881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lnSpc>
                <a:spcPct val="90000"/>
              </a:lnSpc>
              <a:spcBef>
                <a:spcPts val="1400"/>
              </a:spcBef>
              <a:spcAft>
                <a:spcPts val="0"/>
              </a:spcAft>
              <a:buSzPts val="1760"/>
              <a:buNone/>
              <a:defRPr sz="2200">
                <a:solidFill>
                  <a:schemeClr val="dk1"/>
                </a:solidFill>
              </a:defRPr>
            </a:lvl1pPr>
            <a:lvl2pPr algn="ctr">
              <a:lnSpc>
                <a:spcPct val="90000"/>
              </a:lnSpc>
              <a:spcBef>
                <a:spcPts val="200"/>
              </a:spcBef>
              <a:spcAft>
                <a:spcPts val="0"/>
              </a:spcAft>
              <a:buSzPts val="1760"/>
              <a:buNone/>
              <a:defRPr sz="2200"/>
            </a:lvl2pPr>
            <a:lvl3pPr algn="ctr">
              <a:lnSpc>
                <a:spcPct val="90000"/>
              </a:lnSpc>
              <a:spcBef>
                <a:spcPts val="400"/>
              </a:spcBef>
              <a:spcAft>
                <a:spcPts val="0"/>
              </a:spcAft>
              <a:buSzPts val="1760"/>
              <a:buNone/>
              <a:defRPr sz="2200"/>
            </a:lvl3pPr>
            <a:lvl4pPr algn="ctr">
              <a:lnSpc>
                <a:spcPct val="90000"/>
              </a:lnSpc>
              <a:spcBef>
                <a:spcPts val="400"/>
              </a:spcBef>
              <a:spcAft>
                <a:spcPts val="0"/>
              </a:spcAft>
              <a:buSzPts val="1600"/>
              <a:buNone/>
              <a:defRPr sz="2000"/>
            </a:lvl4pPr>
            <a:lvl5pPr algn="ctr">
              <a:lnSpc>
                <a:spcPct val="90000"/>
              </a:lnSpc>
              <a:spcBef>
                <a:spcPts val="400"/>
              </a:spcBef>
              <a:spcAft>
                <a:spcPts val="0"/>
              </a:spcAft>
              <a:buSzPts val="1600"/>
              <a:buNone/>
              <a:defRPr sz="2000"/>
            </a:lvl5pPr>
            <a:lvl6pPr algn="ctr">
              <a:lnSpc>
                <a:spcPct val="90000"/>
              </a:lnSpc>
              <a:spcBef>
                <a:spcPts val="400"/>
              </a:spcBef>
              <a:spcAft>
                <a:spcPts val="0"/>
              </a:spcAft>
              <a:buSzPts val="1600"/>
              <a:buNone/>
              <a:defRPr sz="2000"/>
            </a:lvl6pPr>
            <a:lvl7pPr algn="ctr">
              <a:lnSpc>
                <a:spcPct val="90000"/>
              </a:lnSpc>
              <a:spcBef>
                <a:spcPts val="400"/>
              </a:spcBef>
              <a:spcAft>
                <a:spcPts val="0"/>
              </a:spcAft>
              <a:buSzPts val="1600"/>
              <a:buNone/>
              <a:defRPr sz="2000"/>
            </a:lvl7pPr>
            <a:lvl8pPr algn="ctr">
              <a:lnSpc>
                <a:spcPct val="90000"/>
              </a:lnSpc>
              <a:spcBef>
                <a:spcPts val="400"/>
              </a:spcBef>
              <a:spcAft>
                <a:spcPts val="0"/>
              </a:spcAft>
              <a:buSzPts val="1600"/>
              <a:buNone/>
              <a:defRPr sz="2000"/>
            </a:lvl8pPr>
            <a:lvl9pPr algn="ctr">
              <a:lnSpc>
                <a:spcPct val="90000"/>
              </a:lnSpc>
              <a:spcBef>
                <a:spcPts val="400"/>
              </a:spcBef>
              <a:spcAft>
                <a:spcPts val="400"/>
              </a:spcAft>
              <a:buSzPts val="1600"/>
              <a:buNone/>
              <a:defRPr sz="2000"/>
            </a:lvl9pPr>
          </a:lstStyle>
          <a:p xmlns:a="http://schemas.openxmlformats.org/drawingml/2006/main">
            <a:endParaRPr/>
          </a:p>
        </p:txBody>
      </p:sp>
      <p:sp>
        <p:nvSpPr>
          <p:cNvPr id="35" name="Google Shape;35;p5">
            <a:extLst xmlns:a="http://schemas.openxmlformats.org/drawingml/2006/main">
              <a:ext uri="{FF2B5EF4-FFF2-40B4-BE49-F238E27FC236}">
                <a16:creationId xmlns:a16="http://schemas.microsoft.com/office/drawing/2014/main" id="{7C88B229-BE9C-48AB-BCDD-6B522818270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6" name="Google Shape;36;p5">
            <a:extLst xmlns:a="http://schemas.openxmlformats.org/drawingml/2006/main">
              <a:ext uri="{FF2B5EF4-FFF2-40B4-BE49-F238E27FC236}">
                <a16:creationId xmlns:a16="http://schemas.microsoft.com/office/drawing/2014/main" id="{B80F305A-AF4C-4C9E-B79F-75703659BCB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7" name="Google Shape;37;p5">
            <a:extLst xmlns:a="http://schemas.openxmlformats.org/drawingml/2006/main">
              <a:ext uri="{FF2B5EF4-FFF2-40B4-BE49-F238E27FC236}">
                <a16:creationId xmlns:a16="http://schemas.microsoft.com/office/drawing/2014/main" id="{54D6FE42-6084-452E-9DB2-A2AF11A4A17F}"/>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108" name="Google Shape;38;p5"/>
          <p:cNvCxnSpPr/>
          <p:nvPr/>
        </p:nvCxnSpPr>
        <p:spPr>
          <a:xfrm xmlns:a="http://schemas.openxmlformats.org/drawingml/2006/main">
            <a:off x="1978660" y="3733800"/>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5.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40" name="Google Shape;40;p6">
            <a:extLst xmlns:a="http://schemas.openxmlformats.org/drawingml/2006/main">
              <a:ext uri="{FF2B5EF4-FFF2-40B4-BE49-F238E27FC236}">
                <a16:creationId xmlns:a16="http://schemas.microsoft.com/office/drawing/2014/main" id="{0486CAB3-85CC-4608-925E-E0CAC0AEFB2C}"/>
              </a:ext>
            </a:extLst>
          </p:cNvPr>
          <p:cNvSpPr>
            <a:spLocks xmlns:a="http://schemas.openxmlformats.org/drawingml/2006/main" noGrp="1"/>
          </p:cNvSpPr>
          <p:nvPr>
            <p:ph type="title" idx="0"/>
          </p:nvPr>
        </p:nvSpPr>
        <p:spPr>
          <a:xfrm xmlns:a="http://schemas.openxmlformats.org/drawingml/2006/main">
            <a:off x="1106424" y="1173575"/>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0" cap="none"/>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1" name="Google Shape;41;p6">
            <a:extLst xmlns:a="http://schemas.openxmlformats.org/drawingml/2006/main">
              <a:ext uri="{FF2B5EF4-FFF2-40B4-BE49-F238E27FC236}">
                <a16:creationId xmlns:a16="http://schemas.microsoft.com/office/drawing/2014/main" id="{F642E5A3-678F-4051-8AC6-7090B1AB4DC2}"/>
              </a:ext>
            </a:extLst>
          </p:cNvPr>
          <p:cNvSpPr>
            <a:spLocks xmlns:a="http://schemas.openxmlformats.org/drawingml/2006/main" noGrp="1"/>
          </p:cNvSpPr>
          <p:nvPr>
            <p:ph type="body" idx="1"/>
          </p:nvPr>
        </p:nvSpPr>
        <p:spPr>
          <a:xfrm xmlns:a="http://schemas.openxmlformats.org/drawingml/2006/main">
            <a:off x="1709928" y="4154520"/>
            <a:ext cx="8769096" cy="136380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ctr">
              <a:lnSpc>
                <a:spcPct val="90000"/>
              </a:lnSpc>
              <a:spcBef>
                <a:spcPts val="1400"/>
              </a:spcBef>
              <a:spcAft>
                <a:spcPts val="0"/>
              </a:spcAft>
              <a:buSzPts val="1760"/>
              <a:buNone/>
              <a:defRPr sz="2200">
                <a:solidFill>
                  <a:schemeClr val="dk1"/>
                </a:solidFill>
              </a:defRPr>
            </a:lvl1pPr>
            <a:lvl2pPr marL="914400" indent="-228600" algn="l">
              <a:lnSpc>
                <a:spcPct val="90000"/>
              </a:lnSpc>
              <a:spcBef>
                <a:spcPts val="200"/>
              </a:spcBef>
              <a:spcAft>
                <a:spcPts val="0"/>
              </a:spcAft>
              <a:buSzPts val="1440"/>
              <a:buNone/>
              <a:defRPr sz="1800">
                <a:solidFill>
                  <a:srgbClr val="888888"/>
                </a:solidFill>
              </a:defRPr>
            </a:lvl2pPr>
            <a:lvl3pPr marL="1371600" indent="-228600" algn="l">
              <a:lnSpc>
                <a:spcPct val="90000"/>
              </a:lnSpc>
              <a:spcBef>
                <a:spcPts val="400"/>
              </a:spcBef>
              <a:spcAft>
                <a:spcPts val="0"/>
              </a:spcAft>
              <a:buSzPts val="1280"/>
              <a:buNone/>
              <a:defRPr sz="1600">
                <a:solidFill>
                  <a:srgbClr val="888888"/>
                </a:solidFill>
              </a:defRPr>
            </a:lvl3pPr>
            <a:lvl4pPr marL="1828800" indent="-228600" algn="l">
              <a:lnSpc>
                <a:spcPct val="90000"/>
              </a:lnSpc>
              <a:spcBef>
                <a:spcPts val="400"/>
              </a:spcBef>
              <a:spcAft>
                <a:spcPts val="0"/>
              </a:spcAft>
              <a:buSzPts val="1120"/>
              <a:buNone/>
              <a:defRPr sz="1400">
                <a:solidFill>
                  <a:srgbClr val="888888"/>
                </a:solidFill>
              </a:defRPr>
            </a:lvl4pPr>
            <a:lvl5pPr marL="2286000" indent="-228600" algn="l">
              <a:lnSpc>
                <a:spcPct val="90000"/>
              </a:lnSpc>
              <a:spcBef>
                <a:spcPts val="400"/>
              </a:spcBef>
              <a:spcAft>
                <a:spcPts val="0"/>
              </a:spcAft>
              <a:buSzPts val="1120"/>
              <a:buNone/>
              <a:defRPr sz="1400">
                <a:solidFill>
                  <a:srgbClr val="888888"/>
                </a:solidFill>
              </a:defRPr>
            </a:lvl5pPr>
            <a:lvl6pPr marL="2743200" indent="-228600" algn="l">
              <a:lnSpc>
                <a:spcPct val="90000"/>
              </a:lnSpc>
              <a:spcBef>
                <a:spcPts val="400"/>
              </a:spcBef>
              <a:spcAft>
                <a:spcPts val="0"/>
              </a:spcAft>
              <a:buSzPts val="1120"/>
              <a:buNone/>
              <a:defRPr sz="1400">
                <a:solidFill>
                  <a:srgbClr val="888888"/>
                </a:solidFill>
              </a:defRPr>
            </a:lvl6pPr>
            <a:lvl7pPr marL="3200400" indent="-228600" algn="l">
              <a:lnSpc>
                <a:spcPct val="90000"/>
              </a:lnSpc>
              <a:spcBef>
                <a:spcPts val="400"/>
              </a:spcBef>
              <a:spcAft>
                <a:spcPts val="0"/>
              </a:spcAft>
              <a:buSzPts val="1120"/>
              <a:buNone/>
              <a:defRPr sz="1400">
                <a:solidFill>
                  <a:srgbClr val="888888"/>
                </a:solidFill>
              </a:defRPr>
            </a:lvl7pPr>
            <a:lvl8pPr marL="3657600" indent="-228600" algn="l">
              <a:lnSpc>
                <a:spcPct val="90000"/>
              </a:lnSpc>
              <a:spcBef>
                <a:spcPts val="400"/>
              </a:spcBef>
              <a:spcAft>
                <a:spcPts val="0"/>
              </a:spcAft>
              <a:buSzPts val="1120"/>
              <a:buNone/>
              <a:defRPr sz="1400">
                <a:solidFill>
                  <a:srgbClr val="888888"/>
                </a:solidFill>
              </a:defRPr>
            </a:lvl8pPr>
            <a:lvl9pPr marL="4114800" indent="-228600" algn="l">
              <a:lnSpc>
                <a:spcPct val="90000"/>
              </a:lnSpc>
              <a:spcBef>
                <a:spcPts val="400"/>
              </a:spcBef>
              <a:spcAft>
                <a:spcPts val="400"/>
              </a:spcAft>
              <a:buSzPts val="1120"/>
              <a:buNone/>
              <a:defRPr sz="1400">
                <a:solidFill>
                  <a:srgbClr val="888888"/>
                </a:solidFill>
              </a:defRPr>
            </a:lvl9pPr>
          </a:lstStyle>
          <a:p xmlns:a="http://schemas.openxmlformats.org/drawingml/2006/main">
            <a:endParaRPr/>
          </a:p>
        </p:txBody>
      </p:sp>
      <p:sp>
        <p:nvSpPr>
          <p:cNvPr id="42" name="Google Shape;42;p6">
            <a:extLst xmlns:a="http://schemas.openxmlformats.org/drawingml/2006/main">
              <a:ext uri="{FF2B5EF4-FFF2-40B4-BE49-F238E27FC236}">
                <a16:creationId xmlns:a16="http://schemas.microsoft.com/office/drawing/2014/main" id="{88F17270-9B6D-4C62-99CE-0ECD19DFCE3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3" name="Google Shape;43;p6">
            <a:extLst xmlns:a="http://schemas.openxmlformats.org/drawingml/2006/main">
              <a:ext uri="{FF2B5EF4-FFF2-40B4-BE49-F238E27FC236}">
                <a16:creationId xmlns:a16="http://schemas.microsoft.com/office/drawing/2014/main" id="{ABDEB05D-E590-4230-A65A-231F0064D7AF}"/>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4" name="Google Shape;44;p6">
            <a:extLst xmlns:a="http://schemas.openxmlformats.org/drawingml/2006/main">
              <a:ext uri="{FF2B5EF4-FFF2-40B4-BE49-F238E27FC236}">
                <a16:creationId xmlns:a16="http://schemas.microsoft.com/office/drawing/2014/main" id="{9C599CAB-D224-4627-A936-C90F5A61ABA8}"/>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105" name="Google Shape;45;p6"/>
          <p:cNvCxnSpPr/>
          <p:nvPr/>
        </p:nvCxnSpPr>
        <p:spPr>
          <a:xfrm xmlns:a="http://schemas.openxmlformats.org/drawingml/2006/main">
            <a:off x="1981200" y="4020408"/>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6.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47" name="Google Shape;47;p7">
            <a:extLst xmlns:a="http://schemas.openxmlformats.org/drawingml/2006/main">
              <a:ext uri="{FF2B5EF4-FFF2-40B4-BE49-F238E27FC236}">
                <a16:creationId xmlns:a16="http://schemas.microsoft.com/office/drawing/2014/main" id="{A88F6224-4C19-45BC-8E4C-4EDB510ABFB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8" name="Google Shape;48;p7">
            <a:extLst xmlns:a="http://schemas.openxmlformats.org/drawingml/2006/main">
              <a:ext uri="{FF2B5EF4-FFF2-40B4-BE49-F238E27FC236}">
                <a16:creationId xmlns:a16="http://schemas.microsoft.com/office/drawing/2014/main" id="{B66352A3-57DB-43E0-8F63-BDDCAF161A6F}"/>
              </a:ext>
            </a:extLst>
          </p:cNvPr>
          <p:cNvSpPr>
            <a:spLocks xmlns:a="http://schemas.openxmlformats.org/drawingml/2006/main" noGrp="1"/>
          </p:cNvSpPr>
          <p:nvPr>
            <p:ph type="body" idx="1"/>
          </p:nvPr>
        </p:nvSpPr>
        <p:spPr>
          <a:xfrm xmlns:a="http://schemas.openxmlformats.org/drawingml/2006/main">
            <a:off x="1143000" y="2057399"/>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49" name="Google Shape;49;p7">
            <a:extLst xmlns:a="http://schemas.openxmlformats.org/drawingml/2006/main">
              <a:ext uri="{FF2B5EF4-FFF2-40B4-BE49-F238E27FC236}">
                <a16:creationId xmlns:a16="http://schemas.microsoft.com/office/drawing/2014/main" id="{62E06904-5961-46D1-80C9-DC9F8DC11279}"/>
              </a:ext>
            </a:extLst>
          </p:cNvPr>
          <p:cNvSpPr>
            <a:spLocks xmlns:a="http://schemas.openxmlformats.org/drawingml/2006/main" noGrp="1"/>
          </p:cNvSpPr>
          <p:nvPr>
            <p:ph type="body" idx="2"/>
          </p:nvPr>
        </p:nvSpPr>
        <p:spPr>
          <a:xfrm xmlns:a="http://schemas.openxmlformats.org/drawingml/2006/main">
            <a:off x="6267612" y="2057400"/>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0" name="Google Shape;50;p7">
            <a:extLst xmlns:a="http://schemas.openxmlformats.org/drawingml/2006/main">
              <a:ext uri="{FF2B5EF4-FFF2-40B4-BE49-F238E27FC236}">
                <a16:creationId xmlns:a16="http://schemas.microsoft.com/office/drawing/2014/main" id="{8080A104-8AA5-4585-9E75-4CD0E830DFE7}"/>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1" name="Google Shape;51;p7">
            <a:extLst xmlns:a="http://schemas.openxmlformats.org/drawingml/2006/main">
              <a:ext uri="{FF2B5EF4-FFF2-40B4-BE49-F238E27FC236}">
                <a16:creationId xmlns:a16="http://schemas.microsoft.com/office/drawing/2014/main" id="{4886F767-AA98-4549-9764-82804112AF63}"/>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2" name="Google Shape;52;p7">
            <a:extLst xmlns:a="http://schemas.openxmlformats.org/drawingml/2006/main">
              <a:ext uri="{FF2B5EF4-FFF2-40B4-BE49-F238E27FC236}">
                <a16:creationId xmlns:a16="http://schemas.microsoft.com/office/drawing/2014/main" id="{A8C7AF50-1422-48D4-9D6B-46886AE3CAC4}"/>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54" name="Google Shape;54;p8">
            <a:extLst xmlns:a="http://schemas.openxmlformats.org/drawingml/2006/main">
              <a:ext uri="{FF2B5EF4-FFF2-40B4-BE49-F238E27FC236}">
                <a16:creationId xmlns:a16="http://schemas.microsoft.com/office/drawing/2014/main" id="{FEE9B523-B5E0-4692-948F-F69BDE9C424E}"/>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5" name="Google Shape;55;p8">
            <a:extLst xmlns:a="http://schemas.openxmlformats.org/drawingml/2006/main">
              <a:ext uri="{FF2B5EF4-FFF2-40B4-BE49-F238E27FC236}">
                <a16:creationId xmlns:a16="http://schemas.microsoft.com/office/drawing/2014/main" id="{C8138D25-7461-4766-90D9-38E29D1B539F}"/>
              </a:ext>
            </a:extLst>
          </p:cNvPr>
          <p:cNvSpPr>
            <a:spLocks xmlns:a="http://schemas.openxmlformats.org/drawingml/2006/main" noGrp="1"/>
          </p:cNvSpPr>
          <p:nvPr>
            <p:ph type="body" idx="1"/>
          </p:nvPr>
        </p:nvSpPr>
        <p:spPr>
          <a:xfrm xmlns:a="http://schemas.openxmlformats.org/drawingml/2006/main">
            <a:off x="1143000" y="2001511"/>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6" name="Google Shape;56;p8">
            <a:extLst xmlns:a="http://schemas.openxmlformats.org/drawingml/2006/main">
              <a:ext uri="{FF2B5EF4-FFF2-40B4-BE49-F238E27FC236}">
                <a16:creationId xmlns:a16="http://schemas.microsoft.com/office/drawing/2014/main" id="{13A65957-C47B-426F-A86E-AC08896857BE}"/>
              </a:ext>
            </a:extLst>
          </p:cNvPr>
          <p:cNvSpPr>
            <a:spLocks xmlns:a="http://schemas.openxmlformats.org/drawingml/2006/main" noGrp="1"/>
          </p:cNvSpPr>
          <p:nvPr>
            <p:ph type="body" idx="2"/>
          </p:nvPr>
        </p:nvSpPr>
        <p:spPr>
          <a:xfrm xmlns:a="http://schemas.openxmlformats.org/drawingml/2006/main">
            <a:off x="1143000" y="2721483"/>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7" name="Google Shape;57;p8">
            <a:extLst xmlns:a="http://schemas.openxmlformats.org/drawingml/2006/main">
              <a:ext uri="{FF2B5EF4-FFF2-40B4-BE49-F238E27FC236}">
                <a16:creationId xmlns:a16="http://schemas.microsoft.com/office/drawing/2014/main" id="{023220B7-0BB2-4319-9A57-9402BBFD7762}"/>
              </a:ext>
            </a:extLst>
          </p:cNvPr>
          <p:cNvSpPr>
            <a:spLocks xmlns:a="http://schemas.openxmlformats.org/drawingml/2006/main" noGrp="1"/>
          </p:cNvSpPr>
          <p:nvPr>
            <p:ph type="body" idx="3"/>
          </p:nvPr>
        </p:nvSpPr>
        <p:spPr>
          <a:xfrm xmlns:a="http://schemas.openxmlformats.org/drawingml/2006/main">
            <a:off x="6269173" y="1999032"/>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8" name="Google Shape;58;p8">
            <a:extLst xmlns:a="http://schemas.openxmlformats.org/drawingml/2006/main">
              <a:ext uri="{FF2B5EF4-FFF2-40B4-BE49-F238E27FC236}">
                <a16:creationId xmlns:a16="http://schemas.microsoft.com/office/drawing/2014/main" id="{BABC99F3-8810-4EE2-BE04-B8458006A308}"/>
              </a:ext>
            </a:extLst>
          </p:cNvPr>
          <p:cNvSpPr>
            <a:spLocks xmlns:a="http://schemas.openxmlformats.org/drawingml/2006/main" noGrp="1"/>
          </p:cNvSpPr>
          <p:nvPr>
            <p:ph type="body" idx="4"/>
          </p:nvPr>
        </p:nvSpPr>
        <p:spPr>
          <a:xfrm xmlns:a="http://schemas.openxmlformats.org/drawingml/2006/main">
            <a:off x="6269173" y="2719322"/>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9" name="Google Shape;59;p8">
            <a:extLst xmlns:a="http://schemas.openxmlformats.org/drawingml/2006/main">
              <a:ext uri="{FF2B5EF4-FFF2-40B4-BE49-F238E27FC236}">
                <a16:creationId xmlns:a16="http://schemas.microsoft.com/office/drawing/2014/main" id="{638707D7-23B9-45C1-A8F2-598B2AE38F5B}"/>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0" name="Google Shape;60;p8">
            <a:extLst xmlns:a="http://schemas.openxmlformats.org/drawingml/2006/main">
              <a:ext uri="{FF2B5EF4-FFF2-40B4-BE49-F238E27FC236}">
                <a16:creationId xmlns:a16="http://schemas.microsoft.com/office/drawing/2014/main" id="{CDE3DF0F-A9E3-450B-ABD1-1F5396CAD3D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1" name="Google Shape;61;p8">
            <a:extLst xmlns:a="http://schemas.openxmlformats.org/drawingml/2006/main">
              <a:ext uri="{FF2B5EF4-FFF2-40B4-BE49-F238E27FC236}">
                <a16:creationId xmlns:a16="http://schemas.microsoft.com/office/drawing/2014/main" id="{70B19D17-8237-4B08-A8B2-1648F42350E0}"/>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63" name="Google Shape;63;p9">
            <a:extLst xmlns:a="http://schemas.openxmlformats.org/drawingml/2006/main">
              <a:ext uri="{FF2B5EF4-FFF2-40B4-BE49-F238E27FC236}">
                <a16:creationId xmlns:a16="http://schemas.microsoft.com/office/drawing/2014/main" id="{D08F7266-7985-4AC9-B2A3-F0E202E2E4E7}"/>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4" name="Google Shape;64;p9">
            <a:extLst xmlns:a="http://schemas.openxmlformats.org/drawingml/2006/main">
              <a:ext uri="{FF2B5EF4-FFF2-40B4-BE49-F238E27FC236}">
                <a16:creationId xmlns:a16="http://schemas.microsoft.com/office/drawing/2014/main" id="{6CB2082C-D06C-482C-B967-E3492112D839}"/>
              </a:ext>
            </a:extLst>
          </p:cNvPr>
          <p:cNvSpPr>
            <a:spLocks xmlns:a="http://schemas.openxmlformats.org/drawingml/2006/main" noGrp="1"/>
          </p:cNvSpPr>
          <p:nvPr>
            <p:ph type="body" idx="1"/>
          </p:nvPr>
        </p:nvSpPr>
        <p:spPr>
          <a:xfrm xmlns:a="http://schemas.openxmlformats.org/drawingml/2006/main">
            <a:off x="5852159" y="1097280"/>
            <a:ext cx="5212080" cy="4663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91160" algn="l">
              <a:lnSpc>
                <a:spcPct val="90000"/>
              </a:lnSpc>
              <a:spcBef>
                <a:spcPts val="1400"/>
              </a:spcBef>
              <a:spcAft>
                <a:spcPts val="0"/>
              </a:spcAft>
              <a:buSzPts val="2560"/>
              <a:buChar char="•"/>
              <a:defRPr sz="3200"/>
            </a:lvl1pPr>
            <a:lvl2pPr marL="914400" indent="-370840" algn="l">
              <a:lnSpc>
                <a:spcPct val="90000"/>
              </a:lnSpc>
              <a:spcBef>
                <a:spcPts val="200"/>
              </a:spcBef>
              <a:spcAft>
                <a:spcPts val="0"/>
              </a:spcAft>
              <a:buSzPts val="2240"/>
              <a:buChar char="•"/>
              <a:defRPr sz="2800"/>
            </a:lvl2pPr>
            <a:lvl3pPr marL="1371600" indent="-350519" algn="l">
              <a:lnSpc>
                <a:spcPct val="90000"/>
              </a:lnSpc>
              <a:spcBef>
                <a:spcPts val="400"/>
              </a:spcBef>
              <a:spcAft>
                <a:spcPts val="0"/>
              </a:spcAft>
              <a:buSzPts val="1920"/>
              <a:buChar char="•"/>
              <a:defRPr sz="2400"/>
            </a:lvl3pPr>
            <a:lvl4pPr marL="1828800" indent="-330200" algn="l">
              <a:lnSpc>
                <a:spcPct val="90000"/>
              </a:lnSpc>
              <a:spcBef>
                <a:spcPts val="400"/>
              </a:spcBef>
              <a:spcAft>
                <a:spcPts val="0"/>
              </a:spcAft>
              <a:buSzPts val="1600"/>
              <a:buChar char="•"/>
              <a:defRPr sz="2000"/>
            </a:lvl4pPr>
            <a:lvl5pPr marL="2286000" indent="-330200" algn="l">
              <a:lnSpc>
                <a:spcPct val="90000"/>
              </a:lnSpc>
              <a:spcBef>
                <a:spcPts val="400"/>
              </a:spcBef>
              <a:spcAft>
                <a:spcPts val="0"/>
              </a:spcAft>
              <a:buSzPts val="1600"/>
              <a:buChar char="•"/>
              <a:defRPr sz="2000"/>
            </a:lvl5pPr>
            <a:lvl6pPr marL="2743200" indent="-330200" algn="l">
              <a:lnSpc>
                <a:spcPct val="90000"/>
              </a:lnSpc>
              <a:spcBef>
                <a:spcPts val="400"/>
              </a:spcBef>
              <a:spcAft>
                <a:spcPts val="0"/>
              </a:spcAft>
              <a:buSzPts val="1600"/>
              <a:buChar char="•"/>
              <a:defRPr sz="2000"/>
            </a:lvl6pPr>
            <a:lvl7pPr marL="3200400" indent="-330200" algn="l">
              <a:lnSpc>
                <a:spcPct val="90000"/>
              </a:lnSpc>
              <a:spcBef>
                <a:spcPts val="400"/>
              </a:spcBef>
              <a:spcAft>
                <a:spcPts val="0"/>
              </a:spcAft>
              <a:buSzPts val="1600"/>
              <a:buChar char="•"/>
              <a:defRPr sz="2000"/>
            </a:lvl7pPr>
            <a:lvl8pPr marL="3657600" indent="-330200" algn="l">
              <a:lnSpc>
                <a:spcPct val="90000"/>
              </a:lnSpc>
              <a:spcBef>
                <a:spcPts val="400"/>
              </a:spcBef>
              <a:spcAft>
                <a:spcPts val="0"/>
              </a:spcAft>
              <a:buSzPts val="1600"/>
              <a:buChar char="•"/>
              <a:defRPr sz="2000"/>
            </a:lvl8pPr>
            <a:lvl9pPr marL="4114800" indent="-330200" algn="l">
              <a:lnSpc>
                <a:spcPct val="90000"/>
              </a:lnSpc>
              <a:spcBef>
                <a:spcPts val="400"/>
              </a:spcBef>
              <a:spcAft>
                <a:spcPts val="400"/>
              </a:spcAft>
              <a:buSzPts val="1600"/>
              <a:buChar char="•"/>
              <a:defRPr sz="2000"/>
            </a:lvl9pPr>
          </a:lstStyle>
          <a:p xmlns:a="http://schemas.openxmlformats.org/drawingml/2006/main">
            <a:endParaRPr/>
          </a:p>
        </p:txBody>
      </p:sp>
      <p:sp>
        <p:nvSpPr>
          <p:cNvPr id="65" name="Google Shape;65;p9">
            <a:extLst xmlns:a="http://schemas.openxmlformats.org/drawingml/2006/main">
              <a:ext uri="{FF2B5EF4-FFF2-40B4-BE49-F238E27FC236}">
                <a16:creationId xmlns:a16="http://schemas.microsoft.com/office/drawing/2014/main" id="{F199FB3C-DA4D-43F4-BD3F-8C530DA0CFE1}"/>
              </a:ext>
            </a:extLst>
          </p:cNvPr>
          <p:cNvSpPr>
            <a:spLocks xmlns:a="http://schemas.openxmlformats.org/drawingml/2006/main" noGrp="1"/>
          </p:cNvSpPr>
          <p:nvPr>
            <p:ph type="body" idx="2"/>
          </p:nvPr>
        </p:nvSpPr>
        <p:spPr>
          <a:xfrm xmlns:a="http://schemas.openxmlformats.org/drawingml/2006/main">
            <a:off x="1143000" y="2834640"/>
            <a:ext cx="3931920" cy="3017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66" name="Google Shape;66;p9">
            <a:extLst xmlns:a="http://schemas.openxmlformats.org/drawingml/2006/main">
              <a:ext uri="{FF2B5EF4-FFF2-40B4-BE49-F238E27FC236}">
                <a16:creationId xmlns:a16="http://schemas.microsoft.com/office/drawing/2014/main" id="{CE00638A-17BC-4D96-93ED-FF7C773CD5F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7" name="Google Shape;67;p9">
            <a:extLst xmlns:a="http://schemas.openxmlformats.org/drawingml/2006/main">
              <a:ext uri="{FF2B5EF4-FFF2-40B4-BE49-F238E27FC236}">
                <a16:creationId xmlns:a16="http://schemas.microsoft.com/office/drawing/2014/main" id="{5E9F3C43-ADB4-4110-89BC-B62B8721AAD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8" name="Google Shape;68;p9">
            <a:extLst xmlns:a="http://schemas.openxmlformats.org/drawingml/2006/main">
              <a:ext uri="{FF2B5EF4-FFF2-40B4-BE49-F238E27FC236}">
                <a16:creationId xmlns:a16="http://schemas.microsoft.com/office/drawing/2014/main" id="{A8AF8AD0-C3A8-4519-8B75-95A8A3BBE3C5}"/>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70" name="Google Shape;70;p10">
            <a:extLst xmlns:a="http://schemas.openxmlformats.org/drawingml/2006/main">
              <a:ext uri="{FF2B5EF4-FFF2-40B4-BE49-F238E27FC236}">
                <a16:creationId xmlns:a16="http://schemas.microsoft.com/office/drawing/2014/main" id="{04E68BC8-DDD5-4D61-B55C-32052B491239}"/>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1" name="Google Shape;71;p10">
            <a:extLst xmlns:a="http://schemas.openxmlformats.org/drawingml/2006/main">
              <a:ext uri="{FF2B5EF4-FFF2-40B4-BE49-F238E27FC236}">
                <a16:creationId xmlns:a16="http://schemas.microsoft.com/office/drawing/2014/main" id="{1F80EB45-7B7E-4817-8DAB-3697C87ABEAB}"/>
              </a:ext>
            </a:extLst>
          </p:cNvPr>
          <p:cNvSpPr>
            <a:spLocks xmlns:a="http://schemas.openxmlformats.org/drawingml/2006/main" noGrp="1"/>
          </p:cNvSpPr>
          <p:nvPr>
            <p:ph type="pic" idx="2"/>
          </p:nvPr>
        </p:nvSpPr>
        <p:spPr>
          <a:xfrm xmlns:a="http://schemas.openxmlformats.org/drawingml/2006/main">
            <a:off x="5413248" y="1069847"/>
            <a:ext cx="6099048" cy="4800600"/>
          </a:xfrm>
          <a:prstGeom xmlns:a="http://schemas.openxmlformats.org/drawingml/2006/main" prst="rect">
            <a:avLst/>
          </a:prstGeom>
          <a:noFill xmlns:a="http://schemas.openxmlformats.org/drawingml/2006/main"/>
          <a:ln xmlns:a="http://schemas.openxmlformats.org/drawingml/2006/main">
            <a:noFill/>
          </a:ln>
        </p:spPr>
      </p:sp>
      <p:sp>
        <p:nvSpPr>
          <p:cNvPr id="72" name="Google Shape;72;p10">
            <a:extLst xmlns:a="http://schemas.openxmlformats.org/drawingml/2006/main">
              <a:ext uri="{FF2B5EF4-FFF2-40B4-BE49-F238E27FC236}">
                <a16:creationId xmlns:a16="http://schemas.microsoft.com/office/drawing/2014/main" id="{35BF28FC-2A92-4CFA-8FED-1362F12E5430}"/>
              </a:ext>
            </a:extLst>
          </p:cNvPr>
          <p:cNvSpPr>
            <a:spLocks xmlns:a="http://schemas.openxmlformats.org/drawingml/2006/main" noGrp="1"/>
          </p:cNvSpPr>
          <p:nvPr>
            <p:ph type="body" idx="1"/>
          </p:nvPr>
        </p:nvSpPr>
        <p:spPr>
          <a:xfrm xmlns:a="http://schemas.openxmlformats.org/drawingml/2006/main">
            <a:off x="1143000" y="2834640"/>
            <a:ext cx="3931920" cy="2880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73" name="Google Shape;73;p10">
            <a:extLst xmlns:a="http://schemas.openxmlformats.org/drawingml/2006/main">
              <a:ext uri="{FF2B5EF4-FFF2-40B4-BE49-F238E27FC236}">
                <a16:creationId xmlns:a16="http://schemas.microsoft.com/office/drawing/2014/main" id="{FEC253A5-2192-4CD0-9899-8C0FDCE80D70}"/>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4" name="Google Shape;74;p10">
            <a:extLst xmlns:a="http://schemas.openxmlformats.org/drawingml/2006/main">
              <a:ext uri="{FF2B5EF4-FFF2-40B4-BE49-F238E27FC236}">
                <a16:creationId xmlns:a16="http://schemas.microsoft.com/office/drawing/2014/main" id="{1057E711-2A97-48B1-8C57-A5736F4E9A0A}"/>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5" name="Google Shape;75;p10">
            <a:extLst xmlns:a="http://schemas.openxmlformats.org/drawingml/2006/main">
              <a:ext uri="{FF2B5EF4-FFF2-40B4-BE49-F238E27FC236}">
                <a16:creationId xmlns:a16="http://schemas.microsoft.com/office/drawing/2014/main" id="{F1AEB198-0E92-4630-B285-6E52913A1B7A}"/>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77" name="Google Shape;77;p11">
            <a:extLst xmlns:a="http://schemas.openxmlformats.org/drawingml/2006/main">
              <a:ext uri="{FF2B5EF4-FFF2-40B4-BE49-F238E27FC236}">
                <a16:creationId xmlns:a16="http://schemas.microsoft.com/office/drawing/2014/main" id="{AB4897EE-16CB-46B7-9ED3-6A5D929B02D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8" name="Google Shape;78;p11">
            <a:extLst xmlns:a="http://schemas.openxmlformats.org/drawingml/2006/main">
              <a:ext uri="{FF2B5EF4-FFF2-40B4-BE49-F238E27FC236}">
                <a16:creationId xmlns:a16="http://schemas.microsoft.com/office/drawing/2014/main" id="{C49A1845-162D-4FA8-9AD9-9E0EE8995BE6}"/>
              </a:ext>
            </a:extLst>
          </p:cNvPr>
          <p:cNvSpPr>
            <a:spLocks xmlns:a="http://schemas.openxmlformats.org/drawingml/2006/main" noGrp="1"/>
          </p:cNvSpPr>
          <p:nvPr>
            <p:ph type="body" idx="1"/>
          </p:nvPr>
        </p:nvSpPr>
        <p:spPr>
          <a:xfrm xmlns:a="http://schemas.openxmlformats.org/drawingml/2006/main" rot="5400000">
            <a:off x="4060136" y="-859736"/>
            <a:ext cx="4038600" cy="987287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79" name="Google Shape;79;p11">
            <a:extLst xmlns:a="http://schemas.openxmlformats.org/drawingml/2006/main">
              <a:ext uri="{FF2B5EF4-FFF2-40B4-BE49-F238E27FC236}">
                <a16:creationId xmlns:a16="http://schemas.microsoft.com/office/drawing/2014/main" id="{9FE3742A-2E3C-4839-90CB-774EC859D703}"/>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0" name="Google Shape;80;p11">
            <a:extLst xmlns:a="http://schemas.openxmlformats.org/drawingml/2006/main">
              <a:ext uri="{FF2B5EF4-FFF2-40B4-BE49-F238E27FC236}">
                <a16:creationId xmlns:a16="http://schemas.microsoft.com/office/drawing/2014/main" id="{DCCFEB6D-F9E1-4B34-B38C-7A37DC179179}"/>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1" name="Google Shape;81;p11">
            <a:extLst xmlns:a="http://schemas.openxmlformats.org/drawingml/2006/main">
              <a:ext uri="{FF2B5EF4-FFF2-40B4-BE49-F238E27FC236}">
                <a16:creationId xmlns:a16="http://schemas.microsoft.com/office/drawing/2014/main" id="{61BFBD49-C078-43B3-9C44-D5E6840250C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83" name="Google Shape;83;p12">
            <a:extLst xmlns:a="http://schemas.openxmlformats.org/drawingml/2006/main">
              <a:ext uri="{FF2B5EF4-FFF2-40B4-BE49-F238E27FC236}">
                <a16:creationId xmlns:a16="http://schemas.microsoft.com/office/drawing/2014/main" id="{17D57E8B-F927-4A0C-9496-52D5CE46C6D2}"/>
              </a:ext>
            </a:extLst>
          </p:cNvPr>
          <p:cNvSpPr>
            <a:spLocks xmlns:a="http://schemas.openxmlformats.org/drawingml/2006/main" noGrp="1"/>
          </p:cNvSpPr>
          <p:nvPr>
            <p:ph type="title" idx="0"/>
          </p:nvPr>
        </p:nvSpPr>
        <p:spPr>
          <a:xfrm xmlns:a="http://schemas.openxmlformats.org/drawingml/2006/main" rot="5400000">
            <a:off x="7181850" y="2305050"/>
            <a:ext cx="5410200" cy="232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4" name="Google Shape;84;p12">
            <a:extLst xmlns:a="http://schemas.openxmlformats.org/drawingml/2006/main">
              <a:ext uri="{FF2B5EF4-FFF2-40B4-BE49-F238E27FC236}">
                <a16:creationId xmlns:a16="http://schemas.microsoft.com/office/drawing/2014/main" id="{97B2F746-CE3C-4721-8D29-FF03CDFB1BD3}"/>
              </a:ext>
            </a:extLst>
          </p:cNvPr>
          <p:cNvSpPr>
            <a:spLocks xmlns:a="http://schemas.openxmlformats.org/drawingml/2006/main" noGrp="1"/>
          </p:cNvSpPr>
          <p:nvPr>
            <p:ph type="body" idx="1"/>
          </p:nvPr>
        </p:nvSpPr>
        <p:spPr>
          <a:xfrm xmlns:a="http://schemas.openxmlformats.org/drawingml/2006/main" rot="5400000">
            <a:off x="2152650" y="-247650"/>
            <a:ext cx="5410200" cy="7429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85" name="Google Shape;85;p12">
            <a:extLst xmlns:a="http://schemas.openxmlformats.org/drawingml/2006/main">
              <a:ext uri="{FF2B5EF4-FFF2-40B4-BE49-F238E27FC236}">
                <a16:creationId xmlns:a16="http://schemas.microsoft.com/office/drawing/2014/main" id="{C5B234B9-E110-4BA3-937C-DCF7DDB12F9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6" name="Google Shape;86;p12">
            <a:extLst xmlns:a="http://schemas.openxmlformats.org/drawingml/2006/main">
              <a:ext uri="{FF2B5EF4-FFF2-40B4-BE49-F238E27FC236}">
                <a16:creationId xmlns:a16="http://schemas.microsoft.com/office/drawing/2014/main" id="{936C881C-947F-49E4-916B-70D53C631E6D}"/>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7" name="Google Shape;87;p12">
            <a:extLst xmlns:a="http://schemas.openxmlformats.org/drawingml/2006/main">
              <a:ext uri="{FF2B5EF4-FFF2-40B4-BE49-F238E27FC236}">
                <a16:creationId xmlns:a16="http://schemas.microsoft.com/office/drawing/2014/main" id="{97C09B98-C1AD-4688-94AB-81DBD1FF230E}"/>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06308628ecb47ec" /><Relationship Type="http://schemas.openxmlformats.org/officeDocument/2006/relationships/slideLayout" Target="/ppt/slideLayouts/slideLayout1.xml" Id="R7a097eed65044f2b" /><Relationship Type="http://schemas.openxmlformats.org/officeDocument/2006/relationships/slideLayout" Target="/ppt/slideLayouts/slideLayout2.xml" Id="Rfcde3a7fb0ef41b9" /><Relationship Type="http://schemas.openxmlformats.org/officeDocument/2006/relationships/slideLayout" Target="/ppt/slideLayouts/slideLayout3.xml" Id="Rb6a655893f4d470b" /><Relationship Type="http://schemas.openxmlformats.org/officeDocument/2006/relationships/slideLayout" Target="/ppt/slideLayouts/slideLayout4.xml" Id="Raa7e3cf75d5a415e" /><Relationship Type="http://schemas.openxmlformats.org/officeDocument/2006/relationships/slideLayout" Target="/ppt/slideLayouts/slideLayout5.xml" Id="Rc00648ba073846db" /><Relationship Type="http://schemas.openxmlformats.org/officeDocument/2006/relationships/slideLayout" Target="/ppt/slideLayouts/slideLayout6.xml" Id="R1691a7772b5541f5" /><Relationship Type="http://schemas.openxmlformats.org/officeDocument/2006/relationships/slideLayout" Target="/ppt/slideLayouts/slideLayout7.xml" Id="R788edaf9f7fa46c1" /><Relationship Type="http://schemas.openxmlformats.org/officeDocument/2006/relationships/slideLayout" Target="/ppt/slideLayouts/slideLayout8.xml" Id="R3cc62361eeac4866" /><Relationship Type="http://schemas.openxmlformats.org/officeDocument/2006/relationships/slideLayout" Target="/ppt/slideLayouts/slideLayout9.xml" Id="Racf24d06c1104d47" /><Relationship Type="http://schemas.openxmlformats.org/officeDocument/2006/relationships/slideLayout" Target="/ppt/slideLayouts/slideLayout10.xml" Id="Rf165f1af7e714fa1" /><Relationship Type="http://schemas.openxmlformats.org/officeDocument/2006/relationships/slideLayout" Target="/ppt/slideLayouts/slideLayout11.xml" Id="Rf981bf8d50594140"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0" name="Google Shape;10;p1">
            <a:extLst xmlns:a="http://schemas.openxmlformats.org/drawingml/2006/main">
              <a:ext uri="{FF2B5EF4-FFF2-40B4-BE49-F238E27FC236}">
                <a16:creationId xmlns:a16="http://schemas.microsoft.com/office/drawing/2014/main" id="{4A910320-64AF-41C6-B724-6D533C7C6A5B}"/>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1" name="Google Shape;11;p1">
            <a:extLst xmlns:a="http://schemas.openxmlformats.org/drawingml/2006/main">
              <a:ext uri="{FF2B5EF4-FFF2-40B4-BE49-F238E27FC236}">
                <a16:creationId xmlns:a16="http://schemas.microsoft.com/office/drawing/2014/main" id="{A45123B7-A767-42E9-9BA9-6A84E1CD867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l">
              <a:lnSpc>
                <a:spcPct val="90000"/>
              </a:lnSpc>
              <a:spcBef>
                <a:spcPts val="0"/>
              </a:spcBef>
              <a:spcAft>
                <a:spcPts val="0"/>
              </a:spcAft>
              <a:buClr>
                <a:schemeClr val="dk1"/>
              </a:buClr>
              <a:buSzPts val="4400"/>
              <a:buFont typeface="Corbel"/>
              <a:buNone/>
              <a:defRPr sz="44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9pPr>
          </a:lstStyle>
          <a:p xmlns:a="http://schemas.openxmlformats.org/drawingml/2006/main">
            <a:endParaRPr/>
          </a:p>
        </p:txBody>
      </p:sp>
      <p:sp>
        <p:nvSpPr>
          <p:cNvPr id="12" name="Google Shape;12;p1">
            <a:extLst xmlns:a="http://schemas.openxmlformats.org/drawingml/2006/main">
              <a:ext uri="{FF2B5EF4-FFF2-40B4-BE49-F238E27FC236}">
                <a16:creationId xmlns:a16="http://schemas.microsoft.com/office/drawing/2014/main" id="{FEFC9674-3380-4A29-B556-22D7F8C1635F}"/>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340360" algn="l">
              <a:lnSpc>
                <a:spcPct val="90000"/>
              </a:lnSpc>
              <a:spcBef>
                <a:spcPts val="1400"/>
              </a:spcBef>
              <a:spcAft>
                <a:spcPts val="0"/>
              </a:spcAft>
              <a:buClr>
                <a:schemeClr val="dk1"/>
              </a:buClr>
              <a:buSzPts val="1760"/>
              <a:buFont typeface="Corbel"/>
              <a:buChar char="•"/>
              <a:defRPr sz="2200" b="0" i="0" u="none" cap="none">
                <a:solidFill>
                  <a:schemeClr val="dk1"/>
                </a:solidFill>
                <a:latin typeface="Corbel"/>
                <a:ea typeface="Corbel"/>
                <a:cs typeface="Corbel"/>
              </a:defRPr>
            </a:lvl1pPr>
            <a:lvl2pPr marL="914400" marR="0" indent="-330200" algn="l">
              <a:lnSpc>
                <a:spcPct val="90000"/>
              </a:lnSpc>
              <a:spcBef>
                <a:spcPts val="200"/>
              </a:spcBef>
              <a:spcAft>
                <a:spcPts val="0"/>
              </a:spcAft>
              <a:buClr>
                <a:schemeClr val="dk1"/>
              </a:buClr>
              <a:buSzPts val="1600"/>
              <a:buFont typeface="Corbel"/>
              <a:buChar char="•"/>
              <a:defRPr sz="2000" b="0" i="0" u="none" cap="none">
                <a:solidFill>
                  <a:schemeClr val="dk1"/>
                </a:solidFill>
                <a:latin typeface="Corbel"/>
                <a:ea typeface="Corbel"/>
                <a:cs typeface="Corbel"/>
              </a:defRPr>
            </a:lvl2pPr>
            <a:lvl3pPr marL="1371600" marR="0" indent="-320039" algn="l">
              <a:lnSpc>
                <a:spcPct val="90000"/>
              </a:lnSpc>
              <a:spcBef>
                <a:spcPts val="400"/>
              </a:spcBef>
              <a:spcAft>
                <a:spcPts val="0"/>
              </a:spcAft>
              <a:buClr>
                <a:schemeClr val="dk1"/>
              </a:buClr>
              <a:buSzPts val="1440"/>
              <a:buFont typeface="Corbel"/>
              <a:buChar char="•"/>
              <a:defRPr sz="1800" b="0" i="0" u="none" cap="none">
                <a:solidFill>
                  <a:schemeClr val="dk1"/>
                </a:solidFill>
                <a:latin typeface="Corbel"/>
                <a:ea typeface="Corbel"/>
                <a:cs typeface="Corbel"/>
              </a:defRPr>
            </a:lvl3pPr>
            <a:lvl4pPr marL="1828800" marR="0" indent="-309880"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4pPr>
            <a:lvl5pPr marL="22860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5pPr>
            <a:lvl6pPr marL="27432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6pPr>
            <a:lvl7pPr marL="32004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7pPr>
            <a:lvl8pPr marL="36576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8pPr>
            <a:lvl9pPr marL="4114800" marR="0" indent="-309879" algn="l">
              <a:lnSpc>
                <a:spcPct val="90000"/>
              </a:lnSpc>
              <a:spcBef>
                <a:spcPts val="400"/>
              </a:spcBef>
              <a:spcAft>
                <a:spcPts val="400"/>
              </a:spcAft>
              <a:buClr>
                <a:schemeClr val="dk1"/>
              </a:buClr>
              <a:buSzPts val="1280"/>
              <a:buFont typeface="Corbel"/>
              <a:buChar char="•"/>
              <a:defRPr sz="1600" b="0" i="0" u="none" cap="none">
                <a:solidFill>
                  <a:schemeClr val="dk1"/>
                </a:solidFill>
                <a:latin typeface="Corbel"/>
                <a:ea typeface="Corbel"/>
                <a:cs typeface="Corbel"/>
              </a:defRPr>
            </a:lvl9pPr>
          </a:lstStyle>
          <a:p xmlns:a="http://schemas.openxmlformats.org/drawingml/2006/main">
            <a:endParaRPr/>
          </a:p>
        </p:txBody>
      </p:sp>
      <p:sp>
        <p:nvSpPr>
          <p:cNvPr id="13" name="Google Shape;13;p1">
            <a:extLst xmlns:a="http://schemas.openxmlformats.org/drawingml/2006/main">
              <a:ext uri="{FF2B5EF4-FFF2-40B4-BE49-F238E27FC236}">
                <a16:creationId xmlns:a16="http://schemas.microsoft.com/office/drawing/2014/main" id="{10E6EE13-9D4C-486C-8058-3BA2696D9AE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4" name="Google Shape;14;p1">
            <a:extLst xmlns:a="http://schemas.openxmlformats.org/drawingml/2006/main">
              <a:ext uri="{FF2B5EF4-FFF2-40B4-BE49-F238E27FC236}">
                <a16:creationId xmlns:a16="http://schemas.microsoft.com/office/drawing/2014/main" id="{CAF8DEDC-38CB-4BB0-92BD-088BD67C6DE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5" name="Google Shape;15;p1">
            <a:extLst xmlns:a="http://schemas.openxmlformats.org/drawingml/2006/main">
              <a:ext uri="{FF2B5EF4-FFF2-40B4-BE49-F238E27FC236}">
                <a16:creationId xmlns:a16="http://schemas.microsoft.com/office/drawing/2014/main" id="{3D188BE8-38E8-4AFD-868E-F034EB79064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7a097eed65044f2b"/>
    <p:sldLayoutId xmlns:r="http://schemas.openxmlformats.org/officeDocument/2006/relationships" id="2147483650" r:id="Rfcde3a7fb0ef41b9"/>
    <p:sldLayoutId xmlns:r="http://schemas.openxmlformats.org/officeDocument/2006/relationships" id="2147483651" r:id="Rb6a655893f4d470b"/>
    <p:sldLayoutId xmlns:r="http://schemas.openxmlformats.org/officeDocument/2006/relationships" id="2147483652" r:id="Raa7e3cf75d5a415e"/>
    <p:sldLayoutId xmlns:r="http://schemas.openxmlformats.org/officeDocument/2006/relationships" id="2147483653" r:id="Rc00648ba073846db"/>
    <p:sldLayoutId xmlns:r="http://schemas.openxmlformats.org/officeDocument/2006/relationships" id="2147483654" r:id="R1691a7772b5541f5"/>
    <p:sldLayoutId xmlns:r="http://schemas.openxmlformats.org/officeDocument/2006/relationships" id="2147483655" r:id="R788edaf9f7fa46c1"/>
    <p:sldLayoutId xmlns:r="http://schemas.openxmlformats.org/officeDocument/2006/relationships" id="2147483656" r:id="R3cc62361eeac4866"/>
    <p:sldLayoutId xmlns:r="http://schemas.openxmlformats.org/officeDocument/2006/relationships" id="2147483657" r:id="Racf24d06c1104d47"/>
    <p:sldLayoutId xmlns:r="http://schemas.openxmlformats.org/officeDocument/2006/relationships" id="2147483658" r:id="Rf165f1af7e714fa1"/>
    <p:sldLayoutId xmlns:r="http://schemas.openxmlformats.org/officeDocument/2006/relationships" id="2147483659" r:id="Rf981bf8d50594140"/>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70154c4e03d42af" /><Relationship Type="http://schemas.openxmlformats.org/officeDocument/2006/relationships/image" Target="/ppt/media/image.png" Id="R42ce37ff6cef40b7" /><Relationship Type="http://schemas.openxmlformats.org/officeDocument/2006/relationships/image" Target="/ppt/media/image2.png" Id="R2d9da1206d9345de" /><Relationship Type="http://schemas.openxmlformats.org/officeDocument/2006/relationships/notesSlide" Target="/ppt/notesSlides/notesSlide1.xml" Id="R1e9cc4504d224bc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4ebf1b49dca4230" /><Relationship Type="http://schemas.openxmlformats.org/officeDocument/2006/relationships/image" Target="/ppt/media/image.jpeg" Id="R7223b1b000d746b9" /><Relationship Type="http://schemas.openxmlformats.org/officeDocument/2006/relationships/image" Target="/ppt/media/image3.png" Id="R7f106ff4242048db" /><Relationship Type="http://schemas.openxmlformats.org/officeDocument/2006/relationships/notesSlide" Target="/ppt/notesSlides/notesSlide2.xml" Id="R4bc8e329e897418d"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1201dc15d58e4e25" /><Relationship Type="http://schemas.openxmlformats.org/officeDocument/2006/relationships/image" Target="/ppt/media/image2.jpeg" Id="Rab87dedf701442e1" /><Relationship Type="http://schemas.openxmlformats.org/officeDocument/2006/relationships/image" Target="/ppt/media/image2.png" Id="R4b1af11b75f64a99" /><Relationship Type="http://schemas.openxmlformats.org/officeDocument/2006/relationships/image" Target="/ppt/media/image4.png" Id="R6c785773996e436b" /><Relationship Type="http://schemas.openxmlformats.org/officeDocument/2006/relationships/image" Target="/ppt/media/image5.png" Id="R0fb3831a3a854f58" /><Relationship Type="http://schemas.openxmlformats.org/officeDocument/2006/relationships/notesSlide" Target="/ppt/notesSlides/notesSlide3.xml" Id="R46c3fdcb720545e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7119a73fa344573" /><Relationship Type="http://schemas.openxmlformats.org/officeDocument/2006/relationships/image" Target="/ppt/media/image2.jpeg" Id="R605b6e33788a45b7" /><Relationship Type="http://schemas.openxmlformats.org/officeDocument/2006/relationships/image" Target="/ppt/media/image2.png" Id="Rede8d8cbadb448ee" /><Relationship Type="http://schemas.openxmlformats.org/officeDocument/2006/relationships/image" Target="/ppt/media/image6.png" Id="Re9fa1c5a2b4d4b04" /><Relationship Type="http://schemas.openxmlformats.org/officeDocument/2006/relationships/notesSlide" Target="/ppt/notesSlides/notesSlide4.xml" Id="Rce1ec26fd9684c3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3a2532e18c1425a" /><Relationship Type="http://schemas.openxmlformats.org/officeDocument/2006/relationships/image" Target="/ppt/media/image2.jpeg" Id="Ra91f8c78e7524170" /><Relationship Type="http://schemas.openxmlformats.org/officeDocument/2006/relationships/image" Target="/ppt/media/image2.png" Id="Rdee49725cc8f4e05" /><Relationship Type="http://schemas.openxmlformats.org/officeDocument/2006/relationships/notesSlide" Target="/ppt/notesSlides/notesSlide5.xml" Id="R719b48035f1e4ad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c444644ea544455" /><Relationship Type="http://schemas.openxmlformats.org/officeDocument/2006/relationships/image" Target="/ppt/media/image2.jpeg" Id="R9f3d15eb96f54655" /><Relationship Type="http://schemas.openxmlformats.org/officeDocument/2006/relationships/image" Target="/ppt/media/image2.png" Id="R28d92f9a4bb14ca8" /><Relationship Type="http://schemas.openxmlformats.org/officeDocument/2006/relationships/notesSlide" Target="/ppt/notesSlides/notesSlide6.xml" Id="R5a76b7342b80448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95e625c917b4fea" /><Relationship Type="http://schemas.openxmlformats.org/officeDocument/2006/relationships/image" Target="/ppt/media/image2.jpeg" Id="R9666b9e705924fc7" /><Relationship Type="http://schemas.openxmlformats.org/officeDocument/2006/relationships/image" Target="/ppt/media/image2.png" Id="R6d1deb1123db4194" /><Relationship Type="http://schemas.openxmlformats.org/officeDocument/2006/relationships/chart" Target="/ppt/slides/charts/chart1.xml" Id="R97266982ff8343b9" /><Relationship Type="http://schemas.openxmlformats.org/officeDocument/2006/relationships/notesSlide" Target="/ppt/notesSlides/notesSlide7.xml" Id="Re74297f60fe44fa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64b72caa52d46d0" /><Relationship Type="http://schemas.openxmlformats.org/officeDocument/2006/relationships/image" Target="/ppt/media/image2.jpeg" Id="R5bf4fcbd897f42fa" /><Relationship Type="http://schemas.openxmlformats.org/officeDocument/2006/relationships/image" Target="/ppt/media/image2.png" Id="R9b83971cb08c4953" /><Relationship Type="http://schemas.openxmlformats.org/officeDocument/2006/relationships/notesSlide" Target="/ppt/notesSlides/notesSlide8.xml" Id="R088d0f2287ee444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756004427ee4c80" /><Relationship Type="http://schemas.openxmlformats.org/officeDocument/2006/relationships/image" Target="/ppt/media/image2.jpeg" Id="R4b89989f245a4fdd" /><Relationship Type="http://schemas.openxmlformats.org/officeDocument/2006/relationships/image" Target="/ppt/media/image2.png" Id="R34b77cb4fdf740d1" /><Relationship Type="http://schemas.openxmlformats.org/officeDocument/2006/relationships/notesSlide" Target="/ppt/notesSlides/notesSlide9.xml" Id="R2cde872833d8415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913734824af64611" /><Relationship Type="http://schemas.openxmlformats.org/officeDocument/2006/relationships/image" Target="/ppt/media/image2.jpeg" Id="Radaff291db8940fc" /><Relationship Type="http://schemas.openxmlformats.org/officeDocument/2006/relationships/image" Target="/ppt/media/image2.png" Id="R2bb3a425f7aa481c" /><Relationship Type="http://schemas.openxmlformats.org/officeDocument/2006/relationships/image" Target="/ppt/media/image4.png" Id="Rab5e022571f548f5" /><Relationship Type="http://schemas.openxmlformats.org/officeDocument/2006/relationships/image" Target="/ppt/media/image7.png" Id="Rddca4849b3724370" /><Relationship Type="http://schemas.openxmlformats.org/officeDocument/2006/relationships/notesSlide" Target="/ppt/notesSlides/notesSlide10.xml" Id="R5ba35d150ab44a7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39880449d094f91" /><Relationship Type="http://schemas.openxmlformats.org/officeDocument/2006/relationships/image" Target="/ppt/media/image2.jpeg" Id="R33f79acc61454130" /><Relationship Type="http://schemas.openxmlformats.org/officeDocument/2006/relationships/image" Target="/ppt/media/image2.png" Id="R17b15264e8df4284" /><Relationship Type="http://schemas.openxmlformats.org/officeDocument/2006/relationships/notesSlide" Target="/ppt/notesSlides/notesSlide11.xml" Id="R78a2b18ac8514b1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2c3500394314bef" /><Relationship Type="http://schemas.openxmlformats.org/officeDocument/2006/relationships/image" Target="/ppt/media/image3.jpeg" Id="R359cb79291b149ea" /><Relationship Type="http://schemas.openxmlformats.org/officeDocument/2006/relationships/image" Target="/ppt/media/image8.png" Id="R98bb18880cea4595" /><Relationship Type="http://schemas.openxmlformats.org/officeDocument/2006/relationships/notesSlide" Target="/ppt/notesSlides/notesSlide12.xml" Id="Ra144267f84db4c8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1f24800142e47d5" /><Relationship Type="http://schemas.openxmlformats.org/officeDocument/2006/relationships/image" Target="/ppt/media/image2.jpeg" Id="R755ecd66b1214dca" /><Relationship Type="http://schemas.openxmlformats.org/officeDocument/2006/relationships/image" Target="/ppt/media/image2.png" Id="R40135ea4077746e9" /><Relationship Type="http://schemas.openxmlformats.org/officeDocument/2006/relationships/notesSlide" Target="/ppt/notesSlides/notesSlide13.xml" Id="R755efb36656f474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43e0fd591a04b11" /><Relationship Type="http://schemas.openxmlformats.org/officeDocument/2006/relationships/image" Target="/ppt/media/image2.jpeg" Id="R74906f692d244ad9" /><Relationship Type="http://schemas.openxmlformats.org/officeDocument/2006/relationships/image" Target="/ppt/media/image2.png" Id="R5e6d7915a75f459a" /><Relationship Type="http://schemas.openxmlformats.org/officeDocument/2006/relationships/image" Target="/ppt/media/image4.jpeg" Id="Re4a826cbe7264e61" /><Relationship Type="http://schemas.openxmlformats.org/officeDocument/2006/relationships/image" Target="/ppt/media/image9.png" Id="Rd6ea7b03b0ab4410" /><Relationship Type="http://schemas.openxmlformats.org/officeDocument/2006/relationships/notesSlide" Target="/ppt/notesSlides/notesSlide14.xml" Id="R1135ac3dcf32467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cee6637db1049ce" /><Relationship Type="http://schemas.openxmlformats.org/officeDocument/2006/relationships/image" Target="/ppt/media/image2.jpeg" Id="R67973ed7c40c46e5" /><Relationship Type="http://schemas.openxmlformats.org/officeDocument/2006/relationships/image" Target="/ppt/media/image2.png" Id="Rb189ac5af0f64aa8" /><Relationship Type="http://schemas.openxmlformats.org/officeDocument/2006/relationships/notesSlide" Target="/ppt/notesSlides/notesSlide15.xml" Id="Rebc89fab45e148b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0cea081146d14007" /><Relationship Type="http://schemas.openxmlformats.org/officeDocument/2006/relationships/image" Target="/ppt/media/image2.jpeg" Id="Re416b0bc66c34f36" /><Relationship Type="http://schemas.openxmlformats.org/officeDocument/2006/relationships/image" Target="/ppt/media/image2.png" Id="Raccbfdaf67674c89" /><Relationship Type="http://schemas.openxmlformats.org/officeDocument/2006/relationships/image" Target="/ppt/media/image4.png" Id="Rcc791f7056ca4ad9" /><Relationship Type="http://schemas.openxmlformats.org/officeDocument/2006/relationships/image" Target="/ppt/media/image10.png" Id="R6b68c1832249442b" /><Relationship Type="http://schemas.openxmlformats.org/officeDocument/2006/relationships/notesSlide" Target="/ppt/notesSlides/notesSlide16.xml" Id="Redf1a5715e324d5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5a358776f8445ad" /><Relationship Type="http://schemas.openxmlformats.org/officeDocument/2006/relationships/image" Target="/ppt/media/image2.jpeg" Id="R9ad426fa1def49e5" /><Relationship Type="http://schemas.openxmlformats.org/officeDocument/2006/relationships/image" Target="/ppt/media/image2.png" Id="Rec21b176188b49ad" /><Relationship Type="http://schemas.openxmlformats.org/officeDocument/2006/relationships/image" Target="/ppt/media/image11.png" Id="R15c3588f13f44e86" /><Relationship Type="http://schemas.openxmlformats.org/officeDocument/2006/relationships/image" Target="/ppt/media/image12.png" Id="R38726d705b3543dc" /><Relationship Type="http://schemas.openxmlformats.org/officeDocument/2006/relationships/notesSlide" Target="/ppt/notesSlides/notesSlide17.xml" Id="R784ee799e7d2432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ee835b4b77d45b4" /><Relationship Type="http://schemas.openxmlformats.org/officeDocument/2006/relationships/image" Target="/ppt/media/image2.jpeg" Id="R53a1e6c7d1eb457a" /><Relationship Type="http://schemas.openxmlformats.org/officeDocument/2006/relationships/image" Target="/ppt/media/image2.png" Id="R29f8fb45531c4a75" /><Relationship Type="http://schemas.openxmlformats.org/officeDocument/2006/relationships/image" Target="/ppt/media/image11.png" Id="Rd70e2b0610f340e7" /><Relationship Type="http://schemas.openxmlformats.org/officeDocument/2006/relationships/image" Target="/ppt/media/image13.png" Id="R1db4f7d65a3f41a2" /><Relationship Type="http://schemas.openxmlformats.org/officeDocument/2006/relationships/image" Target="/ppt/media/image5.jpeg" Id="R7c995bcee9344e14" /><Relationship Type="http://schemas.openxmlformats.org/officeDocument/2006/relationships/image" Target="/ppt/media/image14.png" Id="R7a8c48f3034a49a3" /><Relationship Type="http://schemas.openxmlformats.org/officeDocument/2006/relationships/notesSlide" Target="/ppt/notesSlides/notesSlide18.xml" Id="R37bcd58014254bb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3dbb45993024d63" /><Relationship Type="http://schemas.openxmlformats.org/officeDocument/2006/relationships/image" Target="/ppt/media/image2.jpeg" Id="R4e374f45b40745e4" /><Relationship Type="http://schemas.openxmlformats.org/officeDocument/2006/relationships/image" Target="/ppt/media/image2.png" Id="R410d5c3da76845a0" /><Relationship Type="http://schemas.openxmlformats.org/officeDocument/2006/relationships/notesSlide" Target="/ppt/notesSlides/notesSlide19.xml" Id="R05982c8ee210458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15f44ecb20b45ff" /><Relationship Type="http://schemas.openxmlformats.org/officeDocument/2006/relationships/image" Target="/ppt/media/image2.jpeg" Id="R4d2ab36a9c1a43c6" /><Relationship Type="http://schemas.openxmlformats.org/officeDocument/2006/relationships/image" Target="/ppt/media/image2.png" Id="R7aaec99c1aa94e64" /><Relationship Type="http://schemas.openxmlformats.org/officeDocument/2006/relationships/notesSlide" Target="/ppt/notesSlides/notesSlide20.xml" Id="R461cf54ff425436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ce6c663c8ba4bf8" /><Relationship Type="http://schemas.openxmlformats.org/officeDocument/2006/relationships/image" Target="/ppt/media/image2.jpeg" Id="R213882cb19dd4dfe" /><Relationship Type="http://schemas.openxmlformats.org/officeDocument/2006/relationships/image" Target="/ppt/media/image2.png" Id="Rf9182683669042d0" /><Relationship Type="http://schemas.openxmlformats.org/officeDocument/2006/relationships/notesSlide" Target="/ppt/notesSlides/notesSlide21.xml" Id="R244ff39df1fd488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c0bf99e3f0704229" /><Relationship Type="http://schemas.openxmlformats.org/officeDocument/2006/relationships/image" Target="/ppt/media/image2.jpeg" Id="R82c754baf2214db1" /><Relationship Type="http://schemas.openxmlformats.org/officeDocument/2006/relationships/image" Target="/ppt/media/image2.png" Id="Rd3fa575f46084137" /><Relationship Type="http://schemas.openxmlformats.org/officeDocument/2006/relationships/notesSlide" Target="/ppt/notesSlides/notesSlide22.xml" Id="Ra4f6abeb489d403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e68bd6ebbcce4d8b" /><Relationship Type="http://schemas.openxmlformats.org/officeDocument/2006/relationships/image" Target="/ppt/media/image2.jpeg" Id="R5b185f2e443249b6" /><Relationship Type="http://schemas.openxmlformats.org/officeDocument/2006/relationships/image" Target="/ppt/media/image2.png" Id="Rb148823162034197" /><Relationship Type="http://schemas.openxmlformats.org/officeDocument/2006/relationships/notesSlide" Target="/ppt/notesSlides/notesSlide23.xml" Id="R454b02f96a2249d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072df02b5cce4e7a" /><Relationship Type="http://schemas.openxmlformats.org/officeDocument/2006/relationships/image" Target="/ppt/media/image2.jpeg" Id="R83d83b1fe1e34f15" /><Relationship Type="http://schemas.openxmlformats.org/officeDocument/2006/relationships/image" Target="/ppt/media/image2.png" Id="R3b62a665e88b4bb2" /><Relationship Type="http://schemas.openxmlformats.org/officeDocument/2006/relationships/image" Target="/ppt/media/image4.png" Id="R7d05b3bb3d03456b" /><Relationship Type="http://schemas.openxmlformats.org/officeDocument/2006/relationships/image" Target="/ppt/media/image15.png" Id="R6a05838443b948b4" /><Relationship Type="http://schemas.openxmlformats.org/officeDocument/2006/relationships/notesSlide" Target="/ppt/notesSlides/notesSlide24.xml" Id="Rcfd29d42d4f043a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ec9b57a24d9141dd" /><Relationship Type="http://schemas.openxmlformats.org/officeDocument/2006/relationships/image" Target="/ppt/media/image2.jpeg" Id="R4de8812b73ba4ff8" /><Relationship Type="http://schemas.openxmlformats.org/officeDocument/2006/relationships/image" Target="/ppt/media/image2.png" Id="Rcd9a55d97c844345" /><Relationship Type="http://schemas.openxmlformats.org/officeDocument/2006/relationships/notesSlide" Target="/ppt/notesSlides/notesSlide25.xml" Id="R454272140814468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9331f43d095646bd" /><Relationship Type="http://schemas.openxmlformats.org/officeDocument/2006/relationships/image" Target="/ppt/media/image2.jpeg" Id="R67668873a1e4488b" /><Relationship Type="http://schemas.openxmlformats.org/officeDocument/2006/relationships/image" Target="/ppt/media/image2.png" Id="R4d654bd2584b4060" /><Relationship Type="http://schemas.openxmlformats.org/officeDocument/2006/relationships/chart" Target="/ppt/slides/charts/chart2.xml" Id="Rdeecac93747c4112" /><Relationship Type="http://schemas.openxmlformats.org/officeDocument/2006/relationships/notesSlide" Target="/ppt/notesSlides/notesSlide26.xml" Id="R6d77be6cbb6b413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e7d3368ab9db4a54" /><Relationship Type="http://schemas.openxmlformats.org/officeDocument/2006/relationships/image" Target="/ppt/media/image2.jpeg" Id="Rf097f737a8034c07" /><Relationship Type="http://schemas.openxmlformats.org/officeDocument/2006/relationships/image" Target="/ppt/media/image2.png" Id="R6a40126d77af42a6" /><Relationship Type="http://schemas.openxmlformats.org/officeDocument/2006/relationships/image" Target="/ppt/media/image16.png" Id="R4587c332526648ef" /><Relationship Type="http://schemas.openxmlformats.org/officeDocument/2006/relationships/image" Target="/ppt/media/image17.png" Id="Rf8e4d8f7809a402b" /><Relationship Type="http://schemas.openxmlformats.org/officeDocument/2006/relationships/notesSlide" Target="/ppt/notesSlides/notesSlide27.xml" Id="R43c9a29b3b444ae9"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1dc37c323d924b40" /><Relationship Type="http://schemas.openxmlformats.org/officeDocument/2006/relationships/image" Target="/ppt/media/image2.jpeg" Id="R0fdb62138a724db8" /><Relationship Type="http://schemas.openxmlformats.org/officeDocument/2006/relationships/image" Target="/ppt/media/image2.png" Id="R715ea22200ff423b" /><Relationship Type="http://schemas.openxmlformats.org/officeDocument/2006/relationships/image" Target="/ppt/media/image4.png" Id="Rbd56fd95238e40be" /><Relationship Type="http://schemas.openxmlformats.org/officeDocument/2006/relationships/image" Target="/ppt/media/image18.png" Id="R92dbf1f1ce414872" /><Relationship Type="http://schemas.openxmlformats.org/officeDocument/2006/relationships/notesSlide" Target="/ppt/notesSlides/notesSlide28.xml" Id="Rfdb6dd6bc64d40e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257317f117b14cbe" /><Relationship Type="http://schemas.openxmlformats.org/officeDocument/2006/relationships/image" Target="/ppt/media/image2.jpeg" Id="Rebfe856cfde94ba7" /><Relationship Type="http://schemas.openxmlformats.org/officeDocument/2006/relationships/image" Target="/ppt/media/image2.png" Id="R720520de4f3242c0" /><Relationship Type="http://schemas.openxmlformats.org/officeDocument/2006/relationships/notesSlide" Target="/ppt/notesSlides/notesSlide29.xml" Id="R8696d6a2757a4aa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2596ea98d9d14ed0" /><Relationship Type="http://schemas.openxmlformats.org/officeDocument/2006/relationships/image" Target="/ppt/media/image2.jpeg" Id="R1a64261f91f143e3" /><Relationship Type="http://schemas.openxmlformats.org/officeDocument/2006/relationships/image" Target="/ppt/media/image2.png" Id="R3bdde47ddd524e74" /><Relationship Type="http://schemas.openxmlformats.org/officeDocument/2006/relationships/notesSlide" Target="/ppt/notesSlides/notesSlide30.xml" Id="Rb6d634f657ae414a"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dbab3c0302ce428b" /><Relationship Type="http://schemas.openxmlformats.org/officeDocument/2006/relationships/image" Target="/ppt/media/image2.jpeg" Id="Reed4d999c62746c7" /><Relationship Type="http://schemas.openxmlformats.org/officeDocument/2006/relationships/image" Target="/ppt/media/image2.png" Id="Re2e9195255c843c6" /><Relationship Type="http://schemas.openxmlformats.org/officeDocument/2006/relationships/notesSlide" Target="/ppt/notesSlides/notesSlide31.xml" Id="R0252c2956fb04319"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b9328b2c07b54762" /><Relationship Type="http://schemas.openxmlformats.org/officeDocument/2006/relationships/image" Target="/ppt/media/image2.jpeg" Id="R55fb31783d9646e4" /><Relationship Type="http://schemas.openxmlformats.org/officeDocument/2006/relationships/image" Target="/ppt/media/image2.png" Id="R731a9436de1d4d87" /><Relationship Type="http://schemas.openxmlformats.org/officeDocument/2006/relationships/notesSlide" Target="/ppt/notesSlides/notesSlide32.xml" Id="R3da83ddf520945b3"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28e3ee9686c4443b" /><Relationship Type="http://schemas.openxmlformats.org/officeDocument/2006/relationships/image" Target="/ppt/media/image2.jpeg" Id="R09fc4efd0be74a82" /><Relationship Type="http://schemas.openxmlformats.org/officeDocument/2006/relationships/image" Target="/ppt/media/image2.png" Id="R2f1f8be17d9e43df" /><Relationship Type="http://schemas.openxmlformats.org/officeDocument/2006/relationships/notesSlide" Target="/ppt/notesSlides/notesSlide33.xml" Id="Rdc0d442b2c0e465f"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fe0799f11d3c4e96" /><Relationship Type="http://schemas.openxmlformats.org/officeDocument/2006/relationships/image" Target="/ppt/media/image2.jpeg" Id="R8d6f0b3d10ad41b9" /><Relationship Type="http://schemas.openxmlformats.org/officeDocument/2006/relationships/image" Target="/ppt/media/image2.png" Id="R5ab508aeaa6c4d9c" /><Relationship Type="http://schemas.openxmlformats.org/officeDocument/2006/relationships/notesSlide" Target="/ppt/notesSlides/notesSlide34.xml" Id="R65d79ee02c0d4a35"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dca6056e53214d94" /><Relationship Type="http://schemas.openxmlformats.org/officeDocument/2006/relationships/image" Target="/ppt/media/image2.jpeg" Id="Rd89a9e609ed34559" /><Relationship Type="http://schemas.openxmlformats.org/officeDocument/2006/relationships/image" Target="/ppt/media/image2.png" Id="R84baf61884404cf0" /><Relationship Type="http://schemas.openxmlformats.org/officeDocument/2006/relationships/notesSlide" Target="/ppt/notesSlides/notesSlide35.xml" Id="R7c5722e6fdd64a0b"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068221b42c0d49e1" /><Relationship Type="http://schemas.openxmlformats.org/officeDocument/2006/relationships/image" Target="/ppt/media/image2.jpeg" Id="R9b747232d3894165" /><Relationship Type="http://schemas.openxmlformats.org/officeDocument/2006/relationships/image" Target="/ppt/media/image2.png" Id="Rbd439f1fb6454e12" /><Relationship Type="http://schemas.openxmlformats.org/officeDocument/2006/relationships/notesSlide" Target="/ppt/notesSlides/notesSlide36.xml" Id="Rd91f29746e0a4cf1"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93910667e20f47b1" /><Relationship Type="http://schemas.openxmlformats.org/officeDocument/2006/relationships/image" Target="/ppt/media/image2.jpeg" Id="R78ae74430806483b" /><Relationship Type="http://schemas.openxmlformats.org/officeDocument/2006/relationships/image" Target="/ppt/media/image2.png" Id="R9e94d861c8fd4c71" /><Relationship Type="http://schemas.openxmlformats.org/officeDocument/2006/relationships/image" Target="/ppt/media/image19.png" Id="Rfce4a1ace5b0490b" /><Relationship Type="http://schemas.openxmlformats.org/officeDocument/2006/relationships/notesSlide" Target="/ppt/notesSlides/notesSlide37.xml" Id="R5742a619025e4f64"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b2fe7220a13b4b00" /><Relationship Type="http://schemas.openxmlformats.org/officeDocument/2006/relationships/image" Target="/ppt/media/image2.jpeg" Id="R4ecd519825394286" /><Relationship Type="http://schemas.openxmlformats.org/officeDocument/2006/relationships/image" Target="/ppt/media/image.gif" Id="R81eba1422e9347c8" /><Relationship Type="http://schemas.openxmlformats.org/officeDocument/2006/relationships/image" Target="/ppt/media/image2.png" Id="R01213ad8ebfb4fc7" /><Relationship Type="http://schemas.openxmlformats.org/officeDocument/2006/relationships/notesSlide" Target="/ppt/notesSlides/notesSlide38.xml" Id="R25853f56c46e4ef8"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75" b="1">
                <a:solidFill>
                  <a:srgbClr val="1E3A5F"/>
                </a:solidFill>
                <a:latin typeface="Arial"/>
                <a:ea typeface="Arial"/>
                <a:cs typeface="Arial"/>
              </a:rPr>
              <a:t>Average AUC on participating sites</a:t>
            </a:r>
          </a:p>
        </c:rich>
      </c:tx>
      <c:overlay val="0"/>
      <c:txPr>
        <a:bodyPr xmlns:a="http://schemas.openxmlformats.org/drawingml/2006/main" anchorCtr="1"/>
        <a:lstStyle xmlns:a="http://schemas.openxmlformats.org/drawingml/2006/main"/>
        <a:p xmlns:a="http://schemas.openxmlformats.org/drawingml/2006/main">
          <a:pPr>
            <a:defRPr sz="1875" b="1">
              <a:solidFill>
                <a:srgbClr val="1E3A5F"/>
              </a:solidFill>
              <a:latin typeface="Arial"/>
              <a:ea typeface="Arial"/>
              <a:cs typeface="Arial"/>
            </a:defRPr>
          </a:pPr>
        </a:p>
      </c:txPr>
    </c:title>
    <c:plotArea>
      <c:barChart>
        <c:barDir val="col"/>
        <c:grouping val="clustered"/>
        <c:varyColors val="1"/>
        <c:ser>
          <c:idx val="0"/>
          <c:order val="0"/>
          <c:tx>
            <c:v>AUC</c:v>
          </c:tx>
          <c:spPr>
            <a:solidFill xmlns:a="http://schemas.openxmlformats.org/drawingml/2006/main">
              <a:srgbClr val="1E3A5F"/>
            </a:solidFill>
          </c:spPr>
          <c:dPt>
            <c:idx val="0"/>
            <c:invertIfNegative val="0"/>
            <c:spPr>
              <a:solidFill xmlns:a="http://schemas.openxmlformats.org/drawingml/2006/main">
                <a:srgbClr val="1E3A5F"/>
              </a:solidFill>
            </c:spPr>
          </c:dPt>
          <c:dPt>
            <c:idx val="1"/>
            <c:invertIfNegative val="0"/>
            <c:spPr>
              <a:solidFill xmlns:a="http://schemas.openxmlformats.org/drawingml/2006/main">
                <a:srgbClr val="008A46"/>
              </a:solidFill>
            </c:spPr>
          </c:dPt>
          <c:cat>
            <c:strLit>
              <c:ptCount val="2"/>
              <c:pt idx="0">
                <c:v>Local models</c:v>
              </c:pt>
              <c:pt idx="1">
                <c:v>EXAM federated model</c:v>
              </c:pt>
            </c:strLit>
          </c:cat>
          <c:val>
            <c:numLit>
              <c:formatCode>0.000</c:formatCode>
              <c:ptCount val="2"/>
              <c:pt idx="0">
                <c:v>0.795</c:v>
              </c:pt>
              <c:pt idx="1">
                <c:v>0.92</c:v>
              </c:pt>
            </c:numLit>
          </c:val>
        </c:ser>
        <c:dLbls>
          <c:txPr>
            <a:bodyPr xmlns:a="http://schemas.openxmlformats.org/drawingml/2006/main" anchorCtr="1"/>
            <a:lstStyle xmlns:a="http://schemas.openxmlformats.org/drawingml/2006/main"/>
            <a:p xmlns:a="http://schemas.openxmlformats.org/drawingml/2006/main">
              <a:pPr>
                <a:defRPr sz="1500"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425">
                <a:solidFill>
                  <a:srgbClr val="1F2937"/>
                </a:solidFill>
                <a:latin typeface="Arial"/>
                <a:ea typeface="Arial"/>
                <a:cs typeface="Arial"/>
              </a:defRPr>
            </a:pPr>
          </a:p>
        </c:txPr>
        <c:crossAx val="48672768"/>
      </c:catAx>
      <c:valAx>
        <c:axId val="48672768"/>
        <c:scaling>
          <c:orientation val="minMax"/>
          <c:max val="1"/>
          <c:min val="0.7"/>
        </c:scaling>
        <c:delete val="0"/>
        <c:axPos val="l"/>
        <c:majorGridlines>
          <c:spPr>
            <a:ln xmlns:a="http://schemas.openxmlformats.org/drawingml/2006/main" w="9525">
              <a:solidFill>
                <a:srgbClr val="E2E8F0"/>
              </a:solidFill>
              <a:prstDash val="solid"/>
            </a:ln>
          </c:spPr>
        </c:majorGridlines>
        <c:title>
          <c:tx>
            <c:rich>
              <a:bodyPr xmlns:a="http://schemas.openxmlformats.org/drawingml/2006/main"/>
              <a:lstStyle xmlns:a="http://schemas.openxmlformats.org/drawingml/2006/main"/>
              <a:p xmlns:a="http://schemas.openxmlformats.org/drawingml/2006/main">
                <a:r>
                  <a:rPr sz="1350">
                    <a:solidFill>
                      <a:srgbClr val="475569"/>
                    </a:solidFill>
                    <a:latin typeface="Arial"/>
                    <a:ea typeface="Arial"/>
                    <a:cs typeface="Arial"/>
                  </a:rPr>
                  <a:t>AUC</a:t>
                </a:r>
              </a:p>
            </c:rich>
          </c:tx>
          <c:overlay val="0"/>
          <c:txPr>
            <a:bodyPr xmlns:a="http://schemas.openxmlformats.org/drawingml/2006/main" anchorCtr="1"/>
            <a:lstStyle xmlns:a="http://schemas.openxmlformats.org/drawingml/2006/main"/>
            <a:p xmlns:a="http://schemas.openxmlformats.org/drawingml/2006/main">
              <a:pPr>
                <a:defRPr sz="1350">
                  <a:solidFill>
                    <a:srgbClr val="475569"/>
                  </a:solidFill>
                  <a:latin typeface="Arial"/>
                  <a:ea typeface="Arial"/>
                  <a:cs typeface="Arial"/>
                </a:defRPr>
              </a:pPr>
            </a:p>
          </c:txPr>
        </c:title>
        <c:numFmt formatCode="0.00"/>
        <c:majorTickMark val="none"/>
        <c:minorTickMark val="none"/>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200">
                <a:solidFill>
                  <a:srgbClr val="475569"/>
                </a:solidFill>
                <a:latin typeface="Arial"/>
                <a:ea typeface="Arial"/>
                <a:cs typeface="Arial"/>
              </a:defRPr>
            </a:pPr>
          </a:p>
        </c:txPr>
        <c:crossAx val="48650112"/>
        <c:crossBetween val="between"/>
        <c:majorUnit val="0.0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350" b="1">
                <a:solidFill>
                  <a:srgbClr val="17365D"/>
                </a:solidFill>
                <a:latin typeface="Arial"/>
                <a:ea typeface="Arial"/>
                <a:cs typeface="Arial"/>
              </a:rPr>
              <a:t>Actual encrypted upload reduction (%)</a:t>
            </a:r>
          </a:p>
        </c:rich>
      </c:tx>
      <c:overlay val="0"/>
      <c:txPr>
        <a:bodyPr xmlns:a="http://schemas.openxmlformats.org/drawingml/2006/main" anchorCtr="1"/>
        <a:lstStyle xmlns:a="http://schemas.openxmlformats.org/drawingml/2006/main"/>
        <a:p xmlns:a="http://schemas.openxmlformats.org/drawingml/2006/main">
          <a:pPr>
            <a:defRPr sz="1350" b="1">
              <a:solidFill>
                <a:srgbClr val="17365D"/>
              </a:solidFill>
              <a:latin typeface="Arial"/>
              <a:ea typeface="Arial"/>
              <a:cs typeface="Arial"/>
            </a:defRPr>
          </a:pPr>
        </a:p>
      </c:txPr>
    </c:title>
    <c:plotArea>
      <c:barChart>
        <c:barDir val="bar"/>
        <c:grouping val="clustered"/>
        <c:varyColors val="0"/>
        <c:ser>
          <c:idx val="0"/>
          <c:order val="0"/>
          <c:tx>
            <c:v>Reduction</c:v>
          </c:tx>
          <c:spPr>
            <a:solidFill xmlns:a="http://schemas.openxmlformats.org/drawingml/2006/main">
              <a:srgbClr val="00843D"/>
            </a:solidFill>
          </c:spPr>
          <c:cat>
            <c:strLit>
              <c:ptCount val="5"/>
              <c:pt idx="0">
                <c:v>DP-FedAvg</c:v>
              </c:pt>
              <c:pt idx="1">
                <c:v>CAABC-FL</c:v>
              </c:pt>
              <c:pt idx="2">
                <c:v>Fed-EF-SGD</c:v>
              </c:pt>
              <c:pt idx="3">
                <c:v>Fed-EF-AMS</c:v>
              </c:pt>
              <c:pt idx="4">
                <c:v>SoteriaFL</c:v>
              </c:pt>
            </c:strLit>
          </c:cat>
          <c:val>
            <c:numLit>
              <c:formatCode>0.0</c:formatCode>
              <c:ptCount val="5"/>
              <c:pt idx="0">
                <c:v>0</c:v>
              </c:pt>
              <c:pt idx="1">
                <c:v>55.999</c:v>
              </c:pt>
              <c:pt idx="2">
                <c:v>0.0067</c:v>
              </c:pt>
              <c:pt idx="3">
                <c:v>0.0033</c:v>
              </c:pt>
              <c:pt idx="4">
                <c:v>0.0004</c:v>
              </c:pt>
            </c:numLit>
          </c:val>
        </c:ser>
        <c:dLbls>
          <c:txPr>
            <a:bodyPr xmlns:a="http://schemas.openxmlformats.org/drawingml/2006/main" anchorCtr="1"/>
            <a:lstStyle xmlns:a="http://schemas.openxmlformats.org/drawingml/2006/main"/>
            <a:p xmlns:a="http://schemas.openxmlformats.org/drawingml/2006/main">
              <a:pPr>
                <a:defRPr sz="975"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FFFFF"/>
    </a:solidFill>
    <a:ln xmlns:a="http://schemas.openxmlformats.org/drawingml/2006/main" w="9525">
      <a:solidFill>
        <a:srgbClr val="B8C4CE"/>
      </a:solid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85" name="Google Shape;173;p25"/>
          <p:cNvPicPr>
            <a:picLocks xmlns:a="http://schemas.openxmlformats.org/drawingml/2006/main" noChangeAspect="1"/>
          </p:cNvPicPr>
          <p:nvPr/>
        </p:nvPicPr>
        <p:blipFill rotWithShape="1">
          <a:blip xmlns:r="http://schemas.openxmlformats.org/officeDocument/2006/relationships" xmlns:a="http://schemas.openxmlformats.org/drawingml/2006/main" r:embed="R42ce37ff6cef40b7">
            <a:alphaModFix amt="25000"/>
          </a:blip>
          <a:srcRect xmlns:a="http://schemas.openxmlformats.org/drawingml/2006/main" l="0" t="0" r="0" b="0"/>
          <a:stretch xmlns:a="http://schemas.openxmlformats.org/drawingml/2006/main"/>
        </p:blipFill>
        <p:spPr>
          <a:xfrm xmlns:a="http://schemas.openxmlformats.org/drawingml/2006/main" flipH="0" flipV="0">
            <a:off x="249382" y="251522"/>
            <a:ext cx="11684000" cy="6354956"/>
          </a:xfrm>
          <a:prstGeom xmlns:a="http://schemas.openxmlformats.org/drawingml/2006/main" prst="rect">
            <a:avLst/>
          </a:prstGeom>
          <a:ln xmlns:a="http://schemas.openxmlformats.org/drawingml/2006/main">
            <a:noFill/>
          </a:ln>
          <a:effectLst xmlns:a="http://schemas.openxmlformats.org/drawingml/2006/main">
            <a:outerShdw blurRad="1003300" sx="89000" sy="89000" algn="ctr" rotWithShape="0">
              <a:schemeClr val="lt1">
                <a:alpha val="3921"/>
              </a:schemeClr>
            </a:outerShdw>
          </a:effectLst>
        </p:spPr>
      </p:pic>
      <p:sp>
        <p:nvSpPr>
          <p:cNvPr id="175" name="Google Shape;175;p25">
            <a:extLst xmlns:a="http://schemas.openxmlformats.org/drawingml/2006/main">
              <a:ext uri="{FF2B5EF4-FFF2-40B4-BE49-F238E27FC236}">
                <a16:creationId xmlns:a16="http://schemas.microsoft.com/office/drawing/2014/main" id="{D25FF023-60FE-468B-940A-B4DA65D2FC5E}"/>
              </a:ext>
            </a:extLst>
          </p:cNvPr>
          <p:cNvSpPr>
            <a:spLocks xmlns:a="http://schemas.openxmlformats.org/drawingml/2006/main" noGrp="1"/>
          </p:cNvSpPr>
          <p:nvPr/>
        </p:nvSpPr>
        <p:spPr>
          <a:xfrm xmlns:a="http://schemas.openxmlformats.org/drawingml/2006/main">
            <a:off x="762000" y="1000125"/>
            <a:ext cx="10668000" cy="2103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fontScale="100000"/>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4800"/>
              <a:buFont typeface="Arial"/>
              <a:buNone/>
              <a:defRPr sz="2925" b="1">
                <a:solidFill>
                  <a:srgbClr val="17365D"/>
                </a:solidFill>
                <a:latin typeface="Arial"/>
                <a:ea typeface="Arial"/>
                <a:cs typeface="Arial"/>
              </a:defRPr>
            </a:pPr>
            <a:r>
              <a:rPr sz="2925" b="1" i="0" u="none" cap="none">
                <a:solidFill>
                  <a:srgbClr val="17365D"/>
                </a:solidFill>
                <a:latin typeface="Arial"/>
                <a:ea typeface="Arial"/>
                <a:cs typeface="Arial"/>
              </a:rPr>
              <a:t>CAABC-FL: A Hybrid Privacy-Preserving Framework for Secure Multi-Institutional Collaboration</a:t>
            </a:r>
            <a:endParaRPr sz="4400" b="0" i="0" u="none" cap="none">
              <a:solidFill>
                <a:srgbClr val="000000"/>
              </a:solidFill>
              <a:latin typeface="Arial"/>
              <a:ea typeface="Arial"/>
              <a:cs typeface="Arial"/>
            </a:endParaRPr>
          </a:p>
        </p:txBody>
      </p:sp>
      <p:sp>
        <p:nvSpPr>
          <p:cNvPr id="177" name="Google Shape;177;p25">
            <a:extLst xmlns:a="http://schemas.openxmlformats.org/drawingml/2006/main">
              <a:ext uri="{FF2B5EF4-FFF2-40B4-BE49-F238E27FC236}">
                <a16:creationId xmlns:a16="http://schemas.microsoft.com/office/drawing/2014/main" id="{1A787CBB-2971-4C31-9293-4909EA4C0262}"/>
              </a:ext>
            </a:extLst>
          </p:cNvPr>
          <p:cNvSpPr>
            <a:spLocks xmlns:a="http://schemas.openxmlformats.org/drawingml/2006/main" noGrp="1"/>
          </p:cNvSpPr>
          <p:nvPr>
            <p:ph type="dt" idx="10"/>
          </p:nvPr>
        </p:nvSpPr>
        <p:spPr>
          <a:xfrm xmlns:a="http://schemas.openxmlformats.org/drawingml/2006/main">
            <a:off x="462800" y="6396575"/>
            <a:ext cx="1556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178" name="Google Shape;178;p25">
            <a:extLst xmlns:a="http://schemas.openxmlformats.org/drawingml/2006/main">
              <a:ext uri="{FF2B5EF4-FFF2-40B4-BE49-F238E27FC236}">
                <a16:creationId xmlns:a16="http://schemas.microsoft.com/office/drawing/2014/main" id="{EC7E38E7-131A-4955-84CA-2ACE593A8C3D}"/>
              </a:ext>
            </a:extLst>
          </p:cNvPr>
          <p:cNvSpPr>
            <a:spLocks xmlns:a="http://schemas.openxmlformats.org/drawingml/2006/main" noGrp="1"/>
          </p:cNvSpPr>
          <p:nvPr/>
        </p:nvSpPr>
        <p:spPr>
          <a:xfrm xmlns:a="http://schemas.openxmlformats.org/drawingml/2006/main">
            <a:off x="2498421" y="2436934"/>
            <a:ext cx="7302500" cy="892512"/>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0800" dist="50800" dir="5400000" algn="ctr" rotWithShape="0">
              <a:schemeClr val="lt1"/>
            </a:outerShdw>
          </a:effectLst>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800" b="1" i="0" u="none" cap="none">
                <a:solidFill>
                  <a:srgbClr val="6E6E6E"/>
                </a:solidFill>
                <a:latin typeface="Arial"/>
                <a:ea typeface="Arial"/>
                <a:cs typeface="Arial"/>
              </a:rPr>
              <a:t>Thesis Final Defense</a:t>
            </a:r>
            <a:endParaRPr sz="2800"/>
          </a:p>
          <a:p xmlns:a="http://schemas.openxmlformats.org/drawingml/2006/main">
            <a:pPr marL="0" marR="0" lvl="0" indent="0" algn="ctr">
              <a:lnSpc>
                <a:spcPct val="100000"/>
              </a:lnSpc>
              <a:spcBef>
                <a:spcPts val="0"/>
              </a:spcBef>
              <a:spcAft>
                <a:spcPts val="0"/>
              </a:spcAft>
              <a:buNone/>
            </a:pPr>
            <a:r>
              <a:rPr sz="2400" b="1" i="0" u="none" cap="none">
                <a:solidFill>
                  <a:srgbClr val="000000"/>
                </a:solidFill>
                <a:latin typeface="Arial"/>
                <a:ea typeface="Arial"/>
                <a:cs typeface="Arial"/>
              </a:rPr>
              <a:t>Fall 2025</a:t>
            </a:r>
            <a:endParaRPr sz="2400" b="1" i="0" u="none" cap="none">
              <a:solidFill>
                <a:srgbClr val="000000"/>
              </a:solidFill>
              <a:latin typeface="Arial"/>
              <a:ea typeface="Arial"/>
              <a:cs typeface="Arial"/>
            </a:endParaRPr>
          </a:p>
        </p:txBody>
      </p:sp>
      <p:sp>
        <p:nvSpPr>
          <p:cNvPr id="179" name="Google Shape;179;p25">
            <a:extLst xmlns:a="http://schemas.openxmlformats.org/drawingml/2006/main">
              <a:ext uri="{FF2B5EF4-FFF2-40B4-BE49-F238E27FC236}">
                <a16:creationId xmlns:a16="http://schemas.microsoft.com/office/drawing/2014/main" id="{CC827AB5-2338-4A5C-8992-FA8BBB93B06C}"/>
              </a:ext>
            </a:extLst>
          </p:cNvPr>
          <p:cNvSpPr>
            <a:spLocks xmlns:a="http://schemas.openxmlformats.org/drawingml/2006/main" noGrp="1"/>
          </p:cNvSpPr>
          <p:nvPr/>
        </p:nvSpPr>
        <p:spPr>
          <a:xfrm xmlns:a="http://schemas.openxmlformats.org/drawingml/2006/main">
            <a:off x="1235210" y="5643678"/>
            <a:ext cx="9676661" cy="10156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600" b="1" i="0" u="none" cap="none">
                <a:solidFill>
                  <a:srgbClr val="000000"/>
                </a:solidFill>
                <a:latin typeface="Arial"/>
                <a:ea typeface="Arial"/>
                <a:cs typeface="Arial"/>
              </a:rPr>
              <a:t>Department of Computer Science and Engineering</a:t>
            </a:r>
            <a:endParaRPr/>
          </a:p>
          <a:p xmlns:a="http://schemas.openxmlformats.org/drawingml/2006/main">
            <a:pPr marL="0" marR="0" lvl="0" indent="0" algn="ctr">
              <a:lnSpc>
                <a:spcPct val="100000"/>
              </a:lnSpc>
              <a:spcBef>
                <a:spcPts val="0"/>
              </a:spcBef>
              <a:spcAft>
                <a:spcPts val="0"/>
              </a:spcAft>
              <a:buNone/>
            </a:pPr>
            <a:r>
              <a:rPr sz="3200" b="1" i="0" u="none" cap="none">
                <a:solidFill>
                  <a:srgbClr val="000000"/>
                </a:solidFill>
                <a:latin typeface="Arial"/>
                <a:ea typeface="Arial"/>
                <a:cs typeface="Arial"/>
              </a:rPr>
              <a:t>Green University of Bangladesh </a:t>
            </a:r>
            <a:endParaRPr/>
          </a:p>
        </p:txBody>
      </p:sp>
      <p:pic>
        <p:nvPicPr>
          <p:cNvPr id="190" name="Google Shape;180;p25"/>
          <p:cNvPicPr>
            <a:picLocks xmlns:a="http://schemas.openxmlformats.org/drawingml/2006/main" noChangeAspect="1"/>
          </p:cNvPicPr>
          <p:nvPr/>
        </p:nvPicPr>
        <p:blipFill rotWithShape="1">
          <a:blip xmlns:r="http://schemas.openxmlformats.org/officeDocument/2006/relationships" xmlns:a="http://schemas.openxmlformats.org/drawingml/2006/main" r:embed="R2d9da1206d9345de">
            <a:alphaModFix/>
          </a:blip>
          <a:srcRect xmlns:a="http://schemas.openxmlformats.org/drawingml/2006/main" l="0" t="0" r="0" b="0"/>
          <a:stretch xmlns:a="http://schemas.openxmlformats.org/drawingml/2006/main"/>
        </p:blipFill>
        <p:spPr>
          <a:xfrm xmlns:a="http://schemas.openxmlformats.org/drawingml/2006/main">
            <a:off x="4624251" y="250163"/>
            <a:ext cx="2773947" cy="1154019"/>
          </a:xfrm>
          <a:prstGeom xmlns:a="http://schemas.openxmlformats.org/drawingml/2006/main" prst="rect">
            <a:avLst/>
          </a:prstGeom>
          <a:ln xmlns:a="http://schemas.openxmlformats.org/drawingml/2006/main">
            <a:noFill/>
          </a:ln>
        </p:spPr>
      </p:pic>
      <p:sp>
        <p:nvSpPr>
          <p:cNvPr id="3" name="Google Shape;176;p25">
            <a:extLst xmlns:a="http://schemas.openxmlformats.org/drawingml/2006/main">
              <a:ext uri="{FF2B5EF4-FFF2-40B4-BE49-F238E27FC236}">
                <a16:creationId xmlns:a16="http://schemas.microsoft.com/office/drawing/2014/main" id="{0A0AC8FA-28A6-AAC3-1B13-5F28531E7A18}"/>
              </a:ext>
            </a:extLst>
          </p:cNvPr>
          <p:cNvSpPr>
            <a:spLocks xmlns:a="http://schemas.openxmlformats.org/drawingml/2006/main" noGrp="1"/>
          </p:cNvSpPr>
          <p:nvPr/>
        </p:nvSpPr>
        <p:spPr>
          <a:xfrm xmlns:a="http://schemas.openxmlformats.org/drawingml/2006/main">
            <a:off x="3450333" y="3620754"/>
            <a:ext cx="5121781" cy="17542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800"/>
              <a:buFont typeface="Arial"/>
              <a:buNone/>
            </a:pPr>
            <a:r>
              <a:rPr sz="2400" b="1" i="0" u="none" cap="none">
                <a:solidFill>
                  <a:srgbClr val="0070C0"/>
                </a:solidFill>
                <a:latin typeface="Arial"/>
                <a:ea typeface="Arial"/>
                <a:cs typeface="Arial"/>
              </a:rPr>
              <a:t>Presented by</a:t>
            </a:r>
            <a:endParaRPr sz="2400" b="1" i="0" u="none" cap="none">
              <a:solidFill>
                <a:srgbClr val="0070C0"/>
              </a:solidFill>
              <a:latin typeface="Arial"/>
              <a:ea typeface="Arial"/>
              <a:cs typeface="Arial"/>
            </a:endParaRPr>
          </a:p>
          <a:p xmlns:a="http://schemas.openxmlformats.org/drawingml/2006/main">
            <a:pPr marL="0" marR="0" lvl="0" indent="0" algn="ctr">
              <a:lnSpc>
                <a:spcPct val="100000"/>
              </a:lnSpc>
              <a:spcBef>
                <a:spcPts val="800"/>
              </a:spcBef>
              <a:spcAft>
                <a:spcPts val="0"/>
              </a:spcAft>
              <a:buClr>
                <a:srgbClr val="000000"/>
              </a:buClr>
              <a:buSzPts val="2400"/>
              <a:buFont typeface="Arial"/>
              <a:buNone/>
            </a:pPr>
            <a:r>
              <a:rPr sz="2000">
                <a:solidFill>
                  <a:srgbClr val="00B0F0"/>
                </a:solidFill>
              </a:rPr>
              <a:t>Md. Robiul Islam - 222002068</a:t>
            </a:r>
            <a:endParaRPr sz="2000" b="0" i="0" u="none" cap="none">
              <a:solidFill>
                <a:srgbClr val="00B0F0"/>
              </a:solidFill>
              <a:latin typeface="Arial"/>
              <a:ea typeface="Arial"/>
              <a:cs typeface="Arial"/>
            </a:endParaRPr>
          </a:p>
          <a:p xmlns:a="http://schemas.openxmlformats.org/drawingml/2006/main">
            <a:pPr lvl="0" algn="ctr">
              <a:spcBef>
                <a:spcPts val="800"/>
              </a:spcBef>
              <a:buSzPts val="2400"/>
              <a:buNone/>
            </a:pPr>
            <a:r>
              <a:rPr sz="2000">
                <a:solidFill>
                  <a:srgbClr val="00B0F0"/>
                </a:solidFill>
              </a:rPr>
              <a:t>Ashrafun Nahar Arifa - 222002066</a:t>
            </a:r>
          </a:p>
          <a:p xmlns:a="http://schemas.openxmlformats.org/drawingml/2006/main">
            <a:pPr algn="ctr">
              <a:spcBef>
                <a:spcPts val="800"/>
              </a:spcBef>
              <a:buSzPts val="2400"/>
              <a:buNone/>
            </a:pPr>
            <a:r>
              <a:rPr sz="2000">
                <a:solidFill>
                  <a:srgbClr val="00B0F0"/>
                </a:solidFill>
              </a:rPr>
              <a:t>Md. Atikur Rahman - 221902166</a:t>
            </a:r>
          </a:p>
        </p:txBody>
      </p:sp>
      <p:sp>
        <p:nvSpPr>
          <p:cNvPr id="182" name="visible-footer-date-1">
            <a:extLst xmlns:a="http://schemas.openxmlformats.org/drawingml/2006/main">
              <a:ext uri="{FF2B5EF4-FFF2-40B4-BE49-F238E27FC236}">
                <a16:creationId xmlns:a16="http://schemas.microsoft.com/office/drawing/2014/main" id="{A331825A-019A-4D52-BDFB-671BA143512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49186476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7223b1b000d746b9"/>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7f106ff4242048db"/>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2">
            <a:extLst xmlns:a="http://schemas.openxmlformats.org/drawingml/2006/main">
              <a:ext uri="{FF2B5EF4-FFF2-40B4-BE49-F238E27FC236}">
                <a16:creationId xmlns:a16="http://schemas.microsoft.com/office/drawing/2014/main" id="{F6C4A783-6CA1-4234-BF2F-58C8FDF86203}"/>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925" b="1" i="0">
                <a:solidFill>
                  <a:srgbClr val="17365D"/>
                </a:solidFill>
                <a:latin typeface="Arial"/>
                <a:ea typeface="Arial"/>
                <a:cs typeface="Arial"/>
              </a:defRPr>
            </a:pPr>
            <a:r>
              <a:rPr sz="2925" b="1" i="0">
                <a:solidFill>
                  <a:srgbClr val="17365D"/>
                </a:solidFill>
                <a:latin typeface="Arial"/>
                <a:ea typeface="Arial"/>
                <a:cs typeface="Arial"/>
              </a:rPr>
              <a:t>Table of Contents</a:t>
            </a:r>
          </a:p>
        </p:txBody>
      </p:sp>
      <p:sp>
        <p:nvSpPr>
          <p:cNvPr id="4" name="rule-45-665">
            <a:extLst xmlns:a="http://schemas.openxmlformats.org/drawingml/2006/main">
              <a:ext uri="{FF2B5EF4-FFF2-40B4-BE49-F238E27FC236}">
                <a16:creationId xmlns:a16="http://schemas.microsoft.com/office/drawing/2014/main" id="{5D12E25B-FFA4-49DA-8BDE-DEA98565E2D0}"/>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2">
            <a:extLst xmlns:a="http://schemas.openxmlformats.org/drawingml/2006/main">
              <a:ext uri="{FF2B5EF4-FFF2-40B4-BE49-F238E27FC236}">
                <a16:creationId xmlns:a16="http://schemas.microsoft.com/office/drawing/2014/main" id="{5F63C4D7-EA98-4A2A-AC2B-F552F36B0142}"/>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r>
              <a:rPr sz="900" b="0" i="0">
                <a:solidFill>
                  <a:srgbClr val="17365D"/>
                </a:solidFill>
                <a:latin typeface="Arial"/>
                <a:ea typeface="Arial"/>
                <a:cs typeface="Arial"/>
              </a:rPr>
              <a:t/>
            </a:r>
          </a:p>
        </p:txBody>
      </p:sp>
      <p:sp>
        <p:nvSpPr>
          <p:cNvPr id="6" name="chrome-footer-2">
            <a:extLst xmlns:a="http://schemas.openxmlformats.org/drawingml/2006/main">
              <a:ext uri="{FF2B5EF4-FFF2-40B4-BE49-F238E27FC236}">
                <a16:creationId xmlns:a16="http://schemas.microsoft.com/office/drawing/2014/main" id="{D3DD6AD1-30EB-442B-9FB7-6E3415E9A1A8}"/>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2">
            <a:extLst xmlns:a="http://schemas.openxmlformats.org/drawingml/2006/main">
              <a:ext uri="{FF2B5EF4-FFF2-40B4-BE49-F238E27FC236}">
                <a16:creationId xmlns:a16="http://schemas.microsoft.com/office/drawing/2014/main" id="{B090BECB-4C48-47F7-85E9-2310EFE0B0E3}"/>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2</a:t>
            </a:r>
          </a:p>
        </p:txBody>
      </p:sp>
      <p:sp>
        <p:nvSpPr>
          <p:cNvPr id="8" name="toc-left">
            <a:extLst xmlns:a="http://schemas.openxmlformats.org/drawingml/2006/main">
              <a:ext uri="{FF2B5EF4-FFF2-40B4-BE49-F238E27FC236}">
                <a16:creationId xmlns:a16="http://schemas.microsoft.com/office/drawing/2014/main" id="{E64BE7FF-2629-4A0E-9774-DCE8509C9B56}"/>
              </a:ext>
            </a:extLst>
          </p:cNvPr>
          <p:cNvSpPr>
            <a:spLocks xmlns:a="http://schemas.openxmlformats.org/drawingml/2006/main" noGrp="1"/>
          </p:cNvSpPr>
          <p:nvPr/>
        </p:nvSpPr>
        <p:spPr>
          <a:xfrm xmlns:a="http://schemas.openxmlformats.org/drawingml/2006/main">
            <a:off x="14287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1  Introduction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2  Literature Review</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3  Proposed Methodology</a:t>
            </a:r>
          </a:p>
        </p:txBody>
      </p:sp>
      <p:sp>
        <p:nvSpPr>
          <p:cNvPr id="9" name="rule-630-150">
            <a:extLst xmlns:a="http://schemas.openxmlformats.org/drawingml/2006/main">
              <a:ext uri="{FF2B5EF4-FFF2-40B4-BE49-F238E27FC236}">
                <a16:creationId xmlns:a16="http://schemas.microsoft.com/office/drawing/2014/main" id="{205F7E81-2495-4748-8738-FCD3AA9CDD6B}"/>
              </a:ext>
            </a:extLst>
          </p:cNvPr>
          <p:cNvSpPr>
            <a:spLocks xmlns:a="http://schemas.openxmlformats.org/drawingml/2006/main" noGrp="1"/>
          </p:cNvSpPr>
          <p:nvPr/>
        </p:nvSpPr>
        <p:spPr>
          <a:xfrm xmlns:a="http://schemas.openxmlformats.org/drawingml/2006/main">
            <a:off x="6000750" y="1428750"/>
            <a:ext cx="28575" cy="38100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10" name="toc-right">
            <a:extLst xmlns:a="http://schemas.openxmlformats.org/drawingml/2006/main">
              <a:ext uri="{FF2B5EF4-FFF2-40B4-BE49-F238E27FC236}">
                <a16:creationId xmlns:a16="http://schemas.microsoft.com/office/drawing/2014/main" id="{9E244E5D-05B7-4052-B9B8-DFA1E983C134}"/>
              </a:ext>
            </a:extLst>
          </p:cNvPr>
          <p:cNvSpPr>
            <a:spLocks xmlns:a="http://schemas.openxmlformats.org/drawingml/2006/main" noGrp="1"/>
          </p:cNvSpPr>
          <p:nvPr/>
        </p:nvSpPr>
        <p:spPr>
          <a:xfrm xmlns:a="http://schemas.openxmlformats.org/drawingml/2006/main">
            <a:off x="65722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4  Results and Discussion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5  Conclusion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6  References, Backup and Q&amp;A</a:t>
            </a:r>
          </a:p>
        </p:txBody>
      </p:sp>
      <p:sp>
        <p:nvSpPr>
          <p:cNvPr id="13" name="visible-footer-date-2">
            <a:extLst xmlns:a="http://schemas.openxmlformats.org/drawingml/2006/main">
              <a:ext uri="{FF2B5EF4-FFF2-40B4-BE49-F238E27FC236}">
                <a16:creationId xmlns:a16="http://schemas.microsoft.com/office/drawing/2014/main" id="{1A3CE9A8-5845-45E2-91F0-A01D971DE4F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2329875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99" name="Google Shape;198;p27"/>
          <p:cNvPicPr>
            <a:picLocks xmlns:a="http://schemas.openxmlformats.org/drawingml/2006/main" noChangeAspect="1"/>
          </p:cNvPicPr>
          <p:nvPr/>
        </p:nvPicPr>
        <p:blipFill rotWithShape="1">
          <a:blip xmlns:r="http://schemas.openxmlformats.org/officeDocument/2006/relationships" xmlns:a="http://schemas.openxmlformats.org/drawingml/2006/main" r:embed="Rab87dedf701442e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300" name="Google Shape;199;p27"/>
          <p:cNvPicPr>
            <a:picLocks xmlns:a="http://schemas.openxmlformats.org/drawingml/2006/main" noChangeAspect="1"/>
          </p:cNvPicPr>
          <p:nvPr/>
        </p:nvPicPr>
        <p:blipFill rotWithShape="1">
          <a:blip xmlns:r="http://schemas.openxmlformats.org/officeDocument/2006/relationships" xmlns:a="http://schemas.openxmlformats.org/drawingml/2006/main" r:embed="R4b1af11b75f64a9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301" name="Google Shape;200;p27"/>
          <p:cNvPicPr>
            <a:picLocks xmlns:a="http://schemas.openxmlformats.org/drawingml/2006/main" noChangeAspect="1"/>
          </p:cNvPicPr>
          <p:nvPr/>
        </p:nvPicPr>
        <p:blipFill rotWithShape="1">
          <a:blip xmlns:r="http://schemas.openxmlformats.org/officeDocument/2006/relationships" xmlns:a="http://schemas.openxmlformats.org/drawingml/2006/main" r:embed="R6c785773996e436b">
            <a:alphaModFix/>
          </a:blip>
          <a:srcRect xmlns:a="http://schemas.openxmlformats.org/drawingml/2006/main" l="1187" t="2321" r="3422" b="0"/>
          <a:stretch xmlns:a="http://schemas.openxmlformats.org/drawingml/2006/main"/>
        </p:blipFill>
        <p:spPr>
          <a:xfrm xmlns:a="http://schemas.openxmlformats.org/drawingml/2006/main">
            <a:off x="2210143" y="387774"/>
            <a:ext cx="7565366" cy="5537780"/>
          </a:xfrm>
          <a:prstGeom xmlns:a="http://schemas.openxmlformats.org/drawingml/2006/main" prst="rect">
            <a:avLst/>
          </a:prstGeom>
          <a:ln xmlns:a="http://schemas.openxmlformats.org/drawingml/2006/main">
            <a:noFill/>
          </a:ln>
        </p:spPr>
      </p:pic>
      <p:sp>
        <p:nvSpPr>
          <p:cNvPr id="201" name="Google Shape;201;p27">
            <a:extLst xmlns:a="http://schemas.openxmlformats.org/drawingml/2006/main">
              <a:ext uri="{FF2B5EF4-FFF2-40B4-BE49-F238E27FC236}">
                <a16:creationId xmlns:a16="http://schemas.microsoft.com/office/drawing/2014/main" id="{93E0F582-6E51-4162-8A2F-EFB74E6438E3}"/>
              </a:ext>
            </a:extLst>
          </p:cNvPr>
          <p:cNvSpPr>
            <a:spLocks xmlns:a="http://schemas.openxmlformats.org/drawingml/2006/main" noGrp="1"/>
          </p:cNvSpPr>
          <p:nvPr>
            <p:ph type="title" idx="0"/>
          </p:nvPr>
        </p:nvSpPr>
        <p:spPr>
          <a:xfrm xmlns:a="http://schemas.openxmlformats.org/drawingml/2006/main">
            <a:off x="3812946" y="4409776"/>
            <a:ext cx="4607154"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Introduction</a:t>
            </a:r>
            <a:endParaRPr/>
          </a:p>
        </p:txBody>
      </p:sp>
      <p:pic>
        <p:nvPicPr>
          <p:cNvPr id="303" name="Google Shape;202;p27"/>
          <p:cNvPicPr>
            <a:picLocks xmlns:a="http://schemas.openxmlformats.org/drawingml/2006/main" noChangeAspect="1"/>
          </p:cNvPicPr>
          <p:nvPr/>
        </p:nvPicPr>
        <p:blipFill rotWithShape="1">
          <a:blip xmlns:r="http://schemas.openxmlformats.org/officeDocument/2006/relationships" xmlns:a="http://schemas.openxmlformats.org/drawingml/2006/main" r:embed="R0fb3831a3a854f58">
            <a:alphaModFix/>
          </a:blip>
          <a:srcRect xmlns:a="http://schemas.openxmlformats.org/drawingml/2006/main" l="0" t="0" r="4230" b="13909"/>
          <a:stretch xmlns:a="http://schemas.openxmlformats.org/drawingml/2006/main"/>
        </p:blipFill>
        <p:spPr>
          <a:xfrm xmlns:a="http://schemas.openxmlformats.org/drawingml/2006/main">
            <a:off x="3842633" y="1651423"/>
            <a:ext cx="4300387" cy="2571491"/>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cxnSp>
        <p:nvCxnSpPr>
          <p:cNvPr id="304" name="Google Shape;203;p27"/>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5" name="Google Shape;212;p28">
            <a:extLst xmlns:a="http://schemas.openxmlformats.org/drawingml/2006/main">
              <a:ext uri="{FF2B5EF4-FFF2-40B4-BE49-F238E27FC236}">
                <a16:creationId xmlns:a16="http://schemas.microsoft.com/office/drawing/2014/main" id="{56147DD4-9B84-A1BE-89BE-879B8166E80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a:t>
            </a:r>
            <a:endParaRPr sz="2800"/>
          </a:p>
        </p:txBody>
      </p:sp>
      <p:sp>
        <p:nvSpPr>
          <p:cNvPr id="6" name="Google Shape;216;p28">
            <a:extLst xmlns:a="http://schemas.openxmlformats.org/drawingml/2006/main">
              <a:ext uri="{FF2B5EF4-FFF2-40B4-BE49-F238E27FC236}">
                <a16:creationId xmlns:a16="http://schemas.microsoft.com/office/drawing/2014/main" id="{1980D1FA-5005-7E4D-C30C-9433C3A7A1F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7" name="Google Shape;217;p28">
            <a:extLst xmlns:a="http://schemas.openxmlformats.org/drawingml/2006/main">
              <a:ext uri="{FF2B5EF4-FFF2-40B4-BE49-F238E27FC236}">
                <a16:creationId xmlns:a16="http://schemas.microsoft.com/office/drawing/2014/main" id="{96F754A5-1FF9-D925-27C6-B06305285E25}"/>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18" name="visible-footer-date-3">
            <a:extLst xmlns:a="http://schemas.openxmlformats.org/drawingml/2006/main">
              <a:ext uri="{FF2B5EF4-FFF2-40B4-BE49-F238E27FC236}">
                <a16:creationId xmlns:a16="http://schemas.microsoft.com/office/drawing/2014/main" id="{0D974343-99E9-4287-BF9D-988FF4ED080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6555850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8060B94-F0A7-BBB7-7486-80C8EB40E694}"/>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Background</a:t>
            </a:r>
            <a:endParaRPr/>
          </a:p>
        </p:txBody>
      </p:sp>
      <p:sp>
        <p:nvSpPr>
          <p:cNvPr id="212" name="Google Shape;212;p28">
            <a:extLst xmlns:a="http://schemas.openxmlformats.org/drawingml/2006/main">
              <a:ext uri="{FF2B5EF4-FFF2-40B4-BE49-F238E27FC236}">
                <a16:creationId xmlns:a16="http://schemas.microsoft.com/office/drawing/2014/main" id="{094C318A-19D8-5521-E2E0-1C2CFE74D475}"/>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4</a:t>
            </a:r>
            <a:endParaRPr sz="2800"/>
          </a:p>
        </p:txBody>
      </p:sp>
      <p:pic>
        <p:nvPicPr>
          <p:cNvPr id="23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05b6e33788a45b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de8d8cbadb448e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A258BE3-D874-B47F-982B-9CAFDD5EE44E}"/>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B2A7D1B-9045-6E27-810C-56812FE0C22C}"/>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ackground-bullets">
            <a:extLst xmlns:a="http://schemas.openxmlformats.org/drawingml/2006/main">
              <a:ext uri="{FF2B5EF4-FFF2-40B4-BE49-F238E27FC236}">
                <a16:creationId xmlns:a16="http://schemas.microsoft.com/office/drawing/2014/main" id="{7A35AAE5-73D3-4501-9C42-D8BB41FFAE7D}"/>
              </a:ext>
            </a:extLst>
          </p:cNvPr>
          <p:cNvSpPr>
            <a:spLocks xmlns:a="http://schemas.openxmlformats.org/drawingml/2006/main" noGrp="1"/>
          </p:cNvSpPr>
          <p:nvPr/>
        </p:nvSpPr>
        <p:spPr>
          <a:xfrm xmlns:a="http://schemas.openxmlformats.org/drawingml/2006/main">
            <a:off x="876300" y="1543050"/>
            <a:ext cx="476250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Hospitals hold complementary clinical data, but direct pooling raises privacy, ownership, and breach risks.</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Federated learning keeps patient records local, yet model updates may still expose membership or training features [1]–[6].</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Encryption protects update values, but it increases communication cost and limits plaintext poisoning defenses.</a:t>
            </a:r>
          </a:p>
        </p:txBody>
      </p:sp>
      <p:sp>
        <p:nvSpPr>
          <p:cNvPr id="221" name="background-takeaway">
            <a:extLst xmlns:a="http://schemas.openxmlformats.org/drawingml/2006/main">
              <a:ext uri="{FF2B5EF4-FFF2-40B4-BE49-F238E27FC236}">
                <a16:creationId xmlns:a16="http://schemas.microsoft.com/office/drawing/2014/main" id="{F1DFCBD7-E7DC-4151-B28C-2EBE70C2B2CC}"/>
              </a:ext>
            </a:extLst>
          </p:cNvPr>
          <p:cNvSpPr>
            <a:spLocks xmlns:a="http://schemas.openxmlformats.org/drawingml/2006/main" noGrp="1"/>
          </p:cNvSpPr>
          <p:nvPr/>
        </p:nvSpPr>
        <p:spPr>
          <a:xfrm xmlns:a="http://schemas.openxmlformats.org/drawingml/2006/main">
            <a:off x="952500" y="5000625"/>
            <a:ext cx="4714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500" b="1" i="0">
                <a:solidFill>
                  <a:srgbClr val="008A46"/>
                </a:solidFill>
                <a:latin typeface="Arial"/>
                <a:ea typeface="Arial"/>
                <a:cs typeface="Arial"/>
              </a:defRPr>
            </a:pPr>
            <a:r>
              <a:rPr sz="1500" b="1" i="0">
                <a:solidFill>
                  <a:srgbClr val="008A46"/>
                </a:solidFill>
                <a:latin typeface="Arial"/>
                <a:ea typeface="Arial"/>
                <a:cs typeface="Arial"/>
              </a:rPr>
              <a:t>Research gap: Existing work usually evaluates privacy, communication efficiency, robustness, and governance as separate problems.</a:t>
            </a:r>
          </a:p>
        </p:txBody>
      </p:sp>
      <p:sp>
        <p:nvSpPr>
          <p:cNvPr id="224" name="visible-footer-date-4">
            <a:extLst xmlns:a="http://schemas.openxmlformats.org/drawingml/2006/main">
              <a:ext uri="{FF2B5EF4-FFF2-40B4-BE49-F238E27FC236}">
                <a16:creationId xmlns:a16="http://schemas.microsoft.com/office/drawing/2014/main" id="{F0E64F9B-250A-466D-8D13-72D9F2A8EE9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7" name=""/>
          <p:cNvPicPr>
            <a:picLocks xmlns:a="http://schemas.openxmlformats.org/drawingml/2006/main" noChangeAspect="1"/>
          </p:cNvPicPr>
          <p:nvPr/>
        </p:nvPicPr>
        <p:blipFill>
          <a:blip xmlns:r="http://schemas.openxmlformats.org/officeDocument/2006/relationships" xmlns:a="http://schemas.openxmlformats.org/drawingml/2006/main" r:embed="Re9fa1c5a2b4d4b04"/>
          <a:stretch xmlns:a="http://schemas.openxmlformats.org/drawingml/2006/main"/>
        </p:blipFill>
        <p:spPr>
          <a:xfrm xmlns:a="http://schemas.openxmlformats.org/drawingml/2006/main">
            <a:off x="5905500" y="1568450"/>
            <a:ext cx="5667375" cy="3778250"/>
          </a:xfrm>
          <a:prstGeom xmlns:a="http://schemas.openxmlformats.org/drawingml/2006/main" prst="rect">
            <a:avLst/>
          </a:prstGeom>
        </p:spPr>
      </p:pic>
    </p:spTree>
    <p:extLst>
      <p:ext uri="{BB962C8B-B14F-4D97-AF65-F5344CB8AC3E}">
        <p14:creationId xmlns:p14="http://schemas.microsoft.com/office/powerpoint/2010/main" val="406152535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6008738-B2C1-0318-4913-BD8F65E3BEE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Statement</a:t>
            </a:r>
            <a:endParaRPr/>
          </a:p>
        </p:txBody>
      </p:sp>
      <p:sp>
        <p:nvSpPr>
          <p:cNvPr id="212" name="Google Shape;212;p28">
            <a:extLst xmlns:a="http://schemas.openxmlformats.org/drawingml/2006/main">
              <a:ext uri="{FF2B5EF4-FFF2-40B4-BE49-F238E27FC236}">
                <a16:creationId xmlns:a16="http://schemas.microsoft.com/office/drawing/2014/main" id="{BEDC7090-C035-9865-94B8-1E35B6B2D2E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5</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91f8c78e752417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ee49725cc8f4e0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206E9E3C-2F4C-B1FD-95E0-AACB117CFB9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BE9B0B5-9C9E-A926-7825-CCA60148B2CE}"/>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1" name="research-question">
            <a:extLst xmlns:a="http://schemas.openxmlformats.org/drawingml/2006/main">
              <a:ext uri="{FF2B5EF4-FFF2-40B4-BE49-F238E27FC236}">
                <a16:creationId xmlns:a16="http://schemas.microsoft.com/office/drawing/2014/main" id="{27B7B9B5-0C1A-48D0-8F2B-9D5F9BAA1BE7}"/>
              </a:ext>
            </a:extLst>
          </p:cNvPr>
          <p:cNvSpPr>
            <a:spLocks xmlns:a="http://schemas.openxmlformats.org/drawingml/2006/main" noGrp="1"/>
          </p:cNvSpPr>
          <p:nvPr/>
        </p:nvSpPr>
        <p:spPr>
          <a:xfrm xmlns:a="http://schemas.openxmlformats.org/drawingml/2006/main">
            <a:off x="1143000" y="4714875"/>
            <a:ext cx="9906000" cy="1095375"/>
          </a:xfrm>
          <a:prstGeom xmlns:a="http://schemas.openxmlformats.org/drawingml/2006/main" prst="roundRect">
            <a:avLst>
              <a:gd name="adj" fmla="val 7619"/>
            </a:avLst>
          </a:prstGeom>
          <a:solidFill xmlns:a="http://schemas.openxmlformats.org/drawingml/2006/main">
            <a:srgbClr val="EAF2F8"/>
          </a:solidFill>
          <a:ln xmlns:a="http://schemas.openxmlformats.org/drawingml/2006/main" w="19050">
            <a:solidFill>
              <a:srgbClr val="00AEEF"/>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1">
                <a:solidFill>
                  <a:srgbClr val="1E3A5F"/>
                </a:solidFill>
                <a:latin typeface="Arial"/>
                <a:ea typeface="Arial"/>
                <a:cs typeface="Arial"/>
              </a:defRPr>
            </a:pPr>
            <a:r>
              <a:rPr sz="1725" b="1">
                <a:solidFill>
                  <a:srgbClr val="1E3A5F"/>
                </a:solidFill>
                <a:latin typeface="Arial"/>
                <a:ea typeface="Arial"/>
                <a:cs typeface="Arial"/>
              </a:rPr>
              <a:t>Research question</a:t>
            </a:r>
          </a:p>
          <a:p xmlns:a="http://schemas.openxmlformats.org/drawingml/2006/main">
            <a:pPr algn="ctr">
              <a:buNone/>
              <a:defRPr sz="1725" b="1">
                <a:solidFill>
                  <a:srgbClr val="1E3A5F"/>
                </a:solidFill>
                <a:latin typeface="Arial"/>
                <a:ea typeface="Arial"/>
                <a:cs typeface="Arial"/>
              </a:defRPr>
            </a:pPr>
            <a:r>
              <a:rPr sz="1725" b="1">
                <a:solidFill>
                  <a:srgbClr val="1E3A5F"/>
                </a:solidFill>
                <a:latin typeface="Arial"/>
                <a:ea typeface="Arial"/>
                <a:cs typeface="Arial"/>
              </a:rPr>
              <a:t>How can multiple institutions train a useful shared model while limiting privacy exposure, encrypted communication cost, poisoning damage, and unilateral control?</a:t>
            </a:r>
          </a:p>
        </p:txBody>
      </p:sp>
      <p:sp>
        <p:nvSpPr>
          <p:cNvPr id="224" name="visible-footer-date-5">
            <a:extLst xmlns:a="http://schemas.openxmlformats.org/drawingml/2006/main">
              <a:ext uri="{FF2B5EF4-FFF2-40B4-BE49-F238E27FC236}">
                <a16:creationId xmlns:a16="http://schemas.microsoft.com/office/drawing/2014/main" id="{AD61C2BA-765E-42A0-B4FD-3AD8841EC0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7" name="problem-paragraph">
            <a:extLst xmlns:a="http://schemas.openxmlformats.org/drawingml/2006/main">
              <a:ext uri="{FF2B5EF4-FFF2-40B4-BE49-F238E27FC236}">
                <a16:creationId xmlns:a16="http://schemas.microsoft.com/office/drawing/2014/main" id="{948838D7-D613-4BEB-8C00-F91DA90BFDC9}"/>
              </a:ext>
            </a:extLst>
          </p:cNvPr>
          <p:cNvSpPr>
            <a:spLocks xmlns:a="http://schemas.openxmlformats.org/drawingml/2006/main" noGrp="1"/>
          </p:cNvSpPr>
          <p:nvPr/>
        </p:nvSpPr>
        <p:spPr>
          <a:xfrm xmlns:a="http://schemas.openxmlformats.org/drawingml/2006/main">
            <a:off x="1000125" y="1476375"/>
            <a:ext cx="101917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00">
                <a:solidFill>
                  <a:srgbClr val="1F2937"/>
                </a:solidFill>
                <a:latin typeface="Arial"/>
                <a:ea typeface="Arial"/>
                <a:cs typeface="Arial"/>
              </a:defRPr>
            </a:pPr>
            <a:r>
              <a:rPr sz="1800">
                <a:solidFill>
                  <a:srgbClr val="1F2937"/>
                </a:solidFill>
                <a:latin typeface="Arial"/>
                <a:ea typeface="Arial"/>
                <a:cs typeface="Arial"/>
              </a:rPr>
              <a:t>Although federated learning keeps patient records within each institution, the gradients and model updates exchanged during training may still expose sensitive information through membership inference or reconstruction attacks. Applying CKKS encryption protects update values, but it increases the serialized communication payload and prevents many poisoning defenses from examining individual plaintext updates. Existing systems may also depend on centralized decryption, unverifiable aggregation, or limited audit evidence, which concentrates trust and reduces accountability. Current approaches therefore seldom provide record-level privacy, practical encrypted communication, poisoning resilience, and independently verifiable governance within one evaluated multi-institutional healthcare framework.</a:t>
            </a:r>
          </a:p>
        </p:txBody>
      </p:sp>
    </p:spTree>
    <p:extLst>
      <p:ext uri="{BB962C8B-B14F-4D97-AF65-F5344CB8AC3E}">
        <p14:creationId xmlns:p14="http://schemas.microsoft.com/office/powerpoint/2010/main" val="280351465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Motivation</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6</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f3d15eb96f5465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8d92f9a4bb14ca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E937F21F-131E-F61D-2A3A-8635D27CBC73}"/>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motivation-heading-0">
            <a:extLst xmlns:a="http://schemas.openxmlformats.org/drawingml/2006/main">
              <a:ext uri="{FF2B5EF4-FFF2-40B4-BE49-F238E27FC236}">
                <a16:creationId xmlns:a16="http://schemas.microsoft.com/office/drawing/2014/main" id="{14A171B0-83C8-4934-A272-DC1FE3A12919}"/>
              </a:ext>
            </a:extLst>
          </p:cNvPr>
          <p:cNvSpPr>
            <a:spLocks xmlns:a="http://schemas.openxmlformats.org/drawingml/2006/main" noGrp="1"/>
          </p:cNvSpPr>
          <p:nvPr/>
        </p:nvSpPr>
        <p:spPr>
          <a:xfrm xmlns:a="http://schemas.openxmlformats.org/drawingml/2006/main">
            <a:off x="8096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Clinical collaboration</a:t>
            </a:r>
          </a:p>
        </p:txBody>
      </p:sp>
      <p:sp>
        <p:nvSpPr>
          <p:cNvPr id="221" name="rule-105-255">
            <a:extLst xmlns:a="http://schemas.openxmlformats.org/drawingml/2006/main">
              <a:ext uri="{FF2B5EF4-FFF2-40B4-BE49-F238E27FC236}">
                <a16:creationId xmlns:a16="http://schemas.microsoft.com/office/drawing/2014/main" id="{E5090A77-5EBC-49F7-AA49-0C779200C562}"/>
              </a:ext>
            </a:extLst>
          </p:cNvPr>
          <p:cNvSpPr>
            <a:spLocks xmlns:a="http://schemas.openxmlformats.org/drawingml/2006/main" noGrp="1"/>
          </p:cNvSpPr>
          <p:nvPr/>
        </p:nvSpPr>
        <p:spPr>
          <a:xfrm xmlns:a="http://schemas.openxmlformats.org/drawingml/2006/main">
            <a:off x="10001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motivation-body-0">
            <a:extLst xmlns:a="http://schemas.openxmlformats.org/drawingml/2006/main">
              <a:ext uri="{FF2B5EF4-FFF2-40B4-BE49-F238E27FC236}">
                <a16:creationId xmlns:a16="http://schemas.microsoft.com/office/drawing/2014/main" id="{3754FDFD-4FD5-4944-A570-00B5E343FF7B}"/>
              </a:ext>
            </a:extLst>
          </p:cNvPr>
          <p:cNvSpPr>
            <a:spLocks xmlns:a="http://schemas.openxmlformats.org/drawingml/2006/main" noGrp="1"/>
          </p:cNvSpPr>
          <p:nvPr/>
        </p:nvSpPr>
        <p:spPr>
          <a:xfrm xmlns:a="http://schemas.openxmlformats.org/drawingml/2006/main">
            <a:off x="8096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Use diverse hospital data without transferring source records.</a:t>
            </a:r>
          </a:p>
        </p:txBody>
      </p:sp>
      <p:sp>
        <p:nvSpPr>
          <p:cNvPr id="223" name="motivation-heading-1">
            <a:extLst xmlns:a="http://schemas.openxmlformats.org/drawingml/2006/main">
              <a:ext uri="{FF2B5EF4-FFF2-40B4-BE49-F238E27FC236}">
                <a16:creationId xmlns:a16="http://schemas.microsoft.com/office/drawing/2014/main" id="{8BD53C23-3158-4388-922E-A2955C2B72C8}"/>
              </a:ext>
            </a:extLst>
          </p:cNvPr>
          <p:cNvSpPr>
            <a:spLocks xmlns:a="http://schemas.openxmlformats.org/drawingml/2006/main" noGrp="1"/>
          </p:cNvSpPr>
          <p:nvPr/>
        </p:nvSpPr>
        <p:spPr>
          <a:xfrm xmlns:a="http://schemas.openxmlformats.org/drawingml/2006/main">
            <a:off x="35909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Measurable privacy</a:t>
            </a:r>
          </a:p>
        </p:txBody>
      </p:sp>
      <p:sp>
        <p:nvSpPr>
          <p:cNvPr id="224" name="rule-397-255">
            <a:extLst xmlns:a="http://schemas.openxmlformats.org/drawingml/2006/main">
              <a:ext uri="{FF2B5EF4-FFF2-40B4-BE49-F238E27FC236}">
                <a16:creationId xmlns:a16="http://schemas.microsoft.com/office/drawing/2014/main" id="{C11FE3ED-7396-42C9-A9AF-60BA17EA4AF5}"/>
              </a:ext>
            </a:extLst>
          </p:cNvPr>
          <p:cNvSpPr>
            <a:spLocks xmlns:a="http://schemas.openxmlformats.org/drawingml/2006/main" noGrp="1"/>
          </p:cNvSpPr>
          <p:nvPr/>
        </p:nvSpPr>
        <p:spPr>
          <a:xfrm xmlns:a="http://schemas.openxmlformats.org/drawingml/2006/main">
            <a:off x="37814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motivation-body-1">
            <a:extLst xmlns:a="http://schemas.openxmlformats.org/drawingml/2006/main">
              <a:ext uri="{FF2B5EF4-FFF2-40B4-BE49-F238E27FC236}">
                <a16:creationId xmlns:a16="http://schemas.microsoft.com/office/drawing/2014/main" id="{423A7667-0058-4E83-8599-24DD016E4200}"/>
              </a:ext>
            </a:extLst>
          </p:cNvPr>
          <p:cNvSpPr>
            <a:spLocks xmlns:a="http://schemas.openxmlformats.org/drawingml/2006/main" noGrp="1"/>
          </p:cNvSpPr>
          <p:nvPr/>
        </p:nvSpPr>
        <p:spPr>
          <a:xfrm xmlns:a="http://schemas.openxmlformats.org/drawingml/2006/main">
            <a:off x="35909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Combine formal differential privacy with empirical attack evaluation.</a:t>
            </a:r>
          </a:p>
        </p:txBody>
      </p:sp>
      <p:sp>
        <p:nvSpPr>
          <p:cNvPr id="226" name="motivation-heading-2">
            <a:extLst xmlns:a="http://schemas.openxmlformats.org/drawingml/2006/main">
              <a:ext uri="{FF2B5EF4-FFF2-40B4-BE49-F238E27FC236}">
                <a16:creationId xmlns:a16="http://schemas.microsoft.com/office/drawing/2014/main" id="{2E7B4BD8-ADFE-48CC-B302-794592BF9FB2}"/>
              </a:ext>
            </a:extLst>
          </p:cNvPr>
          <p:cNvSpPr>
            <a:spLocks xmlns:a="http://schemas.openxmlformats.org/drawingml/2006/main" noGrp="1"/>
          </p:cNvSpPr>
          <p:nvPr/>
        </p:nvSpPr>
        <p:spPr>
          <a:xfrm xmlns:a="http://schemas.openxmlformats.org/drawingml/2006/main">
            <a:off x="63722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Encrypted efficiency</a:t>
            </a:r>
          </a:p>
        </p:txBody>
      </p:sp>
      <p:sp>
        <p:nvSpPr>
          <p:cNvPr id="227" name="rule-689-255">
            <a:extLst xmlns:a="http://schemas.openxmlformats.org/drawingml/2006/main">
              <a:ext uri="{FF2B5EF4-FFF2-40B4-BE49-F238E27FC236}">
                <a16:creationId xmlns:a16="http://schemas.microsoft.com/office/drawing/2014/main" id="{2789D004-EE09-4233-BEAE-C409C37985E8}"/>
              </a:ext>
            </a:extLst>
          </p:cNvPr>
          <p:cNvSpPr>
            <a:spLocks xmlns:a="http://schemas.openxmlformats.org/drawingml/2006/main" noGrp="1"/>
          </p:cNvSpPr>
          <p:nvPr/>
        </p:nvSpPr>
        <p:spPr>
          <a:xfrm xmlns:a="http://schemas.openxmlformats.org/drawingml/2006/main">
            <a:off x="65627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motivation-body-2">
            <a:extLst xmlns:a="http://schemas.openxmlformats.org/drawingml/2006/main">
              <a:ext uri="{FF2B5EF4-FFF2-40B4-BE49-F238E27FC236}">
                <a16:creationId xmlns:a16="http://schemas.microsoft.com/office/drawing/2014/main" id="{0AB54D3B-1C6B-4B72-B52C-1D85664316AC}"/>
              </a:ext>
            </a:extLst>
          </p:cNvPr>
          <p:cNvSpPr>
            <a:spLocks xmlns:a="http://schemas.openxmlformats.org/drawingml/2006/main" noGrp="1"/>
          </p:cNvSpPr>
          <p:nvPr/>
        </p:nvSpPr>
        <p:spPr>
          <a:xfrm xmlns:a="http://schemas.openxmlformats.org/drawingml/2006/main">
            <a:off x="63722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Reduce real serialized ciphertext bytes, not only logical coordinates.</a:t>
            </a:r>
          </a:p>
        </p:txBody>
      </p:sp>
      <p:sp>
        <p:nvSpPr>
          <p:cNvPr id="229" name="motivation-heading-3">
            <a:extLst xmlns:a="http://schemas.openxmlformats.org/drawingml/2006/main">
              <a:ext uri="{FF2B5EF4-FFF2-40B4-BE49-F238E27FC236}">
                <a16:creationId xmlns:a16="http://schemas.microsoft.com/office/drawing/2014/main" id="{C57D8F51-B74C-4F60-82AA-2FFC42884BD2}"/>
              </a:ext>
            </a:extLst>
          </p:cNvPr>
          <p:cNvSpPr>
            <a:spLocks xmlns:a="http://schemas.openxmlformats.org/drawingml/2006/main" noGrp="1"/>
          </p:cNvSpPr>
          <p:nvPr/>
        </p:nvSpPr>
        <p:spPr>
          <a:xfrm xmlns:a="http://schemas.openxmlformats.org/drawingml/2006/main">
            <a:off x="91535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Accountable release</a:t>
            </a:r>
          </a:p>
        </p:txBody>
      </p:sp>
      <p:sp>
        <p:nvSpPr>
          <p:cNvPr id="230" name="rule-981-255">
            <a:extLst xmlns:a="http://schemas.openxmlformats.org/drawingml/2006/main">
              <a:ext uri="{FF2B5EF4-FFF2-40B4-BE49-F238E27FC236}">
                <a16:creationId xmlns:a16="http://schemas.microsoft.com/office/drawing/2014/main" id="{DC981718-FDBA-440E-8D3D-7CE191FB1268}"/>
              </a:ext>
            </a:extLst>
          </p:cNvPr>
          <p:cNvSpPr>
            <a:spLocks xmlns:a="http://schemas.openxmlformats.org/drawingml/2006/main" noGrp="1"/>
          </p:cNvSpPr>
          <p:nvPr/>
        </p:nvSpPr>
        <p:spPr>
          <a:xfrm xmlns:a="http://schemas.openxmlformats.org/drawingml/2006/main">
            <a:off x="93440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motivation-body-3">
            <a:extLst xmlns:a="http://schemas.openxmlformats.org/drawingml/2006/main">
              <a:ext uri="{FF2B5EF4-FFF2-40B4-BE49-F238E27FC236}">
                <a16:creationId xmlns:a16="http://schemas.microsoft.com/office/drawing/2014/main" id="{CAA93CDD-05C3-4AC1-8211-2B0AE4B52DA9}"/>
              </a:ext>
            </a:extLst>
          </p:cNvPr>
          <p:cNvSpPr>
            <a:spLocks xmlns:a="http://schemas.openxmlformats.org/drawingml/2006/main" noGrp="1"/>
          </p:cNvSpPr>
          <p:nvPr/>
        </p:nvSpPr>
        <p:spPr>
          <a:xfrm xmlns:a="http://schemas.openxmlformats.org/drawingml/2006/main">
            <a:off x="91535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Verify aggregation and record rollback, reputation, and audit evidence.</a:t>
            </a:r>
          </a:p>
        </p:txBody>
      </p:sp>
      <p:sp>
        <p:nvSpPr>
          <p:cNvPr id="232" name="motivation-close">
            <a:extLst xmlns:a="http://schemas.openxmlformats.org/drawingml/2006/main">
              <a:ext uri="{FF2B5EF4-FFF2-40B4-BE49-F238E27FC236}">
                <a16:creationId xmlns:a16="http://schemas.microsoft.com/office/drawing/2014/main" id="{9EBE3E1D-C266-4EFE-B091-4D7FF55EA7E1}"/>
              </a:ext>
            </a:extLst>
          </p:cNvPr>
          <p:cNvSpPr>
            <a:spLocks xmlns:a="http://schemas.openxmlformats.org/drawingml/2006/main" noGrp="1"/>
          </p:cNvSpPr>
          <p:nvPr/>
        </p:nvSpPr>
        <p:spPr>
          <a:xfrm xmlns:a="http://schemas.openxmlformats.org/drawingml/2006/main">
            <a:off x="1666875" y="5143500"/>
            <a:ext cx="885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33"/>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The thesis treats privacy, systems cost, adversarial resilience, and trust as one engineering problem.</a:t>
            </a: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4845371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Evidence for Collaboration</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7</a:t>
            </a:r>
            <a:endParaRPr sz="2800"/>
          </a:p>
        </p:txBody>
      </p:sp>
      <p:pic>
        <p:nvPicPr>
          <p:cNvPr id="25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666b9e705924fc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d1deb1123db419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E937F21F-131E-F61D-2A3A-8635D27CBC73}"/>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8" name="evidence-sites-number">
            <a:extLst xmlns:a="http://schemas.openxmlformats.org/drawingml/2006/main">
              <a:ext uri="{FF2B5EF4-FFF2-40B4-BE49-F238E27FC236}">
                <a16:creationId xmlns:a16="http://schemas.microsoft.com/office/drawing/2014/main" id="{F80BD4C4-9B17-4656-B580-1C5E24E17728}"/>
              </a:ext>
            </a:extLst>
          </p:cNvPr>
          <p:cNvSpPr>
            <a:spLocks xmlns:a="http://schemas.openxmlformats.org/drawingml/2006/main" noGrp="1"/>
          </p:cNvSpPr>
          <p:nvPr/>
        </p:nvSpPr>
        <p:spPr>
          <a:xfrm xmlns:a="http://schemas.openxmlformats.org/drawingml/2006/main">
            <a:off x="904875" y="1428750"/>
            <a:ext cx="2238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5400" b="1">
                <a:solidFill>
                  <a:srgbClr val="008A46"/>
                </a:solidFill>
                <a:latin typeface="Arial"/>
                <a:ea typeface="Arial"/>
                <a:cs typeface="Arial"/>
              </a:defRPr>
            </a:pPr>
            <a:r>
              <a:rPr sz="5400" b="1">
                <a:solidFill>
                  <a:srgbClr val="008A46"/>
                </a:solidFill>
                <a:latin typeface="Arial"/>
                <a:ea typeface="Arial"/>
                <a:cs typeface="Arial"/>
              </a:rPr>
              <a:t>20</a:t>
            </a:r>
          </a:p>
        </p:txBody>
      </p:sp>
      <p:sp>
        <p:nvSpPr>
          <p:cNvPr id="239" name="evidence-sites-label">
            <a:extLst xmlns:a="http://schemas.openxmlformats.org/drawingml/2006/main">
              <a:ext uri="{FF2B5EF4-FFF2-40B4-BE49-F238E27FC236}">
                <a16:creationId xmlns:a16="http://schemas.microsoft.com/office/drawing/2014/main" id="{D525C1F9-E8B8-42D8-ADFA-C90C85B7882E}"/>
              </a:ext>
            </a:extLst>
          </p:cNvPr>
          <p:cNvSpPr>
            <a:spLocks xmlns:a="http://schemas.openxmlformats.org/drawingml/2006/main" noGrp="1"/>
          </p:cNvSpPr>
          <p:nvPr/>
        </p:nvSpPr>
        <p:spPr>
          <a:xfrm xmlns:a="http://schemas.openxmlformats.org/drawingml/2006/main">
            <a:off x="762000" y="2476500"/>
            <a:ext cx="2571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800" b="1">
                <a:solidFill>
                  <a:srgbClr val="1E3A5F"/>
                </a:solidFill>
                <a:latin typeface="Arial"/>
                <a:ea typeface="Arial"/>
                <a:cs typeface="Arial"/>
              </a:defRPr>
            </a:pPr>
            <a:r>
              <a:rPr sz="1800" b="1">
                <a:solidFill>
                  <a:srgbClr val="1E3A5F"/>
                </a:solidFill>
                <a:latin typeface="Arial"/>
                <a:ea typeface="Arial"/>
                <a:cs typeface="Arial"/>
              </a:rPr>
              <a:t>clinical sites across four continents</a:t>
            </a:r>
          </a:p>
        </p:txBody>
      </p:sp>
      <p:sp>
        <p:nvSpPr>
          <p:cNvPr id="240" name="evidence-cases-number">
            <a:extLst xmlns:a="http://schemas.openxmlformats.org/drawingml/2006/main">
              <a:ext uri="{FF2B5EF4-FFF2-40B4-BE49-F238E27FC236}">
                <a16:creationId xmlns:a16="http://schemas.microsoft.com/office/drawing/2014/main" id="{5BDE55EC-8B7A-4BD4-B392-42A1B22514F1}"/>
              </a:ext>
            </a:extLst>
          </p:cNvPr>
          <p:cNvSpPr>
            <a:spLocks xmlns:a="http://schemas.openxmlformats.org/drawingml/2006/main" noGrp="1"/>
          </p:cNvSpPr>
          <p:nvPr/>
        </p:nvSpPr>
        <p:spPr>
          <a:xfrm xmlns:a="http://schemas.openxmlformats.org/drawingml/2006/main">
            <a:off x="666750" y="3333750"/>
            <a:ext cx="2762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4050" b="1">
                <a:solidFill>
                  <a:srgbClr val="1E3A5F"/>
                </a:solidFill>
                <a:latin typeface="Arial"/>
                <a:ea typeface="Arial"/>
                <a:cs typeface="Arial"/>
              </a:defRPr>
            </a:pPr>
            <a:r>
              <a:rPr sz="4050" b="1">
                <a:solidFill>
                  <a:srgbClr val="1E3A5F"/>
                </a:solidFill>
                <a:latin typeface="Arial"/>
                <a:ea typeface="Arial"/>
                <a:cs typeface="Arial"/>
              </a:rPr>
              <a:t>16,148</a:t>
            </a:r>
          </a:p>
        </p:txBody>
      </p:sp>
      <p:sp>
        <p:nvSpPr>
          <p:cNvPr id="241" name="evidence-cases-label">
            <a:extLst xmlns:a="http://schemas.openxmlformats.org/drawingml/2006/main">
              <a:ext uri="{FF2B5EF4-FFF2-40B4-BE49-F238E27FC236}">
                <a16:creationId xmlns:a16="http://schemas.microsoft.com/office/drawing/2014/main" id="{4C297428-7B2C-4AFF-AC11-EBA045220558}"/>
              </a:ext>
            </a:extLst>
          </p:cNvPr>
          <p:cNvSpPr>
            <a:spLocks xmlns:a="http://schemas.openxmlformats.org/drawingml/2006/main" noGrp="1"/>
          </p:cNvSpPr>
          <p:nvPr/>
        </p:nvSpPr>
        <p:spPr>
          <a:xfrm xmlns:a="http://schemas.openxmlformats.org/drawingml/2006/main">
            <a:off x="762000" y="4191000"/>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a:solidFill>
                  <a:srgbClr val="1F2937"/>
                </a:solidFill>
                <a:latin typeface="Arial"/>
                <a:ea typeface="Arial"/>
                <a:cs typeface="Arial"/>
              </a:defRPr>
            </a:pPr>
            <a:r>
              <a:rPr sz="1650">
                <a:solidFill>
                  <a:srgbClr val="1F2937"/>
                </a:solidFill>
                <a:latin typeface="Arial"/>
                <a:ea typeface="Arial"/>
                <a:cs typeface="Arial"/>
              </a:rPr>
              <a:t>cases in the EXAM federated cohort [3]</a:t>
            </a:r>
          </a:p>
        </p:txBody>
      </p:sp>
      <p:sp>
        <p:nvSpPr>
          <p:cNvPr id="242" name="evidence-separator">
            <a:extLst xmlns:a="http://schemas.openxmlformats.org/drawingml/2006/main">
              <a:ext uri="{FF2B5EF4-FFF2-40B4-BE49-F238E27FC236}">
                <a16:creationId xmlns:a16="http://schemas.microsoft.com/office/drawing/2014/main" id="{D276F0AC-9520-4A08-A98D-BA7EB40375B9}"/>
              </a:ext>
            </a:extLst>
          </p:cNvPr>
          <p:cNvSpPr>
            <a:spLocks xmlns:a="http://schemas.openxmlformats.org/drawingml/2006/main" noGrp="1"/>
          </p:cNvSpPr>
          <p:nvPr/>
        </p:nvSpPr>
        <p:spPr>
          <a:xfrm xmlns:a="http://schemas.openxmlformats.org/drawingml/2006/main">
            <a:off x="3857625" y="1428750"/>
            <a:ext cx="28575" cy="3476625"/>
          </a:xfrm>
          <a:prstGeom xmlns:a="http://schemas.openxmlformats.org/drawingml/2006/main" prst="rect">
            <a:avLst/>
          </a:prstGeom>
          <a:solidFill xmlns:a="http://schemas.openxmlformats.org/drawingml/2006/main">
            <a:srgbClr val="008A46"/>
          </a:solidFill>
          <a:ln xmlns:a="http://schemas.openxmlformats.org/drawingml/2006/main" w="0">
            <a:noFill/>
          </a:ln>
        </p:spPr>
      </p:sp>
      <p:graphicFrame>
        <p:nvGraphicFramePr>
          <p:cNvPr id="261" name="Chart"/>
          <p:cNvGraphicFramePr/>
          <p:nvPr/>
        </p:nvGraphicFramePr>
        <p:xfrm>
          <a:off xmlns:a="http://schemas.openxmlformats.org/drawingml/2006/main" x="4429125" y="1333500"/>
          <a:ext xmlns:a="http://schemas.openxmlformats.org/drawingml/2006/main" cx="6953250" cy="3524250"/>
        </p:xfrm>
        <a:graphic xmlns:a="http://schemas.openxmlformats.org/drawingml/2006/main">
          <a:graphicData uri="http://schemas.openxmlformats.org/drawingml/2006/chart">
            <c:chart xmlns:r="http://schemas.openxmlformats.org/officeDocument/2006/relationships" xmlns:c="http://schemas.openxmlformats.org/drawingml/2006/chart" r:id="R97266982ff8343b9"/>
          </a:graphicData>
        </a:graphic>
      </p:graphicFrame>
      <p:sp>
        <p:nvSpPr>
          <p:cNvPr id="244" name="evidence-chart-caption">
            <a:extLst xmlns:a="http://schemas.openxmlformats.org/drawingml/2006/main">
              <a:ext uri="{FF2B5EF4-FFF2-40B4-BE49-F238E27FC236}">
                <a16:creationId xmlns:a16="http://schemas.microsoft.com/office/drawing/2014/main" id="{36ABC351-6F5A-4A46-AAD3-22A27C9B53B0}"/>
              </a:ext>
            </a:extLst>
          </p:cNvPr>
          <p:cNvSpPr>
            <a:spLocks xmlns:a="http://schemas.openxmlformats.org/drawingml/2006/main" noGrp="1"/>
          </p:cNvSpPr>
          <p:nvPr/>
        </p:nvSpPr>
        <p:spPr>
          <a:xfrm xmlns:a="http://schemas.openxmlformats.org/drawingml/2006/main">
            <a:off x="4762500" y="4762500"/>
            <a:ext cx="628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350" i="1">
                <a:solidFill>
                  <a:srgbClr val="475569"/>
                </a:solidFill>
                <a:latin typeface="Arial"/>
                <a:ea typeface="Arial"/>
                <a:cs typeface="Arial"/>
              </a:defRPr>
            </a:pPr>
            <a:r>
              <a:rPr sz="1350" i="1">
                <a:solidFill>
                  <a:srgbClr val="475569"/>
                </a:solidFill>
                <a:latin typeface="Arial"/>
                <a:ea typeface="Arial"/>
                <a:cs typeface="Arial"/>
              </a:rPr>
              <a:t>EXAM improved the mean site-level AUC from 0.795 to 0.920 [3].</a:t>
            </a:r>
          </a:p>
        </p:txBody>
      </p:sp>
      <p:sp>
        <p:nvSpPr>
          <p:cNvPr id="245" name="evidence-sheller">
            <a:extLst xmlns:a="http://schemas.openxmlformats.org/drawingml/2006/main">
              <a:ext uri="{FF2B5EF4-FFF2-40B4-BE49-F238E27FC236}">
                <a16:creationId xmlns:a16="http://schemas.microsoft.com/office/drawing/2014/main" id="{16CD3232-E527-451F-A197-B3ED178E6510}"/>
              </a:ext>
            </a:extLst>
          </p:cNvPr>
          <p:cNvSpPr>
            <a:spLocks xmlns:a="http://schemas.openxmlformats.org/drawingml/2006/main" noGrp="1"/>
          </p:cNvSpPr>
          <p:nvPr/>
        </p:nvSpPr>
        <p:spPr>
          <a:xfrm xmlns:a="http://schemas.openxmlformats.org/drawingml/2006/main">
            <a:off x="952500" y="5381625"/>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1">
                <a:solidFill>
                  <a:srgbClr val="008A46"/>
                </a:solidFill>
                <a:latin typeface="Arial"/>
                <a:ea typeface="Arial"/>
                <a:cs typeface="Arial"/>
              </a:defRPr>
            </a:pPr>
            <a:r>
              <a:rPr sz="1725" b="1">
                <a:solidFill>
                  <a:srgbClr val="008A46"/>
                </a:solidFill>
                <a:latin typeface="Arial"/>
                <a:ea typeface="Arial"/>
                <a:cs typeface="Arial"/>
              </a:rPr>
              <a:t>Federated training across 10 institutions reached 99% of centralized model quality [2].</a:t>
            </a:r>
          </a:p>
        </p:txBody>
      </p:sp>
    </p:spTree>
    <p:extLst>
      <p:ext uri="{BB962C8B-B14F-4D97-AF65-F5344CB8AC3E}">
        <p14:creationId xmlns:p14="http://schemas.microsoft.com/office/powerpoint/2010/main" val="354845371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Objectives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8</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bf4fcbd897f42f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b83971cb08c495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EEEF175-9482-918F-7734-2A5787534231}"/>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4763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4287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Design and implement a secure, privacy-preserving architecture for collaborative learning across institutions.</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85750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Develop a communication-efficient method for protected model exchange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3338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Evaluate the framework against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Questions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9</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b89989f245a4fd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4b77cb4fdf740d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EEEF175-9482-918F-7734-2A5787534231}"/>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381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238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can multi-institutional learning protect patient records, model updates, and release decisions without centralizing raw data?</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762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Can CAABC-FL reduce serialized encrypted communication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429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does the framework compare with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369" name="Google Shape;266;p32"/>
          <p:cNvPicPr>
            <a:picLocks xmlns:a="http://schemas.openxmlformats.org/drawingml/2006/main" noChangeAspect="1"/>
          </p:cNvPicPr>
          <p:nvPr/>
        </p:nvPicPr>
        <p:blipFill rotWithShape="1">
          <a:blip xmlns:r="http://schemas.openxmlformats.org/officeDocument/2006/relationships" xmlns:a="http://schemas.openxmlformats.org/drawingml/2006/main" r:embed="Radaff291db8940f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370" name="Google Shape;267;p32"/>
          <p:cNvPicPr>
            <a:picLocks xmlns:a="http://schemas.openxmlformats.org/drawingml/2006/main" noChangeAspect="1"/>
          </p:cNvPicPr>
          <p:nvPr/>
        </p:nvPicPr>
        <p:blipFill rotWithShape="1">
          <a:blip xmlns:r="http://schemas.openxmlformats.org/officeDocument/2006/relationships" xmlns:a="http://schemas.openxmlformats.org/drawingml/2006/main" r:embed="R2bb3a425f7aa481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371" name="Google Shape;268;p32"/>
          <p:cNvPicPr>
            <a:picLocks xmlns:a="http://schemas.openxmlformats.org/drawingml/2006/main" noChangeAspect="1"/>
          </p:cNvPicPr>
          <p:nvPr/>
        </p:nvPicPr>
        <p:blipFill rotWithShape="1">
          <a:blip xmlns:r="http://schemas.openxmlformats.org/officeDocument/2006/relationships" xmlns:a="http://schemas.openxmlformats.org/drawingml/2006/main" r:embed="Rab5e022571f548f5">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269" name="Google Shape;269;p32">
            <a:extLst xmlns:a="http://schemas.openxmlformats.org/drawingml/2006/main">
              <a:ext uri="{FF2B5EF4-FFF2-40B4-BE49-F238E27FC236}">
                <a16:creationId xmlns:a16="http://schemas.microsoft.com/office/drawing/2014/main" id="{EFA1EBEB-4757-4D2D-A4CA-B29E9E716CB0}"/>
              </a:ext>
            </a:extLst>
          </p:cNvPr>
          <p:cNvSpPr>
            <a:spLocks xmlns:a="http://schemas.openxmlformats.org/drawingml/2006/main" noGrp="1"/>
          </p:cNvSpPr>
          <p:nvPr>
            <p:ph type="title" idx="0"/>
          </p:nvPr>
        </p:nvSpPr>
        <p:spPr>
          <a:xfrm xmlns:a="http://schemas.openxmlformats.org/drawingml/2006/main">
            <a:off x="4235570" y="4439737"/>
            <a:ext cx="4390845"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90000"/>
              </a:lnSpc>
              <a:spcBef>
                <a:spcPts val="0"/>
              </a:spcBef>
              <a:spcAft>
                <a:spcPts val="0"/>
              </a:spcAft>
              <a:buClr>
                <a:schemeClr val="dk1"/>
              </a:buClr>
              <a:buSzPts val="4000"/>
              <a:buFont typeface="Arial"/>
              <a:buNone/>
            </a:pPr>
            <a:r>
              <a:rPr sz="4000">
                <a:latin typeface="Arial"/>
                <a:ea typeface="Arial"/>
                <a:cs typeface="Arial"/>
              </a:rPr>
              <a:t>Literature Review</a:t>
            </a:r>
            <a:endParaRPr/>
          </a:p>
        </p:txBody>
      </p:sp>
      <p:pic>
        <p:nvPicPr>
          <p:cNvPr id="373" name="Google Shape;270;p32"/>
          <p:cNvPicPr>
            <a:picLocks xmlns:a="http://schemas.openxmlformats.org/drawingml/2006/main" noChangeAspect="1"/>
          </p:cNvPicPr>
          <p:nvPr/>
        </p:nvPicPr>
        <p:blipFill rotWithShape="1">
          <a:blip xmlns:r="http://schemas.openxmlformats.org/officeDocument/2006/relationships" xmlns:a="http://schemas.openxmlformats.org/drawingml/2006/main" r:embed="Rddca4849b3724370">
            <a:alphaModFix/>
          </a:blip>
          <a:srcRect xmlns:a="http://schemas.openxmlformats.org/drawingml/2006/main" l="0" t="0" r="0" b="0"/>
          <a:stretch xmlns:a="http://schemas.openxmlformats.org/drawingml/2006/main"/>
        </p:blipFill>
        <p:spPr>
          <a:xfrm xmlns:a="http://schemas.openxmlformats.org/drawingml/2006/main">
            <a:off x="5218502" y="2234977"/>
            <a:ext cx="1754993" cy="1754993"/>
          </a:xfrm>
          <a:prstGeom xmlns:a="http://schemas.openxmlformats.org/drawingml/2006/main" prst="rect">
            <a:avLst/>
          </a:prstGeom>
          <a:ln xmlns:a="http://schemas.openxmlformats.org/drawingml/2006/main">
            <a:noFill/>
          </a:ln>
        </p:spPr>
      </p:pic>
      <p:cxnSp>
        <p:nvCxnSpPr>
          <p:cNvPr id="374"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273" name="Google Shape;273;p32">
            <a:extLst xmlns:a="http://schemas.openxmlformats.org/drawingml/2006/main">
              <a:ext uri="{FF2B5EF4-FFF2-40B4-BE49-F238E27FC236}">
                <a16:creationId xmlns:a16="http://schemas.microsoft.com/office/drawing/2014/main" id="{21EC93A7-9D19-4AA4-BE61-A30549A4E0AA}"/>
              </a:ext>
            </a:extLst>
          </p:cNvPr>
          <p:cNvSpPr>
            <a:spLocks xmlns:a="http://schemas.openxmlformats.org/drawingml/2006/main" noGrp="1"/>
          </p:cNvSpPr>
          <p:nvPr>
            <p:ph type="dt" idx="10"/>
          </p:nvPr>
        </p:nvSpPr>
        <p:spPr>
          <a:xfrm xmlns:a="http://schemas.openxmlformats.org/drawingml/2006/main">
            <a:off x="462799" y="6396587"/>
            <a:ext cx="1442201" cy="2238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5B36D3E7-D169-B467-758A-64E9328C77F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0EBF0282-AEFF-01E7-BA7D-5A1333B214B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10</a:t>
            </a:r>
            <a:endParaRPr sz="2800"/>
          </a:p>
        </p:txBody>
      </p:sp>
      <p:sp>
        <p:nvSpPr>
          <p:cNvPr id="288" name="visible-footer-date-8">
            <a:extLst xmlns:a="http://schemas.openxmlformats.org/drawingml/2006/main">
              <a:ext uri="{FF2B5EF4-FFF2-40B4-BE49-F238E27FC236}">
                <a16:creationId xmlns:a16="http://schemas.microsoft.com/office/drawing/2014/main" id="{E3832783-4ED4-44A9-876A-64C9E9ED3DC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4320198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(1/3)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11</a:t>
            </a:r>
            <a:endParaRPr sz="2800"/>
          </a:p>
        </p:txBody>
      </p:sp>
      <p:pic>
        <p:nvPicPr>
          <p:cNvPr id="25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3f79acc6145413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7b15264e8df428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1">
            <a:extLst xmlns:a="http://schemas.openxmlformats.org/drawingml/2006/main">
              <a:ext uri="{FF2B5EF4-FFF2-40B4-BE49-F238E27FC236}">
                <a16:creationId xmlns:a16="http://schemas.microsoft.com/office/drawing/2014/main" id="{1FF44775-1E87-4275-9D7B-EDEF5136F97D}"/>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 Representative foundations for collaborative and private learning</a:t>
            </a:r>
          </a:p>
        </p:txBody>
      </p:sp>
      <p:graphicFrame>
        <p:nvGraphicFramePr>
          <p:cNvPr id="257" name=""/>
          <p:cNvGraphicFramePr/>
          <p:nvPr/>
        </p:nvGraphicFramePr>
        <p:xfrm>
          <a:off xmlns:a="http://schemas.openxmlformats.org/drawingml/2006/main" x="762000" y="1619250"/>
          <a:ext xmlns:a="http://schemas.openxmlformats.org/drawingml/2006/main" cx="10668000" cy="3762375"/>
        </p:xfrm>
        <a:graphic xmlns:a="http://schemas.openxmlformats.org/drawingml/2006/main">
          <a:graphicData uri="http://schemas.openxmlformats.org/drawingml/2006/table">
            <a:tbl>
              <a:tblPr firstRow="1" bandRow="1"/>
              <a:tblGrid>
                <a:gridCol w="1809750"/>
                <a:gridCol w="2047875"/>
                <a:gridCol w="3286125"/>
                <a:gridCol w="3524250"/>
              </a:tblGrid>
              <a:tr h="752475">
                <a:tc>
                  <a:txBody>
                    <a:bodyPr/>
                    <a:lstStyle/>
                    <a:p>
                      <a:r>
                        <a:rPr sz="1350" b="1">
                          <a:solidFill>
                            <a:srgbClr val="FFFFFF"/>
                          </a:solidFill>
                          <a:latin typeface="Arial"/>
                          <a:ea typeface="Arial"/>
                          <a:cs typeface="Arial"/>
                        </a:rPr>
                        <a:t>Study</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Focus</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Main contribution</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Limitation for this thesis</a:t>
                      </a:r>
                    </a:p>
                  </a:txBody>
                  <a:tcPr marL="66675" marR="66675" marT="47625" marB="47625" anchor="ctr">
                    <a:solidFill>
                      <a:srgbClr val="17365D"/>
                    </a:solidFill>
                  </a:tcPr>
                </a:tc>
              </a:tr>
              <a:tr h="752475">
                <a:tc>
                  <a:txBody>
                    <a:bodyPr/>
                    <a:lstStyle/>
                    <a:p>
                      <a:r>
                        <a:rPr sz="1275">
                          <a:solidFill>
                            <a:srgbClr val="1F2937"/>
                          </a:solidFill>
                          <a:latin typeface="Arial"/>
                          <a:ea typeface="Arial"/>
                          <a:cs typeface="Arial"/>
                        </a:rPr>
                        <a:t>FedAvg [1]</a:t>
                      </a:r>
                    </a:p>
                  </a:txBody>
                  <a:tcPr marL="66675" marR="66675" marT="47625" marB="47625" anchor="ctr">
                    <a:solidFill>
                      <a:srgbClr val="FFFFFF"/>
                    </a:solidFill>
                  </a:tcPr>
                </a:tc>
                <a:tc>
                  <a:txBody>
                    <a:bodyPr/>
                    <a:lstStyle/>
                    <a:p>
                      <a:r>
                        <a:rPr sz="1275">
                          <a:solidFill>
                            <a:srgbClr val="1F2937"/>
                          </a:solidFill>
                          <a:latin typeface="Arial"/>
                          <a:ea typeface="Arial"/>
                          <a:cs typeface="Arial"/>
                        </a:rPr>
                        <a:t>Federated optimization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Iterative training without centralizing data</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privacy or poisoning control</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Sheller et al. [2]</a:t>
                      </a:r>
                    </a:p>
                  </a:txBody>
                  <a:tcPr marL="66675" marR="66675" marT="47625" marB="47625" anchor="ctr">
                    <a:solidFill>
                      <a:srgbClr val="FFFFFF"/>
                    </a:solidFill>
                  </a:tcPr>
                </a:tc>
                <a:tc>
                  <a:txBody>
                    <a:bodyPr/>
                    <a:lstStyle/>
                    <a:p>
                      <a:r>
                        <a:rPr sz="1275">
                          <a:solidFill>
                            <a:srgbClr val="1F2937"/>
                          </a:solidFill>
                          <a:latin typeface="Arial"/>
                          <a:ea typeface="Arial"/>
                          <a:cs typeface="Arial"/>
                        </a:rPr>
                        <a:t>Healthcare FL</a:t>
                      </a:r>
                    </a:p>
                  </a:txBody>
                  <a:tcPr marL="66675" marR="66675" marT="47625" marB="47625" anchor="ctr">
                    <a:solidFill>
                      <a:srgbClr val="FFFFFF"/>
                    </a:solidFill>
                  </a:tcPr>
                </a:tc>
                <a:tc>
                  <a:txBody>
                    <a:bodyPr/>
                    <a:lstStyle/>
                    <a:p>
                      <a:r>
                        <a:rPr sz="1275">
                          <a:solidFill>
                            <a:srgbClr val="1F2937"/>
                          </a:solidFill>
                          <a:latin typeface="Arial"/>
                          <a:ea typeface="Arial"/>
                          <a:cs typeface="Arial"/>
                        </a:rPr>
                        <a:t>Natural multi-institution collaboration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Limited integrated security evidence</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275">
                          <a:solidFill>
                            <a:srgbClr val="1F2937"/>
                          </a:solidFill>
                          <a:latin typeface="Arial"/>
                          <a:ea typeface="Arial"/>
                          <a:cs typeface="Arial"/>
                        </a:rPr>
                        <a:t>Private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Efficient malicious-secure DP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poisoning layer</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FAMHE [12]</a:t>
                      </a:r>
                    </a:p>
                  </a:txBody>
                  <a:tcPr marL="66675" marR="66675" marT="47625" marB="47625" anchor="ctr">
                    <a:solidFill>
                      <a:srgbClr val="FFFFFF"/>
                    </a:solidFill>
                  </a:tcPr>
                </a:tc>
                <a:tc>
                  <a:txBody>
                    <a:bodyPr/>
                    <a:lstStyle/>
                    <a:p>
                      <a:r>
                        <a:rPr sz="1275">
                          <a:solidFill>
                            <a:srgbClr val="1F2937"/>
                          </a:solidFill>
                          <a:latin typeface="Arial"/>
                          <a:ea typeface="Arial"/>
                          <a:cs typeface="Arial"/>
                        </a:rPr>
                        <a:t>Multiparty HE</a:t>
                      </a:r>
                    </a:p>
                  </a:txBody>
                  <a:tcPr marL="66675" marR="66675" marT="47625" marB="47625" anchor="ctr">
                    <a:solidFill>
                      <a:srgbClr val="FFFFFF"/>
                    </a:solidFill>
                  </a:tcPr>
                </a:tc>
                <a:tc>
                  <a:txBody>
                    <a:bodyPr/>
                    <a:lstStyle/>
                    <a:p>
                      <a:r>
                        <a:rPr sz="1275">
                          <a:solidFill>
                            <a:srgbClr val="1F2937"/>
                          </a:solidFill>
                          <a:latin typeface="Arial"/>
                          <a:ea typeface="Arial"/>
                          <a:cs typeface="Arial"/>
                        </a:rPr>
                        <a:t>Protected biomedical analytics</a:t>
                      </a:r>
                    </a:p>
                  </a:txBody>
                  <a:tcPr marL="66675" marR="66675" marT="47625" marB="47625" anchor="ctr">
                    <a:solidFill>
                      <a:srgbClr val="FFFFFF"/>
                    </a:solidFill>
                  </a:tcPr>
                </a:tc>
                <a:tc>
                  <a:txBody>
                    <a:bodyPr/>
                    <a:lstStyle/>
                    <a:p>
                      <a:r>
                        <a:rPr sz="1275">
                          <a:solidFill>
                            <a:srgbClr val="1F2937"/>
                          </a:solidFill>
                          <a:latin typeface="Arial"/>
                          <a:ea typeface="Arial"/>
                          <a:cs typeface="Arial"/>
                        </a:rPr>
                        <a:t>Communication and trust assumptions differ</a:t>
                      </a:r>
                    </a:p>
                  </a:txBody>
                  <a:tcPr marL="66675" marR="66675" marT="47625" marB="47625" anchor="ctr">
                    <a:solidFill>
                      <a:srgbClr val="FFFFFF"/>
                    </a:solidFill>
                  </a:tcPr>
                </a:tc>
              </a:tr>
            </a:tbl>
          </a:graphicData>
        </a:graphic>
      </p:graphicFrame>
      <p:sp>
        <p:nvSpPr>
          <p:cNvPr id="222" name="rs1-note">
            <a:extLst xmlns:a="http://schemas.openxmlformats.org/drawingml/2006/main">
              <a:ext uri="{FF2B5EF4-FFF2-40B4-BE49-F238E27FC236}">
                <a16:creationId xmlns:a16="http://schemas.microsoft.com/office/drawing/2014/main" id="{CF9C0F2B-DC4D-44E3-BF88-F17429951DE9}"/>
              </a:ext>
            </a:extLst>
          </p:cNvPr>
          <p:cNvSpPr>
            <a:spLocks xmlns:a="http://schemas.openxmlformats.org/drawingml/2006/main" noGrp="1"/>
          </p:cNvSpPr>
          <p:nvPr/>
        </p:nvSpPr>
        <p:spPr>
          <a:xfrm xmlns:a="http://schemas.openxmlformats.org/drawingml/2006/main">
            <a:off x="1428750" y="5572125"/>
            <a:ext cx="933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Prior work established feasibility, but each stream optimized a different part of the problem.</a:t>
            </a:r>
          </a:p>
        </p:txBody>
      </p:sp>
      <p:sp>
        <p:nvSpPr>
          <p:cNvPr id="226" name="visible-footer-date-9">
            <a:extLst xmlns:a="http://schemas.openxmlformats.org/drawingml/2006/main">
              <a:ext uri="{FF2B5EF4-FFF2-40B4-BE49-F238E27FC236}">
                <a16:creationId xmlns:a16="http://schemas.microsoft.com/office/drawing/2014/main" id="{EC8BF6F9-FF7D-45BB-9A54-4FA81A2ACF4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1">
            <a:extLst xmlns:a="http://schemas.openxmlformats.org/drawingml/2006/main">
              <a:ext uri="{FF2B5EF4-FFF2-40B4-BE49-F238E27FC236}">
                <a16:creationId xmlns:a16="http://schemas.microsoft.com/office/drawing/2014/main" id="{028A2637-CAE4-4BC8-942E-3B3342A75586}"/>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1">
            <a:extLst xmlns:a="http://schemas.openxmlformats.org/drawingml/2006/main">
              <a:ext uri="{FF2B5EF4-FFF2-40B4-BE49-F238E27FC236}">
                <a16:creationId xmlns:a16="http://schemas.microsoft.com/office/drawing/2014/main" id="{7E77261A-536E-44B7-9BCC-4BDEFE972951}"/>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Dual Defense: Enhancing Privacy and Mitigating Poisoning Attacks in Federated Learning [16]</a:t>
            </a:r>
          </a:p>
        </p:txBody>
      </p:sp>
      <p:sp>
        <p:nvSpPr>
          <p:cNvPr id="232" name="paper-summary-1">
            <a:extLst xmlns:a="http://schemas.openxmlformats.org/drawingml/2006/main">
              <a:ext uri="{FF2B5EF4-FFF2-40B4-BE49-F238E27FC236}">
                <a16:creationId xmlns:a16="http://schemas.microsoft.com/office/drawing/2014/main" id="{19A3D53A-677F-49AE-ACF6-213B173FE6BA}"/>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DDFed combines fully homomorphic encryption with a two-phase anomaly detector so that protected updates can be screened before aggregation under both cross-device and cross-silo settings.</a:t>
            </a:r>
          </a:p>
        </p:txBody>
      </p:sp>
      <p:sp>
        <p:nvSpPr>
          <p:cNvPr id="233" name="paper-source-1">
            <a:extLst xmlns:a="http://schemas.openxmlformats.org/drawingml/2006/main">
              <a:ext uri="{FF2B5EF4-FFF2-40B4-BE49-F238E27FC236}">
                <a16:creationId xmlns:a16="http://schemas.microsoft.com/office/drawing/2014/main" id="{D1A5B505-0A97-4F1A-8BB0-56FED1DEF0CF}"/>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Xu et al., NeurIPS 2024 [16].</a:t>
            </a:r>
          </a:p>
        </p:txBody>
      </p:sp>
      <p:sp>
        <p:nvSpPr>
          <p:cNvPr id="234" name="ddfed-strengths-heading">
            <a:extLst xmlns:a="http://schemas.openxmlformats.org/drawingml/2006/main">
              <a:ext uri="{FF2B5EF4-FFF2-40B4-BE49-F238E27FC236}">
                <a16:creationId xmlns:a16="http://schemas.microsoft.com/office/drawing/2014/main" id="{E444180A-DAAF-414F-BB31-6E24807F0BE2}"/>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ddfed-strengths-bullets">
            <a:extLst xmlns:a="http://schemas.openxmlformats.org/drawingml/2006/main">
              <a:ext uri="{FF2B5EF4-FFF2-40B4-BE49-F238E27FC236}">
                <a16:creationId xmlns:a16="http://schemas.microsoft.com/office/drawing/2014/main" id="{8BF2E617-C52C-4931-A79E-3C6D68E00E8C}"/>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Addresses update confidentiality and model poisoning in one framework.</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Uses secure similarity analysis and collaborative anomaly selection.</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Evaluates multiple poisoning attacks across two FL settings.</a:t>
            </a:r>
          </a:p>
        </p:txBody>
      </p:sp>
      <p:sp>
        <p:nvSpPr>
          <p:cNvPr id="236" name="ddfed-limits-heading">
            <a:extLst xmlns:a="http://schemas.openxmlformats.org/drawingml/2006/main">
              <a:ext uri="{FF2B5EF4-FFF2-40B4-BE49-F238E27FC236}">
                <a16:creationId xmlns:a16="http://schemas.microsoft.com/office/drawing/2014/main" id="{01A067EE-5B88-4E40-9AD7-3AE02617BB33}"/>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ddfed-limits-bullets">
            <a:extLst xmlns:a="http://schemas.openxmlformats.org/drawingml/2006/main">
              <a:ext uri="{FF2B5EF4-FFF2-40B4-BE49-F238E27FC236}">
                <a16:creationId xmlns:a16="http://schemas.microsoft.com/office/drawing/2014/main" id="{B42EC1C5-77B9-4D6C-ABEC-C66DD3E9BCCF}"/>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provide a formal record-level differential-privacy guarantee.</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Its FHE and anomaly pipeline differs from a sum-only CKKS workflow.</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ciphertext-aligned adaptive compression or external audit layer.</a:t>
            </a:r>
          </a:p>
        </p:txBody>
      </p:sp>
      <p:sp>
        <p:nvSpPr>
          <p:cNvPr id="238" name="ddfed-flow-title">
            <a:extLst xmlns:a="http://schemas.openxmlformats.org/drawingml/2006/main">
              <a:ext uri="{FF2B5EF4-FFF2-40B4-BE49-F238E27FC236}">
                <a16:creationId xmlns:a16="http://schemas.microsoft.com/office/drawing/2014/main" id="{8CB8BE2E-0ED9-45FA-B725-4AF686E5772A}"/>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DDFed conceptual workflow</a:t>
            </a:r>
          </a:p>
        </p:txBody>
      </p:sp>
      <p:sp>
        <p:nvSpPr>
          <p:cNvPr id="239" name="ddfed-box-1">
            <a:extLst xmlns:a="http://schemas.openxmlformats.org/drawingml/2006/main">
              <a:ext uri="{FF2B5EF4-FFF2-40B4-BE49-F238E27FC236}">
                <a16:creationId xmlns:a16="http://schemas.microsoft.com/office/drawing/2014/main" id="{6963A159-2939-4A1B-90B6-627A21FBD7E2}"/>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Hospitals train locally</a:t>
            </a:r>
          </a:p>
        </p:txBody>
      </p:sp>
      <p:sp>
        <p:nvSpPr>
          <p:cNvPr id="240" name="ddfed-arrow-1">
            <a:extLst xmlns:a="http://schemas.openxmlformats.org/drawingml/2006/main">
              <a:ext uri="{FF2B5EF4-FFF2-40B4-BE49-F238E27FC236}">
                <a16:creationId xmlns:a16="http://schemas.microsoft.com/office/drawing/2014/main" id="{4C0890BD-7D76-4D38-B647-32B578D171D0}"/>
              </a:ext>
            </a:extLst>
          </p:cNvPr>
          <p:cNvSpPr>
            <a:spLocks xmlns:a="http://schemas.openxmlformats.org/drawingml/2006/main" noGrp="1"/>
          </p:cNvSpPr>
          <p:nvPr/>
        </p:nvSpPr>
        <p:spPr>
          <a:xfrm xmlns:a="http://schemas.openxmlformats.org/drawingml/2006/main">
            <a:off x="9096375" y="26670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1" name="ddfed-box-2">
            <a:extLst xmlns:a="http://schemas.openxmlformats.org/drawingml/2006/main">
              <a:ext uri="{FF2B5EF4-FFF2-40B4-BE49-F238E27FC236}">
                <a16:creationId xmlns:a16="http://schemas.microsoft.com/office/drawing/2014/main" id="{C4AFBC31-DAE7-4E40-85D7-AACF96A0ACC2}"/>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FHE-encrypted updates</a:t>
            </a:r>
          </a:p>
        </p:txBody>
      </p:sp>
      <p:sp>
        <p:nvSpPr>
          <p:cNvPr id="242" name="ddfed-arrow-2">
            <a:extLst xmlns:a="http://schemas.openxmlformats.org/drawingml/2006/main">
              <a:ext uri="{FF2B5EF4-FFF2-40B4-BE49-F238E27FC236}">
                <a16:creationId xmlns:a16="http://schemas.microsoft.com/office/drawing/2014/main" id="{6F51285A-95D1-4F0F-98CA-779F521FA531}"/>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3" name="ddfed-box-3">
            <a:extLst xmlns:a="http://schemas.openxmlformats.org/drawingml/2006/main">
              <a:ext uri="{FF2B5EF4-FFF2-40B4-BE49-F238E27FC236}">
                <a16:creationId xmlns:a16="http://schemas.microsoft.com/office/drawing/2014/main" id="{449AEF2C-F6D7-4466-9BC2-451E0B3A47B4}"/>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Secure similarity + anomaly selection</a:t>
            </a:r>
          </a:p>
        </p:txBody>
      </p:sp>
      <p:sp>
        <p:nvSpPr>
          <p:cNvPr id="244" name="ddfed-arrow-3">
            <a:extLst xmlns:a="http://schemas.openxmlformats.org/drawingml/2006/main">
              <a:ext uri="{FF2B5EF4-FFF2-40B4-BE49-F238E27FC236}">
                <a16:creationId xmlns:a16="http://schemas.microsoft.com/office/drawing/2014/main" id="{A4D045CB-845D-498B-98E0-16B67FCEE9B7}"/>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5" name="ddfed-box-4">
            <a:extLst xmlns:a="http://schemas.openxmlformats.org/drawingml/2006/main">
              <a:ext uri="{FF2B5EF4-FFF2-40B4-BE49-F238E27FC236}">
                <a16:creationId xmlns:a16="http://schemas.microsoft.com/office/drawing/2014/main" id="{093C5A3E-4826-4DE4-85FA-FC1CDCE16914}"/>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Accepted global update</a:t>
            </a:r>
          </a:p>
        </p:txBody>
      </p:sp>
      <p:sp>
        <p:nvSpPr>
          <p:cNvPr id="246" name="ddfed-diagram-caption">
            <a:extLst xmlns:a="http://schemas.openxmlformats.org/drawingml/2006/main">
              <a:ext uri="{FF2B5EF4-FFF2-40B4-BE49-F238E27FC236}">
                <a16:creationId xmlns:a16="http://schemas.microsoft.com/office/drawing/2014/main" id="{939B91A4-0599-47E4-8778-2AA81A2BFC90}"/>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837"/>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Privacy and anomaly detection are co-designed [16].</a:t>
            </a:r>
          </a:p>
        </p:txBody>
      </p:sp>
    </p:spTree>
    <p:extLst>
      <p:ext uri="{BB962C8B-B14F-4D97-AF65-F5344CB8AC3E}">
        <p14:creationId xmlns:p14="http://schemas.microsoft.com/office/powerpoint/2010/main" val="97028649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359cb79291b149ea"/>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98bb18880cea4595"/>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4" name="rule-45-665">
            <a:extLst xmlns:a="http://schemas.openxmlformats.org/drawingml/2006/main">
              <a:ext uri="{FF2B5EF4-FFF2-40B4-BE49-F238E27FC236}">
                <a16:creationId xmlns:a16="http://schemas.microsoft.com/office/drawing/2014/main" id="{27D44CFB-B734-48FA-99EF-282E3116AB71}"/>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10">
            <a:extLst xmlns:a="http://schemas.openxmlformats.org/drawingml/2006/main">
              <a:ext uri="{FF2B5EF4-FFF2-40B4-BE49-F238E27FC236}">
                <a16:creationId xmlns:a16="http://schemas.microsoft.com/office/drawing/2014/main" id="{41926EB2-1F02-4343-97A9-E20CB53A474C}"/>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r>
              <a:rPr sz="900" b="0" i="0">
                <a:solidFill>
                  <a:srgbClr val="17365D"/>
                </a:solidFill>
                <a:latin typeface="Arial"/>
                <a:ea typeface="Arial"/>
                <a:cs typeface="Arial"/>
              </a:rPr>
              <a:t/>
            </a:r>
          </a:p>
        </p:txBody>
      </p:sp>
      <p:sp>
        <p:nvSpPr>
          <p:cNvPr id="6" name="chrome-footer-10">
            <a:extLst xmlns:a="http://schemas.openxmlformats.org/drawingml/2006/main">
              <a:ext uri="{FF2B5EF4-FFF2-40B4-BE49-F238E27FC236}">
                <a16:creationId xmlns:a16="http://schemas.microsoft.com/office/drawing/2014/main" id="{0BF3CB06-8452-4282-91A8-E926925581F3}"/>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10">
            <a:extLst xmlns:a="http://schemas.openxmlformats.org/drawingml/2006/main">
              <a:ext uri="{FF2B5EF4-FFF2-40B4-BE49-F238E27FC236}">
                <a16:creationId xmlns:a16="http://schemas.microsoft.com/office/drawing/2014/main" id="{5AF2CF82-A8D8-4B89-A2FF-9F3CFF9D4BD8}"/>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12</a:t>
            </a:r>
          </a:p>
        </p:txBody>
      </p:sp>
      <p:sp>
        <p:nvSpPr>
          <p:cNvPr id="8" name="table-caption-rs2">
            <a:extLst xmlns:a="http://schemas.openxmlformats.org/drawingml/2006/main">
              <a:ext uri="{FF2B5EF4-FFF2-40B4-BE49-F238E27FC236}">
                <a16:creationId xmlns:a16="http://schemas.microsoft.com/office/drawing/2014/main" id="{B183B579-7D91-4042-B92A-4DE6C7672D84}"/>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 Communication and robustness methods</a:t>
            </a:r>
          </a:p>
        </p:txBody>
      </p:sp>
      <p:graphicFrame>
        <p:nvGraphicFramePr>
          <p:cNvPr id="48" name=""/>
          <p:cNvGraphicFramePr/>
          <p:nvPr/>
        </p:nvGraphicFramePr>
        <p:xfrm>
          <a:off xmlns:a="http://schemas.openxmlformats.org/drawingml/2006/main" x="523875" y="1619250"/>
          <a:ext xmlns:a="http://schemas.openxmlformats.org/drawingml/2006/main" cx="11144250" cy="3762375"/>
        </p:xfrm>
        <a:graphic xmlns:a="http://schemas.openxmlformats.org/drawingml/2006/main">
          <a:graphicData uri="http://schemas.openxmlformats.org/drawingml/2006/table">
            <a:tbl>
              <a:tblPr firstRow="1" bandRow="1"/>
              <a:tblGrid>
                <a:gridCol w="1762125"/>
                <a:gridCol w="1714500"/>
                <a:gridCol w="1952625"/>
                <a:gridCol w="2524125"/>
                <a:gridCol w="3190875"/>
              </a:tblGrid>
              <a:tr h="752475">
                <a:tc>
                  <a:txBody>
                    <a:bodyPr/>
                    <a:lstStyle/>
                    <a:p>
                      <a:r>
                        <a:rPr sz="1275" b="1">
                          <a:solidFill>
                            <a:srgbClr val="FFFFFF"/>
                          </a:solidFill>
                          <a:latin typeface="Arial"/>
                          <a:ea typeface="Arial"/>
                          <a:cs typeface="Arial"/>
                        </a:rPr>
                        <a:t>Approach</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Privacy</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Communication</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Poisoning response</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Main assumption</a:t>
                      </a:r>
                    </a:p>
                  </a:txBody>
                  <a:tcPr marL="66675" marR="66675" marT="47625" marB="47625" anchor="ctr">
                    <a:solidFill>
                      <a:srgbClr val="17365D"/>
                    </a:solidFill>
                  </a:tcPr>
                </a:tc>
              </a:tr>
              <a:tr h="752475">
                <a:tc>
                  <a:txBody>
                    <a:bodyPr/>
                    <a:lstStyle/>
                    <a:p>
                      <a:r>
                        <a:rPr sz="1200">
                          <a:solidFill>
                            <a:srgbClr val="1F2937"/>
                          </a:solidFill>
                          <a:latin typeface="Arial"/>
                          <a:ea typeface="Arial"/>
                          <a:cs typeface="Arial"/>
                        </a:rPr>
                        <a:t>SoteriaFL [13]</a:t>
                      </a:r>
                    </a:p>
                  </a:txBody>
                  <a:tcPr marL="66675" marR="66675" marT="47625" marB="47625" anchor="ctr">
                    <a:solidFill>
                      <a:srgbClr val="FFFFFF"/>
                    </a:solidFill>
                  </a:tcPr>
                </a:tc>
                <a:tc>
                  <a:txBody>
                    <a:bodyPr/>
                    <a:lstStyle/>
                    <a:p>
                      <a:r>
                        <a:rPr sz="1200">
                          <a:solidFill>
                            <a:srgbClr val="1F2937"/>
                          </a:solidFill>
                          <a:latin typeface="Arial"/>
                          <a:ea typeface="Arial"/>
                          <a:cs typeface="Arial"/>
                        </a:rPr>
                        <a:t>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Logical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Dense encryption can remove wire savings</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Fed-EF [14]</a:t>
                      </a:r>
                    </a:p>
                  </a:txBody>
                  <a:tcPr marL="66675" marR="66675" marT="47625" marB="47625" anchor="ctr">
                    <a:solidFill>
                      <a:srgbClr val="FFFFFF"/>
                    </a:solidFill>
                  </a:tcPr>
                </a:tc>
                <a:tc>
                  <a:txBody>
                    <a:bodyPr/>
                    <a:lstStyle/>
                    <a:p>
                      <a:r>
                        <a:rPr sz="1200">
                          <a:solidFill>
                            <a:srgbClr val="1F2937"/>
                          </a:solidFill>
                          <a:latin typeface="Arial"/>
                          <a:ea typeface="Arial"/>
                          <a:cs typeface="Arial"/>
                        </a:rPr>
                        <a:t>No 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Error-feedback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Individual updates remain visible</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FLTrust [15]</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Trust-weighted aggregation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Clean representative root data</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updates</a:t>
                      </a:r>
                    </a:p>
                  </a:txBody>
                  <a:tcPr marL="66675" marR="66675" marT="47625" marB="47625" anchor="ctr">
                    <a:solidFill>
                      <a:srgbClr val="FFFFFF"/>
                    </a:solidFill>
                  </a:tcPr>
                </a:tc>
                <a:tc>
                  <a:txBody>
                    <a:bodyPr/>
                    <a:lstStyle/>
                    <a:p>
                      <a:r>
                        <a:rPr sz="1200">
                          <a:solidFill>
                            <a:srgbClr val="1F2937"/>
                          </a:solidFill>
                          <a:latin typeface="Arial"/>
                          <a:ea typeface="Arial"/>
                          <a:cs typeface="Arial"/>
                        </a:rPr>
                        <a:t>Secondary</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anomaly detection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FHE and anomaly model</a:t>
                      </a:r>
                    </a:p>
                  </a:txBody>
                  <a:tcPr marL="66675" marR="66675" marT="47625" marB="47625" anchor="ctr">
                    <a:solidFill>
                      <a:srgbClr val="FFFFFF"/>
                    </a:solidFill>
                  </a:tcPr>
                </a:tc>
              </a:tr>
            </a:tbl>
          </a:graphicData>
        </a:graphic>
      </p:graphicFrame>
      <p:sp>
        <p:nvSpPr>
          <p:cNvPr id="10" name="rs2-note">
            <a:extLst xmlns:a="http://schemas.openxmlformats.org/drawingml/2006/main">
              <a:ext uri="{FF2B5EF4-FFF2-40B4-BE49-F238E27FC236}">
                <a16:creationId xmlns:a16="http://schemas.microsoft.com/office/drawing/2014/main" id="{D5A34EEF-6719-4EBF-BAF3-B1EEA9E8F519}"/>
              </a:ext>
            </a:extLst>
          </p:cNvPr>
          <p:cNvSpPr>
            <a:spLocks xmlns:a="http://schemas.openxmlformats.org/drawingml/2006/main" noGrp="1"/>
          </p:cNvSpPr>
          <p:nvPr/>
        </p:nvSpPr>
        <p:spPr>
          <a:xfrm xmlns:a="http://schemas.openxmlformats.org/drawingml/2006/main">
            <a:off x="1285875" y="5572125"/>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648"/>
          </a:bodyPr>
          <a:lstStyle xmlns:a="http://schemas.openxmlformats.org/drawingml/2006/main"/>
          <a:p xmlns:a="http://schemas.openxmlformats.org/drawingml/2006/main">
            <a:pPr algn="ctr">
              <a:buNone/>
              <a:defRPr sz="1650" b="1" i="0">
                <a:solidFill>
                  <a:srgbClr val="17365D"/>
                </a:solidFill>
                <a:latin typeface="Arial"/>
                <a:ea typeface="Arial"/>
                <a:cs typeface="Arial"/>
              </a:defRPr>
            </a:pPr>
            <a:r>
              <a:rPr sz="1650" b="1" i="0">
                <a:solidFill>
                  <a:srgbClr val="17365D"/>
                </a:solidFill>
                <a:latin typeface="Arial"/>
                <a:ea typeface="Arial"/>
                <a:cs typeface="Arial"/>
              </a:rPr>
              <a:t>Plaintext robust aggregation often conflicts with the update hiding provided by homomorphic aggregation.</a:t>
            </a:r>
          </a:p>
        </p:txBody>
      </p:sp>
      <p:sp>
        <p:nvSpPr>
          <p:cNvPr id="14" name="visible-footer-date-10">
            <a:extLst xmlns:a="http://schemas.openxmlformats.org/drawingml/2006/main">
              <a:ext uri="{FF2B5EF4-FFF2-40B4-BE49-F238E27FC236}">
                <a16:creationId xmlns:a16="http://schemas.microsoft.com/office/drawing/2014/main" id="{21FF7D5C-3264-4359-8EC6-14D1C8ECC20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18" name="related-study-title-cover-2">
            <a:extLst xmlns:a="http://schemas.openxmlformats.org/drawingml/2006/main">
              <a:ext uri="{FF2B5EF4-FFF2-40B4-BE49-F238E27FC236}">
                <a16:creationId xmlns:a16="http://schemas.microsoft.com/office/drawing/2014/main" id="{1ADE9605-CB6F-4717-B1C7-DA8274CFBD20}"/>
              </a:ext>
            </a:extLst>
          </p:cNvPr>
          <p:cNvSpPr>
            <a:spLocks xmlns:a="http://schemas.openxmlformats.org/drawingml/2006/main" noGrp="1"/>
          </p:cNvSpPr>
          <p:nvPr/>
        </p:nvSpPr>
        <p:spPr>
          <a:xfrm xmlns:a="http://schemas.openxmlformats.org/drawingml/2006/main">
            <a:off x="1524000" y="0"/>
            <a:ext cx="8382000" cy="10668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9" name="related-study-top-rule-2">
            <a:extLst xmlns:a="http://schemas.openxmlformats.org/drawingml/2006/main">
              <a:ext uri="{FF2B5EF4-FFF2-40B4-BE49-F238E27FC236}">
                <a16:creationId xmlns:a16="http://schemas.microsoft.com/office/drawing/2014/main" id="{E07068EC-4D22-49B3-962C-9317FC4B4B24}"/>
              </a:ext>
            </a:extLst>
          </p:cNvPr>
          <p:cNvSpPr>
            <a:spLocks xmlns:a="http://schemas.openxmlformats.org/drawingml/2006/main" noGrp="1"/>
          </p:cNvSpPr>
          <p:nvPr/>
        </p:nvSpPr>
        <p:spPr>
          <a:xfrm xmlns:a="http://schemas.openxmlformats.org/drawingml/2006/main">
            <a:off x="285750" y="295275"/>
            <a:ext cx="11811000" cy="9525"/>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20" name="related-study-title-2">
            <a:extLst xmlns:a="http://schemas.openxmlformats.org/drawingml/2006/main">
              <a:ext uri="{FF2B5EF4-FFF2-40B4-BE49-F238E27FC236}">
                <a16:creationId xmlns:a16="http://schemas.microsoft.com/office/drawing/2014/main" id="{6EBA2491-6518-4087-ABCA-04604C76317A}"/>
              </a:ext>
            </a:extLst>
          </p:cNvPr>
          <p:cNvSpPr>
            <a:spLocks xmlns:a="http://schemas.openxmlformats.org/drawingml/2006/main" noGrp="1"/>
          </p:cNvSpPr>
          <p:nvPr/>
        </p:nvSpPr>
        <p:spPr>
          <a:xfrm xmlns:a="http://schemas.openxmlformats.org/drawingml/2006/main">
            <a:off x="2000250" y="342900"/>
            <a:ext cx="7810500" cy="6286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3300" b="1">
                <a:solidFill>
                  <a:srgbClr val="062B6F"/>
                </a:solidFill>
                <a:latin typeface="Arial"/>
                <a:ea typeface="Arial"/>
                <a:cs typeface="Arial"/>
              </a:defRPr>
            </a:pPr>
            <a:r>
              <a:rPr sz="3300" b="1">
                <a:solidFill>
                  <a:srgbClr val="062B6F"/>
                </a:solidFill>
                <a:latin typeface="Arial"/>
                <a:ea typeface="Arial"/>
                <a:cs typeface="Arial"/>
              </a:rPr>
              <a:t>Related Studies (2/3)</a:t>
            </a:r>
          </a:p>
        </p:txBody>
      </p:sp>
      <p:sp>
        <p:nvSpPr>
          <p:cNvPr id="21" name="related-study-cover-2">
            <a:extLst xmlns:a="http://schemas.openxmlformats.org/drawingml/2006/main">
              <a:ext uri="{FF2B5EF4-FFF2-40B4-BE49-F238E27FC236}">
                <a16:creationId xmlns:a16="http://schemas.microsoft.com/office/drawing/2014/main" id="{9A41AA70-677B-46BE-BBAD-CBA4B067A8D9}"/>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2" name="paper-title-2">
            <a:extLst xmlns:a="http://schemas.openxmlformats.org/drawingml/2006/main">
              <a:ext uri="{FF2B5EF4-FFF2-40B4-BE49-F238E27FC236}">
                <a16:creationId xmlns:a16="http://schemas.microsoft.com/office/drawing/2014/main" id="{8A306287-C155-419A-850A-F6841720E23F}"/>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598"/>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DP-BREM: Differentially-Private and Byzantine-Robust Federated Learning with Client Momentum [17]</a:t>
            </a:r>
          </a:p>
        </p:txBody>
      </p:sp>
      <p:sp>
        <p:nvSpPr>
          <p:cNvPr id="23" name="paper-summary-2">
            <a:extLst xmlns:a="http://schemas.openxmlformats.org/drawingml/2006/main">
              <a:ext uri="{FF2B5EF4-FFF2-40B4-BE49-F238E27FC236}">
                <a16:creationId xmlns:a16="http://schemas.microsoft.com/office/drawing/2014/main" id="{9504971E-646A-48CF-BE67-BA1AC23CA447}"/>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734"/>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DP-BREM learns from client history: momentum reduces honest-update variance and exposes small malicious perturbations. DP-BREM+ removes the trusted-server assumption through secure aggregation and jointly generated noise.</a:t>
            </a:r>
          </a:p>
        </p:txBody>
      </p:sp>
      <p:sp>
        <p:nvSpPr>
          <p:cNvPr id="24" name="paper-source-2">
            <a:extLst xmlns:a="http://schemas.openxmlformats.org/drawingml/2006/main">
              <a:ext uri="{FF2B5EF4-FFF2-40B4-BE49-F238E27FC236}">
                <a16:creationId xmlns:a16="http://schemas.microsoft.com/office/drawing/2014/main" id="{9C9690AD-BFC7-42AE-8171-3AB172CB9F5B}"/>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Gu, Li, and Xiong, USENIX Security 2025 [17].</a:t>
            </a:r>
          </a:p>
        </p:txBody>
      </p:sp>
      <p:sp>
        <p:nvSpPr>
          <p:cNvPr id="25" name="dpbrem-strengths-heading">
            <a:extLst xmlns:a="http://schemas.openxmlformats.org/drawingml/2006/main">
              <a:ext uri="{FF2B5EF4-FFF2-40B4-BE49-F238E27FC236}">
                <a16:creationId xmlns:a16="http://schemas.microsoft.com/office/drawing/2014/main" id="{3226CF28-E297-4854-9F27-F0ADFC6CE885}"/>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6" name="dpbrem-strengths-bullets">
            <a:extLst xmlns:a="http://schemas.openxmlformats.org/drawingml/2006/main">
              <a:ext uri="{FF2B5EF4-FFF2-40B4-BE49-F238E27FC236}">
                <a16:creationId xmlns:a16="http://schemas.microsoft.com/office/drawing/2014/main" id="{2BEC5F65-9039-4C51-8D75-DCE5257BC6DA}"/>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Combines formal differential privacy with Byzantine robustness.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Uses longitudinal client momentum rather than one-round evidence only.</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DP-BREM+ protects updates and distributes DP-noise generation.</a:t>
            </a:r>
          </a:p>
        </p:txBody>
      </p:sp>
      <p:sp>
        <p:nvSpPr>
          <p:cNvPr id="27" name="dpbrem-limits-heading">
            <a:extLst xmlns:a="http://schemas.openxmlformats.org/drawingml/2006/main">
              <a:ext uri="{FF2B5EF4-FFF2-40B4-BE49-F238E27FC236}">
                <a16:creationId xmlns:a16="http://schemas.microsoft.com/office/drawing/2014/main" id="{7F5ADE2B-7DAA-40E7-A26B-881AE9713F3D}"/>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8" name="dpbrem-limits-bullets">
            <a:extLst xmlns:a="http://schemas.openxmlformats.org/drawingml/2006/main">
              <a:ext uri="{FF2B5EF4-FFF2-40B4-BE49-F238E27FC236}">
                <a16:creationId xmlns:a16="http://schemas.microsoft.com/office/drawing/2014/main" id="{D70AFC31-2F3B-4376-9C4B-77CADBBA7201}"/>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cryptography-aware method for reducing encrypted wire payload.</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Robustness depends on client history and the stated Byzantine model.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clinical cohort, independent verifier, or external audit ledger.</a:t>
            </a:r>
          </a:p>
        </p:txBody>
      </p:sp>
      <p:sp>
        <p:nvSpPr>
          <p:cNvPr id="29" name="dpbrem-flow-title">
            <a:extLst xmlns:a="http://schemas.openxmlformats.org/drawingml/2006/main">
              <a:ext uri="{FF2B5EF4-FFF2-40B4-BE49-F238E27FC236}">
                <a16:creationId xmlns:a16="http://schemas.microsoft.com/office/drawing/2014/main" id="{B6A98EC0-9903-4A7D-A1D4-EE3552F6E2F8}"/>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DP-BREM+ conceptual workflow</a:t>
            </a:r>
          </a:p>
        </p:txBody>
      </p:sp>
      <p:sp>
        <p:nvSpPr>
          <p:cNvPr id="30" name="dpbrem-box-1">
            <a:extLst xmlns:a="http://schemas.openxmlformats.org/drawingml/2006/main">
              <a:ext uri="{FF2B5EF4-FFF2-40B4-BE49-F238E27FC236}">
                <a16:creationId xmlns:a16="http://schemas.microsoft.com/office/drawing/2014/main" id="{85AD0CC3-6582-47EC-AFD5-193500F7E74A}"/>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Current client update</a:t>
            </a:r>
          </a:p>
        </p:txBody>
      </p:sp>
      <p:sp>
        <p:nvSpPr>
          <p:cNvPr id="31" name="dpbrem-arrow-1">
            <a:extLst xmlns:a="http://schemas.openxmlformats.org/drawingml/2006/main">
              <a:ext uri="{FF2B5EF4-FFF2-40B4-BE49-F238E27FC236}">
                <a16:creationId xmlns:a16="http://schemas.microsoft.com/office/drawing/2014/main" id="{FAC0B191-6093-4CC0-B157-6C9D9FBD46AF}"/>
              </a:ext>
            </a:extLst>
          </p:cNvPr>
          <p:cNvSpPr>
            <a:spLocks xmlns:a="http://schemas.openxmlformats.org/drawingml/2006/main" noGrp="1"/>
          </p:cNvSpPr>
          <p:nvPr/>
        </p:nvSpPr>
        <p:spPr>
          <a:xfrm xmlns:a="http://schemas.openxmlformats.org/drawingml/2006/main">
            <a:off x="8858250" y="266700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lgn="ctr">
              <a:buNone/>
              <a:defRPr sz="1425" b="1">
                <a:solidFill>
                  <a:srgbClr val="008A46"/>
                </a:solidFill>
                <a:latin typeface="Arial"/>
                <a:ea typeface="Arial"/>
                <a:cs typeface="Arial"/>
              </a:defRPr>
            </a:pPr>
            <a:r>
              <a:rPr sz="1425" b="1">
                <a:solidFill>
                  <a:srgbClr val="008A46"/>
                </a:solidFill>
                <a:latin typeface="Arial"/>
                <a:ea typeface="Arial"/>
                <a:cs typeface="Arial"/>
              </a:rPr>
              <a:t>+ history ↓</a:t>
            </a:r>
          </a:p>
        </p:txBody>
      </p:sp>
      <p:sp>
        <p:nvSpPr>
          <p:cNvPr id="32" name="dpbrem-box-2">
            <a:extLst xmlns:a="http://schemas.openxmlformats.org/drawingml/2006/main">
              <a:ext uri="{FF2B5EF4-FFF2-40B4-BE49-F238E27FC236}">
                <a16:creationId xmlns:a16="http://schemas.microsoft.com/office/drawing/2014/main" id="{489914B5-E8C6-46A0-894A-1B6B972621A9}"/>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D97706"/>
                </a:solidFill>
                <a:latin typeface="Arial"/>
                <a:ea typeface="Arial"/>
                <a:cs typeface="Arial"/>
              </a:defRPr>
            </a:pPr>
            <a:r>
              <a:rPr sz="1275" b="1">
                <a:solidFill>
                  <a:srgbClr val="D97706"/>
                </a:solidFill>
                <a:latin typeface="Arial"/>
                <a:ea typeface="Arial"/>
                <a:cs typeface="Arial"/>
              </a:rPr>
              <a:t>Client momentum</a:t>
            </a:r>
          </a:p>
        </p:txBody>
      </p:sp>
      <p:sp>
        <p:nvSpPr>
          <p:cNvPr id="33" name="dpbrem-arrow-2">
            <a:extLst xmlns:a="http://schemas.openxmlformats.org/drawingml/2006/main">
              <a:ext uri="{FF2B5EF4-FFF2-40B4-BE49-F238E27FC236}">
                <a16:creationId xmlns:a16="http://schemas.microsoft.com/office/drawing/2014/main" id="{DBFF3B59-114D-4424-855D-3E8FC3254FA2}"/>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4" name="dpbrem-box-3">
            <a:extLst xmlns:a="http://schemas.openxmlformats.org/drawingml/2006/main">
              <a:ext uri="{FF2B5EF4-FFF2-40B4-BE49-F238E27FC236}">
                <a16:creationId xmlns:a16="http://schemas.microsoft.com/office/drawing/2014/main" id="{76EFEE9B-8AD6-49EB-A7CD-54177B73592C}"/>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a:solidFill>
                  <a:srgbClr val="008A46"/>
                </a:solidFill>
                <a:latin typeface="Arial"/>
                <a:ea typeface="Arial"/>
                <a:cs typeface="Arial"/>
              </a:defRPr>
            </a:pPr>
            <a:r>
              <a:rPr sz="1200" b="1">
                <a:solidFill>
                  <a:srgbClr val="008A46"/>
                </a:solidFill>
                <a:latin typeface="Arial"/>
                <a:ea typeface="Arial"/>
                <a:cs typeface="Arial"/>
              </a:rPr>
              <a:t>Secure aggregation + jointly generated DP noise</a:t>
            </a:r>
          </a:p>
        </p:txBody>
      </p:sp>
      <p:sp>
        <p:nvSpPr>
          <p:cNvPr id="35" name="dpbrem-arrow-3">
            <a:extLst xmlns:a="http://schemas.openxmlformats.org/drawingml/2006/main">
              <a:ext uri="{FF2B5EF4-FFF2-40B4-BE49-F238E27FC236}">
                <a16:creationId xmlns:a16="http://schemas.microsoft.com/office/drawing/2014/main" id="{57140725-AD0A-4D8B-9323-4116EDEABB38}"/>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6" name="dpbrem-box-4">
            <a:extLst xmlns:a="http://schemas.openxmlformats.org/drawingml/2006/main">
              <a:ext uri="{FF2B5EF4-FFF2-40B4-BE49-F238E27FC236}">
                <a16:creationId xmlns:a16="http://schemas.microsoft.com/office/drawing/2014/main" id="{9D79AF4E-D1A8-429E-8E4C-A777FAA393AA}"/>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Private, robust global model</a:t>
            </a:r>
          </a:p>
        </p:txBody>
      </p:sp>
      <p:sp>
        <p:nvSpPr>
          <p:cNvPr id="37" name="dpbrem-diagram-caption">
            <a:extLst xmlns:a="http://schemas.openxmlformats.org/drawingml/2006/main">
              <a:ext uri="{FF2B5EF4-FFF2-40B4-BE49-F238E27FC236}">
                <a16:creationId xmlns:a16="http://schemas.microsoft.com/office/drawing/2014/main" id="{B65D6B49-D9FB-4BB7-8903-DA30D5465A73}"/>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History, privacy, and robustness are linked [17].</a:t>
            </a:r>
          </a:p>
        </p:txBody>
      </p:sp>
    </p:spTree>
    <p:extLst>
      <p:ext uri="{BB962C8B-B14F-4D97-AF65-F5344CB8AC3E}">
        <p14:creationId xmlns:p14="http://schemas.microsoft.com/office/powerpoint/2010/main" val="97028649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(3/3)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13</a:t>
            </a:r>
            <a:endParaRPr sz="2800"/>
          </a:p>
        </p:txBody>
      </p:sp>
      <p:pic>
        <p:nvPicPr>
          <p:cNvPr id="25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55ecd66b1214dc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0135ea4077746e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56" name=""/>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3">
            <a:extLst xmlns:a="http://schemas.openxmlformats.org/drawingml/2006/main">
              <a:ext uri="{FF2B5EF4-FFF2-40B4-BE49-F238E27FC236}">
                <a16:creationId xmlns:a16="http://schemas.microsoft.com/office/drawing/2014/main" id="{D497C4B0-9EA7-4670-A3B0-930037AA052F}"/>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3">
            <a:extLst xmlns:a="http://schemas.openxmlformats.org/drawingml/2006/main">
              <a:ext uri="{FF2B5EF4-FFF2-40B4-BE49-F238E27FC236}">
                <a16:creationId xmlns:a16="http://schemas.microsoft.com/office/drawing/2014/main" id="{5ED14AEF-C3C5-4B85-8F43-F00DDB2BF860}"/>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PREAMBLE: Private and Efficient Aggregation via Block Sparse Vectors [18]</a:t>
            </a:r>
          </a:p>
        </p:txBody>
      </p:sp>
      <p:sp>
        <p:nvSpPr>
          <p:cNvPr id="232" name="paper-summary-3">
            <a:extLst xmlns:a="http://schemas.openxmlformats.org/drawingml/2006/main">
              <a:ext uri="{FF2B5EF4-FFF2-40B4-BE49-F238E27FC236}">
                <a16:creationId xmlns:a16="http://schemas.microsoft.com/office/drawing/2014/main" id="{63420EE7-E716-40DE-912F-1D4814E18315}"/>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PREAMBLE co-designs a two-server private-aggregation protocol with block-sparse vectors, distributed point functions, sampling, and privacy amplification to reduce high-dimensional communication.</a:t>
            </a:r>
          </a:p>
        </p:txBody>
      </p:sp>
      <p:sp>
        <p:nvSpPr>
          <p:cNvPr id="233" name="paper-source-3">
            <a:extLst xmlns:a="http://schemas.openxmlformats.org/drawingml/2006/main">
              <a:ext uri="{FF2B5EF4-FFF2-40B4-BE49-F238E27FC236}">
                <a16:creationId xmlns:a16="http://schemas.microsoft.com/office/drawing/2014/main" id="{6ECDB239-EFD8-48A5-8284-10E99DFADF9C}"/>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Asi et al., NeurIPS 2025 [18].</a:t>
            </a:r>
          </a:p>
        </p:txBody>
      </p:sp>
      <p:sp>
        <p:nvSpPr>
          <p:cNvPr id="234" name="preamble-strengths-heading">
            <a:extLst xmlns:a="http://schemas.openxmlformats.org/drawingml/2006/main">
              <a:ext uri="{FF2B5EF4-FFF2-40B4-BE49-F238E27FC236}">
                <a16:creationId xmlns:a16="http://schemas.microsoft.com/office/drawing/2014/main" id="{4A5652FD-A1B3-4E80-8D03-0F9199010238}"/>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preamble-strengths-bullets">
            <a:extLst xmlns:a="http://schemas.openxmlformats.org/drawingml/2006/main">
              <a:ext uri="{FF2B5EF4-FFF2-40B4-BE49-F238E27FC236}">
                <a16:creationId xmlns:a16="http://schemas.microsoft.com/office/drawing/2014/main" id="{F391703E-3566-48C2-927F-F2AEA5369EA1}"/>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Aligns the sparse representation with its protected transport protocol.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Reduces communication and computation for block-sparse vectors.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Provides formal privacy–utility analysis with low added noise overhead.</a:t>
            </a:r>
          </a:p>
        </p:txBody>
      </p:sp>
      <p:sp>
        <p:nvSpPr>
          <p:cNvPr id="236" name="preamble-limits-heading">
            <a:extLst xmlns:a="http://schemas.openxmlformats.org/drawingml/2006/main">
              <a:ext uri="{FF2B5EF4-FFF2-40B4-BE49-F238E27FC236}">
                <a16:creationId xmlns:a16="http://schemas.microsoft.com/office/drawing/2014/main" id="{4B8A7FFE-404D-41FC-99EE-43E4C50CAC78}"/>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preamble-limits-bullets">
            <a:extLst xmlns:a="http://schemas.openxmlformats.org/drawingml/2006/main">
              <a:ext uri="{FF2B5EF4-FFF2-40B4-BE49-F238E27FC236}">
                <a16:creationId xmlns:a16="http://schemas.microsoft.com/office/drawing/2014/main" id="{7243B988-B459-4C0B-80B6-9984718F584B}"/>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Requires two non-colluding aggregation servers.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Targets vector aggregation rather than iterative CKKS clinical FL.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evaluate poisoning, release governance, or healthcare utility.</a:t>
            </a:r>
          </a:p>
        </p:txBody>
      </p:sp>
      <p:sp>
        <p:nvSpPr>
          <p:cNvPr id="238" name="preamble-flow-title">
            <a:extLst xmlns:a="http://schemas.openxmlformats.org/drawingml/2006/main">
              <a:ext uri="{FF2B5EF4-FFF2-40B4-BE49-F238E27FC236}">
                <a16:creationId xmlns:a16="http://schemas.microsoft.com/office/drawing/2014/main" id="{D73159F9-3ED5-44AA-8396-BFC2D15520CB}"/>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PREAMBLE conceptual workflow</a:t>
            </a:r>
          </a:p>
        </p:txBody>
      </p:sp>
      <p:sp>
        <p:nvSpPr>
          <p:cNvPr id="239" name="preamble-box-1">
            <a:extLst xmlns:a="http://schemas.openxmlformats.org/drawingml/2006/main">
              <a:ext uri="{FF2B5EF4-FFF2-40B4-BE49-F238E27FC236}">
                <a16:creationId xmlns:a16="http://schemas.microsoft.com/office/drawing/2014/main" id="{7AE7E345-6275-4DDE-B112-20A1C4E5EE2C}"/>
              </a:ext>
            </a:extLst>
          </p:cNvPr>
          <p:cNvSpPr>
            <a:spLocks xmlns:a="http://schemas.openxmlformats.org/drawingml/2006/main" noGrp="1"/>
          </p:cNvSpPr>
          <p:nvPr/>
        </p:nvSpPr>
        <p:spPr>
          <a:xfrm xmlns:a="http://schemas.openxmlformats.org/drawingml/2006/main">
            <a:off x="8143875" y="2190750"/>
            <a:ext cx="2809875" cy="49530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Block-sparse client vector</a:t>
            </a:r>
          </a:p>
        </p:txBody>
      </p:sp>
      <p:sp>
        <p:nvSpPr>
          <p:cNvPr id="240" name="preamble-arrow-split">
            <a:extLst xmlns:a="http://schemas.openxmlformats.org/drawingml/2006/main">
              <a:ext uri="{FF2B5EF4-FFF2-40B4-BE49-F238E27FC236}">
                <a16:creationId xmlns:a16="http://schemas.microsoft.com/office/drawing/2014/main" id="{62DA6507-6552-4E74-B474-DC3158F16F8B}"/>
              </a:ext>
            </a:extLst>
          </p:cNvPr>
          <p:cNvSpPr>
            <a:spLocks xmlns:a="http://schemas.openxmlformats.org/drawingml/2006/main" noGrp="1"/>
          </p:cNvSpPr>
          <p:nvPr/>
        </p:nvSpPr>
        <p:spPr>
          <a:xfrm xmlns:a="http://schemas.openxmlformats.org/drawingml/2006/main">
            <a:off x="8239125" y="2686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1" name="preamble-box-2a">
            <a:extLst xmlns:a="http://schemas.openxmlformats.org/drawingml/2006/main">
              <a:ext uri="{FF2B5EF4-FFF2-40B4-BE49-F238E27FC236}">
                <a16:creationId xmlns:a16="http://schemas.microsoft.com/office/drawing/2014/main" id="{03A81E5E-2B15-4CC5-A311-935D6D1EE146}"/>
              </a:ext>
            </a:extLst>
          </p:cNvPr>
          <p:cNvSpPr>
            <a:spLocks xmlns:a="http://schemas.openxmlformats.org/drawingml/2006/main" noGrp="1"/>
          </p:cNvSpPr>
          <p:nvPr/>
        </p:nvSpPr>
        <p:spPr>
          <a:xfrm xmlns:a="http://schemas.openxmlformats.org/drawingml/2006/main">
            <a:off x="785812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A</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2" name="preamble-box-2b">
            <a:extLst xmlns:a="http://schemas.openxmlformats.org/drawingml/2006/main">
              <a:ext uri="{FF2B5EF4-FFF2-40B4-BE49-F238E27FC236}">
                <a16:creationId xmlns:a16="http://schemas.microsoft.com/office/drawing/2014/main" id="{DEF78BC3-25C5-43C6-BBB5-3872DA823F18}"/>
              </a:ext>
            </a:extLst>
          </p:cNvPr>
          <p:cNvSpPr>
            <a:spLocks xmlns:a="http://schemas.openxmlformats.org/drawingml/2006/main" noGrp="1"/>
          </p:cNvSpPr>
          <p:nvPr/>
        </p:nvSpPr>
        <p:spPr>
          <a:xfrm xmlns:a="http://schemas.openxmlformats.org/drawingml/2006/main">
            <a:off x="966787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B</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3" name="preamble-arrow-merge">
            <a:extLst xmlns:a="http://schemas.openxmlformats.org/drawingml/2006/main">
              <a:ext uri="{FF2B5EF4-FFF2-40B4-BE49-F238E27FC236}">
                <a16:creationId xmlns:a16="http://schemas.microsoft.com/office/drawing/2014/main" id="{03DA5FE3-5395-4C45-9B7C-E980A0E09B62}"/>
              </a:ext>
            </a:extLst>
          </p:cNvPr>
          <p:cNvSpPr>
            <a:spLocks xmlns:a="http://schemas.openxmlformats.org/drawingml/2006/main" noGrp="1"/>
          </p:cNvSpPr>
          <p:nvPr/>
        </p:nvSpPr>
        <p:spPr>
          <a:xfrm xmlns:a="http://schemas.openxmlformats.org/drawingml/2006/main">
            <a:off x="8239125" y="3829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4" name="preamble-box-3">
            <a:extLst xmlns:a="http://schemas.openxmlformats.org/drawingml/2006/main">
              <a:ext uri="{FF2B5EF4-FFF2-40B4-BE49-F238E27FC236}">
                <a16:creationId xmlns:a16="http://schemas.microsoft.com/office/drawing/2014/main" id="{B1EB8236-E9B0-4813-B69C-33061CE128C8}"/>
              </a:ext>
            </a:extLst>
          </p:cNvPr>
          <p:cNvSpPr>
            <a:spLocks xmlns:a="http://schemas.openxmlformats.org/drawingml/2006/main" noGrp="1"/>
          </p:cNvSpPr>
          <p:nvPr/>
        </p:nvSpPr>
        <p:spPr>
          <a:xfrm xmlns:a="http://schemas.openxmlformats.org/drawingml/2006/main">
            <a:off x="8143875" y="42481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Private block-sparse aggregate</a:t>
            </a:r>
          </a:p>
        </p:txBody>
      </p:sp>
      <p:sp>
        <p:nvSpPr>
          <p:cNvPr id="245" name="preamble-diagram-caption">
            <a:extLst xmlns:a="http://schemas.openxmlformats.org/drawingml/2006/main">
              <a:ext uri="{FF2B5EF4-FFF2-40B4-BE49-F238E27FC236}">
                <a16:creationId xmlns:a16="http://schemas.microsoft.com/office/drawing/2014/main" id="{E103B243-C93A-4A36-8D33-AB0AB78BC5BB}"/>
              </a:ext>
            </a:extLst>
          </p:cNvPr>
          <p:cNvSpPr>
            <a:spLocks xmlns:a="http://schemas.openxmlformats.org/drawingml/2006/main" noGrp="1"/>
          </p:cNvSpPr>
          <p:nvPr/>
        </p:nvSpPr>
        <p:spPr>
          <a:xfrm xmlns:a="http://schemas.openxmlformats.org/drawingml/2006/main">
            <a:off x="7762875" y="5048250"/>
            <a:ext cx="3571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Efficiency relies on a two-server non-collusion model [18].</a:t>
            </a:r>
          </a:p>
        </p:txBody>
      </p:sp>
    </p:spTree>
    <p:extLst>
      <p:ext uri="{BB962C8B-B14F-4D97-AF65-F5344CB8AC3E}">
        <p14:creationId xmlns:p14="http://schemas.microsoft.com/office/powerpoint/2010/main" val="97028649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defRPr sz="3150" b="1">
                <a:solidFill>
                  <a:srgbClr val="062B6F"/>
                </a:solidFill>
                <a:latin typeface="Arial"/>
                <a:ea typeface="Arial"/>
                <a:cs typeface="Arial"/>
              </a:defRPr>
            </a:pPr>
            <a:r>
              <a:rPr sz="3150" b="1">
                <a:solidFill>
                  <a:srgbClr val="062B6F"/>
                </a:solidFill>
                <a:latin typeface="Arial"/>
                <a:ea typeface="Arial"/>
                <a:cs typeface="Arial"/>
              </a:rPr>
              <a:t>Comparison of Related Studies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14</a:t>
            </a:r>
            <a:endParaRPr sz="2800"/>
          </a:p>
        </p:txBody>
      </p:sp>
      <p:pic>
        <p:nvPicPr>
          <p:cNvPr id="26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4906f692d244ad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6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e6d7915a75f459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71" name=""/>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3">
            <a:extLst xmlns:a="http://schemas.openxmlformats.org/drawingml/2006/main">
              <a:ext uri="{FF2B5EF4-FFF2-40B4-BE49-F238E27FC236}">
                <a16:creationId xmlns:a16="http://schemas.microsoft.com/office/drawing/2014/main" id="{D497C4B0-9EA7-4670-A3B0-930037AA052F}"/>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3">
            <a:extLst xmlns:a="http://schemas.openxmlformats.org/drawingml/2006/main">
              <a:ext uri="{FF2B5EF4-FFF2-40B4-BE49-F238E27FC236}">
                <a16:creationId xmlns:a16="http://schemas.microsoft.com/office/drawing/2014/main" id="{5ED14AEF-C3C5-4B85-8F43-F00DDB2BF860}"/>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PREAMBLE: Private and Efficient Aggregation via Block Sparse Vectors [18]</a:t>
            </a:r>
          </a:p>
        </p:txBody>
      </p:sp>
      <p:sp>
        <p:nvSpPr>
          <p:cNvPr id="232" name="paper-summary-3">
            <a:extLst xmlns:a="http://schemas.openxmlformats.org/drawingml/2006/main">
              <a:ext uri="{FF2B5EF4-FFF2-40B4-BE49-F238E27FC236}">
                <a16:creationId xmlns:a16="http://schemas.microsoft.com/office/drawing/2014/main" id="{63420EE7-E716-40DE-912F-1D4814E18315}"/>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PREAMBLE co-designs a two-server private-aggregation protocol with block-sparse vectors, distributed point functions, sampling, and privacy amplification to reduce high-dimensional communication.</a:t>
            </a:r>
          </a:p>
        </p:txBody>
      </p:sp>
      <p:sp>
        <p:nvSpPr>
          <p:cNvPr id="233" name="paper-source-3">
            <a:extLst xmlns:a="http://schemas.openxmlformats.org/drawingml/2006/main">
              <a:ext uri="{FF2B5EF4-FFF2-40B4-BE49-F238E27FC236}">
                <a16:creationId xmlns:a16="http://schemas.microsoft.com/office/drawing/2014/main" id="{6ECDB239-EFD8-48A5-8284-10E99DFADF9C}"/>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Asi et al., NeurIPS 2025 [18].</a:t>
            </a:r>
          </a:p>
        </p:txBody>
      </p:sp>
      <p:sp>
        <p:nvSpPr>
          <p:cNvPr id="234" name="preamble-strengths-heading">
            <a:extLst xmlns:a="http://schemas.openxmlformats.org/drawingml/2006/main">
              <a:ext uri="{FF2B5EF4-FFF2-40B4-BE49-F238E27FC236}">
                <a16:creationId xmlns:a16="http://schemas.microsoft.com/office/drawing/2014/main" id="{4A5652FD-A1B3-4E80-8D03-0F9199010238}"/>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preamble-strengths-bullets">
            <a:extLst xmlns:a="http://schemas.openxmlformats.org/drawingml/2006/main">
              <a:ext uri="{FF2B5EF4-FFF2-40B4-BE49-F238E27FC236}">
                <a16:creationId xmlns:a16="http://schemas.microsoft.com/office/drawing/2014/main" id="{F391703E-3566-48C2-927F-F2AEA5369EA1}"/>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Aligns the sparse representation with its protected transport protocol.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Reduces communication and computation for block-sparse vectors.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Provides formal privacy–utility analysis with low added noise overhead.</a:t>
            </a:r>
          </a:p>
        </p:txBody>
      </p:sp>
      <p:sp>
        <p:nvSpPr>
          <p:cNvPr id="236" name="preamble-limits-heading">
            <a:extLst xmlns:a="http://schemas.openxmlformats.org/drawingml/2006/main">
              <a:ext uri="{FF2B5EF4-FFF2-40B4-BE49-F238E27FC236}">
                <a16:creationId xmlns:a16="http://schemas.microsoft.com/office/drawing/2014/main" id="{4B8A7FFE-404D-41FC-99EE-43E4C50CAC78}"/>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preamble-limits-bullets">
            <a:extLst xmlns:a="http://schemas.openxmlformats.org/drawingml/2006/main">
              <a:ext uri="{FF2B5EF4-FFF2-40B4-BE49-F238E27FC236}">
                <a16:creationId xmlns:a16="http://schemas.microsoft.com/office/drawing/2014/main" id="{7243B988-B459-4C0B-80B6-9984718F584B}"/>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Requires two non-colluding aggregation servers.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Targets vector aggregation rather than iterative CKKS clinical FL.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evaluate poisoning, release governance, or healthcare utility.</a:t>
            </a:r>
          </a:p>
        </p:txBody>
      </p:sp>
      <p:sp>
        <p:nvSpPr>
          <p:cNvPr id="238" name="preamble-flow-title">
            <a:extLst xmlns:a="http://schemas.openxmlformats.org/drawingml/2006/main">
              <a:ext uri="{FF2B5EF4-FFF2-40B4-BE49-F238E27FC236}">
                <a16:creationId xmlns:a16="http://schemas.microsoft.com/office/drawing/2014/main" id="{D73159F9-3ED5-44AA-8396-BFC2D15520CB}"/>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PREAMBLE conceptual workflow</a:t>
            </a:r>
          </a:p>
        </p:txBody>
      </p:sp>
      <p:sp>
        <p:nvSpPr>
          <p:cNvPr id="239" name="preamble-box-1">
            <a:extLst xmlns:a="http://schemas.openxmlformats.org/drawingml/2006/main">
              <a:ext uri="{FF2B5EF4-FFF2-40B4-BE49-F238E27FC236}">
                <a16:creationId xmlns:a16="http://schemas.microsoft.com/office/drawing/2014/main" id="{7AE7E345-6275-4DDE-B112-20A1C4E5EE2C}"/>
              </a:ext>
            </a:extLst>
          </p:cNvPr>
          <p:cNvSpPr>
            <a:spLocks xmlns:a="http://schemas.openxmlformats.org/drawingml/2006/main" noGrp="1"/>
          </p:cNvSpPr>
          <p:nvPr/>
        </p:nvSpPr>
        <p:spPr>
          <a:xfrm xmlns:a="http://schemas.openxmlformats.org/drawingml/2006/main">
            <a:off x="8143875" y="2190750"/>
            <a:ext cx="2809875" cy="49530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Block-sparse client vector</a:t>
            </a:r>
          </a:p>
        </p:txBody>
      </p:sp>
      <p:sp>
        <p:nvSpPr>
          <p:cNvPr id="240" name="preamble-arrow-split">
            <a:extLst xmlns:a="http://schemas.openxmlformats.org/drawingml/2006/main">
              <a:ext uri="{FF2B5EF4-FFF2-40B4-BE49-F238E27FC236}">
                <a16:creationId xmlns:a16="http://schemas.microsoft.com/office/drawing/2014/main" id="{62DA6507-6552-4E74-B474-DC3158F16F8B}"/>
              </a:ext>
            </a:extLst>
          </p:cNvPr>
          <p:cNvSpPr>
            <a:spLocks xmlns:a="http://schemas.openxmlformats.org/drawingml/2006/main" noGrp="1"/>
          </p:cNvSpPr>
          <p:nvPr/>
        </p:nvSpPr>
        <p:spPr>
          <a:xfrm xmlns:a="http://schemas.openxmlformats.org/drawingml/2006/main">
            <a:off x="8239125" y="2686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1" name="preamble-box-2a">
            <a:extLst xmlns:a="http://schemas.openxmlformats.org/drawingml/2006/main">
              <a:ext uri="{FF2B5EF4-FFF2-40B4-BE49-F238E27FC236}">
                <a16:creationId xmlns:a16="http://schemas.microsoft.com/office/drawing/2014/main" id="{03A81E5E-2B15-4CC5-A311-935D6D1EE146}"/>
              </a:ext>
            </a:extLst>
          </p:cNvPr>
          <p:cNvSpPr>
            <a:spLocks xmlns:a="http://schemas.openxmlformats.org/drawingml/2006/main" noGrp="1"/>
          </p:cNvSpPr>
          <p:nvPr/>
        </p:nvSpPr>
        <p:spPr>
          <a:xfrm xmlns:a="http://schemas.openxmlformats.org/drawingml/2006/main">
            <a:off x="785812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A</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2" name="preamble-box-2b">
            <a:extLst xmlns:a="http://schemas.openxmlformats.org/drawingml/2006/main">
              <a:ext uri="{FF2B5EF4-FFF2-40B4-BE49-F238E27FC236}">
                <a16:creationId xmlns:a16="http://schemas.microsoft.com/office/drawing/2014/main" id="{DEF78BC3-25C5-43C6-BBB5-3872DA823F18}"/>
              </a:ext>
            </a:extLst>
          </p:cNvPr>
          <p:cNvSpPr>
            <a:spLocks xmlns:a="http://schemas.openxmlformats.org/drawingml/2006/main" noGrp="1"/>
          </p:cNvSpPr>
          <p:nvPr/>
        </p:nvSpPr>
        <p:spPr>
          <a:xfrm xmlns:a="http://schemas.openxmlformats.org/drawingml/2006/main">
            <a:off x="966787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B</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3" name="preamble-arrow-merge">
            <a:extLst xmlns:a="http://schemas.openxmlformats.org/drawingml/2006/main">
              <a:ext uri="{FF2B5EF4-FFF2-40B4-BE49-F238E27FC236}">
                <a16:creationId xmlns:a16="http://schemas.microsoft.com/office/drawing/2014/main" id="{03DA5FE3-5395-4C45-9B7C-E980A0E09B62}"/>
              </a:ext>
            </a:extLst>
          </p:cNvPr>
          <p:cNvSpPr>
            <a:spLocks xmlns:a="http://schemas.openxmlformats.org/drawingml/2006/main" noGrp="1"/>
          </p:cNvSpPr>
          <p:nvPr/>
        </p:nvSpPr>
        <p:spPr>
          <a:xfrm xmlns:a="http://schemas.openxmlformats.org/drawingml/2006/main">
            <a:off x="8239125" y="3829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4" name="preamble-box-3">
            <a:extLst xmlns:a="http://schemas.openxmlformats.org/drawingml/2006/main">
              <a:ext uri="{FF2B5EF4-FFF2-40B4-BE49-F238E27FC236}">
                <a16:creationId xmlns:a16="http://schemas.microsoft.com/office/drawing/2014/main" id="{B1EB8236-E9B0-4813-B69C-33061CE128C8}"/>
              </a:ext>
            </a:extLst>
          </p:cNvPr>
          <p:cNvSpPr>
            <a:spLocks xmlns:a="http://schemas.openxmlformats.org/drawingml/2006/main" noGrp="1"/>
          </p:cNvSpPr>
          <p:nvPr/>
        </p:nvSpPr>
        <p:spPr>
          <a:xfrm xmlns:a="http://schemas.openxmlformats.org/drawingml/2006/main">
            <a:off x="8143875" y="42481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Private block-sparse aggregate</a:t>
            </a:r>
          </a:p>
        </p:txBody>
      </p:sp>
      <p:sp>
        <p:nvSpPr>
          <p:cNvPr id="245" name="preamble-diagram-caption">
            <a:extLst xmlns:a="http://schemas.openxmlformats.org/drawingml/2006/main">
              <a:ext uri="{FF2B5EF4-FFF2-40B4-BE49-F238E27FC236}">
                <a16:creationId xmlns:a16="http://schemas.microsoft.com/office/drawing/2014/main" id="{E103B243-C93A-4A36-8D33-AB0AB78BC5BB}"/>
              </a:ext>
            </a:extLst>
          </p:cNvPr>
          <p:cNvSpPr>
            <a:spLocks xmlns:a="http://schemas.openxmlformats.org/drawingml/2006/main" noGrp="1"/>
          </p:cNvSpPr>
          <p:nvPr/>
        </p:nvSpPr>
        <p:spPr>
          <a:xfrm xmlns:a="http://schemas.openxmlformats.org/drawingml/2006/main">
            <a:off x="7762875" y="5048250"/>
            <a:ext cx="3571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Efficiency relies on a two-server non-collusion model [18].</a:t>
            </a:r>
          </a:p>
        </p:txBody>
      </p:sp>
      <p:sp>
        <p:nvSpPr>
          <p:cNvPr id="249" name="related-comparison-cover">
            <a:extLst xmlns:a="http://schemas.openxmlformats.org/drawingml/2006/main">
              <a:ext uri="{FF2B5EF4-FFF2-40B4-BE49-F238E27FC236}">
                <a16:creationId xmlns:a16="http://schemas.microsoft.com/office/drawing/2014/main" id="{E3799B93-7326-4544-B17C-639EED2DC534}"/>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50" name="related-comparison-caption">
            <a:extLst xmlns:a="http://schemas.openxmlformats.org/drawingml/2006/main">
              <a:ext uri="{FF2B5EF4-FFF2-40B4-BE49-F238E27FC236}">
                <a16:creationId xmlns:a16="http://schemas.microsoft.com/office/drawing/2014/main" id="{D5E7070B-AA26-4FD4-82E8-7DFB674D4BD6}"/>
              </a:ext>
            </a:extLst>
          </p:cNvPr>
          <p:cNvSpPr>
            <a:spLocks xmlns:a="http://schemas.openxmlformats.org/drawingml/2006/main" noGrp="1"/>
          </p:cNvSpPr>
          <p:nvPr/>
        </p:nvSpPr>
        <p:spPr>
          <a:xfrm xmlns:a="http://schemas.openxmlformats.org/drawingml/2006/main">
            <a:off x="904875" y="11430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350" i="1">
                <a:solidFill>
                  <a:srgbClr val="1E3A5F"/>
                </a:solidFill>
                <a:latin typeface="Arial"/>
                <a:ea typeface="Arial"/>
                <a:cs typeface="Arial"/>
              </a:defRPr>
            </a:pPr>
            <a:r>
              <a:rPr sz="1350" i="1">
                <a:solidFill>
                  <a:srgbClr val="1E3A5F"/>
                </a:solidFill>
                <a:latin typeface="Arial"/>
                <a:ea typeface="Arial"/>
                <a:cs typeface="Arial"/>
              </a:rPr>
              <a:t>TABLE I. Comparison of the closest privacy-preserving federated-learning studies</a:t>
            </a:r>
          </a:p>
        </p:txBody>
      </p:sp>
      <p:graphicFrame>
        <p:nvGraphicFramePr>
          <p:cNvPr id="292" name=""/>
          <p:cNvGraphicFramePr/>
          <p:nvPr/>
        </p:nvGraphicFramePr>
        <p:xfrm>
          <a:off xmlns:a="http://schemas.openxmlformats.org/drawingml/2006/main" x="523875" y="1524000"/>
          <a:ext xmlns:a="http://schemas.openxmlformats.org/drawingml/2006/main" cx="11144250" cy="4000500"/>
        </p:xfrm>
        <a:graphic xmlns:a="http://schemas.openxmlformats.org/drawingml/2006/main">
          <a:graphicData uri="http://schemas.openxmlformats.org/drawingml/2006/table">
            <a:tbl>
              <a:tblPr firstRow="1" bandRow="1"/>
              <a:tblGrid>
                <a:gridCol w="1666875"/>
                <a:gridCol w="742950"/>
                <a:gridCol w="2143125"/>
                <a:gridCol w="3190875"/>
                <a:gridCol w="3400425"/>
              </a:tblGrid>
              <a:tr h="666750">
                <a:tc>
                  <a:txBody>
                    <a:bodyPr/>
                    <a:lstStyle/>
                    <a:p>
                      <a:r>
                        <a:rPr sz="1163" b="1">
                          <a:solidFill>
                            <a:srgbClr val="FFFFFF"/>
                          </a:solidFill>
                          <a:latin typeface="Arial"/>
                          <a:ea typeface="Arial"/>
                          <a:cs typeface="Arial"/>
                        </a:rPr>
                        <a:t>Study</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Year</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Method</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Main contribution</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Limitation relative to this thesis</a:t>
                      </a:r>
                    </a:p>
                  </a:txBody>
                  <a:tcPr marL="57150" marR="57150" marT="38100" marB="38100" anchor="ctr">
                    <a:solidFill>
                      <a:srgbClr val="1E3A5F"/>
                    </a:solidFill>
                  </a:tcPr>
                </a:tc>
              </a:tr>
              <a:tr h="666750">
                <a:tc>
                  <a:txBody>
                    <a:bodyPr/>
                    <a:lstStyle/>
                    <a:p>
                      <a:r>
                        <a:rPr sz="1110" b="1">
                          <a:solidFill>
                            <a:srgbClr val="1E3A5F"/>
                          </a:solidFill>
                          <a:latin typeface="Arial"/>
                          <a:ea typeface="Arial"/>
                          <a:cs typeface="Arial"/>
                        </a:rPr>
                        <a:t>Stevens et al.</a:t>
                      </a:r>
                    </a:p>
                    <a:p>
                      <a:r>
                        <a:rPr sz="1110" b="1">
                          <a:solidFill>
                            <a:srgbClr val="1E3A5F"/>
                          </a:solidFill>
                          <a:latin typeface="Arial"/>
                          <a:ea typeface="Arial"/>
                          <a:cs typeface="Arial"/>
                        </a:rPr>
                        <a:t>FLDP [11]</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2022</a:t>
                      </a:r>
                    </a:p>
                  </a:txBody>
                  <a:tcPr marL="57150" marR="57150" marT="38100" marB="38100" anchor="ctr">
                    <a:solidFill>
                      <a:srgbClr val="F2F5F7"/>
                    </a:solidFill>
                  </a:tcPr>
                </a:tc>
                <a:tc>
                  <a:txBody>
                    <a:bodyPr/>
                    <a:lstStyle/>
                    <a:p>
                      <a:r>
                        <a:rPr sz="1110">
                          <a:solidFill>
                            <a:srgbClr val="1F2937"/>
                          </a:solidFill>
                          <a:latin typeface="Arial"/>
                          <a:ea typeface="Arial"/>
                          <a:cs typeface="Arial"/>
                        </a:rPr>
                        <a:t>LWE secure aggregation with distributed DP</a:t>
                      </a:r>
                    </a:p>
                  </a:txBody>
                  <a:tcPr marL="57150" marR="57150" marT="38100" marB="38100" anchor="ctr">
                    <a:solidFill>
                      <a:srgbClr val="FFFFFF"/>
                    </a:solidFill>
                  </a:tcPr>
                </a:tc>
                <a:tc>
                  <a:txBody>
                    <a:bodyPr/>
                    <a:lstStyle/>
                    <a:p>
                      <a:r>
                        <a:rPr sz="1110">
                          <a:solidFill>
                            <a:srgbClr val="1F2937"/>
                          </a:solidFill>
                          <a:latin typeface="Arial"/>
                          <a:ea typeface="Arial"/>
                          <a:cs typeface="Arial"/>
                        </a:rPr>
                        <a:t>Malicious-secure private aggregation with measured communication and server cost</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poisoning defence; non-clinical benchmarks and a different cryptographic path</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Froelicher et al.</a:t>
                      </a:r>
                    </a:p>
                    <a:p>
                      <a:r>
                        <a:rPr sz="1110" b="1">
                          <a:solidFill>
                            <a:srgbClr val="1E3A5F"/>
                          </a:solidFill>
                          <a:latin typeface="Arial"/>
                          <a:ea typeface="Arial"/>
                          <a:cs typeface="Arial"/>
                        </a:rPr>
                        <a:t>FAMHE [12]</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2021</a:t>
                      </a:r>
                    </a:p>
                  </a:txBody>
                  <a:tcPr marL="57150" marR="57150" marT="38100" marB="38100" anchor="ctr">
                    <a:solidFill>
                      <a:srgbClr val="F2F5F7"/>
                    </a:solidFill>
                  </a:tcPr>
                </a:tc>
                <a:tc>
                  <a:txBody>
                    <a:bodyPr/>
                    <a:lstStyle/>
                    <a:p>
                      <a:r>
                        <a:rPr sz="1110">
                          <a:solidFill>
                            <a:srgbClr val="1F2937"/>
                          </a:solidFill>
                          <a:latin typeface="Arial"/>
                          <a:ea typeface="Arial"/>
                          <a:cs typeface="Arial"/>
                        </a:rPr>
                        <a:t>Multiparty homomorphic encryption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Protected biomedical survival and genomic analytics without a central decryptor</a:t>
                      </a:r>
                    </a:p>
                  </a:txBody>
                  <a:tcPr marL="57150" marR="57150" marT="38100" marB="38100" anchor="ctr">
                    <a:solidFill>
                      <a:srgbClr val="FFFFFF"/>
                    </a:solidFill>
                  </a:tcPr>
                </a:tc>
                <a:tc>
                  <a:txBody>
                    <a:bodyPr/>
                    <a:lstStyle/>
                    <a:p>
                      <a:r>
                        <a:rPr sz="1110">
                          <a:solidFill>
                            <a:srgbClr val="1F2937"/>
                          </a:solidFill>
                          <a:latin typeface="Arial"/>
                          <a:ea typeface="Arial"/>
                          <a:cs typeface="Arial"/>
                        </a:rPr>
                        <a:t>Not iterative neural FL; no adaptive compression or poisoning evaluation</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Xu et al.</a:t>
                      </a:r>
                    </a:p>
                    <a:p>
                      <a:r>
                        <a:rPr sz="1110" b="1">
                          <a:solidFill>
                            <a:srgbClr val="1E3A5F"/>
                          </a:solidFill>
                          <a:latin typeface="Arial"/>
                          <a:ea typeface="Arial"/>
                          <a:cs typeface="Arial"/>
                        </a:rPr>
                        <a:t>DDFed [16]</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2024</a:t>
                      </a:r>
                    </a:p>
                  </a:txBody>
                  <a:tcPr marL="57150" marR="57150" marT="38100" marB="38100" anchor="ctr">
                    <a:solidFill>
                      <a:srgbClr val="F2F5F7"/>
                    </a:solidFill>
                  </a:tcPr>
                </a:tc>
                <a:tc>
                  <a:txBody>
                    <a:bodyPr/>
                    <a:lstStyle/>
                    <a:p>
                      <a:r>
                        <a:rPr sz="1110">
                          <a:solidFill>
                            <a:srgbClr val="1F2937"/>
                          </a:solidFill>
                          <a:latin typeface="Arial"/>
                          <a:ea typeface="Arial"/>
                          <a:cs typeface="Arial"/>
                        </a:rPr>
                        <a:t>FHE with encrypted anomaly detection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Combines update confidentiality with poisoning detection in cross-device and cross-silo FL</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formal record-level DP, ciphertext-aware compression, or external governance</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Gu et al.</a:t>
                      </a:r>
                    </a:p>
                    <a:p>
                      <a:r>
                        <a:rPr sz="1110" b="1">
                          <a:solidFill>
                            <a:srgbClr val="1E3A5F"/>
                          </a:solidFill>
                          <a:latin typeface="Arial"/>
                          <a:ea typeface="Arial"/>
                          <a:cs typeface="Arial"/>
                        </a:rPr>
                        <a:t>DP-BREM+ [17]</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2025</a:t>
                      </a:r>
                    </a:p>
                  </a:txBody>
                  <a:tcPr marL="57150" marR="57150" marT="38100" marB="38100" anchor="ctr">
                    <a:solidFill>
                      <a:srgbClr val="F2F5F7"/>
                    </a:solidFill>
                  </a:tcPr>
                </a:tc>
                <a:tc>
                  <a:txBody>
                    <a:bodyPr/>
                    <a:lstStyle/>
                    <a:p>
                      <a:r>
                        <a:rPr sz="1110">
                          <a:solidFill>
                            <a:srgbClr val="1F2937"/>
                          </a:solidFill>
                          <a:latin typeface="Arial"/>
                          <a:ea typeface="Arial"/>
                          <a:cs typeface="Arial"/>
                        </a:rPr>
                        <a:t>Secure aggregation, client momentum, and DP</a:t>
                      </a:r>
                    </a:p>
                  </a:txBody>
                  <a:tcPr marL="57150" marR="57150" marT="38100" marB="38100" anchor="ctr">
                    <a:solidFill>
                      <a:srgbClr val="FFFFFF"/>
                    </a:solidFill>
                  </a:tcPr>
                </a:tc>
                <a:tc>
                  <a:txBody>
                    <a:bodyPr/>
                    <a:lstStyle/>
                    <a:p>
                      <a:r>
                        <a:rPr sz="1110">
                          <a:solidFill>
                            <a:srgbClr val="1F2937"/>
                          </a:solidFill>
                          <a:latin typeface="Arial"/>
                          <a:ea typeface="Arial"/>
                          <a:cs typeface="Arial"/>
                        </a:rPr>
                        <a:t>Combines formal privacy and Byzantine robustness without a trusted server</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encrypted wire-reduction method, clinical cohort, or external audit ledger</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Asi et al.</a:t>
                      </a:r>
                    </a:p>
                    <a:p>
                      <a:r>
                        <a:rPr sz="1110" b="1">
                          <a:solidFill>
                            <a:srgbClr val="1E3A5F"/>
                          </a:solidFill>
                          <a:latin typeface="Arial"/>
                          <a:ea typeface="Arial"/>
                          <a:cs typeface="Arial"/>
                        </a:rPr>
                        <a:t>PREAMBLE [18]</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2025</a:t>
                      </a:r>
                    </a:p>
                  </a:txBody>
                  <a:tcPr marL="57150" marR="57150" marT="38100" marB="38100" anchor="ctr">
                    <a:solidFill>
                      <a:srgbClr val="F2F5F7"/>
                    </a:solidFill>
                  </a:tcPr>
                </a:tc>
                <a:tc>
                  <a:txBody>
                    <a:bodyPr/>
                    <a:lstStyle/>
                    <a:p>
                      <a:r>
                        <a:rPr sz="1110">
                          <a:solidFill>
                            <a:srgbClr val="1F2937"/>
                          </a:solidFill>
                          <a:latin typeface="Arial"/>
                          <a:ea typeface="Arial"/>
                          <a:cs typeface="Arial"/>
                        </a:rPr>
                        <a:t>Two-server block-sparse private aggregation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Co-designs block sparsity and protected transport for high-dimensional vectors</a:t>
                      </a:r>
                    </a:p>
                  </a:txBody>
                  <a:tcPr marL="57150" marR="57150" marT="38100" marB="38100" anchor="ctr">
                    <a:solidFill>
                      <a:srgbClr val="FFFFFF"/>
                    </a:solidFill>
                  </a:tcPr>
                </a:tc>
                <a:tc>
                  <a:txBody>
                    <a:bodyPr/>
                    <a:lstStyle/>
                    <a:p>
                      <a:r>
                        <a:rPr sz="1110">
                          <a:solidFill>
                            <a:srgbClr val="1F2937"/>
                          </a:solidFill>
                          <a:latin typeface="Arial"/>
                          <a:ea typeface="Arial"/>
                          <a:cs typeface="Arial"/>
                        </a:rPr>
                        <a:t>Requires non-colluding servers; no poisoning or end-to-end clinical FL</a:t>
                      </a:r>
                    </a:p>
                  </a:txBody>
                  <a:tcPr marL="57150" marR="57150" marT="38100" marB="38100" anchor="ctr">
                    <a:solidFill>
                      <a:srgbClr val="FFFFFF"/>
                    </a:solidFill>
                  </a:tcPr>
                </a:tc>
              </a:tr>
            </a:tbl>
          </a:graphicData>
        </a:graphic>
      </p:graphicFrame>
      <p:sp>
        <p:nvSpPr>
          <p:cNvPr id="252" name="related-comparison-note">
            <a:extLst xmlns:a="http://schemas.openxmlformats.org/drawingml/2006/main">
              <a:ext uri="{FF2B5EF4-FFF2-40B4-BE49-F238E27FC236}">
                <a16:creationId xmlns:a16="http://schemas.microsoft.com/office/drawing/2014/main" id="{EEA77285-8E95-45D8-AA77-13B2B157C036}"/>
              </a:ext>
            </a:extLst>
          </p:cNvPr>
          <p:cNvSpPr>
            <a:spLocks xmlns:a="http://schemas.openxmlformats.org/drawingml/2006/main" noGrp="1"/>
          </p:cNvSpPr>
          <p:nvPr/>
        </p:nvSpPr>
        <p:spPr>
          <a:xfrm xmlns:a="http://schemas.openxmlformats.org/drawingml/2006/main">
            <a:off x="904875" y="5667375"/>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63" i="1">
                <a:solidFill>
                  <a:srgbClr val="52606D"/>
                </a:solidFill>
                <a:latin typeface="Arial"/>
                <a:ea typeface="Arial"/>
                <a:cs typeface="Arial"/>
              </a:defRPr>
            </a:pPr>
            <a:r>
              <a:rPr sz="1163" i="1">
                <a:solidFill>
                  <a:srgbClr val="52606D"/>
                </a:solidFill>
                <a:latin typeface="Arial"/>
                <a:ea typeface="Arial"/>
                <a:cs typeface="Arial"/>
              </a:rPr>
              <a:t>The studies use different datasets, privacy definitions, and threat models; the table compares scope rather than rank.</a:t>
            </a:r>
          </a:p>
        </p:txBody>
      </p:sp>
      <p:sp>
        <p:nvSpPr>
          <p:cNvPr id="253" name="related-comparison-border">
            <a:extLst xmlns:a="http://schemas.openxmlformats.org/drawingml/2006/main">
              <a:ext uri="{FF2B5EF4-FFF2-40B4-BE49-F238E27FC236}">
                <a16:creationId xmlns:a16="http://schemas.microsoft.com/office/drawing/2014/main" id="{9E5421A0-D522-4C8D-9A2F-F019BEAACAF5}"/>
              </a:ext>
            </a:extLst>
          </p:cNvPr>
          <p:cNvSpPr>
            <a:spLocks xmlns:a="http://schemas.openxmlformats.org/drawingml/2006/main" noGrp="1"/>
          </p:cNvSpPr>
          <p:nvPr/>
        </p:nvSpPr>
        <p:spPr>
          <a:xfrm xmlns:a="http://schemas.openxmlformats.org/drawingml/2006/main">
            <a:off x="285750" y="295275"/>
            <a:ext cx="11811000" cy="6324600"/>
          </a:xfrm>
          <a:prstGeom xmlns:a="http://schemas.openxmlformats.org/drawingml/2006/main" prst="rect">
            <a:avLst/>
          </a:prstGeom>
          <a:noFill xmlns:a="http://schemas.openxmlformats.org/drawingml/2006/main"/>
          <a:ln xmlns:a="http://schemas.openxmlformats.org/drawingml/2006/main" w="11430">
            <a:solidFill>
              <a:srgbClr val="222222"/>
            </a:solidFill>
          </a:ln>
        </p:spPr>
      </p:sp>
      <p:sp>
        <p:nvSpPr>
          <p:cNvPr id="254" name="related-comparison-footer-rule">
            <a:extLst xmlns:a="http://schemas.openxmlformats.org/drawingml/2006/main">
              <a:ext uri="{FF2B5EF4-FFF2-40B4-BE49-F238E27FC236}">
                <a16:creationId xmlns:a16="http://schemas.microsoft.com/office/drawing/2014/main" id="{509A58D0-ABF3-4437-85DF-C353E9E73395}"/>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pic>
        <p:nvPicPr>
          <p:cNvPr id="296" name=""/>
          <p:cNvPicPr>
            <a:picLocks xmlns:a="http://schemas.openxmlformats.org/drawingml/2006/main" noChangeAspect="1"/>
          </p:cNvPicPr>
          <p:nvPr/>
        </p:nvPicPr>
        <p:blipFill>
          <a:blip xmlns:r="http://schemas.openxmlformats.org/officeDocument/2006/relationships" xmlns:a="http://schemas.openxmlformats.org/drawingml/2006/main" r:embed="Re4a826cbe7264e61"/>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297" name=""/>
          <p:cNvPicPr>
            <a:picLocks xmlns:a="http://schemas.openxmlformats.org/drawingml/2006/main" noChangeAspect="1"/>
          </p:cNvPicPr>
          <p:nvPr/>
        </p:nvPicPr>
        <p:blipFill>
          <a:blip xmlns:r="http://schemas.openxmlformats.org/officeDocument/2006/relationships" xmlns:a="http://schemas.openxmlformats.org/drawingml/2006/main" r:embed="Rd6ea7b03b0ab4410"/>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257" name="related-comparison-date">
            <a:extLst xmlns:a="http://schemas.openxmlformats.org/drawingml/2006/main">
              <a:ext uri="{FF2B5EF4-FFF2-40B4-BE49-F238E27FC236}">
                <a16:creationId xmlns:a16="http://schemas.microsoft.com/office/drawing/2014/main" id="{11BFE405-CAC3-4071-8F9F-2AD117222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buNone/>
              <a:defRPr sz="900">
                <a:solidFill>
                  <a:srgbClr val="1E3A5F"/>
                </a:solidFill>
                <a:latin typeface="Arial"/>
                <a:ea typeface="Arial"/>
                <a:cs typeface="Arial"/>
              </a:defRPr>
            </a:pPr>
            <a:r>
              <a:rPr sz="900">
                <a:solidFill>
                  <a:srgbClr val="1E3A5F"/>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4F441C9C-DB24-BC90-E1A8-06BB78A42B4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Gap</a:t>
            </a:r>
            <a:endParaRPr/>
          </a:p>
        </p:txBody>
      </p:sp>
      <p:sp>
        <p:nvSpPr>
          <p:cNvPr id="212" name="Google Shape;212;p28">
            <a:extLst xmlns:a="http://schemas.openxmlformats.org/drawingml/2006/main">
              <a:ext uri="{FF2B5EF4-FFF2-40B4-BE49-F238E27FC236}">
                <a16:creationId xmlns:a16="http://schemas.microsoft.com/office/drawing/2014/main" id="{04AC4499-7181-9004-D4F7-FF8D445EA12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15</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7973ed7c40c46e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189ac5af0f64aa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4B3C55C-04DC-095A-55DA-789E59E8DFB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8F63699-FF2B-3B57-7160-D273E7E2D3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gap-bullets">
            <a:extLst xmlns:a="http://schemas.openxmlformats.org/drawingml/2006/main">
              <a:ext uri="{FF2B5EF4-FFF2-40B4-BE49-F238E27FC236}">
                <a16:creationId xmlns:a16="http://schemas.microsoft.com/office/drawing/2014/main" id="{2DFEB144-76F9-43F8-87E2-D826FFA3D6E8}"/>
              </a:ext>
            </a:extLst>
          </p:cNvPr>
          <p:cNvSpPr>
            <a:spLocks xmlns:a="http://schemas.openxmlformats.org/drawingml/2006/main" noGrp="1"/>
          </p:cNvSpPr>
          <p:nvPr/>
        </p:nvSpPr>
        <p:spPr>
          <a:xfrm xmlns:a="http://schemas.openxmlformats.org/drawingml/2006/main">
            <a:off x="904875" y="1381125"/>
            <a:ext cx="10382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No reviewed study evaluates patient-level DP, real CKKS serialization, adaptive common-block compression, poisoning-aware release, and external audit evidence under one protocol.</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Many compressors reduce plaintext coordinates but recover little or no encrypted network bandwidth.</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Robust plaintext aggregators require individual update distances that a sum-only encrypted path intentionally hides.</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Prior evaluations seldom combine paired multi-seed utility, membership inference, gradient reconstruction, one-round poisoning, longitudinal poisoning, and service timing.</a:t>
            </a:r>
          </a:p>
        </p:txBody>
      </p:sp>
      <p:sp>
        <p:nvSpPr>
          <p:cNvPr id="221" name="gap-response">
            <a:extLst xmlns:a="http://schemas.openxmlformats.org/drawingml/2006/main">
              <a:ext uri="{FF2B5EF4-FFF2-40B4-BE49-F238E27FC236}">
                <a16:creationId xmlns:a16="http://schemas.microsoft.com/office/drawing/2014/main" id="{66E1C845-31B3-4F02-9C0E-56EF08B8DD0D}"/>
              </a:ext>
            </a:extLst>
          </p:cNvPr>
          <p:cNvSpPr>
            <a:spLocks xmlns:a="http://schemas.openxmlformats.org/drawingml/2006/main" noGrp="1"/>
          </p:cNvSpPr>
          <p:nvPr/>
        </p:nvSpPr>
        <p:spPr>
          <a:xfrm xmlns:a="http://schemas.openxmlformats.org/drawingml/2006/main">
            <a:off x="1095375" y="4905375"/>
            <a:ext cx="10001250" cy="952500"/>
          </a:xfrm>
          <a:prstGeom xmlns:a="http://schemas.openxmlformats.org/drawingml/2006/main" prst="roundRect">
            <a:avLst>
              <a:gd name="adj" fmla="val 8000"/>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Thesis response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 aligns adaptive compression with CKKS blocks and places verification, validation, rollback, threshold policy, and witnessed audit evidence around the encrypted training round.</a:t>
            </a:r>
          </a:p>
        </p:txBody>
      </p:sp>
      <p:sp>
        <p:nvSpPr>
          <p:cNvPr id="224" name="visible-footer-date-12">
            <a:extLst xmlns:a="http://schemas.openxmlformats.org/drawingml/2006/main">
              <a:ext uri="{FF2B5EF4-FFF2-40B4-BE49-F238E27FC236}">
                <a16:creationId xmlns:a16="http://schemas.microsoft.com/office/drawing/2014/main" id="{A85C2E33-42AD-4E2A-9450-64B07342485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026661964"/>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pic>
        <p:nvPicPr>
          <p:cNvPr id="489" name="Google Shape;359;p39"/>
          <p:cNvPicPr>
            <a:picLocks xmlns:a="http://schemas.openxmlformats.org/drawingml/2006/main" noChangeAspect="1"/>
          </p:cNvPicPr>
          <p:nvPr/>
        </p:nvPicPr>
        <p:blipFill rotWithShape="1">
          <a:blip xmlns:r="http://schemas.openxmlformats.org/officeDocument/2006/relationships" xmlns:a="http://schemas.openxmlformats.org/drawingml/2006/main" r:embed="Re416b0bc66c34f3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490" name="Google Shape;360;p39"/>
          <p:cNvPicPr>
            <a:picLocks xmlns:a="http://schemas.openxmlformats.org/drawingml/2006/main" noChangeAspect="1"/>
          </p:cNvPicPr>
          <p:nvPr/>
        </p:nvPicPr>
        <p:blipFill rotWithShape="1">
          <a:blip xmlns:r="http://schemas.openxmlformats.org/officeDocument/2006/relationships" xmlns:a="http://schemas.openxmlformats.org/drawingml/2006/main" r:embed="Raccbfdaf67674c8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491" name="Google Shape;361;p39"/>
          <p:cNvPicPr>
            <a:picLocks xmlns:a="http://schemas.openxmlformats.org/drawingml/2006/main" noChangeAspect="1"/>
          </p:cNvPicPr>
          <p:nvPr/>
        </p:nvPicPr>
        <p:blipFill rotWithShape="1">
          <a:blip xmlns:r="http://schemas.openxmlformats.org/officeDocument/2006/relationships" xmlns:a="http://schemas.openxmlformats.org/drawingml/2006/main" r:embed="Rcc791f7056ca4ad9">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362" name="Google Shape;362;p39">
            <a:extLst xmlns:a="http://schemas.openxmlformats.org/drawingml/2006/main">
              <a:ext uri="{FF2B5EF4-FFF2-40B4-BE49-F238E27FC236}">
                <a16:creationId xmlns:a16="http://schemas.microsoft.com/office/drawing/2014/main" id="{EEFF338C-48B1-8132-B969-54ACC4C332A7}"/>
              </a:ext>
            </a:extLst>
          </p:cNvPr>
          <p:cNvSpPr>
            <a:spLocks xmlns:a="http://schemas.openxmlformats.org/drawingml/2006/main" noGrp="1"/>
          </p:cNvSpPr>
          <p:nvPr>
            <p:ph type="title" idx="0"/>
          </p:nvPr>
        </p:nvSpPr>
        <p:spPr>
          <a:xfrm xmlns:a="http://schemas.openxmlformats.org/drawingml/2006/main">
            <a:off x="1664208" y="4207482"/>
            <a:ext cx="8613648"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algn="ctr">
              <a:buNone/>
            </a:pPr>
            <a:r>
              <a:rPr sz="4000"/>
              <a:t>Methodology</a:t>
            </a:r>
          </a:p>
        </p:txBody>
      </p:sp>
      <p:pic>
        <p:nvPicPr>
          <p:cNvPr id="493" name="Google Shape;363;p39"/>
          <p:cNvPicPr>
            <a:picLocks xmlns:a="http://schemas.openxmlformats.org/drawingml/2006/main" noChangeAspect="1"/>
          </p:cNvPicPr>
          <p:nvPr/>
        </p:nvPicPr>
        <p:blipFill rotWithShape="1">
          <a:blip xmlns:r="http://schemas.openxmlformats.org/officeDocument/2006/relationships" xmlns:a="http://schemas.openxmlformats.org/drawingml/2006/main" r:embed="R6b68c1832249442b">
            <a:alphaModFix/>
          </a:blip>
          <a:srcRect xmlns:a="http://schemas.openxmlformats.org/drawingml/2006/main" l="0" t="0" r="0" b="0"/>
          <a:stretch xmlns:a="http://schemas.openxmlformats.org/drawingml/2006/main"/>
        </p:blipFill>
        <p:spPr>
          <a:xfrm xmlns:a="http://schemas.openxmlformats.org/drawingml/2006/main">
            <a:off x="4785233" y="1949845"/>
            <a:ext cx="2056847" cy="2056847"/>
          </a:xfrm>
          <a:prstGeom xmlns:a="http://schemas.openxmlformats.org/drawingml/2006/main" prst="roundRect">
            <a:avLst>
              <a:gd name="adj" fmla="val 16667"/>
            </a:avLst>
          </a:prstGeom>
          <a:ln xmlns:a="http://schemas.openxmlformats.org/drawingml/2006/main">
            <a:noFill/>
          </a:ln>
          <a:effectLst xmlns:a="http://schemas.openxmlformats.org/drawingml/2006/main">
            <a:outerShdw blurRad="76200" dist="38100" dir="7800000" algn="tl" rotWithShape="0">
              <a:srgbClr val="000000">
                <a:alpha val="40000"/>
              </a:srgbClr>
            </a:outerShdw>
          </a:effectLst>
        </p:spPr>
      </p:pic>
      <p:sp>
        <p:nvSpPr>
          <p:cNvPr id="366" name="Google Shape;366;p39">
            <a:extLst xmlns:a="http://schemas.openxmlformats.org/drawingml/2006/main">
              <a:ext uri="{FF2B5EF4-FFF2-40B4-BE49-F238E27FC236}">
                <a16:creationId xmlns:a16="http://schemas.microsoft.com/office/drawing/2014/main" id="{F0D6F430-373C-B89E-A5FB-517372D44D5D}"/>
              </a:ext>
            </a:extLst>
          </p:cNvPr>
          <p:cNvSpPr>
            <a:spLocks xmlns:a="http://schemas.openxmlformats.org/drawingml/2006/main" noGrp="1"/>
          </p:cNvSpPr>
          <p:nvPr>
            <p:ph type="dt" idx="10"/>
          </p:nvPr>
        </p:nvSpPr>
        <p:spPr>
          <a:xfrm xmlns:a="http://schemas.openxmlformats.org/drawingml/2006/main">
            <a:off x="462800" y="6396575"/>
            <a:ext cx="1460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4AC777A5-57EB-AFC4-A5F3-AC25B803C8B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486602C0-C428-5611-E318-DE85074D6D16}"/>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16</a:t>
            </a:r>
            <a:endParaRPr sz="2800"/>
          </a:p>
        </p:txBody>
      </p:sp>
      <p:cxnSp>
        <p:nvCxnSpPr>
          <p:cNvPr id="497"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84" name="visible-footer-date-13">
            <a:extLst xmlns:a="http://schemas.openxmlformats.org/drawingml/2006/main">
              <a:ext uri="{FF2B5EF4-FFF2-40B4-BE49-F238E27FC236}">
                <a16:creationId xmlns:a16="http://schemas.microsoft.com/office/drawing/2014/main" id="{F0EB0EB9-746C-4502-95C1-397FF73DAD8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89875798"/>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defRPr sz="2700" b="1">
                <a:solidFill>
                  <a:srgbClr val="062B6F"/>
                </a:solidFill>
                <a:latin typeface="Arial"/>
                <a:ea typeface="Arial"/>
                <a:cs typeface="Arial"/>
              </a:defRPr>
            </a:pPr>
            <a:r>
              <a:rPr sz="2700" b="1">
                <a:solidFill>
                  <a:srgbClr val="062B6F"/>
                </a:solidFill>
                <a:latin typeface="Arial"/>
                <a:ea typeface="Arial"/>
                <a:cs typeface="Arial"/>
              </a:rPr>
              <a:t>System Approach: Local Privacy Pipeline</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17</a:t>
            </a:r>
            <a:endParaRPr sz="2800"/>
          </a:p>
        </p:txBody>
      </p:sp>
      <p:pic>
        <p:nvPicPr>
          <p:cNvPr id="234"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ad426fa1def49e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c21b176188b49a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3082E332-C627-E60D-22BD-F2A00B3BF1F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38" name=""/>
          <p:cNvPicPr>
            <a:picLocks xmlns:a="http://schemas.openxmlformats.org/drawingml/2006/main" noChangeAspect="1"/>
          </p:cNvPicPr>
          <p:nvPr/>
        </p:nvPicPr>
        <p:blipFill>
          <a:blip xmlns:r="http://schemas.openxmlformats.org/officeDocument/2006/relationships" xmlns:a="http://schemas.openxmlformats.org/drawingml/2006/main" r:embed="R15c3588f13f44e86"/>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9" name="system-approach-top-cover">
            <a:extLst xmlns:a="http://schemas.openxmlformats.org/drawingml/2006/main">
              <a:ext uri="{FF2B5EF4-FFF2-40B4-BE49-F238E27FC236}">
                <a16:creationId xmlns:a16="http://schemas.microsoft.com/office/drawing/2014/main" id="{66E17F3D-20D5-48F3-AF51-0018B03F225F}"/>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242" name=""/>
          <p:cNvPicPr>
            <a:picLocks xmlns:a="http://schemas.openxmlformats.org/drawingml/2006/main" noChangeAspect="1"/>
          </p:cNvPicPr>
          <p:nvPr/>
        </p:nvPicPr>
        <p:blipFill>
          <a:blip xmlns:r="http://schemas.openxmlformats.org/officeDocument/2006/relationships" xmlns:a="http://schemas.openxmlformats.org/drawingml/2006/main" r:embed="R38726d705b3543dc"/>
          <a:srcRect xmlns:a="http://schemas.openxmlformats.org/drawingml/2006/main" l="0" t="24396" r="0" b="24396"/>
          <a:stretch xmlns:a="http://schemas.openxmlformats.org/drawingml/2006/main">
            <a:fillRect l="0" t="0" r="0" b="0"/>
          </a:stretch>
        </p:blipFill>
        <p:spPr>
          <a:xfrm xmlns:a="http://schemas.openxmlformats.org/drawingml/2006/main">
            <a:off x="838200" y="1200150"/>
            <a:ext cx="10515600" cy="4038600"/>
          </a:xfrm>
          <a:prstGeom xmlns:a="http://schemas.openxmlformats.org/drawingml/2006/main" prst="rect">
            <a:avLst/>
          </a:prstGeom>
        </p:spPr>
      </p:pic>
      <p:sp>
        <p:nvSpPr>
          <p:cNvPr id="231" name="system-approach-caption-part-1">
            <a:extLst xmlns:a="http://schemas.openxmlformats.org/drawingml/2006/main">
              <a:ext uri="{FF2B5EF4-FFF2-40B4-BE49-F238E27FC236}">
                <a16:creationId xmlns:a16="http://schemas.microsoft.com/office/drawing/2014/main" id="{047440FD-7ADC-48F9-B121-AE10F315177D}"/>
              </a:ext>
            </a:extLst>
          </p:cNvPr>
          <p:cNvSpPr>
            <a:spLocks xmlns:a="http://schemas.openxmlformats.org/drawingml/2006/main" noGrp="1"/>
          </p:cNvSpPr>
          <p:nvPr/>
        </p:nvSpPr>
        <p:spPr>
          <a:xfrm xmlns:a="http://schemas.openxmlformats.org/drawingml/2006/main">
            <a:off x="1095375" y="53149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i="1">
                <a:solidFill>
                  <a:srgbClr val="1F2937"/>
                </a:solidFill>
                <a:latin typeface="Arial"/>
                <a:ea typeface="Arial"/>
                <a:cs typeface="Arial"/>
              </a:defRPr>
            </a:pPr>
            <a:r>
              <a:rPr sz="1425" i="1">
                <a:solidFill>
                  <a:srgbClr val="1F2937"/>
                </a:solidFill>
                <a:latin typeface="Arial"/>
                <a:ea typeface="Arial"/>
                <a:cs typeface="Arial"/>
              </a:rPr>
              <a:t>Fig. 1(a). Governance, local data handling, distributed CKKS setup, DP training, CAABC-FL compression, encryption, and signed submission.</a:t>
            </a:r>
          </a:p>
        </p:txBody>
      </p:sp>
    </p:spTree>
    <p:extLst>
      <p:ext uri="{BB962C8B-B14F-4D97-AF65-F5344CB8AC3E}">
        <p14:creationId xmlns:p14="http://schemas.microsoft.com/office/powerpoint/2010/main" val="224468282"/>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defRPr sz="2700" b="1">
                <a:solidFill>
                  <a:srgbClr val="062B6F"/>
                </a:solidFill>
                <a:latin typeface="Arial"/>
                <a:ea typeface="Arial"/>
                <a:cs typeface="Arial"/>
              </a:defRPr>
            </a:pPr>
            <a:r>
              <a:rPr sz="2700" b="1">
                <a:solidFill>
                  <a:srgbClr val="062B6F"/>
                </a:solidFill>
                <a:latin typeface="Arial"/>
                <a:ea typeface="Arial"/>
                <a:cs typeface="Arial"/>
              </a:rPr>
              <a:t>System Approach: Trust and Model Release</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18</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3a1e6c7d1eb457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9f8fb45531c4a7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3082E332-C627-E60D-22BD-F2A00B3BF1F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43" name=""/>
          <p:cNvPicPr>
            <a:picLocks xmlns:a="http://schemas.openxmlformats.org/drawingml/2006/main" noChangeAspect="1"/>
          </p:cNvPicPr>
          <p:nvPr/>
        </p:nvPicPr>
        <p:blipFill>
          <a:blip xmlns:r="http://schemas.openxmlformats.org/officeDocument/2006/relationships" xmlns:a="http://schemas.openxmlformats.org/drawingml/2006/main" r:embed="Rd70e2b0610f340e7"/>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9" name="system-approach-bottom-cover">
            <a:extLst xmlns:a="http://schemas.openxmlformats.org/drawingml/2006/main">
              <a:ext uri="{FF2B5EF4-FFF2-40B4-BE49-F238E27FC236}">
                <a16:creationId xmlns:a16="http://schemas.microsoft.com/office/drawing/2014/main" id="{3C241A24-9B04-4644-8BE4-ACEC6E8798A5}"/>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247" name=""/>
          <p:cNvPicPr>
            <a:picLocks xmlns:a="http://schemas.openxmlformats.org/drawingml/2006/main" noChangeAspect="1"/>
          </p:cNvPicPr>
          <p:nvPr/>
        </p:nvPicPr>
        <p:blipFill>
          <a:blip xmlns:r="http://schemas.openxmlformats.org/officeDocument/2006/relationships" xmlns:a="http://schemas.openxmlformats.org/drawingml/2006/main" r:embed="R1db4f7d65a3f41a2"/>
          <a:srcRect xmlns:a="http://schemas.openxmlformats.org/drawingml/2006/main" l="0" t="25785" r="0" b="25785"/>
          <a:stretch xmlns:a="http://schemas.openxmlformats.org/drawingml/2006/main">
            <a:fillRect l="0" t="0" r="0" b="0"/>
          </a:stretch>
        </p:blipFill>
        <p:spPr>
          <a:xfrm xmlns:a="http://schemas.openxmlformats.org/drawingml/2006/main">
            <a:off x="838200" y="1304925"/>
            <a:ext cx="10515600" cy="3819525"/>
          </a:xfrm>
          <a:prstGeom xmlns:a="http://schemas.openxmlformats.org/drawingml/2006/main" prst="rect">
            <a:avLst/>
          </a:prstGeom>
        </p:spPr>
      </p:pic>
      <p:sp>
        <p:nvSpPr>
          <p:cNvPr id="231" name="system-approach-caption-part-2">
            <a:extLst xmlns:a="http://schemas.openxmlformats.org/drawingml/2006/main">
              <a:ext uri="{FF2B5EF4-FFF2-40B4-BE49-F238E27FC236}">
                <a16:creationId xmlns:a16="http://schemas.microsoft.com/office/drawing/2014/main" id="{01A75FB4-AF08-449C-AD37-FEB80C1A2138}"/>
              </a:ext>
            </a:extLst>
          </p:cNvPr>
          <p:cNvSpPr>
            <a:spLocks xmlns:a="http://schemas.openxmlformats.org/drawingml/2006/main" noGrp="1"/>
          </p:cNvSpPr>
          <p:nvPr/>
        </p:nvSpPr>
        <p:spPr>
          <a:xfrm xmlns:a="http://schemas.openxmlformats.org/drawingml/2006/main">
            <a:off x="1095375" y="527685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i="1">
                <a:solidFill>
                  <a:srgbClr val="1F2937"/>
                </a:solidFill>
                <a:latin typeface="Arial"/>
                <a:ea typeface="Arial"/>
                <a:cs typeface="Arial"/>
              </a:defRPr>
            </a:pPr>
            <a:r>
              <a:rPr sz="1425" i="1">
                <a:solidFill>
                  <a:srgbClr val="1F2937"/>
                </a:solidFill>
                <a:latin typeface="Arial"/>
                <a:ea typeface="Arial"/>
                <a:cs typeface="Arial"/>
              </a:rPr>
              <a:t>Fig. 1(b). Authenticated transport, trust policy, encrypted aggregation, validation, threshold release, verified distribution, and private inference.</a:t>
            </a:r>
          </a:p>
        </p:txBody>
      </p:sp>
      <p:sp>
        <p:nvSpPr>
          <p:cNvPr id="232" name="system-split-border">
            <a:extLst xmlns:a="http://schemas.openxmlformats.org/drawingml/2006/main">
              <a:ext uri="{FF2B5EF4-FFF2-40B4-BE49-F238E27FC236}">
                <a16:creationId xmlns:a16="http://schemas.microsoft.com/office/drawing/2014/main" id="{B9DBFB33-00FD-4E79-98C4-9F9BAECD179F}"/>
              </a:ext>
            </a:extLst>
          </p:cNvPr>
          <p:cNvSpPr>
            <a:spLocks xmlns:a="http://schemas.openxmlformats.org/drawingml/2006/main" noGrp="1"/>
          </p:cNvSpPr>
          <p:nvPr/>
        </p:nvSpPr>
        <p:spPr>
          <a:xfrm xmlns:a="http://schemas.openxmlformats.org/drawingml/2006/main">
            <a:off x="285750" y="295275"/>
            <a:ext cx="11811000" cy="6324600"/>
          </a:xfrm>
          <a:prstGeom xmlns:a="http://schemas.openxmlformats.org/drawingml/2006/main" prst="rect">
            <a:avLst/>
          </a:prstGeom>
          <a:noFill xmlns:a="http://schemas.openxmlformats.org/drawingml/2006/main"/>
          <a:ln xmlns:a="http://schemas.openxmlformats.org/drawingml/2006/main" w="11430">
            <a:solidFill>
              <a:srgbClr val="222222"/>
            </a:solidFill>
          </a:ln>
        </p:spPr>
      </p:sp>
      <p:sp>
        <p:nvSpPr>
          <p:cNvPr id="233" name="system-split-footer-rule">
            <a:extLst xmlns:a="http://schemas.openxmlformats.org/drawingml/2006/main">
              <a:ext uri="{FF2B5EF4-FFF2-40B4-BE49-F238E27FC236}">
                <a16:creationId xmlns:a16="http://schemas.microsoft.com/office/drawing/2014/main" id="{E7F44069-6AC4-46A6-9A95-D184276CB009}"/>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pic>
        <p:nvPicPr>
          <p:cNvPr id="251" name=""/>
          <p:cNvPicPr>
            <a:picLocks xmlns:a="http://schemas.openxmlformats.org/drawingml/2006/main" noChangeAspect="1"/>
          </p:cNvPicPr>
          <p:nvPr/>
        </p:nvPicPr>
        <p:blipFill>
          <a:blip xmlns:r="http://schemas.openxmlformats.org/officeDocument/2006/relationships" xmlns:a="http://schemas.openxmlformats.org/drawingml/2006/main" r:embed="R7c995bcee9344e14"/>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252" name=""/>
          <p:cNvPicPr>
            <a:picLocks xmlns:a="http://schemas.openxmlformats.org/drawingml/2006/main" noChangeAspect="1"/>
          </p:cNvPicPr>
          <p:nvPr/>
        </p:nvPicPr>
        <p:blipFill>
          <a:blip xmlns:r="http://schemas.openxmlformats.org/officeDocument/2006/relationships" xmlns:a="http://schemas.openxmlformats.org/drawingml/2006/main" r:embed="R7a8c48f3034a49a3"/>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236" name="system-split-visible-date">
            <a:extLst xmlns:a="http://schemas.openxmlformats.org/drawingml/2006/main">
              <a:ext uri="{FF2B5EF4-FFF2-40B4-BE49-F238E27FC236}">
                <a16:creationId xmlns:a16="http://schemas.microsoft.com/office/drawing/2014/main" id="{E2075F18-2B25-4895-AE37-0F2176F7AF6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a:solidFill>
                  <a:srgbClr val="062B6F"/>
                </a:solidFill>
                <a:latin typeface="Arial"/>
                <a:ea typeface="Arial"/>
                <a:cs typeface="Arial"/>
              </a:defRPr>
            </a:pPr>
            <a:r>
              <a:rPr sz="900">
                <a:solidFill>
                  <a:srgbClr val="062B6F"/>
                </a:solidFill>
                <a:latin typeface="Arial"/>
                <a:ea typeface="Arial"/>
                <a:cs typeface="Arial"/>
              </a:rPr>
              <a:t>25 September 2026</a:t>
            </a:r>
          </a:p>
        </p:txBody>
      </p:sp>
    </p:spTree>
    <p:extLst>
      <p:ext uri="{BB962C8B-B14F-4D97-AF65-F5344CB8AC3E}">
        <p14:creationId xmlns:p14="http://schemas.microsoft.com/office/powerpoint/2010/main" val="22446828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Formulation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19</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e374f45b40745e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10d5c3da76845a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Learning objective</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F(w) = Σₖ (nₖ/N)Fₖ(w)</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Fₖ(w) = (1/nₖ)Σᵢ ℓ(w; xᵢ, yᵢ)</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Protected local update</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ḡₖᵗ = gₖᵗ / max(1, ||gₖᵗ||₂/C)</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uₖᵗ = Qₛₜ(ḡₖᵗ + zₖᵗ + eₖᵗ)</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Encrypted aggregation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cₜ = ⊕ₖ∈Aₜ Encₚₖ(uₖᵗ)</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wₜ₊₁ = wₜ − ηₜ Decₜ(cₜ)/|Aₜ|</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Design constraints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Minimize final loss and serialized bytes subject to record-level DP, verified aggregation, threshold-authorized release, and auditable execution.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0B393FC-42F7-D7BB-5BEF-646BBB8320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Design</a:t>
            </a:r>
            <a:endParaRPr/>
          </a:p>
        </p:txBody>
      </p:sp>
      <p:sp>
        <p:nvSpPr>
          <p:cNvPr id="212" name="Google Shape;212;p28">
            <a:extLst xmlns:a="http://schemas.openxmlformats.org/drawingml/2006/main">
              <a:ext uri="{FF2B5EF4-FFF2-40B4-BE49-F238E27FC236}">
                <a16:creationId xmlns:a16="http://schemas.microsoft.com/office/drawing/2014/main" id="{F0F25C4D-A462-7DA7-C209-CF24A66829D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20</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d2ab36a9c1a43c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aaec99c1aa94e6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AB162E3B-8DFF-696B-E379-B77DF5DD1E5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FF335FC-219B-D214-8F49-6CB76510354D}"/>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design-step-1">
            <a:extLst xmlns:a="http://schemas.openxmlformats.org/drawingml/2006/main">
              <a:ext uri="{FF2B5EF4-FFF2-40B4-BE49-F238E27FC236}">
                <a16:creationId xmlns:a16="http://schemas.microsoft.com/office/drawing/2014/main" id="{8B47488A-154B-4C19-9728-8035407A57B6}"/>
              </a:ext>
            </a:extLst>
          </p:cNvPr>
          <p:cNvSpPr>
            <a:spLocks xmlns:a="http://schemas.openxmlformats.org/drawingml/2006/main" noGrp="1"/>
          </p:cNvSpPr>
          <p:nvPr/>
        </p:nvSpPr>
        <p:spPr>
          <a:xfrm xmlns:a="http://schemas.openxmlformats.org/drawingml/2006/main">
            <a:off x="61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PhysioNet 2019</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40,336 patients</a:t>
            </a:r>
          </a:p>
        </p:txBody>
      </p:sp>
      <p:sp>
        <p:nvSpPr>
          <p:cNvPr id="221" name="rule-230-302">
            <a:extLst xmlns:a="http://schemas.openxmlformats.org/drawingml/2006/main">
              <a:ext uri="{FF2B5EF4-FFF2-40B4-BE49-F238E27FC236}">
                <a16:creationId xmlns:a16="http://schemas.microsoft.com/office/drawing/2014/main" id="{3E29BB4F-BB59-440E-8972-FAFBC3519283}"/>
              </a:ext>
            </a:extLst>
          </p:cNvPr>
          <p:cNvSpPr>
            <a:spLocks xmlns:a="http://schemas.openxmlformats.org/drawingml/2006/main" noGrp="1"/>
          </p:cNvSpPr>
          <p:nvPr/>
        </p:nvSpPr>
        <p:spPr>
          <a:xfrm xmlns:a="http://schemas.openxmlformats.org/drawingml/2006/main">
            <a:off x="219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design-step-2">
            <a:extLst xmlns:a="http://schemas.openxmlformats.org/drawingml/2006/main">
              <a:ext uri="{FF2B5EF4-FFF2-40B4-BE49-F238E27FC236}">
                <a16:creationId xmlns:a16="http://schemas.microsoft.com/office/drawing/2014/main" id="{84C8675A-03B7-4272-8D88-E7B5FC535C39}"/>
              </a:ext>
            </a:extLst>
          </p:cNvPr>
          <p:cNvSpPr>
            <a:spLocks xmlns:a="http://schemas.openxmlformats.org/drawingml/2006/main" noGrp="1"/>
          </p:cNvSpPr>
          <p:nvPr/>
        </p:nvSpPr>
        <p:spPr>
          <a:xfrm xmlns:a="http://schemas.openxmlformats.org/drawingml/2006/main">
            <a:off x="252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Natural split</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Hospital A and B</a:t>
            </a:r>
          </a:p>
        </p:txBody>
      </p:sp>
      <p:sp>
        <p:nvSpPr>
          <p:cNvPr id="223" name="rule-430-302">
            <a:extLst xmlns:a="http://schemas.openxmlformats.org/drawingml/2006/main">
              <a:ext uri="{FF2B5EF4-FFF2-40B4-BE49-F238E27FC236}">
                <a16:creationId xmlns:a16="http://schemas.microsoft.com/office/drawing/2014/main" id="{CE82DF3B-F7C1-4C56-905B-554E1A1B8C97}"/>
              </a:ext>
            </a:extLst>
          </p:cNvPr>
          <p:cNvSpPr>
            <a:spLocks xmlns:a="http://schemas.openxmlformats.org/drawingml/2006/main" noGrp="1"/>
          </p:cNvSpPr>
          <p:nvPr/>
        </p:nvSpPr>
        <p:spPr>
          <a:xfrm xmlns:a="http://schemas.openxmlformats.org/drawingml/2006/main">
            <a:off x="409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4" name="design-step-3">
            <a:extLst xmlns:a="http://schemas.openxmlformats.org/drawingml/2006/main">
              <a:ext uri="{FF2B5EF4-FFF2-40B4-BE49-F238E27FC236}">
                <a16:creationId xmlns:a16="http://schemas.microsoft.com/office/drawing/2014/main" id="{2DA4CED2-59B1-4E4B-B407-41898578097A}"/>
              </a:ext>
            </a:extLst>
          </p:cNvPr>
          <p:cNvSpPr>
            <a:spLocks xmlns:a="http://schemas.openxmlformats.org/drawingml/2006/main" noGrp="1"/>
          </p:cNvSpPr>
          <p:nvPr/>
        </p:nvSpPr>
        <p:spPr>
          <a:xfrm xmlns:a="http://schemas.openxmlformats.org/drawingml/2006/main">
            <a:off x="442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Five paired seeds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Frozen protocol</a:t>
            </a:r>
          </a:p>
        </p:txBody>
      </p:sp>
      <p:sp>
        <p:nvSpPr>
          <p:cNvPr id="225" name="rule-630-302">
            <a:extLst xmlns:a="http://schemas.openxmlformats.org/drawingml/2006/main">
              <a:ext uri="{FF2B5EF4-FFF2-40B4-BE49-F238E27FC236}">
                <a16:creationId xmlns:a16="http://schemas.microsoft.com/office/drawing/2014/main" id="{9DE0EBB8-AA62-4581-BD02-9DE6FF5C4994}"/>
              </a:ext>
            </a:extLst>
          </p:cNvPr>
          <p:cNvSpPr>
            <a:spLocks xmlns:a="http://schemas.openxmlformats.org/drawingml/2006/main" noGrp="1"/>
          </p:cNvSpPr>
          <p:nvPr/>
        </p:nvSpPr>
        <p:spPr>
          <a:xfrm xmlns:a="http://schemas.openxmlformats.org/drawingml/2006/main">
            <a:off x="600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6" name="design-step-4">
            <a:extLst xmlns:a="http://schemas.openxmlformats.org/drawingml/2006/main">
              <a:ext uri="{FF2B5EF4-FFF2-40B4-BE49-F238E27FC236}">
                <a16:creationId xmlns:a16="http://schemas.microsoft.com/office/drawing/2014/main" id="{6C501C09-CAC3-4E5E-B35C-8FE6F90B0D4E}"/>
              </a:ext>
            </a:extLst>
          </p:cNvPr>
          <p:cNvSpPr>
            <a:spLocks xmlns:a="http://schemas.openxmlformats.org/drawingml/2006/main" noGrp="1"/>
          </p:cNvSpPr>
          <p:nvPr/>
        </p:nvSpPr>
        <p:spPr>
          <a:xfrm xmlns:a="http://schemas.openxmlformats.org/drawingml/2006/main">
            <a:off x="633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Baselines and</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a:t>
            </a:r>
          </a:p>
        </p:txBody>
      </p:sp>
      <p:sp>
        <p:nvSpPr>
          <p:cNvPr id="227" name="rule-830-302">
            <a:extLst xmlns:a="http://schemas.openxmlformats.org/drawingml/2006/main">
              <a:ext uri="{FF2B5EF4-FFF2-40B4-BE49-F238E27FC236}">
                <a16:creationId xmlns:a16="http://schemas.microsoft.com/office/drawing/2014/main" id="{56AE0268-473C-4919-9E91-78D2E8B3CA68}"/>
              </a:ext>
            </a:extLst>
          </p:cNvPr>
          <p:cNvSpPr>
            <a:spLocks xmlns:a="http://schemas.openxmlformats.org/drawingml/2006/main" noGrp="1"/>
          </p:cNvSpPr>
          <p:nvPr/>
        </p:nvSpPr>
        <p:spPr>
          <a:xfrm xmlns:a="http://schemas.openxmlformats.org/drawingml/2006/main">
            <a:off x="790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8" name="design-step-5">
            <a:extLst xmlns:a="http://schemas.openxmlformats.org/drawingml/2006/main">
              <a:ext uri="{FF2B5EF4-FFF2-40B4-BE49-F238E27FC236}">
                <a16:creationId xmlns:a16="http://schemas.microsoft.com/office/drawing/2014/main" id="{3478D8CC-727A-4AF4-9774-3ED0CDC2523B}"/>
              </a:ext>
            </a:extLst>
          </p:cNvPr>
          <p:cNvSpPr>
            <a:spLocks xmlns:a="http://schemas.openxmlformats.org/drawingml/2006/main" noGrp="1"/>
          </p:cNvSpPr>
          <p:nvPr/>
        </p:nvSpPr>
        <p:spPr>
          <a:xfrm xmlns:a="http://schemas.openxmlformats.org/drawingml/2006/main">
            <a:off x="823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Utility, attacks,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wire and systems</a:t>
            </a:r>
          </a:p>
        </p:txBody>
      </p:sp>
      <p:sp>
        <p:nvSpPr>
          <p:cNvPr id="229" name="rule-1030-302">
            <a:extLst xmlns:a="http://schemas.openxmlformats.org/drawingml/2006/main">
              <a:ext uri="{FF2B5EF4-FFF2-40B4-BE49-F238E27FC236}">
                <a16:creationId xmlns:a16="http://schemas.microsoft.com/office/drawing/2014/main" id="{806F1D3C-48E0-4725-B9C8-6F200AAEEADE}"/>
              </a:ext>
            </a:extLst>
          </p:cNvPr>
          <p:cNvSpPr>
            <a:spLocks xmlns:a="http://schemas.openxmlformats.org/drawingml/2006/main" noGrp="1"/>
          </p:cNvSpPr>
          <p:nvPr/>
        </p:nvSpPr>
        <p:spPr>
          <a:xfrm xmlns:a="http://schemas.openxmlformats.org/drawingml/2006/main">
            <a:off x="981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30" name="design-step-6">
            <a:extLst xmlns:a="http://schemas.openxmlformats.org/drawingml/2006/main">
              <a:ext uri="{FF2B5EF4-FFF2-40B4-BE49-F238E27FC236}">
                <a16:creationId xmlns:a16="http://schemas.microsoft.com/office/drawing/2014/main" id="{D8B96DD7-3444-487E-850F-33106000B96A}"/>
              </a:ext>
            </a:extLst>
          </p:cNvPr>
          <p:cNvSpPr>
            <a:spLocks xmlns:a="http://schemas.openxmlformats.org/drawingml/2006/main" noGrp="1"/>
          </p:cNvSpPr>
          <p:nvPr/>
        </p:nvSpPr>
        <p:spPr>
          <a:xfrm xmlns:a="http://schemas.openxmlformats.org/drawingml/2006/main">
            <a:off x="1014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Paired inference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and claim boundary</a:t>
            </a:r>
          </a:p>
        </p:txBody>
      </p:sp>
      <p:sp>
        <p:nvSpPr>
          <p:cNvPr id="231" name="design-bullets">
            <a:extLst xmlns:a="http://schemas.openxmlformats.org/drawingml/2006/main">
              <a:ext uri="{FF2B5EF4-FFF2-40B4-BE49-F238E27FC236}">
                <a16:creationId xmlns:a16="http://schemas.microsoft.com/office/drawing/2014/main" id="{87C7EF95-D8FE-4386-BABD-F9B7504F2A1E}"/>
              </a:ext>
            </a:extLst>
          </p:cNvPr>
          <p:cNvSpPr>
            <a:spLocks xmlns:a="http://schemas.openxmlformats.org/drawingml/2006/main" noGrp="1"/>
          </p:cNvSpPr>
          <p:nvPr/>
        </p:nvSpPr>
        <p:spPr>
          <a:xfrm xmlns:a="http://schemas.openxmlformats.org/drawingml/2006/main">
            <a:off x="1428750" y="3952875"/>
            <a:ext cx="9334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Cross-silo client-server experiment with a naturally partitioned healthcare cohort.</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Same model, privacy budget, CKKS context, round budget, and evaluation split across compared methods.</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Claims restricted to the evaluated data, attacks, deployment, and trust assumptions.</a:t>
            </a:r>
          </a:p>
        </p:txBody>
      </p:sp>
      <p:sp>
        <p:nvSpPr>
          <p:cNvPr id="234" name="visible-footer-date-15">
            <a:extLst xmlns:a="http://schemas.openxmlformats.org/drawingml/2006/main">
              <a:ext uri="{FF2B5EF4-FFF2-40B4-BE49-F238E27FC236}">
                <a16:creationId xmlns:a16="http://schemas.microsoft.com/office/drawing/2014/main" id="{A61205BE-2644-47EC-8F1A-C75D6617A9F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251748902"/>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A1079EE-366E-379B-6617-A562F928AC23}"/>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Collection Methods</a:t>
            </a:r>
            <a:endParaRPr/>
          </a:p>
        </p:txBody>
      </p:sp>
      <p:sp>
        <p:nvSpPr>
          <p:cNvPr id="212" name="Google Shape;212;p28">
            <a:extLst xmlns:a="http://schemas.openxmlformats.org/drawingml/2006/main">
              <a:ext uri="{FF2B5EF4-FFF2-40B4-BE49-F238E27FC236}">
                <a16:creationId xmlns:a16="http://schemas.microsoft.com/office/drawing/2014/main" id="{8569B78E-82D5-1F00-FFF4-A1F4DD38C16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21</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13882cb19dd4df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9182683669042d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FC08CC14-CDF6-806A-B93A-0FA7436F423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4499EB51-E4C9-FA4D-EE6B-97CAA41AFCB0}"/>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dataset-number">
            <a:extLst xmlns:a="http://schemas.openxmlformats.org/drawingml/2006/main">
              <a:ext uri="{FF2B5EF4-FFF2-40B4-BE49-F238E27FC236}">
                <a16:creationId xmlns:a16="http://schemas.microsoft.com/office/drawing/2014/main" id="{5EAA8510-E034-4D48-B664-788A309791E6}"/>
              </a:ext>
            </a:extLst>
          </p:cNvPr>
          <p:cNvSpPr>
            <a:spLocks xmlns:a="http://schemas.openxmlformats.org/drawingml/2006/main" noGrp="1"/>
          </p:cNvSpPr>
          <p:nvPr/>
        </p:nvSpPr>
        <p:spPr>
          <a:xfrm xmlns:a="http://schemas.openxmlformats.org/drawingml/2006/main">
            <a:off x="857250" y="152400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650" b="1" i="0">
                <a:solidFill>
                  <a:srgbClr val="00843D"/>
                </a:solidFill>
                <a:latin typeface="Arial"/>
                <a:ea typeface="Arial"/>
                <a:cs typeface="Arial"/>
              </a:defRPr>
            </a:pPr>
            <a:r>
              <a:rPr sz="4650" b="1" i="0">
                <a:solidFill>
                  <a:srgbClr val="00843D"/>
                </a:solidFill>
                <a:latin typeface="Arial"/>
                <a:ea typeface="Arial"/>
                <a:cs typeface="Arial"/>
              </a:rPr>
              <a:t>40,336</a:t>
            </a:r>
          </a:p>
        </p:txBody>
      </p:sp>
      <p:sp>
        <p:nvSpPr>
          <p:cNvPr id="221" name="dataset-label">
            <a:extLst xmlns:a="http://schemas.openxmlformats.org/drawingml/2006/main">
              <a:ext uri="{FF2B5EF4-FFF2-40B4-BE49-F238E27FC236}">
                <a16:creationId xmlns:a16="http://schemas.microsoft.com/office/drawing/2014/main" id="{68F1A882-762B-4DE6-92F9-57C0EFB3AE60}"/>
              </a:ext>
            </a:extLst>
          </p:cNvPr>
          <p:cNvSpPr>
            <a:spLocks xmlns:a="http://schemas.openxmlformats.org/drawingml/2006/main" noGrp="1"/>
          </p:cNvSpPr>
          <p:nvPr/>
        </p:nvSpPr>
        <p:spPr>
          <a:xfrm xmlns:a="http://schemas.openxmlformats.org/drawingml/2006/main">
            <a:off x="857250" y="2476500"/>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patient records in the PhysioNet 2019 sepsis cohort</a:t>
            </a:r>
          </a:p>
        </p:txBody>
      </p:sp>
      <p:sp>
        <p:nvSpPr>
          <p:cNvPr id="222" name="rule-475-150">
            <a:extLst xmlns:a="http://schemas.openxmlformats.org/drawingml/2006/main">
              <a:ext uri="{FF2B5EF4-FFF2-40B4-BE49-F238E27FC236}">
                <a16:creationId xmlns:a16="http://schemas.microsoft.com/office/drawing/2014/main" id="{BE5BC648-CA59-4609-88EA-F682A6F3B7FD}"/>
              </a:ext>
            </a:extLst>
          </p:cNvPr>
          <p:cNvSpPr>
            <a:spLocks xmlns:a="http://schemas.openxmlformats.org/drawingml/2006/main" noGrp="1"/>
          </p:cNvSpPr>
          <p:nvPr/>
        </p:nvSpPr>
        <p:spPr>
          <a:xfrm xmlns:a="http://schemas.openxmlformats.org/drawingml/2006/main">
            <a:off x="4524375" y="1428750"/>
            <a:ext cx="28575" cy="40005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3" name="collection-bullets">
            <a:extLst xmlns:a="http://schemas.openxmlformats.org/drawingml/2006/main">
              <a:ext uri="{FF2B5EF4-FFF2-40B4-BE49-F238E27FC236}">
                <a16:creationId xmlns:a16="http://schemas.microsoft.com/office/drawing/2014/main" id="{CBAD06CC-1B5F-413F-9972-4F496E0E3893}"/>
              </a:ext>
            </a:extLst>
          </p:cNvPr>
          <p:cNvSpPr>
            <a:spLocks xmlns:a="http://schemas.openxmlformats.org/drawingml/2006/main" noGrp="1"/>
          </p:cNvSpPr>
          <p:nvPr/>
        </p:nvSpPr>
        <p:spPr>
          <a:xfrm xmlns:a="http://schemas.openxmlformats.org/drawingml/2006/main">
            <a:off x="5048250" y="1476375"/>
            <a:ext cx="6191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Open retrospective critical-care data released for the PhysioNet/Computing in Cardiology Challenge [19].</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Two natural source partitions retained as Hospital A and Hospital B rather than randomly mixing institutions.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Patient records remain local during the simulated cross-silo training process.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Consent and governance assumptions follow the public dataset terms. The study does not involve prospective patient recruitment.</a:t>
            </a:r>
          </a:p>
        </p:txBody>
      </p:sp>
      <p:sp>
        <p:nvSpPr>
          <p:cNvPr id="224" name="collection-source">
            <a:extLst xmlns:a="http://schemas.openxmlformats.org/drawingml/2006/main">
              <a:ext uri="{FF2B5EF4-FFF2-40B4-BE49-F238E27FC236}">
                <a16:creationId xmlns:a16="http://schemas.microsoft.com/office/drawing/2014/main" id="{167C21B0-EB7E-4D39-9DFF-3ECA0A072CE1}"/>
              </a:ext>
            </a:extLst>
          </p:cNvPr>
          <p:cNvSpPr>
            <a:spLocks xmlns:a="http://schemas.openxmlformats.org/drawingml/2006/main" noGrp="1"/>
          </p:cNvSpPr>
          <p:nvPr/>
        </p:nvSpPr>
        <p:spPr>
          <a:xfrm xmlns:a="http://schemas.openxmlformats.org/drawingml/2006/main">
            <a:off x="5048250" y="54768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i="1">
                <a:solidFill>
                  <a:srgbClr val="5B6573"/>
                </a:solidFill>
                <a:latin typeface="Arial"/>
                <a:ea typeface="Arial"/>
                <a:cs typeface="Arial"/>
              </a:defRPr>
            </a:pPr>
            <a:r>
              <a:rPr sz="1350" b="0" i="1">
                <a:solidFill>
                  <a:srgbClr val="5B6573"/>
                </a:solidFill>
                <a:latin typeface="Arial"/>
                <a:ea typeface="Arial"/>
                <a:cs typeface="Arial"/>
              </a:rPr>
              <a:t>Source: Reyna et al., Critical Care Medicine, 2020 [19].</a:t>
            </a:r>
          </a:p>
        </p:txBody>
      </p:sp>
      <p:sp>
        <p:nvSpPr>
          <p:cNvPr id="227" name="visible-footer-date-16">
            <a:extLst xmlns:a="http://schemas.openxmlformats.org/drawingml/2006/main">
              <a:ext uri="{FF2B5EF4-FFF2-40B4-BE49-F238E27FC236}">
                <a16:creationId xmlns:a16="http://schemas.microsoft.com/office/drawing/2014/main" id="{07201868-099B-4C0E-959D-74FC956B67D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44198176"/>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Analysis Methods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22</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82c754baf2214db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3fa575f4608413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Utility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Accuracy, precision, recall, F1, AUROC, AUPRC, balanced accuracy, MCC, and Brier score.</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Privacy</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LiRA and RMIA membership inference with eight reference models per seed. A 300-step gradient reconstruction attack.</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Poisoning</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Seven one-round attacks at 40% malicious clients and two longitudinal attack settings.</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Systems and statistics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Serialized CKKS bytes, latency, cryptographic correctness, five paired seeds, 95% t intervals, and Holm correction.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Budget Plan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23</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b185f2e443249b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14882316203419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No major project cost was required</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IV. Resources used for the thesis</a:t>
            </a:r>
          </a:p>
        </p:txBody>
      </p:sp>
      <p:graphicFrame>
        <p:nvGraphicFramePr>
          <p:cNvPr id="239" name=""/>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Resource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Provision</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Direct project cost</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PhysioNet 2019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Public research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Python, PyTorch, TenSEAL, OpenFHE</a:t>
                      </a:r>
                    </a:p>
                  </a:txBody>
                  <a:tcPr marL="66675" marR="66675" marT="47625" marB="47625" anchor="ctr">
                    <a:solidFill>
                      <a:srgbClr val="FFFFFF"/>
                    </a:solidFill>
                  </a:tcPr>
                </a:tc>
                <a:tc>
                  <a:txBody>
                    <a:bodyPr/>
                    <a:lstStyle/>
                    <a:p>
                      <a:r>
                        <a:rPr sz="1350">
                          <a:solidFill>
                            <a:srgbClr val="1F2937"/>
                          </a:solidFill>
                          <a:latin typeface="Arial"/>
                          <a:ea typeface="Arial"/>
                          <a:cs typeface="Arial"/>
                        </a:rPr>
                        <a:t>Open-source software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licence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Development hardware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Existing personal computer</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new purchase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Documentation and collaboration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University and existing services</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major additional cost</a:t>
                      </a:r>
                    </a:p>
                  </a:txBody>
                  <a:tcPr marL="66675" marR="66675" marT="47625" marB="47625" anchor="ctr">
                    <a:solidFill>
                      <a:srgbClr val="FFFFFF"/>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Optional cloud hardware and production deployment were outside the funded scope.</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pic>
        <p:nvPicPr>
          <p:cNvPr id="587" name="Google Shape;484;p49"/>
          <p:cNvPicPr>
            <a:picLocks xmlns:a="http://schemas.openxmlformats.org/drawingml/2006/main" noChangeAspect="1"/>
          </p:cNvPicPr>
          <p:nvPr/>
        </p:nvPicPr>
        <p:blipFill rotWithShape="1">
          <a:blip xmlns:r="http://schemas.openxmlformats.org/officeDocument/2006/relationships" xmlns:a="http://schemas.openxmlformats.org/drawingml/2006/main" r:embed="R83d83b1fe1e34f1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588" name="Google Shape;485;p49"/>
          <p:cNvPicPr>
            <a:picLocks xmlns:a="http://schemas.openxmlformats.org/drawingml/2006/main" noChangeAspect="1"/>
          </p:cNvPicPr>
          <p:nvPr/>
        </p:nvPicPr>
        <p:blipFill rotWithShape="1">
          <a:blip xmlns:r="http://schemas.openxmlformats.org/officeDocument/2006/relationships" xmlns:a="http://schemas.openxmlformats.org/drawingml/2006/main" r:embed="R3b62a665e88b4bb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589" name="Google Shape;486;p49"/>
          <p:cNvPicPr>
            <a:picLocks xmlns:a="http://schemas.openxmlformats.org/drawingml/2006/main" noChangeAspect="1"/>
          </p:cNvPicPr>
          <p:nvPr/>
        </p:nvPicPr>
        <p:blipFill rotWithShape="1">
          <a:blip xmlns:r="http://schemas.openxmlformats.org/officeDocument/2006/relationships" xmlns:a="http://schemas.openxmlformats.org/drawingml/2006/main" r:embed="R7d05b3bb3d03456b">
            <a:alphaModFix/>
          </a:blip>
          <a:srcRect xmlns:a="http://schemas.openxmlformats.org/drawingml/2006/main" l="1182" t="2324" r="3424" b="0"/>
          <a:stretch xmlns:a="http://schemas.openxmlformats.org/drawingml/2006/main"/>
        </p:blipFill>
        <p:spPr>
          <a:xfrm xmlns:a="http://schemas.openxmlformats.org/drawingml/2006/main">
            <a:off x="2210143" y="374895"/>
            <a:ext cx="7565367" cy="5537780"/>
          </a:xfrm>
          <a:prstGeom xmlns:a="http://schemas.openxmlformats.org/drawingml/2006/main" prst="rect">
            <a:avLst/>
          </a:prstGeom>
          <a:ln xmlns:a="http://schemas.openxmlformats.org/drawingml/2006/main">
            <a:noFill/>
          </a:ln>
        </p:spPr>
      </p:pic>
      <p:sp>
        <p:nvSpPr>
          <p:cNvPr id="487" name="Google Shape;487;p49">
            <a:extLst xmlns:a="http://schemas.openxmlformats.org/drawingml/2006/main">
              <a:ext uri="{FF2B5EF4-FFF2-40B4-BE49-F238E27FC236}">
                <a16:creationId xmlns:a16="http://schemas.microsoft.com/office/drawing/2014/main" id="{78E1052A-C591-416F-86AE-AD46DA65D61B}"/>
              </a:ext>
            </a:extLst>
          </p:cNvPr>
          <p:cNvSpPr>
            <a:spLocks xmlns:a="http://schemas.openxmlformats.org/drawingml/2006/main" noGrp="1"/>
          </p:cNvSpPr>
          <p:nvPr>
            <p:ph type="title" idx="0"/>
          </p:nvPr>
        </p:nvSpPr>
        <p:spPr>
          <a:xfrm xmlns:a="http://schemas.openxmlformats.org/drawingml/2006/main">
            <a:off x="3308410" y="4417569"/>
            <a:ext cx="5865900"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lvl="0" algn="ctr">
              <a:buSzPts val="4000"/>
              <a:buNone/>
            </a:pPr>
            <a:r>
              <a:rPr sz="4000">
                <a:latin typeface="Arial"/>
                <a:ea typeface="Arial"/>
                <a:cs typeface="Arial"/>
              </a:rPr>
              <a:t>Results and Discussion</a:t>
            </a:r>
            <a:endParaRPr/>
          </a:p>
        </p:txBody>
      </p:sp>
      <p:pic>
        <p:nvPicPr>
          <p:cNvPr id="591" name="Google Shape;488;p49"/>
          <p:cNvPicPr>
            <a:picLocks xmlns:a="http://schemas.openxmlformats.org/drawingml/2006/main" noChangeAspect="1"/>
          </p:cNvPicPr>
          <p:nvPr/>
        </p:nvPicPr>
        <p:blipFill rotWithShape="1">
          <a:blip xmlns:r="http://schemas.openxmlformats.org/officeDocument/2006/relationships" xmlns:a="http://schemas.openxmlformats.org/drawingml/2006/main" r:embed="R6a05838443b948b4">
            <a:alphaModFix/>
          </a:blip>
          <a:srcRect xmlns:a="http://schemas.openxmlformats.org/drawingml/2006/main" l="0" t="0" r="0" b="0"/>
          <a:stretch xmlns:a="http://schemas.openxmlformats.org/drawingml/2006/main"/>
        </p:blipFill>
        <p:spPr>
          <a:xfrm xmlns:a="http://schemas.openxmlformats.org/drawingml/2006/main">
            <a:off x="4782271" y="1829206"/>
            <a:ext cx="2341861" cy="2341861"/>
          </a:xfrm>
          <a:prstGeom xmlns:a="http://schemas.openxmlformats.org/drawingml/2006/main" prst="rect">
            <a:avLst/>
          </a:prstGeom>
          <a:ln xmlns:a="http://schemas.openxmlformats.org/drawingml/2006/main">
            <a:noFill/>
          </a:ln>
        </p:spPr>
      </p:pic>
      <p:cxnSp>
        <p:nvCxnSpPr>
          <p:cNvPr id="592"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491" name="Google Shape;491;p49">
            <a:extLst xmlns:a="http://schemas.openxmlformats.org/drawingml/2006/main">
              <a:ext uri="{FF2B5EF4-FFF2-40B4-BE49-F238E27FC236}">
                <a16:creationId xmlns:a16="http://schemas.microsoft.com/office/drawing/2014/main" id="{386DBC97-F1BF-4EB9-A553-93FA54200B8D}"/>
              </a:ext>
            </a:extLst>
          </p:cNvPr>
          <p:cNvSpPr>
            <a:spLocks xmlns:a="http://schemas.openxmlformats.org/drawingml/2006/main" noGrp="1"/>
          </p:cNvSpPr>
          <p:nvPr>
            <p:ph type="dt" idx="10"/>
          </p:nvPr>
        </p:nvSpPr>
        <p:spPr>
          <a:xfrm xmlns:a="http://schemas.openxmlformats.org/drawingml/2006/main">
            <a:off x="462800" y="6396577"/>
            <a:ext cx="139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A60FB40A-D25F-F66E-D3EC-B635D9E753B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F0366C7A-4C73-D4CB-3B84-166111325F0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24</a:t>
            </a:r>
            <a:endParaRPr sz="2800"/>
          </a:p>
        </p:txBody>
      </p:sp>
      <p:sp>
        <p:nvSpPr>
          <p:cNvPr id="506" name="visible-footer-date-19">
            <a:extLst xmlns:a="http://schemas.openxmlformats.org/drawingml/2006/main">
              <a:ext uri="{FF2B5EF4-FFF2-40B4-BE49-F238E27FC236}">
                <a16:creationId xmlns:a16="http://schemas.microsoft.com/office/drawing/2014/main" id="{1AD8E625-EAFD-4388-9F52-DF4218A5D8B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511854777"/>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9749074-61B2-7B23-C5FD-A3C425EE12E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Key Findings</a:t>
            </a:r>
            <a:endParaRPr/>
          </a:p>
        </p:txBody>
      </p:sp>
      <p:sp>
        <p:nvSpPr>
          <p:cNvPr id="212" name="Google Shape;212;p28">
            <a:extLst xmlns:a="http://schemas.openxmlformats.org/drawingml/2006/main">
              <a:ext uri="{FF2B5EF4-FFF2-40B4-BE49-F238E27FC236}">
                <a16:creationId xmlns:a16="http://schemas.microsoft.com/office/drawing/2014/main" id="{35C11982-4687-AC0D-8620-6C19505BCB5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25</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de8812b73ba4ff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d9a55d97c84434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2474A79-A604-DA23-71E4-29A8E265570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D789CD-D6D2-713C-348F-D575DA199A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metric-value-0">
            <a:extLst xmlns:a="http://schemas.openxmlformats.org/drawingml/2006/main">
              <a:ext uri="{FF2B5EF4-FFF2-40B4-BE49-F238E27FC236}">
                <a16:creationId xmlns:a16="http://schemas.microsoft.com/office/drawing/2014/main" id="{81FCF53F-B390-49AA-B12A-27362E742030}"/>
              </a:ext>
            </a:extLst>
          </p:cNvPr>
          <p:cNvSpPr>
            <a:spLocks xmlns:a="http://schemas.openxmlformats.org/drawingml/2006/main" noGrp="1"/>
          </p:cNvSpPr>
          <p:nvPr/>
        </p:nvSpPr>
        <p:spPr>
          <a:xfrm xmlns:a="http://schemas.openxmlformats.org/drawingml/2006/main">
            <a:off x="57150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0.730</a:t>
            </a:r>
          </a:p>
        </p:txBody>
      </p:sp>
      <p:sp>
        <p:nvSpPr>
          <p:cNvPr id="221" name="metric-label-0">
            <a:extLst xmlns:a="http://schemas.openxmlformats.org/drawingml/2006/main">
              <a:ext uri="{FF2B5EF4-FFF2-40B4-BE49-F238E27FC236}">
                <a16:creationId xmlns:a16="http://schemas.microsoft.com/office/drawing/2014/main" id="{CE4EE827-C2BA-4B8D-8FD7-4CA11C6BAF5F}"/>
              </a:ext>
            </a:extLst>
          </p:cNvPr>
          <p:cNvSpPr>
            <a:spLocks xmlns:a="http://schemas.openxmlformats.org/drawingml/2006/main" noGrp="1"/>
          </p:cNvSpPr>
          <p:nvPr/>
        </p:nvSpPr>
        <p:spPr>
          <a:xfrm xmlns:a="http://schemas.openxmlformats.org/drawingml/2006/main">
            <a:off x="57150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AUROC</a:t>
            </a:r>
          </a:p>
        </p:txBody>
      </p:sp>
      <p:sp>
        <p:nvSpPr>
          <p:cNvPr id="222" name="rule-335-165">
            <a:extLst xmlns:a="http://schemas.openxmlformats.org/drawingml/2006/main">
              <a:ext uri="{FF2B5EF4-FFF2-40B4-BE49-F238E27FC236}">
                <a16:creationId xmlns:a16="http://schemas.microsoft.com/office/drawing/2014/main" id="{C7811AF5-FFCE-40EC-B2B6-0A1CACD2D75A}"/>
              </a:ext>
            </a:extLst>
          </p:cNvPr>
          <p:cNvSpPr>
            <a:spLocks xmlns:a="http://schemas.openxmlformats.org/drawingml/2006/main" noGrp="1"/>
          </p:cNvSpPr>
          <p:nvPr/>
        </p:nvSpPr>
        <p:spPr>
          <a:xfrm xmlns:a="http://schemas.openxmlformats.org/drawingml/2006/main">
            <a:off x="319087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metric-value-1">
            <a:extLst xmlns:a="http://schemas.openxmlformats.org/drawingml/2006/main">
              <a:ext uri="{FF2B5EF4-FFF2-40B4-BE49-F238E27FC236}">
                <a16:creationId xmlns:a16="http://schemas.microsoft.com/office/drawing/2014/main" id="{756F8A59-9ACA-4C1F-AEF2-EE1D91C9555B}"/>
              </a:ext>
            </a:extLst>
          </p:cNvPr>
          <p:cNvSpPr>
            <a:spLocks xmlns:a="http://schemas.openxmlformats.org/drawingml/2006/main" noGrp="1"/>
          </p:cNvSpPr>
          <p:nvPr/>
        </p:nvSpPr>
        <p:spPr>
          <a:xfrm xmlns:a="http://schemas.openxmlformats.org/drawingml/2006/main">
            <a:off x="347662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17365D"/>
                </a:solidFill>
                <a:latin typeface="Arial"/>
                <a:ea typeface="Arial"/>
                <a:cs typeface="Arial"/>
              </a:defRPr>
            </a:pPr>
            <a:r>
              <a:rPr sz="4200" b="1" i="0">
                <a:solidFill>
                  <a:srgbClr val="17365D"/>
                </a:solidFill>
                <a:latin typeface="Arial"/>
                <a:ea typeface="Arial"/>
                <a:cs typeface="Arial"/>
              </a:rPr>
              <a:t>0.384</a:t>
            </a:r>
          </a:p>
        </p:txBody>
      </p:sp>
      <p:sp>
        <p:nvSpPr>
          <p:cNvPr id="224" name="metric-label-1">
            <a:extLst xmlns:a="http://schemas.openxmlformats.org/drawingml/2006/main">
              <a:ext uri="{FF2B5EF4-FFF2-40B4-BE49-F238E27FC236}">
                <a16:creationId xmlns:a16="http://schemas.microsoft.com/office/drawing/2014/main" id="{9127602C-9C01-4A7E-AEEF-62548F94789E}"/>
              </a:ext>
            </a:extLst>
          </p:cNvPr>
          <p:cNvSpPr>
            <a:spLocks xmlns:a="http://schemas.openxmlformats.org/drawingml/2006/main" noGrp="1"/>
          </p:cNvSpPr>
          <p:nvPr/>
        </p:nvSpPr>
        <p:spPr>
          <a:xfrm xmlns:a="http://schemas.openxmlformats.org/drawingml/2006/main">
            <a:off x="347662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AUPRC</a:t>
            </a:r>
          </a:p>
        </p:txBody>
      </p:sp>
      <p:sp>
        <p:nvSpPr>
          <p:cNvPr id="225" name="rule-640-165">
            <a:extLst xmlns:a="http://schemas.openxmlformats.org/drawingml/2006/main">
              <a:ext uri="{FF2B5EF4-FFF2-40B4-BE49-F238E27FC236}">
                <a16:creationId xmlns:a16="http://schemas.microsoft.com/office/drawing/2014/main" id="{89547A79-1C4C-4AD2-94FF-D3B20425459D}"/>
              </a:ext>
            </a:extLst>
          </p:cNvPr>
          <p:cNvSpPr>
            <a:spLocks xmlns:a="http://schemas.openxmlformats.org/drawingml/2006/main" noGrp="1"/>
          </p:cNvSpPr>
          <p:nvPr/>
        </p:nvSpPr>
        <p:spPr>
          <a:xfrm xmlns:a="http://schemas.openxmlformats.org/drawingml/2006/main">
            <a:off x="6096000"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metric-value-2">
            <a:extLst xmlns:a="http://schemas.openxmlformats.org/drawingml/2006/main">
              <a:ext uri="{FF2B5EF4-FFF2-40B4-BE49-F238E27FC236}">
                <a16:creationId xmlns:a16="http://schemas.microsoft.com/office/drawing/2014/main" id="{DA443CB4-E551-4B2F-92D4-E0C463124B8A}"/>
              </a:ext>
            </a:extLst>
          </p:cNvPr>
          <p:cNvSpPr>
            <a:spLocks xmlns:a="http://schemas.openxmlformats.org/drawingml/2006/main" noGrp="1"/>
          </p:cNvSpPr>
          <p:nvPr/>
        </p:nvSpPr>
        <p:spPr>
          <a:xfrm xmlns:a="http://schemas.openxmlformats.org/drawingml/2006/main">
            <a:off x="638175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56.0%</a:t>
            </a:r>
          </a:p>
        </p:txBody>
      </p:sp>
      <p:sp>
        <p:nvSpPr>
          <p:cNvPr id="227" name="metric-label-2">
            <a:extLst xmlns:a="http://schemas.openxmlformats.org/drawingml/2006/main">
              <a:ext uri="{FF2B5EF4-FFF2-40B4-BE49-F238E27FC236}">
                <a16:creationId xmlns:a16="http://schemas.microsoft.com/office/drawing/2014/main" id="{BAF988F8-780C-48FA-A3DC-692446A8A2BD}"/>
              </a:ext>
            </a:extLst>
          </p:cNvPr>
          <p:cNvSpPr>
            <a:spLocks xmlns:a="http://schemas.openxmlformats.org/drawingml/2006/main" noGrp="1"/>
          </p:cNvSpPr>
          <p:nvPr/>
        </p:nvSpPr>
        <p:spPr>
          <a:xfrm xmlns:a="http://schemas.openxmlformats.org/drawingml/2006/main">
            <a:off x="638175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Encrypted upload reduction</a:t>
            </a:r>
          </a:p>
        </p:txBody>
      </p:sp>
      <p:sp>
        <p:nvSpPr>
          <p:cNvPr id="228" name="rule-945-165">
            <a:extLst xmlns:a="http://schemas.openxmlformats.org/drawingml/2006/main">
              <a:ext uri="{FF2B5EF4-FFF2-40B4-BE49-F238E27FC236}">
                <a16:creationId xmlns:a16="http://schemas.microsoft.com/office/drawing/2014/main" id="{78C123C2-3991-4E21-8749-EAF3B51C0BC4}"/>
              </a:ext>
            </a:extLst>
          </p:cNvPr>
          <p:cNvSpPr>
            <a:spLocks xmlns:a="http://schemas.openxmlformats.org/drawingml/2006/main" noGrp="1"/>
          </p:cNvSpPr>
          <p:nvPr/>
        </p:nvSpPr>
        <p:spPr>
          <a:xfrm xmlns:a="http://schemas.openxmlformats.org/drawingml/2006/main">
            <a:off x="900112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metric-value-3">
            <a:extLst xmlns:a="http://schemas.openxmlformats.org/drawingml/2006/main">
              <a:ext uri="{FF2B5EF4-FFF2-40B4-BE49-F238E27FC236}">
                <a16:creationId xmlns:a16="http://schemas.microsoft.com/office/drawing/2014/main" id="{B8BFB624-1091-4870-BBD2-DAEA3E982CDC}"/>
              </a:ext>
            </a:extLst>
          </p:cNvPr>
          <p:cNvSpPr>
            <a:spLocks xmlns:a="http://schemas.openxmlformats.org/drawingml/2006/main" noGrp="1"/>
          </p:cNvSpPr>
          <p:nvPr/>
        </p:nvSpPr>
        <p:spPr>
          <a:xfrm xmlns:a="http://schemas.openxmlformats.org/drawingml/2006/main">
            <a:off x="928687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3225" b="1" i="0">
                <a:solidFill>
                  <a:srgbClr val="17365D"/>
                </a:solidFill>
                <a:latin typeface="Arial"/>
                <a:ea typeface="Arial"/>
                <a:cs typeface="Arial"/>
              </a:defRPr>
            </a:pPr>
            <a:r>
              <a:rPr sz="3225" b="1" i="0">
                <a:solidFill>
                  <a:srgbClr val="17365D"/>
                </a:solidFill>
                <a:latin typeface="Arial"/>
                <a:ea typeface="Arial"/>
                <a:cs typeface="Arial"/>
              </a:rPr>
              <a:t>0.496-0.507</a:t>
            </a:r>
          </a:p>
        </p:txBody>
      </p:sp>
      <p:sp>
        <p:nvSpPr>
          <p:cNvPr id="230" name="metric-label-3">
            <a:extLst xmlns:a="http://schemas.openxmlformats.org/drawingml/2006/main">
              <a:ext uri="{FF2B5EF4-FFF2-40B4-BE49-F238E27FC236}">
                <a16:creationId xmlns:a16="http://schemas.microsoft.com/office/drawing/2014/main" id="{2C0F81FD-81D4-456F-BF65-6BF085CFE3F5}"/>
              </a:ext>
            </a:extLst>
          </p:cNvPr>
          <p:cNvSpPr>
            <a:spLocks xmlns:a="http://schemas.openxmlformats.org/drawingml/2006/main" noGrp="1"/>
          </p:cNvSpPr>
          <p:nvPr/>
        </p:nvSpPr>
        <p:spPr>
          <a:xfrm xmlns:a="http://schemas.openxmlformats.org/drawingml/2006/main">
            <a:off x="928687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Private-model attack AUC</a:t>
            </a:r>
          </a:p>
        </p:txBody>
      </p:sp>
      <p:sp>
        <p:nvSpPr>
          <p:cNvPr id="231" name="finding-bullets">
            <a:extLst xmlns:a="http://schemas.openxmlformats.org/drawingml/2006/main">
              <a:ext uri="{FF2B5EF4-FFF2-40B4-BE49-F238E27FC236}">
                <a16:creationId xmlns:a16="http://schemas.microsoft.com/office/drawing/2014/main" id="{75FFB60E-1FC8-4EE1-BB1F-4F4B853F2D0E}"/>
              </a:ext>
            </a:extLst>
          </p:cNvPr>
          <p:cNvSpPr>
            <a:spLocks xmlns:a="http://schemas.openxmlformats.org/drawingml/2006/main" noGrp="1"/>
          </p:cNvSpPr>
          <p:nvPr/>
        </p:nvSpPr>
        <p:spPr>
          <a:xfrm xmlns:a="http://schemas.openxmlformats.org/drawingml/2006/main">
            <a:off x="1238250" y="3762375"/>
            <a:ext cx="9715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076"/>
          </a:bodyPr>
          <a:lstStyle xmlns:a="http://schemas.openxmlformats.org/drawingml/2006/main"/>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CAABC-FL passed the registered AUROC non-inferiority gate against dense DP-FedAvg-CKKS.</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AUPRC difference was negative, so the evidence does not support universal utility superiority.</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governance layer contained the tested longitudinal backdoor with 60% rollback and a 0.0293 clean-AUROC cost.</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OpenFHE 3-of-3 CKKS achieved maximum error of 1.34 x 10^-13, while the main service remained centrally keyed.</a:t>
            </a:r>
          </a:p>
        </p:txBody>
      </p:sp>
      <p:sp>
        <p:nvSpPr>
          <p:cNvPr id="234" name="visible-footer-date-20">
            <a:extLst xmlns:a="http://schemas.openxmlformats.org/drawingml/2006/main">
              <a:ext uri="{FF2B5EF4-FFF2-40B4-BE49-F238E27FC236}">
                <a16:creationId xmlns:a16="http://schemas.microsoft.com/office/drawing/2014/main" id="{51EA2B7B-2F1F-48B1-8E4B-475805A7E5A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86240585"/>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6E90B73-F2C3-53A1-7B13-3555FC0B642C}"/>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Same-Protocol Comparison</a:t>
            </a:r>
            <a:endParaRPr/>
          </a:p>
        </p:txBody>
      </p:sp>
      <p:sp>
        <p:nvSpPr>
          <p:cNvPr id="212" name="Google Shape;212;p28">
            <a:extLst xmlns:a="http://schemas.openxmlformats.org/drawingml/2006/main">
              <a:ext uri="{FF2B5EF4-FFF2-40B4-BE49-F238E27FC236}">
                <a16:creationId xmlns:a16="http://schemas.microsoft.com/office/drawing/2014/main" id="{329DDF94-3FDB-C82D-677A-0954FAB0B9D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26</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7668873a1e4488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d654bd2584b406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F8A4CD7-C5F7-3AFA-03D4-7EFB3D4151A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0E5151AA-EEDD-79DB-FB2C-1543D68B7F1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comparison">
            <a:extLst xmlns:a="http://schemas.openxmlformats.org/drawingml/2006/main">
              <a:ext uri="{FF2B5EF4-FFF2-40B4-BE49-F238E27FC236}">
                <a16:creationId xmlns:a16="http://schemas.microsoft.com/office/drawing/2014/main" id="{78FD406A-6BCF-4178-9769-D011AF2B62AD}"/>
              </a:ext>
            </a:extLst>
          </p:cNvPr>
          <p:cNvSpPr>
            <a:spLocks xmlns:a="http://schemas.openxmlformats.org/drawingml/2006/main" noGrp="1"/>
          </p:cNvSpPr>
          <p:nvPr/>
        </p:nvSpPr>
        <p:spPr>
          <a:xfrm xmlns:a="http://schemas.openxmlformats.org/drawingml/2006/main">
            <a:off x="619125" y="1143000"/>
            <a:ext cx="581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V. Five-seed same-protocol comparison</a:t>
            </a:r>
          </a:p>
        </p:txBody>
      </p:sp>
      <p:graphicFrame>
        <p:nvGraphicFramePr>
          <p:cNvPr id="240" name=""/>
          <p:cNvGraphicFramePr/>
          <p:nvPr/>
        </p:nvGraphicFramePr>
        <p:xfrm>
          <a:off xmlns:a="http://schemas.openxmlformats.org/drawingml/2006/main" x="428625" y="1571625"/>
          <a:ext xmlns:a="http://schemas.openxmlformats.org/drawingml/2006/main" cx="6191250" cy="3667125"/>
        </p:xfrm>
        <a:graphic xmlns:a="http://schemas.openxmlformats.org/drawingml/2006/main">
          <a:graphicData uri="http://schemas.openxmlformats.org/drawingml/2006/table">
            <a:tbl>
              <a:tblPr firstRow="1" bandRow="1"/>
              <a:tblGrid>
                <a:gridCol w="2381250"/>
                <a:gridCol w="1238250"/>
                <a:gridCol w="1238250"/>
                <a:gridCol w="1333500"/>
              </a:tblGrid>
              <a:tr h="611188">
                <a:tc>
                  <a:txBody>
                    <a:bodyPr/>
                    <a:lstStyle/>
                    <a:p>
                      <a:r>
                        <a:rPr sz="1275"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AUROC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AUPRC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Upload (MiB)</a:t>
                      </a:r>
                    </a:p>
                  </a:txBody>
                  <a:tcPr marL="66675" marR="66675" marT="47625" marB="47625" anchor="ctr">
                    <a:solidFill>
                      <a:srgbClr val="17365D"/>
                    </a:solidFill>
                  </a:tcPr>
                </a:tc>
              </a:tr>
              <a:tr h="611188">
                <a:tc>
                  <a:txBody>
                    <a:bodyPr/>
                    <a:lstStyle/>
                    <a:p>
                      <a:r>
                        <a:rPr sz="1238">
                          <a:solidFill>
                            <a:srgbClr val="1F2937"/>
                          </a:solidFill>
                          <a:latin typeface="Arial"/>
                          <a:ea typeface="Arial"/>
                          <a:cs typeface="Arial"/>
                        </a:rPr>
                        <a:t>DP-FedAvg-CKKS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0.394</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0.730</a:t>
                      </a:r>
                    </a:p>
                  </a:txBody>
                  <a:tcPr marL="66675" marR="66675" marT="47625" marB="47625" anchor="ctr">
                    <a:solidFill>
                      <a:srgbClr val="FFFFFF"/>
                    </a:solidFill>
                  </a:tcPr>
                </a:tc>
                <a:tc>
                  <a:txBody>
                    <a:bodyPr/>
                    <a:lstStyle/>
                    <a:p>
                      <a:r>
                        <a:rPr sz="1238">
                          <a:solidFill>
                            <a:srgbClr val="1F2937"/>
                          </a:solidFill>
                          <a:latin typeface="Arial"/>
                          <a:ea typeface="Arial"/>
                          <a:cs typeface="Arial"/>
                        </a:rPr>
                        <a:t>0.384</a:t>
                      </a:r>
                    </a:p>
                  </a:txBody>
                  <a:tcPr marL="66675" marR="66675" marT="47625" marB="47625" anchor="ctr">
                    <a:solidFill>
                      <a:srgbClr val="FFFFFF"/>
                    </a:solidFill>
                  </a:tcPr>
                </a:tc>
                <a:tc>
                  <a:txBody>
                    <a:bodyPr/>
                    <a:lstStyle/>
                    <a:p>
                      <a:r>
                        <a:rPr sz="1238">
                          <a:solidFill>
                            <a:srgbClr val="1F2937"/>
                          </a:solidFill>
                          <a:latin typeface="Arial"/>
                          <a:ea typeface="Arial"/>
                          <a:cs typeface="Arial"/>
                        </a:rPr>
                        <a:t>27.81</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0.395</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Fed-EF-AMS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0.732</a:t>
                      </a:r>
                    </a:p>
                  </a:txBody>
                  <a:tcPr marL="66675" marR="66675" marT="47625" marB="47625" anchor="ctr">
                    <a:solidFill>
                      <a:srgbClr val="FFFFFF"/>
                    </a:solidFill>
                  </a:tcPr>
                </a:tc>
                <a:tc>
                  <a:txBody>
                    <a:bodyPr/>
                    <a:lstStyle/>
                    <a:p>
                      <a:r>
                        <a:rPr sz="1238">
                          <a:solidFill>
                            <a:srgbClr val="1F2937"/>
                          </a:solidFill>
                          <a:latin typeface="Arial"/>
                          <a:ea typeface="Arial"/>
                          <a:cs typeface="Arial"/>
                        </a:rPr>
                        <a:t>0.341</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SoteriaFL-SGD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0.727</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0.392</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63.21</a:t>
                      </a:r>
                    </a:p>
                  </a:txBody>
                  <a:tcPr marL="66675" marR="66675" marT="47625" marB="47625" anchor="ctr">
                    <a:solidFill>
                      <a:srgbClr val="FFFFFF"/>
                    </a:solidFill>
                  </a:tcPr>
                </a:tc>
              </a:tr>
            </a:tbl>
          </a:graphicData>
        </a:graphic>
      </p:graphicFrame>
      <p:graphicFrame>
        <p:nvGraphicFramePr>
          <p:cNvPr id="241" name="Chart"/>
          <p:cNvGraphicFramePr/>
          <p:nvPr/>
        </p:nvGraphicFramePr>
        <p:xfrm>
          <a:off xmlns:a="http://schemas.openxmlformats.org/drawingml/2006/main" x="6905625" y="1476375"/>
          <a:ext xmlns:a="http://schemas.openxmlformats.org/drawingml/2006/main" cx="4762500" cy="3810000"/>
        </p:xfrm>
        <a:graphic xmlns:a="http://schemas.openxmlformats.org/drawingml/2006/main">
          <a:graphicData uri="http://schemas.openxmlformats.org/drawingml/2006/chart">
            <c:chart xmlns:r="http://schemas.openxmlformats.org/officeDocument/2006/relationships" xmlns:c="http://schemas.openxmlformats.org/drawingml/2006/chart" r:id="Rdeecac93747c4112"/>
          </a:graphicData>
        </a:graphic>
      </p:graphicFrame>
      <p:sp>
        <p:nvSpPr>
          <p:cNvPr id="223" name="comparison-note">
            <a:extLst xmlns:a="http://schemas.openxmlformats.org/drawingml/2006/main">
              <a:ext uri="{FF2B5EF4-FFF2-40B4-BE49-F238E27FC236}">
                <a16:creationId xmlns:a16="http://schemas.microsoft.com/office/drawing/2014/main" id="{4359A255-8DEF-4094-838B-EFAE84812294}"/>
              </a:ext>
            </a:extLst>
          </p:cNvPr>
          <p:cNvSpPr>
            <a:spLocks xmlns:a="http://schemas.openxmlformats.org/drawingml/2006/main" noGrp="1"/>
          </p:cNvSpPr>
          <p:nvPr/>
        </p:nvSpPr>
        <p:spPr>
          <a:xfrm xmlns:a="http://schemas.openxmlformats.org/drawingml/2006/main">
            <a:off x="1047750" y="547687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Only CAABC-FL converted compression into a material serialized CKKS upload saving.</a:t>
            </a:r>
          </a:p>
        </p:txBody>
      </p:sp>
      <p:sp>
        <p:nvSpPr>
          <p:cNvPr id="228" name="visible-footer-date-21">
            <a:extLst xmlns:a="http://schemas.openxmlformats.org/drawingml/2006/main">
              <a:ext uri="{FF2B5EF4-FFF2-40B4-BE49-F238E27FC236}">
                <a16:creationId xmlns:a16="http://schemas.microsoft.com/office/drawing/2014/main" id="{947B7AE5-8DFC-4CBC-90D6-BF20E0CA27DB}"/>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17829261"/>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EBD26CE-42E7-A335-8292-6E657AEDDA37}"/>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71093"/>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Privacy, Poisoning and Systems Performance</a:t>
            </a:r>
            <a:endParaRPr/>
          </a:p>
        </p:txBody>
      </p:sp>
      <p:sp>
        <p:nvSpPr>
          <p:cNvPr id="212" name="Google Shape;212;p28">
            <a:extLst xmlns:a="http://schemas.openxmlformats.org/drawingml/2006/main">
              <a:ext uri="{FF2B5EF4-FFF2-40B4-BE49-F238E27FC236}">
                <a16:creationId xmlns:a16="http://schemas.microsoft.com/office/drawing/2014/main" id="{F0383842-FFA2-4244-D4A7-5EBBE73A3CD4}"/>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27</a:t>
            </a:r>
            <a:endParaRPr sz="2800"/>
          </a:p>
        </p:txBody>
      </p:sp>
      <p:pic>
        <p:nvPicPr>
          <p:cNvPr id="23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097f737a8034c0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a40126d77af42a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AC7F58F-7858-E83B-ED46-884D28D5F233}"/>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7366EB0-0EAE-5D0C-C397-83FE1DDBDDD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40" name=""/>
          <p:cNvPicPr>
            <a:picLocks xmlns:a="http://schemas.openxmlformats.org/drawingml/2006/main" noChangeAspect="1"/>
          </p:cNvPicPr>
          <p:nvPr/>
        </p:nvPicPr>
        <p:blipFill>
          <a:blip xmlns:r="http://schemas.openxmlformats.org/officeDocument/2006/relationships" xmlns:a="http://schemas.openxmlformats.org/drawingml/2006/main" r:embed="R4587c332526648ef"/>
          <a:stretch xmlns:a="http://schemas.openxmlformats.org/drawingml/2006/main"/>
        </p:blipFill>
        <p:spPr>
          <a:xfrm xmlns:a="http://schemas.openxmlformats.org/drawingml/2006/main">
            <a:off x="428625" y="1666462"/>
            <a:ext cx="5476875" cy="2763076"/>
          </a:xfrm>
          <a:prstGeom xmlns:a="http://schemas.openxmlformats.org/drawingml/2006/main" prst="rect">
            <a:avLst/>
          </a:prstGeom>
        </p:spPr>
      </p:pic>
      <p:pic>
        <p:nvPicPr>
          <p:cNvPr id="241" name=""/>
          <p:cNvPicPr>
            <a:picLocks xmlns:a="http://schemas.openxmlformats.org/drawingml/2006/main" noChangeAspect="1"/>
          </p:cNvPicPr>
          <p:nvPr/>
        </p:nvPicPr>
        <p:blipFill>
          <a:blip xmlns:r="http://schemas.openxmlformats.org/officeDocument/2006/relationships" xmlns:a="http://schemas.openxmlformats.org/drawingml/2006/main" r:embed="Rf8e4d8f7809a402b"/>
          <a:stretch xmlns:a="http://schemas.openxmlformats.org/drawingml/2006/main"/>
        </p:blipFill>
        <p:spPr>
          <a:xfrm xmlns:a="http://schemas.openxmlformats.org/drawingml/2006/main">
            <a:off x="6217004" y="1238250"/>
            <a:ext cx="5520616" cy="3619500"/>
          </a:xfrm>
          <a:prstGeom xmlns:a="http://schemas.openxmlformats.org/drawingml/2006/main" prst="rect">
            <a:avLst/>
          </a:prstGeom>
        </p:spPr>
      </p:pic>
      <p:sp>
        <p:nvSpPr>
          <p:cNvPr id="222" name="privacy-caption">
            <a:extLst xmlns:a="http://schemas.openxmlformats.org/drawingml/2006/main">
              <a:ext uri="{FF2B5EF4-FFF2-40B4-BE49-F238E27FC236}">
                <a16:creationId xmlns:a16="http://schemas.microsoft.com/office/drawing/2014/main" id="{9FE689F8-DBEE-43EB-A250-5B6E19B44C94}"/>
              </a:ext>
            </a:extLst>
          </p:cNvPr>
          <p:cNvSpPr>
            <a:spLocks xmlns:a="http://schemas.openxmlformats.org/drawingml/2006/main" noGrp="1"/>
          </p:cNvSpPr>
          <p:nvPr/>
        </p:nvSpPr>
        <p:spPr>
          <a:xfrm xmlns:a="http://schemas.openxmlformats.org/drawingml/2006/main">
            <a:off x="571500" y="4857750"/>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2. Membership-inference diagnostics. Values near 0.5 indicate chance-level discrimination.</a:t>
            </a:r>
          </a:p>
        </p:txBody>
      </p:sp>
      <p:sp>
        <p:nvSpPr>
          <p:cNvPr id="223" name="poison-caption">
            <a:extLst xmlns:a="http://schemas.openxmlformats.org/drawingml/2006/main">
              <a:ext uri="{FF2B5EF4-FFF2-40B4-BE49-F238E27FC236}">
                <a16:creationId xmlns:a16="http://schemas.microsoft.com/office/drawing/2014/main" id="{2256AF0E-6549-4BCA-9BBE-3D443185F89B}"/>
              </a:ext>
            </a:extLst>
          </p:cNvPr>
          <p:cNvSpPr>
            <a:spLocks xmlns:a="http://schemas.openxmlformats.org/drawingml/2006/main" noGrp="1"/>
          </p:cNvSpPr>
          <p:nvPr/>
        </p:nvSpPr>
        <p:spPr>
          <a:xfrm xmlns:a="http://schemas.openxmlformats.org/drawingml/2006/main">
            <a:off x="6334125" y="4857750"/>
            <a:ext cx="5286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3. Mean paired AUROC change at 40% malicious clients. More negative values indicate greater damage.</a:t>
            </a:r>
          </a:p>
        </p:txBody>
      </p:sp>
      <p:sp>
        <p:nvSpPr>
          <p:cNvPr id="224" name="systems-summary">
            <a:extLst xmlns:a="http://schemas.openxmlformats.org/drawingml/2006/main">
              <a:ext uri="{FF2B5EF4-FFF2-40B4-BE49-F238E27FC236}">
                <a16:creationId xmlns:a16="http://schemas.microsoft.com/office/drawing/2014/main" id="{DE003543-2634-4122-A61F-A3DE15EBCEFC}"/>
              </a:ext>
            </a:extLst>
          </p:cNvPr>
          <p:cNvSpPr>
            <a:spLocks xmlns:a="http://schemas.openxmlformats.org/drawingml/2006/main" noGrp="1"/>
          </p:cNvSpPr>
          <p:nvPr/>
        </p:nvSpPr>
        <p:spPr>
          <a:xfrm xmlns:a="http://schemas.openxmlformats.org/drawingml/2006/main">
            <a:off x="1095375" y="5524500"/>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246"/>
          </a:bodyPr>
          <a:lstStyle xmlns:a="http://schemas.openxmlformats.org/drawingml/2006/main"/>
          <a:p xmlns:a="http://schemas.openxmlformats.org/drawingml/2006/main">
            <a:pPr algn="ctr">
              <a:buNone/>
              <a:defRPr sz="1538" b="1" i="0">
                <a:solidFill>
                  <a:srgbClr val="17365D"/>
                </a:solidFill>
                <a:latin typeface="Arial"/>
                <a:ea typeface="Arial"/>
                <a:cs typeface="Arial"/>
              </a:defRPr>
            </a:pPr>
            <a:r>
              <a:rPr sz="1538" b="1" i="0">
                <a:solidFill>
                  <a:srgbClr val="17365D"/>
                </a:solidFill>
                <a:latin typeface="Arial"/>
                <a:ea typeface="Arial"/>
                <a:cs typeface="Arial"/>
              </a:rPr>
              <a:t>System evidence: 16-client CKKS upload 25.28 MiB, end-to-end latency 7.080 s, and verified 3-of-3 OpenFHE correctness. These tests do not establish WAN or dropout-tolerant production performance.</a:t>
            </a:r>
          </a:p>
        </p:txBody>
      </p:sp>
      <p:sp>
        <p:nvSpPr>
          <p:cNvPr id="229" name="visible-footer-date-22">
            <a:extLst xmlns:a="http://schemas.openxmlformats.org/drawingml/2006/main">
              <a:ext uri="{FF2B5EF4-FFF2-40B4-BE49-F238E27FC236}">
                <a16:creationId xmlns:a16="http://schemas.microsoft.com/office/drawing/2014/main" id="{70C5A8A9-35E4-4ACA-9FE6-F5D3E9EE3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36405984"/>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pic>
        <p:nvPicPr>
          <p:cNvPr id="632" name="Google Shape;520;p52"/>
          <p:cNvPicPr>
            <a:picLocks xmlns:a="http://schemas.openxmlformats.org/drawingml/2006/main" noChangeAspect="1"/>
          </p:cNvPicPr>
          <p:nvPr/>
        </p:nvPicPr>
        <p:blipFill rotWithShape="1">
          <a:blip xmlns:r="http://schemas.openxmlformats.org/officeDocument/2006/relationships" xmlns:a="http://schemas.openxmlformats.org/drawingml/2006/main" r:embed="R0fdb62138a724db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633" name="Google Shape;521;p52"/>
          <p:cNvPicPr>
            <a:picLocks xmlns:a="http://schemas.openxmlformats.org/drawingml/2006/main" noChangeAspect="1"/>
          </p:cNvPicPr>
          <p:nvPr/>
        </p:nvPicPr>
        <p:blipFill rotWithShape="1">
          <a:blip xmlns:r="http://schemas.openxmlformats.org/officeDocument/2006/relationships" xmlns:a="http://schemas.openxmlformats.org/drawingml/2006/main" r:embed="R715ea22200ff423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634" name="Google Shape;522;p52"/>
          <p:cNvPicPr>
            <a:picLocks xmlns:a="http://schemas.openxmlformats.org/drawingml/2006/main" noChangeAspect="1"/>
          </p:cNvPicPr>
          <p:nvPr/>
        </p:nvPicPr>
        <p:blipFill rotWithShape="1">
          <a:blip xmlns:r="http://schemas.openxmlformats.org/officeDocument/2006/relationships" xmlns:a="http://schemas.openxmlformats.org/drawingml/2006/main" r:embed="Rbd56fd95238e40be">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523" name="Google Shape;523;p52">
            <a:extLst xmlns:a="http://schemas.openxmlformats.org/drawingml/2006/main">
              <a:ext uri="{FF2B5EF4-FFF2-40B4-BE49-F238E27FC236}">
                <a16:creationId xmlns:a16="http://schemas.microsoft.com/office/drawing/2014/main" id="{5BEFE073-EE09-4104-A7BE-8EE711AE965F}"/>
              </a:ext>
            </a:extLst>
          </p:cNvPr>
          <p:cNvSpPr>
            <a:spLocks xmlns:a="http://schemas.openxmlformats.org/drawingml/2006/main" noGrp="1"/>
          </p:cNvSpPr>
          <p:nvPr>
            <p:ph type="title" idx="0"/>
          </p:nvPr>
        </p:nvSpPr>
        <p:spPr>
          <a:xfrm xmlns:a="http://schemas.openxmlformats.org/drawingml/2006/main">
            <a:off x="1047745" y="4410315"/>
            <a:ext cx="9675673"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Conclusion</a:t>
            </a:r>
            <a:endParaRPr/>
          </a:p>
        </p:txBody>
      </p:sp>
      <p:pic>
        <p:nvPicPr>
          <p:cNvPr id="636" name="Google Shape;524;p52"/>
          <p:cNvPicPr>
            <a:picLocks xmlns:a="http://schemas.openxmlformats.org/drawingml/2006/main" noChangeAspect="1"/>
          </p:cNvPicPr>
          <p:nvPr/>
        </p:nvPicPr>
        <p:blipFill rotWithShape="1">
          <a:blip xmlns:r="http://schemas.openxmlformats.org/officeDocument/2006/relationships" xmlns:a="http://schemas.openxmlformats.org/drawingml/2006/main" r:embed="R92dbf1f1ce414872">
            <a:alphaModFix/>
          </a:blip>
          <a:srcRect xmlns:a="http://schemas.openxmlformats.org/drawingml/2006/main" l="0" t="0" r="0" b="0"/>
          <a:stretch xmlns:a="http://schemas.openxmlformats.org/drawingml/2006/main"/>
        </p:blipFill>
        <p:spPr>
          <a:xfrm xmlns:a="http://schemas.openxmlformats.org/drawingml/2006/main">
            <a:off x="4662664" y="1409347"/>
            <a:ext cx="2866672" cy="2866672"/>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sp>
        <p:nvSpPr>
          <p:cNvPr id="527" name="Google Shape;527;p52">
            <a:extLst xmlns:a="http://schemas.openxmlformats.org/drawingml/2006/main">
              <a:ext uri="{FF2B5EF4-FFF2-40B4-BE49-F238E27FC236}">
                <a16:creationId xmlns:a16="http://schemas.microsoft.com/office/drawing/2014/main" id="{F14FAE87-7C0F-43AF-80E6-F7FCF94F7758}"/>
              </a:ext>
            </a:extLst>
          </p:cNvPr>
          <p:cNvSpPr>
            <a:spLocks xmlns:a="http://schemas.openxmlformats.org/drawingml/2006/main" noGrp="1"/>
          </p:cNvSpPr>
          <p:nvPr>
            <p:ph type="dt" idx="10"/>
          </p:nvPr>
        </p:nvSpPr>
        <p:spPr>
          <a:xfrm xmlns:a="http://schemas.openxmlformats.org/drawingml/2006/main">
            <a:off x="462800" y="6396574"/>
            <a:ext cx="14406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cxnSp>
        <p:nvCxnSpPr>
          <p:cNvPr id="638"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 name="Google Shape;216;p28">
            <a:extLst xmlns:a="http://schemas.openxmlformats.org/drawingml/2006/main">
              <a:ext uri="{FF2B5EF4-FFF2-40B4-BE49-F238E27FC236}">
                <a16:creationId xmlns:a16="http://schemas.microsoft.com/office/drawing/2014/main" id="{7DBA4BD6-77AB-D07E-A6E8-7C8CBE15257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4" name="Google Shape;212;p28">
            <a:extLst xmlns:a="http://schemas.openxmlformats.org/drawingml/2006/main">
              <a:ext uri="{FF2B5EF4-FFF2-40B4-BE49-F238E27FC236}">
                <a16:creationId xmlns:a16="http://schemas.microsoft.com/office/drawing/2014/main" id="{BC4D2D4B-B4D3-EB5F-77A1-B175A9873E5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28</a:t>
            </a:r>
            <a:endParaRPr sz="2800"/>
          </a:p>
        </p:txBody>
      </p:sp>
      <p:sp>
        <p:nvSpPr>
          <p:cNvPr id="543" name="visible-footer-date-23">
            <a:extLst xmlns:a="http://schemas.openxmlformats.org/drawingml/2006/main">
              <a:ext uri="{FF2B5EF4-FFF2-40B4-BE49-F238E27FC236}">
                <a16:creationId xmlns:a16="http://schemas.microsoft.com/office/drawing/2014/main" id="{CD5C7620-55DD-4ED4-8FBA-BCF7F34BB34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675858018"/>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0E81DA35-E830-0E70-0FAC-BB25692B139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Summary of Key Findings</a:t>
            </a:r>
            <a:endParaRPr/>
          </a:p>
        </p:txBody>
      </p:sp>
      <p:sp>
        <p:nvSpPr>
          <p:cNvPr id="212" name="Google Shape;212;p28">
            <a:extLst xmlns:a="http://schemas.openxmlformats.org/drawingml/2006/main">
              <a:ext uri="{FF2B5EF4-FFF2-40B4-BE49-F238E27FC236}">
                <a16:creationId xmlns:a16="http://schemas.microsoft.com/office/drawing/2014/main" id="{0339D4F0-DDFA-B188-A7AE-DB1F9883C189}"/>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29</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bfe856cfde94ba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20520de4f3242c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17EF49E2-6D37-5982-5793-B7ED3CAA0F2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F47E314-515A-93E2-2775-6C3E36A4D48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summary-objective-0">
            <a:extLst xmlns:a="http://schemas.openxmlformats.org/drawingml/2006/main">
              <a:ext uri="{FF2B5EF4-FFF2-40B4-BE49-F238E27FC236}">
                <a16:creationId xmlns:a16="http://schemas.microsoft.com/office/drawing/2014/main" id="{78880B25-0CCF-4207-9281-BC7FCC98EDDE}"/>
              </a:ext>
            </a:extLst>
          </p:cNvPr>
          <p:cNvSpPr>
            <a:spLocks xmlns:a="http://schemas.openxmlformats.org/drawingml/2006/main" noGrp="1"/>
          </p:cNvSpPr>
          <p:nvPr/>
        </p:nvSpPr>
        <p:spPr>
          <a:xfrm xmlns:a="http://schemas.openxmlformats.org/drawingml/2006/main">
            <a:off x="952500" y="14763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1</a:t>
            </a:r>
          </a:p>
        </p:txBody>
      </p:sp>
      <p:sp>
        <p:nvSpPr>
          <p:cNvPr id="221" name="summary-status-0">
            <a:extLst xmlns:a="http://schemas.openxmlformats.org/drawingml/2006/main">
              <a:ext uri="{FF2B5EF4-FFF2-40B4-BE49-F238E27FC236}">
                <a16:creationId xmlns:a16="http://schemas.microsoft.com/office/drawing/2014/main" id="{4E67885F-049A-4749-B3F3-D0EA7A5D9DA6}"/>
              </a:ext>
            </a:extLst>
          </p:cNvPr>
          <p:cNvSpPr>
            <a:spLocks xmlns:a="http://schemas.openxmlformats.org/drawingml/2006/main" noGrp="1"/>
          </p:cNvSpPr>
          <p:nvPr/>
        </p:nvSpPr>
        <p:spPr>
          <a:xfrm xmlns:a="http://schemas.openxmlformats.org/drawingml/2006/main">
            <a:off x="3000375" y="14763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2" name="summary-evidence-0">
            <a:extLst xmlns:a="http://schemas.openxmlformats.org/drawingml/2006/main">
              <a:ext uri="{FF2B5EF4-FFF2-40B4-BE49-F238E27FC236}">
                <a16:creationId xmlns:a16="http://schemas.microsoft.com/office/drawing/2014/main" id="{FAD254E6-9B81-4D8E-8F01-67AA01A5AA7A}"/>
              </a:ext>
            </a:extLst>
          </p:cNvPr>
          <p:cNvSpPr>
            <a:spLocks xmlns:a="http://schemas.openxmlformats.org/drawingml/2006/main" noGrp="1"/>
          </p:cNvSpPr>
          <p:nvPr/>
        </p:nvSpPr>
        <p:spPr>
          <a:xfrm xmlns:a="http://schemas.openxmlformats.org/drawingml/2006/main">
            <a:off x="5381625" y="14287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Implemented the layered privacy, encrypted aggregation, verification, release, and audit workflow.</a:t>
            </a:r>
          </a:p>
        </p:txBody>
      </p:sp>
      <p:sp>
        <p:nvSpPr>
          <p:cNvPr id="223" name="rule-100-247">
            <a:extLst xmlns:a="http://schemas.openxmlformats.org/drawingml/2006/main">
              <a:ext uri="{FF2B5EF4-FFF2-40B4-BE49-F238E27FC236}">
                <a16:creationId xmlns:a16="http://schemas.microsoft.com/office/drawing/2014/main" id="{9DEEFB91-E5DC-4755-8E44-5433891E2517}"/>
              </a:ext>
            </a:extLst>
          </p:cNvPr>
          <p:cNvSpPr>
            <a:spLocks xmlns:a="http://schemas.openxmlformats.org/drawingml/2006/main" noGrp="1"/>
          </p:cNvSpPr>
          <p:nvPr/>
        </p:nvSpPr>
        <p:spPr>
          <a:xfrm xmlns:a="http://schemas.openxmlformats.org/drawingml/2006/main">
            <a:off x="952500" y="23526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4" name="summary-objective-1">
            <a:extLst xmlns:a="http://schemas.openxmlformats.org/drawingml/2006/main">
              <a:ext uri="{FF2B5EF4-FFF2-40B4-BE49-F238E27FC236}">
                <a16:creationId xmlns:a16="http://schemas.microsoft.com/office/drawing/2014/main" id="{76CA895B-DF34-4C00-AAD5-580BBDEC2F4C}"/>
              </a:ext>
            </a:extLst>
          </p:cNvPr>
          <p:cNvSpPr>
            <a:spLocks xmlns:a="http://schemas.openxmlformats.org/drawingml/2006/main" noGrp="1"/>
          </p:cNvSpPr>
          <p:nvPr/>
        </p:nvSpPr>
        <p:spPr>
          <a:xfrm xmlns:a="http://schemas.openxmlformats.org/drawingml/2006/main">
            <a:off x="952500" y="290512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2</a:t>
            </a:r>
          </a:p>
        </p:txBody>
      </p:sp>
      <p:sp>
        <p:nvSpPr>
          <p:cNvPr id="225" name="summary-status-1">
            <a:extLst xmlns:a="http://schemas.openxmlformats.org/drawingml/2006/main">
              <a:ext uri="{FF2B5EF4-FFF2-40B4-BE49-F238E27FC236}">
                <a16:creationId xmlns:a16="http://schemas.microsoft.com/office/drawing/2014/main" id="{98A2AEC9-1016-4953-8F74-56E2D3AB154D}"/>
              </a:ext>
            </a:extLst>
          </p:cNvPr>
          <p:cNvSpPr>
            <a:spLocks xmlns:a="http://schemas.openxmlformats.org/drawingml/2006/main" noGrp="1"/>
          </p:cNvSpPr>
          <p:nvPr/>
        </p:nvSpPr>
        <p:spPr>
          <a:xfrm xmlns:a="http://schemas.openxmlformats.org/drawingml/2006/main">
            <a:off x="3000375" y="290512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6" name="summary-evidence-1">
            <a:extLst xmlns:a="http://schemas.openxmlformats.org/drawingml/2006/main">
              <a:ext uri="{FF2B5EF4-FFF2-40B4-BE49-F238E27FC236}">
                <a16:creationId xmlns:a16="http://schemas.microsoft.com/office/drawing/2014/main" id="{283AE25D-E5C5-46E5-8ED9-7D04CD2194A4}"/>
              </a:ext>
            </a:extLst>
          </p:cNvPr>
          <p:cNvSpPr>
            <a:spLocks xmlns:a="http://schemas.openxmlformats.org/drawingml/2006/main" noGrp="1"/>
          </p:cNvSpPr>
          <p:nvPr/>
        </p:nvSpPr>
        <p:spPr>
          <a:xfrm xmlns:a="http://schemas.openxmlformats.org/drawingml/2006/main">
            <a:off x="5381625" y="285750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CAABC-FL reduced measured encrypted upload by 55.998% with an AUROC non-inferiority result.</a:t>
            </a:r>
          </a:p>
        </p:txBody>
      </p:sp>
      <p:sp>
        <p:nvSpPr>
          <p:cNvPr id="227" name="rule-100-397">
            <a:extLst xmlns:a="http://schemas.openxmlformats.org/drawingml/2006/main">
              <a:ext uri="{FF2B5EF4-FFF2-40B4-BE49-F238E27FC236}">
                <a16:creationId xmlns:a16="http://schemas.microsoft.com/office/drawing/2014/main" id="{F0F9BF1B-C1C9-4A4F-BAC9-F457B5310B22}"/>
              </a:ext>
            </a:extLst>
          </p:cNvPr>
          <p:cNvSpPr>
            <a:spLocks xmlns:a="http://schemas.openxmlformats.org/drawingml/2006/main" noGrp="1"/>
          </p:cNvSpPr>
          <p:nvPr/>
        </p:nvSpPr>
        <p:spPr>
          <a:xfrm xmlns:a="http://schemas.openxmlformats.org/drawingml/2006/main">
            <a:off x="952500" y="378142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8" name="summary-objective-2">
            <a:extLst xmlns:a="http://schemas.openxmlformats.org/drawingml/2006/main">
              <a:ext uri="{FF2B5EF4-FFF2-40B4-BE49-F238E27FC236}">
                <a16:creationId xmlns:a16="http://schemas.microsoft.com/office/drawing/2014/main" id="{2FF0C7F1-CA05-4515-B46A-CED9E1D78F46}"/>
              </a:ext>
            </a:extLst>
          </p:cNvPr>
          <p:cNvSpPr>
            <a:spLocks xmlns:a="http://schemas.openxmlformats.org/drawingml/2006/main" noGrp="1"/>
          </p:cNvSpPr>
          <p:nvPr/>
        </p:nvSpPr>
        <p:spPr>
          <a:xfrm xmlns:a="http://schemas.openxmlformats.org/drawingml/2006/main">
            <a:off x="952500" y="43338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3</a:t>
            </a:r>
          </a:p>
        </p:txBody>
      </p:sp>
      <p:sp>
        <p:nvSpPr>
          <p:cNvPr id="229" name="summary-status-2">
            <a:extLst xmlns:a="http://schemas.openxmlformats.org/drawingml/2006/main">
              <a:ext uri="{FF2B5EF4-FFF2-40B4-BE49-F238E27FC236}">
                <a16:creationId xmlns:a16="http://schemas.microsoft.com/office/drawing/2014/main" id="{9104D8D9-D695-42EB-B0E3-104D3B6756F7}"/>
              </a:ext>
            </a:extLst>
          </p:cNvPr>
          <p:cNvSpPr>
            <a:spLocks xmlns:a="http://schemas.openxmlformats.org/drawingml/2006/main" noGrp="1"/>
          </p:cNvSpPr>
          <p:nvPr/>
        </p:nvSpPr>
        <p:spPr>
          <a:xfrm xmlns:a="http://schemas.openxmlformats.org/drawingml/2006/main">
            <a:off x="3000375" y="43338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33"/>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 within scope</a:t>
            </a:r>
          </a:p>
        </p:txBody>
      </p:sp>
      <p:sp>
        <p:nvSpPr>
          <p:cNvPr id="230" name="summary-evidence-2">
            <a:extLst xmlns:a="http://schemas.openxmlformats.org/drawingml/2006/main">
              <a:ext uri="{FF2B5EF4-FFF2-40B4-BE49-F238E27FC236}">
                <a16:creationId xmlns:a16="http://schemas.microsoft.com/office/drawing/2014/main" id="{E6AE9D9D-4E64-4F0D-A042-911D9CB29ADC}"/>
              </a:ext>
            </a:extLst>
          </p:cNvPr>
          <p:cNvSpPr>
            <a:spLocks xmlns:a="http://schemas.openxmlformats.org/drawingml/2006/main" noGrp="1"/>
          </p:cNvSpPr>
          <p:nvPr/>
        </p:nvSpPr>
        <p:spPr>
          <a:xfrm xmlns:a="http://schemas.openxmlformats.org/drawingml/2006/main">
            <a:off x="5381625" y="42862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Completed same-protocol utility, privacy, poisoning, cryptographic, and system evaluations.</a:t>
            </a:r>
          </a:p>
        </p:txBody>
      </p:sp>
      <p:sp>
        <p:nvSpPr>
          <p:cNvPr id="231" name="rule-100-547">
            <a:extLst xmlns:a="http://schemas.openxmlformats.org/drawingml/2006/main">
              <a:ext uri="{FF2B5EF4-FFF2-40B4-BE49-F238E27FC236}">
                <a16:creationId xmlns:a16="http://schemas.microsoft.com/office/drawing/2014/main" id="{3FAE6C79-8547-40D2-AC6B-F1B7396E6FC3}"/>
              </a:ext>
            </a:extLst>
          </p:cNvPr>
          <p:cNvSpPr>
            <a:spLocks xmlns:a="http://schemas.openxmlformats.org/drawingml/2006/main" noGrp="1"/>
          </p:cNvSpPr>
          <p:nvPr/>
        </p:nvSpPr>
        <p:spPr>
          <a:xfrm xmlns:a="http://schemas.openxmlformats.org/drawingml/2006/main">
            <a:off x="952500" y="52101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summary-boundary">
            <a:extLst xmlns:a="http://schemas.openxmlformats.org/drawingml/2006/main">
              <a:ext uri="{FF2B5EF4-FFF2-40B4-BE49-F238E27FC236}">
                <a16:creationId xmlns:a16="http://schemas.microsoft.com/office/drawing/2014/main" id="{EA6F3D57-D308-4322-BBE9-0639FDB2D524}"/>
              </a:ext>
            </a:extLst>
          </p:cNvPr>
          <p:cNvSpPr>
            <a:spLocks xmlns:a="http://schemas.openxmlformats.org/drawingml/2006/main" noGrp="1"/>
          </p:cNvSpPr>
          <p:nvPr/>
        </p:nvSpPr>
        <p:spPr>
          <a:xfrm xmlns:a="http://schemas.openxmlformats.org/drawingml/2006/main">
            <a:off x="1190625" y="538162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051"/>
          </a:bodyPr>
          <a:lstStyle xmlns:a="http://schemas.openxmlformats.org/drawingml/2006/main"/>
          <a:p xmlns:a="http://schemas.openxmlformats.org/drawingml/2006/main">
            <a:pPr algn="ctr">
              <a:buNone/>
              <a:defRPr sz="1688" b="1" i="0">
                <a:solidFill>
                  <a:srgbClr val="17365D"/>
                </a:solidFill>
                <a:latin typeface="Arial"/>
                <a:ea typeface="Arial"/>
                <a:cs typeface="Arial"/>
              </a:defRPr>
            </a:pPr>
            <a:r>
              <a:rPr sz="1688" b="1" i="0">
                <a:solidFill>
                  <a:srgbClr val="17365D"/>
                </a:solidFill>
                <a:latin typeface="Arial"/>
                <a:ea typeface="Arial"/>
                <a:cs typeface="Arial"/>
              </a:rPr>
              <a:t>Conclusion: CAABC-FL provides a defensible privacy-utility-communication trade-off under the registered protocol. The evidence does not support universal superiority or a production-decentralization claim.</a:t>
            </a:r>
          </a:p>
        </p:txBody>
      </p:sp>
      <p:sp>
        <p:nvSpPr>
          <p:cNvPr id="235" name="visible-footer-date-24">
            <a:extLst xmlns:a="http://schemas.openxmlformats.org/drawingml/2006/main">
              <a:ext uri="{FF2B5EF4-FFF2-40B4-BE49-F238E27FC236}">
                <a16:creationId xmlns:a16="http://schemas.microsoft.com/office/drawing/2014/main" id="{0F9E5A8B-EB33-4260-A21D-29627D0B5F9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093132514"/>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F3FB8C6-8C90-BAC8-9FAB-EE0D74D6369F}"/>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Contributions</a:t>
            </a:r>
            <a:endParaRPr/>
          </a:p>
        </p:txBody>
      </p:sp>
      <p:sp>
        <p:nvSpPr>
          <p:cNvPr id="212" name="Google Shape;212;p28">
            <a:extLst xmlns:a="http://schemas.openxmlformats.org/drawingml/2006/main">
              <a:ext uri="{FF2B5EF4-FFF2-40B4-BE49-F238E27FC236}">
                <a16:creationId xmlns:a16="http://schemas.microsoft.com/office/drawing/2014/main" id="{8B71ED3F-DBB8-F69D-D1E4-790728995D7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30</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a64261f91f143e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bdde47ddd524e7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EB34F6F-4553-7D85-D279-122BFB7FF768}"/>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AB9FE30-4DDC-5248-36F1-22CA6EF59F7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contribution-heading-0">
            <a:extLst xmlns:a="http://schemas.openxmlformats.org/drawingml/2006/main">
              <a:ext uri="{FF2B5EF4-FFF2-40B4-BE49-F238E27FC236}">
                <a16:creationId xmlns:a16="http://schemas.microsoft.com/office/drawing/2014/main" id="{52C1C6FD-464B-47F3-96C2-6859D207F95D}"/>
              </a:ext>
            </a:extLst>
          </p:cNvPr>
          <p:cNvSpPr>
            <a:spLocks xmlns:a="http://schemas.openxmlformats.org/drawingml/2006/main" noGrp="1"/>
          </p:cNvSpPr>
          <p:nvPr/>
        </p:nvSpPr>
        <p:spPr>
          <a:xfrm xmlns:a="http://schemas.openxmlformats.org/drawingml/2006/main">
            <a:off x="809625"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Integrated framework</a:t>
            </a:r>
          </a:p>
        </p:txBody>
      </p:sp>
      <p:sp>
        <p:nvSpPr>
          <p:cNvPr id="221" name="rule-85-205">
            <a:extLst xmlns:a="http://schemas.openxmlformats.org/drawingml/2006/main">
              <a:ext uri="{FF2B5EF4-FFF2-40B4-BE49-F238E27FC236}">
                <a16:creationId xmlns:a16="http://schemas.microsoft.com/office/drawing/2014/main" id="{6BF6761C-D851-47E9-8FC3-252B8B1593DB}"/>
              </a:ext>
            </a:extLst>
          </p:cNvPr>
          <p:cNvSpPr>
            <a:spLocks xmlns:a="http://schemas.openxmlformats.org/drawingml/2006/main" noGrp="1"/>
          </p:cNvSpPr>
          <p:nvPr/>
        </p:nvSpPr>
        <p:spPr>
          <a:xfrm xmlns:a="http://schemas.openxmlformats.org/drawingml/2006/main">
            <a:off x="80962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contribution-body-0">
            <a:extLst xmlns:a="http://schemas.openxmlformats.org/drawingml/2006/main">
              <a:ext uri="{FF2B5EF4-FFF2-40B4-BE49-F238E27FC236}">
                <a16:creationId xmlns:a16="http://schemas.microsoft.com/office/drawing/2014/main" id="{322A2455-2797-49DF-93D2-DA5A552B246A}"/>
              </a:ext>
            </a:extLst>
          </p:cNvPr>
          <p:cNvSpPr>
            <a:spLocks xmlns:a="http://schemas.openxmlformats.org/drawingml/2006/main" noGrp="1"/>
          </p:cNvSpPr>
          <p:nvPr/>
        </p:nvSpPr>
        <p:spPr>
          <a:xfrm xmlns:a="http://schemas.openxmlformats.org/drawingml/2006/main">
            <a:off x="809625"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 working cross-silo pipeline combines patient-level DP, CKKS aggregation, authenticated messages, verification, governed release, and witnessed audit evidence.</a:t>
            </a:r>
          </a:p>
        </p:txBody>
      </p:sp>
      <p:sp>
        <p:nvSpPr>
          <p:cNvPr id="223" name="contribution-heading-1">
            <a:extLst xmlns:a="http://schemas.openxmlformats.org/drawingml/2006/main">
              <a:ext uri="{FF2B5EF4-FFF2-40B4-BE49-F238E27FC236}">
                <a16:creationId xmlns:a16="http://schemas.microsoft.com/office/drawing/2014/main" id="{92FFF5B2-5DC0-4B27-91C5-A8AFAAA92067}"/>
              </a:ext>
            </a:extLst>
          </p:cNvPr>
          <p:cNvSpPr>
            <a:spLocks xmlns:a="http://schemas.openxmlformats.org/drawingml/2006/main" noGrp="1"/>
          </p:cNvSpPr>
          <p:nvPr/>
        </p:nvSpPr>
        <p:spPr>
          <a:xfrm xmlns:a="http://schemas.openxmlformats.org/drawingml/2006/main">
            <a:off x="6286500"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CAABC-FL</a:t>
            </a:r>
          </a:p>
        </p:txBody>
      </p:sp>
      <p:sp>
        <p:nvSpPr>
          <p:cNvPr id="224" name="rule-660-205">
            <a:extLst xmlns:a="http://schemas.openxmlformats.org/drawingml/2006/main">
              <a:ext uri="{FF2B5EF4-FFF2-40B4-BE49-F238E27FC236}">
                <a16:creationId xmlns:a16="http://schemas.microsoft.com/office/drawing/2014/main" id="{6F490125-C547-4511-ABA5-469FBFFC3BFF}"/>
              </a:ext>
            </a:extLst>
          </p:cNvPr>
          <p:cNvSpPr>
            <a:spLocks xmlns:a="http://schemas.openxmlformats.org/drawingml/2006/main" noGrp="1"/>
          </p:cNvSpPr>
          <p:nvPr/>
        </p:nvSpPr>
        <p:spPr>
          <a:xfrm xmlns:a="http://schemas.openxmlformats.org/drawingml/2006/main">
            <a:off x="628650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contribution-body-1">
            <a:extLst xmlns:a="http://schemas.openxmlformats.org/drawingml/2006/main">
              <a:ext uri="{FF2B5EF4-FFF2-40B4-BE49-F238E27FC236}">
                <a16:creationId xmlns:a16="http://schemas.microsoft.com/office/drawing/2014/main" id="{2336BA83-36CE-4241-A14D-79C74F34819F}"/>
              </a:ext>
            </a:extLst>
          </p:cNvPr>
          <p:cNvSpPr>
            <a:spLocks xmlns:a="http://schemas.openxmlformats.org/drawingml/2006/main" noGrp="1"/>
          </p:cNvSpPr>
          <p:nvPr/>
        </p:nvSpPr>
        <p:spPr>
          <a:xfrm xmlns:a="http://schemas.openxmlformats.org/drawingml/2006/main">
            <a:off x="6286500"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Adaptive common blocks align with ciphertext packing, so compression reduces serialized network bytes while error feedback limits discarded-update loss.</a:t>
            </a:r>
          </a:p>
        </p:txBody>
      </p:sp>
      <p:sp>
        <p:nvSpPr>
          <p:cNvPr id="226" name="contribution-heading-2">
            <a:extLst xmlns:a="http://schemas.openxmlformats.org/drawingml/2006/main">
              <a:ext uri="{FF2B5EF4-FFF2-40B4-BE49-F238E27FC236}">
                <a16:creationId xmlns:a16="http://schemas.microsoft.com/office/drawing/2014/main" id="{17CDFF91-A584-4FA0-AB9F-65812ABE4A2E}"/>
              </a:ext>
            </a:extLst>
          </p:cNvPr>
          <p:cNvSpPr>
            <a:spLocks xmlns:a="http://schemas.openxmlformats.org/drawingml/2006/main" noGrp="1"/>
          </p:cNvSpPr>
          <p:nvPr/>
        </p:nvSpPr>
        <p:spPr>
          <a:xfrm xmlns:a="http://schemas.openxmlformats.org/drawingml/2006/main">
            <a:off x="809625"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Reproducible evaluation</a:t>
            </a:r>
          </a:p>
        </p:txBody>
      </p:sp>
      <p:sp>
        <p:nvSpPr>
          <p:cNvPr id="227" name="rule-85-440">
            <a:extLst xmlns:a="http://schemas.openxmlformats.org/drawingml/2006/main">
              <a:ext uri="{FF2B5EF4-FFF2-40B4-BE49-F238E27FC236}">
                <a16:creationId xmlns:a16="http://schemas.microsoft.com/office/drawing/2014/main" id="{CEC27297-928F-4A84-A737-5BFFBC3C3594}"/>
              </a:ext>
            </a:extLst>
          </p:cNvPr>
          <p:cNvSpPr>
            <a:spLocks xmlns:a="http://schemas.openxmlformats.org/drawingml/2006/main" noGrp="1"/>
          </p:cNvSpPr>
          <p:nvPr/>
        </p:nvSpPr>
        <p:spPr>
          <a:xfrm xmlns:a="http://schemas.openxmlformats.org/drawingml/2006/main">
            <a:off x="809625" y="419100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contribution-body-2">
            <a:extLst xmlns:a="http://schemas.openxmlformats.org/drawingml/2006/main">
              <a:ext uri="{FF2B5EF4-FFF2-40B4-BE49-F238E27FC236}">
                <a16:creationId xmlns:a16="http://schemas.microsoft.com/office/drawing/2014/main" id="{B4FD7A21-EA7E-47DC-9B27-61F10A59C19B}"/>
              </a:ext>
            </a:extLst>
          </p:cNvPr>
          <p:cNvSpPr>
            <a:spLocks xmlns:a="http://schemas.openxmlformats.org/drawingml/2006/main" noGrp="1"/>
          </p:cNvSpPr>
          <p:nvPr/>
        </p:nvSpPr>
        <p:spPr>
          <a:xfrm xmlns:a="http://schemas.openxmlformats.org/drawingml/2006/main">
            <a:off x="809625"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Five paired seeds cover utility, LiRA/RMIA, 300-step reconstruction, seven one-round attacks, longitudinal poisoning, CKKS correctness, and service timing.</a:t>
            </a:r>
          </a:p>
        </p:txBody>
      </p:sp>
      <p:sp>
        <p:nvSpPr>
          <p:cNvPr id="229" name="contribution-heading-3">
            <a:extLst xmlns:a="http://schemas.openxmlformats.org/drawingml/2006/main">
              <a:ext uri="{FF2B5EF4-FFF2-40B4-BE49-F238E27FC236}">
                <a16:creationId xmlns:a16="http://schemas.microsoft.com/office/drawing/2014/main" id="{E6D68144-989E-418A-A459-6C7D6D695583}"/>
              </a:ext>
            </a:extLst>
          </p:cNvPr>
          <p:cNvSpPr>
            <a:spLocks xmlns:a="http://schemas.openxmlformats.org/drawingml/2006/main" noGrp="1"/>
          </p:cNvSpPr>
          <p:nvPr/>
        </p:nvSpPr>
        <p:spPr>
          <a:xfrm xmlns:a="http://schemas.openxmlformats.org/drawingml/2006/main">
            <a:off x="6286500"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Explicit claim boundary</a:t>
            </a:r>
          </a:p>
        </p:txBody>
      </p:sp>
      <p:sp>
        <p:nvSpPr>
          <p:cNvPr id="230" name="rule-660-440">
            <a:extLst xmlns:a="http://schemas.openxmlformats.org/drawingml/2006/main">
              <a:ext uri="{FF2B5EF4-FFF2-40B4-BE49-F238E27FC236}">
                <a16:creationId xmlns:a16="http://schemas.microsoft.com/office/drawing/2014/main" id="{98C5FDC7-1253-4C25-8939-F8D015C30AB5}"/>
              </a:ext>
            </a:extLst>
          </p:cNvPr>
          <p:cNvSpPr>
            <a:spLocks xmlns:a="http://schemas.openxmlformats.org/drawingml/2006/main" noGrp="1"/>
          </p:cNvSpPr>
          <p:nvPr/>
        </p:nvSpPr>
        <p:spPr>
          <a:xfrm xmlns:a="http://schemas.openxmlformats.org/drawingml/2006/main">
            <a:off x="6286500" y="419100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contribution-body-3">
            <a:extLst xmlns:a="http://schemas.openxmlformats.org/drawingml/2006/main">
              <a:ext uri="{FF2B5EF4-FFF2-40B4-BE49-F238E27FC236}">
                <a16:creationId xmlns:a16="http://schemas.microsoft.com/office/drawing/2014/main" id="{0BFF1A3B-FBEE-4A8F-8DBE-FE83B0228182}"/>
              </a:ext>
            </a:extLst>
          </p:cNvPr>
          <p:cNvSpPr>
            <a:spLocks xmlns:a="http://schemas.openxmlformats.org/drawingml/2006/main" noGrp="1"/>
          </p:cNvSpPr>
          <p:nvPr/>
        </p:nvSpPr>
        <p:spPr>
          <a:xfrm xmlns:a="http://schemas.openxmlformats.org/drawingml/2006/main">
            <a:off x="6286500"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Negative AUPRC, rollback cost, central key custody, and deployment limits remain visible rather than being hidden by a single headline metric.</a:t>
            </a:r>
          </a:p>
        </p:txBody>
      </p:sp>
      <p:sp>
        <p:nvSpPr>
          <p:cNvPr id="234" name="visible-footer-date-25">
            <a:extLst xmlns:a="http://schemas.openxmlformats.org/drawingml/2006/main">
              <a:ext uri="{FF2B5EF4-FFF2-40B4-BE49-F238E27FC236}">
                <a16:creationId xmlns:a16="http://schemas.microsoft.com/office/drawing/2014/main" id="{5DBD99E7-AB9A-45D3-A9A8-2E566FE9E409}"/>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838165317"/>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B791FA7-8393-831E-8AB3-1E71F24E09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Limitations</a:t>
            </a:r>
            <a:endParaRPr/>
          </a:p>
        </p:txBody>
      </p:sp>
      <p:sp>
        <p:nvSpPr>
          <p:cNvPr id="212" name="Google Shape;212;p28">
            <a:extLst xmlns:a="http://schemas.openxmlformats.org/drawingml/2006/main">
              <a:ext uri="{FF2B5EF4-FFF2-40B4-BE49-F238E27FC236}">
                <a16:creationId xmlns:a16="http://schemas.microsoft.com/office/drawing/2014/main" id="{4A5D3A6C-140B-C181-80E5-1FCC8C53247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31</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ed4d999c62746c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2e9195255c843c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E7B93C6-6A94-E8D9-9C08-C771DFA446BF}"/>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2083596-6F1F-F68D-870C-C931593560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limitations-bullets">
            <a:extLst xmlns:a="http://schemas.openxmlformats.org/drawingml/2006/main">
              <a:ext uri="{FF2B5EF4-FFF2-40B4-BE49-F238E27FC236}">
                <a16:creationId xmlns:a16="http://schemas.microsoft.com/office/drawing/2014/main" id="{66535D40-F506-4541-B5A4-1EB729B3D51A}"/>
              </a:ext>
            </a:extLst>
          </p:cNvPr>
          <p:cNvSpPr>
            <a:spLocks xmlns:a="http://schemas.openxmlformats.org/drawingml/2006/main" noGrp="1"/>
          </p:cNvSpPr>
          <p:nvPr/>
        </p:nvSpPr>
        <p:spPr>
          <a:xfrm xmlns:a="http://schemas.openxmlformats.org/drawingml/2006/main">
            <a:off x="1047750" y="1381125"/>
            <a:ext cx="100965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One retrospective sepsis cohort, two source hospitals, one MLP, and no prospective or external clinical validation.</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The main TenSEAL service uses central key custody. The OpenFHE threshold experiment remains an isolated 3-of-3 test without dropout tolerance.</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Network timing comes from sequential single-host runs, not a wide-area multi-institution deployment.</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No physical Intel TDX or AMD SEV-SNP experiment, medical-device assessment, or stakeholder usability study.</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Membership, reconstruction, and poisoning findings remain specific to the registered attacks and five security seeds.</a:t>
            </a:r>
          </a:p>
        </p:txBody>
      </p:sp>
      <p:sp>
        <p:nvSpPr>
          <p:cNvPr id="221" name="limitations-close">
            <a:extLst xmlns:a="http://schemas.openxmlformats.org/drawingml/2006/main">
              <a:ext uri="{FF2B5EF4-FFF2-40B4-BE49-F238E27FC236}">
                <a16:creationId xmlns:a16="http://schemas.microsoft.com/office/drawing/2014/main" id="{93C4C268-4512-4584-BECF-715A2CCF774A}"/>
              </a:ext>
            </a:extLst>
          </p:cNvPr>
          <p:cNvSpPr>
            <a:spLocks xmlns:a="http://schemas.openxmlformats.org/drawingml/2006/main" noGrp="1"/>
          </p:cNvSpPr>
          <p:nvPr/>
        </p:nvSpPr>
        <p:spPr>
          <a:xfrm xmlns:a="http://schemas.openxmlformats.org/drawingml/2006/main">
            <a:off x="1381125" y="55721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580"/>
          </a:bodyPr>
          <a:lstStyle xmlns:a="http://schemas.openxmlformats.org/drawingml/2006/main"/>
          <a:p xmlns:a="http://schemas.openxmlformats.org/drawingml/2006/main">
            <a:pPr algn="ctr">
              <a:buNone/>
              <a:defRPr sz="1688" b="1" i="0">
                <a:solidFill>
                  <a:srgbClr val="C00000"/>
                </a:solidFill>
                <a:latin typeface="Arial"/>
                <a:ea typeface="Arial"/>
                <a:cs typeface="Arial"/>
              </a:defRPr>
            </a:pPr>
            <a:r>
              <a:rPr sz="1688" b="1" i="0">
                <a:solidFill>
                  <a:srgbClr val="C00000"/>
                </a:solidFill>
                <a:latin typeface="Arial"/>
                <a:ea typeface="Arial"/>
                <a:cs typeface="Arial"/>
              </a:rPr>
              <a:t>These limitations restrict deployment claims but do not invalidate the measured protocol-level results.</a:t>
            </a:r>
          </a:p>
        </p:txBody>
      </p:sp>
      <p:sp>
        <p:nvSpPr>
          <p:cNvPr id="224" name="visible-footer-date-26">
            <a:extLst xmlns:a="http://schemas.openxmlformats.org/drawingml/2006/main">
              <a:ext uri="{FF2B5EF4-FFF2-40B4-BE49-F238E27FC236}">
                <a16:creationId xmlns:a16="http://schemas.microsoft.com/office/drawing/2014/main" id="{37B6C764-FE79-41A7-B5D0-D4EC72E1AE7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961040222"/>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EE1420B-D505-7F3F-F820-A0568A0EF77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Future Work</a:t>
            </a:r>
            <a:endParaRPr/>
          </a:p>
        </p:txBody>
      </p:sp>
      <p:sp>
        <p:nvSpPr>
          <p:cNvPr id="212" name="Google Shape;212;p28">
            <a:extLst xmlns:a="http://schemas.openxmlformats.org/drawingml/2006/main">
              <a:ext uri="{FF2B5EF4-FFF2-40B4-BE49-F238E27FC236}">
                <a16:creationId xmlns:a16="http://schemas.microsoft.com/office/drawing/2014/main" id="{DEFBA6C7-8677-BA99-896A-D45BF6267A3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32</a:t>
            </a:r>
            <a:endParaRPr sz="2800"/>
          </a:p>
        </p:txBody>
      </p:sp>
      <p:pic>
        <p:nvPicPr>
          <p:cNvPr id="24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5fb31783d9646e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31a9436de1d4d8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E7B3C8F-E948-A1D6-7FC6-3DFC5D71625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187B56-C42F-E6AA-4F92-6A4AFFA85B62}"/>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future-heading-0">
            <a:extLst xmlns:a="http://schemas.openxmlformats.org/drawingml/2006/main">
              <a:ext uri="{FF2B5EF4-FFF2-40B4-BE49-F238E27FC236}">
                <a16:creationId xmlns:a16="http://schemas.microsoft.com/office/drawing/2014/main" id="{F2ECD84B-E76C-4495-B9CA-4D1D6AFB6122}"/>
              </a:ext>
            </a:extLst>
          </p:cNvPr>
          <p:cNvSpPr>
            <a:spLocks xmlns:a="http://schemas.openxmlformats.org/drawingml/2006/main" noGrp="1"/>
          </p:cNvSpPr>
          <p:nvPr/>
        </p:nvSpPr>
        <p:spPr>
          <a:xfrm xmlns:a="http://schemas.openxmlformats.org/drawingml/2006/main">
            <a:off x="952500" y="12382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Threshold custody</a:t>
            </a:r>
          </a:p>
        </p:txBody>
      </p:sp>
      <p:sp>
        <p:nvSpPr>
          <p:cNvPr id="221" name="future-body-0">
            <a:extLst xmlns:a="http://schemas.openxmlformats.org/drawingml/2006/main">
              <a:ext uri="{FF2B5EF4-FFF2-40B4-BE49-F238E27FC236}">
                <a16:creationId xmlns:a16="http://schemas.microsoft.com/office/drawing/2014/main" id="{1765C348-CDF5-4D16-952C-9760DDF9ECBE}"/>
              </a:ext>
            </a:extLst>
          </p:cNvPr>
          <p:cNvSpPr>
            <a:spLocks xmlns:a="http://schemas.openxmlformats.org/drawingml/2006/main" noGrp="1"/>
          </p:cNvSpPr>
          <p:nvPr/>
        </p:nvSpPr>
        <p:spPr>
          <a:xfrm xmlns:a="http://schemas.openxmlformats.org/drawingml/2006/main">
            <a:off x="3714750" y="12382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Integrate dropout-tolerant t-of-n decryption with networked independent custodians.</a:t>
            </a:r>
          </a:p>
        </p:txBody>
      </p:sp>
      <p:sp>
        <p:nvSpPr>
          <p:cNvPr id="222" name="rule-100-202">
            <a:extLst xmlns:a="http://schemas.openxmlformats.org/drawingml/2006/main">
              <a:ext uri="{FF2B5EF4-FFF2-40B4-BE49-F238E27FC236}">
                <a16:creationId xmlns:a16="http://schemas.microsoft.com/office/drawing/2014/main" id="{D1B4CE68-A843-47DE-A326-0F8CD92B6A5F}"/>
              </a:ext>
            </a:extLst>
          </p:cNvPr>
          <p:cNvSpPr>
            <a:spLocks xmlns:a="http://schemas.openxmlformats.org/drawingml/2006/main" noGrp="1"/>
          </p:cNvSpPr>
          <p:nvPr/>
        </p:nvSpPr>
        <p:spPr>
          <a:xfrm xmlns:a="http://schemas.openxmlformats.org/drawingml/2006/main">
            <a:off x="952500" y="19240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future-heading-1">
            <a:extLst xmlns:a="http://schemas.openxmlformats.org/drawingml/2006/main">
              <a:ext uri="{FF2B5EF4-FFF2-40B4-BE49-F238E27FC236}">
                <a16:creationId xmlns:a16="http://schemas.microsoft.com/office/drawing/2014/main" id="{568495B0-C246-4E92-A3A4-897C78E24B8B}"/>
              </a:ext>
            </a:extLst>
          </p:cNvPr>
          <p:cNvSpPr>
            <a:spLocks xmlns:a="http://schemas.openxmlformats.org/drawingml/2006/main" noGrp="1"/>
          </p:cNvSpPr>
          <p:nvPr/>
        </p:nvSpPr>
        <p:spPr>
          <a:xfrm xmlns:a="http://schemas.openxmlformats.org/drawingml/2006/main">
            <a:off x="952500" y="21717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126"/>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Encrypted robustness</a:t>
            </a:r>
          </a:p>
        </p:txBody>
      </p:sp>
      <p:sp>
        <p:nvSpPr>
          <p:cNvPr id="224" name="future-body-1">
            <a:extLst xmlns:a="http://schemas.openxmlformats.org/drawingml/2006/main">
              <a:ext uri="{FF2B5EF4-FFF2-40B4-BE49-F238E27FC236}">
                <a16:creationId xmlns:a16="http://schemas.microsoft.com/office/drawing/2014/main" id="{79E69313-3063-41C9-97D9-3260C1BA5A1D}"/>
              </a:ext>
            </a:extLst>
          </p:cNvPr>
          <p:cNvSpPr>
            <a:spLocks xmlns:a="http://schemas.openxmlformats.org/drawingml/2006/main" noGrp="1"/>
          </p:cNvSpPr>
          <p:nvPr/>
        </p:nvSpPr>
        <p:spPr>
          <a:xfrm xmlns:a="http://schemas.openxmlformats.org/drawingml/2006/main">
            <a:off x="3714750" y="21717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Develop secure robust statistics that do not require exposing individual plaintext updates.</a:t>
            </a:r>
          </a:p>
        </p:txBody>
      </p:sp>
      <p:sp>
        <p:nvSpPr>
          <p:cNvPr id="225" name="rule-100-300">
            <a:extLst xmlns:a="http://schemas.openxmlformats.org/drawingml/2006/main">
              <a:ext uri="{FF2B5EF4-FFF2-40B4-BE49-F238E27FC236}">
                <a16:creationId xmlns:a16="http://schemas.microsoft.com/office/drawing/2014/main" id="{ED8913E1-5FCF-43AE-AF34-B1BE0DC35E50}"/>
              </a:ext>
            </a:extLst>
          </p:cNvPr>
          <p:cNvSpPr>
            <a:spLocks xmlns:a="http://schemas.openxmlformats.org/drawingml/2006/main" noGrp="1"/>
          </p:cNvSpPr>
          <p:nvPr/>
        </p:nvSpPr>
        <p:spPr>
          <a:xfrm xmlns:a="http://schemas.openxmlformats.org/drawingml/2006/main">
            <a:off x="952500" y="28575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future-heading-2">
            <a:extLst xmlns:a="http://schemas.openxmlformats.org/drawingml/2006/main">
              <a:ext uri="{FF2B5EF4-FFF2-40B4-BE49-F238E27FC236}">
                <a16:creationId xmlns:a16="http://schemas.microsoft.com/office/drawing/2014/main" id="{78D8A5C4-F2F6-4295-9470-8454CA08421A}"/>
              </a:ext>
            </a:extLst>
          </p:cNvPr>
          <p:cNvSpPr>
            <a:spLocks xmlns:a="http://schemas.openxmlformats.org/drawingml/2006/main" noGrp="1"/>
          </p:cNvSpPr>
          <p:nvPr/>
        </p:nvSpPr>
        <p:spPr>
          <a:xfrm xmlns:a="http://schemas.openxmlformats.org/drawingml/2006/main">
            <a:off x="952500" y="31051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Production deployment</a:t>
            </a:r>
          </a:p>
        </p:txBody>
      </p:sp>
      <p:sp>
        <p:nvSpPr>
          <p:cNvPr id="227" name="future-body-2">
            <a:extLst xmlns:a="http://schemas.openxmlformats.org/drawingml/2006/main">
              <a:ext uri="{FF2B5EF4-FFF2-40B4-BE49-F238E27FC236}">
                <a16:creationId xmlns:a16="http://schemas.microsoft.com/office/drawing/2014/main" id="{E9104F83-5B73-4D84-9A61-93FFD3BDFBE0}"/>
              </a:ext>
            </a:extLst>
          </p:cNvPr>
          <p:cNvSpPr>
            <a:spLocks xmlns:a="http://schemas.openxmlformats.org/drawingml/2006/main" noGrp="1"/>
          </p:cNvSpPr>
          <p:nvPr/>
        </p:nvSpPr>
        <p:spPr>
          <a:xfrm xmlns:a="http://schemas.openxmlformats.org/drawingml/2006/main">
            <a:off x="3714750" y="31051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Run concurrent multi-host WAN experiments and physical TDX or SEV-SNP attestation.</a:t>
            </a:r>
          </a:p>
        </p:txBody>
      </p:sp>
      <p:sp>
        <p:nvSpPr>
          <p:cNvPr id="228" name="rule-100-398">
            <a:extLst xmlns:a="http://schemas.openxmlformats.org/drawingml/2006/main">
              <a:ext uri="{FF2B5EF4-FFF2-40B4-BE49-F238E27FC236}">
                <a16:creationId xmlns:a16="http://schemas.microsoft.com/office/drawing/2014/main" id="{CD4C655C-3676-4349-9C17-A269F31B71C9}"/>
              </a:ext>
            </a:extLst>
          </p:cNvPr>
          <p:cNvSpPr>
            <a:spLocks xmlns:a="http://schemas.openxmlformats.org/drawingml/2006/main" noGrp="1"/>
          </p:cNvSpPr>
          <p:nvPr/>
        </p:nvSpPr>
        <p:spPr>
          <a:xfrm xmlns:a="http://schemas.openxmlformats.org/drawingml/2006/main">
            <a:off x="952500" y="37909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future-heading-3">
            <a:extLst xmlns:a="http://schemas.openxmlformats.org/drawingml/2006/main">
              <a:ext uri="{FF2B5EF4-FFF2-40B4-BE49-F238E27FC236}">
                <a16:creationId xmlns:a16="http://schemas.microsoft.com/office/drawing/2014/main" id="{B534CBAC-79B1-4870-8F32-30613F27B2DA}"/>
              </a:ext>
            </a:extLst>
          </p:cNvPr>
          <p:cNvSpPr>
            <a:spLocks xmlns:a="http://schemas.openxmlformats.org/drawingml/2006/main" noGrp="1"/>
          </p:cNvSpPr>
          <p:nvPr/>
        </p:nvSpPr>
        <p:spPr>
          <a:xfrm xmlns:a="http://schemas.openxmlformats.org/drawingml/2006/main">
            <a:off x="952500" y="4038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862"/>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Clinical generalization</a:t>
            </a:r>
          </a:p>
        </p:txBody>
      </p:sp>
      <p:sp>
        <p:nvSpPr>
          <p:cNvPr id="230" name="future-body-3">
            <a:extLst xmlns:a="http://schemas.openxmlformats.org/drawingml/2006/main">
              <a:ext uri="{FF2B5EF4-FFF2-40B4-BE49-F238E27FC236}">
                <a16:creationId xmlns:a16="http://schemas.microsoft.com/office/drawing/2014/main" id="{03245E0B-7FD7-4653-B3E8-DADF827963BB}"/>
              </a:ext>
            </a:extLst>
          </p:cNvPr>
          <p:cNvSpPr>
            <a:spLocks xmlns:a="http://schemas.openxmlformats.org/drawingml/2006/main" noGrp="1"/>
          </p:cNvSpPr>
          <p:nvPr/>
        </p:nvSpPr>
        <p:spPr>
          <a:xfrm xmlns:a="http://schemas.openxmlformats.org/drawingml/2006/main">
            <a:off x="3714750" y="40386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Evaluate additional institutions, diseases, model families, fairness endpoints, and prospective workflows.</a:t>
            </a:r>
          </a:p>
        </p:txBody>
      </p:sp>
      <p:sp>
        <p:nvSpPr>
          <p:cNvPr id="231" name="rule-100-496">
            <a:extLst xmlns:a="http://schemas.openxmlformats.org/drawingml/2006/main">
              <a:ext uri="{FF2B5EF4-FFF2-40B4-BE49-F238E27FC236}">
                <a16:creationId xmlns:a16="http://schemas.microsoft.com/office/drawing/2014/main" id="{52FB6D97-7A77-4E9E-9850-066828288E2F}"/>
              </a:ext>
            </a:extLst>
          </p:cNvPr>
          <p:cNvSpPr>
            <a:spLocks xmlns:a="http://schemas.openxmlformats.org/drawingml/2006/main" noGrp="1"/>
          </p:cNvSpPr>
          <p:nvPr/>
        </p:nvSpPr>
        <p:spPr>
          <a:xfrm xmlns:a="http://schemas.openxmlformats.org/drawingml/2006/main">
            <a:off x="952500" y="47244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future-heading-4">
            <a:extLst xmlns:a="http://schemas.openxmlformats.org/drawingml/2006/main">
              <a:ext uri="{FF2B5EF4-FFF2-40B4-BE49-F238E27FC236}">
                <a16:creationId xmlns:a16="http://schemas.microsoft.com/office/drawing/2014/main" id="{E998B5CE-32BD-4323-8567-B6FA18FAE274}"/>
              </a:ext>
            </a:extLst>
          </p:cNvPr>
          <p:cNvSpPr>
            <a:spLocks xmlns:a="http://schemas.openxmlformats.org/drawingml/2006/main" noGrp="1"/>
          </p:cNvSpPr>
          <p:nvPr/>
        </p:nvSpPr>
        <p:spPr>
          <a:xfrm xmlns:a="http://schemas.openxmlformats.org/drawingml/2006/main">
            <a:off x="952500" y="49720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Independent assurance</a:t>
            </a:r>
          </a:p>
        </p:txBody>
      </p:sp>
      <p:sp>
        <p:nvSpPr>
          <p:cNvPr id="233" name="future-body-4">
            <a:extLst xmlns:a="http://schemas.openxmlformats.org/drawingml/2006/main">
              <a:ext uri="{FF2B5EF4-FFF2-40B4-BE49-F238E27FC236}">
                <a16:creationId xmlns:a16="http://schemas.microsoft.com/office/drawing/2014/main" id="{9483DACB-F39A-44B7-BC69-6391486F16C4}"/>
              </a:ext>
            </a:extLst>
          </p:cNvPr>
          <p:cNvSpPr>
            <a:spLocks xmlns:a="http://schemas.openxmlformats.org/drawingml/2006/main" noGrp="1"/>
          </p:cNvSpPr>
          <p:nvPr/>
        </p:nvSpPr>
        <p:spPr>
          <a:xfrm xmlns:a="http://schemas.openxmlformats.org/drawingml/2006/main">
            <a:off x="3714750" y="49720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Audit secure randomness, cryptographic configuration, governance logic, and threat-control evidence.</a:t>
            </a:r>
          </a:p>
        </p:txBody>
      </p:sp>
      <p:sp>
        <p:nvSpPr>
          <p:cNvPr id="236" name="visible-footer-date-27">
            <a:extLst xmlns:a="http://schemas.openxmlformats.org/drawingml/2006/main">
              <a:ext uri="{FF2B5EF4-FFF2-40B4-BE49-F238E27FC236}">
                <a16:creationId xmlns:a16="http://schemas.microsoft.com/office/drawing/2014/main" id="{A06A22BD-BF09-481E-8BEA-555507DFCF2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57563943"/>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E2344E4-1A22-60C2-AFF0-304AE3DCA42D}"/>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(1/2)</a:t>
            </a:r>
            <a:endParaRPr/>
          </a:p>
        </p:txBody>
      </p:sp>
      <p:sp>
        <p:nvSpPr>
          <p:cNvPr id="212" name="Google Shape;212;p28">
            <a:extLst xmlns:a="http://schemas.openxmlformats.org/drawingml/2006/main">
              <a:ext uri="{FF2B5EF4-FFF2-40B4-BE49-F238E27FC236}">
                <a16:creationId xmlns:a16="http://schemas.microsoft.com/office/drawing/2014/main" id="{FFFFB3C5-9869-C9B2-9CA3-CEB218044FF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33</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9fc4efd0be74a8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f1f8be17d9e43d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D3DE624-6115-A665-B7B3-FA10FA71AE1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2527088A-4217-01E2-32ED-810E572B3F8A}"/>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reference-28-0">
            <a:extLst xmlns:a="http://schemas.openxmlformats.org/drawingml/2006/main">
              <a:ext uri="{FF2B5EF4-FFF2-40B4-BE49-F238E27FC236}">
                <a16:creationId xmlns:a16="http://schemas.microsoft.com/office/drawing/2014/main" id="{A0904099-BC47-48DD-9FC7-D316955AC3E0}"/>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 H. B. McMahan et al., 'Communication-Efficient Learning of Deep Networks from Decentralized Data,' AISTATS, 2017.</a:t>
            </a:r>
          </a:p>
        </p:txBody>
      </p:sp>
      <p:sp>
        <p:nvSpPr>
          <p:cNvPr id="221" name="reference-28-1">
            <a:extLst xmlns:a="http://schemas.openxmlformats.org/drawingml/2006/main">
              <a:ext uri="{FF2B5EF4-FFF2-40B4-BE49-F238E27FC236}">
                <a16:creationId xmlns:a16="http://schemas.microsoft.com/office/drawing/2014/main" id="{9AA22853-C5D3-4E4D-BEA1-5FB35A4D455D}"/>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[2] M. J. Sheller et al., 'Federated Learning in Medicine,' Scientific Reports, vol. 10, 2020.</a:t>
            </a:r>
          </a:p>
        </p:txBody>
      </p:sp>
      <p:sp>
        <p:nvSpPr>
          <p:cNvPr id="222" name="reference-28-2">
            <a:extLst xmlns:a="http://schemas.openxmlformats.org/drawingml/2006/main">
              <a:ext uri="{FF2B5EF4-FFF2-40B4-BE49-F238E27FC236}">
                <a16:creationId xmlns:a16="http://schemas.microsoft.com/office/drawing/2014/main" id="{E59A6721-22D0-4840-981D-9DB09BD0AB56}"/>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[3] I. Dayan et al., 'Federated Learning for Predicting Clinical Outcomes in Patients with COVID-19,' Nature Medicine, 2021.</a:t>
            </a:r>
          </a:p>
        </p:txBody>
      </p:sp>
      <p:sp>
        <p:nvSpPr>
          <p:cNvPr id="223" name="reference-28-3">
            <a:extLst xmlns:a="http://schemas.openxmlformats.org/drawingml/2006/main">
              <a:ext uri="{FF2B5EF4-FFF2-40B4-BE49-F238E27FC236}">
                <a16:creationId xmlns:a16="http://schemas.microsoft.com/office/drawing/2014/main" id="{C69B131B-3082-4FFA-B58A-55201112CC76}"/>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[4] R. Shokri et al., 'Membership Inference Attacks Against Machine Learning Models,' IEEE S&amp;P, 2017.</a:t>
            </a:r>
          </a:p>
        </p:txBody>
      </p:sp>
      <p:sp>
        <p:nvSpPr>
          <p:cNvPr id="224" name="reference-28-4">
            <a:extLst xmlns:a="http://schemas.openxmlformats.org/drawingml/2006/main">
              <a:ext uri="{FF2B5EF4-FFF2-40B4-BE49-F238E27FC236}">
                <a16:creationId xmlns:a16="http://schemas.microsoft.com/office/drawing/2014/main" id="{05EABF6C-6284-465D-AF53-D60D1CF7452B}"/>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[5] L. Zhu, Z. Liu, and S. Han, 'Deep Leakage from Gradients,' NeurIPS, 2019.</a:t>
            </a:r>
          </a:p>
        </p:txBody>
      </p:sp>
      <p:sp>
        <p:nvSpPr>
          <p:cNvPr id="225" name="reference-28-5">
            <a:extLst xmlns:a="http://schemas.openxmlformats.org/drawingml/2006/main">
              <a:ext uri="{FF2B5EF4-FFF2-40B4-BE49-F238E27FC236}">
                <a16:creationId xmlns:a16="http://schemas.microsoft.com/office/drawing/2014/main" id="{9D247F58-02B2-4B19-9361-1F69FAE13E2D}"/>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[6] J. Geiping et al., 'Inverting Gradients - How Easy Is It to Break Privacy in Federated Learning?' NeurIPS, 2020.</a:t>
            </a:r>
          </a:p>
        </p:txBody>
      </p:sp>
      <p:sp>
        <p:nvSpPr>
          <p:cNvPr id="226" name="reference-28-6">
            <a:extLst xmlns:a="http://schemas.openxmlformats.org/drawingml/2006/main">
              <a:ext uri="{FF2B5EF4-FFF2-40B4-BE49-F238E27FC236}">
                <a16:creationId xmlns:a16="http://schemas.microsoft.com/office/drawing/2014/main" id="{32590E15-6E4E-419E-A8E8-E5787E778FE6}"/>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[7] C. Dwork et al., 'Calibrating Noise to Sensitivity in Private Data Analysis,' TCC, 2006.</a:t>
            </a:r>
          </a:p>
        </p:txBody>
      </p:sp>
      <p:sp>
        <p:nvSpPr>
          <p:cNvPr id="227" name="reference-28-7">
            <a:extLst xmlns:a="http://schemas.openxmlformats.org/drawingml/2006/main">
              <a:ext uri="{FF2B5EF4-FFF2-40B4-BE49-F238E27FC236}">
                <a16:creationId xmlns:a16="http://schemas.microsoft.com/office/drawing/2014/main" id="{B323B6D2-81E3-4645-8F35-DD0FD8668298}"/>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[8] M. Abadi et al., 'Deep Learning with Differential Privacy,' ACM CCS, 2016.</a:t>
            </a:r>
          </a:p>
        </p:txBody>
      </p:sp>
      <p:sp>
        <p:nvSpPr>
          <p:cNvPr id="230" name="visible-footer-date-28">
            <a:extLst xmlns:a="http://schemas.openxmlformats.org/drawingml/2006/main">
              <a:ext uri="{FF2B5EF4-FFF2-40B4-BE49-F238E27FC236}">
                <a16:creationId xmlns:a16="http://schemas.microsoft.com/office/drawing/2014/main" id="{0F0451F1-6B73-4633-9F09-522DF5783B2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42205720"/>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C2DD68F-AB1C-3D5D-DF80-8BB6117EDD7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(2/2)</a:t>
            </a:r>
            <a:endParaRPr/>
          </a:p>
        </p:txBody>
      </p:sp>
      <p:sp>
        <p:nvSpPr>
          <p:cNvPr id="212" name="Google Shape;212;p28">
            <a:extLst xmlns:a="http://schemas.openxmlformats.org/drawingml/2006/main">
              <a:ext uri="{FF2B5EF4-FFF2-40B4-BE49-F238E27FC236}">
                <a16:creationId xmlns:a16="http://schemas.microsoft.com/office/drawing/2014/main" id="{393189EB-7FA1-8916-432D-45E7E59377B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34</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8d6f0b3d10ad41b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ab508aeaa6c4d9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A2DBA02-EB63-E4A9-87A4-4B734A102E12}"/>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4CAF7A9-99E3-CEA9-46FF-8064363DACF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reference-29-0">
            <a:extLst xmlns:a="http://schemas.openxmlformats.org/drawingml/2006/main">
              <a:ext uri="{FF2B5EF4-FFF2-40B4-BE49-F238E27FC236}">
                <a16:creationId xmlns:a16="http://schemas.microsoft.com/office/drawing/2014/main" id="{A2142EB4-CEE1-41A8-9608-5F83BE112E7C}"/>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[9] K. Bonawitz et al., 'Practical Secure Aggregation for Privacy-Preserving Machine Learning,' ACM CCS, 2017.</a:t>
            </a:r>
          </a:p>
        </p:txBody>
      </p:sp>
      <p:sp>
        <p:nvSpPr>
          <p:cNvPr id="221" name="reference-29-1">
            <a:extLst xmlns:a="http://schemas.openxmlformats.org/drawingml/2006/main">
              <a:ext uri="{FF2B5EF4-FFF2-40B4-BE49-F238E27FC236}">
                <a16:creationId xmlns:a16="http://schemas.microsoft.com/office/drawing/2014/main" id="{8C0CE6AE-36A7-45F2-9DFC-7EED13DC9638}"/>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[10] J. H. Cheon et al., 'Homomorphic Encryption for Arithmetic of Approximate Numbers,' ASIACRYPT, 2017.</a:t>
            </a:r>
          </a:p>
        </p:txBody>
      </p:sp>
      <p:sp>
        <p:nvSpPr>
          <p:cNvPr id="222" name="reference-29-2">
            <a:extLst xmlns:a="http://schemas.openxmlformats.org/drawingml/2006/main">
              <a:ext uri="{FF2B5EF4-FFF2-40B4-BE49-F238E27FC236}">
                <a16:creationId xmlns:a16="http://schemas.microsoft.com/office/drawing/2014/main" id="{8EFA07C1-5F7E-4E6B-BF1D-2EF7DC637EB9}"/>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[11] T. Stevens et al., 'Efficient Differentially Private Secure Aggregation for Federated Learning,' USENIX Security, 2022.</a:t>
            </a:r>
          </a:p>
        </p:txBody>
      </p:sp>
      <p:sp>
        <p:nvSpPr>
          <p:cNvPr id="223" name="reference-29-3">
            <a:extLst xmlns:a="http://schemas.openxmlformats.org/drawingml/2006/main">
              <a:ext uri="{FF2B5EF4-FFF2-40B4-BE49-F238E27FC236}">
                <a16:creationId xmlns:a16="http://schemas.microsoft.com/office/drawing/2014/main" id="{AD8F6965-0F28-4E37-AEEE-0229DDC34CE9}"/>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[12] D. Froelicher et al., 'Truly Privacy-Preserving Federated Analytics for Precision Medicine,' Nature Communications, 2021.</a:t>
            </a:r>
          </a:p>
        </p:txBody>
      </p:sp>
      <p:sp>
        <p:nvSpPr>
          <p:cNvPr id="224" name="reference-29-4">
            <a:extLst xmlns:a="http://schemas.openxmlformats.org/drawingml/2006/main">
              <a:ext uri="{FF2B5EF4-FFF2-40B4-BE49-F238E27FC236}">
                <a16:creationId xmlns:a16="http://schemas.microsoft.com/office/drawing/2014/main" id="{AEEAED04-E5C3-4021-852E-D0AC7A2AF494}"/>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[13] Z. Li et al., 'SoteriaFL,' NeurIPS, 2022.   [14] X. Li and P. Li, 'Analysis and Enhancement of Federated Learning with Biased Compression,' ICML, 2023.</a:t>
            </a:r>
          </a:p>
        </p:txBody>
      </p:sp>
      <p:sp>
        <p:nvSpPr>
          <p:cNvPr id="225" name="reference-29-5">
            <a:extLst xmlns:a="http://schemas.openxmlformats.org/drawingml/2006/main">
              <a:ext uri="{FF2B5EF4-FFF2-40B4-BE49-F238E27FC236}">
                <a16:creationId xmlns:a16="http://schemas.microsoft.com/office/drawing/2014/main" id="{4F2574DD-0A40-48A4-854E-D03067D93C23}"/>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[15] X. Cao et al., 'FLTrust,' NDSS, 2021.   [16] R. Xu et al., 'Dual Defense,' NeurIPS, 2024.</a:t>
            </a:r>
          </a:p>
        </p:txBody>
      </p:sp>
      <p:sp>
        <p:nvSpPr>
          <p:cNvPr id="226" name="reference-29-6">
            <a:extLst xmlns:a="http://schemas.openxmlformats.org/drawingml/2006/main">
              <a:ext uri="{FF2B5EF4-FFF2-40B4-BE49-F238E27FC236}">
                <a16:creationId xmlns:a16="http://schemas.microsoft.com/office/drawing/2014/main" id="{9C630596-65E6-4BF9-91B1-AC65554EF9FD}"/>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[17] X. Gu, M. Li, and L. Xiong, 'DP-BREM,' USENIX Security, 2025.   [18] H. Asi et al., 'PREAMBLE,' NeurIPS, 2025.</a:t>
            </a:r>
          </a:p>
        </p:txBody>
      </p:sp>
      <p:sp>
        <p:nvSpPr>
          <p:cNvPr id="227" name="reference-29-7">
            <a:extLst xmlns:a="http://schemas.openxmlformats.org/drawingml/2006/main">
              <a:ext uri="{FF2B5EF4-FFF2-40B4-BE49-F238E27FC236}">
                <a16:creationId xmlns:a16="http://schemas.microsoft.com/office/drawing/2014/main" id="{F19B9063-46BF-4F12-8672-7E4DD622D342}"/>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[19] M. A. Reyna et al., 'Early Prediction of Sepsis from Clinical Data,' Critical Care Medicine, 2020.</a:t>
            </a:r>
          </a:p>
        </p:txBody>
      </p:sp>
      <p:sp>
        <p:nvSpPr>
          <p:cNvPr id="230" name="visible-footer-date-29">
            <a:extLst xmlns:a="http://schemas.openxmlformats.org/drawingml/2006/main">
              <a:ext uri="{FF2B5EF4-FFF2-40B4-BE49-F238E27FC236}">
                <a16:creationId xmlns:a16="http://schemas.microsoft.com/office/drawing/2014/main" id="{9EF3CE28-3C42-45BA-8462-0A5184EC31B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43780179"/>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Project Timeline</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35</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89a9e609ed3455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4baf61884404cf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Research phases from proposal to final defense</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GANTT SUMMARY. Completed project milestones</a:t>
            </a:r>
          </a:p>
        </p:txBody>
      </p:sp>
      <p:graphicFrame>
        <p:nvGraphicFramePr>
          <p:cNvPr id="239" name=""/>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Phase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Period</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Status</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Proposal, literature review, and research design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Jun–Nov 2025</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Framework implementation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Dec 2025–Mar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Security, privacy, poisoning, and statistical evaluation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Apr–Jul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Report writing, revision, and defense preparation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Jul–Sep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Final defense: 25 September 2026</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Abbreviations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36</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b747232d389416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d439f1fb6454e1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Framework and privacy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CAABC-FL: Ciphertext-Aligned Adaptive Block Compression for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FL: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DP: Differential Privacy</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Cryptography and systems</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CKKS: Approximate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HE: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TEE: Trusted Execution Environment</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Evaluation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AUROC: Area Under the ROC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AUPRC: Area Under the Precision-Recall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MCC: Matthews Correlation Coefficient</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Attacks and deployment</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MIA: Membership Inference Attack</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LiRA/RMIA: Membership inference tests</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ASR: Attack Success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TPR/FPR: True-/False-Positive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WAN: Wide-Area Network</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F2F3A18-3D4A-89E9-DF3C-2CD6AD919AE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Q&amp;A Session</a:t>
            </a:r>
            <a:endParaRPr/>
          </a:p>
        </p:txBody>
      </p:sp>
      <p:sp>
        <p:nvSpPr>
          <p:cNvPr id="212" name="Google Shape;212;p28">
            <a:extLst xmlns:a="http://schemas.openxmlformats.org/drawingml/2006/main">
              <a:ext uri="{FF2B5EF4-FFF2-40B4-BE49-F238E27FC236}">
                <a16:creationId xmlns:a16="http://schemas.microsoft.com/office/drawing/2014/main" id="{9E209038-E0AD-56EF-CCF5-260B133795F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37</a:t>
            </a:r>
            <a:endParaRPr sz="2800"/>
          </a:p>
        </p:txBody>
      </p:sp>
      <p:pic>
        <p:nvPicPr>
          <p:cNvPr id="22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8ae74430806483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e94d861c8fd4c7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30135F10-9448-D0E1-E18F-F2F3234362E9}"/>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70043F5-38B0-81DD-4581-EAF4D730399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31" name="Google Shape;614;p60"/>
          <p:cNvPicPr>
            <a:picLocks xmlns:a="http://schemas.openxmlformats.org/drawingml/2006/main" noChangeAspect="1"/>
          </p:cNvPicPr>
          <p:nvPr/>
        </p:nvPicPr>
        <p:blipFill rotWithShape="1">
          <a:blip xmlns:r="http://schemas.openxmlformats.org/officeDocument/2006/relationships" xmlns:a="http://schemas.openxmlformats.org/drawingml/2006/main" r:embed="Rfce4a1ace5b0490b">
            <a:alphaModFix/>
          </a:blip>
          <a:srcRect xmlns:a="http://schemas.openxmlformats.org/drawingml/2006/main" l="0" t="0" r="0" b="0"/>
          <a:stretch xmlns:a="http://schemas.openxmlformats.org/drawingml/2006/main"/>
        </p:blipFill>
        <p:spPr>
          <a:xfrm xmlns:a="http://schemas.openxmlformats.org/drawingml/2006/main">
            <a:off x="4754485" y="1899759"/>
            <a:ext cx="2683029" cy="2543938"/>
          </a:xfrm>
          <a:prstGeom xmlns:a="http://schemas.openxmlformats.org/drawingml/2006/main" prst="rect">
            <a:avLst/>
          </a:prstGeom>
          <a:ln xmlns:a="http://schemas.openxmlformats.org/drawingml/2006/main">
            <a:noFill/>
          </a:ln>
        </p:spPr>
      </p:pic>
      <p:sp>
        <p:nvSpPr>
          <p:cNvPr id="3" name="Google Shape;615;p60">
            <a:extLst xmlns:a="http://schemas.openxmlformats.org/drawingml/2006/main">
              <a:ext uri="{FF2B5EF4-FFF2-40B4-BE49-F238E27FC236}">
                <a16:creationId xmlns:a16="http://schemas.microsoft.com/office/drawing/2014/main" id="{84610837-AC87-0B4A-F256-6FFB0ABA363C}"/>
              </a:ext>
            </a:extLst>
          </p:cNvPr>
          <p:cNvSpPr>
            <a:spLocks xmlns:a="http://schemas.openxmlformats.org/drawingml/2006/main" noGrp="1"/>
          </p:cNvSpPr>
          <p:nvPr/>
        </p:nvSpPr>
        <p:spPr>
          <a:xfrm xmlns:a="http://schemas.openxmlformats.org/drawingml/2006/main">
            <a:off x="1047746" y="4443697"/>
            <a:ext cx="10675917" cy="10156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00"/>
              <a:buFont typeface="Arial"/>
              <a:buNone/>
            </a:pPr>
            <a:r>
              <a:rPr sz="5400" b="1" i="0" u="none" cap="none">
                <a:solidFill>
                  <a:srgbClr val="00B0F0"/>
                </a:solidFill>
                <a:latin typeface="Arial"/>
                <a:ea typeface="Arial"/>
                <a:cs typeface="Arial"/>
              </a:rPr>
              <a:t>Questions and Discussion</a:t>
            </a:r>
            <a:endParaRPr sz="5400" b="1" i="0" u="none" cap="none">
              <a:solidFill>
                <a:srgbClr val="00B0F0"/>
              </a:solidFill>
              <a:latin typeface="Arial"/>
              <a:ea typeface="Arial"/>
              <a:cs typeface="Arial"/>
            </a:endParaRPr>
          </a:p>
        </p:txBody>
      </p:sp>
      <p:sp>
        <p:nvSpPr>
          <p:cNvPr id="221" name="visible-footer-date-30">
            <a:extLst xmlns:a="http://schemas.openxmlformats.org/drawingml/2006/main">
              <a:ext uri="{FF2B5EF4-FFF2-40B4-BE49-F238E27FC236}">
                <a16:creationId xmlns:a16="http://schemas.microsoft.com/office/drawing/2014/main" id="{121E6093-7387-46A2-A79C-636EB6C0933C}"/>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09310205"/>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pic>
        <p:nvPicPr>
          <p:cNvPr id="612" name="Google Shape;599;p59"/>
          <p:cNvPicPr>
            <a:picLocks xmlns:a="http://schemas.openxmlformats.org/drawingml/2006/main" noChangeAspect="1"/>
          </p:cNvPicPr>
          <p:nvPr/>
        </p:nvPicPr>
        <p:blipFill rotWithShape="1">
          <a:blip xmlns:r="http://schemas.openxmlformats.org/officeDocument/2006/relationships" xmlns:a="http://schemas.openxmlformats.org/drawingml/2006/main" r:embed="R4ecd51982539428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sp>
        <p:nvSpPr>
          <p:cNvPr id="604" name="Google Shape;604;p59">
            <a:extLst xmlns:a="http://schemas.openxmlformats.org/drawingml/2006/main">
              <a:ext uri="{FF2B5EF4-FFF2-40B4-BE49-F238E27FC236}">
                <a16:creationId xmlns:a16="http://schemas.microsoft.com/office/drawing/2014/main" id="{B00DAB80-8746-4128-A967-88D723EA1BCC}"/>
              </a:ext>
            </a:extLst>
          </p:cNvPr>
          <p:cNvSpPr>
            <a:spLocks xmlns:a="http://schemas.openxmlformats.org/drawingml/2006/main" noGrp="1"/>
          </p:cNvSpPr>
          <p:nvPr>
            <p:ph type="dt" idx="10"/>
          </p:nvPr>
        </p:nvSpPr>
        <p:spPr>
          <a:xfrm xmlns:a="http://schemas.openxmlformats.org/drawingml/2006/main">
            <a:off x="462800" y="6396573"/>
            <a:ext cx="16050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614" name="Google Shape;157;p13"/>
          <p:cNvPicPr>
            <a:picLocks xmlns:a="http://schemas.openxmlformats.org/drawingml/2006/main" noChangeAspect="1"/>
          </p:cNvPicPr>
          <p:nvPr/>
        </p:nvPicPr>
        <p:blipFill rotWithShape="1">
          <a:blip xmlns:r="http://schemas.openxmlformats.org/officeDocument/2006/relationships" xmlns:a="http://schemas.openxmlformats.org/drawingml/2006/main" r:embed="R81eba1422e9347c8">
            <a:alphaModFix/>
          </a:blip>
          <a:srcRect xmlns:a="http://schemas.openxmlformats.org/drawingml/2006/main" l="0" t="0" r="0" b="0"/>
          <a:stretch xmlns:a="http://schemas.openxmlformats.org/drawingml/2006/main"/>
        </p:blipFill>
        <p:spPr>
          <a:xfrm xmlns:a="http://schemas.openxmlformats.org/drawingml/2006/main">
            <a:off x="3763389" y="610325"/>
            <a:ext cx="4597090" cy="3186975"/>
          </a:xfrm>
          <a:prstGeom xmlns:a="http://schemas.openxmlformats.org/drawingml/2006/main" prst="rect">
            <a:avLst/>
          </a:prstGeom>
          <a:ln xmlns:a="http://schemas.openxmlformats.org/drawingml/2006/main">
            <a:noFill/>
          </a:ln>
        </p:spPr>
      </p:pic>
      <p:sp>
        <p:nvSpPr>
          <p:cNvPr id="9" name="Google Shape;158;p13">
            <a:extLst xmlns:a="http://schemas.openxmlformats.org/drawingml/2006/main">
              <a:ext uri="{FF2B5EF4-FFF2-40B4-BE49-F238E27FC236}">
                <a16:creationId xmlns:a16="http://schemas.microsoft.com/office/drawing/2014/main" id="{2D8B1C7A-65C6-C8DC-AC78-9534DDE706B0}"/>
              </a:ext>
            </a:extLst>
          </p:cNvPr>
          <p:cNvSpPr>
            <a:spLocks xmlns:a="http://schemas.openxmlformats.org/drawingml/2006/main" noGrp="1"/>
          </p:cNvSpPr>
          <p:nvPr>
            <p:ph type="title" idx="0"/>
          </p:nvPr>
        </p:nvSpPr>
        <p:spPr>
          <a:xfrm xmlns:a="http://schemas.openxmlformats.org/drawingml/2006/main">
            <a:off x="2520012" y="3849079"/>
            <a:ext cx="7340600" cy="114202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vert="horz" wrap="square" lIns="137150" tIns="68550" rIns="137150" bIns="68550" anchor="ctr">
            <a:normAutofit fontScale="100000"/>
          </a:bodyPr>
          <a:lstStyle xmlns:a="http://schemas.openxmlformats.org/drawingml/2006/main"/>
          <a:p xmlns:a="http://schemas.openxmlformats.org/drawingml/2006/main">
            <a:pPr algn="ctr">
              <a:lnSpc>
                <a:spcPct val="90000"/>
              </a:lnSpc>
              <a:spcBef>
                <a:spcPts val="0"/>
              </a:spcBef>
              <a:buClr>
                <a:schemeClr val="dk1"/>
              </a:buClr>
              <a:buSzPts val="4200"/>
              <a:buNone/>
              <a:defRPr sz="3600" b="1">
                <a:solidFill>
                  <a:srgbClr val="17365D"/>
                </a:solidFill>
                <a:latin typeface="Arial"/>
                <a:ea typeface="Arial"/>
                <a:cs typeface="Arial"/>
              </a:defRPr>
            </a:pPr>
            <a:r>
              <a:rPr sz="3600" b="1">
                <a:solidFill>
                  <a:srgbClr val="17365D"/>
                </a:solidFill>
                <a:latin typeface="Arial"/>
                <a:ea typeface="Arial"/>
                <a:cs typeface="Arial"/>
              </a:rPr>
              <a:t>Thank You</a:t>
            </a:r>
            <a:endParaRPr sz="6000" b="1">
              <a:latin typeface="Bookman Old Style"/>
              <a:ea typeface="Bookman Old Style"/>
              <a:cs typeface="Bookman Old Style"/>
            </a:endParaRPr>
          </a:p>
        </p:txBody>
      </p:sp>
      <p:sp>
        <p:nvSpPr>
          <p:cNvPr id="10" name="Google Shape;160;p13">
            <a:extLst xmlns:a="http://schemas.openxmlformats.org/drawingml/2006/main">
              <a:ext uri="{FF2B5EF4-FFF2-40B4-BE49-F238E27FC236}">
                <a16:creationId xmlns:a16="http://schemas.microsoft.com/office/drawing/2014/main" id="{92C7E31B-48F1-10E0-622E-5B5B1647541E}"/>
              </a:ext>
            </a:extLst>
          </p:cNvPr>
          <p:cNvSpPr>
            <a:spLocks xmlns:a="http://schemas.openxmlformats.org/drawingml/2006/main" noGrp="1"/>
          </p:cNvSpPr>
          <p:nvPr/>
        </p:nvSpPr>
        <p:spPr>
          <a:xfrm xmlns:a="http://schemas.openxmlformats.org/drawingml/2006/main">
            <a:off x="2865500" y="5042879"/>
            <a:ext cx="7340600" cy="74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37150" tIns="68550" rIns="137150" bIns="68550" anchor="ctr">
            <a:normAutofit fontScale="100000"/>
          </a:bodyPr>
          <a:lstStyle xmlns:a="http://schemas.openxmlformats.org/drawingml/2006/main"/>
          <a:p xmlns:a="http://schemas.openxmlformats.org/drawingml/2006/main">
            <a:pPr algn="ctr">
              <a:lnSpc>
                <a:spcPct val="90000"/>
              </a:lnSpc>
              <a:buClr>
                <a:schemeClr val="dk1"/>
              </a:buClr>
              <a:buSzPts val="1400"/>
              <a:buNone/>
              <a:defRPr sz="1800" b="1">
                <a:solidFill>
                  <a:srgbClr val="1F2937"/>
                </a:solidFill>
                <a:latin typeface="Arial"/>
                <a:ea typeface="Arial"/>
                <a:cs typeface="Arial"/>
              </a:defRPr>
            </a:pPr>
            <a:r>
              <a:rPr sz="1800" b="1">
                <a:solidFill>
                  <a:srgbClr val="1F2937"/>
                </a:solidFill>
                <a:latin typeface="Arial"/>
                <a:ea typeface="Arial"/>
                <a:cs typeface="Arial"/>
              </a:rPr>
              <a:t>CAABC-FL: Secure collaboration with explicit trust boundaries</a:t>
            </a:r>
            <a:endParaRPr sz="2800" b="1">
              <a:solidFill>
                <a:schemeClr val="dk1"/>
              </a:solidFill>
              <a:latin typeface="Bookman Old Style"/>
              <a:ea typeface="Bookman Old Style"/>
              <a:cs typeface="Bookman Old Style"/>
            </a:endParaRPr>
          </a:p>
        </p:txBody>
      </p:sp>
      <p:pic>
        <p:nvPicPr>
          <p:cNvPr id="61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1213ad8ebfb4fc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12" name="Google Shape;216;p28">
            <a:extLst xmlns:a="http://schemas.openxmlformats.org/drawingml/2006/main">
              <a:ext uri="{FF2B5EF4-FFF2-40B4-BE49-F238E27FC236}">
                <a16:creationId xmlns:a16="http://schemas.microsoft.com/office/drawing/2014/main" id="{BAE9B701-0B71-3DF7-9134-3C31531BBDE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13" name="Google Shape;212;p28">
            <a:extLst xmlns:a="http://schemas.openxmlformats.org/drawingml/2006/main">
              <a:ext uri="{FF2B5EF4-FFF2-40B4-BE49-F238E27FC236}">
                <a16:creationId xmlns:a16="http://schemas.microsoft.com/office/drawing/2014/main" id="{C48B2691-E39A-6C8C-B995-3D935B990D5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38</a:t>
            </a:r>
            <a:endParaRPr sz="2800"/>
          </a:p>
        </p:txBody>
      </p:sp>
      <p:sp>
        <p:nvSpPr>
          <p:cNvPr id="608" name="visible-footer-date-31">
            <a:extLst xmlns:a="http://schemas.openxmlformats.org/drawingml/2006/main">
              <a:ext uri="{FF2B5EF4-FFF2-40B4-BE49-F238E27FC236}">
                <a16:creationId xmlns:a16="http://schemas.microsoft.com/office/drawing/2014/main" id="{84DACE26-F993-4C93-AA06-D9765FE9F8E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18927550"/>
      </p:ext>
    </p:extLst>
  </p:cSld>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2026-09-24T03:06:06.9770000Z</dcterms:created>
  <dcterms:modified xsi:type="dcterms:W3CDTF">2026-09-24T03:06:06.9770000Z</dcterms:modified>
</coreProperties>
</file>