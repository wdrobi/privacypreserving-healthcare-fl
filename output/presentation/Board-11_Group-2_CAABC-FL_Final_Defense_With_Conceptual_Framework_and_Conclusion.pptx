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gif" ContentType="image/gif"/>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1.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slides/charts/chart2.xml" ContentType="application/vnd.openxmlformats-officedocument.drawingml.chart+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e52765795b64e27" /><Relationship Type="http://schemas.openxmlformats.org/officeDocument/2006/relationships/extended-properties" Target="/docProps/app.xml" Id="R49dc57a1e3574fad" /><Relationship Type="http://schemas.openxmlformats.org/officeDocument/2006/relationships/officeDocument" Target="/ppt/presentation.xml" Id="Rce1fd8b40cfb4811" /></Relationships>
</file>

<file path=ppt/presentation.xml><?xml version="1.0" encoding="utf-8"?>
<p:presentation xmlns:p="http://schemas.openxmlformats.org/presentationml/2006/main">
  <p:sldMasterIdLst>
    <p:sldMasterId xmlns:r="http://schemas.openxmlformats.org/officeDocument/2006/relationships" id="2147483648" r:id="Rf3fdff45e0114f51"/>
  </p:sldMasterIdLst>
  <p:notesMasterIdLst>
    <p:notesMasterId xmlns:r="http://schemas.openxmlformats.org/officeDocument/2006/relationships" r:id="R26419489be914744"/>
  </p:notesMasterIdLst>
  <p:sldIdLst>
    <p:sldId xmlns:r="http://schemas.openxmlformats.org/officeDocument/2006/relationships" id="256" r:id="R7291a5892041446f"/>
    <p:sldId xmlns:r="http://schemas.openxmlformats.org/officeDocument/2006/relationships" id="257" r:id="Rbba0d8a1438e4a8d"/>
    <p:sldId xmlns:r="http://schemas.openxmlformats.org/officeDocument/2006/relationships" id="258" r:id="R673cba07340340c3"/>
    <p:sldId xmlns:r="http://schemas.openxmlformats.org/officeDocument/2006/relationships" id="259" r:id="R456393d2ea0241e7"/>
    <p:sldId xmlns:r="http://schemas.openxmlformats.org/officeDocument/2006/relationships" id="260" r:id="R566aa02039f44ffc"/>
    <p:sldId xmlns:r="http://schemas.openxmlformats.org/officeDocument/2006/relationships" id="261" r:id="Rc2fe45ddc4864989"/>
    <p:sldId xmlns:r="http://schemas.openxmlformats.org/officeDocument/2006/relationships" id="262" r:id="Rd8f83944e18b4422"/>
    <p:sldId xmlns:r="http://schemas.openxmlformats.org/officeDocument/2006/relationships" id="263" r:id="Re2c8a48d53a94735"/>
    <p:sldId xmlns:r="http://schemas.openxmlformats.org/officeDocument/2006/relationships" id="264" r:id="R99eb27624c5b43d1"/>
    <p:sldId xmlns:r="http://schemas.openxmlformats.org/officeDocument/2006/relationships" id="265" r:id="R6de64c7938ff4aa3"/>
    <p:sldId xmlns:r="http://schemas.openxmlformats.org/officeDocument/2006/relationships" id="266" r:id="Rc23eaf1aae494278"/>
    <p:sldId xmlns:r="http://schemas.openxmlformats.org/officeDocument/2006/relationships" id="267" r:id="R7beeab2dc1804b72"/>
    <p:sldId xmlns:r="http://schemas.openxmlformats.org/officeDocument/2006/relationships" id="268" r:id="R83b13fba28864a26"/>
    <p:sldId xmlns:r="http://schemas.openxmlformats.org/officeDocument/2006/relationships" id="269" r:id="Rfc15ef6d20ef45e9"/>
    <p:sldId xmlns:r="http://schemas.openxmlformats.org/officeDocument/2006/relationships" id="270" r:id="R56f9c3ba6f9a44bb"/>
    <p:sldId xmlns:r="http://schemas.openxmlformats.org/officeDocument/2006/relationships" id="271" r:id="Ra8c6eb5c590c49a8"/>
    <p:sldId xmlns:r="http://schemas.openxmlformats.org/officeDocument/2006/relationships" id="272" r:id="R155f07be0d9948a1"/>
    <p:sldId xmlns:r="http://schemas.openxmlformats.org/officeDocument/2006/relationships" id="273" r:id="R054f592e992d44fe"/>
    <p:sldId xmlns:r="http://schemas.openxmlformats.org/officeDocument/2006/relationships" id="274" r:id="Rc59f8fbb89d94398"/>
    <p:sldId xmlns:r="http://schemas.openxmlformats.org/officeDocument/2006/relationships" id="275" r:id="R2eaa06c828bc4623"/>
    <p:sldId xmlns:r="http://schemas.openxmlformats.org/officeDocument/2006/relationships" id="276" r:id="Rb0acdc474b644116"/>
    <p:sldId xmlns:r="http://schemas.openxmlformats.org/officeDocument/2006/relationships" id="277" r:id="Rc7ccf176c6f54c99"/>
    <p:sldId xmlns:r="http://schemas.openxmlformats.org/officeDocument/2006/relationships" id="278" r:id="R4178cb35e599488a"/>
    <p:sldId xmlns:r="http://schemas.openxmlformats.org/officeDocument/2006/relationships" id="279" r:id="Raf32597d999b4f87"/>
    <p:sldId xmlns:r="http://schemas.openxmlformats.org/officeDocument/2006/relationships" id="280" r:id="Raf159edf1e184953"/>
    <p:sldId xmlns:r="http://schemas.openxmlformats.org/officeDocument/2006/relationships" id="281" r:id="Raeea877517f347d4"/>
    <p:sldId xmlns:r="http://schemas.openxmlformats.org/officeDocument/2006/relationships" id="282" r:id="R7f0854d85ee54b04"/>
    <p:sldId xmlns:r="http://schemas.openxmlformats.org/officeDocument/2006/relationships" id="283" r:id="R4c74e7b1fdb5479c"/>
    <p:sldId xmlns:r="http://schemas.openxmlformats.org/officeDocument/2006/relationships" id="284" r:id="R3c65b948caf24fc8"/>
    <p:sldId xmlns:r="http://schemas.openxmlformats.org/officeDocument/2006/relationships" id="285" r:id="R28f9210ae26b4358"/>
    <p:sldId xmlns:r="http://schemas.openxmlformats.org/officeDocument/2006/relationships" id="286" r:id="R0a413ed3868148cb"/>
    <p:sldId xmlns:r="http://schemas.openxmlformats.org/officeDocument/2006/relationships" id="287" r:id="R9a32b4464bc24559"/>
    <p:sldId xmlns:r="http://schemas.openxmlformats.org/officeDocument/2006/relationships" id="288" r:id="Rae359bee137e4365"/>
    <p:sldId xmlns:r="http://schemas.openxmlformats.org/officeDocument/2006/relationships" id="289" r:id="R90f7f8c760544478"/>
    <p:sldId xmlns:r="http://schemas.openxmlformats.org/officeDocument/2006/relationships" id="290" r:id="R6ad2a606a0904e19"/>
    <p:sldId xmlns:r="http://schemas.openxmlformats.org/officeDocument/2006/relationships" id="291" r:id="Reef84094b2514a4f"/>
    <p:sldId xmlns:r="http://schemas.openxmlformats.org/officeDocument/2006/relationships" id="292" r:id="R76af2fab22c846f6"/>
    <p:sldId xmlns:r="http://schemas.openxmlformats.org/officeDocument/2006/relationships" id="293" r:id="R83fde749b1724e7b"/>
    <p:sldId xmlns:r="http://schemas.openxmlformats.org/officeDocument/2006/relationships" id="294" r:id="R3ad99f9efef44052"/>
    <p:sldId xmlns:r="http://schemas.openxmlformats.org/officeDocument/2006/relationships" id="295" r:id="R1673ea1615674b5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8e87f5e907484d3c" /><Relationship Type="http://schemas.openxmlformats.org/officeDocument/2006/relationships/slideMaster" Target="/ppt/slideMasters/slideMaster1.xml" Id="Rf3fdff45e0114f51" /><Relationship Type="http://schemas.openxmlformats.org/officeDocument/2006/relationships/notesMaster" Target="/ppt/notesMasters/notesMaster1.xml" Id="R26419489be914744" /><Relationship Type="http://schemas.openxmlformats.org/officeDocument/2006/relationships/presProps" Target="/ppt/presProps.xml" Id="R928c32ce75d745ae" /><Relationship Type="http://schemas.openxmlformats.org/officeDocument/2006/relationships/viewProps" Target="/ppt/viewProps.xml" Id="R4ad1b7fd048149aa" /><Relationship Type="http://schemas.openxmlformats.org/officeDocument/2006/relationships/tableStyles" Target="/ppt/tableStyles.xml" Id="Rb82d3a340278479f" /><Relationship Type="http://schemas.openxmlformats.org/officeDocument/2006/relationships/slide" Target="/ppt/slides/slide1.xml" Id="R7291a5892041446f" /><Relationship Type="http://schemas.openxmlformats.org/officeDocument/2006/relationships/slide" Target="/ppt/slides/slide2.xml" Id="Rbba0d8a1438e4a8d" /><Relationship Type="http://schemas.openxmlformats.org/officeDocument/2006/relationships/slide" Target="/ppt/slides/slide3.xml" Id="R673cba07340340c3" /><Relationship Type="http://schemas.openxmlformats.org/officeDocument/2006/relationships/slide" Target="/ppt/slides/slide4.xml" Id="R456393d2ea0241e7" /><Relationship Type="http://schemas.openxmlformats.org/officeDocument/2006/relationships/slide" Target="/ppt/slides/slide5.xml" Id="R566aa02039f44ffc" /><Relationship Type="http://schemas.openxmlformats.org/officeDocument/2006/relationships/slide" Target="/ppt/slides/slide6.xml" Id="Rc2fe45ddc4864989" /><Relationship Type="http://schemas.openxmlformats.org/officeDocument/2006/relationships/slide" Target="/ppt/slides/slide7.xml" Id="Rd8f83944e18b4422" /><Relationship Type="http://schemas.openxmlformats.org/officeDocument/2006/relationships/slide" Target="/ppt/slides/slide8.xml" Id="Re2c8a48d53a94735" /><Relationship Type="http://schemas.openxmlformats.org/officeDocument/2006/relationships/slide" Target="/ppt/slides/slide9.xml" Id="R99eb27624c5b43d1" /><Relationship Type="http://schemas.openxmlformats.org/officeDocument/2006/relationships/slide" Target="/ppt/slides/slide10.xml" Id="R6de64c7938ff4aa3" /><Relationship Type="http://schemas.openxmlformats.org/officeDocument/2006/relationships/slide" Target="/ppt/slides/slide11.xml" Id="Rc23eaf1aae494278" /><Relationship Type="http://schemas.openxmlformats.org/officeDocument/2006/relationships/slide" Target="/ppt/slides/slide12.xml" Id="R7beeab2dc1804b72" /><Relationship Type="http://schemas.openxmlformats.org/officeDocument/2006/relationships/slide" Target="/ppt/slides/slide13.xml" Id="R83b13fba28864a26" /><Relationship Type="http://schemas.openxmlformats.org/officeDocument/2006/relationships/slide" Target="/ppt/slides/slide14.xml" Id="Rfc15ef6d20ef45e9" /><Relationship Type="http://schemas.openxmlformats.org/officeDocument/2006/relationships/slide" Target="/ppt/slides/slide15.xml" Id="R56f9c3ba6f9a44bb" /><Relationship Type="http://schemas.openxmlformats.org/officeDocument/2006/relationships/slide" Target="/ppt/slides/slide16.xml" Id="Ra8c6eb5c590c49a8" /><Relationship Type="http://schemas.openxmlformats.org/officeDocument/2006/relationships/slide" Target="/ppt/slides/slide17.xml" Id="R155f07be0d9948a1" /><Relationship Type="http://schemas.openxmlformats.org/officeDocument/2006/relationships/slide" Target="/ppt/slides/slide18.xml" Id="R054f592e992d44fe" /><Relationship Type="http://schemas.openxmlformats.org/officeDocument/2006/relationships/slide" Target="/ppt/slides/slide19.xml" Id="Rc59f8fbb89d94398" /><Relationship Type="http://schemas.openxmlformats.org/officeDocument/2006/relationships/slide" Target="/ppt/slides/slide20.xml" Id="R2eaa06c828bc4623" /><Relationship Type="http://schemas.openxmlformats.org/officeDocument/2006/relationships/slide" Target="/ppt/slides/slide21.xml" Id="Rb0acdc474b644116" /><Relationship Type="http://schemas.openxmlformats.org/officeDocument/2006/relationships/slide" Target="/ppt/slides/slide22.xml" Id="Rc7ccf176c6f54c99" /><Relationship Type="http://schemas.openxmlformats.org/officeDocument/2006/relationships/slide" Target="/ppt/slides/slide23.xml" Id="R4178cb35e599488a" /><Relationship Type="http://schemas.openxmlformats.org/officeDocument/2006/relationships/slide" Target="/ppt/slides/slide24.xml" Id="Raf32597d999b4f87" /><Relationship Type="http://schemas.openxmlformats.org/officeDocument/2006/relationships/slide" Target="/ppt/slides/slide25.xml" Id="Raf159edf1e184953" /><Relationship Type="http://schemas.openxmlformats.org/officeDocument/2006/relationships/slide" Target="/ppt/slides/slide26.xml" Id="Raeea877517f347d4" /><Relationship Type="http://schemas.openxmlformats.org/officeDocument/2006/relationships/slide" Target="/ppt/slides/slide27.xml" Id="R7f0854d85ee54b04" /><Relationship Type="http://schemas.openxmlformats.org/officeDocument/2006/relationships/slide" Target="/ppt/slides/slide28.xml" Id="R4c74e7b1fdb5479c" /><Relationship Type="http://schemas.openxmlformats.org/officeDocument/2006/relationships/slide" Target="/ppt/slides/slide29.xml" Id="R3c65b948caf24fc8" /><Relationship Type="http://schemas.openxmlformats.org/officeDocument/2006/relationships/slide" Target="/ppt/slides/slide30.xml" Id="R28f9210ae26b4358" /><Relationship Type="http://schemas.openxmlformats.org/officeDocument/2006/relationships/slide" Target="/ppt/slides/slide31.xml" Id="R0a413ed3868148cb" /><Relationship Type="http://schemas.openxmlformats.org/officeDocument/2006/relationships/slide" Target="/ppt/slides/slide32.xml" Id="R9a32b4464bc24559" /><Relationship Type="http://schemas.openxmlformats.org/officeDocument/2006/relationships/slide" Target="/ppt/slides/slide33.xml" Id="Rae359bee137e4365" /><Relationship Type="http://schemas.openxmlformats.org/officeDocument/2006/relationships/slide" Target="/ppt/slides/slide34.xml" Id="R90f7f8c760544478" /><Relationship Type="http://schemas.openxmlformats.org/officeDocument/2006/relationships/slide" Target="/ppt/slides/slide35.xml" Id="R6ad2a606a0904e19" /><Relationship Type="http://schemas.openxmlformats.org/officeDocument/2006/relationships/slide" Target="/ppt/slides/slide36.xml" Id="Reef84094b2514a4f" /><Relationship Type="http://schemas.openxmlformats.org/officeDocument/2006/relationships/slide" Target="/ppt/slides/slide37.xml" Id="R76af2fab22c846f6" /><Relationship Type="http://schemas.openxmlformats.org/officeDocument/2006/relationships/slide" Target="/ppt/slides/slide38.xml" Id="R83fde749b1724e7b" /><Relationship Type="http://schemas.openxmlformats.org/officeDocument/2006/relationships/slide" Target="/ppt/slides/slide39.xml" Id="R3ad99f9efef44052" /><Relationship Type="http://schemas.openxmlformats.org/officeDocument/2006/relationships/slide" Target="/ppt/slides/slide40.xml" Id="R1673ea1615674b5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3350cd19e2d410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Basis">
  <a:themeElements>
    <a:clrScheme name="Basis">
      <a:dk1>
        <a:srgbClr val="000000"/>
      </a:dk1>
      <a:lt1>
        <a:srgbClr val="FFFFFF"/>
      </a:lt1>
      <a:dk2>
        <a:srgbClr val="565349"/>
      </a:dk2>
      <a:lt2>
        <a:srgbClr val="DDDDDD"/>
      </a:lt2>
      <a:accent1>
        <a:srgbClr val="A6B727"/>
      </a:accent1>
      <a:accent2>
        <a:srgbClr val="DF5327"/>
      </a:accent2>
      <a:accent3>
        <a:srgbClr val="FE9E00"/>
      </a:accent3>
      <a:accent4>
        <a:srgbClr val="418AB3"/>
      </a:accent4>
      <a:accent5>
        <a:srgbClr val="D7D447"/>
      </a:accent5>
      <a:accent6>
        <a:srgbClr val="818183"/>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as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e789c2612c6462e" /><Relationship Type="http://schemas.openxmlformats.org/officeDocument/2006/relationships/notesMaster" Target="/ppt/notesMasters/notesMaster1.xml" Id="R17a60ac21fb94bfc" /></Relationships>
</file>

<file path=ppt/notesSlides/_rels/notesSlide2.xml.rels>&#65279;<?xml version="1.0" encoding="utf-8"?><Relationships xmlns="http://schemas.openxmlformats.org/package/2006/relationships"><Relationship Type="http://schemas.openxmlformats.org/officeDocument/2006/relationships/slide" Target="/ppt/slides/slide2.xml" Id="R659067259e6e4499" /><Relationship Type="http://schemas.openxmlformats.org/officeDocument/2006/relationships/notesMaster" Target="/ppt/notesMasters/notesMaster1.xml" Id="R3a5cf3998a394278" /></Relationships>
</file>

<file path=ppt/notesSlides/_rels/notesSlide3.xml.rels>&#65279;<?xml version="1.0" encoding="utf-8"?><Relationships xmlns="http://schemas.openxmlformats.org/package/2006/relationships"><Relationship Type="http://schemas.openxmlformats.org/officeDocument/2006/relationships/slide" Target="/ppt/slides/slide3.xml" Id="R4c5b76d26c8b4fff" /><Relationship Type="http://schemas.openxmlformats.org/officeDocument/2006/relationships/notesMaster" Target="/ppt/notesMasters/notesMaster1.xml" Id="R0796f648348c4eec" /></Relationships>
</file>

<file path=ppt/notesSlides/_rels/notesSlide4.xml.rels>&#65279;<?xml version="1.0" encoding="utf-8"?><Relationships xmlns="http://schemas.openxmlformats.org/package/2006/relationships"><Relationship Type="http://schemas.openxmlformats.org/officeDocument/2006/relationships/slide" Target="/ppt/slides/slide4.xml" Id="Rba75d8f11b6648eb" /><Relationship Type="http://schemas.openxmlformats.org/officeDocument/2006/relationships/notesMaster" Target="/ppt/notesMasters/notesMaster1.xml" Id="Rf57e71156e9b43db" /></Relationships>
</file>

<file path=ppt/notesSlides/_rels/notesSlide5.xml.rels>&#65279;<?xml version="1.0" encoding="utf-8"?><Relationships xmlns="http://schemas.openxmlformats.org/package/2006/relationships"><Relationship Type="http://schemas.openxmlformats.org/officeDocument/2006/relationships/slide" Target="/ppt/slides/slide5.xml" Id="Rd6d5f274d6294f5c" /><Relationship Type="http://schemas.openxmlformats.org/officeDocument/2006/relationships/notesMaster" Target="/ppt/notesMasters/notesMaster1.xml" Id="R5e3441b3e3394a07" /></Relationships>
</file>

<file path=ppt/notesSlides/_rels/notesSlide6.xml.rels>&#65279;<?xml version="1.0" encoding="utf-8"?><Relationships xmlns="http://schemas.openxmlformats.org/package/2006/relationships"><Relationship Type="http://schemas.openxmlformats.org/officeDocument/2006/relationships/slide" Target="/ppt/slides/slide6.xml" Id="R8ecad68e62514734" /><Relationship Type="http://schemas.openxmlformats.org/officeDocument/2006/relationships/notesMaster" Target="/ppt/notesMasters/notesMaster1.xml" Id="R2aa2d9ec02f64358" /></Relationships>
</file>

<file path=ppt/notesSlides/_rels/notesSlide7.xml.rels>&#65279;<?xml version="1.0" encoding="utf-8"?><Relationships xmlns="http://schemas.openxmlformats.org/package/2006/relationships"><Relationship Type="http://schemas.openxmlformats.org/officeDocument/2006/relationships/slide" Target="/ppt/slides/slide7.xml" Id="R4914c3fc1b524b2f" /><Relationship Type="http://schemas.openxmlformats.org/officeDocument/2006/relationships/notesMaster" Target="/ppt/notesMasters/notesMaster1.xml" Id="Rf031af434adb4f45" /></Relationships>
</file>

<file path=ppt/notesSlides/_rels/notesSlide8.xml.rels>&#65279;<?xml version="1.0" encoding="utf-8"?><Relationships xmlns="http://schemas.openxmlformats.org/package/2006/relationships"><Relationship Type="http://schemas.openxmlformats.org/officeDocument/2006/relationships/slide" Target="/ppt/slides/slide8.xml" Id="Rbd87708dc6444872" /><Relationship Type="http://schemas.openxmlformats.org/officeDocument/2006/relationships/notesMaster" Target="/ppt/notesMasters/notesMaster1.xml" Id="R950135eb67ab42d7" /></Relationships>
</file>

<file path=ppt/notesSlides/_rels/notesSlide9.xml.rels>&#65279;<?xml version="1.0" encoding="utf-8"?><Relationships xmlns="http://schemas.openxmlformats.org/package/2006/relationships"><Relationship Type="http://schemas.openxmlformats.org/officeDocument/2006/relationships/slide" Target="/ppt/slides/slide9.xml" Id="R1dfd4125ee8d4200" /><Relationship Type="http://schemas.openxmlformats.org/officeDocument/2006/relationships/notesMaster" Target="/ppt/notesMasters/notesMaster1.xml" Id="R1df2a9ce67364ef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c68492870ea4409" /><Relationship Type="http://schemas.openxmlformats.org/officeDocument/2006/relationships/notesMaster" Target="/ppt/notesMasters/notesMaster1.xml" Id="R997868321a5949c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b8cf0d900c84400" /><Relationship Type="http://schemas.openxmlformats.org/officeDocument/2006/relationships/notesMaster" Target="/ppt/notesMasters/notesMaster1.xml" Id="R590a945002a6464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c60bcc709a54220" /><Relationship Type="http://schemas.openxmlformats.org/officeDocument/2006/relationships/notesMaster" Target="/ppt/notesMasters/notesMaster1.xml" Id="Rb5a6c2863e644b7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4a97d67a27a4c94" /><Relationship Type="http://schemas.openxmlformats.org/officeDocument/2006/relationships/notesMaster" Target="/ppt/notesMasters/notesMaster1.xml" Id="Ra1495ab5a5784e91"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bb7c3546ca44026" /><Relationship Type="http://schemas.openxmlformats.org/officeDocument/2006/relationships/notesMaster" Target="/ppt/notesMasters/notesMaster1.xml" Id="R2fb85741ae3a4118"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a144aaf3b7594112" /><Relationship Type="http://schemas.openxmlformats.org/officeDocument/2006/relationships/notesMaster" Target="/ppt/notesMasters/notesMaster1.xml" Id="R3230839dcb7c4d88"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caa03a203c254b2a" /><Relationship Type="http://schemas.openxmlformats.org/officeDocument/2006/relationships/notesMaster" Target="/ppt/notesMasters/notesMaster1.xml" Id="R71dde5e612544065"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25363dfad6204e00" /><Relationship Type="http://schemas.openxmlformats.org/officeDocument/2006/relationships/notesMaster" Target="/ppt/notesMasters/notesMaster1.xml" Id="R768f94afc7a1424d"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cb646770d51a40b9" /><Relationship Type="http://schemas.openxmlformats.org/officeDocument/2006/relationships/notesMaster" Target="/ppt/notesMasters/notesMaster1.xml" Id="Rf568db0bc2f34c24"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4e840f2d10914213" /><Relationship Type="http://schemas.openxmlformats.org/officeDocument/2006/relationships/notesMaster" Target="/ppt/notesMasters/notesMaster1.xml" Id="R70ac9546f7c3451e"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02881ce646354fc7" /><Relationship Type="http://schemas.openxmlformats.org/officeDocument/2006/relationships/notesMaster" Target="/ppt/notesMasters/notesMaster1.xml" Id="Rbdc3ea5476934a7f"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4cdf29b00cda4460" /><Relationship Type="http://schemas.openxmlformats.org/officeDocument/2006/relationships/notesMaster" Target="/ppt/notesMasters/notesMaster1.xml" Id="R78891056d33043a0"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9b264830fe4b436b" /><Relationship Type="http://schemas.openxmlformats.org/officeDocument/2006/relationships/notesMaster" Target="/ppt/notesMasters/notesMaster1.xml" Id="Rbcf901d5fd854591"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8643361f146c47e8" /><Relationship Type="http://schemas.openxmlformats.org/officeDocument/2006/relationships/notesMaster" Target="/ppt/notesMasters/notesMaster1.xml" Id="Ra0a9b6d07374492c"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b59ecf5757774be7" /><Relationship Type="http://schemas.openxmlformats.org/officeDocument/2006/relationships/notesMaster" Target="/ppt/notesMasters/notesMaster1.xml" Id="Rdd491f26f3454a72"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777d8dad1ee04525" /><Relationship Type="http://schemas.openxmlformats.org/officeDocument/2006/relationships/notesMaster" Target="/ppt/notesMasters/notesMaster1.xml" Id="Rc0cdacf35bed417f"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54007dc26f8f40c4" /><Relationship Type="http://schemas.openxmlformats.org/officeDocument/2006/relationships/notesMaster" Target="/ppt/notesMasters/notesMaster1.xml" Id="R471134c8324e4620"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13b059ae1bee4bdd" /><Relationship Type="http://schemas.openxmlformats.org/officeDocument/2006/relationships/notesMaster" Target="/ppt/notesMasters/notesMaster1.xml" Id="R86dae9119b664bcf"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e7d86e528a474e36" /><Relationship Type="http://schemas.openxmlformats.org/officeDocument/2006/relationships/notesMaster" Target="/ppt/notesMasters/notesMaster1.xml" Id="R87995421855b4077"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6f03f2616ac44e2b" /><Relationship Type="http://schemas.openxmlformats.org/officeDocument/2006/relationships/notesMaster" Target="/ppt/notesMasters/notesMaster1.xml" Id="R2a177348f4f94441"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02cb71ef5a14405a" /><Relationship Type="http://schemas.openxmlformats.org/officeDocument/2006/relationships/notesMaster" Target="/ppt/notesMasters/notesMaster1.xml" Id="Rca4b3ab5b90f4f12"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dc51a05947c64cdd" /><Relationship Type="http://schemas.openxmlformats.org/officeDocument/2006/relationships/notesMaster" Target="/ppt/notesMasters/notesMaster1.xml" Id="Rf996fced733648ca"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aafd616f4672472c" /><Relationship Type="http://schemas.openxmlformats.org/officeDocument/2006/relationships/notesMaster" Target="/ppt/notesMasters/notesMaster1.xml" Id="Rd9c1d0a9be414093"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e3f44e082c9a4f02" /><Relationship Type="http://schemas.openxmlformats.org/officeDocument/2006/relationships/notesMaster" Target="/ppt/notesMasters/notesMaster1.xml" Id="R6546c47cf95c4207"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b25a03398e544512" /><Relationship Type="http://schemas.openxmlformats.org/officeDocument/2006/relationships/notesMaster" Target="/ppt/notesMasters/notesMaster1.xml" Id="R120a69fc17d843c4"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a8dd85e1a8e64566" /><Relationship Type="http://schemas.openxmlformats.org/officeDocument/2006/relationships/notesMaster" Target="/ppt/notesMasters/notesMaster1.xml" Id="R3469624ab52f4a2a"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8c0dff8df5b84519" /><Relationship Type="http://schemas.openxmlformats.org/officeDocument/2006/relationships/notesMaster" Target="/ppt/notesMasters/notesMaster1.xml" Id="R0eff6e39942b437d"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45edda5e89564cd2" /><Relationship Type="http://schemas.openxmlformats.org/officeDocument/2006/relationships/notesMaster" Target="/ppt/notesMasters/notesMaster1.xml" Id="R298915e7076d46d2"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39afa052d08d4342" /><Relationship Type="http://schemas.openxmlformats.org/officeDocument/2006/relationships/notesMaster" Target="/ppt/notesMasters/notesMaster1.xml" Id="R1ceaa678e6f64c62"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c3700854aaf04fe4" /><Relationship Type="http://schemas.openxmlformats.org/officeDocument/2006/relationships/notesMaster" Target="/ppt/notesMasters/notesMaster1.xml" Id="R82add1bc50b048a0"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befaf099ecb34a63" /><Relationship Type="http://schemas.openxmlformats.org/officeDocument/2006/relationships/notesMaster" Target="/ppt/notesMasters/notesMaster1.xml" Id="R916d2c67f54844e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Good morning. We are presenting CAABC-FL, a hybrid privacy-preserving framework for secure collaboration among healthcare institutions. Our work focuses on privacy, communication cost, poisoning resilience, and accountable model release.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 presentation begins with the research context, problem statement, research questions, and objectives. It then reviews related studies and the identified gap before presenting the conceptual framework and proposed methodology. The final part reports utility, privacy, robustness, communication, and system results, followed by the conclusion, references, and the question-and-answer session.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This section introduces the setting, the unresolved engineering problem, our motivation, and the three research objectives.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Federated learning reduces the need to exchange raw patient records, but it does not solve every privacy and integrity problem. The illustration summarizes the setting: hospitals retain their data, protected model updates support collaborative learning, and the system produces a shared model. This thesis studies update protection, encrypted transport, poisoning response, and release governance. Sources: McMahan et al. [1], Sheller et al. [2], Dayan et al. [3], Shokri et al. [4], Zhu et al. [5], and Geiping et al. [6]. The illustration is conceptual and does not represent an experimental result.</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Federated learning keeps source records local, but exchanged updates can still leak information. CKKS improves confidentiality while increasing communication cost and hiding the update geometry used by many poisoning defenses. Centralized decryption, unverified aggregation, and limited audit evidence create additional trust concerns. The thesis therefore treats privacy, efficiency, adversarial resilience, and release governance as one engineering problem.</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We selected this topic because healthcare institutions need collaboration without unrestricted data sharing. The work also addresses a practical systems question: a compressor is valuable only when encrypted network bytes decrease and the model remains useful.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Published healthcare studies motivate multi-institutional learning. Sheller et al. reported that federated training across 10 institutions reached 99% of the model quality achieved with centralized data. The EXAM study trained on 16,148 cases from 20 clinical sites across four continents and reported an average local-test AUC increase from 0.795 for local models to 0.920 for the federated model. These results establish the value of collaboration, while this thesis addresses the remaining privacy, encrypted communication, poisoning, and governance challenges. Sources: Sheller et al., Scientific Reports 10, 12598 (2020), doi:10.1038/s41598-020-69250-1; Dayan et al., Nature Medicine 27, 1735–1743 (2021), doi:10.1038/s41591-021-01506-3.</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supervisor requested three concise objectives. The first covers the integrated architecture, the second covers the communication contribution, and the third covers comparative evaluation under normal and adversarial operation.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RQ1 addresses the integrated privacy and trust architecture. RQ2 tests whether ciphertext-aligned compression produces real serialized communication savings without material utility loss. RQ3 evaluates the resulting system under benign and adversarial conditions using the registered protocol.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literature review groups prior work by healthcare collaboration, privacy and cryptography, communication reduction, and poisoning resilience.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DDFed is one of the closest integrated studies because it addresses both privacy and poisoning. It uses fully homomorphic encryption and a two-phase anomaly detector based on secure similarity computation and feedback-driven collaborative selection. Its experiments cover model-poisoning attacks in cross-device and cross-silo federated learning. Relative to this thesis, DDFed does not provide record-level differential privacy, ciphertext-aligned adaptive compression, threshold-governed release, or an external permissioned audit trail. Source: https://proceedings.neurips.cc/paper_files/paper/2024/hash/824f98c4e9bb301b0b96fa2ae071360b-Abstract-Conference.html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DP-BREM and DP-BREM+ jointly address differential privacy and Byzantine robustness in cross-silo federated learning. Client momentum averages each client's updates over time, reducing honest-client variance and making accumulated malicious perturbations easier to detect. DP-BREM assumes a trusted server; DP-BREM+ removes that assumption with secure aggregation and client-generated distributed noise. Relative to this thesis, it does not address ciphertext-aware adaptive compression, healthcare deployment evidence, independently verified aggregation, or external audit logging. Source: https://www.usenix.org/conference/usenixsecurity25/presentation/gu-xiaolan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PREAMBLE addresses private aggregation of high-dimensional vectors in a two-server architecture. It uses block-sparse distributed point functions, random sampling, and privacy amplification so that communication and computation depend more strongly on active blocks than on the full vector dimension. Its formal analysis is a strong example of co-designing representation and privacy transport. Relative to this thesis, PREAMBLE assumes two non-colluding servers, targets private vector aggregation rather than iterative CKKS healthcare training, and does not study poisoning or release governance. Source: https://proceedings.neurips.cc/paper_files/paper/2025/hash/1d3c1c0bade7b2b1974d3120ab6232b0-Abstract-Conference.html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This table compares five anchor studies that contribute directly to the design space of this thesis. FLDP and FAMHE establish protected aggregation and biomedical multiparty computation. DDFed and DP-BREM+ integrate privacy with poisoning or Byzantine robustness. PREAMBLE aligns block sparsity with private transport. The table reports scope rather than a numerical ranking because the studies use different datasets, cryptographic assumptions, and threat models. Sources: Stevens et al., USENIX Security 2022; Froelicher et al., Nature Communications 2021; Xu et al., NeurIPS 2024; Gu et al., USENIX Security 2025; Asi et al., NeurIPS 2025.</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This gap defines our contribution boundary. We do not claim to solve every privacy or Byzantine problem. We implement and test a specific integrated design that converts compression into serialized ciphertext savings and adds release-time controls compatible with encrypted sums.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This conceptual framework links the research problem to the proposed intervention and the evaluation plan. Distributed hospital data, non-IID partitions, privacy threats, poisoning risk, and encrypted communication cost define the research context. The hybrid intervention combines record-level differential privacy, CAABC-FL block compression, CKKS-protected updates, and governance controls. These mechanisms support protected local training, authenticated update exchange, verified homomorphic aggregation, and threshold-governed release. The study evaluates predictive utility, privacy exposure, poisoning resilience, communication cost, and runtime overhead under the stated threat and trust assumptions.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methodology section explains the end-to-end system, the experimental design, the dataset, and the registered analysis methods.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This slide shows how each institution constructs a protected model update. Governance establishes identity, consent, and policy. Patient records remain inside each hospital during preprocessing and training. The consortium creates a collective CKKS public key while independent custodians protect threshold shares. Each hospital clips per-record gradients, adds calibrated differential-privacy noise, applies CAABC-FL block compression, encrypts the result, and signs the submission.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This slide shows how the framework transports, aggregates, validates, and releases a model. Mutual TLS and signed round metadata authenticate every submission. The permissioned ledger stores hashes and status, while model ciphertexts remain off-chain. The coordinator performs reputation-weighted homomorphic aggregation and custodians decrypt only the aggregate. Validation either accepts the candidate model or triggers rollback and quarantine. Hospitals verify the signed model hash before starting the next round. Clinical inference follows the same authorization and controlled-decryption policy.</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formulation has four parts. First, the global objective is the sample-weighted average of hospital losses, where n_k is the number of records at hospital k and N is the total across participating hospitals. Second, each gradient is clipped to norm C, Gaussian noise z_k^t provides record-level differential privacy, and the residual e_k^t preserves information lost by CAABC-FL compression Q_s_t. Third, the accepted client set A_t contributes encrypted updates to the CKKS sum c_t. Threshold custodians decrypt only this aggregate, and eta_t is the global learning rate. Finally, the design must reduce predictive loss and serialized communication while satisfying privacy, integrity, threshold-release, and audit requirements.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study uses a paired confirmatory design. Each method receives the same cohort, split, model, privacy configuration, training budget, and random seed. This controls many nuisance differences and supports paired confidence intervals and tests.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study uses 40,336 patient records from the public PhysioNet 2019 sepsis challenge. We preserve the two source hospital partitions because cross-institutional heterogeneity is part of the research question. Source: Reyna et al. [19].</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analysis covers more than predictive accuracy. We measure ranking and threshold metrics, probability error, privacy attacks, poisoning effects, encrypted network bytes, cryptographic error, and service latency. Five paired seeds form the confirmatory unit, and Holm correction controls multiplicity within registered endpoint families.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research used an open dataset, open-source tools, and existing hardware. We therefore report no major direct cost. Production-grade cloud infrastructure, hardware confidential computing, and clinical deployment remain future work rather than hidden project expenses.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The results section presents the main utility and communication outcome, the same-protocol comparison, and the privacy, poisoning, and systems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strongest result is the encrypted communication saving. CAABC-FL reduced serialized upload by about 56 percent while maintaining AUROC within the registered non-inferiority margin. AUPRC and several operating-point metrics declined, so we present a bounded trade-off rather than universal superiority.</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All five methods use the same data, model, privacy, and CKKS conditions. Their AUROC values overlap. CAABC-FL alone reduces the serialized encrypted payload materially. Logical sparsity in the other compressed baselines disappears after dense CKKS encoding. Source: results/q1-sota-reproduction-v1/analysis/sota_method_summary.csv.</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Membership-inference AUC remains near chance for the two private methods, but empirical attacks do not prove privacy. Mean aggregation fails under model replacement and sign flip. FLTrust and Multi-Krum perform well in plaintext but conflict with the implemented sum-only CKKS path. The service timing is single-host and sequential.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The final section summarizes what the study established, identifies the contributions and limitations, and outlines the next engineering steps.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All three objectives were achieved within the stated scope. The implementation and evaluation support a bounded systems claim. We deliberately avoid claiming universal predictive superiority, formal Byzantine robustness, or a fully decentralized production deployment.</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main contribution is not a single security primitive. It is the integration and evidence: ciphertext-aligned compression, a complete governed training path, and a broad paired evaluation that records both positive and negative results.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We separate research-system evidence from production claims. The results remain valid for the registered experiment, but they do not prove clinical effectiveness across hospitals or remove the need for networked key custodians, confidential hardware, and external evaluation.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next phase should strengthen decentralization and external validity. The highest priority is service-integrated threshold custody, followed by privacy-compatible robust aggregation and real multi-host confidential deployment.</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final conclusion is that CAABC-FL provides an integrated research framework rather than an isolated privacy or compression mechanism. It connects record-level differential privacy, ciphertext-aligned communication reduction, CKKS aggregation, model validation, controlled release, and auditable governance. The experiments provide evidence of comparable predictive utility, lower serialized encrypted upload, limited exposure under the registered privacy attacks, and improved resilience under evaluated poisoning conditions. These findings remain bounded to the tested data, attacks, seeds, and deployment environment. Production claims require broader clinical validation, dropout-tolerant threshold custody, and real multi-host confidential-computing experiments.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These references cover the foundations of federated learning, healthcare collaboration, differential privacy, membership inference, and gradient reconstruction.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These references cover secure aggregation, CKKS, privacy-aware communication, poisoning defence, recent integrated methods, and the PhysioNet sepsis dataset.</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This backup slide summarizes the principal project phases. The periods consolidate the detailed working timeline used during the proposal, implementation, evaluation, writing, and defense stages.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Backup glossary for acronyms used throughout the defense presentation.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Thank you for listening. We welcome questions about the architecture, CAABC-FL, the evaluation protocol, the claim boundaries, and the next deployment steps.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This final slide remains on screen after the question session.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b5e46f060f943a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828ef4398ea4fa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bcf826a1166406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86b14c49865469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5a111c0f8bc410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4e8334271b644a1"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700aebab7c9b472b"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761f787560614773"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f9c784cb7cc04654"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7afab0dd3bf8465c"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02c02ea08dcd4809" /></Relationships>
</file>

<file path=ppt/slideLayouts/slideLayout1.xml><?xml version="1.0" encoding="utf-8"?>
<p:sldLayout xmlns:p="http://schemas.openxmlformats.org/presentationml/2006/main" matchingName="Title and Content" type="obj">
  <p:cSld name="OBJECT">
    <p:spTree>
      <p:nvGrpSpPr>
        <p:cNvPr id="1" name=""/>
        <p:cNvGrpSpPr/>
        <p:nvPr/>
      </p:nvGrpSpPr>
      <p:grpSpPr>
        <a:xfrm xmlns:a="http://schemas.openxmlformats.org/drawingml/2006/main"/>
      </p:grpSpPr>
      <p:sp>
        <p:nvSpPr>
          <p:cNvPr id="17" name="Google Shape;17;p2">
            <a:extLst xmlns:a="http://schemas.openxmlformats.org/drawingml/2006/main">
              <a:ext uri="{FF2B5EF4-FFF2-40B4-BE49-F238E27FC236}">
                <a16:creationId xmlns:a16="http://schemas.microsoft.com/office/drawing/2014/main" id="{FBD9D4DC-615E-4579-BBC9-8CBFCB08133F}"/>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18" name="Google Shape;18;p2">
            <a:extLst xmlns:a="http://schemas.openxmlformats.org/drawingml/2006/main">
              <a:ext uri="{FF2B5EF4-FFF2-40B4-BE49-F238E27FC236}">
                <a16:creationId xmlns:a16="http://schemas.microsoft.com/office/drawing/2014/main" id="{FD13C867-1391-4001-B1B6-38E3BA9EF7E0}"/>
              </a:ext>
            </a:extLst>
          </p:cNvPr>
          <p:cNvSpPr>
            <a:spLocks xmlns:a="http://schemas.openxmlformats.org/drawingml/2006/main" noGrp="1"/>
          </p:cNvSpPr>
          <p:nvPr>
            <p:ph type="body" idx="1"/>
          </p:nvPr>
        </p:nvSpPr>
        <p:spPr>
          <a:xfrm xmlns:a="http://schemas.openxmlformats.org/drawingml/2006/main">
            <a:off x="1143000" y="2057400"/>
            <a:ext cx="9872871" cy="403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20040" algn="l">
              <a:lnSpc>
                <a:spcPct val="90000"/>
              </a:lnSpc>
              <a:spcBef>
                <a:spcPts val="1400"/>
              </a:spcBef>
              <a:spcAft>
                <a:spcPts val="0"/>
              </a:spcAft>
              <a:buSzPts val="1440"/>
              <a:buChar char="•"/>
              <a:defRPr/>
            </a:lvl1pPr>
            <a:lvl2pPr marL="914400" indent="-320040" algn="l">
              <a:lnSpc>
                <a:spcPct val="90000"/>
              </a:lnSpc>
              <a:spcBef>
                <a:spcPts val="200"/>
              </a:spcBef>
              <a:spcAft>
                <a:spcPts val="0"/>
              </a:spcAft>
              <a:buSzPts val="1440"/>
              <a:buChar char="•"/>
              <a:defRPr/>
            </a:lvl2pPr>
            <a:lvl3pPr marL="1371600" indent="-320039" algn="l">
              <a:lnSpc>
                <a:spcPct val="90000"/>
              </a:lnSpc>
              <a:spcBef>
                <a:spcPts val="400"/>
              </a:spcBef>
              <a:spcAft>
                <a:spcPts val="0"/>
              </a:spcAft>
              <a:buSzPts val="1440"/>
              <a:buChar char="•"/>
              <a:defRPr/>
            </a:lvl3pPr>
            <a:lvl4pPr marL="1828800" indent="-320039" algn="l">
              <a:lnSpc>
                <a:spcPct val="90000"/>
              </a:lnSpc>
              <a:spcBef>
                <a:spcPts val="400"/>
              </a:spcBef>
              <a:spcAft>
                <a:spcPts val="0"/>
              </a:spcAft>
              <a:buSzPts val="1440"/>
              <a:buChar char="•"/>
              <a:defRPr/>
            </a:lvl4pPr>
            <a:lvl5pPr marL="2286000" indent="-320039" algn="l">
              <a:lnSpc>
                <a:spcPct val="90000"/>
              </a:lnSpc>
              <a:spcBef>
                <a:spcPts val="400"/>
              </a:spcBef>
              <a:spcAft>
                <a:spcPts val="0"/>
              </a:spcAft>
              <a:buSzPts val="1440"/>
              <a:buChar char="•"/>
              <a:defRPr/>
            </a:lvl5pPr>
            <a:lvl6pPr marL="2743200" indent="-320039" algn="l">
              <a:lnSpc>
                <a:spcPct val="90000"/>
              </a:lnSpc>
              <a:spcBef>
                <a:spcPts val="400"/>
              </a:spcBef>
              <a:spcAft>
                <a:spcPts val="0"/>
              </a:spcAft>
              <a:buSzPts val="1440"/>
              <a:buChar char="•"/>
              <a:defRPr/>
            </a:lvl6pPr>
            <a:lvl7pPr marL="3200400" indent="-320039" algn="l">
              <a:lnSpc>
                <a:spcPct val="90000"/>
              </a:lnSpc>
              <a:spcBef>
                <a:spcPts val="400"/>
              </a:spcBef>
              <a:spcAft>
                <a:spcPts val="0"/>
              </a:spcAft>
              <a:buSzPts val="1440"/>
              <a:buChar char="•"/>
              <a:defRPr/>
            </a:lvl7pPr>
            <a:lvl8pPr marL="3657600" indent="-320040" algn="l">
              <a:lnSpc>
                <a:spcPct val="90000"/>
              </a:lnSpc>
              <a:spcBef>
                <a:spcPts val="400"/>
              </a:spcBef>
              <a:spcAft>
                <a:spcPts val="0"/>
              </a:spcAft>
              <a:buSzPts val="1440"/>
              <a:buChar char="•"/>
              <a:defRPr/>
            </a:lvl8pPr>
            <a:lvl9pPr marL="4114800" indent="-320040" algn="l">
              <a:lnSpc>
                <a:spcPct val="90000"/>
              </a:lnSpc>
              <a:spcBef>
                <a:spcPts val="400"/>
              </a:spcBef>
              <a:spcAft>
                <a:spcPts val="400"/>
              </a:spcAft>
              <a:buSzPts val="1440"/>
              <a:buChar char="•"/>
              <a:defRPr/>
            </a:lvl9pPr>
          </a:lstStyle>
          <a:p xmlns:a="http://schemas.openxmlformats.org/drawingml/2006/main">
            <a:endParaRPr/>
          </a:p>
        </p:txBody>
      </p:sp>
      <p:sp>
        <p:nvSpPr>
          <p:cNvPr id="19" name="Google Shape;19;p2">
            <a:extLst xmlns:a="http://schemas.openxmlformats.org/drawingml/2006/main">
              <a:ext uri="{FF2B5EF4-FFF2-40B4-BE49-F238E27FC236}">
                <a16:creationId xmlns:a16="http://schemas.microsoft.com/office/drawing/2014/main" id="{CD5AA07B-2DA5-41C7-B0E4-519BF84C41AF}"/>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0" name="Google Shape;20;p2">
            <a:extLst xmlns:a="http://schemas.openxmlformats.org/drawingml/2006/main">
              <a:ext uri="{FF2B5EF4-FFF2-40B4-BE49-F238E27FC236}">
                <a16:creationId xmlns:a16="http://schemas.microsoft.com/office/drawing/2014/main" id="{267BBE3B-F2FF-4C52-B4D0-FEC01A0E74B5}"/>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1" name="Google Shape;21;p2">
            <a:extLst xmlns:a="http://schemas.openxmlformats.org/drawingml/2006/main">
              <a:ext uri="{FF2B5EF4-FFF2-40B4-BE49-F238E27FC236}">
                <a16:creationId xmlns:a16="http://schemas.microsoft.com/office/drawing/2014/main" id="{D96D0613-8628-46C3-B74D-2A8C33DC4A81}"/>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2.xml><?xml version="1.0" encoding="utf-8"?>
<p:sldLayout xmlns:p="http://schemas.openxmlformats.org/presentationml/2006/main" matchingName="Title Only" type="titleOnly">
  <p:cSld name="TITLE_ONLY">
    <p:spTree>
      <p:nvGrpSpPr>
        <p:cNvPr id="1" name=""/>
        <p:cNvGrpSpPr/>
        <p:nvPr/>
      </p:nvGrpSpPr>
      <p:grpSpPr>
        <a:xfrm xmlns:a="http://schemas.openxmlformats.org/drawingml/2006/main"/>
      </p:grpSpPr>
      <p:sp>
        <p:nvSpPr>
          <p:cNvPr id="23" name="Google Shape;23;p3">
            <a:extLst xmlns:a="http://schemas.openxmlformats.org/drawingml/2006/main">
              <a:ext uri="{FF2B5EF4-FFF2-40B4-BE49-F238E27FC236}">
                <a16:creationId xmlns:a16="http://schemas.microsoft.com/office/drawing/2014/main" id="{11980058-D5AA-4C82-BB63-69445D34ED50}"/>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4" name="Google Shape;24;p3">
            <a:extLst xmlns:a="http://schemas.openxmlformats.org/drawingml/2006/main">
              <a:ext uri="{FF2B5EF4-FFF2-40B4-BE49-F238E27FC236}">
                <a16:creationId xmlns:a16="http://schemas.microsoft.com/office/drawing/2014/main" id="{92807988-BCBE-44FD-A818-68CE119A8AC9}"/>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5" name="Google Shape;25;p3">
            <a:extLst xmlns:a="http://schemas.openxmlformats.org/drawingml/2006/main">
              <a:ext uri="{FF2B5EF4-FFF2-40B4-BE49-F238E27FC236}">
                <a16:creationId xmlns:a16="http://schemas.microsoft.com/office/drawing/2014/main" id="{5F20EE75-38EF-4CF0-9364-B07D76F26544}"/>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6" name="Google Shape;26;p3">
            <a:extLst xmlns:a="http://schemas.openxmlformats.org/drawingml/2006/main">
              <a:ext uri="{FF2B5EF4-FFF2-40B4-BE49-F238E27FC236}">
                <a16:creationId xmlns:a16="http://schemas.microsoft.com/office/drawing/2014/main" id="{F33A1CB9-A997-4B02-B958-48500A659ADB}"/>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3.xml><?xml version="1.0" encoding="utf-8"?>
<p:sldLayout xmlns:p="http://schemas.openxmlformats.org/presentationml/2006/main" matchingName="Blank" type="blank">
  <p:cSld name="BLANK">
    <p:spTree>
      <p:nvGrpSpPr>
        <p:cNvPr id="1" name=""/>
        <p:cNvGrpSpPr/>
        <p:nvPr/>
      </p:nvGrpSpPr>
      <p:grpSpPr>
        <a:xfrm xmlns:a="http://schemas.openxmlformats.org/drawingml/2006/main"/>
      </p:grpSpPr>
      <p:sp>
        <p:nvSpPr>
          <p:cNvPr id="28" name="Google Shape;28;p4">
            <a:extLst xmlns:a="http://schemas.openxmlformats.org/drawingml/2006/main">
              <a:ext uri="{FF2B5EF4-FFF2-40B4-BE49-F238E27FC236}">
                <a16:creationId xmlns:a16="http://schemas.microsoft.com/office/drawing/2014/main" id="{3AC89456-F5AD-45EE-B497-E08EC1A33469}"/>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9" name="Google Shape;29;p4">
            <a:extLst xmlns:a="http://schemas.openxmlformats.org/drawingml/2006/main">
              <a:ext uri="{FF2B5EF4-FFF2-40B4-BE49-F238E27FC236}">
                <a16:creationId xmlns:a16="http://schemas.microsoft.com/office/drawing/2014/main" id="{C1A08420-6584-4F02-BD54-C1BAB8217578}"/>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0" name="Google Shape;30;p4">
            <a:extLst xmlns:a="http://schemas.openxmlformats.org/drawingml/2006/main">
              <a:ext uri="{FF2B5EF4-FFF2-40B4-BE49-F238E27FC236}">
                <a16:creationId xmlns:a16="http://schemas.microsoft.com/office/drawing/2014/main" id="{1BF89608-A441-4B76-BD18-4491870EF196}"/>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4.xml><?xml version="1.0" encoding="utf-8"?>
<p:sldLayout xmlns:p="http://schemas.openxmlformats.org/presentationml/2006/main" matchingName="Title Slide" type="title">
  <p:cSld name="TITLE">
    <p:spTree>
      <p:nvGrpSpPr>
        <p:cNvPr id="1" name=""/>
        <p:cNvGrpSpPr/>
        <p:nvPr/>
      </p:nvGrpSpPr>
      <p:grpSpPr>
        <a:xfrm xmlns:a="http://schemas.openxmlformats.org/drawingml/2006/main"/>
      </p:grpSpPr>
      <p:sp>
        <p:nvSpPr>
          <p:cNvPr id="32" name="Google Shape;32;p5">
            <a:extLst xmlns:a="http://schemas.openxmlformats.org/drawingml/2006/main">
              <a:ext uri="{FF2B5EF4-FFF2-40B4-BE49-F238E27FC236}">
                <a16:creationId xmlns:a16="http://schemas.microsoft.com/office/drawing/2014/main" id="{1BD92A20-51B2-4DA3-A5EB-176B2FCE31C4}"/>
              </a:ext>
            </a:extLst>
          </p:cNvPr>
          <p:cNvSpPr>
            <a:spLocks xmlns:a="http://schemas.openxmlformats.org/drawingml/2006/main" noGrp="1"/>
          </p:cNvSpPr>
          <p:nvPr/>
        </p:nvSpPr>
        <p:spPr>
          <a:xfrm xmlns:a="http://schemas.openxmlformats.org/drawingml/2006/main">
            <a:off x="231140" y="243840"/>
            <a:ext cx="11724640" cy="6377939"/>
          </a:xfrm>
          <a:prstGeom xmlns:a="http://schemas.openxmlformats.org/drawingml/2006/main" prst="rect">
            <a:avLst/>
          </a:prstGeom>
          <a:solidFill xmlns:a="http://schemas.openxmlformats.org/drawingml/2006/main">
            <a:schemeClr val="lt1"/>
          </a:solidFill>
          <a:ln xmlns:a="http://schemas.openxmlformats.org/drawingml/2006/main" w="12700" cmpd="sng">
            <a:solidFill>
              <a:schemeClr val="dk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33" name="Google Shape;33;p5">
            <a:extLst xmlns:a="http://schemas.openxmlformats.org/drawingml/2006/main">
              <a:ext uri="{FF2B5EF4-FFF2-40B4-BE49-F238E27FC236}">
                <a16:creationId xmlns:a16="http://schemas.microsoft.com/office/drawing/2014/main" id="{6D908E5A-BA33-4585-B9BE-345DBA5109EC}"/>
              </a:ext>
            </a:extLst>
          </p:cNvPr>
          <p:cNvSpPr>
            <a:spLocks xmlns:a="http://schemas.openxmlformats.org/drawingml/2006/main" noGrp="1"/>
          </p:cNvSpPr>
          <p:nvPr>
            <p:ph type="ctrTitle" idx="0"/>
          </p:nvPr>
        </p:nvSpPr>
        <p:spPr>
          <a:xfrm xmlns:a="http://schemas.openxmlformats.org/drawingml/2006/main">
            <a:off x="1109980" y="882376"/>
            <a:ext cx="9966960" cy="2926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algn="ctr">
              <a:lnSpc>
                <a:spcPct val="85000"/>
              </a:lnSpc>
              <a:spcBef>
                <a:spcPts val="0"/>
              </a:spcBef>
              <a:spcAft>
                <a:spcPts val="0"/>
              </a:spcAft>
              <a:buClr>
                <a:schemeClr val="dk1"/>
              </a:buClr>
              <a:buSzPts val="7200"/>
              <a:buFont typeface="Corbel"/>
              <a:buNone/>
              <a:defRPr sz="7200" b="1" cap="none">
                <a:solidFill>
                  <a:schemeClr val="dk1"/>
                </a:solidFill>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4" name="Google Shape;34;p5">
            <a:extLst xmlns:a="http://schemas.openxmlformats.org/drawingml/2006/main">
              <a:ext uri="{FF2B5EF4-FFF2-40B4-BE49-F238E27FC236}">
                <a16:creationId xmlns:a16="http://schemas.microsoft.com/office/drawing/2014/main" id="{0121C429-AD11-45DE-A6E4-9CB28B8910DC}"/>
              </a:ext>
            </a:extLst>
          </p:cNvPr>
          <p:cNvSpPr>
            <a:spLocks xmlns:a="http://schemas.openxmlformats.org/drawingml/2006/main" noGrp="1"/>
          </p:cNvSpPr>
          <p:nvPr>
            <p:ph type="subTitle" idx="1"/>
          </p:nvPr>
        </p:nvSpPr>
        <p:spPr>
          <a:xfrm xmlns:a="http://schemas.openxmlformats.org/drawingml/2006/main">
            <a:off x="1709530" y="3869634"/>
            <a:ext cx="8767860" cy="138816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algn="ctr">
              <a:lnSpc>
                <a:spcPct val="90000"/>
              </a:lnSpc>
              <a:spcBef>
                <a:spcPts val="1400"/>
              </a:spcBef>
              <a:spcAft>
                <a:spcPts val="0"/>
              </a:spcAft>
              <a:buSzPts val="1760"/>
              <a:buNone/>
              <a:defRPr sz="2200">
                <a:solidFill>
                  <a:schemeClr val="dk1"/>
                </a:solidFill>
              </a:defRPr>
            </a:lvl1pPr>
            <a:lvl2pPr algn="ctr">
              <a:lnSpc>
                <a:spcPct val="90000"/>
              </a:lnSpc>
              <a:spcBef>
                <a:spcPts val="200"/>
              </a:spcBef>
              <a:spcAft>
                <a:spcPts val="0"/>
              </a:spcAft>
              <a:buSzPts val="1760"/>
              <a:buNone/>
              <a:defRPr sz="2200"/>
            </a:lvl2pPr>
            <a:lvl3pPr algn="ctr">
              <a:lnSpc>
                <a:spcPct val="90000"/>
              </a:lnSpc>
              <a:spcBef>
                <a:spcPts val="400"/>
              </a:spcBef>
              <a:spcAft>
                <a:spcPts val="0"/>
              </a:spcAft>
              <a:buSzPts val="1760"/>
              <a:buNone/>
              <a:defRPr sz="2200"/>
            </a:lvl3pPr>
            <a:lvl4pPr algn="ctr">
              <a:lnSpc>
                <a:spcPct val="90000"/>
              </a:lnSpc>
              <a:spcBef>
                <a:spcPts val="400"/>
              </a:spcBef>
              <a:spcAft>
                <a:spcPts val="0"/>
              </a:spcAft>
              <a:buSzPts val="1600"/>
              <a:buNone/>
              <a:defRPr sz="2000"/>
            </a:lvl4pPr>
            <a:lvl5pPr algn="ctr">
              <a:lnSpc>
                <a:spcPct val="90000"/>
              </a:lnSpc>
              <a:spcBef>
                <a:spcPts val="400"/>
              </a:spcBef>
              <a:spcAft>
                <a:spcPts val="0"/>
              </a:spcAft>
              <a:buSzPts val="1600"/>
              <a:buNone/>
              <a:defRPr sz="2000"/>
            </a:lvl5pPr>
            <a:lvl6pPr algn="ctr">
              <a:lnSpc>
                <a:spcPct val="90000"/>
              </a:lnSpc>
              <a:spcBef>
                <a:spcPts val="400"/>
              </a:spcBef>
              <a:spcAft>
                <a:spcPts val="0"/>
              </a:spcAft>
              <a:buSzPts val="1600"/>
              <a:buNone/>
              <a:defRPr sz="2000"/>
            </a:lvl6pPr>
            <a:lvl7pPr algn="ctr">
              <a:lnSpc>
                <a:spcPct val="90000"/>
              </a:lnSpc>
              <a:spcBef>
                <a:spcPts val="400"/>
              </a:spcBef>
              <a:spcAft>
                <a:spcPts val="0"/>
              </a:spcAft>
              <a:buSzPts val="1600"/>
              <a:buNone/>
              <a:defRPr sz="2000"/>
            </a:lvl7pPr>
            <a:lvl8pPr algn="ctr">
              <a:lnSpc>
                <a:spcPct val="90000"/>
              </a:lnSpc>
              <a:spcBef>
                <a:spcPts val="400"/>
              </a:spcBef>
              <a:spcAft>
                <a:spcPts val="0"/>
              </a:spcAft>
              <a:buSzPts val="1600"/>
              <a:buNone/>
              <a:defRPr sz="2000"/>
            </a:lvl8pPr>
            <a:lvl9pPr algn="ctr">
              <a:lnSpc>
                <a:spcPct val="90000"/>
              </a:lnSpc>
              <a:spcBef>
                <a:spcPts val="400"/>
              </a:spcBef>
              <a:spcAft>
                <a:spcPts val="400"/>
              </a:spcAft>
              <a:buSzPts val="1600"/>
              <a:buNone/>
              <a:defRPr sz="2000"/>
            </a:lvl9pPr>
          </a:lstStyle>
          <a:p xmlns:a="http://schemas.openxmlformats.org/drawingml/2006/main">
            <a:endParaRPr/>
          </a:p>
        </p:txBody>
      </p:sp>
      <p:sp>
        <p:nvSpPr>
          <p:cNvPr id="35" name="Google Shape;35;p5">
            <a:extLst xmlns:a="http://schemas.openxmlformats.org/drawingml/2006/main">
              <a:ext uri="{FF2B5EF4-FFF2-40B4-BE49-F238E27FC236}">
                <a16:creationId xmlns:a16="http://schemas.microsoft.com/office/drawing/2014/main" id="{7C88B229-BE9C-48AB-BCDD-6B522818270D}"/>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solidFill>
                  <a:schemeClr val="dk1"/>
                </a:solidFill>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6" name="Google Shape;36;p5">
            <a:extLst xmlns:a="http://schemas.openxmlformats.org/drawingml/2006/main">
              <a:ext uri="{FF2B5EF4-FFF2-40B4-BE49-F238E27FC236}">
                <a16:creationId xmlns:a16="http://schemas.microsoft.com/office/drawing/2014/main" id="{B80F305A-AF4C-4C9E-B79F-75703659BCB8}"/>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solidFill>
                  <a:schemeClr val="dk1"/>
                </a:solidFill>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7" name="Google Shape;37;p5">
            <a:extLst xmlns:a="http://schemas.openxmlformats.org/drawingml/2006/main">
              <a:ext uri="{FF2B5EF4-FFF2-40B4-BE49-F238E27FC236}">
                <a16:creationId xmlns:a16="http://schemas.microsoft.com/office/drawing/2014/main" id="{54D6FE42-6084-452E-9DB2-A2AF11A4A17F}"/>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cxnSp>
        <p:nvCxnSpPr>
          <p:cNvPr id="150" name="Google Shape;38;p5"/>
          <p:cNvCxnSpPr/>
          <p:nvPr/>
        </p:nvCxnSpPr>
        <p:spPr>
          <a:xfrm xmlns:a="http://schemas.openxmlformats.org/drawingml/2006/main">
            <a:off x="1978660" y="3733800"/>
            <a:ext cx="8229601" cy="0"/>
          </a:xfrm>
          <a:prstGeom xmlns:a="http://schemas.openxmlformats.org/drawingml/2006/main" prst="straightConnector1">
            <a:avLst/>
          </a:prstGeom>
          <a:ln xmlns:a="http://schemas.openxmlformats.org/drawingml/2006/main" w="10000" cap="flat">
            <a:solidFill>
              <a:schemeClr val="dk1"/>
            </a:solidFill>
            <a:prstDash val="solid"/>
            <a:round/>
            <a:headEnd type="none" w="sm" len="sm"/>
            <a:tailEnd type="none" w="sm" len="sm"/>
          </a:ln>
        </p:spPr>
      </p:cxnSp>
    </p:spTree>
  </p:cSld>
</p:sldLayout>
</file>

<file path=ppt/slideLayouts/slideLayout5.xml><?xml version="1.0" encoding="utf-8"?>
<p:sldLayout xmlns:p="http://schemas.openxmlformats.org/presentationml/2006/main" matchingName="Section Header" type="secHead">
  <p:cSld name="SECTION_HEADER">
    <p:spTree>
      <p:nvGrpSpPr>
        <p:cNvPr id="1" name=""/>
        <p:cNvGrpSpPr/>
        <p:nvPr/>
      </p:nvGrpSpPr>
      <p:grpSpPr>
        <a:xfrm xmlns:a="http://schemas.openxmlformats.org/drawingml/2006/main"/>
      </p:grpSpPr>
      <p:sp>
        <p:nvSpPr>
          <p:cNvPr id="40" name="Google Shape;40;p6">
            <a:extLst xmlns:a="http://schemas.openxmlformats.org/drawingml/2006/main">
              <a:ext uri="{FF2B5EF4-FFF2-40B4-BE49-F238E27FC236}">
                <a16:creationId xmlns:a16="http://schemas.microsoft.com/office/drawing/2014/main" id="{0486CAB3-85CC-4608-925E-E0CAC0AEFB2C}"/>
              </a:ext>
            </a:extLst>
          </p:cNvPr>
          <p:cNvSpPr>
            <a:spLocks xmlns:a="http://schemas.openxmlformats.org/drawingml/2006/main" noGrp="1"/>
          </p:cNvSpPr>
          <p:nvPr>
            <p:ph type="title" idx="0"/>
          </p:nvPr>
        </p:nvSpPr>
        <p:spPr>
          <a:xfrm xmlns:a="http://schemas.openxmlformats.org/drawingml/2006/main">
            <a:off x="1106424" y="1173575"/>
            <a:ext cx="9966960" cy="2926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Autofit/>
          </a:bodyPr>
          <a:lstStyle xmlns:a="http://schemas.openxmlformats.org/drawingml/2006/main">
            <a:lvl1pPr algn="ctr">
              <a:lnSpc>
                <a:spcPct val="85000"/>
              </a:lnSpc>
              <a:spcBef>
                <a:spcPts val="0"/>
              </a:spcBef>
              <a:spcAft>
                <a:spcPts val="0"/>
              </a:spcAft>
              <a:buClr>
                <a:schemeClr val="dk1"/>
              </a:buClr>
              <a:buSzPts val="7200"/>
              <a:buFont typeface="Corbel"/>
              <a:buNone/>
              <a:defRPr sz="7200" b="0" cap="none"/>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1" name="Google Shape;41;p6">
            <a:extLst xmlns:a="http://schemas.openxmlformats.org/drawingml/2006/main">
              <a:ext uri="{FF2B5EF4-FFF2-40B4-BE49-F238E27FC236}">
                <a16:creationId xmlns:a16="http://schemas.microsoft.com/office/drawing/2014/main" id="{F642E5A3-678F-4051-8AC6-7090B1AB4DC2}"/>
              </a:ext>
            </a:extLst>
          </p:cNvPr>
          <p:cNvSpPr>
            <a:spLocks xmlns:a="http://schemas.openxmlformats.org/drawingml/2006/main" noGrp="1"/>
          </p:cNvSpPr>
          <p:nvPr>
            <p:ph type="body" idx="1"/>
          </p:nvPr>
        </p:nvSpPr>
        <p:spPr>
          <a:xfrm xmlns:a="http://schemas.openxmlformats.org/drawingml/2006/main">
            <a:off x="1709928" y="4154520"/>
            <a:ext cx="8769096" cy="136380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ctr">
              <a:lnSpc>
                <a:spcPct val="90000"/>
              </a:lnSpc>
              <a:spcBef>
                <a:spcPts val="1400"/>
              </a:spcBef>
              <a:spcAft>
                <a:spcPts val="0"/>
              </a:spcAft>
              <a:buSzPts val="1760"/>
              <a:buNone/>
              <a:defRPr sz="2200">
                <a:solidFill>
                  <a:schemeClr val="dk1"/>
                </a:solidFill>
              </a:defRPr>
            </a:lvl1pPr>
            <a:lvl2pPr marL="914400" indent="-228600" algn="l">
              <a:lnSpc>
                <a:spcPct val="90000"/>
              </a:lnSpc>
              <a:spcBef>
                <a:spcPts val="200"/>
              </a:spcBef>
              <a:spcAft>
                <a:spcPts val="0"/>
              </a:spcAft>
              <a:buSzPts val="1440"/>
              <a:buNone/>
              <a:defRPr sz="1800">
                <a:solidFill>
                  <a:srgbClr val="888888"/>
                </a:solidFill>
              </a:defRPr>
            </a:lvl2pPr>
            <a:lvl3pPr marL="1371600" indent="-228600" algn="l">
              <a:lnSpc>
                <a:spcPct val="90000"/>
              </a:lnSpc>
              <a:spcBef>
                <a:spcPts val="400"/>
              </a:spcBef>
              <a:spcAft>
                <a:spcPts val="0"/>
              </a:spcAft>
              <a:buSzPts val="1280"/>
              <a:buNone/>
              <a:defRPr sz="1600">
                <a:solidFill>
                  <a:srgbClr val="888888"/>
                </a:solidFill>
              </a:defRPr>
            </a:lvl3pPr>
            <a:lvl4pPr marL="1828800" indent="-228600" algn="l">
              <a:lnSpc>
                <a:spcPct val="90000"/>
              </a:lnSpc>
              <a:spcBef>
                <a:spcPts val="400"/>
              </a:spcBef>
              <a:spcAft>
                <a:spcPts val="0"/>
              </a:spcAft>
              <a:buSzPts val="1120"/>
              <a:buNone/>
              <a:defRPr sz="1400">
                <a:solidFill>
                  <a:srgbClr val="888888"/>
                </a:solidFill>
              </a:defRPr>
            </a:lvl4pPr>
            <a:lvl5pPr marL="2286000" indent="-228600" algn="l">
              <a:lnSpc>
                <a:spcPct val="90000"/>
              </a:lnSpc>
              <a:spcBef>
                <a:spcPts val="400"/>
              </a:spcBef>
              <a:spcAft>
                <a:spcPts val="0"/>
              </a:spcAft>
              <a:buSzPts val="1120"/>
              <a:buNone/>
              <a:defRPr sz="1400">
                <a:solidFill>
                  <a:srgbClr val="888888"/>
                </a:solidFill>
              </a:defRPr>
            </a:lvl5pPr>
            <a:lvl6pPr marL="2743200" indent="-228600" algn="l">
              <a:lnSpc>
                <a:spcPct val="90000"/>
              </a:lnSpc>
              <a:spcBef>
                <a:spcPts val="400"/>
              </a:spcBef>
              <a:spcAft>
                <a:spcPts val="0"/>
              </a:spcAft>
              <a:buSzPts val="1120"/>
              <a:buNone/>
              <a:defRPr sz="1400">
                <a:solidFill>
                  <a:srgbClr val="888888"/>
                </a:solidFill>
              </a:defRPr>
            </a:lvl6pPr>
            <a:lvl7pPr marL="3200400" indent="-228600" algn="l">
              <a:lnSpc>
                <a:spcPct val="90000"/>
              </a:lnSpc>
              <a:spcBef>
                <a:spcPts val="400"/>
              </a:spcBef>
              <a:spcAft>
                <a:spcPts val="0"/>
              </a:spcAft>
              <a:buSzPts val="1120"/>
              <a:buNone/>
              <a:defRPr sz="1400">
                <a:solidFill>
                  <a:srgbClr val="888888"/>
                </a:solidFill>
              </a:defRPr>
            </a:lvl7pPr>
            <a:lvl8pPr marL="3657600" indent="-228600" algn="l">
              <a:lnSpc>
                <a:spcPct val="90000"/>
              </a:lnSpc>
              <a:spcBef>
                <a:spcPts val="400"/>
              </a:spcBef>
              <a:spcAft>
                <a:spcPts val="0"/>
              </a:spcAft>
              <a:buSzPts val="1120"/>
              <a:buNone/>
              <a:defRPr sz="1400">
                <a:solidFill>
                  <a:srgbClr val="888888"/>
                </a:solidFill>
              </a:defRPr>
            </a:lvl8pPr>
            <a:lvl9pPr marL="4114800" indent="-228600" algn="l">
              <a:lnSpc>
                <a:spcPct val="90000"/>
              </a:lnSpc>
              <a:spcBef>
                <a:spcPts val="400"/>
              </a:spcBef>
              <a:spcAft>
                <a:spcPts val="400"/>
              </a:spcAft>
              <a:buSzPts val="1120"/>
              <a:buNone/>
              <a:defRPr sz="1400">
                <a:solidFill>
                  <a:srgbClr val="888888"/>
                </a:solidFill>
              </a:defRPr>
            </a:lvl9pPr>
          </a:lstStyle>
          <a:p xmlns:a="http://schemas.openxmlformats.org/drawingml/2006/main">
            <a:endParaRPr/>
          </a:p>
        </p:txBody>
      </p:sp>
      <p:sp>
        <p:nvSpPr>
          <p:cNvPr id="42" name="Google Shape;42;p6">
            <a:extLst xmlns:a="http://schemas.openxmlformats.org/drawingml/2006/main">
              <a:ext uri="{FF2B5EF4-FFF2-40B4-BE49-F238E27FC236}">
                <a16:creationId xmlns:a16="http://schemas.microsoft.com/office/drawing/2014/main" id="{88F17270-9B6D-4C62-99CE-0ECD19DFCE34}"/>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3" name="Google Shape;43;p6">
            <a:extLst xmlns:a="http://schemas.openxmlformats.org/drawingml/2006/main">
              <a:ext uri="{FF2B5EF4-FFF2-40B4-BE49-F238E27FC236}">
                <a16:creationId xmlns:a16="http://schemas.microsoft.com/office/drawing/2014/main" id="{ABDEB05D-E590-4230-A65A-231F0064D7AF}"/>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4" name="Google Shape;44;p6">
            <a:extLst xmlns:a="http://schemas.openxmlformats.org/drawingml/2006/main">
              <a:ext uri="{FF2B5EF4-FFF2-40B4-BE49-F238E27FC236}">
                <a16:creationId xmlns:a16="http://schemas.microsoft.com/office/drawing/2014/main" id="{9C599CAB-D224-4627-A936-C90F5A61ABA8}"/>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cxnSp>
        <p:nvCxnSpPr>
          <p:cNvPr id="141" name="Google Shape;45;p6"/>
          <p:cNvCxnSpPr/>
          <p:nvPr/>
        </p:nvCxnSpPr>
        <p:spPr>
          <a:xfrm xmlns:a="http://schemas.openxmlformats.org/drawingml/2006/main">
            <a:off x="1981200" y="4020408"/>
            <a:ext cx="8229601" cy="0"/>
          </a:xfrm>
          <a:prstGeom xmlns:a="http://schemas.openxmlformats.org/drawingml/2006/main" prst="straightConnector1">
            <a:avLst/>
          </a:prstGeom>
          <a:ln xmlns:a="http://schemas.openxmlformats.org/drawingml/2006/main" w="10000" cap="flat">
            <a:solidFill>
              <a:schemeClr val="dk1"/>
            </a:solidFill>
            <a:prstDash val="solid"/>
            <a:round/>
            <a:headEnd type="none" w="sm" len="sm"/>
            <a:tailEnd type="none" w="sm" len="sm"/>
          </a:ln>
        </p:spPr>
      </p:cxnSp>
    </p:spTree>
  </p:cSld>
</p:sldLayout>
</file>

<file path=ppt/slideLayouts/slideLayout6.xml><?xml version="1.0" encoding="utf-8"?>
<p:sldLayout xmlns:p="http://schemas.openxmlformats.org/presentationml/2006/main" matchingName="Two Content" type="twoObj">
  <p:cSld name="TWO_OBJECTS">
    <p:spTree>
      <p:nvGrpSpPr>
        <p:cNvPr id="1" name=""/>
        <p:cNvGrpSpPr/>
        <p:nvPr/>
      </p:nvGrpSpPr>
      <p:grpSpPr>
        <a:xfrm xmlns:a="http://schemas.openxmlformats.org/drawingml/2006/main"/>
      </p:grpSpPr>
      <p:sp>
        <p:nvSpPr>
          <p:cNvPr id="47" name="Google Shape;47;p7">
            <a:extLst xmlns:a="http://schemas.openxmlformats.org/drawingml/2006/main">
              <a:ext uri="{FF2B5EF4-FFF2-40B4-BE49-F238E27FC236}">
                <a16:creationId xmlns:a16="http://schemas.microsoft.com/office/drawing/2014/main" id="{A88F6224-4C19-45BC-8E4C-4EDB510ABFBA}"/>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8" name="Google Shape;48;p7">
            <a:extLst xmlns:a="http://schemas.openxmlformats.org/drawingml/2006/main">
              <a:ext uri="{FF2B5EF4-FFF2-40B4-BE49-F238E27FC236}">
                <a16:creationId xmlns:a16="http://schemas.microsoft.com/office/drawing/2014/main" id="{B66352A3-57DB-43E0-8F63-BDDCAF161A6F}"/>
              </a:ext>
            </a:extLst>
          </p:cNvPr>
          <p:cNvSpPr>
            <a:spLocks xmlns:a="http://schemas.openxmlformats.org/drawingml/2006/main" noGrp="1"/>
          </p:cNvSpPr>
          <p:nvPr>
            <p:ph type="body" idx="1"/>
          </p:nvPr>
        </p:nvSpPr>
        <p:spPr>
          <a:xfrm xmlns:a="http://schemas.openxmlformats.org/drawingml/2006/main">
            <a:off x="1143000" y="2057399"/>
            <a:ext cx="4754880" cy="4023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0360" algn="l">
              <a:lnSpc>
                <a:spcPct val="90000"/>
              </a:lnSpc>
              <a:spcBef>
                <a:spcPts val="1400"/>
              </a:spcBef>
              <a:spcAft>
                <a:spcPts val="0"/>
              </a:spcAft>
              <a:buSzPts val="1760"/>
              <a:buChar char="•"/>
              <a:defRPr sz="2200"/>
            </a:lvl1pPr>
            <a:lvl2pPr marL="914400" indent="-330200" algn="l">
              <a:lnSpc>
                <a:spcPct val="90000"/>
              </a:lnSpc>
              <a:spcBef>
                <a:spcPts val="200"/>
              </a:spcBef>
              <a:spcAft>
                <a:spcPts val="0"/>
              </a:spcAft>
              <a:buSzPts val="1600"/>
              <a:buChar char="•"/>
              <a:defRPr sz="2000"/>
            </a:lvl2pPr>
            <a:lvl3pPr marL="1371600" indent="-320039" algn="l">
              <a:lnSpc>
                <a:spcPct val="90000"/>
              </a:lnSpc>
              <a:spcBef>
                <a:spcPts val="400"/>
              </a:spcBef>
              <a:spcAft>
                <a:spcPts val="0"/>
              </a:spcAft>
              <a:buSzPts val="1440"/>
              <a:buChar char="•"/>
              <a:defRPr sz="1800"/>
            </a:lvl3pPr>
            <a:lvl4pPr marL="1828800" indent="-309880" algn="l">
              <a:lnSpc>
                <a:spcPct val="90000"/>
              </a:lnSpc>
              <a:spcBef>
                <a:spcPts val="400"/>
              </a:spcBef>
              <a:spcAft>
                <a:spcPts val="0"/>
              </a:spcAft>
              <a:buSzPts val="1280"/>
              <a:buChar char="•"/>
              <a:defRPr sz="1600"/>
            </a:lvl4pPr>
            <a:lvl5pPr marL="2286000" indent="-309879" algn="l">
              <a:lnSpc>
                <a:spcPct val="90000"/>
              </a:lnSpc>
              <a:spcBef>
                <a:spcPts val="400"/>
              </a:spcBef>
              <a:spcAft>
                <a:spcPts val="0"/>
              </a:spcAft>
              <a:buSzPts val="1280"/>
              <a:buChar char="•"/>
              <a:defRPr sz="1600"/>
            </a:lvl5pPr>
            <a:lvl6pPr marL="2743200" indent="-309879" algn="l">
              <a:lnSpc>
                <a:spcPct val="90000"/>
              </a:lnSpc>
              <a:spcBef>
                <a:spcPts val="400"/>
              </a:spcBef>
              <a:spcAft>
                <a:spcPts val="0"/>
              </a:spcAft>
              <a:buSzPts val="1280"/>
              <a:buChar char="•"/>
              <a:defRPr sz="1600"/>
            </a:lvl6pPr>
            <a:lvl7pPr marL="3200400" indent="-309879" algn="l">
              <a:lnSpc>
                <a:spcPct val="90000"/>
              </a:lnSpc>
              <a:spcBef>
                <a:spcPts val="400"/>
              </a:spcBef>
              <a:spcAft>
                <a:spcPts val="0"/>
              </a:spcAft>
              <a:buSzPts val="1280"/>
              <a:buChar char="•"/>
              <a:defRPr sz="1600"/>
            </a:lvl7pPr>
            <a:lvl8pPr marL="3657600" indent="-309879" algn="l">
              <a:lnSpc>
                <a:spcPct val="90000"/>
              </a:lnSpc>
              <a:spcBef>
                <a:spcPts val="400"/>
              </a:spcBef>
              <a:spcAft>
                <a:spcPts val="0"/>
              </a:spcAft>
              <a:buSzPts val="1280"/>
              <a:buChar char="•"/>
              <a:defRPr sz="1600"/>
            </a:lvl8pPr>
            <a:lvl9pPr marL="4114800" indent="-309879" algn="l">
              <a:lnSpc>
                <a:spcPct val="90000"/>
              </a:lnSpc>
              <a:spcBef>
                <a:spcPts val="400"/>
              </a:spcBef>
              <a:spcAft>
                <a:spcPts val="400"/>
              </a:spcAft>
              <a:buSzPts val="1280"/>
              <a:buChar char="•"/>
              <a:defRPr sz="1600"/>
            </a:lvl9pPr>
          </a:lstStyle>
          <a:p xmlns:a="http://schemas.openxmlformats.org/drawingml/2006/main">
            <a:endParaRPr/>
          </a:p>
        </p:txBody>
      </p:sp>
      <p:sp>
        <p:nvSpPr>
          <p:cNvPr id="49" name="Google Shape;49;p7">
            <a:extLst xmlns:a="http://schemas.openxmlformats.org/drawingml/2006/main">
              <a:ext uri="{FF2B5EF4-FFF2-40B4-BE49-F238E27FC236}">
                <a16:creationId xmlns:a16="http://schemas.microsoft.com/office/drawing/2014/main" id="{62E06904-5961-46D1-80C9-DC9F8DC11279}"/>
              </a:ext>
            </a:extLst>
          </p:cNvPr>
          <p:cNvSpPr>
            <a:spLocks xmlns:a="http://schemas.openxmlformats.org/drawingml/2006/main" noGrp="1"/>
          </p:cNvSpPr>
          <p:nvPr>
            <p:ph type="body" idx="2"/>
          </p:nvPr>
        </p:nvSpPr>
        <p:spPr>
          <a:xfrm xmlns:a="http://schemas.openxmlformats.org/drawingml/2006/main">
            <a:off x="6267612" y="2057400"/>
            <a:ext cx="4754880" cy="4023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0360" algn="l">
              <a:lnSpc>
                <a:spcPct val="90000"/>
              </a:lnSpc>
              <a:spcBef>
                <a:spcPts val="1400"/>
              </a:spcBef>
              <a:spcAft>
                <a:spcPts val="0"/>
              </a:spcAft>
              <a:buSzPts val="1760"/>
              <a:buChar char="•"/>
              <a:defRPr sz="2200"/>
            </a:lvl1pPr>
            <a:lvl2pPr marL="914400" indent="-330200" algn="l">
              <a:lnSpc>
                <a:spcPct val="90000"/>
              </a:lnSpc>
              <a:spcBef>
                <a:spcPts val="200"/>
              </a:spcBef>
              <a:spcAft>
                <a:spcPts val="0"/>
              </a:spcAft>
              <a:buSzPts val="1600"/>
              <a:buChar char="•"/>
              <a:defRPr sz="2000"/>
            </a:lvl2pPr>
            <a:lvl3pPr marL="1371600" indent="-320039" algn="l">
              <a:lnSpc>
                <a:spcPct val="90000"/>
              </a:lnSpc>
              <a:spcBef>
                <a:spcPts val="400"/>
              </a:spcBef>
              <a:spcAft>
                <a:spcPts val="0"/>
              </a:spcAft>
              <a:buSzPts val="1440"/>
              <a:buChar char="•"/>
              <a:defRPr sz="1800"/>
            </a:lvl3pPr>
            <a:lvl4pPr marL="1828800" indent="-309880" algn="l">
              <a:lnSpc>
                <a:spcPct val="90000"/>
              </a:lnSpc>
              <a:spcBef>
                <a:spcPts val="400"/>
              </a:spcBef>
              <a:spcAft>
                <a:spcPts val="0"/>
              </a:spcAft>
              <a:buSzPts val="1280"/>
              <a:buChar char="•"/>
              <a:defRPr sz="1600"/>
            </a:lvl4pPr>
            <a:lvl5pPr marL="2286000" indent="-309879" algn="l">
              <a:lnSpc>
                <a:spcPct val="90000"/>
              </a:lnSpc>
              <a:spcBef>
                <a:spcPts val="400"/>
              </a:spcBef>
              <a:spcAft>
                <a:spcPts val="0"/>
              </a:spcAft>
              <a:buSzPts val="1280"/>
              <a:buChar char="•"/>
              <a:defRPr sz="1600"/>
            </a:lvl5pPr>
            <a:lvl6pPr marL="2743200" indent="-309879" algn="l">
              <a:lnSpc>
                <a:spcPct val="90000"/>
              </a:lnSpc>
              <a:spcBef>
                <a:spcPts val="400"/>
              </a:spcBef>
              <a:spcAft>
                <a:spcPts val="0"/>
              </a:spcAft>
              <a:buSzPts val="1280"/>
              <a:buChar char="•"/>
              <a:defRPr sz="1600"/>
            </a:lvl6pPr>
            <a:lvl7pPr marL="3200400" indent="-309879" algn="l">
              <a:lnSpc>
                <a:spcPct val="90000"/>
              </a:lnSpc>
              <a:spcBef>
                <a:spcPts val="400"/>
              </a:spcBef>
              <a:spcAft>
                <a:spcPts val="0"/>
              </a:spcAft>
              <a:buSzPts val="1280"/>
              <a:buChar char="•"/>
              <a:defRPr sz="1600"/>
            </a:lvl7pPr>
            <a:lvl8pPr marL="3657600" indent="-309879" algn="l">
              <a:lnSpc>
                <a:spcPct val="90000"/>
              </a:lnSpc>
              <a:spcBef>
                <a:spcPts val="400"/>
              </a:spcBef>
              <a:spcAft>
                <a:spcPts val="0"/>
              </a:spcAft>
              <a:buSzPts val="1280"/>
              <a:buChar char="•"/>
              <a:defRPr sz="1600"/>
            </a:lvl8pPr>
            <a:lvl9pPr marL="4114800" indent="-309879" algn="l">
              <a:lnSpc>
                <a:spcPct val="90000"/>
              </a:lnSpc>
              <a:spcBef>
                <a:spcPts val="400"/>
              </a:spcBef>
              <a:spcAft>
                <a:spcPts val="400"/>
              </a:spcAft>
              <a:buSzPts val="1280"/>
              <a:buChar char="•"/>
              <a:defRPr sz="1600"/>
            </a:lvl9pPr>
          </a:lstStyle>
          <a:p xmlns:a="http://schemas.openxmlformats.org/drawingml/2006/main">
            <a:endParaRPr/>
          </a:p>
        </p:txBody>
      </p:sp>
      <p:sp>
        <p:nvSpPr>
          <p:cNvPr id="50" name="Google Shape;50;p7">
            <a:extLst xmlns:a="http://schemas.openxmlformats.org/drawingml/2006/main">
              <a:ext uri="{FF2B5EF4-FFF2-40B4-BE49-F238E27FC236}">
                <a16:creationId xmlns:a16="http://schemas.microsoft.com/office/drawing/2014/main" id="{8080A104-8AA5-4585-9E75-4CD0E830DFE7}"/>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51" name="Google Shape;51;p7">
            <a:extLst xmlns:a="http://schemas.openxmlformats.org/drawingml/2006/main">
              <a:ext uri="{FF2B5EF4-FFF2-40B4-BE49-F238E27FC236}">
                <a16:creationId xmlns:a16="http://schemas.microsoft.com/office/drawing/2014/main" id="{4886F767-AA98-4549-9764-82804112AF63}"/>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52" name="Google Shape;52;p7">
            <a:extLst xmlns:a="http://schemas.openxmlformats.org/drawingml/2006/main">
              <a:ext uri="{FF2B5EF4-FFF2-40B4-BE49-F238E27FC236}">
                <a16:creationId xmlns:a16="http://schemas.microsoft.com/office/drawing/2014/main" id="{A8C7AF50-1422-48D4-9D6B-46886AE3CAC4}"/>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7.xml><?xml version="1.0" encoding="utf-8"?>
<p:sldLayout xmlns:p="http://schemas.openxmlformats.org/presentationml/2006/main" matchingName="Comparison" type="twoTxTwoObj">
  <p:cSld name="TWO_OBJECTS_WITH_TEXT">
    <p:spTree>
      <p:nvGrpSpPr>
        <p:cNvPr id="1" name=""/>
        <p:cNvGrpSpPr/>
        <p:nvPr/>
      </p:nvGrpSpPr>
      <p:grpSpPr>
        <a:xfrm xmlns:a="http://schemas.openxmlformats.org/drawingml/2006/main"/>
      </p:grpSpPr>
      <p:sp>
        <p:nvSpPr>
          <p:cNvPr id="54" name="Google Shape;54;p8">
            <a:extLst xmlns:a="http://schemas.openxmlformats.org/drawingml/2006/main">
              <a:ext uri="{FF2B5EF4-FFF2-40B4-BE49-F238E27FC236}">
                <a16:creationId xmlns:a16="http://schemas.microsoft.com/office/drawing/2014/main" id="{FEE9B523-B5E0-4692-948F-F69BDE9C424E}"/>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55" name="Google Shape;55;p8">
            <a:extLst xmlns:a="http://schemas.openxmlformats.org/drawingml/2006/main">
              <a:ext uri="{FF2B5EF4-FFF2-40B4-BE49-F238E27FC236}">
                <a16:creationId xmlns:a16="http://schemas.microsoft.com/office/drawing/2014/main" id="{C8138D25-7461-4766-90D9-38E29D1B539F}"/>
              </a:ext>
            </a:extLst>
          </p:cNvPr>
          <p:cNvSpPr>
            <a:spLocks xmlns:a="http://schemas.openxmlformats.org/drawingml/2006/main" noGrp="1"/>
          </p:cNvSpPr>
          <p:nvPr>
            <p:ph type="body" idx="1"/>
          </p:nvPr>
        </p:nvSpPr>
        <p:spPr>
          <a:xfrm xmlns:a="http://schemas.openxmlformats.org/drawingml/2006/main">
            <a:off x="1143000" y="2001511"/>
            <a:ext cx="4754880" cy="7772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marL="457200" indent="-228600" algn="l">
              <a:lnSpc>
                <a:spcPct val="90000"/>
              </a:lnSpc>
              <a:spcBef>
                <a:spcPts val="0"/>
              </a:spcBef>
              <a:spcAft>
                <a:spcPts val="0"/>
              </a:spcAft>
              <a:buSzPts val="1920"/>
              <a:buNone/>
              <a:defRPr sz="2400" b="1"/>
            </a:lvl1pPr>
            <a:lvl2pPr marL="914400" indent="-228600" algn="l">
              <a:lnSpc>
                <a:spcPct val="90000"/>
              </a:lnSpc>
              <a:spcBef>
                <a:spcPts val="200"/>
              </a:spcBef>
              <a:spcAft>
                <a:spcPts val="0"/>
              </a:spcAft>
              <a:buSzPts val="1600"/>
              <a:buNone/>
              <a:defRPr sz="2000" b="1"/>
            </a:lvl2pPr>
            <a:lvl3pPr marL="1371600" indent="-228600" algn="l">
              <a:lnSpc>
                <a:spcPct val="90000"/>
              </a:lnSpc>
              <a:spcBef>
                <a:spcPts val="400"/>
              </a:spcBef>
              <a:spcAft>
                <a:spcPts val="0"/>
              </a:spcAft>
              <a:buSzPts val="1440"/>
              <a:buNone/>
              <a:defRPr sz="1800" b="1"/>
            </a:lvl3pPr>
            <a:lvl4pPr marL="1828800" indent="-228600" algn="l">
              <a:lnSpc>
                <a:spcPct val="90000"/>
              </a:lnSpc>
              <a:spcBef>
                <a:spcPts val="400"/>
              </a:spcBef>
              <a:spcAft>
                <a:spcPts val="0"/>
              </a:spcAft>
              <a:buSzPts val="1280"/>
              <a:buNone/>
              <a:defRPr sz="1600" b="1"/>
            </a:lvl4pPr>
            <a:lvl5pPr marL="2286000" indent="-228600" algn="l">
              <a:lnSpc>
                <a:spcPct val="90000"/>
              </a:lnSpc>
              <a:spcBef>
                <a:spcPts val="400"/>
              </a:spcBef>
              <a:spcAft>
                <a:spcPts val="0"/>
              </a:spcAft>
              <a:buSzPts val="1280"/>
              <a:buNone/>
              <a:defRPr sz="1600" b="1"/>
            </a:lvl5pPr>
            <a:lvl6pPr marL="2743200" indent="-228600" algn="l">
              <a:lnSpc>
                <a:spcPct val="90000"/>
              </a:lnSpc>
              <a:spcBef>
                <a:spcPts val="400"/>
              </a:spcBef>
              <a:spcAft>
                <a:spcPts val="0"/>
              </a:spcAft>
              <a:buSzPts val="1280"/>
              <a:buNone/>
              <a:defRPr sz="1600" b="1"/>
            </a:lvl6pPr>
            <a:lvl7pPr marL="3200400" indent="-228600" algn="l">
              <a:lnSpc>
                <a:spcPct val="90000"/>
              </a:lnSpc>
              <a:spcBef>
                <a:spcPts val="400"/>
              </a:spcBef>
              <a:spcAft>
                <a:spcPts val="0"/>
              </a:spcAft>
              <a:buSzPts val="1280"/>
              <a:buNone/>
              <a:defRPr sz="1600" b="1"/>
            </a:lvl7pPr>
            <a:lvl8pPr marL="3657600" indent="-228600" algn="l">
              <a:lnSpc>
                <a:spcPct val="90000"/>
              </a:lnSpc>
              <a:spcBef>
                <a:spcPts val="400"/>
              </a:spcBef>
              <a:spcAft>
                <a:spcPts val="0"/>
              </a:spcAft>
              <a:buSzPts val="1280"/>
              <a:buNone/>
              <a:defRPr sz="1600" b="1"/>
            </a:lvl8pPr>
            <a:lvl9pPr marL="4114800" indent="-228600" algn="l">
              <a:lnSpc>
                <a:spcPct val="90000"/>
              </a:lnSpc>
              <a:spcBef>
                <a:spcPts val="400"/>
              </a:spcBef>
              <a:spcAft>
                <a:spcPts val="400"/>
              </a:spcAft>
              <a:buSzPts val="1280"/>
              <a:buNone/>
              <a:defRPr sz="1600" b="1"/>
            </a:lvl9pPr>
          </a:lstStyle>
          <a:p xmlns:a="http://schemas.openxmlformats.org/drawingml/2006/main">
            <a:endParaRPr/>
          </a:p>
        </p:txBody>
      </p:sp>
      <p:sp>
        <p:nvSpPr>
          <p:cNvPr id="56" name="Google Shape;56;p8">
            <a:extLst xmlns:a="http://schemas.openxmlformats.org/drawingml/2006/main">
              <a:ext uri="{FF2B5EF4-FFF2-40B4-BE49-F238E27FC236}">
                <a16:creationId xmlns:a16="http://schemas.microsoft.com/office/drawing/2014/main" id="{13A65957-C47B-426F-A86E-AC08896857BE}"/>
              </a:ext>
            </a:extLst>
          </p:cNvPr>
          <p:cNvSpPr>
            <a:spLocks xmlns:a="http://schemas.openxmlformats.org/drawingml/2006/main" noGrp="1"/>
          </p:cNvSpPr>
          <p:nvPr>
            <p:ph type="body" idx="2"/>
          </p:nvPr>
        </p:nvSpPr>
        <p:spPr>
          <a:xfrm xmlns:a="http://schemas.openxmlformats.org/drawingml/2006/main">
            <a:off x="1143000" y="2721483"/>
            <a:ext cx="4754880" cy="33832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0360" algn="l">
              <a:lnSpc>
                <a:spcPct val="90000"/>
              </a:lnSpc>
              <a:spcBef>
                <a:spcPts val="1400"/>
              </a:spcBef>
              <a:spcAft>
                <a:spcPts val="0"/>
              </a:spcAft>
              <a:buSzPts val="1760"/>
              <a:buChar char="•"/>
              <a:defRPr sz="2200"/>
            </a:lvl1pPr>
            <a:lvl2pPr marL="914400" indent="-330200" algn="l">
              <a:lnSpc>
                <a:spcPct val="90000"/>
              </a:lnSpc>
              <a:spcBef>
                <a:spcPts val="200"/>
              </a:spcBef>
              <a:spcAft>
                <a:spcPts val="0"/>
              </a:spcAft>
              <a:buSzPts val="1600"/>
              <a:buChar char="•"/>
              <a:defRPr sz="2000"/>
            </a:lvl2pPr>
            <a:lvl3pPr marL="1371600" indent="-320039" algn="l">
              <a:lnSpc>
                <a:spcPct val="90000"/>
              </a:lnSpc>
              <a:spcBef>
                <a:spcPts val="400"/>
              </a:spcBef>
              <a:spcAft>
                <a:spcPts val="0"/>
              </a:spcAft>
              <a:buSzPts val="1440"/>
              <a:buChar char="•"/>
              <a:defRPr sz="1800"/>
            </a:lvl3pPr>
            <a:lvl4pPr marL="1828800" indent="-309880" algn="l">
              <a:lnSpc>
                <a:spcPct val="90000"/>
              </a:lnSpc>
              <a:spcBef>
                <a:spcPts val="400"/>
              </a:spcBef>
              <a:spcAft>
                <a:spcPts val="0"/>
              </a:spcAft>
              <a:buSzPts val="1280"/>
              <a:buChar char="•"/>
              <a:defRPr sz="1600"/>
            </a:lvl4pPr>
            <a:lvl5pPr marL="2286000" indent="-309879" algn="l">
              <a:lnSpc>
                <a:spcPct val="90000"/>
              </a:lnSpc>
              <a:spcBef>
                <a:spcPts val="400"/>
              </a:spcBef>
              <a:spcAft>
                <a:spcPts val="0"/>
              </a:spcAft>
              <a:buSzPts val="1280"/>
              <a:buChar char="•"/>
              <a:defRPr sz="1600"/>
            </a:lvl5pPr>
            <a:lvl6pPr marL="2743200" indent="-309879" algn="l">
              <a:lnSpc>
                <a:spcPct val="90000"/>
              </a:lnSpc>
              <a:spcBef>
                <a:spcPts val="400"/>
              </a:spcBef>
              <a:spcAft>
                <a:spcPts val="0"/>
              </a:spcAft>
              <a:buSzPts val="1280"/>
              <a:buChar char="•"/>
              <a:defRPr sz="1600"/>
            </a:lvl6pPr>
            <a:lvl7pPr marL="3200400" indent="-309879" algn="l">
              <a:lnSpc>
                <a:spcPct val="90000"/>
              </a:lnSpc>
              <a:spcBef>
                <a:spcPts val="400"/>
              </a:spcBef>
              <a:spcAft>
                <a:spcPts val="0"/>
              </a:spcAft>
              <a:buSzPts val="1280"/>
              <a:buChar char="•"/>
              <a:defRPr sz="1600"/>
            </a:lvl7pPr>
            <a:lvl8pPr marL="3657600" indent="-309879" algn="l">
              <a:lnSpc>
                <a:spcPct val="90000"/>
              </a:lnSpc>
              <a:spcBef>
                <a:spcPts val="400"/>
              </a:spcBef>
              <a:spcAft>
                <a:spcPts val="0"/>
              </a:spcAft>
              <a:buSzPts val="1280"/>
              <a:buChar char="•"/>
              <a:defRPr sz="1600"/>
            </a:lvl8pPr>
            <a:lvl9pPr marL="4114800" indent="-309879" algn="l">
              <a:lnSpc>
                <a:spcPct val="90000"/>
              </a:lnSpc>
              <a:spcBef>
                <a:spcPts val="400"/>
              </a:spcBef>
              <a:spcAft>
                <a:spcPts val="400"/>
              </a:spcAft>
              <a:buSzPts val="1280"/>
              <a:buChar char="•"/>
              <a:defRPr sz="1600"/>
            </a:lvl9pPr>
          </a:lstStyle>
          <a:p xmlns:a="http://schemas.openxmlformats.org/drawingml/2006/main">
            <a:endParaRPr/>
          </a:p>
        </p:txBody>
      </p:sp>
      <p:sp>
        <p:nvSpPr>
          <p:cNvPr id="57" name="Google Shape;57;p8">
            <a:extLst xmlns:a="http://schemas.openxmlformats.org/drawingml/2006/main">
              <a:ext uri="{FF2B5EF4-FFF2-40B4-BE49-F238E27FC236}">
                <a16:creationId xmlns:a16="http://schemas.microsoft.com/office/drawing/2014/main" id="{023220B7-0BB2-4319-9A57-9402BBFD7762}"/>
              </a:ext>
            </a:extLst>
          </p:cNvPr>
          <p:cNvSpPr>
            <a:spLocks xmlns:a="http://schemas.openxmlformats.org/drawingml/2006/main" noGrp="1"/>
          </p:cNvSpPr>
          <p:nvPr>
            <p:ph type="body" idx="3"/>
          </p:nvPr>
        </p:nvSpPr>
        <p:spPr>
          <a:xfrm xmlns:a="http://schemas.openxmlformats.org/drawingml/2006/main">
            <a:off x="6269173" y="1999032"/>
            <a:ext cx="4754880" cy="7772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marL="457200" indent="-228600" algn="l">
              <a:lnSpc>
                <a:spcPct val="90000"/>
              </a:lnSpc>
              <a:spcBef>
                <a:spcPts val="0"/>
              </a:spcBef>
              <a:spcAft>
                <a:spcPts val="0"/>
              </a:spcAft>
              <a:buSzPts val="1920"/>
              <a:buNone/>
              <a:defRPr sz="2400" b="1"/>
            </a:lvl1pPr>
            <a:lvl2pPr marL="914400" indent="-228600" algn="l">
              <a:lnSpc>
                <a:spcPct val="90000"/>
              </a:lnSpc>
              <a:spcBef>
                <a:spcPts val="200"/>
              </a:spcBef>
              <a:spcAft>
                <a:spcPts val="0"/>
              </a:spcAft>
              <a:buSzPts val="1600"/>
              <a:buNone/>
              <a:defRPr sz="2000" b="1"/>
            </a:lvl2pPr>
            <a:lvl3pPr marL="1371600" indent="-228600" algn="l">
              <a:lnSpc>
                <a:spcPct val="90000"/>
              </a:lnSpc>
              <a:spcBef>
                <a:spcPts val="400"/>
              </a:spcBef>
              <a:spcAft>
                <a:spcPts val="0"/>
              </a:spcAft>
              <a:buSzPts val="1440"/>
              <a:buNone/>
              <a:defRPr sz="1800" b="1"/>
            </a:lvl3pPr>
            <a:lvl4pPr marL="1828800" indent="-228600" algn="l">
              <a:lnSpc>
                <a:spcPct val="90000"/>
              </a:lnSpc>
              <a:spcBef>
                <a:spcPts val="400"/>
              </a:spcBef>
              <a:spcAft>
                <a:spcPts val="0"/>
              </a:spcAft>
              <a:buSzPts val="1280"/>
              <a:buNone/>
              <a:defRPr sz="1600" b="1"/>
            </a:lvl4pPr>
            <a:lvl5pPr marL="2286000" indent="-228600" algn="l">
              <a:lnSpc>
                <a:spcPct val="90000"/>
              </a:lnSpc>
              <a:spcBef>
                <a:spcPts val="400"/>
              </a:spcBef>
              <a:spcAft>
                <a:spcPts val="0"/>
              </a:spcAft>
              <a:buSzPts val="1280"/>
              <a:buNone/>
              <a:defRPr sz="1600" b="1"/>
            </a:lvl5pPr>
            <a:lvl6pPr marL="2743200" indent="-228600" algn="l">
              <a:lnSpc>
                <a:spcPct val="90000"/>
              </a:lnSpc>
              <a:spcBef>
                <a:spcPts val="400"/>
              </a:spcBef>
              <a:spcAft>
                <a:spcPts val="0"/>
              </a:spcAft>
              <a:buSzPts val="1280"/>
              <a:buNone/>
              <a:defRPr sz="1600" b="1"/>
            </a:lvl6pPr>
            <a:lvl7pPr marL="3200400" indent="-228600" algn="l">
              <a:lnSpc>
                <a:spcPct val="90000"/>
              </a:lnSpc>
              <a:spcBef>
                <a:spcPts val="400"/>
              </a:spcBef>
              <a:spcAft>
                <a:spcPts val="0"/>
              </a:spcAft>
              <a:buSzPts val="1280"/>
              <a:buNone/>
              <a:defRPr sz="1600" b="1"/>
            </a:lvl7pPr>
            <a:lvl8pPr marL="3657600" indent="-228600" algn="l">
              <a:lnSpc>
                <a:spcPct val="90000"/>
              </a:lnSpc>
              <a:spcBef>
                <a:spcPts val="400"/>
              </a:spcBef>
              <a:spcAft>
                <a:spcPts val="0"/>
              </a:spcAft>
              <a:buSzPts val="1280"/>
              <a:buNone/>
              <a:defRPr sz="1600" b="1"/>
            </a:lvl8pPr>
            <a:lvl9pPr marL="4114800" indent="-228600" algn="l">
              <a:lnSpc>
                <a:spcPct val="90000"/>
              </a:lnSpc>
              <a:spcBef>
                <a:spcPts val="400"/>
              </a:spcBef>
              <a:spcAft>
                <a:spcPts val="400"/>
              </a:spcAft>
              <a:buSzPts val="1280"/>
              <a:buNone/>
              <a:defRPr sz="1600" b="1"/>
            </a:lvl9pPr>
          </a:lstStyle>
          <a:p xmlns:a="http://schemas.openxmlformats.org/drawingml/2006/main">
            <a:endParaRPr/>
          </a:p>
        </p:txBody>
      </p:sp>
      <p:sp>
        <p:nvSpPr>
          <p:cNvPr id="58" name="Google Shape;58;p8">
            <a:extLst xmlns:a="http://schemas.openxmlformats.org/drawingml/2006/main">
              <a:ext uri="{FF2B5EF4-FFF2-40B4-BE49-F238E27FC236}">
                <a16:creationId xmlns:a16="http://schemas.microsoft.com/office/drawing/2014/main" id="{BABC99F3-8810-4EE2-BE04-B8458006A308}"/>
              </a:ext>
            </a:extLst>
          </p:cNvPr>
          <p:cNvSpPr>
            <a:spLocks xmlns:a="http://schemas.openxmlformats.org/drawingml/2006/main" noGrp="1"/>
          </p:cNvSpPr>
          <p:nvPr>
            <p:ph type="body" idx="4"/>
          </p:nvPr>
        </p:nvSpPr>
        <p:spPr>
          <a:xfrm xmlns:a="http://schemas.openxmlformats.org/drawingml/2006/main">
            <a:off x="6269173" y="2719322"/>
            <a:ext cx="4754880" cy="33832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0360" algn="l">
              <a:lnSpc>
                <a:spcPct val="90000"/>
              </a:lnSpc>
              <a:spcBef>
                <a:spcPts val="1400"/>
              </a:spcBef>
              <a:spcAft>
                <a:spcPts val="0"/>
              </a:spcAft>
              <a:buSzPts val="1760"/>
              <a:buChar char="•"/>
              <a:defRPr sz="2200"/>
            </a:lvl1pPr>
            <a:lvl2pPr marL="914400" indent="-330200" algn="l">
              <a:lnSpc>
                <a:spcPct val="90000"/>
              </a:lnSpc>
              <a:spcBef>
                <a:spcPts val="200"/>
              </a:spcBef>
              <a:spcAft>
                <a:spcPts val="0"/>
              </a:spcAft>
              <a:buSzPts val="1600"/>
              <a:buChar char="•"/>
              <a:defRPr sz="2000"/>
            </a:lvl2pPr>
            <a:lvl3pPr marL="1371600" indent="-320039" algn="l">
              <a:lnSpc>
                <a:spcPct val="90000"/>
              </a:lnSpc>
              <a:spcBef>
                <a:spcPts val="400"/>
              </a:spcBef>
              <a:spcAft>
                <a:spcPts val="0"/>
              </a:spcAft>
              <a:buSzPts val="1440"/>
              <a:buChar char="•"/>
              <a:defRPr sz="1800"/>
            </a:lvl3pPr>
            <a:lvl4pPr marL="1828800" indent="-309880" algn="l">
              <a:lnSpc>
                <a:spcPct val="90000"/>
              </a:lnSpc>
              <a:spcBef>
                <a:spcPts val="400"/>
              </a:spcBef>
              <a:spcAft>
                <a:spcPts val="0"/>
              </a:spcAft>
              <a:buSzPts val="1280"/>
              <a:buChar char="•"/>
              <a:defRPr sz="1600"/>
            </a:lvl4pPr>
            <a:lvl5pPr marL="2286000" indent="-309879" algn="l">
              <a:lnSpc>
                <a:spcPct val="90000"/>
              </a:lnSpc>
              <a:spcBef>
                <a:spcPts val="400"/>
              </a:spcBef>
              <a:spcAft>
                <a:spcPts val="0"/>
              </a:spcAft>
              <a:buSzPts val="1280"/>
              <a:buChar char="•"/>
              <a:defRPr sz="1600"/>
            </a:lvl5pPr>
            <a:lvl6pPr marL="2743200" indent="-309879" algn="l">
              <a:lnSpc>
                <a:spcPct val="90000"/>
              </a:lnSpc>
              <a:spcBef>
                <a:spcPts val="400"/>
              </a:spcBef>
              <a:spcAft>
                <a:spcPts val="0"/>
              </a:spcAft>
              <a:buSzPts val="1280"/>
              <a:buChar char="•"/>
              <a:defRPr sz="1600"/>
            </a:lvl6pPr>
            <a:lvl7pPr marL="3200400" indent="-309879" algn="l">
              <a:lnSpc>
                <a:spcPct val="90000"/>
              </a:lnSpc>
              <a:spcBef>
                <a:spcPts val="400"/>
              </a:spcBef>
              <a:spcAft>
                <a:spcPts val="0"/>
              </a:spcAft>
              <a:buSzPts val="1280"/>
              <a:buChar char="•"/>
              <a:defRPr sz="1600"/>
            </a:lvl7pPr>
            <a:lvl8pPr marL="3657600" indent="-309879" algn="l">
              <a:lnSpc>
                <a:spcPct val="90000"/>
              </a:lnSpc>
              <a:spcBef>
                <a:spcPts val="400"/>
              </a:spcBef>
              <a:spcAft>
                <a:spcPts val="0"/>
              </a:spcAft>
              <a:buSzPts val="1280"/>
              <a:buChar char="•"/>
              <a:defRPr sz="1600"/>
            </a:lvl8pPr>
            <a:lvl9pPr marL="4114800" indent="-309879" algn="l">
              <a:lnSpc>
                <a:spcPct val="90000"/>
              </a:lnSpc>
              <a:spcBef>
                <a:spcPts val="400"/>
              </a:spcBef>
              <a:spcAft>
                <a:spcPts val="400"/>
              </a:spcAft>
              <a:buSzPts val="1280"/>
              <a:buChar char="•"/>
              <a:defRPr sz="1600"/>
            </a:lvl9pPr>
          </a:lstStyle>
          <a:p xmlns:a="http://schemas.openxmlformats.org/drawingml/2006/main">
            <a:endParaRPr/>
          </a:p>
        </p:txBody>
      </p:sp>
      <p:sp>
        <p:nvSpPr>
          <p:cNvPr id="59" name="Google Shape;59;p8">
            <a:extLst xmlns:a="http://schemas.openxmlformats.org/drawingml/2006/main">
              <a:ext uri="{FF2B5EF4-FFF2-40B4-BE49-F238E27FC236}">
                <a16:creationId xmlns:a16="http://schemas.microsoft.com/office/drawing/2014/main" id="{638707D7-23B9-45C1-A8F2-598B2AE38F5B}"/>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0" name="Google Shape;60;p8">
            <a:extLst xmlns:a="http://schemas.openxmlformats.org/drawingml/2006/main">
              <a:ext uri="{FF2B5EF4-FFF2-40B4-BE49-F238E27FC236}">
                <a16:creationId xmlns:a16="http://schemas.microsoft.com/office/drawing/2014/main" id="{CDE3DF0F-A9E3-450B-ABD1-1F5396CAD3D8}"/>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1" name="Google Shape;61;p8">
            <a:extLst xmlns:a="http://schemas.openxmlformats.org/drawingml/2006/main">
              <a:ext uri="{FF2B5EF4-FFF2-40B4-BE49-F238E27FC236}">
                <a16:creationId xmlns:a16="http://schemas.microsoft.com/office/drawing/2014/main" id="{70B19D17-8237-4B08-A8B2-1648F42350E0}"/>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8.xml><?xml version="1.0" encoding="utf-8"?>
<p:sldLayout xmlns:p="http://schemas.openxmlformats.org/presentationml/2006/main" matchingName="Content with Caption" type="objTx">
  <p:cSld name="OBJECT_WITH_CAPTION_TEXT">
    <p:spTree>
      <p:nvGrpSpPr>
        <p:cNvPr id="1" name=""/>
        <p:cNvGrpSpPr/>
        <p:nvPr/>
      </p:nvGrpSpPr>
      <p:grpSpPr>
        <a:xfrm xmlns:a="http://schemas.openxmlformats.org/drawingml/2006/main"/>
      </p:grpSpPr>
      <p:sp>
        <p:nvSpPr>
          <p:cNvPr id="63" name="Google Shape;63;p9">
            <a:extLst xmlns:a="http://schemas.openxmlformats.org/drawingml/2006/main">
              <a:ext uri="{FF2B5EF4-FFF2-40B4-BE49-F238E27FC236}">
                <a16:creationId xmlns:a16="http://schemas.microsoft.com/office/drawing/2014/main" id="{D08F7266-7985-4AC9-B2A3-F0E202E2E4E7}"/>
              </a:ext>
            </a:extLst>
          </p:cNvPr>
          <p:cNvSpPr>
            <a:spLocks xmlns:a="http://schemas.openxmlformats.org/drawingml/2006/main" noGrp="1"/>
          </p:cNvSpPr>
          <p:nvPr>
            <p:ph type="title" idx="0"/>
          </p:nvPr>
        </p:nvSpPr>
        <p:spPr>
          <a:xfrm xmlns:a="http://schemas.openxmlformats.org/drawingml/2006/main">
            <a:off x="1143000" y="1097280"/>
            <a:ext cx="3931920" cy="1737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Autofit/>
          </a:bodyPr>
          <a:lstStyle xmlns:a="http://schemas.openxmlformats.org/drawingml/2006/main">
            <a:lvl1pPr algn="l">
              <a:lnSpc>
                <a:spcPct val="90000"/>
              </a:lnSpc>
              <a:spcBef>
                <a:spcPts val="0"/>
              </a:spcBef>
              <a:spcAft>
                <a:spcPts val="0"/>
              </a:spcAft>
              <a:buClr>
                <a:schemeClr val="dk1"/>
              </a:buClr>
              <a:buSzPts val="4000"/>
              <a:buFont typeface="Corbel"/>
              <a:buNone/>
              <a:defRPr sz="4000" b="0"/>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4" name="Google Shape;64;p9">
            <a:extLst xmlns:a="http://schemas.openxmlformats.org/drawingml/2006/main">
              <a:ext uri="{FF2B5EF4-FFF2-40B4-BE49-F238E27FC236}">
                <a16:creationId xmlns:a16="http://schemas.microsoft.com/office/drawing/2014/main" id="{6CB2082C-D06C-482C-B967-E3492112D839}"/>
              </a:ext>
            </a:extLst>
          </p:cNvPr>
          <p:cNvSpPr>
            <a:spLocks xmlns:a="http://schemas.openxmlformats.org/drawingml/2006/main" noGrp="1"/>
          </p:cNvSpPr>
          <p:nvPr>
            <p:ph type="body" idx="1"/>
          </p:nvPr>
        </p:nvSpPr>
        <p:spPr>
          <a:xfrm xmlns:a="http://schemas.openxmlformats.org/drawingml/2006/main">
            <a:off x="5852159" y="1097280"/>
            <a:ext cx="5212080" cy="46634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91160" algn="l">
              <a:lnSpc>
                <a:spcPct val="90000"/>
              </a:lnSpc>
              <a:spcBef>
                <a:spcPts val="1400"/>
              </a:spcBef>
              <a:spcAft>
                <a:spcPts val="0"/>
              </a:spcAft>
              <a:buSzPts val="2560"/>
              <a:buChar char="•"/>
              <a:defRPr sz="3200"/>
            </a:lvl1pPr>
            <a:lvl2pPr marL="914400" indent="-370840" algn="l">
              <a:lnSpc>
                <a:spcPct val="90000"/>
              </a:lnSpc>
              <a:spcBef>
                <a:spcPts val="200"/>
              </a:spcBef>
              <a:spcAft>
                <a:spcPts val="0"/>
              </a:spcAft>
              <a:buSzPts val="2240"/>
              <a:buChar char="•"/>
              <a:defRPr sz="2800"/>
            </a:lvl2pPr>
            <a:lvl3pPr marL="1371600" indent="-350519" algn="l">
              <a:lnSpc>
                <a:spcPct val="90000"/>
              </a:lnSpc>
              <a:spcBef>
                <a:spcPts val="400"/>
              </a:spcBef>
              <a:spcAft>
                <a:spcPts val="0"/>
              </a:spcAft>
              <a:buSzPts val="1920"/>
              <a:buChar char="•"/>
              <a:defRPr sz="2400"/>
            </a:lvl3pPr>
            <a:lvl4pPr marL="1828800" indent="-330200" algn="l">
              <a:lnSpc>
                <a:spcPct val="90000"/>
              </a:lnSpc>
              <a:spcBef>
                <a:spcPts val="400"/>
              </a:spcBef>
              <a:spcAft>
                <a:spcPts val="0"/>
              </a:spcAft>
              <a:buSzPts val="1600"/>
              <a:buChar char="•"/>
              <a:defRPr sz="2000"/>
            </a:lvl4pPr>
            <a:lvl5pPr marL="2286000" indent="-330200" algn="l">
              <a:lnSpc>
                <a:spcPct val="90000"/>
              </a:lnSpc>
              <a:spcBef>
                <a:spcPts val="400"/>
              </a:spcBef>
              <a:spcAft>
                <a:spcPts val="0"/>
              </a:spcAft>
              <a:buSzPts val="1600"/>
              <a:buChar char="•"/>
              <a:defRPr sz="2000"/>
            </a:lvl5pPr>
            <a:lvl6pPr marL="2743200" indent="-330200" algn="l">
              <a:lnSpc>
                <a:spcPct val="90000"/>
              </a:lnSpc>
              <a:spcBef>
                <a:spcPts val="400"/>
              </a:spcBef>
              <a:spcAft>
                <a:spcPts val="0"/>
              </a:spcAft>
              <a:buSzPts val="1600"/>
              <a:buChar char="•"/>
              <a:defRPr sz="2000"/>
            </a:lvl6pPr>
            <a:lvl7pPr marL="3200400" indent="-330200" algn="l">
              <a:lnSpc>
                <a:spcPct val="90000"/>
              </a:lnSpc>
              <a:spcBef>
                <a:spcPts val="400"/>
              </a:spcBef>
              <a:spcAft>
                <a:spcPts val="0"/>
              </a:spcAft>
              <a:buSzPts val="1600"/>
              <a:buChar char="•"/>
              <a:defRPr sz="2000"/>
            </a:lvl7pPr>
            <a:lvl8pPr marL="3657600" indent="-330200" algn="l">
              <a:lnSpc>
                <a:spcPct val="90000"/>
              </a:lnSpc>
              <a:spcBef>
                <a:spcPts val="400"/>
              </a:spcBef>
              <a:spcAft>
                <a:spcPts val="0"/>
              </a:spcAft>
              <a:buSzPts val="1600"/>
              <a:buChar char="•"/>
              <a:defRPr sz="2000"/>
            </a:lvl8pPr>
            <a:lvl9pPr marL="4114800" indent="-330200" algn="l">
              <a:lnSpc>
                <a:spcPct val="90000"/>
              </a:lnSpc>
              <a:spcBef>
                <a:spcPts val="400"/>
              </a:spcBef>
              <a:spcAft>
                <a:spcPts val="400"/>
              </a:spcAft>
              <a:buSzPts val="1600"/>
              <a:buChar char="•"/>
              <a:defRPr sz="2000"/>
            </a:lvl9pPr>
          </a:lstStyle>
          <a:p xmlns:a="http://schemas.openxmlformats.org/drawingml/2006/main">
            <a:endParaRPr/>
          </a:p>
        </p:txBody>
      </p:sp>
      <p:sp>
        <p:nvSpPr>
          <p:cNvPr id="65" name="Google Shape;65;p9">
            <a:extLst xmlns:a="http://schemas.openxmlformats.org/drawingml/2006/main">
              <a:ext uri="{FF2B5EF4-FFF2-40B4-BE49-F238E27FC236}">
                <a16:creationId xmlns:a16="http://schemas.microsoft.com/office/drawing/2014/main" id="{F199FB3C-DA4D-43F4-BD3F-8C530DA0CFE1}"/>
              </a:ext>
            </a:extLst>
          </p:cNvPr>
          <p:cNvSpPr>
            <a:spLocks xmlns:a="http://schemas.openxmlformats.org/drawingml/2006/main" noGrp="1"/>
          </p:cNvSpPr>
          <p:nvPr>
            <p:ph type="body" idx="2"/>
          </p:nvPr>
        </p:nvSpPr>
        <p:spPr>
          <a:xfrm xmlns:a="http://schemas.openxmlformats.org/drawingml/2006/main">
            <a:off x="1143000" y="2834640"/>
            <a:ext cx="3931920" cy="30175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l">
              <a:lnSpc>
                <a:spcPct val="100000"/>
              </a:lnSpc>
              <a:spcBef>
                <a:spcPts val="1000"/>
              </a:spcBef>
              <a:spcAft>
                <a:spcPts val="0"/>
              </a:spcAft>
              <a:buSzPts val="1360"/>
              <a:buNone/>
              <a:defRPr sz="1700"/>
            </a:lvl1pPr>
            <a:lvl2pPr marL="914400" indent="-228600" algn="l">
              <a:lnSpc>
                <a:spcPct val="90000"/>
              </a:lnSpc>
              <a:spcBef>
                <a:spcPts val="200"/>
              </a:spcBef>
              <a:spcAft>
                <a:spcPts val="0"/>
              </a:spcAft>
              <a:buSzPts val="960"/>
              <a:buNone/>
              <a:defRPr sz="1200"/>
            </a:lvl2pPr>
            <a:lvl3pPr marL="1371600" indent="-228600" algn="l">
              <a:lnSpc>
                <a:spcPct val="90000"/>
              </a:lnSpc>
              <a:spcBef>
                <a:spcPts val="400"/>
              </a:spcBef>
              <a:spcAft>
                <a:spcPts val="0"/>
              </a:spcAft>
              <a:buSzPts val="800"/>
              <a:buNone/>
              <a:defRPr sz="1000"/>
            </a:lvl3pPr>
            <a:lvl4pPr marL="1828800" indent="-228600" algn="l">
              <a:lnSpc>
                <a:spcPct val="90000"/>
              </a:lnSpc>
              <a:spcBef>
                <a:spcPts val="400"/>
              </a:spcBef>
              <a:spcAft>
                <a:spcPts val="0"/>
              </a:spcAft>
              <a:buSzPts val="720"/>
              <a:buNone/>
              <a:defRPr sz="900"/>
            </a:lvl4pPr>
            <a:lvl5pPr marL="2286000" indent="-228600" algn="l">
              <a:lnSpc>
                <a:spcPct val="90000"/>
              </a:lnSpc>
              <a:spcBef>
                <a:spcPts val="400"/>
              </a:spcBef>
              <a:spcAft>
                <a:spcPts val="0"/>
              </a:spcAft>
              <a:buSzPts val="720"/>
              <a:buNone/>
              <a:defRPr sz="900"/>
            </a:lvl5pPr>
            <a:lvl6pPr marL="2743200" indent="-228600" algn="l">
              <a:lnSpc>
                <a:spcPct val="90000"/>
              </a:lnSpc>
              <a:spcBef>
                <a:spcPts val="400"/>
              </a:spcBef>
              <a:spcAft>
                <a:spcPts val="0"/>
              </a:spcAft>
              <a:buSzPts val="720"/>
              <a:buNone/>
              <a:defRPr sz="900"/>
            </a:lvl6pPr>
            <a:lvl7pPr marL="3200400" indent="-228600" algn="l">
              <a:lnSpc>
                <a:spcPct val="90000"/>
              </a:lnSpc>
              <a:spcBef>
                <a:spcPts val="400"/>
              </a:spcBef>
              <a:spcAft>
                <a:spcPts val="0"/>
              </a:spcAft>
              <a:buSzPts val="720"/>
              <a:buNone/>
              <a:defRPr sz="900"/>
            </a:lvl7pPr>
            <a:lvl8pPr marL="3657600" indent="-228600" algn="l">
              <a:lnSpc>
                <a:spcPct val="90000"/>
              </a:lnSpc>
              <a:spcBef>
                <a:spcPts val="400"/>
              </a:spcBef>
              <a:spcAft>
                <a:spcPts val="0"/>
              </a:spcAft>
              <a:buSzPts val="720"/>
              <a:buNone/>
              <a:defRPr sz="900"/>
            </a:lvl8pPr>
            <a:lvl9pPr marL="4114800" indent="-228600" algn="l">
              <a:lnSpc>
                <a:spcPct val="90000"/>
              </a:lnSpc>
              <a:spcBef>
                <a:spcPts val="400"/>
              </a:spcBef>
              <a:spcAft>
                <a:spcPts val="400"/>
              </a:spcAft>
              <a:buSzPts val="720"/>
              <a:buNone/>
              <a:defRPr sz="900"/>
            </a:lvl9pPr>
          </a:lstStyle>
          <a:p xmlns:a="http://schemas.openxmlformats.org/drawingml/2006/main">
            <a:endParaRPr/>
          </a:p>
        </p:txBody>
      </p:sp>
      <p:sp>
        <p:nvSpPr>
          <p:cNvPr id="66" name="Google Shape;66;p9">
            <a:extLst xmlns:a="http://schemas.openxmlformats.org/drawingml/2006/main">
              <a:ext uri="{FF2B5EF4-FFF2-40B4-BE49-F238E27FC236}">
                <a16:creationId xmlns:a16="http://schemas.microsoft.com/office/drawing/2014/main" id="{CE00638A-17BC-4D96-93ED-FF7C773CD5FD}"/>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7" name="Google Shape;67;p9">
            <a:extLst xmlns:a="http://schemas.openxmlformats.org/drawingml/2006/main">
              <a:ext uri="{FF2B5EF4-FFF2-40B4-BE49-F238E27FC236}">
                <a16:creationId xmlns:a16="http://schemas.microsoft.com/office/drawing/2014/main" id="{5E9F3C43-ADB4-4110-89BC-B62B8721AAD4}"/>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8" name="Google Shape;68;p9">
            <a:extLst xmlns:a="http://schemas.openxmlformats.org/drawingml/2006/main">
              <a:ext uri="{FF2B5EF4-FFF2-40B4-BE49-F238E27FC236}">
                <a16:creationId xmlns:a16="http://schemas.microsoft.com/office/drawing/2014/main" id="{A8AF8AD0-C3A8-4519-8B75-95A8A3BBE3C5}"/>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9.xml><?xml version="1.0" encoding="utf-8"?>
<p:sldLayout xmlns:p="http://schemas.openxmlformats.org/presentationml/2006/main" matchingName="Picture with Caption" type="picTx">
  <p:cSld name="PICTURE_WITH_CAPTION_TEXT">
    <p:spTree>
      <p:nvGrpSpPr>
        <p:cNvPr id="1" name=""/>
        <p:cNvGrpSpPr/>
        <p:nvPr/>
      </p:nvGrpSpPr>
      <p:grpSpPr>
        <a:xfrm xmlns:a="http://schemas.openxmlformats.org/drawingml/2006/main"/>
      </p:grpSpPr>
      <p:sp>
        <p:nvSpPr>
          <p:cNvPr id="70" name="Google Shape;70;p10">
            <a:extLst xmlns:a="http://schemas.openxmlformats.org/drawingml/2006/main">
              <a:ext uri="{FF2B5EF4-FFF2-40B4-BE49-F238E27FC236}">
                <a16:creationId xmlns:a16="http://schemas.microsoft.com/office/drawing/2014/main" id="{04E68BC8-DDD5-4D61-B55C-32052B491239}"/>
              </a:ext>
            </a:extLst>
          </p:cNvPr>
          <p:cNvSpPr>
            <a:spLocks xmlns:a="http://schemas.openxmlformats.org/drawingml/2006/main" noGrp="1"/>
          </p:cNvSpPr>
          <p:nvPr>
            <p:ph type="title" idx="0"/>
          </p:nvPr>
        </p:nvSpPr>
        <p:spPr>
          <a:xfrm xmlns:a="http://schemas.openxmlformats.org/drawingml/2006/main">
            <a:off x="1143000" y="1097280"/>
            <a:ext cx="3931920" cy="1737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Autofit/>
          </a:bodyPr>
          <a:lstStyle xmlns:a="http://schemas.openxmlformats.org/drawingml/2006/main">
            <a:lvl1pPr algn="l">
              <a:lnSpc>
                <a:spcPct val="90000"/>
              </a:lnSpc>
              <a:spcBef>
                <a:spcPts val="0"/>
              </a:spcBef>
              <a:spcAft>
                <a:spcPts val="0"/>
              </a:spcAft>
              <a:buClr>
                <a:schemeClr val="dk1"/>
              </a:buClr>
              <a:buSzPts val="4000"/>
              <a:buFont typeface="Corbel"/>
              <a:buNone/>
              <a:defRPr sz="4000" b="0"/>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1" name="Google Shape;71;p10">
            <a:extLst xmlns:a="http://schemas.openxmlformats.org/drawingml/2006/main">
              <a:ext uri="{FF2B5EF4-FFF2-40B4-BE49-F238E27FC236}">
                <a16:creationId xmlns:a16="http://schemas.microsoft.com/office/drawing/2014/main" id="{1F80EB45-7B7E-4817-8DAB-3697C87ABEAB}"/>
              </a:ext>
            </a:extLst>
          </p:cNvPr>
          <p:cNvSpPr>
            <a:spLocks xmlns:a="http://schemas.openxmlformats.org/drawingml/2006/main" noGrp="1"/>
          </p:cNvSpPr>
          <p:nvPr>
            <p:ph type="pic" idx="2"/>
          </p:nvPr>
        </p:nvSpPr>
        <p:spPr>
          <a:xfrm xmlns:a="http://schemas.openxmlformats.org/drawingml/2006/main">
            <a:off x="5413248" y="1069847"/>
            <a:ext cx="6099048" cy="4800600"/>
          </a:xfrm>
          <a:prstGeom xmlns:a="http://schemas.openxmlformats.org/drawingml/2006/main" prst="rect">
            <a:avLst/>
          </a:prstGeom>
          <a:noFill xmlns:a="http://schemas.openxmlformats.org/drawingml/2006/main"/>
          <a:ln xmlns:a="http://schemas.openxmlformats.org/drawingml/2006/main">
            <a:noFill/>
          </a:ln>
        </p:spPr>
      </p:sp>
      <p:sp>
        <p:nvSpPr>
          <p:cNvPr id="72" name="Google Shape;72;p10">
            <a:extLst xmlns:a="http://schemas.openxmlformats.org/drawingml/2006/main">
              <a:ext uri="{FF2B5EF4-FFF2-40B4-BE49-F238E27FC236}">
                <a16:creationId xmlns:a16="http://schemas.microsoft.com/office/drawing/2014/main" id="{35BF28FC-2A92-4CFA-8FED-1362F12E5430}"/>
              </a:ext>
            </a:extLst>
          </p:cNvPr>
          <p:cNvSpPr>
            <a:spLocks xmlns:a="http://schemas.openxmlformats.org/drawingml/2006/main" noGrp="1"/>
          </p:cNvSpPr>
          <p:nvPr>
            <p:ph type="body" idx="1"/>
          </p:nvPr>
        </p:nvSpPr>
        <p:spPr>
          <a:xfrm xmlns:a="http://schemas.openxmlformats.org/drawingml/2006/main">
            <a:off x="1143000" y="2834640"/>
            <a:ext cx="3931920" cy="2880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l">
              <a:lnSpc>
                <a:spcPct val="100000"/>
              </a:lnSpc>
              <a:spcBef>
                <a:spcPts val="1000"/>
              </a:spcBef>
              <a:spcAft>
                <a:spcPts val="0"/>
              </a:spcAft>
              <a:buSzPts val="1360"/>
              <a:buNone/>
              <a:defRPr sz="1700"/>
            </a:lvl1pPr>
            <a:lvl2pPr marL="914400" indent="-228600" algn="l">
              <a:lnSpc>
                <a:spcPct val="90000"/>
              </a:lnSpc>
              <a:spcBef>
                <a:spcPts val="200"/>
              </a:spcBef>
              <a:spcAft>
                <a:spcPts val="0"/>
              </a:spcAft>
              <a:buSzPts val="960"/>
              <a:buNone/>
              <a:defRPr sz="1200"/>
            </a:lvl2pPr>
            <a:lvl3pPr marL="1371600" indent="-228600" algn="l">
              <a:lnSpc>
                <a:spcPct val="90000"/>
              </a:lnSpc>
              <a:spcBef>
                <a:spcPts val="400"/>
              </a:spcBef>
              <a:spcAft>
                <a:spcPts val="0"/>
              </a:spcAft>
              <a:buSzPts val="800"/>
              <a:buNone/>
              <a:defRPr sz="1000"/>
            </a:lvl3pPr>
            <a:lvl4pPr marL="1828800" indent="-228600" algn="l">
              <a:lnSpc>
                <a:spcPct val="90000"/>
              </a:lnSpc>
              <a:spcBef>
                <a:spcPts val="400"/>
              </a:spcBef>
              <a:spcAft>
                <a:spcPts val="0"/>
              </a:spcAft>
              <a:buSzPts val="720"/>
              <a:buNone/>
              <a:defRPr sz="900"/>
            </a:lvl4pPr>
            <a:lvl5pPr marL="2286000" indent="-228600" algn="l">
              <a:lnSpc>
                <a:spcPct val="90000"/>
              </a:lnSpc>
              <a:spcBef>
                <a:spcPts val="400"/>
              </a:spcBef>
              <a:spcAft>
                <a:spcPts val="0"/>
              </a:spcAft>
              <a:buSzPts val="720"/>
              <a:buNone/>
              <a:defRPr sz="900"/>
            </a:lvl5pPr>
            <a:lvl6pPr marL="2743200" indent="-228600" algn="l">
              <a:lnSpc>
                <a:spcPct val="90000"/>
              </a:lnSpc>
              <a:spcBef>
                <a:spcPts val="400"/>
              </a:spcBef>
              <a:spcAft>
                <a:spcPts val="0"/>
              </a:spcAft>
              <a:buSzPts val="720"/>
              <a:buNone/>
              <a:defRPr sz="900"/>
            </a:lvl6pPr>
            <a:lvl7pPr marL="3200400" indent="-228600" algn="l">
              <a:lnSpc>
                <a:spcPct val="90000"/>
              </a:lnSpc>
              <a:spcBef>
                <a:spcPts val="400"/>
              </a:spcBef>
              <a:spcAft>
                <a:spcPts val="0"/>
              </a:spcAft>
              <a:buSzPts val="720"/>
              <a:buNone/>
              <a:defRPr sz="900"/>
            </a:lvl7pPr>
            <a:lvl8pPr marL="3657600" indent="-228600" algn="l">
              <a:lnSpc>
                <a:spcPct val="90000"/>
              </a:lnSpc>
              <a:spcBef>
                <a:spcPts val="400"/>
              </a:spcBef>
              <a:spcAft>
                <a:spcPts val="0"/>
              </a:spcAft>
              <a:buSzPts val="720"/>
              <a:buNone/>
              <a:defRPr sz="900"/>
            </a:lvl8pPr>
            <a:lvl9pPr marL="4114800" indent="-228600" algn="l">
              <a:lnSpc>
                <a:spcPct val="90000"/>
              </a:lnSpc>
              <a:spcBef>
                <a:spcPts val="400"/>
              </a:spcBef>
              <a:spcAft>
                <a:spcPts val="400"/>
              </a:spcAft>
              <a:buSzPts val="720"/>
              <a:buNone/>
              <a:defRPr sz="900"/>
            </a:lvl9pPr>
          </a:lstStyle>
          <a:p xmlns:a="http://schemas.openxmlformats.org/drawingml/2006/main">
            <a:endParaRPr/>
          </a:p>
        </p:txBody>
      </p:sp>
      <p:sp>
        <p:nvSpPr>
          <p:cNvPr id="73" name="Google Shape;73;p10">
            <a:extLst xmlns:a="http://schemas.openxmlformats.org/drawingml/2006/main">
              <a:ext uri="{FF2B5EF4-FFF2-40B4-BE49-F238E27FC236}">
                <a16:creationId xmlns:a16="http://schemas.microsoft.com/office/drawing/2014/main" id="{FEC253A5-2192-4CD0-9899-8C0FDCE80D70}"/>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4" name="Google Shape;74;p10">
            <a:extLst xmlns:a="http://schemas.openxmlformats.org/drawingml/2006/main">
              <a:ext uri="{FF2B5EF4-FFF2-40B4-BE49-F238E27FC236}">
                <a16:creationId xmlns:a16="http://schemas.microsoft.com/office/drawing/2014/main" id="{1057E711-2A97-48B1-8C57-A5736F4E9A0A}"/>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5" name="Google Shape;75;p10">
            <a:extLst xmlns:a="http://schemas.openxmlformats.org/drawingml/2006/main">
              <a:ext uri="{FF2B5EF4-FFF2-40B4-BE49-F238E27FC236}">
                <a16:creationId xmlns:a16="http://schemas.microsoft.com/office/drawing/2014/main" id="{F1AEB198-0E92-4630-B285-6E52913A1B7A}"/>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0.xml><?xml version="1.0" encoding="utf-8"?>
<p:sldLayout xmlns:p="http://schemas.openxmlformats.org/presentationml/2006/main" matchingName="Title and Vertical Text" type="vertTx">
  <p:cSld name="VERTICAL_TEXT">
    <p:spTree>
      <p:nvGrpSpPr>
        <p:cNvPr id="1" name=""/>
        <p:cNvGrpSpPr/>
        <p:nvPr/>
      </p:nvGrpSpPr>
      <p:grpSpPr>
        <a:xfrm xmlns:a="http://schemas.openxmlformats.org/drawingml/2006/main"/>
      </p:grpSpPr>
      <p:sp>
        <p:nvSpPr>
          <p:cNvPr id="77" name="Google Shape;77;p11">
            <a:extLst xmlns:a="http://schemas.openxmlformats.org/drawingml/2006/main">
              <a:ext uri="{FF2B5EF4-FFF2-40B4-BE49-F238E27FC236}">
                <a16:creationId xmlns:a16="http://schemas.microsoft.com/office/drawing/2014/main" id="{AB4897EE-16CB-46B7-9ED3-6A5D929B02D0}"/>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8" name="Google Shape;78;p11">
            <a:extLst xmlns:a="http://schemas.openxmlformats.org/drawingml/2006/main">
              <a:ext uri="{FF2B5EF4-FFF2-40B4-BE49-F238E27FC236}">
                <a16:creationId xmlns:a16="http://schemas.microsoft.com/office/drawing/2014/main" id="{C49A1845-162D-4FA8-9AD9-9E0EE8995BE6}"/>
              </a:ext>
            </a:extLst>
          </p:cNvPr>
          <p:cNvSpPr>
            <a:spLocks xmlns:a="http://schemas.openxmlformats.org/drawingml/2006/main" noGrp="1"/>
          </p:cNvSpPr>
          <p:nvPr>
            <p:ph type="body" idx="1"/>
          </p:nvPr>
        </p:nvSpPr>
        <p:spPr>
          <a:xfrm xmlns:a="http://schemas.openxmlformats.org/drawingml/2006/main" rot="5400000">
            <a:off x="4060136" y="-859736"/>
            <a:ext cx="4038600" cy="987287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20040" algn="l">
              <a:lnSpc>
                <a:spcPct val="90000"/>
              </a:lnSpc>
              <a:spcBef>
                <a:spcPts val="1400"/>
              </a:spcBef>
              <a:spcAft>
                <a:spcPts val="0"/>
              </a:spcAft>
              <a:buSzPts val="1440"/>
              <a:buChar char="•"/>
              <a:defRPr/>
            </a:lvl1pPr>
            <a:lvl2pPr marL="914400" indent="-320040" algn="l">
              <a:lnSpc>
                <a:spcPct val="90000"/>
              </a:lnSpc>
              <a:spcBef>
                <a:spcPts val="200"/>
              </a:spcBef>
              <a:spcAft>
                <a:spcPts val="0"/>
              </a:spcAft>
              <a:buSzPts val="1440"/>
              <a:buChar char="•"/>
              <a:defRPr/>
            </a:lvl2pPr>
            <a:lvl3pPr marL="1371600" indent="-320039" algn="l">
              <a:lnSpc>
                <a:spcPct val="90000"/>
              </a:lnSpc>
              <a:spcBef>
                <a:spcPts val="400"/>
              </a:spcBef>
              <a:spcAft>
                <a:spcPts val="0"/>
              </a:spcAft>
              <a:buSzPts val="1440"/>
              <a:buChar char="•"/>
              <a:defRPr/>
            </a:lvl3pPr>
            <a:lvl4pPr marL="1828800" indent="-320039" algn="l">
              <a:lnSpc>
                <a:spcPct val="90000"/>
              </a:lnSpc>
              <a:spcBef>
                <a:spcPts val="400"/>
              </a:spcBef>
              <a:spcAft>
                <a:spcPts val="0"/>
              </a:spcAft>
              <a:buSzPts val="1440"/>
              <a:buChar char="•"/>
              <a:defRPr/>
            </a:lvl4pPr>
            <a:lvl5pPr marL="2286000" indent="-320039" algn="l">
              <a:lnSpc>
                <a:spcPct val="90000"/>
              </a:lnSpc>
              <a:spcBef>
                <a:spcPts val="400"/>
              </a:spcBef>
              <a:spcAft>
                <a:spcPts val="0"/>
              </a:spcAft>
              <a:buSzPts val="1440"/>
              <a:buChar char="•"/>
              <a:defRPr/>
            </a:lvl5pPr>
            <a:lvl6pPr marL="2743200" indent="-320039" algn="l">
              <a:lnSpc>
                <a:spcPct val="90000"/>
              </a:lnSpc>
              <a:spcBef>
                <a:spcPts val="400"/>
              </a:spcBef>
              <a:spcAft>
                <a:spcPts val="0"/>
              </a:spcAft>
              <a:buSzPts val="1440"/>
              <a:buChar char="•"/>
              <a:defRPr/>
            </a:lvl6pPr>
            <a:lvl7pPr marL="3200400" indent="-320039" algn="l">
              <a:lnSpc>
                <a:spcPct val="90000"/>
              </a:lnSpc>
              <a:spcBef>
                <a:spcPts val="400"/>
              </a:spcBef>
              <a:spcAft>
                <a:spcPts val="0"/>
              </a:spcAft>
              <a:buSzPts val="1440"/>
              <a:buChar char="•"/>
              <a:defRPr/>
            </a:lvl7pPr>
            <a:lvl8pPr marL="3657600" indent="-320040" algn="l">
              <a:lnSpc>
                <a:spcPct val="90000"/>
              </a:lnSpc>
              <a:spcBef>
                <a:spcPts val="400"/>
              </a:spcBef>
              <a:spcAft>
                <a:spcPts val="0"/>
              </a:spcAft>
              <a:buSzPts val="1440"/>
              <a:buChar char="•"/>
              <a:defRPr/>
            </a:lvl8pPr>
            <a:lvl9pPr marL="4114800" indent="-320040" algn="l">
              <a:lnSpc>
                <a:spcPct val="90000"/>
              </a:lnSpc>
              <a:spcBef>
                <a:spcPts val="400"/>
              </a:spcBef>
              <a:spcAft>
                <a:spcPts val="400"/>
              </a:spcAft>
              <a:buSzPts val="1440"/>
              <a:buChar char="•"/>
              <a:defRPr/>
            </a:lvl9pPr>
          </a:lstStyle>
          <a:p xmlns:a="http://schemas.openxmlformats.org/drawingml/2006/main">
            <a:endParaRPr/>
          </a:p>
        </p:txBody>
      </p:sp>
      <p:sp>
        <p:nvSpPr>
          <p:cNvPr id="79" name="Google Shape;79;p11">
            <a:extLst xmlns:a="http://schemas.openxmlformats.org/drawingml/2006/main">
              <a:ext uri="{FF2B5EF4-FFF2-40B4-BE49-F238E27FC236}">
                <a16:creationId xmlns:a16="http://schemas.microsoft.com/office/drawing/2014/main" id="{9FE3742A-2E3C-4839-90CB-774EC859D703}"/>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0" name="Google Shape;80;p11">
            <a:extLst xmlns:a="http://schemas.openxmlformats.org/drawingml/2006/main">
              <a:ext uri="{FF2B5EF4-FFF2-40B4-BE49-F238E27FC236}">
                <a16:creationId xmlns:a16="http://schemas.microsoft.com/office/drawing/2014/main" id="{DCCFEB6D-F9E1-4B34-B38C-7A37DC179179}"/>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1" name="Google Shape;81;p11">
            <a:extLst xmlns:a="http://schemas.openxmlformats.org/drawingml/2006/main">
              <a:ext uri="{FF2B5EF4-FFF2-40B4-BE49-F238E27FC236}">
                <a16:creationId xmlns:a16="http://schemas.microsoft.com/office/drawing/2014/main" id="{61BFBD49-C078-43B3-9C44-D5E6840250C9}"/>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1.xml><?xml version="1.0" encoding="utf-8"?>
<p:sldLayout xmlns:p="http://schemas.openxmlformats.org/presentationml/2006/main" matchingName="Vertical Title and Text" type="vertTitleAndTx">
  <p:cSld name="VERTICAL_TITLE_AND_VERTICAL_TEXT">
    <p:spTree>
      <p:nvGrpSpPr>
        <p:cNvPr id="1" name=""/>
        <p:cNvGrpSpPr/>
        <p:nvPr/>
      </p:nvGrpSpPr>
      <p:grpSpPr>
        <a:xfrm xmlns:a="http://schemas.openxmlformats.org/drawingml/2006/main"/>
      </p:grpSpPr>
      <p:sp>
        <p:nvSpPr>
          <p:cNvPr id="83" name="Google Shape;83;p12">
            <a:extLst xmlns:a="http://schemas.openxmlformats.org/drawingml/2006/main">
              <a:ext uri="{FF2B5EF4-FFF2-40B4-BE49-F238E27FC236}">
                <a16:creationId xmlns:a16="http://schemas.microsoft.com/office/drawing/2014/main" id="{17D57E8B-F927-4A0C-9496-52D5CE46C6D2}"/>
              </a:ext>
            </a:extLst>
          </p:cNvPr>
          <p:cNvSpPr>
            <a:spLocks xmlns:a="http://schemas.openxmlformats.org/drawingml/2006/main" noGrp="1"/>
          </p:cNvSpPr>
          <p:nvPr>
            <p:ph type="title" idx="0"/>
          </p:nvPr>
        </p:nvSpPr>
        <p:spPr>
          <a:xfrm xmlns:a="http://schemas.openxmlformats.org/drawingml/2006/main" rot="5400000">
            <a:off x="7181850" y="2305050"/>
            <a:ext cx="5410200" cy="2324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4" name="Google Shape;84;p12">
            <a:extLst xmlns:a="http://schemas.openxmlformats.org/drawingml/2006/main">
              <a:ext uri="{FF2B5EF4-FFF2-40B4-BE49-F238E27FC236}">
                <a16:creationId xmlns:a16="http://schemas.microsoft.com/office/drawing/2014/main" id="{97B2F746-CE3C-4721-8D29-FF03CDFB1BD3}"/>
              </a:ext>
            </a:extLst>
          </p:cNvPr>
          <p:cNvSpPr>
            <a:spLocks xmlns:a="http://schemas.openxmlformats.org/drawingml/2006/main" noGrp="1"/>
          </p:cNvSpPr>
          <p:nvPr>
            <p:ph type="body" idx="1"/>
          </p:nvPr>
        </p:nvSpPr>
        <p:spPr>
          <a:xfrm xmlns:a="http://schemas.openxmlformats.org/drawingml/2006/main" rot="5400000">
            <a:off x="2152650" y="-247650"/>
            <a:ext cx="5410200" cy="7429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20040" algn="l">
              <a:lnSpc>
                <a:spcPct val="90000"/>
              </a:lnSpc>
              <a:spcBef>
                <a:spcPts val="1400"/>
              </a:spcBef>
              <a:spcAft>
                <a:spcPts val="0"/>
              </a:spcAft>
              <a:buSzPts val="1440"/>
              <a:buChar char="•"/>
              <a:defRPr/>
            </a:lvl1pPr>
            <a:lvl2pPr marL="914400" indent="-320040" algn="l">
              <a:lnSpc>
                <a:spcPct val="90000"/>
              </a:lnSpc>
              <a:spcBef>
                <a:spcPts val="200"/>
              </a:spcBef>
              <a:spcAft>
                <a:spcPts val="0"/>
              </a:spcAft>
              <a:buSzPts val="1440"/>
              <a:buChar char="•"/>
              <a:defRPr/>
            </a:lvl2pPr>
            <a:lvl3pPr marL="1371600" indent="-320039" algn="l">
              <a:lnSpc>
                <a:spcPct val="90000"/>
              </a:lnSpc>
              <a:spcBef>
                <a:spcPts val="400"/>
              </a:spcBef>
              <a:spcAft>
                <a:spcPts val="0"/>
              </a:spcAft>
              <a:buSzPts val="1440"/>
              <a:buChar char="•"/>
              <a:defRPr/>
            </a:lvl3pPr>
            <a:lvl4pPr marL="1828800" indent="-320039" algn="l">
              <a:lnSpc>
                <a:spcPct val="90000"/>
              </a:lnSpc>
              <a:spcBef>
                <a:spcPts val="400"/>
              </a:spcBef>
              <a:spcAft>
                <a:spcPts val="0"/>
              </a:spcAft>
              <a:buSzPts val="1440"/>
              <a:buChar char="•"/>
              <a:defRPr/>
            </a:lvl4pPr>
            <a:lvl5pPr marL="2286000" indent="-320039" algn="l">
              <a:lnSpc>
                <a:spcPct val="90000"/>
              </a:lnSpc>
              <a:spcBef>
                <a:spcPts val="400"/>
              </a:spcBef>
              <a:spcAft>
                <a:spcPts val="0"/>
              </a:spcAft>
              <a:buSzPts val="1440"/>
              <a:buChar char="•"/>
              <a:defRPr/>
            </a:lvl5pPr>
            <a:lvl6pPr marL="2743200" indent="-320039" algn="l">
              <a:lnSpc>
                <a:spcPct val="90000"/>
              </a:lnSpc>
              <a:spcBef>
                <a:spcPts val="400"/>
              </a:spcBef>
              <a:spcAft>
                <a:spcPts val="0"/>
              </a:spcAft>
              <a:buSzPts val="1440"/>
              <a:buChar char="•"/>
              <a:defRPr/>
            </a:lvl6pPr>
            <a:lvl7pPr marL="3200400" indent="-320039" algn="l">
              <a:lnSpc>
                <a:spcPct val="90000"/>
              </a:lnSpc>
              <a:spcBef>
                <a:spcPts val="400"/>
              </a:spcBef>
              <a:spcAft>
                <a:spcPts val="0"/>
              </a:spcAft>
              <a:buSzPts val="1440"/>
              <a:buChar char="•"/>
              <a:defRPr/>
            </a:lvl7pPr>
            <a:lvl8pPr marL="3657600" indent="-320040" algn="l">
              <a:lnSpc>
                <a:spcPct val="90000"/>
              </a:lnSpc>
              <a:spcBef>
                <a:spcPts val="400"/>
              </a:spcBef>
              <a:spcAft>
                <a:spcPts val="0"/>
              </a:spcAft>
              <a:buSzPts val="1440"/>
              <a:buChar char="•"/>
              <a:defRPr/>
            </a:lvl8pPr>
            <a:lvl9pPr marL="4114800" indent="-320040" algn="l">
              <a:lnSpc>
                <a:spcPct val="90000"/>
              </a:lnSpc>
              <a:spcBef>
                <a:spcPts val="400"/>
              </a:spcBef>
              <a:spcAft>
                <a:spcPts val="400"/>
              </a:spcAft>
              <a:buSzPts val="1440"/>
              <a:buChar char="•"/>
              <a:defRPr/>
            </a:lvl9pPr>
          </a:lstStyle>
          <a:p xmlns:a="http://schemas.openxmlformats.org/drawingml/2006/main">
            <a:endParaRPr/>
          </a:p>
        </p:txBody>
      </p:sp>
      <p:sp>
        <p:nvSpPr>
          <p:cNvPr id="85" name="Google Shape;85;p12">
            <a:extLst xmlns:a="http://schemas.openxmlformats.org/drawingml/2006/main">
              <a:ext uri="{FF2B5EF4-FFF2-40B4-BE49-F238E27FC236}">
                <a16:creationId xmlns:a16="http://schemas.microsoft.com/office/drawing/2014/main" id="{C5B234B9-E110-4BA3-937C-DCF7DDB12F94}"/>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6" name="Google Shape;86;p12">
            <a:extLst xmlns:a="http://schemas.openxmlformats.org/drawingml/2006/main">
              <a:ext uri="{FF2B5EF4-FFF2-40B4-BE49-F238E27FC236}">
                <a16:creationId xmlns:a16="http://schemas.microsoft.com/office/drawing/2014/main" id="{936C881C-947F-49E4-916B-70D53C631E6D}"/>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7" name="Google Shape;87;p12">
            <a:extLst xmlns:a="http://schemas.openxmlformats.org/drawingml/2006/main">
              <a:ext uri="{FF2B5EF4-FFF2-40B4-BE49-F238E27FC236}">
                <a16:creationId xmlns:a16="http://schemas.microsoft.com/office/drawing/2014/main" id="{97C09B98-C1AD-4688-94AB-81DBD1FF230E}"/>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6b212836e8444da" /><Relationship Type="http://schemas.openxmlformats.org/officeDocument/2006/relationships/slideLayout" Target="/ppt/slideLayouts/slideLayout1.xml" Id="R84109b743fce407b" /><Relationship Type="http://schemas.openxmlformats.org/officeDocument/2006/relationships/slideLayout" Target="/ppt/slideLayouts/slideLayout2.xml" Id="R815bc98a35b7478c" /><Relationship Type="http://schemas.openxmlformats.org/officeDocument/2006/relationships/slideLayout" Target="/ppt/slideLayouts/slideLayout3.xml" Id="R2dd9203133294bb4" /><Relationship Type="http://schemas.openxmlformats.org/officeDocument/2006/relationships/slideLayout" Target="/ppt/slideLayouts/slideLayout4.xml" Id="Re381a3ccf7474da8" /><Relationship Type="http://schemas.openxmlformats.org/officeDocument/2006/relationships/slideLayout" Target="/ppt/slideLayouts/slideLayout5.xml" Id="R705a21981b134d1c" /><Relationship Type="http://schemas.openxmlformats.org/officeDocument/2006/relationships/slideLayout" Target="/ppt/slideLayouts/slideLayout6.xml" Id="R35e4808c20b7482c" /><Relationship Type="http://schemas.openxmlformats.org/officeDocument/2006/relationships/slideLayout" Target="/ppt/slideLayouts/slideLayout7.xml" Id="R4d4757b0425f4aef" /><Relationship Type="http://schemas.openxmlformats.org/officeDocument/2006/relationships/slideLayout" Target="/ppt/slideLayouts/slideLayout8.xml" Id="R39505cd453e24b23" /><Relationship Type="http://schemas.openxmlformats.org/officeDocument/2006/relationships/slideLayout" Target="/ppt/slideLayouts/slideLayout9.xml" Id="R914d07871fd845bd" /><Relationship Type="http://schemas.openxmlformats.org/officeDocument/2006/relationships/slideLayout" Target="/ppt/slideLayouts/slideLayout10.xml" Id="R93ea010d0bc24874" /><Relationship Type="http://schemas.openxmlformats.org/officeDocument/2006/relationships/slideLayout" Target="/ppt/slideLayouts/slideLayout11.xml" Id="Rc19144609f384d51" /></Relationships>
</file>

<file path=ppt/slideMasters/slideMaster1.xml><?xml version="1.0" encoding="utf-8"?>
<p:sldMaster xmlns:p="http://schemas.openxmlformats.org/presentationml/2006/main">
  <p:cSld>
    <p:bg>
      <p:bgPr>
        <a:solidFill xmlns:a="http://schemas.openxmlformats.org/drawingml/2006/main">
          <a:schemeClr val="lt1"/>
        </a:solidFill>
      </p:bgPr>
    </p:bg>
    <p:spTree>
      <p:nvGrpSpPr>
        <p:cNvPr id="1" name=""/>
        <p:cNvGrpSpPr/>
        <p:nvPr/>
      </p:nvGrpSpPr>
      <p:grpSpPr>
        <a:xfrm xmlns:a="http://schemas.openxmlformats.org/drawingml/2006/main"/>
      </p:grpSpPr>
      <p:sp>
        <p:nvSpPr>
          <p:cNvPr id="10" name="Google Shape;10;p1">
            <a:extLst xmlns:a="http://schemas.openxmlformats.org/drawingml/2006/main">
              <a:ext uri="{FF2B5EF4-FFF2-40B4-BE49-F238E27FC236}">
                <a16:creationId xmlns:a16="http://schemas.microsoft.com/office/drawing/2014/main" id="{4A910320-64AF-41C6-B724-6D533C7C6A5B}"/>
              </a:ext>
            </a:extLst>
          </p:cNvPr>
          <p:cNvSpPr>
            <a:spLocks xmlns:a="http://schemas.openxmlformats.org/drawingml/2006/main" noGrp="1"/>
          </p:cNvSpPr>
          <p:nvPr/>
        </p:nvSpPr>
        <p:spPr>
          <a:xfrm xmlns:a="http://schemas.openxmlformats.org/drawingml/2006/main">
            <a:off x="231140" y="243840"/>
            <a:ext cx="11724640" cy="6377939"/>
          </a:xfrm>
          <a:prstGeom xmlns:a="http://schemas.openxmlformats.org/drawingml/2006/main" prst="rect">
            <a:avLst/>
          </a:prstGeom>
          <a:solidFill xmlns:a="http://schemas.openxmlformats.org/drawingml/2006/main">
            <a:schemeClr val="lt1"/>
          </a:solidFill>
          <a:ln xmlns:a="http://schemas.openxmlformats.org/drawingml/2006/main" w="12700" cmpd="sng">
            <a:solidFill>
              <a:schemeClr val="dk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11" name="Google Shape;11;p1">
            <a:extLst xmlns:a="http://schemas.openxmlformats.org/drawingml/2006/main">
              <a:ext uri="{FF2B5EF4-FFF2-40B4-BE49-F238E27FC236}">
                <a16:creationId xmlns:a16="http://schemas.microsoft.com/office/drawing/2014/main" id="{A45123B7-A767-42E9-9BA9-6A84E1CD867A}"/>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marR="0" algn="l">
              <a:lnSpc>
                <a:spcPct val="90000"/>
              </a:lnSpc>
              <a:spcBef>
                <a:spcPts val="0"/>
              </a:spcBef>
              <a:spcAft>
                <a:spcPts val="0"/>
              </a:spcAft>
              <a:buClr>
                <a:schemeClr val="dk1"/>
              </a:buClr>
              <a:buSzPts val="4400"/>
              <a:buFont typeface="Corbel"/>
              <a:buNone/>
              <a:defRPr sz="4400" b="0" i="0" u="none" cap="none">
                <a:solidFill>
                  <a:schemeClr val="dk1"/>
                </a:solidFill>
                <a:latin typeface="Corbel"/>
                <a:ea typeface="Corbel"/>
                <a:cs typeface="Corbel"/>
              </a:defRPr>
            </a:lvl1pPr>
            <a:lvl2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2pPr>
            <a:lvl3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3pPr>
            <a:lvl4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4pPr>
            <a:lvl5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5pPr>
            <a:lvl6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6pPr>
            <a:lvl7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7pPr>
            <a:lvl8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8pPr>
            <a:lvl9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9pPr>
          </a:lstStyle>
          <a:p xmlns:a="http://schemas.openxmlformats.org/drawingml/2006/main">
            <a:endParaRPr/>
          </a:p>
        </p:txBody>
      </p:sp>
      <p:sp>
        <p:nvSpPr>
          <p:cNvPr id="12" name="Google Shape;12;p1">
            <a:extLst xmlns:a="http://schemas.openxmlformats.org/drawingml/2006/main">
              <a:ext uri="{FF2B5EF4-FFF2-40B4-BE49-F238E27FC236}">
                <a16:creationId xmlns:a16="http://schemas.microsoft.com/office/drawing/2014/main" id="{FEFC9674-3380-4A29-B556-22D7F8C1635F}"/>
              </a:ext>
            </a:extLst>
          </p:cNvPr>
          <p:cNvSpPr>
            <a:spLocks xmlns:a="http://schemas.openxmlformats.org/drawingml/2006/main" noGrp="1"/>
          </p:cNvSpPr>
          <p:nvPr>
            <p:ph type="body" idx="1"/>
          </p:nvPr>
        </p:nvSpPr>
        <p:spPr>
          <a:xfrm xmlns:a="http://schemas.openxmlformats.org/drawingml/2006/main">
            <a:off x="1143000" y="2057400"/>
            <a:ext cx="9872871" cy="403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marR="0" indent="-340360" algn="l">
              <a:lnSpc>
                <a:spcPct val="90000"/>
              </a:lnSpc>
              <a:spcBef>
                <a:spcPts val="1400"/>
              </a:spcBef>
              <a:spcAft>
                <a:spcPts val="0"/>
              </a:spcAft>
              <a:buClr>
                <a:schemeClr val="dk1"/>
              </a:buClr>
              <a:buSzPts val="1760"/>
              <a:buFont typeface="Corbel"/>
              <a:buChar char="•"/>
              <a:defRPr sz="2200" b="0" i="0" u="none" cap="none">
                <a:solidFill>
                  <a:schemeClr val="dk1"/>
                </a:solidFill>
                <a:latin typeface="Corbel"/>
                <a:ea typeface="Corbel"/>
                <a:cs typeface="Corbel"/>
              </a:defRPr>
            </a:lvl1pPr>
            <a:lvl2pPr marL="914400" marR="0" indent="-330200" algn="l">
              <a:lnSpc>
                <a:spcPct val="90000"/>
              </a:lnSpc>
              <a:spcBef>
                <a:spcPts val="200"/>
              </a:spcBef>
              <a:spcAft>
                <a:spcPts val="0"/>
              </a:spcAft>
              <a:buClr>
                <a:schemeClr val="dk1"/>
              </a:buClr>
              <a:buSzPts val="1600"/>
              <a:buFont typeface="Corbel"/>
              <a:buChar char="•"/>
              <a:defRPr sz="2000" b="0" i="0" u="none" cap="none">
                <a:solidFill>
                  <a:schemeClr val="dk1"/>
                </a:solidFill>
                <a:latin typeface="Corbel"/>
                <a:ea typeface="Corbel"/>
                <a:cs typeface="Corbel"/>
              </a:defRPr>
            </a:lvl2pPr>
            <a:lvl3pPr marL="1371600" marR="0" indent="-320039" algn="l">
              <a:lnSpc>
                <a:spcPct val="90000"/>
              </a:lnSpc>
              <a:spcBef>
                <a:spcPts val="400"/>
              </a:spcBef>
              <a:spcAft>
                <a:spcPts val="0"/>
              </a:spcAft>
              <a:buClr>
                <a:schemeClr val="dk1"/>
              </a:buClr>
              <a:buSzPts val="1440"/>
              <a:buFont typeface="Corbel"/>
              <a:buChar char="•"/>
              <a:defRPr sz="1800" b="0" i="0" u="none" cap="none">
                <a:solidFill>
                  <a:schemeClr val="dk1"/>
                </a:solidFill>
                <a:latin typeface="Corbel"/>
                <a:ea typeface="Corbel"/>
                <a:cs typeface="Corbel"/>
              </a:defRPr>
            </a:lvl3pPr>
            <a:lvl4pPr marL="1828800" marR="0" indent="-309880"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4pPr>
            <a:lvl5pPr marL="2286000" marR="0" indent="-309879"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5pPr>
            <a:lvl6pPr marL="2743200" marR="0" indent="-309879"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6pPr>
            <a:lvl7pPr marL="3200400" marR="0" indent="-309879"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7pPr>
            <a:lvl8pPr marL="3657600" marR="0" indent="-309879"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8pPr>
            <a:lvl9pPr marL="4114800" marR="0" indent="-309879" algn="l">
              <a:lnSpc>
                <a:spcPct val="90000"/>
              </a:lnSpc>
              <a:spcBef>
                <a:spcPts val="400"/>
              </a:spcBef>
              <a:spcAft>
                <a:spcPts val="400"/>
              </a:spcAft>
              <a:buClr>
                <a:schemeClr val="dk1"/>
              </a:buClr>
              <a:buSzPts val="1280"/>
              <a:buFont typeface="Corbel"/>
              <a:buChar char="•"/>
              <a:defRPr sz="1600" b="0" i="0" u="none" cap="none">
                <a:solidFill>
                  <a:schemeClr val="dk1"/>
                </a:solidFill>
                <a:latin typeface="Corbel"/>
                <a:ea typeface="Corbel"/>
                <a:cs typeface="Corbel"/>
              </a:defRPr>
            </a:lvl9pPr>
          </a:lstStyle>
          <a:p xmlns:a="http://schemas.openxmlformats.org/drawingml/2006/main">
            <a:endParaRPr/>
          </a:p>
        </p:txBody>
      </p:sp>
      <p:sp>
        <p:nvSpPr>
          <p:cNvPr id="13" name="Google Shape;13;p1">
            <a:extLst xmlns:a="http://schemas.openxmlformats.org/drawingml/2006/main">
              <a:ext uri="{FF2B5EF4-FFF2-40B4-BE49-F238E27FC236}">
                <a16:creationId xmlns:a16="http://schemas.microsoft.com/office/drawing/2014/main" id="{10E6EE13-9D4C-486C-8058-3BA2696D9AE9}"/>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R="0" algn="l">
              <a:lnSpc>
                <a:spcPct val="100000"/>
              </a:lnSpc>
              <a:spcBef>
                <a:spcPts val="0"/>
              </a:spcBef>
              <a:spcAft>
                <a:spcPts val="0"/>
              </a:spcAft>
              <a:buClr>
                <a:srgbClr val="000000"/>
              </a:buClr>
              <a:buSzPts val="1400"/>
              <a:buFont typeface="Arial"/>
              <a:buNone/>
              <a:defRPr sz="1200" b="0" i="0" u="none" cap="none">
                <a:solidFill>
                  <a:schemeClr val="dk1"/>
                </a:solidFill>
                <a:latin typeface="Corbel"/>
                <a:ea typeface="Corbel"/>
                <a:cs typeface="Corbel"/>
              </a:defRPr>
            </a:lvl1pPr>
            <a:lvl2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2pPr>
            <a:lvl3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3pPr>
            <a:lvl4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4pPr>
            <a:lvl5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5pPr>
            <a:lvl6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6pPr>
            <a:lvl7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7pPr>
            <a:lvl8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8pPr>
            <a:lvl9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9pPr>
          </a:lstStyle>
          <a:p xmlns:a="http://schemas.openxmlformats.org/drawingml/2006/main">
            <a:endParaRPr/>
          </a:p>
        </p:txBody>
      </p:sp>
      <p:sp>
        <p:nvSpPr>
          <p:cNvPr id="14" name="Google Shape;14;p1">
            <a:extLst xmlns:a="http://schemas.openxmlformats.org/drawingml/2006/main">
              <a:ext uri="{FF2B5EF4-FFF2-40B4-BE49-F238E27FC236}">
                <a16:creationId xmlns:a16="http://schemas.microsoft.com/office/drawing/2014/main" id="{CAF8DEDC-38CB-4BB0-92BD-088BD67C6DE8}"/>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R="0" algn="ctr">
              <a:lnSpc>
                <a:spcPct val="100000"/>
              </a:lnSpc>
              <a:spcBef>
                <a:spcPts val="0"/>
              </a:spcBef>
              <a:spcAft>
                <a:spcPts val="0"/>
              </a:spcAft>
              <a:buClr>
                <a:srgbClr val="000000"/>
              </a:buClr>
              <a:buSzPts val="1400"/>
              <a:buFont typeface="Arial"/>
              <a:buNone/>
              <a:defRPr sz="1200" b="0" i="0" u="none" cap="none">
                <a:solidFill>
                  <a:schemeClr val="dk1"/>
                </a:solidFill>
                <a:latin typeface="Corbel"/>
                <a:ea typeface="Corbel"/>
                <a:cs typeface="Corbel"/>
              </a:defRPr>
            </a:lvl1pPr>
            <a:lvl2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2pPr>
            <a:lvl3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3pPr>
            <a:lvl4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4pPr>
            <a:lvl5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5pPr>
            <a:lvl6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6pPr>
            <a:lvl7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7pPr>
            <a:lvl8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8pPr>
            <a:lvl9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9pPr>
          </a:lstStyle>
          <a:p xmlns:a="http://schemas.openxmlformats.org/drawingml/2006/main">
            <a:endParaRPr/>
          </a:p>
        </p:txBody>
      </p:sp>
      <p:sp>
        <p:nvSpPr>
          <p:cNvPr id="15" name="Google Shape;15;p1">
            <a:extLst xmlns:a="http://schemas.openxmlformats.org/drawingml/2006/main">
              <a:ext uri="{FF2B5EF4-FFF2-40B4-BE49-F238E27FC236}">
                <a16:creationId xmlns:a16="http://schemas.microsoft.com/office/drawing/2014/main" id="{3D188BE8-38E8-4AFD-868E-F034EB790649}"/>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84109b743fce407b"/>
    <p:sldLayoutId xmlns:r="http://schemas.openxmlformats.org/officeDocument/2006/relationships" id="2147483650" r:id="R815bc98a35b7478c"/>
    <p:sldLayoutId xmlns:r="http://schemas.openxmlformats.org/officeDocument/2006/relationships" id="2147483651" r:id="R2dd9203133294bb4"/>
    <p:sldLayoutId xmlns:r="http://schemas.openxmlformats.org/officeDocument/2006/relationships" id="2147483652" r:id="Re381a3ccf7474da8"/>
    <p:sldLayoutId xmlns:r="http://schemas.openxmlformats.org/officeDocument/2006/relationships" id="2147483653" r:id="R705a21981b134d1c"/>
    <p:sldLayoutId xmlns:r="http://schemas.openxmlformats.org/officeDocument/2006/relationships" id="2147483654" r:id="R35e4808c20b7482c"/>
    <p:sldLayoutId xmlns:r="http://schemas.openxmlformats.org/officeDocument/2006/relationships" id="2147483655" r:id="R4d4757b0425f4aef"/>
    <p:sldLayoutId xmlns:r="http://schemas.openxmlformats.org/officeDocument/2006/relationships" id="2147483656" r:id="R39505cd453e24b23"/>
    <p:sldLayoutId xmlns:r="http://schemas.openxmlformats.org/officeDocument/2006/relationships" id="2147483657" r:id="R914d07871fd845bd"/>
    <p:sldLayoutId xmlns:r="http://schemas.openxmlformats.org/officeDocument/2006/relationships" id="2147483658" r:id="R93ea010d0bc24874"/>
    <p:sldLayoutId xmlns:r="http://schemas.openxmlformats.org/officeDocument/2006/relationships" id="2147483659" r:id="Rc19144609f384d51"/>
  </p:sldLayoutIdLst>
  <p:hf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Basis">
  <a:themeElements>
    <a:clrScheme name="Basis">
      <a:dk1>
        <a:srgbClr val="000000"/>
      </a:dk1>
      <a:lt1>
        <a:srgbClr val="FFFFFF"/>
      </a:lt1>
      <a:dk2>
        <a:srgbClr val="565349"/>
      </a:dk2>
      <a:lt2>
        <a:srgbClr val="DDDDDD"/>
      </a:lt2>
      <a:accent1>
        <a:srgbClr val="A6B727"/>
      </a:accent1>
      <a:accent2>
        <a:srgbClr val="DF5327"/>
      </a:accent2>
      <a:accent3>
        <a:srgbClr val="FE9E00"/>
      </a:accent3>
      <a:accent4>
        <a:srgbClr val="418AB3"/>
      </a:accent4>
      <a:accent5>
        <a:srgbClr val="D7D447"/>
      </a:accent5>
      <a:accent6>
        <a:srgbClr val="818183"/>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as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bce13900380414d" /><Relationship Type="http://schemas.openxmlformats.org/officeDocument/2006/relationships/image" Target="/ppt/media/image.png" Id="Rcdd1845e5c394cc6" /><Relationship Type="http://schemas.openxmlformats.org/officeDocument/2006/relationships/image" Target="/ppt/media/image2.png" Id="Rce25ad152863482b" /><Relationship Type="http://schemas.openxmlformats.org/officeDocument/2006/relationships/notesSlide" Target="/ppt/notesSlides/notesSlide1.xml" Id="Rabf39b63dce6455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41729bbc4ab4529" /><Relationship Type="http://schemas.openxmlformats.org/officeDocument/2006/relationships/image" Target="/ppt/media/image.jpeg" Id="R6d01e26135444fdd" /><Relationship Type="http://schemas.openxmlformats.org/officeDocument/2006/relationships/image" Target="/ppt/media/image2.png" Id="R5ee83aaa92af4c27" /><Relationship Type="http://schemas.openxmlformats.org/officeDocument/2006/relationships/notesSlide" Target="/ppt/notesSlides/notesSlide2.xml" Id="Rd70f9169700f48fc"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5dc83adbda5144d5" /><Relationship Type="http://schemas.openxmlformats.org/officeDocument/2006/relationships/image" Target="/ppt/media/image.jpeg" Id="R48fc95ec14b9422a" /><Relationship Type="http://schemas.openxmlformats.org/officeDocument/2006/relationships/image" Target="/ppt/media/image2.png" Id="R9b7a0c7ab3d5437e" /><Relationship Type="http://schemas.openxmlformats.org/officeDocument/2006/relationships/image" Target="/ppt/media/image3.png" Id="R5ba0726b91284f4e" /><Relationship Type="http://schemas.openxmlformats.org/officeDocument/2006/relationships/image" Target="/ppt/media/image4.png" Id="Raf62e39b69994366" /><Relationship Type="http://schemas.openxmlformats.org/officeDocument/2006/relationships/notesSlide" Target="/ppt/notesSlides/notesSlide3.xml" Id="R53ec63f313654ed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1ede74a22854f41" /><Relationship Type="http://schemas.openxmlformats.org/officeDocument/2006/relationships/image" Target="/ppt/media/image.jpeg" Id="R3cfcafbf5c104f07" /><Relationship Type="http://schemas.openxmlformats.org/officeDocument/2006/relationships/image" Target="/ppt/media/image2.png" Id="Ra9c39b134ab24dae" /><Relationship Type="http://schemas.openxmlformats.org/officeDocument/2006/relationships/image" Target="/ppt/media/image5.png" Id="Raa62071b24d646fe" /><Relationship Type="http://schemas.openxmlformats.org/officeDocument/2006/relationships/notesSlide" Target="/ppt/notesSlides/notesSlide4.xml" Id="R35e166ca42c9486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13cf1d7acff44f9" /><Relationship Type="http://schemas.openxmlformats.org/officeDocument/2006/relationships/image" Target="/ppt/media/image.jpeg" Id="Rdc94f442bb7e4267" /><Relationship Type="http://schemas.openxmlformats.org/officeDocument/2006/relationships/image" Target="/ppt/media/image2.png" Id="Rc88ed8dd6b1c4eba" /><Relationship Type="http://schemas.openxmlformats.org/officeDocument/2006/relationships/notesSlide" Target="/ppt/notesSlides/notesSlide5.xml" Id="R4c3cd7ba618f4ba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cadf5d3567642a1" /><Relationship Type="http://schemas.openxmlformats.org/officeDocument/2006/relationships/image" Target="/ppt/media/image.jpeg" Id="Rc3daf9b3b3454053" /><Relationship Type="http://schemas.openxmlformats.org/officeDocument/2006/relationships/image" Target="/ppt/media/image2.png" Id="Rf47ec9c20d1e4c6a" /><Relationship Type="http://schemas.openxmlformats.org/officeDocument/2006/relationships/notesSlide" Target="/ppt/notesSlides/notesSlide6.xml" Id="R974552ca633a4e4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4f93816d7cc44a2" /><Relationship Type="http://schemas.openxmlformats.org/officeDocument/2006/relationships/image" Target="/ppt/media/image.jpeg" Id="Rcfc8b2dd1a8942a2" /><Relationship Type="http://schemas.openxmlformats.org/officeDocument/2006/relationships/image" Target="/ppt/media/image2.png" Id="R6d76667e2f3441fb" /><Relationship Type="http://schemas.openxmlformats.org/officeDocument/2006/relationships/chart" Target="/ppt/slides/charts/chart1.xml" Id="Rbaa20d6c4cdd4f0a" /><Relationship Type="http://schemas.openxmlformats.org/officeDocument/2006/relationships/notesSlide" Target="/ppt/notesSlides/notesSlide7.xml" Id="Ra04204264b204a63"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a329015d16f4c2c" /><Relationship Type="http://schemas.openxmlformats.org/officeDocument/2006/relationships/image" Target="/ppt/media/image.jpeg" Id="R7e6d11bb5b274ad9" /><Relationship Type="http://schemas.openxmlformats.org/officeDocument/2006/relationships/image" Target="/ppt/media/image2.png" Id="Ra2c16762e70f48d5" /><Relationship Type="http://schemas.openxmlformats.org/officeDocument/2006/relationships/notesSlide" Target="/ppt/notesSlides/notesSlide8.xml" Id="R95a99e4a1b1a4a14"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2033ce279c8143b4" /><Relationship Type="http://schemas.openxmlformats.org/officeDocument/2006/relationships/image" Target="/ppt/media/image.jpeg" Id="Rb26e25db33b44fa2" /><Relationship Type="http://schemas.openxmlformats.org/officeDocument/2006/relationships/image" Target="/ppt/media/image2.png" Id="R3639876fa5e14ef4" /><Relationship Type="http://schemas.openxmlformats.org/officeDocument/2006/relationships/notesSlide" Target="/ppt/notesSlides/notesSlide9.xml" Id="Raa7ed2fdb9d1404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c3b8a5aa2bfc4ae2" /><Relationship Type="http://schemas.openxmlformats.org/officeDocument/2006/relationships/image" Target="/ppt/media/image.jpeg" Id="R7a30e22daacf4152" /><Relationship Type="http://schemas.openxmlformats.org/officeDocument/2006/relationships/image" Target="/ppt/media/image2.png" Id="R6089307ab50446fa" /><Relationship Type="http://schemas.openxmlformats.org/officeDocument/2006/relationships/image" Target="/ppt/media/image3.png" Id="R285988f612304b0f" /><Relationship Type="http://schemas.openxmlformats.org/officeDocument/2006/relationships/image" Target="/ppt/media/image6.png" Id="R2a1816b82b484458" /><Relationship Type="http://schemas.openxmlformats.org/officeDocument/2006/relationships/notesSlide" Target="/ppt/notesSlides/notesSlide10.xml" Id="R6bc92c0d913a46d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b2ccec275c274e22" /><Relationship Type="http://schemas.openxmlformats.org/officeDocument/2006/relationships/image" Target="/ppt/media/image.jpeg" Id="R5043b8d745b64608" /><Relationship Type="http://schemas.openxmlformats.org/officeDocument/2006/relationships/image" Target="/ppt/media/image2.png" Id="R6dd52f8622344e3d" /><Relationship Type="http://schemas.openxmlformats.org/officeDocument/2006/relationships/notesSlide" Target="/ppt/notesSlides/notesSlide11.xml" Id="Rec8cc4c770ee4de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c75722d1c6f44910" /><Relationship Type="http://schemas.openxmlformats.org/officeDocument/2006/relationships/image" Target="/ppt/media/image.jpeg" Id="R83582ec966864b1f" /><Relationship Type="http://schemas.openxmlformats.org/officeDocument/2006/relationships/image" Target="/ppt/media/image2.png" Id="R52e33c2f76874cfc" /><Relationship Type="http://schemas.openxmlformats.org/officeDocument/2006/relationships/notesSlide" Target="/ppt/notesSlides/notesSlide12.xml" Id="R81b9279843cd4aa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b2291dab4a2c4958" /><Relationship Type="http://schemas.openxmlformats.org/officeDocument/2006/relationships/image" Target="/ppt/media/image.jpeg" Id="R2d19b3696bc84ad9" /><Relationship Type="http://schemas.openxmlformats.org/officeDocument/2006/relationships/image" Target="/ppt/media/image2.png" Id="R6087c583fe554a46" /><Relationship Type="http://schemas.openxmlformats.org/officeDocument/2006/relationships/notesSlide" Target="/ppt/notesSlides/notesSlide13.xml" Id="Rd9246af1d86e42a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8c50a556bf1f47c3" /><Relationship Type="http://schemas.openxmlformats.org/officeDocument/2006/relationships/image" Target="/ppt/media/image.jpeg" Id="Rd76dee4c3899494a" /><Relationship Type="http://schemas.openxmlformats.org/officeDocument/2006/relationships/image" Target="/ppt/media/image2.png" Id="R637b5781c72d4aa3" /><Relationship Type="http://schemas.openxmlformats.org/officeDocument/2006/relationships/notesSlide" Target="/ppt/notesSlides/notesSlide14.xml" Id="R61733fe755de43a3"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b27da7062deb4a2a" /><Relationship Type="http://schemas.openxmlformats.org/officeDocument/2006/relationships/image" Target="/ppt/media/image.jpeg" Id="Rfbfafdbcfbc544de" /><Relationship Type="http://schemas.openxmlformats.org/officeDocument/2006/relationships/image" Target="/ppt/media/image2.png" Id="Rb3061e53bb93416a" /><Relationship Type="http://schemas.openxmlformats.org/officeDocument/2006/relationships/notesSlide" Target="/ppt/notesSlides/notesSlide15.xml" Id="Rfcd7fb8f22b34a3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aebca40ab8a84f99" /><Relationship Type="http://schemas.openxmlformats.org/officeDocument/2006/relationships/image" Target="/ppt/media/image.jpeg" Id="Rf657dbeb1faf4c7d" /><Relationship Type="http://schemas.openxmlformats.org/officeDocument/2006/relationships/image" Target="/ppt/media/image2.png" Id="R460d95454c2d4c8d" /><Relationship Type="http://schemas.openxmlformats.org/officeDocument/2006/relationships/notesSlide" Target="/ppt/notesSlides/notesSlide16.xml" Id="R62b6d2bf33b64e16" /></Relationships>
</file>

<file path=ppt/slides/_rels/slide17.xml.rels>&#65279;<?xml version="1.0" encoding="utf-8"?><Relationships xmlns="http://schemas.openxmlformats.org/package/2006/relationships"><Relationship Type="http://schemas.openxmlformats.org/officeDocument/2006/relationships/slideLayout" Target="/ppt/slideLayouts/slideLayout2.xml" Id="Rec13875f26b8486e" /><Relationship Type="http://schemas.openxmlformats.org/officeDocument/2006/relationships/image" Target="/ppt/media/image.jpeg" Id="R491c7bdf7d0f48a7" /><Relationship Type="http://schemas.openxmlformats.org/officeDocument/2006/relationships/image" Target="/ppt/media/image2.png" Id="Rc93f2097ad0c40b4" /><Relationship Type="http://schemas.openxmlformats.org/officeDocument/2006/relationships/image" Target="/ppt/media/image3.png" Id="R39d215874839450a" /><Relationship Type="http://schemas.openxmlformats.org/officeDocument/2006/relationships/image" Target="/ppt/media/image7.png" Id="Ra5ab65f1aad94748" /><Relationship Type="http://schemas.openxmlformats.org/officeDocument/2006/relationships/notesSlide" Target="/ppt/notesSlides/notesSlide17.xml" Id="Rd8dc150972874ccb"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dbc045f0d4004a7e" /><Relationship Type="http://schemas.openxmlformats.org/officeDocument/2006/relationships/image" Target="/ppt/media/image.jpeg" Id="R896fffa171e84840" /><Relationship Type="http://schemas.openxmlformats.org/officeDocument/2006/relationships/image" Target="/ppt/media/image2.png" Id="Rfd5bbc2526724c75" /><Relationship Type="http://schemas.openxmlformats.org/officeDocument/2006/relationships/image" Target="/ppt/media/image8.png" Id="R52248c888b9743d8" /><Relationship Type="http://schemas.openxmlformats.org/officeDocument/2006/relationships/image" Target="/ppt/media/image9.png" Id="R2904054a2389484d" /><Relationship Type="http://schemas.openxmlformats.org/officeDocument/2006/relationships/notesSlide" Target="/ppt/notesSlides/notesSlide18.xml" Id="Re480bf242ef44585"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38ed5b411dc44a40" /><Relationship Type="http://schemas.openxmlformats.org/officeDocument/2006/relationships/image" Target="/ppt/media/image.jpeg" Id="R94086055a20545d5" /><Relationship Type="http://schemas.openxmlformats.org/officeDocument/2006/relationships/image" Target="/ppt/media/image2.png" Id="R422846396c96444e" /><Relationship Type="http://schemas.openxmlformats.org/officeDocument/2006/relationships/image" Target="/ppt/media/image8.png" Id="Rd827fea38a8f4e79" /><Relationship Type="http://schemas.openxmlformats.org/officeDocument/2006/relationships/image" Target="/ppt/media/image10.png" Id="R80486b407b6a460a" /><Relationship Type="http://schemas.openxmlformats.org/officeDocument/2006/relationships/notesSlide" Target="/ppt/notesSlides/notesSlide19.xml" Id="Rf6fd8dd9b53c426b"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4ce608b8c38247a2" /><Relationship Type="http://schemas.openxmlformats.org/officeDocument/2006/relationships/image" Target="/ppt/media/image.jpeg" Id="R9510d6b4d57a4eff" /><Relationship Type="http://schemas.openxmlformats.org/officeDocument/2006/relationships/image" Target="/ppt/media/image2.png" Id="Ra97ee71bdeb645c2" /><Relationship Type="http://schemas.openxmlformats.org/officeDocument/2006/relationships/notesSlide" Target="/ppt/notesSlides/notesSlide20.xml" Id="R5d0775d2e5694096"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828e5826c71649f9" /><Relationship Type="http://schemas.openxmlformats.org/officeDocument/2006/relationships/image" Target="/ppt/media/image.jpeg" Id="Rdbb003cc8f2f4cac" /><Relationship Type="http://schemas.openxmlformats.org/officeDocument/2006/relationships/image" Target="/ppt/media/image2.png" Id="R17f4e3ab931049ac" /><Relationship Type="http://schemas.openxmlformats.org/officeDocument/2006/relationships/notesSlide" Target="/ppt/notesSlides/notesSlide21.xml" Id="Rdc49e6f026f84e63"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449c75c5e5264e37" /><Relationship Type="http://schemas.openxmlformats.org/officeDocument/2006/relationships/image" Target="/ppt/media/image.jpeg" Id="R09f81688ae0e4f63" /><Relationship Type="http://schemas.openxmlformats.org/officeDocument/2006/relationships/image" Target="/ppt/media/image2.png" Id="R9f64aab7edba4fe0" /><Relationship Type="http://schemas.openxmlformats.org/officeDocument/2006/relationships/notesSlide" Target="/ppt/notesSlides/notesSlide22.xml" Id="R73a34c568b554bc6"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4c8872d6fe3641de" /><Relationship Type="http://schemas.openxmlformats.org/officeDocument/2006/relationships/image" Target="/ppt/media/image.jpeg" Id="R25b3d5fb3fe34308" /><Relationship Type="http://schemas.openxmlformats.org/officeDocument/2006/relationships/image" Target="/ppt/media/image2.png" Id="Re313a9975bcb4370" /><Relationship Type="http://schemas.openxmlformats.org/officeDocument/2006/relationships/notesSlide" Target="/ppt/notesSlides/notesSlide23.xml" Id="R48c75200e22343af"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54cae24d84224ff9" /><Relationship Type="http://schemas.openxmlformats.org/officeDocument/2006/relationships/image" Target="/ppt/media/image.jpeg" Id="Refbff5c6df834696" /><Relationship Type="http://schemas.openxmlformats.org/officeDocument/2006/relationships/image" Target="/ppt/media/image2.png" Id="R6030f99ef3b64383" /><Relationship Type="http://schemas.openxmlformats.org/officeDocument/2006/relationships/notesSlide" Target="/ppt/notesSlides/notesSlide24.xml" Id="R8a046d81ef1941c5" /></Relationships>
</file>

<file path=ppt/slides/_rels/slide25.xml.rels>&#65279;<?xml version="1.0" encoding="utf-8"?><Relationships xmlns="http://schemas.openxmlformats.org/package/2006/relationships"><Relationship Type="http://schemas.openxmlformats.org/officeDocument/2006/relationships/slideLayout" Target="/ppt/slideLayouts/slideLayout2.xml" Id="Rea22113b25394a40" /><Relationship Type="http://schemas.openxmlformats.org/officeDocument/2006/relationships/image" Target="/ppt/media/image.jpeg" Id="Rc13c028872e94f68" /><Relationship Type="http://schemas.openxmlformats.org/officeDocument/2006/relationships/image" Target="/ppt/media/image2.png" Id="R0781117033524235" /><Relationship Type="http://schemas.openxmlformats.org/officeDocument/2006/relationships/image" Target="/ppt/media/image3.png" Id="R398f09e1e886497d" /><Relationship Type="http://schemas.openxmlformats.org/officeDocument/2006/relationships/image" Target="/ppt/media/image11.png" Id="R15e8d5ac82c54f6c" /><Relationship Type="http://schemas.openxmlformats.org/officeDocument/2006/relationships/notesSlide" Target="/ppt/notesSlides/notesSlide25.xml" Id="Ra4fa9895b5dd4598"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566b985f04884d7d" /><Relationship Type="http://schemas.openxmlformats.org/officeDocument/2006/relationships/image" Target="/ppt/media/image.jpeg" Id="R9e20b5af0c384f12" /><Relationship Type="http://schemas.openxmlformats.org/officeDocument/2006/relationships/image" Target="/ppt/media/image2.png" Id="R53482822097b49da" /><Relationship Type="http://schemas.openxmlformats.org/officeDocument/2006/relationships/notesSlide" Target="/ppt/notesSlides/notesSlide26.xml" Id="R21dae5aa3a1f4a95"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78b4403e4fab49a4" /><Relationship Type="http://schemas.openxmlformats.org/officeDocument/2006/relationships/image" Target="/ppt/media/image.jpeg" Id="R9ad20766b41f4685" /><Relationship Type="http://schemas.openxmlformats.org/officeDocument/2006/relationships/image" Target="/ppt/media/image2.png" Id="R97a7f08a9dde4f86" /><Relationship Type="http://schemas.openxmlformats.org/officeDocument/2006/relationships/chart" Target="/ppt/slides/charts/chart2.xml" Id="R38be6a9b355b4ff0" /><Relationship Type="http://schemas.openxmlformats.org/officeDocument/2006/relationships/notesSlide" Target="/ppt/notesSlides/notesSlide27.xml" Id="R80c8cb57ee834478"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a609c177dc9a453c" /><Relationship Type="http://schemas.openxmlformats.org/officeDocument/2006/relationships/image" Target="/ppt/media/image.jpeg" Id="R3fc4ebb1637b4837" /><Relationship Type="http://schemas.openxmlformats.org/officeDocument/2006/relationships/image" Target="/ppt/media/image2.png" Id="Ra36c3817092a41c7" /><Relationship Type="http://schemas.openxmlformats.org/officeDocument/2006/relationships/image" Target="/ppt/media/image12.png" Id="Rc8d7746ee0b34ce3" /><Relationship Type="http://schemas.openxmlformats.org/officeDocument/2006/relationships/image" Target="/ppt/media/image13.png" Id="R0b6d743284f445f3" /><Relationship Type="http://schemas.openxmlformats.org/officeDocument/2006/relationships/notesSlide" Target="/ppt/notesSlides/notesSlide28.xml" Id="R9d551e3a1822427f" /></Relationships>
</file>

<file path=ppt/slides/_rels/slide29.xml.rels>&#65279;<?xml version="1.0" encoding="utf-8"?><Relationships xmlns="http://schemas.openxmlformats.org/package/2006/relationships"><Relationship Type="http://schemas.openxmlformats.org/officeDocument/2006/relationships/slideLayout" Target="/ppt/slideLayouts/slideLayout2.xml" Id="Rc1276159f0e54d95" /><Relationship Type="http://schemas.openxmlformats.org/officeDocument/2006/relationships/image" Target="/ppt/media/image.jpeg" Id="R0ede22bd6ad342b9" /><Relationship Type="http://schemas.openxmlformats.org/officeDocument/2006/relationships/image" Target="/ppt/media/image2.png" Id="R6e5bbeff2820419c" /><Relationship Type="http://schemas.openxmlformats.org/officeDocument/2006/relationships/image" Target="/ppt/media/image3.png" Id="Rc979dad83aa54d74" /><Relationship Type="http://schemas.openxmlformats.org/officeDocument/2006/relationships/image" Target="/ppt/media/image14.png" Id="R04652831f42241fc" /><Relationship Type="http://schemas.openxmlformats.org/officeDocument/2006/relationships/notesSlide" Target="/ppt/notesSlides/notesSlide29.xml" Id="Re095bc311f714521"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f82094e30a0f4127" /><Relationship Type="http://schemas.openxmlformats.org/officeDocument/2006/relationships/image" Target="/ppt/media/image.jpeg" Id="R73ebecba0cab41e3" /><Relationship Type="http://schemas.openxmlformats.org/officeDocument/2006/relationships/image" Target="/ppt/media/image2.png" Id="Rc4a2e086e75848fe" /><Relationship Type="http://schemas.openxmlformats.org/officeDocument/2006/relationships/notesSlide" Target="/ppt/notesSlides/notesSlide30.xml" Id="R602f8e9f46f84fa7"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6610d39c532d4532" /><Relationship Type="http://schemas.openxmlformats.org/officeDocument/2006/relationships/image" Target="/ppt/media/image.jpeg" Id="Rc03c15edb318413c" /><Relationship Type="http://schemas.openxmlformats.org/officeDocument/2006/relationships/image" Target="/ppt/media/image2.png" Id="Rb399737ed3e84b07" /><Relationship Type="http://schemas.openxmlformats.org/officeDocument/2006/relationships/notesSlide" Target="/ppt/notesSlides/notesSlide31.xml" Id="R5e82b25bca50475e"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02ff35ad44c9417a" /><Relationship Type="http://schemas.openxmlformats.org/officeDocument/2006/relationships/image" Target="/ppt/media/image.jpeg" Id="Rb899fce344f140a4" /><Relationship Type="http://schemas.openxmlformats.org/officeDocument/2006/relationships/image" Target="/ppt/media/image2.png" Id="Rc4e33a30df1d4bd7" /><Relationship Type="http://schemas.openxmlformats.org/officeDocument/2006/relationships/notesSlide" Target="/ppt/notesSlides/notesSlide32.xml" Id="Rab54523023d44392"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c12783da84584028" /><Relationship Type="http://schemas.openxmlformats.org/officeDocument/2006/relationships/image" Target="/ppt/media/image.jpeg" Id="R48c5aca7b7964ba8" /><Relationship Type="http://schemas.openxmlformats.org/officeDocument/2006/relationships/image" Target="/ppt/media/image2.png" Id="R9ec898d65fa543ba" /><Relationship Type="http://schemas.openxmlformats.org/officeDocument/2006/relationships/notesSlide" Target="/ppt/notesSlides/notesSlide33.xml" Id="Ra84b436ad47f4105"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02d702df3c3b4ff9" /><Relationship Type="http://schemas.openxmlformats.org/officeDocument/2006/relationships/image" Target="/ppt/media/image.jpeg" Id="Rbb94c5a9155f4a69" /><Relationship Type="http://schemas.openxmlformats.org/officeDocument/2006/relationships/image" Target="/ppt/media/image2.png" Id="Re23144bac2104b22" /><Relationship Type="http://schemas.openxmlformats.org/officeDocument/2006/relationships/notesSlide" Target="/ppt/notesSlides/notesSlide34.xml" Id="R5900947be6494561"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8f53f837fed14d26" /><Relationship Type="http://schemas.openxmlformats.org/officeDocument/2006/relationships/image" Target="/ppt/media/image.jpeg" Id="Rbe1bff98cf844075" /><Relationship Type="http://schemas.openxmlformats.org/officeDocument/2006/relationships/image" Target="/ppt/media/image2.png" Id="Reed532848a644abc" /><Relationship Type="http://schemas.openxmlformats.org/officeDocument/2006/relationships/notesSlide" Target="/ppt/notesSlides/notesSlide35.xml" Id="R639b2a9e820a4fba"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f6b20df9f3ce4261" /><Relationship Type="http://schemas.openxmlformats.org/officeDocument/2006/relationships/image" Target="/ppt/media/image.jpeg" Id="Rcfe36b507442489a" /><Relationship Type="http://schemas.openxmlformats.org/officeDocument/2006/relationships/image" Target="/ppt/media/image2.png" Id="Rdaabb62c2e494ec7" /><Relationship Type="http://schemas.openxmlformats.org/officeDocument/2006/relationships/notesSlide" Target="/ppt/notesSlides/notesSlide36.xml" Id="R954fa7b6a8a84d18"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eb2e6aea56c647e1" /><Relationship Type="http://schemas.openxmlformats.org/officeDocument/2006/relationships/image" Target="/ppt/media/image.jpeg" Id="R26e734da77cb427f" /><Relationship Type="http://schemas.openxmlformats.org/officeDocument/2006/relationships/image" Target="/ppt/media/image2.png" Id="Reba8c543192a4d51" /><Relationship Type="http://schemas.openxmlformats.org/officeDocument/2006/relationships/notesSlide" Target="/ppt/notesSlides/notesSlide37.xml" Id="R2ab7cd16cb804b7c"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b936fc43cbaf4602" /><Relationship Type="http://schemas.openxmlformats.org/officeDocument/2006/relationships/image" Target="/ppt/media/image.jpeg" Id="Rb7b3bb06899e419b" /><Relationship Type="http://schemas.openxmlformats.org/officeDocument/2006/relationships/image" Target="/ppt/media/image2.png" Id="R56b24de68e2445cd" /><Relationship Type="http://schemas.openxmlformats.org/officeDocument/2006/relationships/notesSlide" Target="/ppt/notesSlides/notesSlide38.xml" Id="R9bf19f1cc85048a1"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b5ad2f909b764264" /><Relationship Type="http://schemas.openxmlformats.org/officeDocument/2006/relationships/image" Target="/ppt/media/image.jpeg" Id="R44b62a43733c45ec" /><Relationship Type="http://schemas.openxmlformats.org/officeDocument/2006/relationships/image" Target="/ppt/media/image2.png" Id="R5a064972469243be" /><Relationship Type="http://schemas.openxmlformats.org/officeDocument/2006/relationships/image" Target="/ppt/media/image15.png" Id="Rd3cbf2015e79486f" /><Relationship Type="http://schemas.openxmlformats.org/officeDocument/2006/relationships/notesSlide" Target="/ppt/notesSlides/notesSlide39.xml" Id="R3f530160f92b4bdc" /></Relationships>
</file>

<file path=ppt/slides/_rels/slide40.xml.rels>&#65279;<?xml version="1.0" encoding="utf-8"?><Relationships xmlns="http://schemas.openxmlformats.org/package/2006/relationships"><Relationship Type="http://schemas.openxmlformats.org/officeDocument/2006/relationships/slideLayout" Target="/ppt/slideLayouts/slideLayout2.xml" Id="R4fabd45a09fe4a20" /><Relationship Type="http://schemas.openxmlformats.org/officeDocument/2006/relationships/image" Target="/ppt/media/image.jpeg" Id="R8f25bfff4ec94abe" /><Relationship Type="http://schemas.openxmlformats.org/officeDocument/2006/relationships/image" Target="/ppt/media/image.gif" Id="R520bf6361c564366" /><Relationship Type="http://schemas.openxmlformats.org/officeDocument/2006/relationships/image" Target="/ppt/media/image2.png" Id="R547a55e998e946ce" /><Relationship Type="http://schemas.openxmlformats.org/officeDocument/2006/relationships/notesSlide" Target="/ppt/notesSlides/notesSlide40.xml" Id="R8b6597d55bc0430e" /></Relationships>
</file>

<file path=ppt/slides/charts/chart1.xml><?xml version="1.0" encoding="utf-8"?>
<c:chartSpace xmlns:c="http://schemas.openxmlformats.org/drawingml/2006/chart">
  <c:lang val="en-US"/>
  <c:roundedCorners val="1"/>
  <c:style val="2"/>
  <c:chart>
    <c:title>
      <c:tx>
        <c:rich>
          <a:bodyPr xmlns:a="http://schemas.openxmlformats.org/drawingml/2006/main"/>
          <a:lstStyle xmlns:a="http://schemas.openxmlformats.org/drawingml/2006/main"/>
          <a:p xmlns:a="http://schemas.openxmlformats.org/drawingml/2006/main">
            <a:r>
              <a:rPr sz="1875" b="1">
                <a:solidFill>
                  <a:srgbClr val="1E3A5F"/>
                </a:solidFill>
                <a:latin typeface="Arial"/>
                <a:ea typeface="Arial"/>
                <a:cs typeface="Arial"/>
              </a:rPr>
              <a:t>Average AUC on participating sites</a:t>
            </a:r>
          </a:p>
        </c:rich>
      </c:tx>
      <c:overlay val="0"/>
      <c:txPr>
        <a:bodyPr xmlns:a="http://schemas.openxmlformats.org/drawingml/2006/main" anchorCtr="1"/>
        <a:lstStyle xmlns:a="http://schemas.openxmlformats.org/drawingml/2006/main"/>
        <a:p xmlns:a="http://schemas.openxmlformats.org/drawingml/2006/main">
          <a:pPr>
            <a:defRPr sz="1875" b="1">
              <a:solidFill>
                <a:srgbClr val="1E3A5F"/>
              </a:solidFill>
              <a:latin typeface="Arial"/>
              <a:ea typeface="Arial"/>
              <a:cs typeface="Arial"/>
            </a:defRPr>
          </a:pPr>
        </a:p>
      </c:txPr>
    </c:title>
    <c:autoTitleDeleted val="0"/>
    <c:plotArea>
      <c:barChart>
        <c:barDir val="col"/>
        <c:grouping val="clustered"/>
        <c:varyColors val="1"/>
        <c:ser>
          <c:idx val="0"/>
          <c:order val="0"/>
          <c:tx>
            <c:v>AUC</c:v>
          </c:tx>
          <c:spPr>
            <a:solidFill xmlns:a="http://schemas.openxmlformats.org/drawingml/2006/main">
              <a:srgbClr val="1E3A5F"/>
            </a:solidFill>
          </c:spPr>
          <c:dPt>
            <c:idx val="1"/>
            <c:invertIfNegative val="0"/>
            <c:spPr>
              <a:solidFill xmlns:a="http://schemas.openxmlformats.org/drawingml/2006/main">
                <a:srgbClr val="008A46"/>
              </a:solidFill>
            </c:spPr>
          </c:dPt>
          <c:dLbls>
            <c:spPr>
              <a:noFill xmlns:a="http://schemas.openxmlformats.org/drawingml/2006/main"/>
              <a:ln xmlns:a="http://schemas.openxmlformats.org/drawingml/2006/main">
                <a:noFill/>
              </a:ln>
            </c:spPr>
            <c:txPr>
              <a:bodyPr xmlns:a="http://schemas.openxmlformats.org/drawingml/2006/main" anchorCtr="1"/>
              <a:lstStyle xmlns:a="http://schemas.openxmlformats.org/drawingml/2006/main"/>
              <a:p xmlns:a="http://schemas.openxmlformats.org/drawingml/2006/main">
                <a:pPr>
                  <a:defRPr sz="1500" b="1">
                    <a:solidFill>
                      <a:srgbClr val="1F2937"/>
                    </a:solidFill>
                    <a:latin typeface="Arial"/>
                    <a:ea typeface="Arial"/>
                    <a:cs typeface="Arial"/>
                  </a:defRPr>
                </a:pPr>
              </a:p>
            </c:txPr>
            <c:dLblPos val="outEnd"/>
            <c:showLegendKey val="0"/>
            <c:showVal val="1"/>
            <c:showCatName val="0"/>
            <c:showSerName val="0"/>
            <c:showPercent val="0"/>
            <c:showBubbleSize val="0"/>
            <c:showLeaderLines val="0"/>
          </c:dLbls>
          <c:cat>
            <c:strLit>
              <c:ptCount val="2"/>
              <c:pt idx="0">
                <c:v>Local models</c:v>
              </c:pt>
              <c:pt idx="1">
                <c:v>EXAM federated model</c:v>
              </c:pt>
            </c:strLit>
          </c:cat>
          <c:val>
            <c:numLit>
              <c:formatCode>0.000</c:formatCode>
              <c:ptCount val="2"/>
              <c:pt idx="0">
                <c:v>0.795</c:v>
              </c:pt>
              <c:pt idx="1">
                <c:v>0.92</c:v>
              </c:pt>
            </c:numLit>
          </c:val>
        </c:ser>
        <c:dLbls>
          <c:dLblPos val="outEnd"/>
          <c:showLegendKey val="0"/>
          <c:showVal val="1"/>
          <c:showCatName val="0"/>
          <c:showSerName val="0"/>
          <c:showPercent val="0"/>
          <c:showBubbleSize val="0"/>
        </c:dLbls>
        <c:gapWidth val="70"/>
        <c:axId val="48650112"/>
        <c:axId val="48672768"/>
      </c:barChart>
      <c:catAx>
        <c:axId val="48650112"/>
        <c:scaling>
          <c:orientation val="minMax"/>
        </c:scaling>
        <c:delete val="0"/>
        <c:axPos val="b"/>
        <c:numFmt formatCode="General" sourceLinked="1"/>
        <c:majorTickMark val="none"/>
        <c:minorTickMark val="none"/>
        <c:tickLblPos val="nextTo"/>
        <c:spPr>
          <a:ln xmlns:a="http://schemas.openxmlformats.org/drawingml/2006/main" w="9525">
            <a:solidFill>
              <a:srgbClr val="94A3B8"/>
            </a:solidFill>
            <a:prstDash val="solid"/>
          </a:ln>
        </c:spPr>
        <c:txPr>
          <a:bodyPr xmlns:a="http://schemas.openxmlformats.org/drawingml/2006/main" anchorCtr="1"/>
          <a:lstStyle xmlns:a="http://schemas.openxmlformats.org/drawingml/2006/main"/>
          <a:p xmlns:a="http://schemas.openxmlformats.org/drawingml/2006/main">
            <a:pPr>
              <a:defRPr sz="1425">
                <a:solidFill>
                  <a:srgbClr val="1F2937"/>
                </a:solidFill>
                <a:latin typeface="Arial"/>
                <a:ea typeface="Arial"/>
                <a:cs typeface="Arial"/>
              </a:defRPr>
            </a:pPr>
          </a:p>
        </c:txPr>
        <c:crossAx val="48672768"/>
        <c:crosses val="autoZero"/>
        <c:lblOffset val="100"/>
      </c:catAx>
      <c:valAx>
        <c:axId val="48672768"/>
        <c:scaling>
          <c:orientation val="minMax"/>
          <c:max val="1"/>
          <c:min val="0.7"/>
        </c:scaling>
        <c:delete val="0"/>
        <c:axPos val="l"/>
        <c:majorGridlines>
          <c:spPr>
            <a:ln xmlns:a="http://schemas.openxmlformats.org/drawingml/2006/main" w="9525">
              <a:solidFill>
                <a:srgbClr val="E2E8F0"/>
              </a:solidFill>
              <a:prstDash val="solid"/>
            </a:ln>
          </c:spPr>
        </c:majorGridlines>
        <c:title>
          <c:tx>
            <c:rich>
              <a:bodyPr xmlns:a="http://schemas.openxmlformats.org/drawingml/2006/main"/>
              <a:lstStyle xmlns:a="http://schemas.openxmlformats.org/drawingml/2006/main"/>
              <a:p xmlns:a="http://schemas.openxmlformats.org/drawingml/2006/main">
                <a:r>
                  <a:rPr sz="1350">
                    <a:solidFill>
                      <a:srgbClr val="475569"/>
                    </a:solidFill>
                    <a:latin typeface="Arial"/>
                    <a:ea typeface="Arial"/>
                    <a:cs typeface="Arial"/>
                  </a:rPr>
                  <a:t>AUC</a:t>
                </a:r>
              </a:p>
            </c:rich>
          </c:tx>
          <c:overlay val="0"/>
          <c:txPr>
            <a:bodyPr xmlns:a="http://schemas.openxmlformats.org/drawingml/2006/main" anchorCtr="1"/>
            <a:lstStyle xmlns:a="http://schemas.openxmlformats.org/drawingml/2006/main"/>
            <a:p xmlns:a="http://schemas.openxmlformats.org/drawingml/2006/main">
              <a:pPr>
                <a:defRPr sz="1350">
                  <a:solidFill>
                    <a:srgbClr val="475569"/>
                  </a:solidFill>
                  <a:latin typeface="Arial"/>
                  <a:ea typeface="Arial"/>
                  <a:cs typeface="Arial"/>
                </a:defRPr>
              </a:pPr>
            </a:p>
          </c:txPr>
        </c:title>
        <c:numFmt formatCode="0.000" sourceLinked="1"/>
        <c:majorTickMark val="none"/>
        <c:minorTickMark val="none"/>
        <c:tickLblPos val="nextTo"/>
        <c:spPr>
          <a:ln xmlns:a="http://schemas.openxmlformats.org/drawingml/2006/main" w="9525">
            <a:solidFill>
              <a:srgbClr val="94A3B8"/>
            </a:solidFill>
            <a:prstDash val="solid"/>
          </a:ln>
        </c:spPr>
        <c:txPr>
          <a:bodyPr xmlns:a="http://schemas.openxmlformats.org/drawingml/2006/main" anchorCtr="1"/>
          <a:lstStyle xmlns:a="http://schemas.openxmlformats.org/drawingml/2006/main"/>
          <a:p xmlns:a="http://schemas.openxmlformats.org/drawingml/2006/main">
            <a:pPr>
              <a:defRPr sz="1200">
                <a:solidFill>
                  <a:srgbClr val="475569"/>
                </a:solidFill>
                <a:latin typeface="Arial"/>
                <a:ea typeface="Arial"/>
                <a:cs typeface="Arial"/>
              </a:defRPr>
            </a:pPr>
          </a:p>
        </c:txPr>
        <c:crossAx val="48650112"/>
        <c:crosses val="autoZero"/>
        <c:crossBetween val="between"/>
        <c:majorUnit val="0.05"/>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charts/chart2.xml><?xml version="1.0" encoding="utf-8"?>
<c:chartSpace xmlns:c="http://schemas.openxmlformats.org/drawingml/2006/chart">
  <c:lang val="en-US"/>
  <c:roundedCorners val="1"/>
  <c:style val="2"/>
  <c:chart>
    <c:title>
      <c:tx>
        <c:rich>
          <a:bodyPr xmlns:a="http://schemas.openxmlformats.org/drawingml/2006/main"/>
          <a:lstStyle xmlns:a="http://schemas.openxmlformats.org/drawingml/2006/main"/>
          <a:p xmlns:a="http://schemas.openxmlformats.org/drawingml/2006/main">
            <a:r>
              <a:rPr sz="1350" b="1">
                <a:solidFill>
                  <a:srgbClr val="17365D"/>
                </a:solidFill>
                <a:latin typeface="Arial"/>
                <a:ea typeface="Arial"/>
                <a:cs typeface="Arial"/>
              </a:rPr>
              <a:t>Actual encrypted upload reduction (%)</a:t>
            </a:r>
          </a:p>
        </c:rich>
      </c:tx>
      <c:overlay val="0"/>
      <c:txPr>
        <a:bodyPr xmlns:a="http://schemas.openxmlformats.org/drawingml/2006/main" anchorCtr="1"/>
        <a:lstStyle xmlns:a="http://schemas.openxmlformats.org/drawingml/2006/main"/>
        <a:p xmlns:a="http://schemas.openxmlformats.org/drawingml/2006/main">
          <a:pPr>
            <a:defRPr sz="1350" b="1">
              <a:solidFill>
                <a:srgbClr val="17365D"/>
              </a:solidFill>
              <a:latin typeface="Arial"/>
              <a:ea typeface="Arial"/>
              <a:cs typeface="Arial"/>
            </a:defRPr>
          </a:pPr>
        </a:p>
      </c:txPr>
    </c:title>
    <c:autoTitleDeleted val="0"/>
    <c:plotArea>
      <c:barChart>
        <c:barDir val="bar"/>
        <c:grouping val="clustered"/>
        <c:varyColors val="0"/>
        <c:ser>
          <c:idx val="0"/>
          <c:order val="0"/>
          <c:tx>
            <c:v>Reduction</c:v>
          </c:tx>
          <c:spPr>
            <a:solidFill xmlns:a="http://schemas.openxmlformats.org/drawingml/2006/main">
              <a:srgbClr val="00843D"/>
            </a:solidFill>
          </c:spPr>
          <c:dLbls>
            <c:spPr>
              <a:noFill xmlns:a="http://schemas.openxmlformats.org/drawingml/2006/main"/>
              <a:ln xmlns:a="http://schemas.openxmlformats.org/drawingml/2006/main">
                <a:noFill/>
              </a:ln>
            </c:spPr>
            <c:txPr>
              <a:bodyPr xmlns:a="http://schemas.openxmlformats.org/drawingml/2006/main" anchorCtr="1"/>
              <a:lstStyle xmlns:a="http://schemas.openxmlformats.org/drawingml/2006/main"/>
              <a:p xmlns:a="http://schemas.openxmlformats.org/drawingml/2006/main">
                <a:pPr>
                  <a:defRPr sz="975" b="1">
                    <a:solidFill>
                      <a:srgbClr val="1F2937"/>
                    </a:solidFill>
                    <a:latin typeface="Arial"/>
                    <a:ea typeface="Arial"/>
                    <a:cs typeface="Arial"/>
                  </a:defRPr>
                </a:pPr>
              </a:p>
            </c:txPr>
            <c:dLblPos val="outEnd"/>
            <c:showLegendKey val="0"/>
            <c:showVal val="1"/>
            <c:showCatName val="0"/>
            <c:showSerName val="0"/>
            <c:showPercent val="0"/>
            <c:showBubbleSize val="0"/>
            <c:showLeaderLines val="0"/>
          </c:dLbls>
          <c:cat>
            <c:strLit>
              <c:ptCount val="5"/>
              <c:pt idx="0">
                <c:v>DP-FedAvg</c:v>
              </c:pt>
              <c:pt idx="1">
                <c:v>CAABC-FL</c:v>
              </c:pt>
              <c:pt idx="2">
                <c:v>Fed-EF-SGD</c:v>
              </c:pt>
              <c:pt idx="3">
                <c:v>Fed-EF-AMS</c:v>
              </c:pt>
              <c:pt idx="4">
                <c:v>SoteriaFL</c:v>
              </c:pt>
            </c:strLit>
          </c:cat>
          <c:val>
            <c:numLit>
              <c:formatCode>0.0</c:formatCode>
              <c:ptCount val="5"/>
              <c:pt idx="0">
                <c:v>0</c:v>
              </c:pt>
              <c:pt idx="1">
                <c:v>55.999</c:v>
              </c:pt>
              <c:pt idx="2">
                <c:v>0.0067</c:v>
              </c:pt>
              <c:pt idx="3">
                <c:v>0.0033</c:v>
              </c:pt>
              <c:pt idx="4">
                <c:v>0.0004</c:v>
              </c:pt>
            </c:numLit>
          </c:val>
        </c:ser>
        <c:dLbls>
          <c:dLblPos val="outEnd"/>
          <c:showLegendKey val="0"/>
          <c:showVal val="1"/>
          <c:showCatName val="0"/>
          <c:showSerName val="0"/>
          <c:showPercent val="0"/>
          <c:showBubbleSize val="0"/>
        </c:dLbls>
        <c:gapWidth val="45"/>
        <c:axId val="48650112"/>
        <c:axId val="48672768"/>
      </c:barChart>
      <c:catAx>
        <c:axId val="48650112"/>
        <c:scaling>
          <c:orientation val="minMax"/>
        </c:scaling>
        <c:delete val="0"/>
        <c:axPos val="l"/>
        <c:majorGridlines>
          <c:spPr>
            <a:ln xmlns:a="http://schemas.openxmlformats.org/drawingml/2006/main" w="9525">
              <a:solidFill>
                <a:srgbClr val="E2E8F0"/>
              </a:solidFill>
              <a:prstDash val="solid"/>
            </a:ln>
          </c:spPr>
        </c:majorGridlines>
        <c:numFmt formatCode="General" sourceLinked="1"/>
        <c:majorTickMark val="none"/>
        <c:minorTickMark val="none"/>
        <c:tickLblPos val="nextTo"/>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666666"/>
                </a:solidFill>
                <a:latin typeface="Arial"/>
                <a:ea typeface="Arial"/>
                <a:cs typeface="Arial"/>
              </a:defRPr>
            </a:pPr>
          </a:p>
        </c:txPr>
        <c:crossAx val="48672768"/>
        <c:crosses val="autoZero"/>
        <c:lblOffset val="100"/>
      </c:catAx>
      <c:valAx>
        <c:axId val="48672768"/>
        <c:scaling>
          <c:orientation val="minMax"/>
        </c:scaling>
        <c:delete val="0"/>
        <c:axPos val="b"/>
        <c:numFmt formatCode="0.0" sourceLinked="1"/>
        <c:majorTickMark val="none"/>
        <c:minorTickMark val="none"/>
        <c:tickLblPos val="nextTo"/>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666666"/>
                </a:solidFill>
                <a:latin typeface="Arial"/>
                <a:ea typeface="Arial"/>
                <a:cs typeface="Arial"/>
              </a:defRPr>
            </a:pPr>
          </a:p>
        </c:txPr>
        <c:crossAx val="48650112"/>
        <c:crosses val="autoZero"/>
        <c:crossBetween val="between"/>
      </c:valAx>
    </c:plotArea>
    <c:plotVisOnly val="1"/>
  </c:chart>
  <c:spPr>
    <a:solidFill xmlns:a="http://schemas.openxmlformats.org/drawingml/2006/main">
      <a:srgbClr val="FFFFFF"/>
    </a:solidFill>
    <a:ln xmlns:a="http://schemas.openxmlformats.org/drawingml/2006/main" w="9525">
      <a:solidFill>
        <a:srgbClr val="B8C4CE"/>
      </a:solidFill>
      <a:prstDash val="solid"/>
    </a:ln>
  </c:spPr>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185" name="Google Shape;173;p25"/>
          <p:cNvPicPr>
            <a:picLocks xmlns:a="http://schemas.openxmlformats.org/drawingml/2006/main" noChangeAspect="1"/>
          </p:cNvPicPr>
          <p:nvPr/>
        </p:nvPicPr>
        <p:blipFill rotWithShape="1">
          <a:blip xmlns:r="http://schemas.openxmlformats.org/officeDocument/2006/relationships" xmlns:a="http://schemas.openxmlformats.org/drawingml/2006/main" r:embed="Rcdd1845e5c394cc6">
            <a:alphaModFix amt="25000"/>
          </a:blip>
          <a:srcRect xmlns:a="http://schemas.openxmlformats.org/drawingml/2006/main" l="0" t="0" r="0" b="0"/>
          <a:stretch xmlns:a="http://schemas.openxmlformats.org/drawingml/2006/main"/>
        </p:blipFill>
        <p:spPr>
          <a:xfrm xmlns:a="http://schemas.openxmlformats.org/drawingml/2006/main">
            <a:off x="249382" y="251522"/>
            <a:ext cx="11684000" cy="6354956"/>
          </a:xfrm>
          <a:prstGeom xmlns:a="http://schemas.openxmlformats.org/drawingml/2006/main" prst="rect">
            <a:avLst/>
          </a:prstGeom>
          <a:ln xmlns:a="http://schemas.openxmlformats.org/drawingml/2006/main">
            <a:noFill/>
          </a:ln>
          <a:effectLst xmlns:a="http://schemas.openxmlformats.org/drawingml/2006/main">
            <a:outerShdw blurRad="1003300" sx="89000" sy="89000" algn="ctr" rotWithShape="0">
              <a:schemeClr val="lt1">
                <a:alpha val="3921"/>
              </a:schemeClr>
            </a:outerShdw>
          </a:effectLst>
        </p:spPr>
      </p:pic>
      <p:sp>
        <p:nvSpPr>
          <p:cNvPr id="175" name="Google Shape;175;p25">
            <a:extLst xmlns:a="http://schemas.openxmlformats.org/drawingml/2006/main">
              <a:ext uri="{FF2B5EF4-FFF2-40B4-BE49-F238E27FC236}">
                <a16:creationId xmlns:a16="http://schemas.microsoft.com/office/drawing/2014/main" id="{D25FF023-60FE-468B-940A-B4DA65D2FC5E}"/>
              </a:ext>
            </a:extLst>
          </p:cNvPr>
          <p:cNvSpPr>
            <a:spLocks xmlns:a="http://schemas.openxmlformats.org/drawingml/2006/main" noGrp="1"/>
          </p:cNvSpPr>
          <p:nvPr/>
        </p:nvSpPr>
        <p:spPr>
          <a:xfrm xmlns:a="http://schemas.openxmlformats.org/drawingml/2006/main">
            <a:off x="815671" y="1419007"/>
            <a:ext cx="10668000" cy="12262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4800"/>
              <a:buFont typeface="Arial"/>
              <a:buNone/>
              <a:defRPr sz="2925" b="1">
                <a:solidFill>
                  <a:srgbClr val="17365D"/>
                </a:solidFill>
                <a:latin typeface="Arial"/>
                <a:ea typeface="Arial"/>
                <a:cs typeface="Arial"/>
              </a:defRPr>
            </a:pPr>
            <a:r>
              <a:rPr sz="2925" b="1" i="0" u="none" cap="none">
                <a:solidFill>
                  <a:srgbClr val="17365D"/>
                </a:solidFill>
                <a:latin typeface="Arial"/>
                <a:ea typeface="Arial"/>
                <a:cs typeface="Arial"/>
              </a:rPr>
              <a:t>CAABC-FL: A Hybrid Privacy-Preserving Framework for Secure Multi-Institutional Collaboration</a:t>
            </a:r>
            <a:endParaRPr sz="4400" b="0" i="0" u="none" cap="none">
              <a:solidFill>
                <a:srgbClr val="000000"/>
              </a:solidFill>
              <a:latin typeface="Arial"/>
              <a:ea typeface="Arial"/>
              <a:cs typeface="Arial"/>
            </a:endParaRPr>
          </a:p>
        </p:txBody>
      </p:sp>
      <p:sp>
        <p:nvSpPr>
          <p:cNvPr id="178" name="Google Shape;178;p25">
            <a:extLst xmlns:a="http://schemas.openxmlformats.org/drawingml/2006/main">
              <a:ext uri="{FF2B5EF4-FFF2-40B4-BE49-F238E27FC236}">
                <a16:creationId xmlns:a16="http://schemas.microsoft.com/office/drawing/2014/main" id="{EC7E38E7-131A-4955-84CA-2ACE593A8C3D}"/>
              </a:ext>
            </a:extLst>
          </p:cNvPr>
          <p:cNvSpPr>
            <a:spLocks xmlns:a="http://schemas.openxmlformats.org/drawingml/2006/main" noGrp="1"/>
          </p:cNvSpPr>
          <p:nvPr/>
        </p:nvSpPr>
        <p:spPr>
          <a:xfrm xmlns:a="http://schemas.openxmlformats.org/drawingml/2006/main">
            <a:off x="2498421" y="2536488"/>
            <a:ext cx="7302500" cy="892512"/>
          </a:xfrm>
          <a:prstGeom xmlns:a="http://schemas.openxmlformats.org/drawingml/2006/main" prst="rect">
            <a:avLst/>
          </a:prstGeom>
          <a:noFill xmlns:a="http://schemas.openxmlformats.org/drawingml/2006/main"/>
          <a:ln xmlns:a="http://schemas.openxmlformats.org/drawingml/2006/main">
            <a:noFill/>
          </a:ln>
          <a:effectLst xmlns:a="http://schemas.openxmlformats.org/drawingml/2006/main">
            <a:outerShdw blurRad="50800" dist="50800" dir="5400000" algn="ctr" rotWithShape="0">
              <a:schemeClr val="lt1"/>
            </a:outerShdw>
          </a:effectLst>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ctr">
              <a:lnSpc>
                <a:spcPct val="100000"/>
              </a:lnSpc>
              <a:spcBef>
                <a:spcPts val="0"/>
              </a:spcBef>
              <a:spcAft>
                <a:spcPts val="0"/>
              </a:spcAft>
              <a:buNone/>
            </a:pPr>
            <a:r>
              <a:rPr sz="2800" b="1" i="0" u="none" cap="none">
                <a:solidFill>
                  <a:srgbClr val="6E6E6E"/>
                </a:solidFill>
                <a:latin typeface="Arial"/>
                <a:ea typeface="Arial"/>
                <a:cs typeface="Arial"/>
              </a:rPr>
              <a:t>Thesis Final Defense</a:t>
            </a:r>
            <a:endParaRPr sz="2800"/>
          </a:p>
          <a:p xmlns:a="http://schemas.openxmlformats.org/drawingml/2006/main">
            <a:pPr marL="0" marR="0" lvl="0" indent="0" algn="ctr">
              <a:lnSpc>
                <a:spcPct val="100000"/>
              </a:lnSpc>
              <a:spcBef>
                <a:spcPts val="0"/>
              </a:spcBef>
              <a:spcAft>
                <a:spcPts val="0"/>
              </a:spcAft>
              <a:buNone/>
            </a:pPr>
            <a:r>
              <a:rPr sz="2400" b="1" i="0" u="none" cap="none">
                <a:solidFill>
                  <a:srgbClr val="000000"/>
                </a:solidFill>
                <a:latin typeface="Arial"/>
                <a:ea typeface="Arial"/>
                <a:cs typeface="Arial"/>
              </a:rPr>
              <a:t>Fall 2025</a:t>
            </a:r>
          </a:p>
        </p:txBody>
      </p:sp>
      <p:sp>
        <p:nvSpPr>
          <p:cNvPr id="179" name="Google Shape;179;p25">
            <a:extLst xmlns:a="http://schemas.openxmlformats.org/drawingml/2006/main">
              <a:ext uri="{FF2B5EF4-FFF2-40B4-BE49-F238E27FC236}">
                <a16:creationId xmlns:a16="http://schemas.microsoft.com/office/drawing/2014/main" id="{CC827AB5-2338-4A5C-8992-FA8BBB93B06C}"/>
              </a:ext>
            </a:extLst>
          </p:cNvPr>
          <p:cNvSpPr>
            <a:spLocks xmlns:a="http://schemas.openxmlformats.org/drawingml/2006/main" noGrp="1"/>
          </p:cNvSpPr>
          <p:nvPr/>
        </p:nvSpPr>
        <p:spPr>
          <a:xfrm xmlns:a="http://schemas.openxmlformats.org/drawingml/2006/main">
            <a:off x="1235210" y="5643678"/>
            <a:ext cx="9676661" cy="10156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ctr">
              <a:lnSpc>
                <a:spcPct val="100000"/>
              </a:lnSpc>
              <a:spcBef>
                <a:spcPts val="0"/>
              </a:spcBef>
              <a:spcAft>
                <a:spcPts val="0"/>
              </a:spcAft>
              <a:buNone/>
            </a:pPr>
            <a:r>
              <a:rPr sz="2600" b="1" i="0" u="none" cap="none">
                <a:solidFill>
                  <a:srgbClr val="000000"/>
                </a:solidFill>
                <a:latin typeface="Arial"/>
                <a:ea typeface="Arial"/>
                <a:cs typeface="Arial"/>
              </a:rPr>
              <a:t>Department of Computer Science and Engineering</a:t>
            </a:r>
            <a:endParaRPr/>
          </a:p>
          <a:p xmlns:a="http://schemas.openxmlformats.org/drawingml/2006/main">
            <a:pPr marL="0" marR="0" lvl="0" indent="0" algn="ctr">
              <a:lnSpc>
                <a:spcPct val="100000"/>
              </a:lnSpc>
              <a:spcBef>
                <a:spcPts val="0"/>
              </a:spcBef>
              <a:spcAft>
                <a:spcPts val="0"/>
              </a:spcAft>
              <a:buNone/>
            </a:pPr>
            <a:r>
              <a:rPr sz="3200" b="1" i="0" u="none" cap="none">
                <a:solidFill>
                  <a:srgbClr val="000000"/>
                </a:solidFill>
                <a:latin typeface="Arial"/>
                <a:ea typeface="Arial"/>
                <a:cs typeface="Arial"/>
              </a:rPr>
              <a:t>Green University of Bangladesh </a:t>
            </a:r>
            <a:endParaRPr/>
          </a:p>
        </p:txBody>
      </p:sp>
      <p:pic>
        <p:nvPicPr>
          <p:cNvPr id="189" name="Google Shape;180;p25"/>
          <p:cNvPicPr>
            <a:picLocks xmlns:a="http://schemas.openxmlformats.org/drawingml/2006/main" noChangeAspect="1"/>
          </p:cNvPicPr>
          <p:nvPr/>
        </p:nvPicPr>
        <p:blipFill rotWithShape="1">
          <a:blip xmlns:r="http://schemas.openxmlformats.org/officeDocument/2006/relationships" xmlns:a="http://schemas.openxmlformats.org/drawingml/2006/main" r:embed="Rce25ad152863482b">
            <a:alphaModFix/>
          </a:blip>
          <a:srcRect xmlns:a="http://schemas.openxmlformats.org/drawingml/2006/main" l="0" t="0" r="0" b="0"/>
          <a:stretch xmlns:a="http://schemas.openxmlformats.org/drawingml/2006/main"/>
        </p:blipFill>
        <p:spPr>
          <a:xfrm xmlns:a="http://schemas.openxmlformats.org/drawingml/2006/main">
            <a:off x="4624251" y="250163"/>
            <a:ext cx="2773947" cy="1154019"/>
          </a:xfrm>
          <a:prstGeom xmlns:a="http://schemas.openxmlformats.org/drawingml/2006/main" prst="rect">
            <a:avLst/>
          </a:prstGeom>
          <a:ln xmlns:a="http://schemas.openxmlformats.org/drawingml/2006/main">
            <a:noFill/>
          </a:ln>
        </p:spPr>
      </p:pic>
      <p:sp>
        <p:nvSpPr>
          <p:cNvPr id="3" name="Google Shape;176;p25">
            <a:extLst xmlns:a="http://schemas.openxmlformats.org/drawingml/2006/main">
              <a:ext uri="{FF2B5EF4-FFF2-40B4-BE49-F238E27FC236}">
                <a16:creationId xmlns:a16="http://schemas.microsoft.com/office/drawing/2014/main" id="{0A0AC8FA-28A6-AAC3-1B13-5F28531E7A18}"/>
              </a:ext>
            </a:extLst>
          </p:cNvPr>
          <p:cNvSpPr>
            <a:spLocks xmlns:a="http://schemas.openxmlformats.org/drawingml/2006/main" noGrp="1"/>
          </p:cNvSpPr>
          <p:nvPr/>
        </p:nvSpPr>
        <p:spPr>
          <a:xfrm xmlns:a="http://schemas.openxmlformats.org/drawingml/2006/main">
            <a:off x="3450333" y="3620754"/>
            <a:ext cx="5121781" cy="175428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2800"/>
              <a:buFont typeface="Arial"/>
              <a:buNone/>
            </a:pPr>
            <a:r>
              <a:rPr sz="2400" b="1" i="0" u="none" cap="none">
                <a:solidFill>
                  <a:srgbClr val="0070C0"/>
                </a:solidFill>
                <a:latin typeface="Arial"/>
                <a:ea typeface="Arial"/>
                <a:cs typeface="Arial"/>
              </a:rPr>
              <a:t>Presented by</a:t>
            </a:r>
          </a:p>
          <a:p xmlns:a="http://schemas.openxmlformats.org/drawingml/2006/main">
            <a:pPr marL="0" marR="0" lvl="0" indent="0" algn="ctr">
              <a:lnSpc>
                <a:spcPct val="100000"/>
              </a:lnSpc>
              <a:spcBef>
                <a:spcPts val="800"/>
              </a:spcBef>
              <a:spcAft>
                <a:spcPts val="0"/>
              </a:spcAft>
              <a:buClr>
                <a:srgbClr val="000000"/>
              </a:buClr>
              <a:buSzPts val="2400"/>
              <a:buFont typeface="Arial"/>
              <a:buNone/>
            </a:pPr>
            <a:r>
              <a:rPr sz="2000">
                <a:solidFill>
                  <a:srgbClr val="00B0F0"/>
                </a:solidFill>
              </a:rPr>
              <a:t>Md. Robiul Islam - 222002068</a:t>
            </a:r>
            <a:endParaRPr sz="2000" b="0" i="0" u="none" cap="none">
              <a:solidFill>
                <a:srgbClr val="00B0F0"/>
              </a:solidFill>
              <a:latin typeface="Arial"/>
              <a:ea typeface="Arial"/>
              <a:cs typeface="Arial"/>
            </a:endParaRPr>
          </a:p>
          <a:p xmlns:a="http://schemas.openxmlformats.org/drawingml/2006/main">
            <a:pPr lvl="0" algn="ctr">
              <a:spcBef>
                <a:spcPts val="800"/>
              </a:spcBef>
              <a:buSzPts val="2400"/>
              <a:buNone/>
            </a:pPr>
            <a:r>
              <a:rPr sz="2000">
                <a:solidFill>
                  <a:srgbClr val="00B0F0"/>
                </a:solidFill>
              </a:rPr>
              <a:t>Ashrafun Nahar Arifa - 222002066</a:t>
            </a:r>
          </a:p>
          <a:p xmlns:a="http://schemas.openxmlformats.org/drawingml/2006/main">
            <a:pPr algn="ctr">
              <a:spcBef>
                <a:spcPts val="800"/>
              </a:spcBef>
              <a:buSzPts val="2400"/>
              <a:buNone/>
            </a:pPr>
            <a:r>
              <a:rPr sz="2000">
                <a:solidFill>
                  <a:srgbClr val="00B0F0"/>
                </a:solidFill>
              </a:rPr>
              <a:t>Md. Atikur Rahman - 221902166</a:t>
            </a:r>
          </a:p>
        </p:txBody>
      </p:sp>
      <p:sp>
        <p:nvSpPr>
          <p:cNvPr id="182" name="visible-footer-date-1">
            <a:extLst xmlns:a="http://schemas.openxmlformats.org/drawingml/2006/main">
              <a:ext uri="{FF2B5EF4-FFF2-40B4-BE49-F238E27FC236}">
                <a16:creationId xmlns:a16="http://schemas.microsoft.com/office/drawing/2014/main" id="{A331825A-019A-4D52-BDFB-671BA143512D}"/>
              </a:ext>
            </a:extLst>
          </p:cNvPr>
          <p:cNvSpPr>
            <a:spLocks xmlns:a="http://schemas.openxmlformats.org/drawingml/2006/main" noGrp="1"/>
          </p:cNvSpPr>
          <p:nvPr/>
        </p:nvSpPr>
        <p:spPr>
          <a:xfrm xmlns:a="http://schemas.openxmlformats.org/drawingml/2006/main">
            <a:off x="375254" y="6396928"/>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49186476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67" name="Picture 67"/>
          <p:cNvPicPr>
            <a:picLocks xmlns:a="http://schemas.openxmlformats.org/drawingml/2006/main" noChangeAspect="1"/>
          </p:cNvPicPr>
          <p:nvPr/>
        </p:nvPicPr>
        <p:blipFill>
          <a:blip xmlns:r="http://schemas.openxmlformats.org/officeDocument/2006/relationships" xmlns:a="http://schemas.openxmlformats.org/drawingml/2006/main" r:embed="R6d01e26135444fdd"/>
          <a:stretch xmlns:a="http://schemas.openxmlformats.org/drawingml/2006/main"/>
        </p:blipFill>
        <p:spPr>
          <a:xfrm xmlns:a="http://schemas.openxmlformats.org/drawingml/2006/main">
            <a:off x="361950" y="371475"/>
            <a:ext cx="685800" cy="685800"/>
          </a:xfrm>
          <a:prstGeom xmlns:a="http://schemas.openxmlformats.org/drawingml/2006/main" prst="rect">
            <a:avLst/>
          </a:prstGeom>
        </p:spPr>
      </p:pic>
      <p:pic>
        <p:nvPicPr>
          <p:cNvPr id="68" name="Picture 68"/>
          <p:cNvPicPr>
            <a:picLocks xmlns:a="http://schemas.openxmlformats.org/drawingml/2006/main" noChangeAspect="1"/>
          </p:cNvPicPr>
          <p:nvPr/>
        </p:nvPicPr>
        <p:blipFill>
          <a:blip xmlns:r="http://schemas.openxmlformats.org/officeDocument/2006/relationships" xmlns:a="http://schemas.openxmlformats.org/drawingml/2006/main" r:embed="R5ee83aaa92af4c27"/>
          <a:stretch xmlns:a="http://schemas.openxmlformats.org/drawingml/2006/main"/>
        </p:blipFill>
        <p:spPr>
          <a:xfrm xmlns:a="http://schemas.openxmlformats.org/drawingml/2006/main">
            <a:off x="9915525" y="248278"/>
            <a:ext cx="1943100" cy="808370"/>
          </a:xfrm>
          <a:prstGeom xmlns:a="http://schemas.openxmlformats.org/drawingml/2006/main" prst="rect">
            <a:avLst/>
          </a:prstGeom>
        </p:spPr>
      </p:pic>
      <p:sp>
        <p:nvSpPr>
          <p:cNvPr id="3" name="chrome-title-2">
            <a:extLst xmlns:a="http://schemas.openxmlformats.org/drawingml/2006/main">
              <a:ext uri="{FF2B5EF4-FFF2-40B4-BE49-F238E27FC236}">
                <a16:creationId xmlns:a16="http://schemas.microsoft.com/office/drawing/2014/main" id="{F6C4A783-6CA1-4234-BF2F-58C8FDF86203}"/>
              </a:ext>
            </a:extLst>
          </p:cNvPr>
          <p:cNvSpPr>
            <a:spLocks xmlns:a="http://schemas.openxmlformats.org/drawingml/2006/main" noGrp="1"/>
          </p:cNvSpPr>
          <p:nvPr/>
        </p:nvSpPr>
        <p:spPr>
          <a:xfrm xmlns:a="http://schemas.openxmlformats.org/drawingml/2006/main">
            <a:off x="1885950" y="257175"/>
            <a:ext cx="80295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2925" b="1" i="0">
                <a:solidFill>
                  <a:srgbClr val="17365D"/>
                </a:solidFill>
                <a:latin typeface="Arial"/>
                <a:ea typeface="Arial"/>
                <a:cs typeface="Arial"/>
              </a:defRPr>
            </a:pPr>
            <a:r>
              <a:rPr sz="2925" b="1" i="0">
                <a:solidFill>
                  <a:srgbClr val="17365D"/>
                </a:solidFill>
                <a:latin typeface="Arial"/>
                <a:ea typeface="Arial"/>
                <a:cs typeface="Arial"/>
              </a:rPr>
              <a:t>Table of Contents</a:t>
            </a:r>
          </a:p>
        </p:txBody>
      </p:sp>
      <p:sp>
        <p:nvSpPr>
          <p:cNvPr id="4" name="rule-45-665">
            <a:extLst xmlns:a="http://schemas.openxmlformats.org/drawingml/2006/main">
              <a:ext uri="{FF2B5EF4-FFF2-40B4-BE49-F238E27FC236}">
                <a16:creationId xmlns:a16="http://schemas.microsoft.com/office/drawing/2014/main" id="{5D12E25B-FFA4-49DA-8BDE-DEA98565E2D0}"/>
              </a:ext>
            </a:extLst>
          </p:cNvPr>
          <p:cNvSpPr>
            <a:spLocks xmlns:a="http://schemas.openxmlformats.org/drawingml/2006/main" noGrp="1"/>
          </p:cNvSpPr>
          <p:nvPr/>
        </p:nvSpPr>
        <p:spPr>
          <a:xfrm xmlns:a="http://schemas.openxmlformats.org/drawingml/2006/main">
            <a:off x="428625" y="6334125"/>
            <a:ext cx="11334750" cy="9525"/>
          </a:xfrm>
          <a:prstGeom xmlns:a="http://schemas.openxmlformats.org/drawingml/2006/main" prst="rect">
            <a:avLst/>
          </a:prstGeom>
          <a:solidFill xmlns:a="http://schemas.openxmlformats.org/drawingml/2006/main">
            <a:srgbClr val="C8D9A5"/>
          </a:solidFill>
          <a:ln xmlns:a="http://schemas.openxmlformats.org/drawingml/2006/main" w="0">
            <a:noFill/>
          </a:ln>
        </p:spPr>
      </p:sp>
      <p:sp>
        <p:nvSpPr>
          <p:cNvPr id="5" name="chrome-date-2">
            <a:extLst xmlns:a="http://schemas.openxmlformats.org/drawingml/2006/main">
              <a:ext uri="{FF2B5EF4-FFF2-40B4-BE49-F238E27FC236}">
                <a16:creationId xmlns:a16="http://schemas.microsoft.com/office/drawing/2014/main" id="{5F63C4D7-EA98-4A2A-AC2B-F552F36B0142}"/>
              </a:ext>
            </a:extLst>
          </p:cNvPr>
          <p:cNvSpPr>
            <a:spLocks xmlns:a="http://schemas.openxmlformats.org/drawingml/2006/main" noGrp="1"/>
          </p:cNvSpPr>
          <p:nvPr/>
        </p:nvSpPr>
        <p:spPr>
          <a:xfrm xmlns:a="http://schemas.openxmlformats.org/drawingml/2006/main">
            <a:off x="466725" y="6391275"/>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900" b="0" i="0">
                <a:solidFill>
                  <a:srgbClr val="17365D"/>
                </a:solidFill>
                <a:latin typeface="Arial"/>
                <a:ea typeface="Arial"/>
                <a:cs typeface="Arial"/>
              </a:defRPr>
            </a:pPr>
            <a:endParaRPr/>
          </a:p>
        </p:txBody>
      </p:sp>
      <p:sp>
        <p:nvSpPr>
          <p:cNvPr id="6" name="chrome-footer-2">
            <a:extLst xmlns:a="http://schemas.openxmlformats.org/drawingml/2006/main">
              <a:ext uri="{FF2B5EF4-FFF2-40B4-BE49-F238E27FC236}">
                <a16:creationId xmlns:a16="http://schemas.microsoft.com/office/drawing/2014/main" id="{D3DD6AD1-30EB-442B-9FB7-6E3415E9A1A8}"/>
              </a:ext>
            </a:extLst>
          </p:cNvPr>
          <p:cNvSpPr>
            <a:spLocks xmlns:a="http://schemas.openxmlformats.org/drawingml/2006/main" noGrp="1"/>
          </p:cNvSpPr>
          <p:nvPr/>
        </p:nvSpPr>
        <p:spPr>
          <a:xfrm xmlns:a="http://schemas.openxmlformats.org/drawingml/2006/main">
            <a:off x="2657475" y="6629400"/>
            <a:ext cx="6686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buNone/>
              <a:defRPr sz="900" b="0" i="0">
                <a:solidFill>
                  <a:srgbClr val="6B7280"/>
                </a:solidFill>
                <a:latin typeface="Arial"/>
                <a:ea typeface="Arial"/>
                <a:cs typeface="Arial"/>
              </a:defRPr>
            </a:pPr>
            <a:r>
              <a:rPr sz="1200" i="0">
                <a:latin typeface="Arial"/>
                <a:ea typeface="Arial"/>
                <a:cs typeface="Arial"/>
              </a:rPr>
              <a:t>CAABC-FL: A Hybrid Privacy-Preserving Framework for Secure Multi-Institutional Collaboration</a:t>
            </a:r>
          </a:p>
        </p:txBody>
      </p:sp>
      <p:sp>
        <p:nvSpPr>
          <p:cNvPr id="7" name="chrome-page-2">
            <a:extLst xmlns:a="http://schemas.openxmlformats.org/drawingml/2006/main">
              <a:ext uri="{FF2B5EF4-FFF2-40B4-BE49-F238E27FC236}">
                <a16:creationId xmlns:a16="http://schemas.microsoft.com/office/drawing/2014/main" id="{B090BECB-4C48-47F7-85E9-2310EFE0B0E3}"/>
              </a:ext>
            </a:extLst>
          </p:cNvPr>
          <p:cNvSpPr>
            <a:spLocks xmlns:a="http://schemas.openxmlformats.org/drawingml/2006/main" noGrp="1"/>
          </p:cNvSpPr>
          <p:nvPr/>
        </p:nvSpPr>
        <p:spPr>
          <a:xfrm xmlns:a="http://schemas.openxmlformats.org/drawingml/2006/main">
            <a:off x="11277600" y="6124575"/>
            <a:ext cx="685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2550" b="1" i="0">
                <a:solidFill>
                  <a:srgbClr val="17365D"/>
                </a:solidFill>
                <a:latin typeface="Arial"/>
                <a:ea typeface="Arial"/>
                <a:cs typeface="Arial"/>
              </a:defRPr>
            </a:pPr>
            <a:r>
              <a:rPr sz="2550" b="1" i="0">
                <a:solidFill>
                  <a:srgbClr val="17365D"/>
                </a:solidFill>
                <a:latin typeface="Arial"/>
                <a:ea typeface="Arial"/>
                <a:cs typeface="Arial"/>
              </a:rPr>
              <a:t>2</a:t>
            </a:r>
          </a:p>
        </p:txBody>
      </p:sp>
      <p:sp>
        <p:nvSpPr>
          <p:cNvPr id="8" name="toc-left">
            <a:extLst xmlns:a="http://schemas.openxmlformats.org/drawingml/2006/main">
              <a:ext uri="{FF2B5EF4-FFF2-40B4-BE49-F238E27FC236}">
                <a16:creationId xmlns:a16="http://schemas.microsoft.com/office/drawing/2014/main" id="{E64BE7FF-2629-4A0E-9774-DCE8509C9B56}"/>
              </a:ext>
            </a:extLst>
          </p:cNvPr>
          <p:cNvSpPr>
            <a:spLocks xmlns:a="http://schemas.openxmlformats.org/drawingml/2006/main" noGrp="1"/>
          </p:cNvSpPr>
          <p:nvPr/>
        </p:nvSpPr>
        <p:spPr>
          <a:xfrm xmlns:a="http://schemas.openxmlformats.org/drawingml/2006/main">
            <a:off x="1428750" y="1571625"/>
            <a:ext cx="42862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1  Introduction</a:t>
            </a:r>
          </a:p>
          <a:p xmlns:a="http://schemas.openxmlformats.org/drawingml/2006/main">
            <a:endParaRPr sz="2250" b="1" i="0">
              <a:solidFill>
                <a:srgbClr val="17365D"/>
              </a:solidFill>
              <a:latin typeface="Arial"/>
              <a:ea typeface="Arial"/>
              <a:cs typeface="Arial"/>
            </a:endParaRPr>
          </a:p>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2  Literature Review</a:t>
            </a:r>
          </a:p>
          <a:p xmlns:a="http://schemas.openxmlformats.org/drawingml/2006/main">
            <a:endParaRPr sz="2250" b="1" i="0">
              <a:solidFill>
                <a:srgbClr val="17365D"/>
              </a:solidFill>
              <a:latin typeface="Arial"/>
              <a:ea typeface="Arial"/>
              <a:cs typeface="Arial"/>
            </a:endParaRPr>
          </a:p>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3  Proposed Methodology</a:t>
            </a:r>
          </a:p>
        </p:txBody>
      </p:sp>
      <p:sp>
        <p:nvSpPr>
          <p:cNvPr id="9" name="rule-630-150">
            <a:extLst xmlns:a="http://schemas.openxmlformats.org/drawingml/2006/main">
              <a:ext uri="{FF2B5EF4-FFF2-40B4-BE49-F238E27FC236}">
                <a16:creationId xmlns:a16="http://schemas.microsoft.com/office/drawing/2014/main" id="{205F7E81-2495-4748-8738-FCD3AA9CDD6B}"/>
              </a:ext>
            </a:extLst>
          </p:cNvPr>
          <p:cNvSpPr>
            <a:spLocks xmlns:a="http://schemas.openxmlformats.org/drawingml/2006/main" noGrp="1"/>
          </p:cNvSpPr>
          <p:nvPr/>
        </p:nvSpPr>
        <p:spPr>
          <a:xfrm xmlns:a="http://schemas.openxmlformats.org/drawingml/2006/main">
            <a:off x="6000750" y="1428750"/>
            <a:ext cx="28575" cy="38100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10" name="toc-right">
            <a:extLst xmlns:a="http://schemas.openxmlformats.org/drawingml/2006/main">
              <a:ext uri="{FF2B5EF4-FFF2-40B4-BE49-F238E27FC236}">
                <a16:creationId xmlns:a16="http://schemas.microsoft.com/office/drawing/2014/main" id="{9E244E5D-05B7-4052-B9B8-DFA1E983C134}"/>
              </a:ext>
            </a:extLst>
          </p:cNvPr>
          <p:cNvSpPr>
            <a:spLocks xmlns:a="http://schemas.openxmlformats.org/drawingml/2006/main" noGrp="1"/>
          </p:cNvSpPr>
          <p:nvPr/>
        </p:nvSpPr>
        <p:spPr>
          <a:xfrm xmlns:a="http://schemas.openxmlformats.org/drawingml/2006/main">
            <a:off x="6572250" y="1571625"/>
            <a:ext cx="42862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4  Results and Discussion</a:t>
            </a:r>
          </a:p>
          <a:p xmlns:a="http://schemas.openxmlformats.org/drawingml/2006/main">
            <a:endParaRPr sz="2250" b="1" i="0">
              <a:solidFill>
                <a:srgbClr val="17365D"/>
              </a:solidFill>
              <a:latin typeface="Arial"/>
              <a:ea typeface="Arial"/>
              <a:cs typeface="Arial"/>
            </a:endParaRPr>
          </a:p>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5  Conclusion</a:t>
            </a:r>
          </a:p>
          <a:p xmlns:a="http://schemas.openxmlformats.org/drawingml/2006/main">
            <a:endParaRPr sz="2250" b="1" i="0">
              <a:solidFill>
                <a:srgbClr val="17365D"/>
              </a:solidFill>
              <a:latin typeface="Arial"/>
              <a:ea typeface="Arial"/>
              <a:cs typeface="Arial"/>
            </a:endParaRPr>
          </a:p>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6  References, Backup and Q&amp;A</a:t>
            </a:r>
          </a:p>
        </p:txBody>
      </p:sp>
      <p:sp>
        <p:nvSpPr>
          <p:cNvPr id="13" name="visible-footer-date-2">
            <a:extLst xmlns:a="http://schemas.openxmlformats.org/drawingml/2006/main">
              <a:ext uri="{FF2B5EF4-FFF2-40B4-BE49-F238E27FC236}">
                <a16:creationId xmlns:a16="http://schemas.microsoft.com/office/drawing/2014/main" id="{1A3CE9A8-5845-45E2-91F0-A01D971DE4F4}"/>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16" name="toc-layout-cover">
            <a:extLst xmlns:a="http://schemas.openxmlformats.org/drawingml/2006/main">
              <a:ext uri="{FF2B5EF4-FFF2-40B4-BE49-F238E27FC236}">
                <a16:creationId xmlns:a16="http://schemas.microsoft.com/office/drawing/2014/main" id="{EB85D7A0-B89B-4FC5-AE09-E11CB4F7A0E2}"/>
              </a:ext>
            </a:extLst>
          </p:cNvPr>
          <p:cNvSpPr>
            <a:spLocks xmlns:a="http://schemas.openxmlformats.org/drawingml/2006/main" noGrp="1"/>
          </p:cNvSpPr>
          <p:nvPr/>
        </p:nvSpPr>
        <p:spPr>
          <a:xfrm xmlns:a="http://schemas.openxmlformats.org/drawingml/2006/main">
            <a:off x="428625" y="1143000"/>
            <a:ext cx="11430000" cy="50958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17" name="toc-center-divider">
            <a:extLst xmlns:a="http://schemas.openxmlformats.org/drawingml/2006/main">
              <a:ext uri="{FF2B5EF4-FFF2-40B4-BE49-F238E27FC236}">
                <a16:creationId xmlns:a16="http://schemas.microsoft.com/office/drawing/2014/main" id="{8DB92A33-CCD2-422E-8493-D154849ECFDC}"/>
              </a:ext>
            </a:extLst>
          </p:cNvPr>
          <p:cNvSpPr>
            <a:spLocks xmlns:a="http://schemas.openxmlformats.org/drawingml/2006/main" noGrp="1"/>
          </p:cNvSpPr>
          <p:nvPr/>
        </p:nvSpPr>
        <p:spPr>
          <a:xfrm xmlns:a="http://schemas.openxmlformats.org/drawingml/2006/main">
            <a:off x="6076950" y="1428750"/>
            <a:ext cx="19050" cy="4476750"/>
          </a:xfrm>
          <a:prstGeom xmlns:a="http://schemas.openxmlformats.org/drawingml/2006/main" prst="rect">
            <a:avLst/>
          </a:prstGeom>
          <a:solidFill xmlns:a="http://schemas.openxmlformats.org/drawingml/2006/main">
            <a:srgbClr val="DDE8E1"/>
          </a:solidFill>
          <a:ln xmlns:a="http://schemas.openxmlformats.org/drawingml/2006/main" w="0">
            <a:noFill/>
          </a:ln>
        </p:spPr>
      </p:sp>
      <p:sp>
        <p:nvSpPr>
          <p:cNvPr id="18" name="toc-center-divider-accent">
            <a:extLst xmlns:a="http://schemas.openxmlformats.org/drawingml/2006/main">
              <a:ext uri="{FF2B5EF4-FFF2-40B4-BE49-F238E27FC236}">
                <a16:creationId xmlns:a16="http://schemas.microsoft.com/office/drawing/2014/main" id="{B7AE5AE8-CF65-4B0B-B076-13FF885AA7DA}"/>
              </a:ext>
            </a:extLst>
          </p:cNvPr>
          <p:cNvSpPr>
            <a:spLocks xmlns:a="http://schemas.openxmlformats.org/drawingml/2006/main" noGrp="1"/>
          </p:cNvSpPr>
          <p:nvPr/>
        </p:nvSpPr>
        <p:spPr>
          <a:xfrm xmlns:a="http://schemas.openxmlformats.org/drawingml/2006/main">
            <a:off x="6076950" y="2190750"/>
            <a:ext cx="19050" cy="2905125"/>
          </a:xfrm>
          <a:prstGeom xmlns:a="http://schemas.openxmlformats.org/drawingml/2006/main" prst="rect">
            <a:avLst/>
          </a:prstGeom>
          <a:solidFill xmlns:a="http://schemas.openxmlformats.org/drawingml/2006/main">
            <a:srgbClr val="008A46"/>
          </a:solidFill>
          <a:ln xmlns:a="http://schemas.openxmlformats.org/drawingml/2006/main" w="0">
            <a:noFill/>
          </a:ln>
        </p:spPr>
      </p:sp>
      <p:sp>
        <p:nvSpPr>
          <p:cNvPr id="19" name="toc-introduction-marker">
            <a:extLst xmlns:a="http://schemas.openxmlformats.org/drawingml/2006/main">
              <a:ext uri="{FF2B5EF4-FFF2-40B4-BE49-F238E27FC236}">
                <a16:creationId xmlns:a16="http://schemas.microsoft.com/office/drawing/2014/main" id="{20AFD810-0237-4509-A6EB-39DDD85DE7C5}"/>
              </a:ext>
            </a:extLst>
          </p:cNvPr>
          <p:cNvSpPr>
            <a:spLocks xmlns:a="http://schemas.openxmlformats.org/drawingml/2006/main" noGrp="1"/>
          </p:cNvSpPr>
          <p:nvPr/>
        </p:nvSpPr>
        <p:spPr>
          <a:xfrm xmlns:a="http://schemas.openxmlformats.org/drawingml/2006/main">
            <a:off x="781050" y="1447800"/>
            <a:ext cx="133350" cy="133350"/>
          </a:xfrm>
          <a:prstGeom xmlns:a="http://schemas.openxmlformats.org/drawingml/2006/main" prst="rect">
            <a:avLst/>
          </a:prstGeom>
          <a:solidFill xmlns:a="http://schemas.openxmlformats.org/drawingml/2006/main">
            <a:srgbClr val="FFFFFF"/>
          </a:solidFill>
          <a:ln xmlns:a="http://schemas.openxmlformats.org/drawingml/2006/main" w="15240">
            <a:solidFill>
              <a:srgbClr val="008A46"/>
            </a:solidFill>
          </a:ln>
        </p:spPr>
      </p:sp>
      <p:sp>
        <p:nvSpPr>
          <p:cNvPr id="20" name="toc-introduction-title">
            <a:extLst xmlns:a="http://schemas.openxmlformats.org/drawingml/2006/main">
              <a:ext uri="{FF2B5EF4-FFF2-40B4-BE49-F238E27FC236}">
                <a16:creationId xmlns:a16="http://schemas.microsoft.com/office/drawing/2014/main" id="{C6A1879B-2B24-461C-9404-8457990A0544}"/>
              </a:ext>
            </a:extLst>
          </p:cNvPr>
          <p:cNvSpPr>
            <a:spLocks xmlns:a="http://schemas.openxmlformats.org/drawingml/2006/main" noGrp="1"/>
          </p:cNvSpPr>
          <p:nvPr/>
        </p:nvSpPr>
        <p:spPr>
          <a:xfrm xmlns:a="http://schemas.openxmlformats.org/drawingml/2006/main">
            <a:off x="1047750" y="1381125"/>
            <a:ext cx="4667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806" lnSpcReduction="10000"/>
          </a:bodyPr>
          <a:lstStyle xmlns:a="http://schemas.openxmlformats.org/drawingml/2006/main"/>
          <a:p xmlns:a="http://schemas.openxmlformats.org/drawingml/2006/main">
            <a:pPr>
              <a:buNone/>
              <a:defRPr sz="1800" b="1">
                <a:solidFill>
                  <a:srgbClr val="111111"/>
                </a:solidFill>
                <a:latin typeface="Arial"/>
                <a:ea typeface="Arial"/>
                <a:cs typeface="Arial"/>
              </a:defRPr>
            </a:pPr>
            <a:r>
              <a:rPr sz="1800" b="1">
                <a:solidFill>
                  <a:srgbClr val="111111"/>
                </a:solidFill>
                <a:latin typeface="Arial"/>
                <a:ea typeface="Arial"/>
                <a:cs typeface="Arial"/>
              </a:rPr>
              <a:t>Introduction</a:t>
            </a:r>
          </a:p>
        </p:txBody>
      </p:sp>
      <p:sp>
        <p:nvSpPr>
          <p:cNvPr id="21" name="toc-introduction-chevron-1">
            <a:extLst xmlns:a="http://schemas.openxmlformats.org/drawingml/2006/main">
              <a:ext uri="{FF2B5EF4-FFF2-40B4-BE49-F238E27FC236}">
                <a16:creationId xmlns:a16="http://schemas.microsoft.com/office/drawing/2014/main" id="{ED46F73D-DEEE-4AD4-8C83-7A6B27775D16}"/>
              </a:ext>
            </a:extLst>
          </p:cNvPr>
          <p:cNvSpPr>
            <a:spLocks xmlns:a="http://schemas.openxmlformats.org/drawingml/2006/main" noGrp="1"/>
          </p:cNvSpPr>
          <p:nvPr/>
        </p:nvSpPr>
        <p:spPr>
          <a:xfrm xmlns:a="http://schemas.openxmlformats.org/drawingml/2006/main">
            <a:off x="1181100" y="1724025"/>
            <a:ext cx="209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2970" lnSpcReduction="1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22" name="toc-introduction-item-1">
            <a:extLst xmlns:a="http://schemas.openxmlformats.org/drawingml/2006/main">
              <a:ext uri="{FF2B5EF4-FFF2-40B4-BE49-F238E27FC236}">
                <a16:creationId xmlns:a16="http://schemas.microsoft.com/office/drawing/2014/main" id="{5B518010-3BC3-43DB-B63D-A1BB68F41DA9}"/>
              </a:ext>
            </a:extLst>
          </p:cNvPr>
          <p:cNvSpPr>
            <a:spLocks xmlns:a="http://schemas.openxmlformats.org/drawingml/2006/main" noGrp="1"/>
          </p:cNvSpPr>
          <p:nvPr/>
        </p:nvSpPr>
        <p:spPr>
          <a:xfrm xmlns:a="http://schemas.openxmlformats.org/drawingml/2006/main">
            <a:off x="1466850" y="1724025"/>
            <a:ext cx="409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294" lnSpcReduction="10000"/>
          </a:bodyPr>
          <a:lstStyle xmlns:a="http://schemas.openxmlformats.org/drawingml/2006/main"/>
          <a:p xmlns:a="http://schemas.openxmlformats.org/drawingml/2006/main">
            <a:pPr>
              <a:buNone/>
              <a:defRPr sz="1275">
                <a:solidFill>
                  <a:srgbClr val="163F7A"/>
                </a:solidFill>
                <a:latin typeface="Arial"/>
                <a:ea typeface="Arial"/>
                <a:cs typeface="Arial"/>
              </a:defRPr>
            </a:pPr>
            <a:r>
              <a:rPr sz="1275">
                <a:solidFill>
                  <a:srgbClr val="163F7A"/>
                </a:solidFill>
                <a:latin typeface="Arial"/>
                <a:ea typeface="Arial"/>
                <a:cs typeface="Arial"/>
              </a:rPr>
              <a:t>Background and motivation</a:t>
            </a:r>
          </a:p>
        </p:txBody>
      </p:sp>
      <p:sp>
        <p:nvSpPr>
          <p:cNvPr id="23" name="toc-introduction-chevron-2">
            <a:extLst xmlns:a="http://schemas.openxmlformats.org/drawingml/2006/main">
              <a:ext uri="{FF2B5EF4-FFF2-40B4-BE49-F238E27FC236}">
                <a16:creationId xmlns:a16="http://schemas.microsoft.com/office/drawing/2014/main" id="{CDD3684C-4BC1-4792-B7ED-E18200CF7B2A}"/>
              </a:ext>
            </a:extLst>
          </p:cNvPr>
          <p:cNvSpPr>
            <a:spLocks xmlns:a="http://schemas.openxmlformats.org/drawingml/2006/main" noGrp="1"/>
          </p:cNvSpPr>
          <p:nvPr/>
        </p:nvSpPr>
        <p:spPr>
          <a:xfrm xmlns:a="http://schemas.openxmlformats.org/drawingml/2006/main">
            <a:off x="1181100" y="1981200"/>
            <a:ext cx="209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2970" lnSpcReduction="1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24" name="toc-introduction-item-2">
            <a:extLst xmlns:a="http://schemas.openxmlformats.org/drawingml/2006/main">
              <a:ext uri="{FF2B5EF4-FFF2-40B4-BE49-F238E27FC236}">
                <a16:creationId xmlns:a16="http://schemas.microsoft.com/office/drawing/2014/main" id="{CBC16602-1DCD-4A1A-AC3A-726BDBAD88BF}"/>
              </a:ext>
            </a:extLst>
          </p:cNvPr>
          <p:cNvSpPr>
            <a:spLocks xmlns:a="http://schemas.openxmlformats.org/drawingml/2006/main" noGrp="1"/>
          </p:cNvSpPr>
          <p:nvPr/>
        </p:nvSpPr>
        <p:spPr>
          <a:xfrm xmlns:a="http://schemas.openxmlformats.org/drawingml/2006/main">
            <a:off x="1466850" y="1981200"/>
            <a:ext cx="409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294" lnSpcReduction="10000"/>
          </a:bodyPr>
          <a:lstStyle xmlns:a="http://schemas.openxmlformats.org/drawingml/2006/main"/>
          <a:p xmlns:a="http://schemas.openxmlformats.org/drawingml/2006/main">
            <a:pPr>
              <a:buNone/>
              <a:defRPr sz="1275">
                <a:solidFill>
                  <a:srgbClr val="163F7A"/>
                </a:solidFill>
                <a:latin typeface="Arial"/>
                <a:ea typeface="Arial"/>
                <a:cs typeface="Arial"/>
              </a:defRPr>
            </a:pPr>
            <a:r>
              <a:rPr sz="1275">
                <a:solidFill>
                  <a:srgbClr val="163F7A"/>
                </a:solidFill>
                <a:latin typeface="Arial"/>
                <a:ea typeface="Arial"/>
                <a:cs typeface="Arial"/>
              </a:rPr>
              <a:t>Problem statement</a:t>
            </a:r>
          </a:p>
        </p:txBody>
      </p:sp>
      <p:sp>
        <p:nvSpPr>
          <p:cNvPr id="25" name="toc-introduction-chevron-3">
            <a:extLst xmlns:a="http://schemas.openxmlformats.org/drawingml/2006/main">
              <a:ext uri="{FF2B5EF4-FFF2-40B4-BE49-F238E27FC236}">
                <a16:creationId xmlns:a16="http://schemas.microsoft.com/office/drawing/2014/main" id="{590FA40F-1F68-46F6-B7AF-2CC09442BC4C}"/>
              </a:ext>
            </a:extLst>
          </p:cNvPr>
          <p:cNvSpPr>
            <a:spLocks xmlns:a="http://schemas.openxmlformats.org/drawingml/2006/main" noGrp="1"/>
          </p:cNvSpPr>
          <p:nvPr/>
        </p:nvSpPr>
        <p:spPr>
          <a:xfrm xmlns:a="http://schemas.openxmlformats.org/drawingml/2006/main">
            <a:off x="1181100" y="2238375"/>
            <a:ext cx="209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2970" lnSpcReduction="1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26" name="toc-introduction-item-3">
            <a:extLst xmlns:a="http://schemas.openxmlformats.org/drawingml/2006/main">
              <a:ext uri="{FF2B5EF4-FFF2-40B4-BE49-F238E27FC236}">
                <a16:creationId xmlns:a16="http://schemas.microsoft.com/office/drawing/2014/main" id="{299ED237-5381-4798-9870-64C2CFB74A21}"/>
              </a:ext>
            </a:extLst>
          </p:cNvPr>
          <p:cNvSpPr>
            <a:spLocks xmlns:a="http://schemas.openxmlformats.org/drawingml/2006/main" noGrp="1"/>
          </p:cNvSpPr>
          <p:nvPr/>
        </p:nvSpPr>
        <p:spPr>
          <a:xfrm xmlns:a="http://schemas.openxmlformats.org/drawingml/2006/main">
            <a:off x="1466850" y="2238375"/>
            <a:ext cx="409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294" lnSpcReduction="10000"/>
          </a:bodyPr>
          <a:lstStyle xmlns:a="http://schemas.openxmlformats.org/drawingml/2006/main"/>
          <a:p xmlns:a="http://schemas.openxmlformats.org/drawingml/2006/main">
            <a:pPr>
              <a:buNone/>
              <a:defRPr sz="1275">
                <a:solidFill>
                  <a:srgbClr val="163F7A"/>
                </a:solidFill>
                <a:latin typeface="Arial"/>
                <a:ea typeface="Arial"/>
                <a:cs typeface="Arial"/>
              </a:defRPr>
            </a:pPr>
            <a:r>
              <a:rPr sz="1275">
                <a:solidFill>
                  <a:srgbClr val="163F7A"/>
                </a:solidFill>
                <a:latin typeface="Arial"/>
                <a:ea typeface="Arial"/>
                <a:cs typeface="Arial"/>
              </a:rPr>
              <a:t>Research questions and objectives</a:t>
            </a:r>
          </a:p>
        </p:txBody>
      </p:sp>
      <p:sp>
        <p:nvSpPr>
          <p:cNvPr id="27" name="toc-literature-marker">
            <a:extLst xmlns:a="http://schemas.openxmlformats.org/drawingml/2006/main">
              <a:ext uri="{FF2B5EF4-FFF2-40B4-BE49-F238E27FC236}">
                <a16:creationId xmlns:a16="http://schemas.microsoft.com/office/drawing/2014/main" id="{B4EDC459-3AC7-4E59-8671-97041EC83181}"/>
              </a:ext>
            </a:extLst>
          </p:cNvPr>
          <p:cNvSpPr>
            <a:spLocks xmlns:a="http://schemas.openxmlformats.org/drawingml/2006/main" noGrp="1"/>
          </p:cNvSpPr>
          <p:nvPr/>
        </p:nvSpPr>
        <p:spPr>
          <a:xfrm xmlns:a="http://schemas.openxmlformats.org/drawingml/2006/main">
            <a:off x="781050" y="2828925"/>
            <a:ext cx="133350" cy="133350"/>
          </a:xfrm>
          <a:prstGeom xmlns:a="http://schemas.openxmlformats.org/drawingml/2006/main" prst="rect">
            <a:avLst/>
          </a:prstGeom>
          <a:solidFill xmlns:a="http://schemas.openxmlformats.org/drawingml/2006/main">
            <a:srgbClr val="FFFFFF"/>
          </a:solidFill>
          <a:ln xmlns:a="http://schemas.openxmlformats.org/drawingml/2006/main" w="15240">
            <a:solidFill>
              <a:srgbClr val="008A46"/>
            </a:solidFill>
          </a:ln>
        </p:spPr>
      </p:sp>
      <p:sp>
        <p:nvSpPr>
          <p:cNvPr id="28" name="toc-literature-title">
            <a:extLst xmlns:a="http://schemas.openxmlformats.org/drawingml/2006/main">
              <a:ext uri="{FF2B5EF4-FFF2-40B4-BE49-F238E27FC236}">
                <a16:creationId xmlns:a16="http://schemas.microsoft.com/office/drawing/2014/main" id="{E7394B6E-47C3-4AF2-90B0-522DAB160513}"/>
              </a:ext>
            </a:extLst>
          </p:cNvPr>
          <p:cNvSpPr>
            <a:spLocks xmlns:a="http://schemas.openxmlformats.org/drawingml/2006/main" noGrp="1"/>
          </p:cNvSpPr>
          <p:nvPr/>
        </p:nvSpPr>
        <p:spPr>
          <a:xfrm xmlns:a="http://schemas.openxmlformats.org/drawingml/2006/main">
            <a:off x="1047750" y="2762250"/>
            <a:ext cx="4667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806" lnSpcReduction="10000"/>
          </a:bodyPr>
          <a:lstStyle xmlns:a="http://schemas.openxmlformats.org/drawingml/2006/main"/>
          <a:p xmlns:a="http://schemas.openxmlformats.org/drawingml/2006/main">
            <a:pPr>
              <a:buNone/>
              <a:defRPr sz="1800" b="1">
                <a:solidFill>
                  <a:srgbClr val="111111"/>
                </a:solidFill>
                <a:latin typeface="Arial"/>
                <a:ea typeface="Arial"/>
                <a:cs typeface="Arial"/>
              </a:defRPr>
            </a:pPr>
            <a:r>
              <a:rPr sz="1800" b="1">
                <a:solidFill>
                  <a:srgbClr val="111111"/>
                </a:solidFill>
                <a:latin typeface="Arial"/>
                <a:ea typeface="Arial"/>
                <a:cs typeface="Arial"/>
              </a:rPr>
              <a:t>Literature Review</a:t>
            </a:r>
          </a:p>
        </p:txBody>
      </p:sp>
      <p:sp>
        <p:nvSpPr>
          <p:cNvPr id="29" name="toc-literature-chevron-1">
            <a:extLst xmlns:a="http://schemas.openxmlformats.org/drawingml/2006/main">
              <a:ext uri="{FF2B5EF4-FFF2-40B4-BE49-F238E27FC236}">
                <a16:creationId xmlns:a16="http://schemas.microsoft.com/office/drawing/2014/main" id="{E4C5ABD3-54F1-4BC4-B308-386E8F69A498}"/>
              </a:ext>
            </a:extLst>
          </p:cNvPr>
          <p:cNvSpPr>
            <a:spLocks xmlns:a="http://schemas.openxmlformats.org/drawingml/2006/main" noGrp="1"/>
          </p:cNvSpPr>
          <p:nvPr/>
        </p:nvSpPr>
        <p:spPr>
          <a:xfrm xmlns:a="http://schemas.openxmlformats.org/drawingml/2006/main">
            <a:off x="1181100" y="3105150"/>
            <a:ext cx="209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2970" lnSpcReduction="1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30" name="toc-literature-item-1">
            <a:extLst xmlns:a="http://schemas.openxmlformats.org/drawingml/2006/main">
              <a:ext uri="{FF2B5EF4-FFF2-40B4-BE49-F238E27FC236}">
                <a16:creationId xmlns:a16="http://schemas.microsoft.com/office/drawing/2014/main" id="{896A1579-0C62-4F0D-955B-2B7F7F9C5DA3}"/>
              </a:ext>
            </a:extLst>
          </p:cNvPr>
          <p:cNvSpPr>
            <a:spLocks xmlns:a="http://schemas.openxmlformats.org/drawingml/2006/main" noGrp="1"/>
          </p:cNvSpPr>
          <p:nvPr/>
        </p:nvSpPr>
        <p:spPr>
          <a:xfrm xmlns:a="http://schemas.openxmlformats.org/drawingml/2006/main">
            <a:off x="1466850" y="3105150"/>
            <a:ext cx="409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294" lnSpcReduction="10000"/>
          </a:bodyPr>
          <a:lstStyle xmlns:a="http://schemas.openxmlformats.org/drawingml/2006/main"/>
          <a:p xmlns:a="http://schemas.openxmlformats.org/drawingml/2006/main">
            <a:pPr>
              <a:buNone/>
              <a:defRPr sz="1275">
                <a:solidFill>
                  <a:srgbClr val="163F7A"/>
                </a:solidFill>
                <a:latin typeface="Arial"/>
                <a:ea typeface="Arial"/>
                <a:cs typeface="Arial"/>
              </a:defRPr>
            </a:pPr>
            <a:r>
              <a:rPr sz="1275">
                <a:solidFill>
                  <a:srgbClr val="163F7A"/>
                </a:solidFill>
                <a:latin typeface="Arial"/>
                <a:ea typeface="Arial"/>
                <a:cs typeface="Arial"/>
              </a:rPr>
              <a:t>Related studies</a:t>
            </a:r>
          </a:p>
        </p:txBody>
      </p:sp>
      <p:sp>
        <p:nvSpPr>
          <p:cNvPr id="31" name="toc-literature-chevron-2">
            <a:extLst xmlns:a="http://schemas.openxmlformats.org/drawingml/2006/main">
              <a:ext uri="{FF2B5EF4-FFF2-40B4-BE49-F238E27FC236}">
                <a16:creationId xmlns:a16="http://schemas.microsoft.com/office/drawing/2014/main" id="{41B4E2B3-6349-45F6-AF64-EDE8B9C36B3A}"/>
              </a:ext>
            </a:extLst>
          </p:cNvPr>
          <p:cNvSpPr>
            <a:spLocks xmlns:a="http://schemas.openxmlformats.org/drawingml/2006/main" noGrp="1"/>
          </p:cNvSpPr>
          <p:nvPr/>
        </p:nvSpPr>
        <p:spPr>
          <a:xfrm xmlns:a="http://schemas.openxmlformats.org/drawingml/2006/main">
            <a:off x="1181100" y="3362325"/>
            <a:ext cx="209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2970" lnSpcReduction="1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32" name="toc-literature-item-2">
            <a:extLst xmlns:a="http://schemas.openxmlformats.org/drawingml/2006/main">
              <a:ext uri="{FF2B5EF4-FFF2-40B4-BE49-F238E27FC236}">
                <a16:creationId xmlns:a16="http://schemas.microsoft.com/office/drawing/2014/main" id="{73660351-7D0D-4CBF-BA91-51537F803DD0}"/>
              </a:ext>
            </a:extLst>
          </p:cNvPr>
          <p:cNvSpPr>
            <a:spLocks xmlns:a="http://schemas.openxmlformats.org/drawingml/2006/main" noGrp="1"/>
          </p:cNvSpPr>
          <p:nvPr/>
        </p:nvSpPr>
        <p:spPr>
          <a:xfrm xmlns:a="http://schemas.openxmlformats.org/drawingml/2006/main">
            <a:off x="1466850" y="3362325"/>
            <a:ext cx="409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294" lnSpcReduction="10000"/>
          </a:bodyPr>
          <a:lstStyle xmlns:a="http://schemas.openxmlformats.org/drawingml/2006/main"/>
          <a:p xmlns:a="http://schemas.openxmlformats.org/drawingml/2006/main">
            <a:pPr>
              <a:buNone/>
              <a:defRPr sz="1275">
                <a:solidFill>
                  <a:srgbClr val="163F7A"/>
                </a:solidFill>
                <a:latin typeface="Arial"/>
                <a:ea typeface="Arial"/>
                <a:cs typeface="Arial"/>
              </a:defRPr>
            </a:pPr>
            <a:r>
              <a:rPr sz="1275">
                <a:solidFill>
                  <a:srgbClr val="163F7A"/>
                </a:solidFill>
                <a:latin typeface="Arial"/>
                <a:ea typeface="Arial"/>
                <a:cs typeface="Arial"/>
              </a:rPr>
              <a:t>Comparative analysis and research gap</a:t>
            </a:r>
          </a:p>
        </p:txBody>
      </p:sp>
      <p:sp>
        <p:nvSpPr>
          <p:cNvPr id="33" name="toc-framework-marker">
            <a:extLst xmlns:a="http://schemas.openxmlformats.org/drawingml/2006/main">
              <a:ext uri="{FF2B5EF4-FFF2-40B4-BE49-F238E27FC236}">
                <a16:creationId xmlns:a16="http://schemas.microsoft.com/office/drawing/2014/main" id="{9E45591D-DBA9-4DFF-B49C-96CED4E389A3}"/>
              </a:ext>
            </a:extLst>
          </p:cNvPr>
          <p:cNvSpPr>
            <a:spLocks xmlns:a="http://schemas.openxmlformats.org/drawingml/2006/main" noGrp="1"/>
          </p:cNvSpPr>
          <p:nvPr/>
        </p:nvSpPr>
        <p:spPr>
          <a:xfrm xmlns:a="http://schemas.openxmlformats.org/drawingml/2006/main">
            <a:off x="781050" y="3924300"/>
            <a:ext cx="133350" cy="133350"/>
          </a:xfrm>
          <a:prstGeom xmlns:a="http://schemas.openxmlformats.org/drawingml/2006/main" prst="rect">
            <a:avLst/>
          </a:prstGeom>
          <a:solidFill xmlns:a="http://schemas.openxmlformats.org/drawingml/2006/main">
            <a:srgbClr val="FFFFFF"/>
          </a:solidFill>
          <a:ln xmlns:a="http://schemas.openxmlformats.org/drawingml/2006/main" w="15240">
            <a:solidFill>
              <a:srgbClr val="008A46"/>
            </a:solidFill>
          </a:ln>
        </p:spPr>
      </p:sp>
      <p:sp>
        <p:nvSpPr>
          <p:cNvPr id="34" name="toc-framework-title">
            <a:extLst xmlns:a="http://schemas.openxmlformats.org/drawingml/2006/main">
              <a:ext uri="{FF2B5EF4-FFF2-40B4-BE49-F238E27FC236}">
                <a16:creationId xmlns:a16="http://schemas.microsoft.com/office/drawing/2014/main" id="{C0CF9239-0025-45BA-8295-AB7670CE8FF0}"/>
              </a:ext>
            </a:extLst>
          </p:cNvPr>
          <p:cNvSpPr>
            <a:spLocks xmlns:a="http://schemas.openxmlformats.org/drawingml/2006/main" noGrp="1"/>
          </p:cNvSpPr>
          <p:nvPr/>
        </p:nvSpPr>
        <p:spPr>
          <a:xfrm xmlns:a="http://schemas.openxmlformats.org/drawingml/2006/main">
            <a:off x="1047750" y="3857625"/>
            <a:ext cx="4667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806" lnSpcReduction="10000"/>
          </a:bodyPr>
          <a:lstStyle xmlns:a="http://schemas.openxmlformats.org/drawingml/2006/main"/>
          <a:p xmlns:a="http://schemas.openxmlformats.org/drawingml/2006/main">
            <a:pPr>
              <a:buNone/>
              <a:defRPr sz="1800" b="1">
                <a:solidFill>
                  <a:srgbClr val="111111"/>
                </a:solidFill>
                <a:latin typeface="Arial"/>
                <a:ea typeface="Arial"/>
                <a:cs typeface="Arial"/>
              </a:defRPr>
            </a:pPr>
            <a:r>
              <a:rPr sz="1800" b="1">
                <a:solidFill>
                  <a:srgbClr val="111111"/>
                </a:solidFill>
                <a:latin typeface="Arial"/>
                <a:ea typeface="Arial"/>
                <a:cs typeface="Arial"/>
              </a:rPr>
              <a:t>Conceptual Framework</a:t>
            </a:r>
          </a:p>
        </p:txBody>
      </p:sp>
      <p:sp>
        <p:nvSpPr>
          <p:cNvPr id="35" name="toc-framework-chevron-1">
            <a:extLst xmlns:a="http://schemas.openxmlformats.org/drawingml/2006/main">
              <a:ext uri="{FF2B5EF4-FFF2-40B4-BE49-F238E27FC236}">
                <a16:creationId xmlns:a16="http://schemas.microsoft.com/office/drawing/2014/main" id="{D0FFF833-C244-4FFB-BDB4-FC5B51B2B08C}"/>
              </a:ext>
            </a:extLst>
          </p:cNvPr>
          <p:cNvSpPr>
            <a:spLocks xmlns:a="http://schemas.openxmlformats.org/drawingml/2006/main" noGrp="1"/>
          </p:cNvSpPr>
          <p:nvPr/>
        </p:nvSpPr>
        <p:spPr>
          <a:xfrm xmlns:a="http://schemas.openxmlformats.org/drawingml/2006/main">
            <a:off x="1181100" y="4200525"/>
            <a:ext cx="209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2970" lnSpcReduction="1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36" name="toc-framework-item-1">
            <a:extLst xmlns:a="http://schemas.openxmlformats.org/drawingml/2006/main">
              <a:ext uri="{FF2B5EF4-FFF2-40B4-BE49-F238E27FC236}">
                <a16:creationId xmlns:a16="http://schemas.microsoft.com/office/drawing/2014/main" id="{9D73A5DB-6464-41A2-ABB6-869DC835F3DE}"/>
              </a:ext>
            </a:extLst>
          </p:cNvPr>
          <p:cNvSpPr>
            <a:spLocks xmlns:a="http://schemas.openxmlformats.org/drawingml/2006/main" noGrp="1"/>
          </p:cNvSpPr>
          <p:nvPr/>
        </p:nvSpPr>
        <p:spPr>
          <a:xfrm xmlns:a="http://schemas.openxmlformats.org/drawingml/2006/main">
            <a:off x="1466850" y="4200525"/>
            <a:ext cx="409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294" lnSpcReduction="10000"/>
          </a:bodyPr>
          <a:lstStyle xmlns:a="http://schemas.openxmlformats.org/drawingml/2006/main"/>
          <a:p xmlns:a="http://schemas.openxmlformats.org/drawingml/2006/main">
            <a:pPr>
              <a:buNone/>
              <a:defRPr sz="1275">
                <a:solidFill>
                  <a:srgbClr val="163F7A"/>
                </a:solidFill>
                <a:latin typeface="Arial"/>
                <a:ea typeface="Arial"/>
                <a:cs typeface="Arial"/>
              </a:defRPr>
            </a:pPr>
            <a:r>
              <a:rPr sz="1275">
                <a:solidFill>
                  <a:srgbClr val="163F7A"/>
                </a:solidFill>
                <a:latin typeface="Arial"/>
                <a:ea typeface="Arial"/>
                <a:cs typeface="Arial"/>
              </a:rPr>
              <a:t>Security goals and system components</a:t>
            </a:r>
          </a:p>
        </p:txBody>
      </p:sp>
      <p:sp>
        <p:nvSpPr>
          <p:cNvPr id="37" name="toc-framework-chevron-2">
            <a:extLst xmlns:a="http://schemas.openxmlformats.org/drawingml/2006/main">
              <a:ext uri="{FF2B5EF4-FFF2-40B4-BE49-F238E27FC236}">
                <a16:creationId xmlns:a16="http://schemas.microsoft.com/office/drawing/2014/main" id="{5BB24590-6216-4280-98FE-C18B441BC7F4}"/>
              </a:ext>
            </a:extLst>
          </p:cNvPr>
          <p:cNvSpPr>
            <a:spLocks xmlns:a="http://schemas.openxmlformats.org/drawingml/2006/main" noGrp="1"/>
          </p:cNvSpPr>
          <p:nvPr/>
        </p:nvSpPr>
        <p:spPr>
          <a:xfrm xmlns:a="http://schemas.openxmlformats.org/drawingml/2006/main">
            <a:off x="1181100" y="4457700"/>
            <a:ext cx="209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2970" lnSpcReduction="1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38" name="toc-framework-item-2">
            <a:extLst xmlns:a="http://schemas.openxmlformats.org/drawingml/2006/main">
              <a:ext uri="{FF2B5EF4-FFF2-40B4-BE49-F238E27FC236}">
                <a16:creationId xmlns:a16="http://schemas.microsoft.com/office/drawing/2014/main" id="{F3066673-B4A1-4684-8DBC-4C576160F543}"/>
              </a:ext>
            </a:extLst>
          </p:cNvPr>
          <p:cNvSpPr>
            <a:spLocks xmlns:a="http://schemas.openxmlformats.org/drawingml/2006/main" noGrp="1"/>
          </p:cNvSpPr>
          <p:nvPr/>
        </p:nvSpPr>
        <p:spPr>
          <a:xfrm xmlns:a="http://schemas.openxmlformats.org/drawingml/2006/main">
            <a:off x="1466850" y="4457700"/>
            <a:ext cx="409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294" lnSpcReduction="10000"/>
          </a:bodyPr>
          <a:lstStyle xmlns:a="http://schemas.openxmlformats.org/drawingml/2006/main"/>
          <a:p xmlns:a="http://schemas.openxmlformats.org/drawingml/2006/main">
            <a:pPr>
              <a:buNone/>
              <a:defRPr sz="1275">
                <a:solidFill>
                  <a:srgbClr val="163F7A"/>
                </a:solidFill>
                <a:latin typeface="Arial"/>
                <a:ea typeface="Arial"/>
                <a:cs typeface="Arial"/>
              </a:defRPr>
            </a:pPr>
            <a:r>
              <a:rPr sz="1275">
                <a:solidFill>
                  <a:srgbClr val="163F7A"/>
                </a:solidFill>
                <a:latin typeface="Arial"/>
                <a:ea typeface="Arial"/>
                <a:cs typeface="Arial"/>
              </a:rPr>
              <a:t>Threat model and trust assumptions</a:t>
            </a:r>
          </a:p>
        </p:txBody>
      </p:sp>
      <p:sp>
        <p:nvSpPr>
          <p:cNvPr id="39" name="toc-methodology-marker">
            <a:extLst xmlns:a="http://schemas.openxmlformats.org/drawingml/2006/main">
              <a:ext uri="{FF2B5EF4-FFF2-40B4-BE49-F238E27FC236}">
                <a16:creationId xmlns:a16="http://schemas.microsoft.com/office/drawing/2014/main" id="{C4BCB746-101E-49D2-8084-E8C997B2C69F}"/>
              </a:ext>
            </a:extLst>
          </p:cNvPr>
          <p:cNvSpPr>
            <a:spLocks xmlns:a="http://schemas.openxmlformats.org/drawingml/2006/main" noGrp="1"/>
          </p:cNvSpPr>
          <p:nvPr/>
        </p:nvSpPr>
        <p:spPr>
          <a:xfrm xmlns:a="http://schemas.openxmlformats.org/drawingml/2006/main">
            <a:off x="6524625" y="1447800"/>
            <a:ext cx="133350" cy="133350"/>
          </a:xfrm>
          <a:prstGeom xmlns:a="http://schemas.openxmlformats.org/drawingml/2006/main" prst="rect">
            <a:avLst/>
          </a:prstGeom>
          <a:solidFill xmlns:a="http://schemas.openxmlformats.org/drawingml/2006/main">
            <a:srgbClr val="FFFFFF"/>
          </a:solidFill>
          <a:ln xmlns:a="http://schemas.openxmlformats.org/drawingml/2006/main" w="15240">
            <a:solidFill>
              <a:srgbClr val="008A46"/>
            </a:solidFill>
          </a:ln>
        </p:spPr>
      </p:sp>
      <p:sp>
        <p:nvSpPr>
          <p:cNvPr id="40" name="toc-methodology-title">
            <a:extLst xmlns:a="http://schemas.openxmlformats.org/drawingml/2006/main">
              <a:ext uri="{FF2B5EF4-FFF2-40B4-BE49-F238E27FC236}">
                <a16:creationId xmlns:a16="http://schemas.microsoft.com/office/drawing/2014/main" id="{EC150210-A53B-4565-8800-36B55907378A}"/>
              </a:ext>
            </a:extLst>
          </p:cNvPr>
          <p:cNvSpPr>
            <a:spLocks xmlns:a="http://schemas.openxmlformats.org/drawingml/2006/main" noGrp="1"/>
          </p:cNvSpPr>
          <p:nvPr/>
        </p:nvSpPr>
        <p:spPr>
          <a:xfrm xmlns:a="http://schemas.openxmlformats.org/drawingml/2006/main">
            <a:off x="6791325" y="1381125"/>
            <a:ext cx="4667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806" lnSpcReduction="10000"/>
          </a:bodyPr>
          <a:lstStyle xmlns:a="http://schemas.openxmlformats.org/drawingml/2006/main"/>
          <a:p xmlns:a="http://schemas.openxmlformats.org/drawingml/2006/main">
            <a:pPr>
              <a:buNone/>
              <a:defRPr sz="1800" b="1">
                <a:solidFill>
                  <a:srgbClr val="111111"/>
                </a:solidFill>
                <a:latin typeface="Arial"/>
                <a:ea typeface="Arial"/>
                <a:cs typeface="Arial"/>
              </a:defRPr>
            </a:pPr>
            <a:r>
              <a:rPr sz="1800" b="1">
                <a:solidFill>
                  <a:srgbClr val="111111"/>
                </a:solidFill>
                <a:latin typeface="Arial"/>
                <a:ea typeface="Arial"/>
                <a:cs typeface="Arial"/>
              </a:rPr>
              <a:t>Proposed Methodology</a:t>
            </a:r>
          </a:p>
        </p:txBody>
      </p:sp>
      <p:sp>
        <p:nvSpPr>
          <p:cNvPr id="41" name="toc-methodology-chevron-1">
            <a:extLst xmlns:a="http://schemas.openxmlformats.org/drawingml/2006/main">
              <a:ext uri="{FF2B5EF4-FFF2-40B4-BE49-F238E27FC236}">
                <a16:creationId xmlns:a16="http://schemas.microsoft.com/office/drawing/2014/main" id="{898D85A8-87C8-4B49-8783-4EE9E608ED37}"/>
              </a:ext>
            </a:extLst>
          </p:cNvPr>
          <p:cNvSpPr>
            <a:spLocks xmlns:a="http://schemas.openxmlformats.org/drawingml/2006/main" noGrp="1"/>
          </p:cNvSpPr>
          <p:nvPr/>
        </p:nvSpPr>
        <p:spPr>
          <a:xfrm xmlns:a="http://schemas.openxmlformats.org/drawingml/2006/main">
            <a:off x="6924675" y="1724025"/>
            <a:ext cx="209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2970" lnSpcReduction="1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42" name="toc-methodology-item-1">
            <a:extLst xmlns:a="http://schemas.openxmlformats.org/drawingml/2006/main">
              <a:ext uri="{FF2B5EF4-FFF2-40B4-BE49-F238E27FC236}">
                <a16:creationId xmlns:a16="http://schemas.microsoft.com/office/drawing/2014/main" id="{A4CFF20D-157F-454F-B635-EECE68EEF869}"/>
              </a:ext>
            </a:extLst>
          </p:cNvPr>
          <p:cNvSpPr>
            <a:spLocks xmlns:a="http://schemas.openxmlformats.org/drawingml/2006/main" noGrp="1"/>
          </p:cNvSpPr>
          <p:nvPr/>
        </p:nvSpPr>
        <p:spPr>
          <a:xfrm xmlns:a="http://schemas.openxmlformats.org/drawingml/2006/main">
            <a:off x="7210425" y="1724025"/>
            <a:ext cx="409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294" lnSpcReduction="10000"/>
          </a:bodyPr>
          <a:lstStyle xmlns:a="http://schemas.openxmlformats.org/drawingml/2006/main"/>
          <a:p xmlns:a="http://schemas.openxmlformats.org/drawingml/2006/main">
            <a:pPr>
              <a:buNone/>
              <a:defRPr sz="1275">
                <a:solidFill>
                  <a:srgbClr val="163F7A"/>
                </a:solidFill>
                <a:latin typeface="Arial"/>
                <a:ea typeface="Arial"/>
                <a:cs typeface="Arial"/>
              </a:defRPr>
            </a:pPr>
            <a:r>
              <a:rPr sz="1275">
                <a:solidFill>
                  <a:srgbClr val="163F7A"/>
                </a:solidFill>
                <a:latin typeface="Arial"/>
                <a:ea typeface="Arial"/>
                <a:cs typeface="Arial"/>
              </a:rPr>
              <a:t>System architecture</a:t>
            </a:r>
          </a:p>
        </p:txBody>
      </p:sp>
      <p:sp>
        <p:nvSpPr>
          <p:cNvPr id="43" name="toc-methodology-chevron-2">
            <a:extLst xmlns:a="http://schemas.openxmlformats.org/drawingml/2006/main">
              <a:ext uri="{FF2B5EF4-FFF2-40B4-BE49-F238E27FC236}">
                <a16:creationId xmlns:a16="http://schemas.microsoft.com/office/drawing/2014/main" id="{F61EACBB-1BD7-4BA3-A3C2-0179FCD97A8A}"/>
              </a:ext>
            </a:extLst>
          </p:cNvPr>
          <p:cNvSpPr>
            <a:spLocks xmlns:a="http://schemas.openxmlformats.org/drawingml/2006/main" noGrp="1"/>
          </p:cNvSpPr>
          <p:nvPr/>
        </p:nvSpPr>
        <p:spPr>
          <a:xfrm xmlns:a="http://schemas.openxmlformats.org/drawingml/2006/main">
            <a:off x="6924675" y="1981200"/>
            <a:ext cx="209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2970" lnSpcReduction="1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44" name="toc-methodology-item-2">
            <a:extLst xmlns:a="http://schemas.openxmlformats.org/drawingml/2006/main">
              <a:ext uri="{FF2B5EF4-FFF2-40B4-BE49-F238E27FC236}">
                <a16:creationId xmlns:a16="http://schemas.microsoft.com/office/drawing/2014/main" id="{0AB78B8E-96B5-4C39-8107-F8733EE99738}"/>
              </a:ext>
            </a:extLst>
          </p:cNvPr>
          <p:cNvSpPr>
            <a:spLocks xmlns:a="http://schemas.openxmlformats.org/drawingml/2006/main" noGrp="1"/>
          </p:cNvSpPr>
          <p:nvPr/>
        </p:nvSpPr>
        <p:spPr>
          <a:xfrm xmlns:a="http://schemas.openxmlformats.org/drawingml/2006/main">
            <a:off x="7210425" y="1981200"/>
            <a:ext cx="409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294" lnSpcReduction="10000"/>
          </a:bodyPr>
          <a:lstStyle xmlns:a="http://schemas.openxmlformats.org/drawingml/2006/main"/>
          <a:p xmlns:a="http://schemas.openxmlformats.org/drawingml/2006/main">
            <a:pPr>
              <a:buNone/>
              <a:defRPr sz="1275">
                <a:solidFill>
                  <a:srgbClr val="163F7A"/>
                </a:solidFill>
                <a:latin typeface="Arial"/>
                <a:ea typeface="Arial"/>
                <a:cs typeface="Arial"/>
              </a:defRPr>
            </a:pPr>
            <a:r>
              <a:rPr sz="1275">
                <a:solidFill>
                  <a:srgbClr val="163F7A"/>
                </a:solidFill>
                <a:latin typeface="Arial"/>
                <a:ea typeface="Arial"/>
                <a:cs typeface="Arial"/>
              </a:rPr>
              <a:t>CAABC-FL compression workflow</a:t>
            </a:r>
          </a:p>
        </p:txBody>
      </p:sp>
      <p:sp>
        <p:nvSpPr>
          <p:cNvPr id="45" name="toc-methodology-chevron-3">
            <a:extLst xmlns:a="http://schemas.openxmlformats.org/drawingml/2006/main">
              <a:ext uri="{FF2B5EF4-FFF2-40B4-BE49-F238E27FC236}">
                <a16:creationId xmlns:a16="http://schemas.microsoft.com/office/drawing/2014/main" id="{4ED3A77D-BA0C-47C6-83DA-B54E214538E2}"/>
              </a:ext>
            </a:extLst>
          </p:cNvPr>
          <p:cNvSpPr>
            <a:spLocks xmlns:a="http://schemas.openxmlformats.org/drawingml/2006/main" noGrp="1"/>
          </p:cNvSpPr>
          <p:nvPr/>
        </p:nvSpPr>
        <p:spPr>
          <a:xfrm xmlns:a="http://schemas.openxmlformats.org/drawingml/2006/main">
            <a:off x="6924675" y="2238375"/>
            <a:ext cx="209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2970" lnSpcReduction="1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46" name="toc-methodology-item-3">
            <a:extLst xmlns:a="http://schemas.openxmlformats.org/drawingml/2006/main">
              <a:ext uri="{FF2B5EF4-FFF2-40B4-BE49-F238E27FC236}">
                <a16:creationId xmlns:a16="http://schemas.microsoft.com/office/drawing/2014/main" id="{D52C2A79-AA2D-463E-BBAE-36212F64B884}"/>
              </a:ext>
            </a:extLst>
          </p:cNvPr>
          <p:cNvSpPr>
            <a:spLocks xmlns:a="http://schemas.openxmlformats.org/drawingml/2006/main" noGrp="1"/>
          </p:cNvSpPr>
          <p:nvPr/>
        </p:nvSpPr>
        <p:spPr>
          <a:xfrm xmlns:a="http://schemas.openxmlformats.org/drawingml/2006/main">
            <a:off x="7210425" y="2238375"/>
            <a:ext cx="409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294" lnSpcReduction="10000"/>
          </a:bodyPr>
          <a:lstStyle xmlns:a="http://schemas.openxmlformats.org/drawingml/2006/main"/>
          <a:p xmlns:a="http://schemas.openxmlformats.org/drawingml/2006/main">
            <a:pPr>
              <a:buNone/>
              <a:defRPr sz="1275">
                <a:solidFill>
                  <a:srgbClr val="163F7A"/>
                </a:solidFill>
                <a:latin typeface="Arial"/>
                <a:ea typeface="Arial"/>
                <a:cs typeface="Arial"/>
              </a:defRPr>
            </a:pPr>
            <a:r>
              <a:rPr sz="1275">
                <a:solidFill>
                  <a:srgbClr val="163F7A"/>
                </a:solidFill>
                <a:latin typeface="Arial"/>
                <a:ea typeface="Arial"/>
                <a:cs typeface="Arial"/>
              </a:rPr>
              <a:t>Secure aggregation and governance</a:t>
            </a:r>
          </a:p>
        </p:txBody>
      </p:sp>
      <p:sp>
        <p:nvSpPr>
          <p:cNvPr id="47" name="toc-results-marker">
            <a:extLst xmlns:a="http://schemas.openxmlformats.org/drawingml/2006/main">
              <a:ext uri="{FF2B5EF4-FFF2-40B4-BE49-F238E27FC236}">
                <a16:creationId xmlns:a16="http://schemas.microsoft.com/office/drawing/2014/main" id="{10C2522C-44D0-4082-AF42-04C34462661A}"/>
              </a:ext>
            </a:extLst>
          </p:cNvPr>
          <p:cNvSpPr>
            <a:spLocks xmlns:a="http://schemas.openxmlformats.org/drawingml/2006/main" noGrp="1"/>
          </p:cNvSpPr>
          <p:nvPr/>
        </p:nvSpPr>
        <p:spPr>
          <a:xfrm xmlns:a="http://schemas.openxmlformats.org/drawingml/2006/main">
            <a:off x="6524625" y="2828925"/>
            <a:ext cx="133350" cy="133350"/>
          </a:xfrm>
          <a:prstGeom xmlns:a="http://schemas.openxmlformats.org/drawingml/2006/main" prst="rect">
            <a:avLst/>
          </a:prstGeom>
          <a:solidFill xmlns:a="http://schemas.openxmlformats.org/drawingml/2006/main">
            <a:srgbClr val="FFFFFF"/>
          </a:solidFill>
          <a:ln xmlns:a="http://schemas.openxmlformats.org/drawingml/2006/main" w="15240">
            <a:solidFill>
              <a:srgbClr val="008A46"/>
            </a:solidFill>
          </a:ln>
        </p:spPr>
      </p:sp>
      <p:sp>
        <p:nvSpPr>
          <p:cNvPr id="48" name="toc-results-title">
            <a:extLst xmlns:a="http://schemas.openxmlformats.org/drawingml/2006/main">
              <a:ext uri="{FF2B5EF4-FFF2-40B4-BE49-F238E27FC236}">
                <a16:creationId xmlns:a16="http://schemas.microsoft.com/office/drawing/2014/main" id="{2FC1BAEF-4BA9-41A4-8397-2D1A99E7B213}"/>
              </a:ext>
            </a:extLst>
          </p:cNvPr>
          <p:cNvSpPr>
            <a:spLocks xmlns:a="http://schemas.openxmlformats.org/drawingml/2006/main" noGrp="1"/>
          </p:cNvSpPr>
          <p:nvPr/>
        </p:nvSpPr>
        <p:spPr>
          <a:xfrm xmlns:a="http://schemas.openxmlformats.org/drawingml/2006/main">
            <a:off x="6791325" y="2762250"/>
            <a:ext cx="4667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561" lnSpcReduction="20000"/>
          </a:bodyPr>
          <a:lstStyle xmlns:a="http://schemas.openxmlformats.org/drawingml/2006/main"/>
          <a:p xmlns:a="http://schemas.openxmlformats.org/drawingml/2006/main">
            <a:pPr>
              <a:buNone/>
              <a:defRPr sz="1650" b="1">
                <a:solidFill>
                  <a:srgbClr val="111111"/>
                </a:solidFill>
                <a:latin typeface="Arial"/>
                <a:ea typeface="Arial"/>
                <a:cs typeface="Arial"/>
              </a:defRPr>
            </a:pPr>
            <a:r>
              <a:rPr sz="1650" b="1">
                <a:solidFill>
                  <a:srgbClr val="111111"/>
                </a:solidFill>
                <a:latin typeface="Arial"/>
                <a:ea typeface="Arial"/>
                <a:cs typeface="Arial"/>
              </a:rPr>
              <a:t>Results and Discussion</a:t>
            </a:r>
          </a:p>
        </p:txBody>
      </p:sp>
      <p:sp>
        <p:nvSpPr>
          <p:cNvPr id="49" name="toc-results-chevron-1">
            <a:extLst xmlns:a="http://schemas.openxmlformats.org/drawingml/2006/main">
              <a:ext uri="{FF2B5EF4-FFF2-40B4-BE49-F238E27FC236}">
                <a16:creationId xmlns:a16="http://schemas.microsoft.com/office/drawing/2014/main" id="{BFE3A178-048D-45B4-895A-B74FDA4A9D96}"/>
              </a:ext>
            </a:extLst>
          </p:cNvPr>
          <p:cNvSpPr>
            <a:spLocks xmlns:a="http://schemas.openxmlformats.org/drawingml/2006/main" noGrp="1"/>
          </p:cNvSpPr>
          <p:nvPr/>
        </p:nvSpPr>
        <p:spPr>
          <a:xfrm xmlns:a="http://schemas.openxmlformats.org/drawingml/2006/main">
            <a:off x="6924675" y="3105150"/>
            <a:ext cx="2095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47970" lnSpcReduction="1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50" name="toc-results-item-1">
            <a:extLst xmlns:a="http://schemas.openxmlformats.org/drawingml/2006/main">
              <a:ext uri="{FF2B5EF4-FFF2-40B4-BE49-F238E27FC236}">
                <a16:creationId xmlns:a16="http://schemas.microsoft.com/office/drawing/2014/main" id="{59FB2C84-3D9F-4C7A-8EE0-3CCC7A9763D0}"/>
              </a:ext>
            </a:extLst>
          </p:cNvPr>
          <p:cNvSpPr>
            <a:spLocks xmlns:a="http://schemas.openxmlformats.org/drawingml/2006/main" noGrp="1"/>
          </p:cNvSpPr>
          <p:nvPr/>
        </p:nvSpPr>
        <p:spPr>
          <a:xfrm xmlns:a="http://schemas.openxmlformats.org/drawingml/2006/main">
            <a:off x="7210425" y="3105150"/>
            <a:ext cx="4095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200">
                <a:solidFill>
                  <a:srgbClr val="163F7A"/>
                </a:solidFill>
                <a:latin typeface="Arial"/>
                <a:ea typeface="Arial"/>
                <a:cs typeface="Arial"/>
              </a:defRPr>
            </a:pPr>
            <a:r>
              <a:rPr sz="1100">
                <a:solidFill>
                  <a:srgbClr val="163F7A"/>
                </a:solidFill>
                <a:latin typeface="Arial"/>
                <a:ea typeface="Arial"/>
                <a:cs typeface="Arial"/>
              </a:rPr>
              <a:t>Utility and SOTA comparison</a:t>
            </a:r>
          </a:p>
        </p:txBody>
      </p:sp>
      <p:sp>
        <p:nvSpPr>
          <p:cNvPr id="51" name="toc-results-chevron-2">
            <a:extLst xmlns:a="http://schemas.openxmlformats.org/drawingml/2006/main">
              <a:ext uri="{FF2B5EF4-FFF2-40B4-BE49-F238E27FC236}">
                <a16:creationId xmlns:a16="http://schemas.microsoft.com/office/drawing/2014/main" id="{693A6055-41BE-4002-867C-2A2D93478222}"/>
              </a:ext>
            </a:extLst>
          </p:cNvPr>
          <p:cNvSpPr>
            <a:spLocks xmlns:a="http://schemas.openxmlformats.org/drawingml/2006/main" noGrp="1"/>
          </p:cNvSpPr>
          <p:nvPr/>
        </p:nvSpPr>
        <p:spPr>
          <a:xfrm xmlns:a="http://schemas.openxmlformats.org/drawingml/2006/main">
            <a:off x="6924675" y="3324225"/>
            <a:ext cx="2095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47970" lnSpcReduction="1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52" name="toc-results-item-2">
            <a:extLst xmlns:a="http://schemas.openxmlformats.org/drawingml/2006/main">
              <a:ext uri="{FF2B5EF4-FFF2-40B4-BE49-F238E27FC236}">
                <a16:creationId xmlns:a16="http://schemas.microsoft.com/office/drawing/2014/main" id="{A9C286A5-3429-4610-BB13-5B91C42F687F}"/>
              </a:ext>
            </a:extLst>
          </p:cNvPr>
          <p:cNvSpPr>
            <a:spLocks xmlns:a="http://schemas.openxmlformats.org/drawingml/2006/main" noGrp="1"/>
          </p:cNvSpPr>
          <p:nvPr/>
        </p:nvSpPr>
        <p:spPr>
          <a:xfrm xmlns:a="http://schemas.openxmlformats.org/drawingml/2006/main">
            <a:off x="7210425" y="3324225"/>
            <a:ext cx="4095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200">
                <a:solidFill>
                  <a:srgbClr val="163F7A"/>
                </a:solidFill>
                <a:latin typeface="Arial"/>
                <a:ea typeface="Arial"/>
                <a:cs typeface="Arial"/>
              </a:defRPr>
            </a:pPr>
            <a:r>
              <a:rPr sz="1100">
                <a:solidFill>
                  <a:srgbClr val="163F7A"/>
                </a:solidFill>
                <a:latin typeface="Arial"/>
                <a:ea typeface="Arial"/>
                <a:cs typeface="Arial"/>
              </a:rPr>
              <a:t>Privacy and poisoning evaluation</a:t>
            </a:r>
          </a:p>
        </p:txBody>
      </p:sp>
      <p:sp>
        <p:nvSpPr>
          <p:cNvPr id="53" name="toc-results-chevron-3">
            <a:extLst xmlns:a="http://schemas.openxmlformats.org/drawingml/2006/main">
              <a:ext uri="{FF2B5EF4-FFF2-40B4-BE49-F238E27FC236}">
                <a16:creationId xmlns:a16="http://schemas.microsoft.com/office/drawing/2014/main" id="{965104E0-9FAC-4234-A276-285EB9B8EC51}"/>
              </a:ext>
            </a:extLst>
          </p:cNvPr>
          <p:cNvSpPr>
            <a:spLocks xmlns:a="http://schemas.openxmlformats.org/drawingml/2006/main" noGrp="1"/>
          </p:cNvSpPr>
          <p:nvPr/>
        </p:nvSpPr>
        <p:spPr>
          <a:xfrm xmlns:a="http://schemas.openxmlformats.org/drawingml/2006/main">
            <a:off x="6924675" y="3543300"/>
            <a:ext cx="2095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47970" lnSpcReduction="1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54" name="toc-results-item-3">
            <a:extLst xmlns:a="http://schemas.openxmlformats.org/drawingml/2006/main">
              <a:ext uri="{FF2B5EF4-FFF2-40B4-BE49-F238E27FC236}">
                <a16:creationId xmlns:a16="http://schemas.microsoft.com/office/drawing/2014/main" id="{C80C7BED-AA16-4BD3-8F0C-27F907CEC263}"/>
              </a:ext>
            </a:extLst>
          </p:cNvPr>
          <p:cNvSpPr>
            <a:spLocks xmlns:a="http://schemas.openxmlformats.org/drawingml/2006/main" noGrp="1"/>
          </p:cNvSpPr>
          <p:nvPr/>
        </p:nvSpPr>
        <p:spPr>
          <a:xfrm xmlns:a="http://schemas.openxmlformats.org/drawingml/2006/main">
            <a:off x="7210425" y="3543300"/>
            <a:ext cx="4095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200">
                <a:solidFill>
                  <a:srgbClr val="163F7A"/>
                </a:solidFill>
                <a:latin typeface="Arial"/>
                <a:ea typeface="Arial"/>
                <a:cs typeface="Arial"/>
              </a:defRPr>
            </a:pPr>
            <a:r>
              <a:rPr sz="1100">
                <a:solidFill>
                  <a:srgbClr val="163F7A"/>
                </a:solidFill>
                <a:latin typeface="Arial"/>
                <a:ea typeface="Arial"/>
                <a:cs typeface="Arial"/>
              </a:rPr>
              <a:t>Communication and system overhead</a:t>
            </a:r>
          </a:p>
        </p:txBody>
      </p:sp>
      <p:sp>
        <p:nvSpPr>
          <p:cNvPr id="55" name="toc-conclusion-marker">
            <a:extLst xmlns:a="http://schemas.openxmlformats.org/drawingml/2006/main">
              <a:ext uri="{FF2B5EF4-FFF2-40B4-BE49-F238E27FC236}">
                <a16:creationId xmlns:a16="http://schemas.microsoft.com/office/drawing/2014/main" id="{69B61DB8-2141-478A-BD1C-8BA90B396F02}"/>
              </a:ext>
            </a:extLst>
          </p:cNvPr>
          <p:cNvSpPr>
            <a:spLocks xmlns:a="http://schemas.openxmlformats.org/drawingml/2006/main" noGrp="1"/>
          </p:cNvSpPr>
          <p:nvPr/>
        </p:nvSpPr>
        <p:spPr>
          <a:xfrm xmlns:a="http://schemas.openxmlformats.org/drawingml/2006/main">
            <a:off x="6524625" y="4162425"/>
            <a:ext cx="133350" cy="133350"/>
          </a:xfrm>
          <a:prstGeom xmlns:a="http://schemas.openxmlformats.org/drawingml/2006/main" prst="rect">
            <a:avLst/>
          </a:prstGeom>
          <a:solidFill xmlns:a="http://schemas.openxmlformats.org/drawingml/2006/main">
            <a:srgbClr val="FFFFFF"/>
          </a:solidFill>
          <a:ln xmlns:a="http://schemas.openxmlformats.org/drawingml/2006/main" w="15240">
            <a:solidFill>
              <a:srgbClr val="008A46"/>
            </a:solidFill>
          </a:ln>
        </p:spPr>
      </p:sp>
      <p:sp>
        <p:nvSpPr>
          <p:cNvPr id="56" name="toc-conclusion-title">
            <a:extLst xmlns:a="http://schemas.openxmlformats.org/drawingml/2006/main">
              <a:ext uri="{FF2B5EF4-FFF2-40B4-BE49-F238E27FC236}">
                <a16:creationId xmlns:a16="http://schemas.microsoft.com/office/drawing/2014/main" id="{72296C49-88E0-4107-B8EA-B34F6D405042}"/>
              </a:ext>
            </a:extLst>
          </p:cNvPr>
          <p:cNvSpPr>
            <a:spLocks xmlns:a="http://schemas.openxmlformats.org/drawingml/2006/main" noGrp="1"/>
          </p:cNvSpPr>
          <p:nvPr/>
        </p:nvSpPr>
        <p:spPr>
          <a:xfrm xmlns:a="http://schemas.openxmlformats.org/drawingml/2006/main">
            <a:off x="6791325" y="4095750"/>
            <a:ext cx="4667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561" lnSpcReduction="20000"/>
          </a:bodyPr>
          <a:lstStyle xmlns:a="http://schemas.openxmlformats.org/drawingml/2006/main"/>
          <a:p xmlns:a="http://schemas.openxmlformats.org/drawingml/2006/main">
            <a:pPr>
              <a:buNone/>
              <a:defRPr sz="1650" b="1">
                <a:solidFill>
                  <a:srgbClr val="111111"/>
                </a:solidFill>
                <a:latin typeface="Arial"/>
                <a:ea typeface="Arial"/>
                <a:cs typeface="Arial"/>
              </a:defRPr>
            </a:pPr>
            <a:r>
              <a:rPr sz="1650" b="1">
                <a:solidFill>
                  <a:srgbClr val="111111"/>
                </a:solidFill>
                <a:latin typeface="Arial"/>
                <a:ea typeface="Arial"/>
                <a:cs typeface="Arial"/>
              </a:rPr>
              <a:t>Conclusion</a:t>
            </a:r>
          </a:p>
        </p:txBody>
      </p:sp>
      <p:sp>
        <p:nvSpPr>
          <p:cNvPr id="57" name="toc-conclusion-chevron-1">
            <a:extLst xmlns:a="http://schemas.openxmlformats.org/drawingml/2006/main">
              <a:ext uri="{FF2B5EF4-FFF2-40B4-BE49-F238E27FC236}">
                <a16:creationId xmlns:a16="http://schemas.microsoft.com/office/drawing/2014/main" id="{4A76E59A-9CB9-4AF6-ADB7-E14E5A9DC204}"/>
              </a:ext>
            </a:extLst>
          </p:cNvPr>
          <p:cNvSpPr>
            <a:spLocks xmlns:a="http://schemas.openxmlformats.org/drawingml/2006/main" noGrp="1"/>
          </p:cNvSpPr>
          <p:nvPr/>
        </p:nvSpPr>
        <p:spPr>
          <a:xfrm xmlns:a="http://schemas.openxmlformats.org/drawingml/2006/main">
            <a:off x="6924675" y="4438650"/>
            <a:ext cx="2095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47970" lnSpcReduction="1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58" name="toc-conclusion-item-1">
            <a:extLst xmlns:a="http://schemas.openxmlformats.org/drawingml/2006/main">
              <a:ext uri="{FF2B5EF4-FFF2-40B4-BE49-F238E27FC236}">
                <a16:creationId xmlns:a16="http://schemas.microsoft.com/office/drawing/2014/main" id="{B1322131-542A-43F3-BA4B-C08C786C5051}"/>
              </a:ext>
            </a:extLst>
          </p:cNvPr>
          <p:cNvSpPr>
            <a:spLocks xmlns:a="http://schemas.openxmlformats.org/drawingml/2006/main" noGrp="1"/>
          </p:cNvSpPr>
          <p:nvPr/>
        </p:nvSpPr>
        <p:spPr>
          <a:xfrm xmlns:a="http://schemas.openxmlformats.org/drawingml/2006/main">
            <a:off x="7210425" y="4438650"/>
            <a:ext cx="4095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200">
                <a:solidFill>
                  <a:srgbClr val="163F7A"/>
                </a:solidFill>
                <a:latin typeface="Arial"/>
                <a:ea typeface="Arial"/>
                <a:cs typeface="Arial"/>
              </a:defRPr>
            </a:pPr>
            <a:r>
              <a:rPr sz="1100">
                <a:solidFill>
                  <a:srgbClr val="163F7A"/>
                </a:solidFill>
                <a:latin typeface="Arial"/>
                <a:ea typeface="Arial"/>
                <a:cs typeface="Arial"/>
              </a:rPr>
              <a:t>Key findings</a:t>
            </a:r>
          </a:p>
        </p:txBody>
      </p:sp>
      <p:sp>
        <p:nvSpPr>
          <p:cNvPr id="59" name="toc-conclusion-chevron-2">
            <a:extLst xmlns:a="http://schemas.openxmlformats.org/drawingml/2006/main">
              <a:ext uri="{FF2B5EF4-FFF2-40B4-BE49-F238E27FC236}">
                <a16:creationId xmlns:a16="http://schemas.microsoft.com/office/drawing/2014/main" id="{28B5A2B1-4640-4306-A03B-C5F7A291ECC1}"/>
              </a:ext>
            </a:extLst>
          </p:cNvPr>
          <p:cNvSpPr>
            <a:spLocks xmlns:a="http://schemas.openxmlformats.org/drawingml/2006/main" noGrp="1"/>
          </p:cNvSpPr>
          <p:nvPr/>
        </p:nvSpPr>
        <p:spPr>
          <a:xfrm xmlns:a="http://schemas.openxmlformats.org/drawingml/2006/main">
            <a:off x="6924675" y="4657725"/>
            <a:ext cx="2095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47970" lnSpcReduction="1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60" name="toc-conclusion-item-2">
            <a:extLst xmlns:a="http://schemas.openxmlformats.org/drawingml/2006/main">
              <a:ext uri="{FF2B5EF4-FFF2-40B4-BE49-F238E27FC236}">
                <a16:creationId xmlns:a16="http://schemas.microsoft.com/office/drawing/2014/main" id="{6AA1D49E-53B4-4560-9562-067B62F7742C}"/>
              </a:ext>
            </a:extLst>
          </p:cNvPr>
          <p:cNvSpPr>
            <a:spLocks xmlns:a="http://schemas.openxmlformats.org/drawingml/2006/main" noGrp="1"/>
          </p:cNvSpPr>
          <p:nvPr/>
        </p:nvSpPr>
        <p:spPr>
          <a:xfrm xmlns:a="http://schemas.openxmlformats.org/drawingml/2006/main">
            <a:off x="7210425" y="4657725"/>
            <a:ext cx="4095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200">
                <a:solidFill>
                  <a:srgbClr val="163F7A"/>
                </a:solidFill>
                <a:latin typeface="Arial"/>
                <a:ea typeface="Arial"/>
                <a:cs typeface="Arial"/>
              </a:defRPr>
            </a:pPr>
            <a:r>
              <a:rPr sz="1100">
                <a:solidFill>
                  <a:srgbClr val="163F7A"/>
                </a:solidFill>
                <a:latin typeface="Arial"/>
                <a:ea typeface="Arial"/>
                <a:cs typeface="Arial"/>
              </a:rPr>
              <a:t>Limitations and future work</a:t>
            </a:r>
          </a:p>
        </p:txBody>
      </p:sp>
      <p:sp>
        <p:nvSpPr>
          <p:cNvPr id="61" name="toc-references-marker">
            <a:extLst xmlns:a="http://schemas.openxmlformats.org/drawingml/2006/main">
              <a:ext uri="{FF2B5EF4-FFF2-40B4-BE49-F238E27FC236}">
                <a16:creationId xmlns:a16="http://schemas.microsoft.com/office/drawing/2014/main" id="{56E7E56D-00A8-47B6-8CB6-E2520A4A7ABC}"/>
              </a:ext>
            </a:extLst>
          </p:cNvPr>
          <p:cNvSpPr>
            <a:spLocks xmlns:a="http://schemas.openxmlformats.org/drawingml/2006/main" noGrp="1"/>
          </p:cNvSpPr>
          <p:nvPr/>
        </p:nvSpPr>
        <p:spPr>
          <a:xfrm xmlns:a="http://schemas.openxmlformats.org/drawingml/2006/main">
            <a:off x="6524625" y="5305425"/>
            <a:ext cx="133350" cy="133350"/>
          </a:xfrm>
          <a:prstGeom xmlns:a="http://schemas.openxmlformats.org/drawingml/2006/main" prst="rect">
            <a:avLst/>
          </a:prstGeom>
          <a:solidFill xmlns:a="http://schemas.openxmlformats.org/drawingml/2006/main">
            <a:srgbClr val="FFFFFF"/>
          </a:solidFill>
          <a:ln xmlns:a="http://schemas.openxmlformats.org/drawingml/2006/main" w="15240">
            <a:solidFill>
              <a:srgbClr val="008A46"/>
            </a:solidFill>
          </a:ln>
        </p:spPr>
      </p:sp>
      <p:sp>
        <p:nvSpPr>
          <p:cNvPr id="62" name="toc-references-title">
            <a:extLst xmlns:a="http://schemas.openxmlformats.org/drawingml/2006/main">
              <a:ext uri="{FF2B5EF4-FFF2-40B4-BE49-F238E27FC236}">
                <a16:creationId xmlns:a16="http://schemas.microsoft.com/office/drawing/2014/main" id="{053741A0-E53F-4F38-9194-182EC15568D1}"/>
              </a:ext>
            </a:extLst>
          </p:cNvPr>
          <p:cNvSpPr>
            <a:spLocks xmlns:a="http://schemas.openxmlformats.org/drawingml/2006/main" noGrp="1"/>
          </p:cNvSpPr>
          <p:nvPr/>
        </p:nvSpPr>
        <p:spPr>
          <a:xfrm xmlns:a="http://schemas.openxmlformats.org/drawingml/2006/main">
            <a:off x="6791325" y="5238750"/>
            <a:ext cx="4667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561" lnSpcReduction="20000"/>
          </a:bodyPr>
          <a:lstStyle xmlns:a="http://schemas.openxmlformats.org/drawingml/2006/main"/>
          <a:p xmlns:a="http://schemas.openxmlformats.org/drawingml/2006/main">
            <a:pPr>
              <a:buNone/>
              <a:defRPr sz="1650" b="1">
                <a:solidFill>
                  <a:srgbClr val="111111"/>
                </a:solidFill>
                <a:latin typeface="Arial"/>
                <a:ea typeface="Arial"/>
                <a:cs typeface="Arial"/>
              </a:defRPr>
            </a:pPr>
            <a:r>
              <a:rPr sz="1650" b="1">
                <a:solidFill>
                  <a:srgbClr val="111111"/>
                </a:solidFill>
                <a:latin typeface="Arial"/>
                <a:ea typeface="Arial"/>
                <a:cs typeface="Arial"/>
              </a:rPr>
              <a:t>References</a:t>
            </a:r>
          </a:p>
        </p:txBody>
      </p:sp>
      <p:sp>
        <p:nvSpPr>
          <p:cNvPr id="63" name="toc-qa-marker">
            <a:extLst xmlns:a="http://schemas.openxmlformats.org/drawingml/2006/main">
              <a:ext uri="{FF2B5EF4-FFF2-40B4-BE49-F238E27FC236}">
                <a16:creationId xmlns:a16="http://schemas.microsoft.com/office/drawing/2014/main" id="{50E564AC-0AD9-43EF-9688-9300AF44AA2E}"/>
              </a:ext>
            </a:extLst>
          </p:cNvPr>
          <p:cNvSpPr>
            <a:spLocks xmlns:a="http://schemas.openxmlformats.org/drawingml/2006/main" noGrp="1"/>
          </p:cNvSpPr>
          <p:nvPr/>
        </p:nvSpPr>
        <p:spPr>
          <a:xfrm xmlns:a="http://schemas.openxmlformats.org/drawingml/2006/main">
            <a:off x="6524625" y="5705475"/>
            <a:ext cx="133350" cy="133350"/>
          </a:xfrm>
          <a:prstGeom xmlns:a="http://schemas.openxmlformats.org/drawingml/2006/main" prst="rect">
            <a:avLst/>
          </a:prstGeom>
          <a:solidFill xmlns:a="http://schemas.openxmlformats.org/drawingml/2006/main">
            <a:srgbClr val="FFFFFF"/>
          </a:solidFill>
          <a:ln xmlns:a="http://schemas.openxmlformats.org/drawingml/2006/main" w="15240">
            <a:solidFill>
              <a:srgbClr val="008A46"/>
            </a:solidFill>
          </a:ln>
        </p:spPr>
      </p:sp>
      <p:sp>
        <p:nvSpPr>
          <p:cNvPr id="64" name="toc-qa-title">
            <a:extLst xmlns:a="http://schemas.openxmlformats.org/drawingml/2006/main">
              <a:ext uri="{FF2B5EF4-FFF2-40B4-BE49-F238E27FC236}">
                <a16:creationId xmlns:a16="http://schemas.microsoft.com/office/drawing/2014/main" id="{13AECCC3-356B-4082-B658-74DDFEF6FB2B}"/>
              </a:ext>
            </a:extLst>
          </p:cNvPr>
          <p:cNvSpPr>
            <a:spLocks xmlns:a="http://schemas.openxmlformats.org/drawingml/2006/main" noGrp="1"/>
          </p:cNvSpPr>
          <p:nvPr/>
        </p:nvSpPr>
        <p:spPr>
          <a:xfrm xmlns:a="http://schemas.openxmlformats.org/drawingml/2006/main">
            <a:off x="6791325" y="5638800"/>
            <a:ext cx="4667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561" lnSpcReduction="20000"/>
          </a:bodyPr>
          <a:lstStyle xmlns:a="http://schemas.openxmlformats.org/drawingml/2006/main"/>
          <a:p xmlns:a="http://schemas.openxmlformats.org/drawingml/2006/main">
            <a:pPr>
              <a:buNone/>
              <a:defRPr sz="1650" b="1">
                <a:solidFill>
                  <a:srgbClr val="111111"/>
                </a:solidFill>
                <a:latin typeface="Arial"/>
                <a:ea typeface="Arial"/>
                <a:cs typeface="Arial"/>
              </a:defRPr>
            </a:pPr>
            <a:r>
              <a:rPr sz="1650" b="1">
                <a:solidFill>
                  <a:srgbClr val="111111"/>
                </a:solidFill>
                <a:latin typeface="Arial"/>
                <a:ea typeface="Arial"/>
                <a:cs typeface="Arial"/>
              </a:rPr>
              <a:t>Question and Answer Session</a:t>
            </a:r>
          </a:p>
        </p:txBody>
      </p:sp>
    </p:spTree>
    <p:extLst>
      <p:ext uri="{BB962C8B-B14F-4D97-AF65-F5344CB8AC3E}">
        <p14:creationId xmlns:p14="http://schemas.microsoft.com/office/powerpoint/2010/main" val="1723298756"/>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pic>
        <p:nvPicPr>
          <p:cNvPr id="359" name="Google Shape;198;p27"/>
          <p:cNvPicPr>
            <a:picLocks xmlns:a="http://schemas.openxmlformats.org/drawingml/2006/main" noChangeAspect="1"/>
          </p:cNvPicPr>
          <p:nvPr/>
        </p:nvPicPr>
        <p:blipFill rotWithShape="1">
          <a:blip xmlns:r="http://schemas.openxmlformats.org/officeDocument/2006/relationships" xmlns:a="http://schemas.openxmlformats.org/drawingml/2006/main" r:embed="R48fc95ec14b9422a">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360" name="Google Shape;199;p27"/>
          <p:cNvPicPr>
            <a:picLocks xmlns:a="http://schemas.openxmlformats.org/drawingml/2006/main" noChangeAspect="1"/>
          </p:cNvPicPr>
          <p:nvPr/>
        </p:nvPicPr>
        <p:blipFill rotWithShape="1">
          <a:blip xmlns:r="http://schemas.openxmlformats.org/officeDocument/2006/relationships" xmlns:a="http://schemas.openxmlformats.org/drawingml/2006/main" r:embed="R9b7a0c7ab3d5437e">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361" name="Google Shape;200;p27"/>
          <p:cNvPicPr>
            <a:picLocks xmlns:a="http://schemas.openxmlformats.org/drawingml/2006/main" noChangeAspect="1"/>
          </p:cNvPicPr>
          <p:nvPr/>
        </p:nvPicPr>
        <p:blipFill rotWithShape="1">
          <a:blip xmlns:r="http://schemas.openxmlformats.org/officeDocument/2006/relationships" xmlns:a="http://schemas.openxmlformats.org/drawingml/2006/main" r:embed="R5ba0726b91284f4e">
            <a:alphaModFix/>
          </a:blip>
          <a:srcRect xmlns:a="http://schemas.openxmlformats.org/drawingml/2006/main" l="1187" t="2321" r="3422" b="0"/>
          <a:stretch xmlns:a="http://schemas.openxmlformats.org/drawingml/2006/main"/>
        </p:blipFill>
        <p:spPr>
          <a:xfrm xmlns:a="http://schemas.openxmlformats.org/drawingml/2006/main">
            <a:off x="2210143" y="387774"/>
            <a:ext cx="7565366" cy="5537780"/>
          </a:xfrm>
          <a:prstGeom xmlns:a="http://schemas.openxmlformats.org/drawingml/2006/main" prst="rect">
            <a:avLst/>
          </a:prstGeom>
          <a:ln xmlns:a="http://schemas.openxmlformats.org/drawingml/2006/main">
            <a:noFill/>
          </a:ln>
        </p:spPr>
      </p:pic>
      <p:sp>
        <p:nvSpPr>
          <p:cNvPr id="201" name="Google Shape;201;p27">
            <a:extLst xmlns:a="http://schemas.openxmlformats.org/drawingml/2006/main">
              <a:ext uri="{FF2B5EF4-FFF2-40B4-BE49-F238E27FC236}">
                <a16:creationId xmlns:a16="http://schemas.microsoft.com/office/drawing/2014/main" id="{93E0F582-6E51-4162-8A2F-EFB74E6438E3}"/>
              </a:ext>
            </a:extLst>
          </p:cNvPr>
          <p:cNvSpPr>
            <a:spLocks xmlns:a="http://schemas.openxmlformats.org/drawingml/2006/main" noGrp="1"/>
          </p:cNvSpPr>
          <p:nvPr>
            <p:ph type="title" idx="0"/>
          </p:nvPr>
        </p:nvSpPr>
        <p:spPr>
          <a:xfrm xmlns:a="http://schemas.openxmlformats.org/drawingml/2006/main">
            <a:off x="3812946" y="4409776"/>
            <a:ext cx="4607154" cy="79680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90000"/>
              </a:lnSpc>
              <a:spcBef>
                <a:spcPts val="0"/>
              </a:spcBef>
              <a:spcAft>
                <a:spcPts val="0"/>
              </a:spcAft>
              <a:buClr>
                <a:schemeClr val="dk1"/>
              </a:buClr>
              <a:buSzPts val="4000"/>
              <a:buFont typeface="Arial"/>
              <a:buNone/>
            </a:pPr>
            <a:r>
              <a:rPr sz="4000">
                <a:latin typeface="Arial"/>
                <a:ea typeface="Arial"/>
                <a:cs typeface="Arial"/>
              </a:rPr>
              <a:t>Introduction</a:t>
            </a:r>
            <a:endParaRPr/>
          </a:p>
        </p:txBody>
      </p:sp>
      <p:pic>
        <p:nvPicPr>
          <p:cNvPr id="363" name="Google Shape;202;p27"/>
          <p:cNvPicPr>
            <a:picLocks xmlns:a="http://schemas.openxmlformats.org/drawingml/2006/main" noChangeAspect="1"/>
          </p:cNvPicPr>
          <p:nvPr/>
        </p:nvPicPr>
        <p:blipFill rotWithShape="1">
          <a:blip xmlns:r="http://schemas.openxmlformats.org/officeDocument/2006/relationships" xmlns:a="http://schemas.openxmlformats.org/drawingml/2006/main" r:embed="Raf62e39b69994366">
            <a:alphaModFix/>
          </a:blip>
          <a:srcRect xmlns:a="http://schemas.openxmlformats.org/drawingml/2006/main" l="0" t="0" r="4230" b="13909"/>
          <a:stretch xmlns:a="http://schemas.openxmlformats.org/drawingml/2006/main"/>
        </p:blipFill>
        <p:spPr>
          <a:xfrm xmlns:a="http://schemas.openxmlformats.org/drawingml/2006/main">
            <a:off x="3842633" y="1651423"/>
            <a:ext cx="4300387" cy="2571491"/>
          </a:xfrm>
          <a:prstGeom xmlns:a="http://schemas.openxmlformats.org/drawingml/2006/main" prst="rect">
            <a:avLst/>
          </a:prstGeom>
          <a:ln xmlns:a="http://schemas.openxmlformats.org/drawingml/2006/main">
            <a:noFill/>
          </a:ln>
          <a:effectLst xmlns:a="http://schemas.openxmlformats.org/drawingml/2006/main">
            <a:outerShdw blurRad="190500" algn="tl" rotWithShape="0">
              <a:srgbClr val="000000">
                <a:alpha val="69411"/>
              </a:srgbClr>
            </a:outerShdw>
          </a:effectLst>
        </p:spPr>
      </p:pic>
      <p:cxnSp>
        <p:nvCxnSpPr>
          <p:cNvPr id="364" name="Google Shape;203;p27"/>
          <p:cNvCxnSpPr/>
          <p:nvPr/>
        </p:nvCxnSpPr>
        <p:spPr>
          <a:xfrm xmlns:a="http://schemas.openxmlformats.org/drawingml/2006/main">
            <a:off x="424707" y="5119185"/>
            <a:ext cx="11342585"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5" name="Google Shape;212;p28">
            <a:extLst xmlns:a="http://schemas.openxmlformats.org/drawingml/2006/main">
              <a:ext uri="{FF2B5EF4-FFF2-40B4-BE49-F238E27FC236}">
                <a16:creationId xmlns:a16="http://schemas.microsoft.com/office/drawing/2014/main" id="{56147DD4-9B84-A1BE-89BE-879B8166E80E}"/>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a:t>
            </a:r>
            <a:endParaRPr sz="2800"/>
          </a:p>
        </p:txBody>
      </p:sp>
      <p:sp>
        <p:nvSpPr>
          <p:cNvPr id="6" name="Google Shape;216;p28">
            <a:extLst xmlns:a="http://schemas.openxmlformats.org/drawingml/2006/main">
              <a:ext uri="{FF2B5EF4-FFF2-40B4-BE49-F238E27FC236}">
                <a16:creationId xmlns:a16="http://schemas.microsoft.com/office/drawing/2014/main" id="{1980D1FA-5005-7E4D-C30C-9433C3A7A1F4}"/>
              </a:ext>
            </a:extLst>
          </p:cNvPr>
          <p:cNvSpPr>
            <a:spLocks xmlns:a="http://schemas.openxmlformats.org/drawingml/2006/main" noGrp="1"/>
          </p:cNvSpPr>
          <p:nvPr>
            <p:ph type="ftr" idx="11"/>
          </p:nvPr>
        </p:nvSpPr>
        <p:spPr>
          <a:xfrm xmlns:a="http://schemas.openxmlformats.org/drawingml/2006/main">
            <a:off x="2671629" y="6628374"/>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8" name="visible-footer-date-3">
            <a:extLst xmlns:a="http://schemas.openxmlformats.org/drawingml/2006/main">
              <a:ext uri="{FF2B5EF4-FFF2-40B4-BE49-F238E27FC236}">
                <a16:creationId xmlns:a16="http://schemas.microsoft.com/office/drawing/2014/main" id="{0D974343-99E9-4287-BF9D-988FF4ED0804}"/>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265558504"/>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28060B94-F0A7-BBB7-7486-80C8EB40E694}"/>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Background</a:t>
            </a:r>
            <a:endParaRPr/>
          </a:p>
        </p:txBody>
      </p:sp>
      <p:sp>
        <p:nvSpPr>
          <p:cNvPr id="212" name="Google Shape;212;p28">
            <a:extLst xmlns:a="http://schemas.openxmlformats.org/drawingml/2006/main">
              <a:ext uri="{FF2B5EF4-FFF2-40B4-BE49-F238E27FC236}">
                <a16:creationId xmlns:a16="http://schemas.microsoft.com/office/drawing/2014/main" id="{094C318A-19D8-5521-E2E0-1C2CFE74D475}"/>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4</a:t>
            </a:r>
            <a:endParaRPr sz="2800"/>
          </a:p>
        </p:txBody>
      </p:sp>
      <p:pic>
        <p:nvPicPr>
          <p:cNvPr id="230"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3cfcafbf5c104f07">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1"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a9c39b134ab24dae">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EA258BE3-D874-B47F-982B-9CAFDD5EE44E}"/>
              </a:ext>
            </a:extLst>
          </p:cNvPr>
          <p:cNvSpPr>
            <a:spLocks xmlns:a="http://schemas.openxmlformats.org/drawingml/2006/main" noGrp="1"/>
          </p:cNvSpPr>
          <p:nvPr>
            <p:ph type="ftr" idx="11"/>
          </p:nvPr>
        </p:nvSpPr>
        <p:spPr>
          <a:xfrm xmlns:a="http://schemas.openxmlformats.org/drawingml/2006/main">
            <a:off x="2671629" y="6628374"/>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background-bullets">
            <a:extLst xmlns:a="http://schemas.openxmlformats.org/drawingml/2006/main">
              <a:ext uri="{FF2B5EF4-FFF2-40B4-BE49-F238E27FC236}">
                <a16:creationId xmlns:a16="http://schemas.microsoft.com/office/drawing/2014/main" id="{7A35AAE5-73D3-4501-9C42-D8BB41FFAE7D}"/>
              </a:ext>
            </a:extLst>
          </p:cNvPr>
          <p:cNvSpPr>
            <a:spLocks xmlns:a="http://schemas.openxmlformats.org/drawingml/2006/main" noGrp="1"/>
          </p:cNvSpPr>
          <p:nvPr/>
        </p:nvSpPr>
        <p:spPr>
          <a:xfrm xmlns:a="http://schemas.openxmlformats.org/drawingml/2006/main">
            <a:off x="876300" y="1543050"/>
            <a:ext cx="4762500"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marL="254000" indent="-127000">
              <a:spcAft>
                <a:spcPts val="1400"/>
              </a:spcAft>
              <a:buChar char="•"/>
              <a:defRPr sz="1650">
                <a:solidFill>
                  <a:srgbClr val="1F2937"/>
                </a:solidFill>
                <a:latin typeface="Arial"/>
                <a:ea typeface="Arial"/>
                <a:cs typeface="Arial"/>
              </a:defRPr>
            </a:pPr>
            <a:r>
              <a:rPr sz="1650">
                <a:solidFill>
                  <a:srgbClr val="1F2937"/>
                </a:solidFill>
                <a:latin typeface="Arial"/>
                <a:ea typeface="Arial"/>
                <a:cs typeface="Arial"/>
              </a:rPr>
              <a:t>Hospitals hold complementary clinical data, but direct pooling raises privacy, ownership, and breach risks.</a:t>
            </a:r>
          </a:p>
          <a:p xmlns:a="http://schemas.openxmlformats.org/drawingml/2006/main">
            <a:pPr marL="254000" indent="-127000">
              <a:spcAft>
                <a:spcPts val="1400"/>
              </a:spcAft>
              <a:buChar char="•"/>
              <a:defRPr sz="1650">
                <a:solidFill>
                  <a:srgbClr val="1F2937"/>
                </a:solidFill>
                <a:latin typeface="Arial"/>
                <a:ea typeface="Arial"/>
                <a:cs typeface="Arial"/>
              </a:defRPr>
            </a:pPr>
            <a:r>
              <a:rPr sz="1650">
                <a:solidFill>
                  <a:srgbClr val="1F2937"/>
                </a:solidFill>
                <a:latin typeface="Arial"/>
                <a:ea typeface="Arial"/>
                <a:cs typeface="Arial"/>
              </a:rPr>
              <a:t>Federated learning keeps patient records local, yet model updates may still expose membership or training features [1]–[6].</a:t>
            </a:r>
          </a:p>
          <a:p xmlns:a="http://schemas.openxmlformats.org/drawingml/2006/main">
            <a:pPr marL="254000" indent="-127000">
              <a:spcAft>
                <a:spcPts val="1400"/>
              </a:spcAft>
              <a:buChar char="•"/>
              <a:defRPr sz="1650">
                <a:solidFill>
                  <a:srgbClr val="1F2937"/>
                </a:solidFill>
                <a:latin typeface="Arial"/>
                <a:ea typeface="Arial"/>
                <a:cs typeface="Arial"/>
              </a:defRPr>
            </a:pPr>
            <a:r>
              <a:rPr sz="1650">
                <a:solidFill>
                  <a:srgbClr val="1F2937"/>
                </a:solidFill>
                <a:latin typeface="Arial"/>
                <a:ea typeface="Arial"/>
                <a:cs typeface="Arial"/>
              </a:rPr>
              <a:t>Encryption protects update values, but it increases communication cost and limits plaintext poisoning defenses.</a:t>
            </a:r>
          </a:p>
        </p:txBody>
      </p:sp>
      <p:sp>
        <p:nvSpPr>
          <p:cNvPr id="221" name="background-takeaway">
            <a:extLst xmlns:a="http://schemas.openxmlformats.org/drawingml/2006/main">
              <a:ext uri="{FF2B5EF4-FFF2-40B4-BE49-F238E27FC236}">
                <a16:creationId xmlns:a16="http://schemas.microsoft.com/office/drawing/2014/main" id="{F1DFCBD7-E7DC-4151-B28C-2EBE70C2B2CC}"/>
              </a:ext>
            </a:extLst>
          </p:cNvPr>
          <p:cNvSpPr>
            <a:spLocks xmlns:a="http://schemas.openxmlformats.org/drawingml/2006/main" noGrp="1"/>
          </p:cNvSpPr>
          <p:nvPr/>
        </p:nvSpPr>
        <p:spPr>
          <a:xfrm xmlns:a="http://schemas.openxmlformats.org/drawingml/2006/main">
            <a:off x="952500" y="5000625"/>
            <a:ext cx="47148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500" b="1" i="0">
                <a:solidFill>
                  <a:srgbClr val="008A46"/>
                </a:solidFill>
                <a:latin typeface="Arial"/>
                <a:ea typeface="Arial"/>
                <a:cs typeface="Arial"/>
              </a:defRPr>
            </a:pPr>
            <a:r>
              <a:rPr sz="1500" b="1" i="0">
                <a:solidFill>
                  <a:srgbClr val="008A46"/>
                </a:solidFill>
                <a:latin typeface="Arial"/>
                <a:ea typeface="Arial"/>
                <a:cs typeface="Arial"/>
              </a:rPr>
              <a:t>Research gap: Existing work usually evaluates privacy, communication efficiency, robustness, and governance as separate problems.</a:t>
            </a:r>
          </a:p>
        </p:txBody>
      </p:sp>
      <p:sp>
        <p:nvSpPr>
          <p:cNvPr id="224" name="visible-footer-date-4">
            <a:extLst xmlns:a="http://schemas.openxmlformats.org/drawingml/2006/main">
              <a:ext uri="{FF2B5EF4-FFF2-40B4-BE49-F238E27FC236}">
                <a16:creationId xmlns:a16="http://schemas.microsoft.com/office/drawing/2014/main" id="{F0E64F9B-250A-466D-8D13-72D9F2A8EE9D}"/>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pic>
        <p:nvPicPr>
          <p:cNvPr id="236" name="Picture 236"/>
          <p:cNvPicPr>
            <a:picLocks xmlns:a="http://schemas.openxmlformats.org/drawingml/2006/main" noChangeAspect="1"/>
          </p:cNvPicPr>
          <p:nvPr/>
        </p:nvPicPr>
        <p:blipFill>
          <a:blip xmlns:r="http://schemas.openxmlformats.org/officeDocument/2006/relationships" xmlns:a="http://schemas.openxmlformats.org/drawingml/2006/main" r:embed="Raa62071b24d646fe"/>
          <a:stretch xmlns:a="http://schemas.openxmlformats.org/drawingml/2006/main"/>
        </p:blipFill>
        <p:spPr>
          <a:xfrm xmlns:a="http://schemas.openxmlformats.org/drawingml/2006/main">
            <a:off x="5905500" y="1568450"/>
            <a:ext cx="5667375" cy="3778250"/>
          </a:xfrm>
          <a:prstGeom xmlns:a="http://schemas.openxmlformats.org/drawingml/2006/main" prst="rect">
            <a:avLst/>
          </a:prstGeom>
        </p:spPr>
      </p:pic>
    </p:spTree>
    <p:extLst>
      <p:ext uri="{BB962C8B-B14F-4D97-AF65-F5344CB8AC3E}">
        <p14:creationId xmlns:p14="http://schemas.microsoft.com/office/powerpoint/2010/main" val="4061525358"/>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86008738-B2C1-0318-4913-BD8F65E3BEEB}"/>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Problem Statement</a:t>
            </a:r>
            <a:endParaRPr/>
          </a:p>
        </p:txBody>
      </p:sp>
      <p:sp>
        <p:nvSpPr>
          <p:cNvPr id="212" name="Google Shape;212;p28">
            <a:extLst xmlns:a="http://schemas.openxmlformats.org/drawingml/2006/main">
              <a:ext uri="{FF2B5EF4-FFF2-40B4-BE49-F238E27FC236}">
                <a16:creationId xmlns:a16="http://schemas.microsoft.com/office/drawing/2014/main" id="{BEDC7090-C035-9865-94B8-1E35B6B2D2EB}"/>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5</a:t>
            </a:r>
            <a:endParaRPr sz="2800"/>
          </a:p>
        </p:txBody>
      </p:sp>
      <p:pic>
        <p:nvPicPr>
          <p:cNvPr id="232"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dc94f442bb7e4267">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3"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c88ed8dd6b1c4eba">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206E9E3C-2F4C-B1FD-95E0-AACB117CFB97}"/>
              </a:ext>
            </a:extLst>
          </p:cNvPr>
          <p:cNvSpPr>
            <a:spLocks xmlns:a="http://schemas.openxmlformats.org/drawingml/2006/main" noGrp="1"/>
          </p:cNvSpPr>
          <p:nvPr>
            <p:ph type="ftr" idx="11"/>
          </p:nvPr>
        </p:nvSpPr>
        <p:spPr>
          <a:xfrm xmlns:a="http://schemas.openxmlformats.org/drawingml/2006/main">
            <a:off x="2671629" y="6628374"/>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1" name="research-question">
            <a:extLst xmlns:a="http://schemas.openxmlformats.org/drawingml/2006/main">
              <a:ext uri="{FF2B5EF4-FFF2-40B4-BE49-F238E27FC236}">
                <a16:creationId xmlns:a16="http://schemas.microsoft.com/office/drawing/2014/main" id="{27B7B9B5-0C1A-48D0-8F2B-9D5F9BAA1BE7}"/>
              </a:ext>
            </a:extLst>
          </p:cNvPr>
          <p:cNvSpPr>
            <a:spLocks xmlns:a="http://schemas.openxmlformats.org/drawingml/2006/main" noGrp="1"/>
          </p:cNvSpPr>
          <p:nvPr/>
        </p:nvSpPr>
        <p:spPr>
          <a:xfrm xmlns:a="http://schemas.openxmlformats.org/drawingml/2006/main">
            <a:off x="1143000" y="4714875"/>
            <a:ext cx="9906000" cy="1095375"/>
          </a:xfrm>
          <a:prstGeom xmlns:a="http://schemas.openxmlformats.org/drawingml/2006/main" prst="roundRect">
            <a:avLst>
              <a:gd name="adj" fmla="val 7619"/>
            </a:avLst>
          </a:prstGeom>
          <a:solidFill xmlns:a="http://schemas.openxmlformats.org/drawingml/2006/main">
            <a:srgbClr val="EAF2F8"/>
          </a:solidFill>
          <a:ln xmlns:a="http://schemas.openxmlformats.org/drawingml/2006/main" w="19050">
            <a:solidFill>
              <a:srgbClr val="00AEEF"/>
            </a:solidFill>
            <a:prstDash val="solid"/>
          </a:ln>
        </p:spPr>
        <p:txBody>
          <a:bodyPr xmlns:a="http://schemas.openxmlformats.org/drawingml/2006/main" anchor="ctr">
            <a:normAutofit/>
          </a:bodyPr>
          <a:lstStyle xmlns:a="http://schemas.openxmlformats.org/drawingml/2006/main"/>
          <a:p xmlns:a="http://schemas.openxmlformats.org/drawingml/2006/main">
            <a:pPr algn="ctr">
              <a:buNone/>
              <a:defRPr sz="1725" b="1">
                <a:solidFill>
                  <a:srgbClr val="1E3A5F"/>
                </a:solidFill>
                <a:latin typeface="Arial"/>
                <a:ea typeface="Arial"/>
                <a:cs typeface="Arial"/>
              </a:defRPr>
            </a:pPr>
            <a:r>
              <a:rPr sz="1725" b="1">
                <a:solidFill>
                  <a:srgbClr val="1E3A5F"/>
                </a:solidFill>
                <a:latin typeface="Arial"/>
                <a:ea typeface="Arial"/>
                <a:cs typeface="Arial"/>
              </a:rPr>
              <a:t>Research question</a:t>
            </a:r>
          </a:p>
          <a:p xmlns:a="http://schemas.openxmlformats.org/drawingml/2006/main">
            <a:pPr algn="ctr">
              <a:buNone/>
              <a:defRPr sz="1725" b="1">
                <a:solidFill>
                  <a:srgbClr val="1E3A5F"/>
                </a:solidFill>
                <a:latin typeface="Arial"/>
                <a:ea typeface="Arial"/>
                <a:cs typeface="Arial"/>
              </a:defRPr>
            </a:pPr>
            <a:r>
              <a:rPr sz="1725" b="1">
                <a:solidFill>
                  <a:srgbClr val="1E3A5F"/>
                </a:solidFill>
                <a:latin typeface="Arial"/>
                <a:ea typeface="Arial"/>
                <a:cs typeface="Arial"/>
              </a:rPr>
              <a:t>How can multiple institutions train a useful shared model while limiting privacy exposure, encrypted communication cost, poisoning damage, and unilateral control?</a:t>
            </a:r>
          </a:p>
        </p:txBody>
      </p:sp>
      <p:sp>
        <p:nvSpPr>
          <p:cNvPr id="224" name="visible-footer-date-5">
            <a:extLst xmlns:a="http://schemas.openxmlformats.org/drawingml/2006/main">
              <a:ext uri="{FF2B5EF4-FFF2-40B4-BE49-F238E27FC236}">
                <a16:creationId xmlns:a16="http://schemas.microsoft.com/office/drawing/2014/main" id="{AD61C2BA-765E-42A0-B4FD-3AD8841EC027}"/>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27" name="problem-paragraph">
            <a:extLst xmlns:a="http://schemas.openxmlformats.org/drawingml/2006/main">
              <a:ext uri="{FF2B5EF4-FFF2-40B4-BE49-F238E27FC236}">
                <a16:creationId xmlns:a16="http://schemas.microsoft.com/office/drawing/2014/main" id="{948838D7-D613-4BEB-8C00-F91DA90BFDC9}"/>
              </a:ext>
            </a:extLst>
          </p:cNvPr>
          <p:cNvSpPr>
            <a:spLocks xmlns:a="http://schemas.openxmlformats.org/drawingml/2006/main" noGrp="1"/>
          </p:cNvSpPr>
          <p:nvPr/>
        </p:nvSpPr>
        <p:spPr>
          <a:xfrm xmlns:a="http://schemas.openxmlformats.org/drawingml/2006/main">
            <a:off x="1000125" y="1476375"/>
            <a:ext cx="10191750"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just">
              <a:buNone/>
              <a:defRPr sz="1800">
                <a:solidFill>
                  <a:srgbClr val="1F2937"/>
                </a:solidFill>
                <a:latin typeface="Arial"/>
                <a:ea typeface="Arial"/>
                <a:cs typeface="Arial"/>
              </a:defRPr>
            </a:pPr>
            <a:r>
              <a:rPr sz="1800">
                <a:solidFill>
                  <a:srgbClr val="1F2937"/>
                </a:solidFill>
                <a:latin typeface="Arial"/>
                <a:ea typeface="Arial"/>
                <a:cs typeface="Arial"/>
              </a:rPr>
              <a:t>Although federated learning keeps patient records within each institution, the gradients and model updates exchanged during training may still expose sensitive information through membership inference or reconstruction attacks. Applying CKKS encryption protects update values, but it increases the serialized communication payload and prevents many poisoning defenses from examining individual plaintext updates. Existing systems may also depend on centralized decryption, unverifiable aggregation, or limited audit evidence, which concentrates trust and reduces accountability. Current approaches therefore seldom provide record-level privacy, practical encrypted communication, poisoning resilience, and independently verifiable governance within one evaluated multi-institutional healthcare framework.</a:t>
            </a:r>
          </a:p>
        </p:txBody>
      </p:sp>
    </p:spTree>
    <p:extLst>
      <p:ext uri="{BB962C8B-B14F-4D97-AF65-F5344CB8AC3E}">
        <p14:creationId xmlns:p14="http://schemas.microsoft.com/office/powerpoint/2010/main" val="2803514658"/>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8327212-D758-BDD8-0AC3-710F979CD218}"/>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Motivation</a:t>
            </a:r>
            <a:r>
              <a:rPr sz="4000" b="1">
                <a:solidFill>
                  <a:srgbClr val="002060"/>
                </a:solidFill>
                <a:latin typeface="Arial"/>
                <a:ea typeface="Arial"/>
                <a:cs typeface="Arial"/>
              </a:rPr>
              <a:t> (1/2)</a:t>
            </a:r>
            <a:endParaRPr/>
          </a:p>
        </p:txBody>
      </p:sp>
      <p:sp>
        <p:nvSpPr>
          <p:cNvPr id="212" name="Google Shape;212;p28">
            <a:extLst xmlns:a="http://schemas.openxmlformats.org/drawingml/2006/main">
              <a:ext uri="{FF2B5EF4-FFF2-40B4-BE49-F238E27FC236}">
                <a16:creationId xmlns:a16="http://schemas.microsoft.com/office/drawing/2014/main" id="{E7FFFA5F-706E-F59C-2331-92A1FCF7E581}"/>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6</a:t>
            </a:r>
            <a:endParaRPr sz="2800"/>
          </a:p>
        </p:txBody>
      </p:sp>
      <p:pic>
        <p:nvPicPr>
          <p:cNvPr id="240"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c3daf9b3b3454053">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1"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f47ec9c20d1e4c6a">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37FB91E-C648-4259-0447-534D49531235}"/>
              </a:ext>
            </a:extLst>
          </p:cNvPr>
          <p:cNvSpPr>
            <a:spLocks xmlns:a="http://schemas.openxmlformats.org/drawingml/2006/main" noGrp="1"/>
          </p:cNvSpPr>
          <p:nvPr>
            <p:ph type="ftr" idx="11"/>
          </p:nvPr>
        </p:nvSpPr>
        <p:spPr>
          <a:xfrm xmlns:a="http://schemas.openxmlformats.org/drawingml/2006/main">
            <a:off x="2671629" y="6628374"/>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motivation-heading-0">
            <a:extLst xmlns:a="http://schemas.openxmlformats.org/drawingml/2006/main">
              <a:ext uri="{FF2B5EF4-FFF2-40B4-BE49-F238E27FC236}">
                <a16:creationId xmlns:a16="http://schemas.microsoft.com/office/drawing/2014/main" id="{14A171B0-83C8-4934-A272-DC1FE3A12919}"/>
              </a:ext>
            </a:extLst>
          </p:cNvPr>
          <p:cNvSpPr>
            <a:spLocks xmlns:a="http://schemas.openxmlformats.org/drawingml/2006/main" noGrp="1"/>
          </p:cNvSpPr>
          <p:nvPr/>
        </p:nvSpPr>
        <p:spPr>
          <a:xfrm xmlns:a="http://schemas.openxmlformats.org/drawingml/2006/main">
            <a:off x="809625" y="1666875"/>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795" lnSpcReduction="10000"/>
          </a:bodyPr>
          <a:lstStyle xmlns:a="http://schemas.openxmlformats.org/drawingml/2006/main"/>
          <a:p xmlns:a="http://schemas.openxmlformats.org/drawingml/2006/main">
            <a:pPr algn="ctr">
              <a:buNone/>
              <a:defRPr sz="1950" b="1" i="0">
                <a:solidFill>
                  <a:srgbClr val="00843D"/>
                </a:solidFill>
                <a:latin typeface="Arial"/>
                <a:ea typeface="Arial"/>
                <a:cs typeface="Arial"/>
              </a:defRPr>
            </a:pPr>
            <a:r>
              <a:rPr sz="1950" b="1" i="0">
                <a:solidFill>
                  <a:srgbClr val="00843D"/>
                </a:solidFill>
                <a:latin typeface="Arial"/>
                <a:ea typeface="Arial"/>
                <a:cs typeface="Arial"/>
              </a:rPr>
              <a:t>Clinical collaboration</a:t>
            </a:r>
          </a:p>
        </p:txBody>
      </p:sp>
      <p:sp>
        <p:nvSpPr>
          <p:cNvPr id="221" name="rule-105-255">
            <a:extLst xmlns:a="http://schemas.openxmlformats.org/drawingml/2006/main">
              <a:ext uri="{FF2B5EF4-FFF2-40B4-BE49-F238E27FC236}">
                <a16:creationId xmlns:a16="http://schemas.microsoft.com/office/drawing/2014/main" id="{E5090A77-5EBC-49F7-AA49-0C779200C562}"/>
              </a:ext>
            </a:extLst>
          </p:cNvPr>
          <p:cNvSpPr>
            <a:spLocks xmlns:a="http://schemas.openxmlformats.org/drawingml/2006/main" noGrp="1"/>
          </p:cNvSpPr>
          <p:nvPr/>
        </p:nvSpPr>
        <p:spPr>
          <a:xfrm xmlns:a="http://schemas.openxmlformats.org/drawingml/2006/main">
            <a:off x="1000125" y="2428875"/>
            <a:ext cx="1952625"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motivation-body-0">
            <a:extLst xmlns:a="http://schemas.openxmlformats.org/drawingml/2006/main">
              <a:ext uri="{FF2B5EF4-FFF2-40B4-BE49-F238E27FC236}">
                <a16:creationId xmlns:a16="http://schemas.microsoft.com/office/drawing/2014/main" id="{3754FDFD-4FD5-4944-A570-00B5E343FF7B}"/>
              </a:ext>
            </a:extLst>
          </p:cNvPr>
          <p:cNvSpPr>
            <a:spLocks xmlns:a="http://schemas.openxmlformats.org/drawingml/2006/main" noGrp="1"/>
          </p:cNvSpPr>
          <p:nvPr/>
        </p:nvSpPr>
        <p:spPr>
          <a:xfrm xmlns:a="http://schemas.openxmlformats.org/drawingml/2006/main">
            <a:off x="809625" y="2667000"/>
            <a:ext cx="23336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725" b="0" i="0">
                <a:solidFill>
                  <a:srgbClr val="1F2937"/>
                </a:solidFill>
                <a:latin typeface="Arial"/>
                <a:ea typeface="Arial"/>
                <a:cs typeface="Arial"/>
              </a:defRPr>
            </a:pPr>
            <a:r>
              <a:rPr sz="1725" b="0" i="0">
                <a:solidFill>
                  <a:srgbClr val="1F2937"/>
                </a:solidFill>
                <a:latin typeface="Arial"/>
                <a:ea typeface="Arial"/>
                <a:cs typeface="Arial"/>
              </a:rPr>
              <a:t>Use diverse hospital data without transferring source records.</a:t>
            </a:r>
          </a:p>
        </p:txBody>
      </p:sp>
      <p:sp>
        <p:nvSpPr>
          <p:cNvPr id="223" name="motivation-heading-1">
            <a:extLst xmlns:a="http://schemas.openxmlformats.org/drawingml/2006/main">
              <a:ext uri="{FF2B5EF4-FFF2-40B4-BE49-F238E27FC236}">
                <a16:creationId xmlns:a16="http://schemas.microsoft.com/office/drawing/2014/main" id="{8BD53C23-3158-4388-922E-A2955C2B72C8}"/>
              </a:ext>
            </a:extLst>
          </p:cNvPr>
          <p:cNvSpPr>
            <a:spLocks xmlns:a="http://schemas.openxmlformats.org/drawingml/2006/main" noGrp="1"/>
          </p:cNvSpPr>
          <p:nvPr/>
        </p:nvSpPr>
        <p:spPr>
          <a:xfrm xmlns:a="http://schemas.openxmlformats.org/drawingml/2006/main">
            <a:off x="3590925" y="1666875"/>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795" lnSpcReduction="10000"/>
          </a:bodyPr>
          <a:lstStyle xmlns:a="http://schemas.openxmlformats.org/drawingml/2006/main"/>
          <a:p xmlns:a="http://schemas.openxmlformats.org/drawingml/2006/main">
            <a:pPr algn="ctr">
              <a:buNone/>
              <a:defRPr sz="1950" b="1" i="0">
                <a:solidFill>
                  <a:srgbClr val="17365D"/>
                </a:solidFill>
                <a:latin typeface="Arial"/>
                <a:ea typeface="Arial"/>
                <a:cs typeface="Arial"/>
              </a:defRPr>
            </a:pPr>
            <a:r>
              <a:rPr sz="1950" b="1" i="0">
                <a:solidFill>
                  <a:srgbClr val="17365D"/>
                </a:solidFill>
                <a:latin typeface="Arial"/>
                <a:ea typeface="Arial"/>
                <a:cs typeface="Arial"/>
              </a:rPr>
              <a:t>Measurable privacy</a:t>
            </a:r>
          </a:p>
        </p:txBody>
      </p:sp>
      <p:sp>
        <p:nvSpPr>
          <p:cNvPr id="224" name="rule-397-255">
            <a:extLst xmlns:a="http://schemas.openxmlformats.org/drawingml/2006/main">
              <a:ext uri="{FF2B5EF4-FFF2-40B4-BE49-F238E27FC236}">
                <a16:creationId xmlns:a16="http://schemas.microsoft.com/office/drawing/2014/main" id="{C11FE3ED-7396-42C9-A9AF-60BA17EA4AF5}"/>
              </a:ext>
            </a:extLst>
          </p:cNvPr>
          <p:cNvSpPr>
            <a:spLocks xmlns:a="http://schemas.openxmlformats.org/drawingml/2006/main" noGrp="1"/>
          </p:cNvSpPr>
          <p:nvPr/>
        </p:nvSpPr>
        <p:spPr>
          <a:xfrm xmlns:a="http://schemas.openxmlformats.org/drawingml/2006/main">
            <a:off x="3781425" y="2428875"/>
            <a:ext cx="1952625"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motivation-body-1">
            <a:extLst xmlns:a="http://schemas.openxmlformats.org/drawingml/2006/main">
              <a:ext uri="{FF2B5EF4-FFF2-40B4-BE49-F238E27FC236}">
                <a16:creationId xmlns:a16="http://schemas.microsoft.com/office/drawing/2014/main" id="{423A7667-0058-4E83-8599-24DD016E4200}"/>
              </a:ext>
            </a:extLst>
          </p:cNvPr>
          <p:cNvSpPr>
            <a:spLocks xmlns:a="http://schemas.openxmlformats.org/drawingml/2006/main" noGrp="1"/>
          </p:cNvSpPr>
          <p:nvPr/>
        </p:nvSpPr>
        <p:spPr>
          <a:xfrm xmlns:a="http://schemas.openxmlformats.org/drawingml/2006/main">
            <a:off x="3590925" y="2667000"/>
            <a:ext cx="23336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725" b="0" i="0">
                <a:solidFill>
                  <a:srgbClr val="1F2937"/>
                </a:solidFill>
                <a:latin typeface="Arial"/>
                <a:ea typeface="Arial"/>
                <a:cs typeface="Arial"/>
              </a:defRPr>
            </a:pPr>
            <a:r>
              <a:rPr sz="1725" b="0" i="0">
                <a:solidFill>
                  <a:srgbClr val="1F2937"/>
                </a:solidFill>
                <a:latin typeface="Arial"/>
                <a:ea typeface="Arial"/>
                <a:cs typeface="Arial"/>
              </a:rPr>
              <a:t>Combine formal differential privacy with empirical attack evaluation.</a:t>
            </a:r>
          </a:p>
        </p:txBody>
      </p:sp>
      <p:sp>
        <p:nvSpPr>
          <p:cNvPr id="226" name="motivation-heading-2">
            <a:extLst xmlns:a="http://schemas.openxmlformats.org/drawingml/2006/main">
              <a:ext uri="{FF2B5EF4-FFF2-40B4-BE49-F238E27FC236}">
                <a16:creationId xmlns:a16="http://schemas.microsoft.com/office/drawing/2014/main" id="{2E7B4BD8-ADFE-48CC-B302-794592BF9FB2}"/>
              </a:ext>
            </a:extLst>
          </p:cNvPr>
          <p:cNvSpPr>
            <a:spLocks xmlns:a="http://schemas.openxmlformats.org/drawingml/2006/main" noGrp="1"/>
          </p:cNvSpPr>
          <p:nvPr/>
        </p:nvSpPr>
        <p:spPr>
          <a:xfrm xmlns:a="http://schemas.openxmlformats.org/drawingml/2006/main">
            <a:off x="6372225" y="1666875"/>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795" lnSpcReduction="10000"/>
          </a:bodyPr>
          <a:lstStyle xmlns:a="http://schemas.openxmlformats.org/drawingml/2006/main"/>
          <a:p xmlns:a="http://schemas.openxmlformats.org/drawingml/2006/main">
            <a:pPr algn="ctr">
              <a:buNone/>
              <a:defRPr sz="1950" b="1" i="0">
                <a:solidFill>
                  <a:srgbClr val="00843D"/>
                </a:solidFill>
                <a:latin typeface="Arial"/>
                <a:ea typeface="Arial"/>
                <a:cs typeface="Arial"/>
              </a:defRPr>
            </a:pPr>
            <a:r>
              <a:rPr sz="1950" b="1" i="0">
                <a:solidFill>
                  <a:srgbClr val="00843D"/>
                </a:solidFill>
                <a:latin typeface="Arial"/>
                <a:ea typeface="Arial"/>
                <a:cs typeface="Arial"/>
              </a:rPr>
              <a:t>Encrypted efficiency</a:t>
            </a:r>
          </a:p>
        </p:txBody>
      </p:sp>
      <p:sp>
        <p:nvSpPr>
          <p:cNvPr id="227" name="rule-689-255">
            <a:extLst xmlns:a="http://schemas.openxmlformats.org/drawingml/2006/main">
              <a:ext uri="{FF2B5EF4-FFF2-40B4-BE49-F238E27FC236}">
                <a16:creationId xmlns:a16="http://schemas.microsoft.com/office/drawing/2014/main" id="{2789D004-EE09-4233-BEAE-C409C37985E8}"/>
              </a:ext>
            </a:extLst>
          </p:cNvPr>
          <p:cNvSpPr>
            <a:spLocks xmlns:a="http://schemas.openxmlformats.org/drawingml/2006/main" noGrp="1"/>
          </p:cNvSpPr>
          <p:nvPr/>
        </p:nvSpPr>
        <p:spPr>
          <a:xfrm xmlns:a="http://schemas.openxmlformats.org/drawingml/2006/main">
            <a:off x="6562725" y="2428875"/>
            <a:ext cx="1952625"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motivation-body-2">
            <a:extLst xmlns:a="http://schemas.openxmlformats.org/drawingml/2006/main">
              <a:ext uri="{FF2B5EF4-FFF2-40B4-BE49-F238E27FC236}">
                <a16:creationId xmlns:a16="http://schemas.microsoft.com/office/drawing/2014/main" id="{0AB54D3B-1C6B-4B72-B52C-1D85664316AC}"/>
              </a:ext>
            </a:extLst>
          </p:cNvPr>
          <p:cNvSpPr>
            <a:spLocks xmlns:a="http://schemas.openxmlformats.org/drawingml/2006/main" noGrp="1"/>
          </p:cNvSpPr>
          <p:nvPr/>
        </p:nvSpPr>
        <p:spPr>
          <a:xfrm xmlns:a="http://schemas.openxmlformats.org/drawingml/2006/main">
            <a:off x="6372225" y="2667000"/>
            <a:ext cx="23336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725" b="0" i="0">
                <a:solidFill>
                  <a:srgbClr val="1F2937"/>
                </a:solidFill>
                <a:latin typeface="Arial"/>
                <a:ea typeface="Arial"/>
                <a:cs typeface="Arial"/>
              </a:defRPr>
            </a:pPr>
            <a:r>
              <a:rPr sz="1725" b="0" i="0">
                <a:solidFill>
                  <a:srgbClr val="1F2937"/>
                </a:solidFill>
                <a:latin typeface="Arial"/>
                <a:ea typeface="Arial"/>
                <a:cs typeface="Arial"/>
              </a:rPr>
              <a:t>Reduce real serialized ciphertext bytes, not only logical coordinates.</a:t>
            </a:r>
          </a:p>
        </p:txBody>
      </p:sp>
      <p:sp>
        <p:nvSpPr>
          <p:cNvPr id="229" name="motivation-heading-3">
            <a:extLst xmlns:a="http://schemas.openxmlformats.org/drawingml/2006/main">
              <a:ext uri="{FF2B5EF4-FFF2-40B4-BE49-F238E27FC236}">
                <a16:creationId xmlns:a16="http://schemas.microsoft.com/office/drawing/2014/main" id="{C57D8F51-B74C-4F60-82AA-2FFC42884BD2}"/>
              </a:ext>
            </a:extLst>
          </p:cNvPr>
          <p:cNvSpPr>
            <a:spLocks xmlns:a="http://schemas.openxmlformats.org/drawingml/2006/main" noGrp="1"/>
          </p:cNvSpPr>
          <p:nvPr/>
        </p:nvSpPr>
        <p:spPr>
          <a:xfrm xmlns:a="http://schemas.openxmlformats.org/drawingml/2006/main">
            <a:off x="9153525" y="1666875"/>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795" lnSpcReduction="10000"/>
          </a:bodyPr>
          <a:lstStyle xmlns:a="http://schemas.openxmlformats.org/drawingml/2006/main"/>
          <a:p xmlns:a="http://schemas.openxmlformats.org/drawingml/2006/main">
            <a:pPr algn="ctr">
              <a:buNone/>
              <a:defRPr sz="1950" b="1" i="0">
                <a:solidFill>
                  <a:srgbClr val="17365D"/>
                </a:solidFill>
                <a:latin typeface="Arial"/>
                <a:ea typeface="Arial"/>
                <a:cs typeface="Arial"/>
              </a:defRPr>
            </a:pPr>
            <a:r>
              <a:rPr sz="1950" b="1" i="0">
                <a:solidFill>
                  <a:srgbClr val="17365D"/>
                </a:solidFill>
                <a:latin typeface="Arial"/>
                <a:ea typeface="Arial"/>
                <a:cs typeface="Arial"/>
              </a:rPr>
              <a:t>Accountable release</a:t>
            </a:r>
          </a:p>
        </p:txBody>
      </p:sp>
      <p:sp>
        <p:nvSpPr>
          <p:cNvPr id="230" name="rule-981-255">
            <a:extLst xmlns:a="http://schemas.openxmlformats.org/drawingml/2006/main">
              <a:ext uri="{FF2B5EF4-FFF2-40B4-BE49-F238E27FC236}">
                <a16:creationId xmlns:a16="http://schemas.microsoft.com/office/drawing/2014/main" id="{DC981718-FDBA-440E-8D3D-7CE191FB1268}"/>
              </a:ext>
            </a:extLst>
          </p:cNvPr>
          <p:cNvSpPr>
            <a:spLocks xmlns:a="http://schemas.openxmlformats.org/drawingml/2006/main" noGrp="1"/>
          </p:cNvSpPr>
          <p:nvPr/>
        </p:nvSpPr>
        <p:spPr>
          <a:xfrm xmlns:a="http://schemas.openxmlformats.org/drawingml/2006/main">
            <a:off x="9344025" y="2428875"/>
            <a:ext cx="1952625"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motivation-body-3">
            <a:extLst xmlns:a="http://schemas.openxmlformats.org/drawingml/2006/main">
              <a:ext uri="{FF2B5EF4-FFF2-40B4-BE49-F238E27FC236}">
                <a16:creationId xmlns:a16="http://schemas.microsoft.com/office/drawing/2014/main" id="{CAA93CDD-05C3-4AC1-8211-2B0AE4B52DA9}"/>
              </a:ext>
            </a:extLst>
          </p:cNvPr>
          <p:cNvSpPr>
            <a:spLocks xmlns:a="http://schemas.openxmlformats.org/drawingml/2006/main" noGrp="1"/>
          </p:cNvSpPr>
          <p:nvPr/>
        </p:nvSpPr>
        <p:spPr>
          <a:xfrm xmlns:a="http://schemas.openxmlformats.org/drawingml/2006/main">
            <a:off x="9153525" y="2667000"/>
            <a:ext cx="23336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725" b="0" i="0">
                <a:solidFill>
                  <a:srgbClr val="1F2937"/>
                </a:solidFill>
                <a:latin typeface="Arial"/>
                <a:ea typeface="Arial"/>
                <a:cs typeface="Arial"/>
              </a:defRPr>
            </a:pPr>
            <a:r>
              <a:rPr sz="1725" b="0" i="0">
                <a:solidFill>
                  <a:srgbClr val="1F2937"/>
                </a:solidFill>
                <a:latin typeface="Arial"/>
                <a:ea typeface="Arial"/>
                <a:cs typeface="Arial"/>
              </a:rPr>
              <a:t>Verify aggregation and record rollback, reputation, and audit evidence.</a:t>
            </a:r>
          </a:p>
        </p:txBody>
      </p:sp>
      <p:sp>
        <p:nvSpPr>
          <p:cNvPr id="232" name="motivation-close">
            <a:extLst xmlns:a="http://schemas.openxmlformats.org/drawingml/2006/main">
              <a:ext uri="{FF2B5EF4-FFF2-40B4-BE49-F238E27FC236}">
                <a16:creationId xmlns:a16="http://schemas.microsoft.com/office/drawing/2014/main" id="{9EBE3E1D-C266-4EFE-B091-4D7FF55EA7E1}"/>
              </a:ext>
            </a:extLst>
          </p:cNvPr>
          <p:cNvSpPr>
            <a:spLocks xmlns:a="http://schemas.openxmlformats.org/drawingml/2006/main" noGrp="1"/>
          </p:cNvSpPr>
          <p:nvPr/>
        </p:nvSpPr>
        <p:spPr>
          <a:xfrm xmlns:a="http://schemas.openxmlformats.org/drawingml/2006/main">
            <a:off x="1666875" y="5143500"/>
            <a:ext cx="8858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9833" lnSpcReduction="10000"/>
          </a:bodyPr>
          <a:lstStyle xmlns:a="http://schemas.openxmlformats.org/drawingml/2006/main"/>
          <a:p xmlns:a="http://schemas.openxmlformats.org/drawingml/2006/main">
            <a:pPr algn="ctr">
              <a:buNone/>
              <a:defRPr sz="1875" b="1" i="0">
                <a:solidFill>
                  <a:srgbClr val="17365D"/>
                </a:solidFill>
                <a:latin typeface="Arial"/>
                <a:ea typeface="Arial"/>
                <a:cs typeface="Arial"/>
              </a:defRPr>
            </a:pPr>
            <a:r>
              <a:rPr sz="1875" b="1" i="0">
                <a:solidFill>
                  <a:srgbClr val="17365D"/>
                </a:solidFill>
                <a:latin typeface="Arial"/>
                <a:ea typeface="Arial"/>
                <a:cs typeface="Arial"/>
              </a:rPr>
              <a:t>The thesis treats privacy, systems cost, adversarial resilience, and trust as one engineering problem.</a:t>
            </a:r>
          </a:p>
        </p:txBody>
      </p:sp>
      <p:sp>
        <p:nvSpPr>
          <p:cNvPr id="235" name="visible-footer-date-6">
            <a:extLst xmlns:a="http://schemas.openxmlformats.org/drawingml/2006/main">
              <a:ext uri="{FF2B5EF4-FFF2-40B4-BE49-F238E27FC236}">
                <a16:creationId xmlns:a16="http://schemas.microsoft.com/office/drawing/2014/main" id="{84D29736-8B5D-4B2B-A79E-01AA1A8FBA22}"/>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548453717"/>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8327212-D758-BDD8-0AC3-710F979CD218}"/>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Motivation (2/2)</a:t>
            </a:r>
            <a:endParaRPr/>
          </a:p>
        </p:txBody>
      </p:sp>
      <p:sp>
        <p:nvSpPr>
          <p:cNvPr id="212" name="Google Shape;212;p28">
            <a:extLst xmlns:a="http://schemas.openxmlformats.org/drawingml/2006/main">
              <a:ext uri="{FF2B5EF4-FFF2-40B4-BE49-F238E27FC236}">
                <a16:creationId xmlns:a16="http://schemas.microsoft.com/office/drawing/2014/main" id="{E7FFFA5F-706E-F59C-2331-92A1FCF7E581}"/>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7</a:t>
            </a:r>
            <a:endParaRPr sz="2800"/>
          </a:p>
        </p:txBody>
      </p:sp>
      <p:pic>
        <p:nvPicPr>
          <p:cNvPr id="251"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cfc8b2dd1a8942a2">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52"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6d76667e2f3441fb">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37FB91E-C648-4259-0447-534D49531235}"/>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35" name="visible-footer-date-6">
            <a:extLst xmlns:a="http://schemas.openxmlformats.org/drawingml/2006/main">
              <a:ext uri="{FF2B5EF4-FFF2-40B4-BE49-F238E27FC236}">
                <a16:creationId xmlns:a16="http://schemas.microsoft.com/office/drawing/2014/main" id="{84D29736-8B5D-4B2B-A79E-01AA1A8FBA22}"/>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38" name="evidence-sites-number">
            <a:extLst xmlns:a="http://schemas.openxmlformats.org/drawingml/2006/main">
              <a:ext uri="{FF2B5EF4-FFF2-40B4-BE49-F238E27FC236}">
                <a16:creationId xmlns:a16="http://schemas.microsoft.com/office/drawing/2014/main" id="{F80BD4C4-9B17-4656-B580-1C5E24E17728}"/>
              </a:ext>
            </a:extLst>
          </p:cNvPr>
          <p:cNvSpPr>
            <a:spLocks xmlns:a="http://schemas.openxmlformats.org/drawingml/2006/main" noGrp="1"/>
          </p:cNvSpPr>
          <p:nvPr/>
        </p:nvSpPr>
        <p:spPr>
          <a:xfrm xmlns:a="http://schemas.openxmlformats.org/drawingml/2006/main">
            <a:off x="904875" y="1428750"/>
            <a:ext cx="223837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5400" b="1">
                <a:solidFill>
                  <a:srgbClr val="008A46"/>
                </a:solidFill>
                <a:latin typeface="Arial"/>
                <a:ea typeface="Arial"/>
                <a:cs typeface="Arial"/>
              </a:defRPr>
            </a:pPr>
            <a:r>
              <a:rPr sz="5400" b="1">
                <a:solidFill>
                  <a:srgbClr val="008A46"/>
                </a:solidFill>
                <a:latin typeface="Arial"/>
                <a:ea typeface="Arial"/>
                <a:cs typeface="Arial"/>
              </a:rPr>
              <a:t>20</a:t>
            </a:r>
          </a:p>
        </p:txBody>
      </p:sp>
      <p:sp>
        <p:nvSpPr>
          <p:cNvPr id="239" name="evidence-sites-label">
            <a:extLst xmlns:a="http://schemas.openxmlformats.org/drawingml/2006/main">
              <a:ext uri="{FF2B5EF4-FFF2-40B4-BE49-F238E27FC236}">
                <a16:creationId xmlns:a16="http://schemas.microsoft.com/office/drawing/2014/main" id="{D525C1F9-E8B8-42D8-ADFA-C90C85B7882E}"/>
              </a:ext>
            </a:extLst>
          </p:cNvPr>
          <p:cNvSpPr>
            <a:spLocks xmlns:a="http://schemas.openxmlformats.org/drawingml/2006/main" noGrp="1"/>
          </p:cNvSpPr>
          <p:nvPr/>
        </p:nvSpPr>
        <p:spPr>
          <a:xfrm xmlns:a="http://schemas.openxmlformats.org/drawingml/2006/main">
            <a:off x="762000" y="2476500"/>
            <a:ext cx="2571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800" b="1">
                <a:solidFill>
                  <a:srgbClr val="1E3A5F"/>
                </a:solidFill>
                <a:latin typeface="Arial"/>
                <a:ea typeface="Arial"/>
                <a:cs typeface="Arial"/>
              </a:defRPr>
            </a:pPr>
            <a:r>
              <a:rPr sz="1800" b="1">
                <a:solidFill>
                  <a:srgbClr val="1E3A5F"/>
                </a:solidFill>
                <a:latin typeface="Arial"/>
                <a:ea typeface="Arial"/>
                <a:cs typeface="Arial"/>
              </a:rPr>
              <a:t>clinical sites across four continents</a:t>
            </a:r>
          </a:p>
        </p:txBody>
      </p:sp>
      <p:sp>
        <p:nvSpPr>
          <p:cNvPr id="240" name="evidence-cases-number">
            <a:extLst xmlns:a="http://schemas.openxmlformats.org/drawingml/2006/main">
              <a:ext uri="{FF2B5EF4-FFF2-40B4-BE49-F238E27FC236}">
                <a16:creationId xmlns:a16="http://schemas.microsoft.com/office/drawing/2014/main" id="{5BDE55EC-8B7A-4BD4-B392-42A1B22514F1}"/>
              </a:ext>
            </a:extLst>
          </p:cNvPr>
          <p:cNvSpPr>
            <a:spLocks xmlns:a="http://schemas.openxmlformats.org/drawingml/2006/main" noGrp="1"/>
          </p:cNvSpPr>
          <p:nvPr/>
        </p:nvSpPr>
        <p:spPr>
          <a:xfrm xmlns:a="http://schemas.openxmlformats.org/drawingml/2006/main">
            <a:off x="666750" y="3333750"/>
            <a:ext cx="2762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4050" b="1">
                <a:solidFill>
                  <a:srgbClr val="1E3A5F"/>
                </a:solidFill>
                <a:latin typeface="Arial"/>
                <a:ea typeface="Arial"/>
                <a:cs typeface="Arial"/>
              </a:defRPr>
            </a:pPr>
            <a:r>
              <a:rPr sz="4050" b="1">
                <a:solidFill>
                  <a:srgbClr val="1E3A5F"/>
                </a:solidFill>
                <a:latin typeface="Arial"/>
                <a:ea typeface="Arial"/>
                <a:cs typeface="Arial"/>
              </a:rPr>
              <a:t>16,148</a:t>
            </a:r>
          </a:p>
        </p:txBody>
      </p:sp>
      <p:sp>
        <p:nvSpPr>
          <p:cNvPr id="241" name="evidence-cases-label">
            <a:extLst xmlns:a="http://schemas.openxmlformats.org/drawingml/2006/main">
              <a:ext uri="{FF2B5EF4-FFF2-40B4-BE49-F238E27FC236}">
                <a16:creationId xmlns:a16="http://schemas.microsoft.com/office/drawing/2014/main" id="{4C297428-7B2C-4AFF-AC11-EBA045220558}"/>
              </a:ext>
            </a:extLst>
          </p:cNvPr>
          <p:cNvSpPr>
            <a:spLocks xmlns:a="http://schemas.openxmlformats.org/drawingml/2006/main" noGrp="1"/>
          </p:cNvSpPr>
          <p:nvPr/>
        </p:nvSpPr>
        <p:spPr>
          <a:xfrm xmlns:a="http://schemas.openxmlformats.org/drawingml/2006/main">
            <a:off x="762000" y="4191000"/>
            <a:ext cx="2571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650">
                <a:solidFill>
                  <a:srgbClr val="1F2937"/>
                </a:solidFill>
                <a:latin typeface="Arial"/>
                <a:ea typeface="Arial"/>
                <a:cs typeface="Arial"/>
              </a:defRPr>
            </a:pPr>
            <a:r>
              <a:rPr sz="1650">
                <a:solidFill>
                  <a:srgbClr val="1F2937"/>
                </a:solidFill>
                <a:latin typeface="Arial"/>
                <a:ea typeface="Arial"/>
                <a:cs typeface="Arial"/>
              </a:rPr>
              <a:t>cases in the EXAM federated cohort [3]</a:t>
            </a:r>
          </a:p>
        </p:txBody>
      </p:sp>
      <p:sp>
        <p:nvSpPr>
          <p:cNvPr id="242" name="evidence-separator">
            <a:extLst xmlns:a="http://schemas.openxmlformats.org/drawingml/2006/main">
              <a:ext uri="{FF2B5EF4-FFF2-40B4-BE49-F238E27FC236}">
                <a16:creationId xmlns:a16="http://schemas.microsoft.com/office/drawing/2014/main" id="{D276F0AC-9520-4A08-A98D-BA7EB40375B9}"/>
              </a:ext>
            </a:extLst>
          </p:cNvPr>
          <p:cNvSpPr>
            <a:spLocks xmlns:a="http://schemas.openxmlformats.org/drawingml/2006/main" noGrp="1"/>
          </p:cNvSpPr>
          <p:nvPr/>
        </p:nvSpPr>
        <p:spPr>
          <a:xfrm xmlns:a="http://schemas.openxmlformats.org/drawingml/2006/main">
            <a:off x="3857625" y="1428750"/>
            <a:ext cx="28575" cy="3476625"/>
          </a:xfrm>
          <a:prstGeom xmlns:a="http://schemas.openxmlformats.org/drawingml/2006/main" prst="rect">
            <a:avLst/>
          </a:prstGeom>
          <a:solidFill xmlns:a="http://schemas.openxmlformats.org/drawingml/2006/main">
            <a:srgbClr val="008A46"/>
          </a:solidFill>
          <a:ln xmlns:a="http://schemas.openxmlformats.org/drawingml/2006/main" w="0">
            <a:noFill/>
          </a:ln>
        </p:spPr>
      </p:sp>
      <p:graphicFrame>
        <p:nvGraphicFramePr>
          <p:cNvPr id="260" name="Chart"/>
          <p:cNvGraphicFramePr/>
          <p:nvPr/>
        </p:nvGraphicFramePr>
        <p:xfrm>
          <a:off xmlns:a="http://schemas.openxmlformats.org/drawingml/2006/main" x="4429125" y="1333500"/>
          <a:ext xmlns:a="http://schemas.openxmlformats.org/drawingml/2006/main" cx="6953250" cy="3524250"/>
        </p:xfrm>
        <a:graphic xmlns:a="http://schemas.openxmlformats.org/drawingml/2006/main">
          <a:graphicData uri="http://schemas.openxmlformats.org/drawingml/2006/chart">
            <c:chart xmlns:r="http://schemas.openxmlformats.org/officeDocument/2006/relationships" xmlns:c="http://schemas.openxmlformats.org/drawingml/2006/chart" r:id="Rbaa20d6c4cdd4f0a"/>
          </a:graphicData>
        </a:graphic>
      </p:graphicFrame>
      <p:sp>
        <p:nvSpPr>
          <p:cNvPr id="244" name="evidence-chart-caption">
            <a:extLst xmlns:a="http://schemas.openxmlformats.org/drawingml/2006/main">
              <a:ext uri="{FF2B5EF4-FFF2-40B4-BE49-F238E27FC236}">
                <a16:creationId xmlns:a16="http://schemas.microsoft.com/office/drawing/2014/main" id="{36ABC351-6F5A-4A46-AAD3-22A27C9B53B0}"/>
              </a:ext>
            </a:extLst>
          </p:cNvPr>
          <p:cNvSpPr>
            <a:spLocks xmlns:a="http://schemas.openxmlformats.org/drawingml/2006/main" noGrp="1"/>
          </p:cNvSpPr>
          <p:nvPr/>
        </p:nvSpPr>
        <p:spPr>
          <a:xfrm xmlns:a="http://schemas.openxmlformats.org/drawingml/2006/main">
            <a:off x="4762500" y="4762500"/>
            <a:ext cx="6286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350" i="1">
                <a:solidFill>
                  <a:srgbClr val="475569"/>
                </a:solidFill>
                <a:latin typeface="Arial"/>
                <a:ea typeface="Arial"/>
                <a:cs typeface="Arial"/>
              </a:defRPr>
            </a:pPr>
            <a:r>
              <a:rPr sz="1350" i="1">
                <a:solidFill>
                  <a:srgbClr val="475569"/>
                </a:solidFill>
                <a:latin typeface="Arial"/>
                <a:ea typeface="Arial"/>
                <a:cs typeface="Arial"/>
              </a:rPr>
              <a:t>EXAM improved the mean site-level AUC from 0.795 to 0.920 [3].</a:t>
            </a:r>
          </a:p>
        </p:txBody>
      </p:sp>
      <p:sp>
        <p:nvSpPr>
          <p:cNvPr id="245" name="evidence-sheller">
            <a:extLst xmlns:a="http://schemas.openxmlformats.org/drawingml/2006/main">
              <a:ext uri="{FF2B5EF4-FFF2-40B4-BE49-F238E27FC236}">
                <a16:creationId xmlns:a16="http://schemas.microsoft.com/office/drawing/2014/main" id="{16CD3232-E527-451F-A197-B3ED178E6510}"/>
              </a:ext>
            </a:extLst>
          </p:cNvPr>
          <p:cNvSpPr>
            <a:spLocks xmlns:a="http://schemas.openxmlformats.org/drawingml/2006/main" noGrp="1"/>
          </p:cNvSpPr>
          <p:nvPr/>
        </p:nvSpPr>
        <p:spPr>
          <a:xfrm xmlns:a="http://schemas.openxmlformats.org/drawingml/2006/main">
            <a:off x="952500" y="5381625"/>
            <a:ext cx="1028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725" b="1">
                <a:solidFill>
                  <a:srgbClr val="008A46"/>
                </a:solidFill>
                <a:latin typeface="Arial"/>
                <a:ea typeface="Arial"/>
                <a:cs typeface="Arial"/>
              </a:defRPr>
            </a:pPr>
            <a:r>
              <a:rPr sz="1725" b="1">
                <a:solidFill>
                  <a:srgbClr val="008A46"/>
                </a:solidFill>
                <a:latin typeface="Arial"/>
                <a:ea typeface="Arial"/>
                <a:cs typeface="Arial"/>
              </a:rPr>
              <a:t>Federated training across 10 institutions reached 99% of centralized model quality [2].</a:t>
            </a:r>
          </a:p>
        </p:txBody>
      </p:sp>
    </p:spTree>
    <p:extLst>
      <p:ext uri="{BB962C8B-B14F-4D97-AF65-F5344CB8AC3E}">
        <p14:creationId xmlns:p14="http://schemas.microsoft.com/office/powerpoint/2010/main" val="3548453717"/>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EEA6A2F0-B7DA-4A68-7753-B725935F3025}"/>
              </a:ext>
            </a:extLst>
          </p:cNvPr>
          <p:cNvSpPr>
            <a:spLocks xmlns:a="http://schemas.openxmlformats.org/drawingml/2006/main" noGrp="1"/>
          </p:cNvSpPr>
          <p:nvPr>
            <p:ph type="title" idx="0"/>
          </p:nvPr>
        </p:nvSpPr>
        <p:spPr>
          <a:xfrm xmlns:a="http://schemas.openxmlformats.org/drawingml/2006/main">
            <a:off x="1892046" y="241785"/>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Objectives</a:t>
            </a:r>
            <a:endParaRPr/>
          </a:p>
        </p:txBody>
      </p:sp>
      <p:sp>
        <p:nvSpPr>
          <p:cNvPr id="212" name="Google Shape;212;p28">
            <a:extLst xmlns:a="http://schemas.openxmlformats.org/drawingml/2006/main">
              <a:ext uri="{FF2B5EF4-FFF2-40B4-BE49-F238E27FC236}">
                <a16:creationId xmlns:a16="http://schemas.microsoft.com/office/drawing/2014/main" id="{CB9C8E9E-52E3-F028-3FC7-A92838E6F5FF}"/>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8</a:t>
            </a:r>
            <a:endParaRPr sz="2800"/>
          </a:p>
        </p:txBody>
      </p:sp>
      <p:pic>
        <p:nvPicPr>
          <p:cNvPr id="233"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7e6d11bb5b274ad9">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4"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a2c16762e70f48d5">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776A135-D8F3-2554-1D23-8D340FFD8634}"/>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objective-1">
            <a:extLst xmlns:a="http://schemas.openxmlformats.org/drawingml/2006/main">
              <a:ext uri="{FF2B5EF4-FFF2-40B4-BE49-F238E27FC236}">
                <a16:creationId xmlns:a16="http://schemas.microsoft.com/office/drawing/2014/main" id="{E5A36458-5BB8-4AA0-B30E-573E9C9AEABA}"/>
              </a:ext>
            </a:extLst>
          </p:cNvPr>
          <p:cNvSpPr>
            <a:spLocks xmlns:a="http://schemas.openxmlformats.org/drawingml/2006/main" noGrp="1"/>
          </p:cNvSpPr>
          <p:nvPr/>
        </p:nvSpPr>
        <p:spPr>
          <a:xfrm xmlns:a="http://schemas.openxmlformats.org/drawingml/2006/main">
            <a:off x="1190625" y="1476375"/>
            <a:ext cx="781050" cy="781050"/>
          </a:xfrm>
          <a:prstGeom xmlns:a="http://schemas.openxmlformats.org/drawingml/2006/main" prst="ellipse">
            <a:avLst/>
          </a:prstGeom>
          <a:solidFill xmlns:a="http://schemas.openxmlformats.org/drawingml/2006/main">
            <a:srgbClr val="00843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1</a:t>
            </a:r>
          </a:p>
        </p:txBody>
      </p:sp>
      <p:sp>
        <p:nvSpPr>
          <p:cNvPr id="221" name="objective-text-1">
            <a:extLst xmlns:a="http://schemas.openxmlformats.org/drawingml/2006/main">
              <a:ext uri="{FF2B5EF4-FFF2-40B4-BE49-F238E27FC236}">
                <a16:creationId xmlns:a16="http://schemas.microsoft.com/office/drawing/2014/main" id="{96E5B020-9993-43E4-9348-202EB89AB0FF}"/>
              </a:ext>
            </a:extLst>
          </p:cNvPr>
          <p:cNvSpPr>
            <a:spLocks xmlns:a="http://schemas.openxmlformats.org/drawingml/2006/main" noGrp="1"/>
          </p:cNvSpPr>
          <p:nvPr/>
        </p:nvSpPr>
        <p:spPr>
          <a:xfrm xmlns:a="http://schemas.openxmlformats.org/drawingml/2006/main">
            <a:off x="2333625" y="1428750"/>
            <a:ext cx="857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2100" b="0" i="0">
                <a:solidFill>
                  <a:srgbClr val="1F2937"/>
                </a:solidFill>
                <a:latin typeface="Arial"/>
                <a:ea typeface="Arial"/>
                <a:cs typeface="Arial"/>
              </a:defRPr>
            </a:pPr>
            <a:r>
              <a:rPr sz="2100" b="0" i="0">
                <a:solidFill>
                  <a:srgbClr val="1F2937"/>
                </a:solidFill>
                <a:latin typeface="Arial"/>
                <a:ea typeface="Arial"/>
                <a:cs typeface="Arial"/>
              </a:rPr>
              <a:t>Design and implement a secure, privacy-preserving architecture for collaborative learning across institutions.</a:t>
            </a:r>
          </a:p>
        </p:txBody>
      </p:sp>
      <p:sp>
        <p:nvSpPr>
          <p:cNvPr id="222" name="objective-2">
            <a:extLst xmlns:a="http://schemas.openxmlformats.org/drawingml/2006/main">
              <a:ext uri="{FF2B5EF4-FFF2-40B4-BE49-F238E27FC236}">
                <a16:creationId xmlns:a16="http://schemas.microsoft.com/office/drawing/2014/main" id="{3ECA1D2D-BF00-4DBD-B298-8071DC815DA7}"/>
              </a:ext>
            </a:extLst>
          </p:cNvPr>
          <p:cNvSpPr>
            <a:spLocks xmlns:a="http://schemas.openxmlformats.org/drawingml/2006/main" noGrp="1"/>
          </p:cNvSpPr>
          <p:nvPr/>
        </p:nvSpPr>
        <p:spPr>
          <a:xfrm xmlns:a="http://schemas.openxmlformats.org/drawingml/2006/main">
            <a:off x="1190625" y="2905125"/>
            <a:ext cx="781050" cy="781050"/>
          </a:xfrm>
          <a:prstGeom xmlns:a="http://schemas.openxmlformats.org/drawingml/2006/main" prst="ellipse">
            <a:avLst/>
          </a:prstGeom>
          <a:solidFill xmlns:a="http://schemas.openxmlformats.org/drawingml/2006/main">
            <a:srgbClr val="17365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2</a:t>
            </a:r>
          </a:p>
        </p:txBody>
      </p:sp>
      <p:sp>
        <p:nvSpPr>
          <p:cNvPr id="223" name="objective-text-2">
            <a:extLst xmlns:a="http://schemas.openxmlformats.org/drawingml/2006/main">
              <a:ext uri="{FF2B5EF4-FFF2-40B4-BE49-F238E27FC236}">
                <a16:creationId xmlns:a16="http://schemas.microsoft.com/office/drawing/2014/main" id="{091234BF-1A23-47A7-AFE5-0F1BC2914BA9}"/>
              </a:ext>
            </a:extLst>
          </p:cNvPr>
          <p:cNvSpPr>
            <a:spLocks xmlns:a="http://schemas.openxmlformats.org/drawingml/2006/main" noGrp="1"/>
          </p:cNvSpPr>
          <p:nvPr/>
        </p:nvSpPr>
        <p:spPr>
          <a:xfrm xmlns:a="http://schemas.openxmlformats.org/drawingml/2006/main">
            <a:off x="2333625" y="2857500"/>
            <a:ext cx="857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2100" b="0" i="0">
                <a:solidFill>
                  <a:srgbClr val="1F2937"/>
                </a:solidFill>
                <a:latin typeface="Arial"/>
                <a:ea typeface="Arial"/>
                <a:cs typeface="Arial"/>
              </a:defRPr>
            </a:pPr>
            <a:r>
              <a:rPr sz="2100" b="0" i="0">
                <a:solidFill>
                  <a:srgbClr val="1F2937"/>
                </a:solidFill>
                <a:latin typeface="Arial"/>
                <a:ea typeface="Arial"/>
                <a:cs typeface="Arial"/>
              </a:rPr>
              <a:t>Develop a communication-efficient method for protected model exchange while maintaining predictive utility.</a:t>
            </a:r>
          </a:p>
        </p:txBody>
      </p:sp>
      <p:sp>
        <p:nvSpPr>
          <p:cNvPr id="224" name="objective-3">
            <a:extLst xmlns:a="http://schemas.openxmlformats.org/drawingml/2006/main">
              <a:ext uri="{FF2B5EF4-FFF2-40B4-BE49-F238E27FC236}">
                <a16:creationId xmlns:a16="http://schemas.microsoft.com/office/drawing/2014/main" id="{6B3CBF94-377C-4221-A20F-0CFD7A4AFFE5}"/>
              </a:ext>
            </a:extLst>
          </p:cNvPr>
          <p:cNvSpPr>
            <a:spLocks xmlns:a="http://schemas.openxmlformats.org/drawingml/2006/main" noGrp="1"/>
          </p:cNvSpPr>
          <p:nvPr/>
        </p:nvSpPr>
        <p:spPr>
          <a:xfrm xmlns:a="http://schemas.openxmlformats.org/drawingml/2006/main">
            <a:off x="1190625" y="4333875"/>
            <a:ext cx="781050" cy="781050"/>
          </a:xfrm>
          <a:prstGeom xmlns:a="http://schemas.openxmlformats.org/drawingml/2006/main" prst="ellipse">
            <a:avLst/>
          </a:prstGeom>
          <a:solidFill xmlns:a="http://schemas.openxmlformats.org/drawingml/2006/main">
            <a:srgbClr val="00843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3</a:t>
            </a:r>
          </a:p>
        </p:txBody>
      </p:sp>
      <p:sp>
        <p:nvSpPr>
          <p:cNvPr id="225" name="objective-text-3">
            <a:extLst xmlns:a="http://schemas.openxmlformats.org/drawingml/2006/main">
              <a:ext uri="{FF2B5EF4-FFF2-40B4-BE49-F238E27FC236}">
                <a16:creationId xmlns:a16="http://schemas.microsoft.com/office/drawing/2014/main" id="{EFF868F0-E0AE-4B68-AF26-BEBC0AED50FC}"/>
              </a:ext>
            </a:extLst>
          </p:cNvPr>
          <p:cNvSpPr>
            <a:spLocks xmlns:a="http://schemas.openxmlformats.org/drawingml/2006/main" noGrp="1"/>
          </p:cNvSpPr>
          <p:nvPr/>
        </p:nvSpPr>
        <p:spPr>
          <a:xfrm xmlns:a="http://schemas.openxmlformats.org/drawingml/2006/main">
            <a:off x="2333625" y="4286250"/>
            <a:ext cx="857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2100" b="0" i="0">
                <a:solidFill>
                  <a:srgbClr val="1F2937"/>
                </a:solidFill>
                <a:latin typeface="Arial"/>
                <a:ea typeface="Arial"/>
                <a:cs typeface="Arial"/>
              </a:defRPr>
            </a:pPr>
            <a:r>
              <a:rPr sz="2100" b="0" i="0">
                <a:solidFill>
                  <a:srgbClr val="1F2937"/>
                </a:solidFill>
                <a:latin typeface="Arial"/>
                <a:ea typeface="Arial"/>
                <a:cs typeface="Arial"/>
              </a:rPr>
              <a:t>Evaluate the framework against relevant baselines under benign and adversarial conditions.</a:t>
            </a:r>
          </a:p>
        </p:txBody>
      </p:sp>
      <p:sp>
        <p:nvSpPr>
          <p:cNvPr id="228" name="visible-footer-date-7">
            <a:extLst xmlns:a="http://schemas.openxmlformats.org/drawingml/2006/main">
              <a:ext uri="{FF2B5EF4-FFF2-40B4-BE49-F238E27FC236}">
                <a16:creationId xmlns:a16="http://schemas.microsoft.com/office/drawing/2014/main" id="{8A081462-9D50-4C15-961B-5F4D0F50A87E}"/>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913916086"/>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EEA6A2F0-B7DA-4A68-7753-B725935F3025}"/>
              </a:ext>
            </a:extLst>
          </p:cNvPr>
          <p:cNvSpPr>
            <a:spLocks xmlns:a="http://schemas.openxmlformats.org/drawingml/2006/main" noGrp="1"/>
          </p:cNvSpPr>
          <p:nvPr>
            <p:ph type="title" idx="0"/>
          </p:nvPr>
        </p:nvSpPr>
        <p:spPr>
          <a:xfrm xmlns:a="http://schemas.openxmlformats.org/drawingml/2006/main">
            <a:off x="1892046" y="241785"/>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Questions</a:t>
            </a:r>
            <a:endParaRPr/>
          </a:p>
        </p:txBody>
      </p:sp>
      <p:sp>
        <p:nvSpPr>
          <p:cNvPr id="212" name="Google Shape;212;p28">
            <a:extLst xmlns:a="http://schemas.openxmlformats.org/drawingml/2006/main">
              <a:ext uri="{FF2B5EF4-FFF2-40B4-BE49-F238E27FC236}">
                <a16:creationId xmlns:a16="http://schemas.microsoft.com/office/drawing/2014/main" id="{CB9C8E9E-52E3-F028-3FC7-A92838E6F5FF}"/>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9</a:t>
            </a:r>
            <a:endParaRPr sz="2800"/>
          </a:p>
        </p:txBody>
      </p:sp>
      <p:pic>
        <p:nvPicPr>
          <p:cNvPr id="233"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b26e25db33b44fa2">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4"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3639876fa5e14ef4">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776A135-D8F3-2554-1D23-8D340FFD8634}"/>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objective-1">
            <a:extLst xmlns:a="http://schemas.openxmlformats.org/drawingml/2006/main">
              <a:ext uri="{FF2B5EF4-FFF2-40B4-BE49-F238E27FC236}">
                <a16:creationId xmlns:a16="http://schemas.microsoft.com/office/drawing/2014/main" id="{E5A36458-5BB8-4AA0-B30E-573E9C9AEABA}"/>
              </a:ext>
            </a:extLst>
          </p:cNvPr>
          <p:cNvSpPr>
            <a:spLocks xmlns:a="http://schemas.openxmlformats.org/drawingml/2006/main" noGrp="1"/>
          </p:cNvSpPr>
          <p:nvPr/>
        </p:nvSpPr>
        <p:spPr>
          <a:xfrm xmlns:a="http://schemas.openxmlformats.org/drawingml/2006/main">
            <a:off x="1190625" y="1381125"/>
            <a:ext cx="781050" cy="781050"/>
          </a:xfrm>
          <a:prstGeom xmlns:a="http://schemas.openxmlformats.org/drawingml/2006/main" prst="ellipse">
            <a:avLst/>
          </a:prstGeom>
          <a:solidFill xmlns:a="http://schemas.openxmlformats.org/drawingml/2006/main">
            <a:srgbClr val="00843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1</a:t>
            </a:r>
          </a:p>
        </p:txBody>
      </p:sp>
      <p:sp>
        <p:nvSpPr>
          <p:cNvPr id="221" name="objective-text-1">
            <a:extLst xmlns:a="http://schemas.openxmlformats.org/drawingml/2006/main">
              <a:ext uri="{FF2B5EF4-FFF2-40B4-BE49-F238E27FC236}">
                <a16:creationId xmlns:a16="http://schemas.microsoft.com/office/drawing/2014/main" id="{96E5B020-9993-43E4-9348-202EB89AB0FF}"/>
              </a:ext>
            </a:extLst>
          </p:cNvPr>
          <p:cNvSpPr>
            <a:spLocks xmlns:a="http://schemas.openxmlformats.org/drawingml/2006/main" noGrp="1"/>
          </p:cNvSpPr>
          <p:nvPr/>
        </p:nvSpPr>
        <p:spPr>
          <a:xfrm xmlns:a="http://schemas.openxmlformats.org/drawingml/2006/main">
            <a:off x="2333625" y="1238250"/>
            <a:ext cx="8763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875" b="0" i="0">
                <a:solidFill>
                  <a:srgbClr val="1F2937"/>
                </a:solidFill>
                <a:latin typeface="Arial"/>
                <a:ea typeface="Arial"/>
                <a:cs typeface="Arial"/>
              </a:defRPr>
            </a:pPr>
            <a:r>
              <a:rPr sz="1875" b="0" i="0">
                <a:solidFill>
                  <a:srgbClr val="1F2937"/>
                </a:solidFill>
                <a:latin typeface="Arial"/>
                <a:ea typeface="Arial"/>
                <a:cs typeface="Arial"/>
              </a:rPr>
              <a:t>How can multi-institutional learning protect patient records, model updates, and release decisions without centralizing raw data?</a:t>
            </a:r>
          </a:p>
        </p:txBody>
      </p:sp>
      <p:sp>
        <p:nvSpPr>
          <p:cNvPr id="222" name="objective-2">
            <a:extLst xmlns:a="http://schemas.openxmlformats.org/drawingml/2006/main">
              <a:ext uri="{FF2B5EF4-FFF2-40B4-BE49-F238E27FC236}">
                <a16:creationId xmlns:a16="http://schemas.microsoft.com/office/drawing/2014/main" id="{3ECA1D2D-BF00-4DBD-B298-8071DC815DA7}"/>
              </a:ext>
            </a:extLst>
          </p:cNvPr>
          <p:cNvSpPr>
            <a:spLocks xmlns:a="http://schemas.openxmlformats.org/drawingml/2006/main" noGrp="1"/>
          </p:cNvSpPr>
          <p:nvPr/>
        </p:nvSpPr>
        <p:spPr>
          <a:xfrm xmlns:a="http://schemas.openxmlformats.org/drawingml/2006/main">
            <a:off x="1190625" y="2905125"/>
            <a:ext cx="781050" cy="781050"/>
          </a:xfrm>
          <a:prstGeom xmlns:a="http://schemas.openxmlformats.org/drawingml/2006/main" prst="ellipse">
            <a:avLst/>
          </a:prstGeom>
          <a:solidFill xmlns:a="http://schemas.openxmlformats.org/drawingml/2006/main">
            <a:srgbClr val="17365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2</a:t>
            </a:r>
          </a:p>
        </p:txBody>
      </p:sp>
      <p:sp>
        <p:nvSpPr>
          <p:cNvPr id="223" name="objective-text-2">
            <a:extLst xmlns:a="http://schemas.openxmlformats.org/drawingml/2006/main">
              <a:ext uri="{FF2B5EF4-FFF2-40B4-BE49-F238E27FC236}">
                <a16:creationId xmlns:a16="http://schemas.microsoft.com/office/drawing/2014/main" id="{091234BF-1A23-47A7-AFE5-0F1BC2914BA9}"/>
              </a:ext>
            </a:extLst>
          </p:cNvPr>
          <p:cNvSpPr>
            <a:spLocks xmlns:a="http://schemas.openxmlformats.org/drawingml/2006/main" noGrp="1"/>
          </p:cNvSpPr>
          <p:nvPr/>
        </p:nvSpPr>
        <p:spPr>
          <a:xfrm xmlns:a="http://schemas.openxmlformats.org/drawingml/2006/main">
            <a:off x="2333625" y="2762250"/>
            <a:ext cx="8763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875" b="0" i="0">
                <a:solidFill>
                  <a:srgbClr val="1F2937"/>
                </a:solidFill>
                <a:latin typeface="Arial"/>
                <a:ea typeface="Arial"/>
                <a:cs typeface="Arial"/>
              </a:defRPr>
            </a:pPr>
            <a:r>
              <a:rPr sz="1875" b="0" i="0">
                <a:solidFill>
                  <a:srgbClr val="1F2937"/>
                </a:solidFill>
                <a:latin typeface="Arial"/>
                <a:ea typeface="Arial"/>
                <a:cs typeface="Arial"/>
              </a:rPr>
              <a:t>Can CAABC-FL reduce serialized encrypted communication while maintaining predictive utility?</a:t>
            </a:r>
          </a:p>
        </p:txBody>
      </p:sp>
      <p:sp>
        <p:nvSpPr>
          <p:cNvPr id="224" name="objective-3">
            <a:extLst xmlns:a="http://schemas.openxmlformats.org/drawingml/2006/main">
              <a:ext uri="{FF2B5EF4-FFF2-40B4-BE49-F238E27FC236}">
                <a16:creationId xmlns:a16="http://schemas.microsoft.com/office/drawing/2014/main" id="{6B3CBF94-377C-4221-A20F-0CFD7A4AFFE5}"/>
              </a:ext>
            </a:extLst>
          </p:cNvPr>
          <p:cNvSpPr>
            <a:spLocks xmlns:a="http://schemas.openxmlformats.org/drawingml/2006/main" noGrp="1"/>
          </p:cNvSpPr>
          <p:nvPr/>
        </p:nvSpPr>
        <p:spPr>
          <a:xfrm xmlns:a="http://schemas.openxmlformats.org/drawingml/2006/main">
            <a:off x="1190625" y="4429125"/>
            <a:ext cx="781050" cy="781050"/>
          </a:xfrm>
          <a:prstGeom xmlns:a="http://schemas.openxmlformats.org/drawingml/2006/main" prst="ellipse">
            <a:avLst/>
          </a:prstGeom>
          <a:solidFill xmlns:a="http://schemas.openxmlformats.org/drawingml/2006/main">
            <a:srgbClr val="00843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3</a:t>
            </a:r>
          </a:p>
        </p:txBody>
      </p:sp>
      <p:sp>
        <p:nvSpPr>
          <p:cNvPr id="225" name="objective-text-3">
            <a:extLst xmlns:a="http://schemas.openxmlformats.org/drawingml/2006/main">
              <a:ext uri="{FF2B5EF4-FFF2-40B4-BE49-F238E27FC236}">
                <a16:creationId xmlns:a16="http://schemas.microsoft.com/office/drawing/2014/main" id="{EFF868F0-E0AE-4B68-AF26-BEBC0AED50FC}"/>
              </a:ext>
            </a:extLst>
          </p:cNvPr>
          <p:cNvSpPr>
            <a:spLocks xmlns:a="http://schemas.openxmlformats.org/drawingml/2006/main" noGrp="1"/>
          </p:cNvSpPr>
          <p:nvPr/>
        </p:nvSpPr>
        <p:spPr>
          <a:xfrm xmlns:a="http://schemas.openxmlformats.org/drawingml/2006/main">
            <a:off x="2333625" y="4286250"/>
            <a:ext cx="8763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875" b="0" i="0">
                <a:solidFill>
                  <a:srgbClr val="1F2937"/>
                </a:solidFill>
                <a:latin typeface="Arial"/>
                <a:ea typeface="Arial"/>
                <a:cs typeface="Arial"/>
              </a:defRPr>
            </a:pPr>
            <a:r>
              <a:rPr sz="1875" b="0" i="0">
                <a:solidFill>
                  <a:srgbClr val="1F2937"/>
                </a:solidFill>
                <a:latin typeface="Arial"/>
                <a:ea typeface="Arial"/>
                <a:cs typeface="Arial"/>
              </a:rPr>
              <a:t>How does the framework compare with relevant baselines under benign and adversarial conditions?</a:t>
            </a:r>
          </a:p>
        </p:txBody>
      </p:sp>
      <p:sp>
        <p:nvSpPr>
          <p:cNvPr id="228" name="visible-footer-date-7">
            <a:extLst xmlns:a="http://schemas.openxmlformats.org/drawingml/2006/main">
              <a:ext uri="{FF2B5EF4-FFF2-40B4-BE49-F238E27FC236}">
                <a16:creationId xmlns:a16="http://schemas.microsoft.com/office/drawing/2014/main" id="{8A081462-9D50-4C15-961B-5F4D0F50A87E}"/>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913916086"/>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pic>
        <p:nvPicPr>
          <p:cNvPr id="429" name="Google Shape;266;p32"/>
          <p:cNvPicPr>
            <a:picLocks xmlns:a="http://schemas.openxmlformats.org/drawingml/2006/main" noChangeAspect="1"/>
          </p:cNvPicPr>
          <p:nvPr/>
        </p:nvPicPr>
        <p:blipFill rotWithShape="1">
          <a:blip xmlns:r="http://schemas.openxmlformats.org/officeDocument/2006/relationships" xmlns:a="http://schemas.openxmlformats.org/drawingml/2006/main" r:embed="R7a30e22daacf4152">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430" name="Google Shape;267;p32"/>
          <p:cNvPicPr>
            <a:picLocks xmlns:a="http://schemas.openxmlformats.org/drawingml/2006/main" noChangeAspect="1"/>
          </p:cNvPicPr>
          <p:nvPr/>
        </p:nvPicPr>
        <p:blipFill rotWithShape="1">
          <a:blip xmlns:r="http://schemas.openxmlformats.org/officeDocument/2006/relationships" xmlns:a="http://schemas.openxmlformats.org/drawingml/2006/main" r:embed="R6089307ab50446fa">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431" name="Google Shape;268;p32"/>
          <p:cNvPicPr>
            <a:picLocks xmlns:a="http://schemas.openxmlformats.org/drawingml/2006/main" noChangeAspect="1"/>
          </p:cNvPicPr>
          <p:nvPr/>
        </p:nvPicPr>
        <p:blipFill rotWithShape="1">
          <a:blip xmlns:r="http://schemas.openxmlformats.org/officeDocument/2006/relationships" xmlns:a="http://schemas.openxmlformats.org/drawingml/2006/main" r:embed="R285988f612304b0f">
            <a:alphaModFix/>
          </a:blip>
          <a:srcRect xmlns:a="http://schemas.openxmlformats.org/drawingml/2006/main" l="1187" t="2321" r="3422" b="0"/>
          <a:stretch xmlns:a="http://schemas.openxmlformats.org/drawingml/2006/main"/>
        </p:blipFill>
        <p:spPr>
          <a:xfrm xmlns:a="http://schemas.openxmlformats.org/drawingml/2006/main">
            <a:off x="2210143" y="374895"/>
            <a:ext cx="7565366" cy="5537780"/>
          </a:xfrm>
          <a:prstGeom xmlns:a="http://schemas.openxmlformats.org/drawingml/2006/main" prst="rect">
            <a:avLst/>
          </a:prstGeom>
          <a:ln xmlns:a="http://schemas.openxmlformats.org/drawingml/2006/main">
            <a:noFill/>
          </a:ln>
        </p:spPr>
      </p:pic>
      <p:sp>
        <p:nvSpPr>
          <p:cNvPr id="269" name="Google Shape;269;p32">
            <a:extLst xmlns:a="http://schemas.openxmlformats.org/drawingml/2006/main">
              <a:ext uri="{FF2B5EF4-FFF2-40B4-BE49-F238E27FC236}">
                <a16:creationId xmlns:a16="http://schemas.microsoft.com/office/drawing/2014/main" id="{EFA1EBEB-4757-4D2D-A4CA-B29E9E716CB0}"/>
              </a:ext>
            </a:extLst>
          </p:cNvPr>
          <p:cNvSpPr>
            <a:spLocks xmlns:a="http://schemas.openxmlformats.org/drawingml/2006/main" noGrp="1"/>
          </p:cNvSpPr>
          <p:nvPr>
            <p:ph type="title" idx="0"/>
          </p:nvPr>
        </p:nvSpPr>
        <p:spPr>
          <a:xfrm xmlns:a="http://schemas.openxmlformats.org/drawingml/2006/main">
            <a:off x="4235570" y="4439737"/>
            <a:ext cx="4390845" cy="79680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90000"/>
              </a:lnSpc>
              <a:spcBef>
                <a:spcPts val="0"/>
              </a:spcBef>
              <a:spcAft>
                <a:spcPts val="0"/>
              </a:spcAft>
              <a:buClr>
                <a:schemeClr val="dk1"/>
              </a:buClr>
              <a:buSzPts val="4000"/>
              <a:buFont typeface="Arial"/>
              <a:buNone/>
            </a:pPr>
            <a:r>
              <a:rPr sz="4000">
                <a:latin typeface="Arial"/>
                <a:ea typeface="Arial"/>
                <a:cs typeface="Arial"/>
              </a:rPr>
              <a:t>Literature Review</a:t>
            </a:r>
            <a:endParaRPr/>
          </a:p>
        </p:txBody>
      </p:sp>
      <p:pic>
        <p:nvPicPr>
          <p:cNvPr id="433" name="Google Shape;270;p32"/>
          <p:cNvPicPr>
            <a:picLocks xmlns:a="http://schemas.openxmlformats.org/drawingml/2006/main" noChangeAspect="1"/>
          </p:cNvPicPr>
          <p:nvPr/>
        </p:nvPicPr>
        <p:blipFill rotWithShape="1">
          <a:blip xmlns:r="http://schemas.openxmlformats.org/officeDocument/2006/relationships" xmlns:a="http://schemas.openxmlformats.org/drawingml/2006/main" r:embed="R2a1816b82b484458">
            <a:alphaModFix/>
          </a:blip>
          <a:srcRect xmlns:a="http://schemas.openxmlformats.org/drawingml/2006/main" l="0" t="0" r="0" b="0"/>
          <a:stretch xmlns:a="http://schemas.openxmlformats.org/drawingml/2006/main"/>
        </p:blipFill>
        <p:spPr>
          <a:xfrm xmlns:a="http://schemas.openxmlformats.org/drawingml/2006/main">
            <a:off x="5218502" y="2234977"/>
            <a:ext cx="1754993" cy="1754993"/>
          </a:xfrm>
          <a:prstGeom xmlns:a="http://schemas.openxmlformats.org/drawingml/2006/main" prst="rect">
            <a:avLst/>
          </a:prstGeom>
          <a:ln xmlns:a="http://schemas.openxmlformats.org/drawingml/2006/main">
            <a:noFill/>
          </a:ln>
        </p:spPr>
      </p:pic>
      <p:cxnSp>
        <p:nvCxnSpPr>
          <p:cNvPr id="434" name="Google Shape;271;p32"/>
          <p:cNvCxnSpPr/>
          <p:nvPr/>
        </p:nvCxnSpPr>
        <p:spPr>
          <a:xfrm xmlns:a="http://schemas.openxmlformats.org/drawingml/2006/main">
            <a:off x="424707" y="5119185"/>
            <a:ext cx="11342585"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2" name="Google Shape;216;p28">
            <a:extLst xmlns:a="http://schemas.openxmlformats.org/drawingml/2006/main">
              <a:ext uri="{FF2B5EF4-FFF2-40B4-BE49-F238E27FC236}">
                <a16:creationId xmlns:a16="http://schemas.microsoft.com/office/drawing/2014/main" id="{5B36D3E7-D169-B467-758A-64E9328C77F7}"/>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3" name="Google Shape;212;p28">
            <a:extLst xmlns:a="http://schemas.openxmlformats.org/drawingml/2006/main">
              <a:ext uri="{FF2B5EF4-FFF2-40B4-BE49-F238E27FC236}">
                <a16:creationId xmlns:a16="http://schemas.microsoft.com/office/drawing/2014/main" id="{0EBF0282-AEFF-01E7-BA7D-5A1333B214BD}"/>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10</a:t>
            </a:r>
            <a:endParaRPr sz="2800"/>
          </a:p>
        </p:txBody>
      </p:sp>
      <p:sp>
        <p:nvSpPr>
          <p:cNvPr id="288" name="visible-footer-date-8">
            <a:extLst xmlns:a="http://schemas.openxmlformats.org/drawingml/2006/main">
              <a:ext uri="{FF2B5EF4-FFF2-40B4-BE49-F238E27FC236}">
                <a16:creationId xmlns:a16="http://schemas.microsoft.com/office/drawing/2014/main" id="{E3832783-4ED4-44A9-876A-64C9E9ED3DC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43201987"/>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Related Studies (1/3)</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11</a:t>
            </a:r>
            <a:endParaRPr sz="2800"/>
          </a:p>
        </p:txBody>
      </p:sp>
      <p:pic>
        <p:nvPicPr>
          <p:cNvPr id="252"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5043b8d745b64608">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53"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6dd52f8622344e3d">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table-caption-rs1">
            <a:extLst xmlns:a="http://schemas.openxmlformats.org/drawingml/2006/main">
              <a:ext uri="{FF2B5EF4-FFF2-40B4-BE49-F238E27FC236}">
                <a16:creationId xmlns:a16="http://schemas.microsoft.com/office/drawing/2014/main" id="{1FF44775-1E87-4275-9D7B-EDEF5136F97D}"/>
              </a:ext>
            </a:extLst>
          </p:cNvPr>
          <p:cNvSpPr>
            <a:spLocks xmlns:a="http://schemas.openxmlformats.org/drawingml/2006/main" noGrp="1"/>
          </p:cNvSpPr>
          <p:nvPr/>
        </p:nvSpPr>
        <p:spPr>
          <a:xfrm xmlns:a="http://schemas.openxmlformats.org/drawingml/2006/main">
            <a:off x="1428750" y="1143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I. Representative foundations for collaborative and private learning</a:t>
            </a:r>
          </a:p>
        </p:txBody>
      </p:sp>
      <p:graphicFrame>
        <p:nvGraphicFramePr>
          <p:cNvPr id="256" name="Table 256"/>
          <p:cNvGraphicFramePr/>
          <p:nvPr/>
        </p:nvGraphicFramePr>
        <p:xfrm>
          <a:off xmlns:a="http://schemas.openxmlformats.org/drawingml/2006/main" x="762000" y="1619250"/>
          <a:ext xmlns:a="http://schemas.openxmlformats.org/drawingml/2006/main" cx="10668000" cy="3762375"/>
        </p:xfrm>
        <a:graphic xmlns:a="http://schemas.openxmlformats.org/drawingml/2006/main">
          <a:graphicData uri="http://schemas.openxmlformats.org/drawingml/2006/table">
            <a:tbl>
              <a:tblPr firstRow="1" bandRow="1"/>
              <a:tblGrid>
                <a:gridCol w="1809750"/>
                <a:gridCol w="2047875"/>
                <a:gridCol w="3286125"/>
                <a:gridCol w="3524250"/>
              </a:tblGrid>
              <a:tr h="752475">
                <a:tc>
                  <a:txBody>
                    <a:bodyPr/>
                    <a:lstStyle/>
                    <a:p>
                      <a:r>
                        <a:rPr sz="1350" b="1">
                          <a:solidFill>
                            <a:srgbClr val="FFFFFF"/>
                          </a:solidFill>
                          <a:latin typeface="Arial"/>
                          <a:ea typeface="Arial"/>
                          <a:cs typeface="Arial"/>
                        </a:rPr>
                        <a:t>Study</a:t>
                      </a:r>
                    </a:p>
                  </a:txBody>
                  <a:tcPr marL="66675" marR="66675" marT="47625" marB="47625" anchor="ctr">
                    <a:solidFill>
                      <a:srgbClr val="17365D"/>
                    </a:solidFill>
                  </a:tcPr>
                </a:tc>
                <a:tc>
                  <a:txBody>
                    <a:bodyPr/>
                    <a:lstStyle/>
                    <a:p>
                      <a:r>
                        <a:rPr sz="1350" b="1">
                          <a:solidFill>
                            <a:srgbClr val="FFFFFF"/>
                          </a:solidFill>
                          <a:latin typeface="Arial"/>
                          <a:ea typeface="Arial"/>
                          <a:cs typeface="Arial"/>
                        </a:rPr>
                        <a:t>Focus</a:t>
                      </a:r>
                    </a:p>
                  </a:txBody>
                  <a:tcPr marL="66675" marR="66675" marT="47625" marB="47625" anchor="ctr">
                    <a:solidFill>
                      <a:srgbClr val="17365D"/>
                    </a:solidFill>
                  </a:tcPr>
                </a:tc>
                <a:tc>
                  <a:txBody>
                    <a:bodyPr/>
                    <a:lstStyle/>
                    <a:p>
                      <a:r>
                        <a:rPr sz="1350" b="1">
                          <a:solidFill>
                            <a:srgbClr val="FFFFFF"/>
                          </a:solidFill>
                          <a:latin typeface="Arial"/>
                          <a:ea typeface="Arial"/>
                          <a:cs typeface="Arial"/>
                        </a:rPr>
                        <a:t>Main contribution</a:t>
                      </a:r>
                    </a:p>
                  </a:txBody>
                  <a:tcPr marL="66675" marR="66675" marT="47625" marB="47625" anchor="ctr">
                    <a:solidFill>
                      <a:srgbClr val="17365D"/>
                    </a:solidFill>
                  </a:tcPr>
                </a:tc>
                <a:tc>
                  <a:txBody>
                    <a:bodyPr/>
                    <a:lstStyle/>
                    <a:p>
                      <a:r>
                        <a:rPr sz="1350" b="1">
                          <a:solidFill>
                            <a:srgbClr val="FFFFFF"/>
                          </a:solidFill>
                          <a:latin typeface="Arial"/>
                          <a:ea typeface="Arial"/>
                          <a:cs typeface="Arial"/>
                        </a:rPr>
                        <a:t>Limitation for this thesis</a:t>
                      </a:r>
                    </a:p>
                  </a:txBody>
                  <a:tcPr marL="66675" marR="66675" marT="47625" marB="47625" anchor="ctr">
                    <a:solidFill>
                      <a:srgbClr val="17365D"/>
                    </a:solidFill>
                  </a:tcPr>
                </a:tc>
              </a:tr>
              <a:tr h="752475">
                <a:tc>
                  <a:txBody>
                    <a:bodyPr/>
                    <a:lstStyle/>
                    <a:p>
                      <a:r>
                        <a:rPr sz="1275">
                          <a:solidFill>
                            <a:srgbClr val="1F2937"/>
                          </a:solidFill>
                          <a:latin typeface="Arial"/>
                          <a:ea typeface="Arial"/>
                          <a:cs typeface="Arial"/>
                        </a:rPr>
                        <a:t>FedAvg [1]</a:t>
                      </a:r>
                    </a:p>
                  </a:txBody>
                  <a:tcPr marL="66675" marR="66675" marT="47625" marB="47625" anchor="ctr">
                    <a:solidFill>
                      <a:srgbClr val="FFFFFF"/>
                    </a:solidFill>
                  </a:tcPr>
                </a:tc>
                <a:tc>
                  <a:txBody>
                    <a:bodyPr/>
                    <a:lstStyle/>
                    <a:p>
                      <a:r>
                        <a:rPr sz="1275">
                          <a:solidFill>
                            <a:srgbClr val="1F2937"/>
                          </a:solidFill>
                          <a:latin typeface="Arial"/>
                          <a:ea typeface="Arial"/>
                          <a:cs typeface="Arial"/>
                        </a:rPr>
                        <a:t>Federated optimization</a:t>
                      </a:r>
                    </a:p>
                  </a:txBody>
                  <a:tcPr marL="66675" marR="66675" marT="47625" marB="47625" anchor="ctr">
                    <a:solidFill>
                      <a:srgbClr val="FFFFFF"/>
                    </a:solidFill>
                  </a:tcPr>
                </a:tc>
                <a:tc>
                  <a:txBody>
                    <a:bodyPr/>
                    <a:lstStyle/>
                    <a:p>
                      <a:r>
                        <a:rPr sz="1275">
                          <a:solidFill>
                            <a:srgbClr val="1F2937"/>
                          </a:solidFill>
                          <a:latin typeface="Arial"/>
                          <a:ea typeface="Arial"/>
                          <a:cs typeface="Arial"/>
                        </a:rPr>
                        <a:t>Iterative training without centralizing data</a:t>
                      </a:r>
                    </a:p>
                  </a:txBody>
                  <a:tcPr marL="66675" marR="66675" marT="47625" marB="47625" anchor="ctr">
                    <a:solidFill>
                      <a:srgbClr val="FFFFFF"/>
                    </a:solidFill>
                  </a:tcPr>
                </a:tc>
                <a:tc>
                  <a:txBody>
                    <a:bodyPr/>
                    <a:lstStyle/>
                    <a:p>
                      <a:r>
                        <a:rPr sz="1275">
                          <a:solidFill>
                            <a:srgbClr val="1F2937"/>
                          </a:solidFill>
                          <a:latin typeface="Arial"/>
                          <a:ea typeface="Arial"/>
                          <a:cs typeface="Arial"/>
                        </a:rPr>
                        <a:t>No privacy or poisoning control</a:t>
                      </a:r>
                    </a:p>
                  </a:txBody>
                  <a:tcPr marL="66675" marR="66675" marT="47625" marB="47625" anchor="ctr">
                    <a:solidFill>
                      <a:srgbClr val="FFFFFF"/>
                    </a:solidFill>
                  </a:tcPr>
                </a:tc>
              </a:tr>
              <a:tr h="752475">
                <a:tc>
                  <a:txBody>
                    <a:bodyPr/>
                    <a:lstStyle/>
                    <a:p>
                      <a:r>
                        <a:rPr sz="1275">
                          <a:solidFill>
                            <a:srgbClr val="1F2937"/>
                          </a:solidFill>
                          <a:latin typeface="Arial"/>
                          <a:ea typeface="Arial"/>
                          <a:cs typeface="Arial"/>
                        </a:rPr>
                        <a:t>Sheller et al. [2]</a:t>
                      </a:r>
                    </a:p>
                  </a:txBody>
                  <a:tcPr marL="66675" marR="66675" marT="47625" marB="47625" anchor="ctr">
                    <a:solidFill>
                      <a:srgbClr val="FFFFFF"/>
                    </a:solidFill>
                  </a:tcPr>
                </a:tc>
                <a:tc>
                  <a:txBody>
                    <a:bodyPr/>
                    <a:lstStyle/>
                    <a:p>
                      <a:r>
                        <a:rPr sz="1275">
                          <a:solidFill>
                            <a:srgbClr val="1F2937"/>
                          </a:solidFill>
                          <a:latin typeface="Arial"/>
                          <a:ea typeface="Arial"/>
                          <a:cs typeface="Arial"/>
                        </a:rPr>
                        <a:t>Healthcare FL</a:t>
                      </a:r>
                    </a:p>
                  </a:txBody>
                  <a:tcPr marL="66675" marR="66675" marT="47625" marB="47625" anchor="ctr">
                    <a:solidFill>
                      <a:srgbClr val="FFFFFF"/>
                    </a:solidFill>
                  </a:tcPr>
                </a:tc>
                <a:tc>
                  <a:txBody>
                    <a:bodyPr/>
                    <a:lstStyle/>
                    <a:p>
                      <a:r>
                        <a:rPr sz="1275">
                          <a:solidFill>
                            <a:srgbClr val="1F2937"/>
                          </a:solidFill>
                          <a:latin typeface="Arial"/>
                          <a:ea typeface="Arial"/>
                          <a:cs typeface="Arial"/>
                        </a:rPr>
                        <a:t>Natural multi-institution collaboration</a:t>
                      </a:r>
                    </a:p>
                  </a:txBody>
                  <a:tcPr marL="66675" marR="66675" marT="47625" marB="47625" anchor="ctr">
                    <a:solidFill>
                      <a:srgbClr val="FFFFFF"/>
                    </a:solidFill>
                  </a:tcPr>
                </a:tc>
                <a:tc>
                  <a:txBody>
                    <a:bodyPr/>
                    <a:lstStyle/>
                    <a:p>
                      <a:r>
                        <a:rPr sz="1275">
                          <a:solidFill>
                            <a:srgbClr val="1F2937"/>
                          </a:solidFill>
                          <a:latin typeface="Arial"/>
                          <a:ea typeface="Arial"/>
                          <a:cs typeface="Arial"/>
                        </a:rPr>
                        <a:t>Limited integrated security evidence</a:t>
                      </a:r>
                    </a:p>
                  </a:txBody>
                  <a:tcPr marL="66675" marR="66675" marT="47625" marB="47625" anchor="ctr">
                    <a:solidFill>
                      <a:srgbClr val="FFFFFF"/>
                    </a:solidFill>
                  </a:tcPr>
                </a:tc>
              </a:tr>
              <a:tr h="752475">
                <a:tc>
                  <a:txBody>
                    <a:bodyPr/>
                    <a:lstStyle/>
                    <a:p>
                      <a:r>
                        <a:rPr sz="1275">
                          <a:solidFill>
                            <a:srgbClr val="1F2937"/>
                          </a:solidFill>
                          <a:latin typeface="Arial"/>
                          <a:ea typeface="Arial"/>
                          <a:cs typeface="Arial"/>
                        </a:rPr>
                        <a:t>FLDP [11]</a:t>
                      </a:r>
                    </a:p>
                  </a:txBody>
                  <a:tcPr marL="66675" marR="66675" marT="47625" marB="47625" anchor="ctr">
                    <a:solidFill>
                      <a:srgbClr val="FFFFFF"/>
                    </a:solidFill>
                  </a:tcPr>
                </a:tc>
                <a:tc>
                  <a:txBody>
                    <a:bodyPr/>
                    <a:lstStyle/>
                    <a:p>
                      <a:r>
                        <a:rPr sz="1275">
                          <a:solidFill>
                            <a:srgbClr val="1F2937"/>
                          </a:solidFill>
                          <a:latin typeface="Arial"/>
                          <a:ea typeface="Arial"/>
                          <a:cs typeface="Arial"/>
                        </a:rPr>
                        <a:t>Private aggregation</a:t>
                      </a:r>
                    </a:p>
                  </a:txBody>
                  <a:tcPr marL="66675" marR="66675" marT="47625" marB="47625" anchor="ctr">
                    <a:solidFill>
                      <a:srgbClr val="FFFFFF"/>
                    </a:solidFill>
                  </a:tcPr>
                </a:tc>
                <a:tc>
                  <a:txBody>
                    <a:bodyPr/>
                    <a:lstStyle/>
                    <a:p>
                      <a:r>
                        <a:rPr sz="1275">
                          <a:solidFill>
                            <a:srgbClr val="1F2937"/>
                          </a:solidFill>
                          <a:latin typeface="Arial"/>
                          <a:ea typeface="Arial"/>
                          <a:cs typeface="Arial"/>
                        </a:rPr>
                        <a:t>Efficient malicious-secure DP aggregation</a:t>
                      </a:r>
                    </a:p>
                  </a:txBody>
                  <a:tcPr marL="66675" marR="66675" marT="47625" marB="47625" anchor="ctr">
                    <a:solidFill>
                      <a:srgbClr val="FFFFFF"/>
                    </a:solidFill>
                  </a:tcPr>
                </a:tc>
                <a:tc>
                  <a:txBody>
                    <a:bodyPr/>
                    <a:lstStyle/>
                    <a:p>
                      <a:r>
                        <a:rPr sz="1275">
                          <a:solidFill>
                            <a:srgbClr val="1F2937"/>
                          </a:solidFill>
                          <a:latin typeface="Arial"/>
                          <a:ea typeface="Arial"/>
                          <a:cs typeface="Arial"/>
                        </a:rPr>
                        <a:t>No poisoning layer</a:t>
                      </a:r>
                    </a:p>
                  </a:txBody>
                  <a:tcPr marL="66675" marR="66675" marT="47625" marB="47625" anchor="ctr">
                    <a:solidFill>
                      <a:srgbClr val="FFFFFF"/>
                    </a:solidFill>
                  </a:tcPr>
                </a:tc>
              </a:tr>
              <a:tr h="752475">
                <a:tc>
                  <a:txBody>
                    <a:bodyPr/>
                    <a:lstStyle/>
                    <a:p>
                      <a:r>
                        <a:rPr sz="1275">
                          <a:solidFill>
                            <a:srgbClr val="1F2937"/>
                          </a:solidFill>
                          <a:latin typeface="Arial"/>
                          <a:ea typeface="Arial"/>
                          <a:cs typeface="Arial"/>
                        </a:rPr>
                        <a:t>FAMHE [12]</a:t>
                      </a:r>
                    </a:p>
                  </a:txBody>
                  <a:tcPr marL="66675" marR="66675" marT="47625" marB="47625" anchor="ctr">
                    <a:solidFill>
                      <a:srgbClr val="FFFFFF"/>
                    </a:solidFill>
                  </a:tcPr>
                </a:tc>
                <a:tc>
                  <a:txBody>
                    <a:bodyPr/>
                    <a:lstStyle/>
                    <a:p>
                      <a:r>
                        <a:rPr sz="1275">
                          <a:solidFill>
                            <a:srgbClr val="1F2937"/>
                          </a:solidFill>
                          <a:latin typeface="Arial"/>
                          <a:ea typeface="Arial"/>
                          <a:cs typeface="Arial"/>
                        </a:rPr>
                        <a:t>Multiparty HE</a:t>
                      </a:r>
                    </a:p>
                  </a:txBody>
                  <a:tcPr marL="66675" marR="66675" marT="47625" marB="47625" anchor="ctr">
                    <a:solidFill>
                      <a:srgbClr val="FFFFFF"/>
                    </a:solidFill>
                  </a:tcPr>
                </a:tc>
                <a:tc>
                  <a:txBody>
                    <a:bodyPr/>
                    <a:lstStyle/>
                    <a:p>
                      <a:r>
                        <a:rPr sz="1275">
                          <a:solidFill>
                            <a:srgbClr val="1F2937"/>
                          </a:solidFill>
                          <a:latin typeface="Arial"/>
                          <a:ea typeface="Arial"/>
                          <a:cs typeface="Arial"/>
                        </a:rPr>
                        <a:t>Protected biomedical analytics</a:t>
                      </a:r>
                    </a:p>
                  </a:txBody>
                  <a:tcPr marL="66675" marR="66675" marT="47625" marB="47625" anchor="ctr">
                    <a:solidFill>
                      <a:srgbClr val="FFFFFF"/>
                    </a:solidFill>
                  </a:tcPr>
                </a:tc>
                <a:tc>
                  <a:txBody>
                    <a:bodyPr/>
                    <a:lstStyle/>
                    <a:p>
                      <a:r>
                        <a:rPr sz="1275">
                          <a:solidFill>
                            <a:srgbClr val="1F2937"/>
                          </a:solidFill>
                          <a:latin typeface="Arial"/>
                          <a:ea typeface="Arial"/>
                          <a:cs typeface="Arial"/>
                        </a:rPr>
                        <a:t>Communication and trust assumptions differ</a:t>
                      </a:r>
                    </a:p>
                  </a:txBody>
                  <a:tcPr marL="66675" marR="66675" marT="47625" marB="47625" anchor="ctr">
                    <a:solidFill>
                      <a:srgbClr val="FFFFFF"/>
                    </a:solidFill>
                  </a:tcPr>
                </a:tc>
              </a:tr>
            </a:tbl>
          </a:graphicData>
        </a:graphic>
      </p:graphicFrame>
      <p:sp>
        <p:nvSpPr>
          <p:cNvPr id="222" name="rs1-note">
            <a:extLst xmlns:a="http://schemas.openxmlformats.org/drawingml/2006/main">
              <a:ext uri="{FF2B5EF4-FFF2-40B4-BE49-F238E27FC236}">
                <a16:creationId xmlns:a16="http://schemas.microsoft.com/office/drawing/2014/main" id="{CF9C0F2B-DC4D-44E3-BF88-F17429951DE9}"/>
              </a:ext>
            </a:extLst>
          </p:cNvPr>
          <p:cNvSpPr>
            <a:spLocks xmlns:a="http://schemas.openxmlformats.org/drawingml/2006/main" noGrp="1"/>
          </p:cNvSpPr>
          <p:nvPr/>
        </p:nvSpPr>
        <p:spPr>
          <a:xfrm xmlns:a="http://schemas.openxmlformats.org/drawingml/2006/main">
            <a:off x="1428750" y="5572125"/>
            <a:ext cx="9334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650" b="1" i="0">
                <a:solidFill>
                  <a:srgbClr val="00843D"/>
                </a:solidFill>
                <a:latin typeface="Arial"/>
                <a:ea typeface="Arial"/>
                <a:cs typeface="Arial"/>
              </a:defRPr>
            </a:pPr>
            <a:r>
              <a:rPr sz="1650" b="1" i="0">
                <a:solidFill>
                  <a:srgbClr val="00843D"/>
                </a:solidFill>
                <a:latin typeface="Arial"/>
                <a:ea typeface="Arial"/>
                <a:cs typeface="Arial"/>
              </a:rPr>
              <a:t>Prior work established feasibility, but each stream optimized a different part of the problem.</a:t>
            </a:r>
          </a:p>
        </p:txBody>
      </p:sp>
      <p:sp>
        <p:nvSpPr>
          <p:cNvPr id="226" name="visible-footer-date-9">
            <a:extLst xmlns:a="http://schemas.openxmlformats.org/drawingml/2006/main">
              <a:ext uri="{FF2B5EF4-FFF2-40B4-BE49-F238E27FC236}">
                <a16:creationId xmlns:a16="http://schemas.microsoft.com/office/drawing/2014/main" id="{EC8BF6F9-FF7D-45BB-9A54-4FA81A2ACF40}"/>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30" name="related-study-cover-1">
            <a:extLst xmlns:a="http://schemas.openxmlformats.org/drawingml/2006/main">
              <a:ext uri="{FF2B5EF4-FFF2-40B4-BE49-F238E27FC236}">
                <a16:creationId xmlns:a16="http://schemas.microsoft.com/office/drawing/2014/main" id="{028A2637-CAE4-4BC8-942E-3B3342A75586}"/>
              </a:ext>
            </a:extLst>
          </p:cNvPr>
          <p:cNvSpPr>
            <a:spLocks xmlns:a="http://schemas.openxmlformats.org/drawingml/2006/main" noGrp="1"/>
          </p:cNvSpPr>
          <p:nvPr/>
        </p:nvSpPr>
        <p:spPr>
          <a:xfrm xmlns:a="http://schemas.openxmlformats.org/drawingml/2006/main">
            <a:off x="428625" y="1066800"/>
            <a:ext cx="1133475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31" name="paper-title-1">
            <a:extLst xmlns:a="http://schemas.openxmlformats.org/drawingml/2006/main">
              <a:ext uri="{FF2B5EF4-FFF2-40B4-BE49-F238E27FC236}">
                <a16:creationId xmlns:a16="http://schemas.microsoft.com/office/drawing/2014/main" id="{7E77261A-536E-44B7-9BCC-4BDEFE972951}"/>
              </a:ext>
            </a:extLst>
          </p:cNvPr>
          <p:cNvSpPr>
            <a:spLocks xmlns:a="http://schemas.openxmlformats.org/drawingml/2006/main" noGrp="1"/>
          </p:cNvSpPr>
          <p:nvPr/>
        </p:nvSpPr>
        <p:spPr>
          <a:xfrm xmlns:a="http://schemas.openxmlformats.org/drawingml/2006/main">
            <a:off x="666750" y="112395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Dual Defense: Enhancing Privacy and Mitigating Poisoning Attacks in Federated Learning [16]</a:t>
            </a:r>
          </a:p>
        </p:txBody>
      </p:sp>
      <p:sp>
        <p:nvSpPr>
          <p:cNvPr id="232" name="paper-summary-1">
            <a:extLst xmlns:a="http://schemas.openxmlformats.org/drawingml/2006/main">
              <a:ext uri="{FF2B5EF4-FFF2-40B4-BE49-F238E27FC236}">
                <a16:creationId xmlns:a16="http://schemas.microsoft.com/office/drawing/2014/main" id="{19A3D53A-677F-49AE-ACF6-213B173FE6BA}"/>
              </a:ext>
            </a:extLst>
          </p:cNvPr>
          <p:cNvSpPr>
            <a:spLocks xmlns:a="http://schemas.openxmlformats.org/drawingml/2006/main" noGrp="1"/>
          </p:cNvSpPr>
          <p:nvPr/>
        </p:nvSpPr>
        <p:spPr>
          <a:xfrm xmlns:a="http://schemas.openxmlformats.org/drawingml/2006/main">
            <a:off x="666750" y="1714500"/>
            <a:ext cx="6572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425">
                <a:solidFill>
                  <a:srgbClr val="1F2937"/>
                </a:solidFill>
                <a:latin typeface="Arial"/>
                <a:ea typeface="Arial"/>
                <a:cs typeface="Arial"/>
              </a:defRPr>
            </a:pPr>
            <a:r>
              <a:rPr sz="1425">
                <a:solidFill>
                  <a:srgbClr val="1F2937"/>
                </a:solidFill>
                <a:latin typeface="Arial"/>
                <a:ea typeface="Arial"/>
                <a:cs typeface="Arial"/>
              </a:rPr>
              <a:t>DDFed combines fully homomorphic encryption with a two-phase anomaly detector so that protected updates can be screened before aggregation under both cross-device and cross-silo settings.</a:t>
            </a:r>
          </a:p>
        </p:txBody>
      </p:sp>
      <p:sp>
        <p:nvSpPr>
          <p:cNvPr id="233" name="paper-source-1">
            <a:extLst xmlns:a="http://schemas.openxmlformats.org/drawingml/2006/main">
              <a:ext uri="{FF2B5EF4-FFF2-40B4-BE49-F238E27FC236}">
                <a16:creationId xmlns:a16="http://schemas.microsoft.com/office/drawing/2014/main" id="{D1A5B505-0A97-4F1A-8BB0-56FED1DEF0CF}"/>
              </a:ext>
            </a:extLst>
          </p:cNvPr>
          <p:cNvSpPr>
            <a:spLocks xmlns:a="http://schemas.openxmlformats.org/drawingml/2006/main" noGrp="1"/>
          </p:cNvSpPr>
          <p:nvPr/>
        </p:nvSpPr>
        <p:spPr>
          <a:xfrm xmlns:a="http://schemas.openxmlformats.org/drawingml/2006/main">
            <a:off x="666750" y="5829300"/>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013" i="1">
                <a:solidFill>
                  <a:srgbClr val="52606D"/>
                </a:solidFill>
                <a:latin typeface="Arial"/>
                <a:ea typeface="Arial"/>
                <a:cs typeface="Arial"/>
              </a:defRPr>
            </a:pPr>
            <a:r>
              <a:rPr sz="1013" i="1">
                <a:solidFill>
                  <a:srgbClr val="52606D"/>
                </a:solidFill>
                <a:latin typeface="Arial"/>
                <a:ea typeface="Arial"/>
                <a:cs typeface="Arial"/>
              </a:rPr>
              <a:t>Source: Xu et al., NeurIPS 2024 [16].</a:t>
            </a:r>
          </a:p>
        </p:txBody>
      </p:sp>
      <p:sp>
        <p:nvSpPr>
          <p:cNvPr id="234" name="ddfed-strengths-heading">
            <a:extLst xmlns:a="http://schemas.openxmlformats.org/drawingml/2006/main">
              <a:ext uri="{FF2B5EF4-FFF2-40B4-BE49-F238E27FC236}">
                <a16:creationId xmlns:a16="http://schemas.microsoft.com/office/drawing/2014/main" id="{E444180A-DAAF-414F-BB31-6E24807F0BE2}"/>
              </a:ext>
            </a:extLst>
          </p:cNvPr>
          <p:cNvSpPr>
            <a:spLocks xmlns:a="http://schemas.openxmlformats.org/drawingml/2006/main" noGrp="1"/>
          </p:cNvSpPr>
          <p:nvPr/>
        </p:nvSpPr>
        <p:spPr>
          <a:xfrm xmlns:a="http://schemas.openxmlformats.org/drawingml/2006/main">
            <a:off x="647700" y="2590800"/>
            <a:ext cx="6572250" cy="323850"/>
          </a:xfrm>
          <a:prstGeom xmlns:a="http://schemas.openxmlformats.org/drawingml/2006/main" prst="rect">
            <a:avLst/>
          </a:prstGeom>
          <a:solidFill xmlns:a="http://schemas.openxmlformats.org/drawingml/2006/main">
            <a:srgbClr val="EAF7F0"/>
          </a:solidFill>
          <a:ln xmlns:a="http://schemas.openxmlformats.org/drawingml/2006/main" w="10478">
            <a:solidFill>
              <a:srgbClr val="008A46"/>
            </a:solidFill>
          </a:ln>
        </p:spPr>
        <p:txBody>
          <a:bodyPr xmlns:a="http://schemas.openxmlformats.org/drawingml/2006/main" anchor="ctr">
            <a:normAutofit fontScale="99924" lnSpcReduction="10000"/>
          </a:bodyPr>
          <a:lstStyle xmlns:a="http://schemas.openxmlformats.org/drawingml/2006/main"/>
          <a:p xmlns:a="http://schemas.openxmlformats.org/drawingml/2006/main">
            <a:pPr algn="l">
              <a:buNone/>
              <a:defRPr sz="1650" b="1">
                <a:solidFill>
                  <a:srgbClr val="008A46"/>
                </a:solidFill>
                <a:latin typeface="Arial"/>
                <a:ea typeface="Arial"/>
                <a:cs typeface="Arial"/>
              </a:defRPr>
            </a:pPr>
            <a:r>
              <a:rPr sz="1650" b="1">
                <a:solidFill>
                  <a:srgbClr val="008A46"/>
                </a:solidFill>
                <a:latin typeface="Arial"/>
                <a:ea typeface="Arial"/>
                <a:cs typeface="Arial"/>
              </a:rPr>
              <a:t>Strengths</a:t>
            </a:r>
          </a:p>
        </p:txBody>
      </p:sp>
      <p:sp>
        <p:nvSpPr>
          <p:cNvPr id="235" name="ddfed-strengths-bullets">
            <a:extLst xmlns:a="http://schemas.openxmlformats.org/drawingml/2006/main">
              <a:ext uri="{FF2B5EF4-FFF2-40B4-BE49-F238E27FC236}">
                <a16:creationId xmlns:a16="http://schemas.microsoft.com/office/drawing/2014/main" id="{8BF2E617-C52C-4931-A79E-3C6D68E00E8C}"/>
              </a:ext>
            </a:extLst>
          </p:cNvPr>
          <p:cNvSpPr>
            <a:spLocks xmlns:a="http://schemas.openxmlformats.org/drawingml/2006/main" noGrp="1"/>
          </p:cNvSpPr>
          <p:nvPr/>
        </p:nvSpPr>
        <p:spPr>
          <a:xfrm xmlns:a="http://schemas.openxmlformats.org/drawingml/2006/main">
            <a:off x="876300" y="294322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Addresses update confidentiality and model poisoning in one framework.</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Uses secure similarity analysis and collaborative anomaly selection.</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Evaluates multiple poisoning attacks across two FL settings.</a:t>
            </a:r>
          </a:p>
        </p:txBody>
      </p:sp>
      <p:sp>
        <p:nvSpPr>
          <p:cNvPr id="236" name="ddfed-limits-heading">
            <a:extLst xmlns:a="http://schemas.openxmlformats.org/drawingml/2006/main">
              <a:ext uri="{FF2B5EF4-FFF2-40B4-BE49-F238E27FC236}">
                <a16:creationId xmlns:a16="http://schemas.microsoft.com/office/drawing/2014/main" id="{01A067EE-5B88-4E40-9AD7-3AE02617BB33}"/>
              </a:ext>
            </a:extLst>
          </p:cNvPr>
          <p:cNvSpPr>
            <a:spLocks xmlns:a="http://schemas.openxmlformats.org/drawingml/2006/main" noGrp="1"/>
          </p:cNvSpPr>
          <p:nvPr/>
        </p:nvSpPr>
        <p:spPr>
          <a:xfrm xmlns:a="http://schemas.openxmlformats.org/drawingml/2006/main">
            <a:off x="647700" y="4095750"/>
            <a:ext cx="6572250" cy="323850"/>
          </a:xfrm>
          <a:prstGeom xmlns:a="http://schemas.openxmlformats.org/drawingml/2006/main" prst="rect">
            <a:avLst/>
          </a:prstGeom>
          <a:solidFill xmlns:a="http://schemas.openxmlformats.org/drawingml/2006/main">
            <a:srgbClr val="FFF0EE"/>
          </a:solidFill>
          <a:ln xmlns:a="http://schemas.openxmlformats.org/drawingml/2006/main" w="10478">
            <a:solidFill>
              <a:srgbClr val="B42318"/>
            </a:solidFill>
          </a:ln>
        </p:spPr>
        <p:txBody>
          <a:bodyPr xmlns:a="http://schemas.openxmlformats.org/drawingml/2006/main" anchor="ctr">
            <a:normAutofit fontScale="99924" lnSpcReduction="10000"/>
          </a:bodyPr>
          <a:lstStyle xmlns:a="http://schemas.openxmlformats.org/drawingml/2006/main"/>
          <a:p xmlns:a="http://schemas.openxmlformats.org/drawingml/2006/main">
            <a:pPr algn="l">
              <a:buNone/>
              <a:defRPr sz="1650" b="1">
                <a:solidFill>
                  <a:srgbClr val="B42318"/>
                </a:solidFill>
                <a:latin typeface="Arial"/>
                <a:ea typeface="Arial"/>
                <a:cs typeface="Arial"/>
              </a:defRPr>
            </a:pPr>
            <a:r>
              <a:rPr sz="1650" b="1">
                <a:solidFill>
                  <a:srgbClr val="B42318"/>
                </a:solidFill>
                <a:latin typeface="Arial"/>
                <a:ea typeface="Arial"/>
                <a:cs typeface="Arial"/>
              </a:rPr>
              <a:t>Limitations relative to this thesis</a:t>
            </a:r>
          </a:p>
        </p:txBody>
      </p:sp>
      <p:sp>
        <p:nvSpPr>
          <p:cNvPr id="237" name="ddfed-limits-bullets">
            <a:extLst xmlns:a="http://schemas.openxmlformats.org/drawingml/2006/main">
              <a:ext uri="{FF2B5EF4-FFF2-40B4-BE49-F238E27FC236}">
                <a16:creationId xmlns:a16="http://schemas.microsoft.com/office/drawing/2014/main" id="{B42EC1C5-77B9-4D6C-ABEC-C66DD3E9BCCF}"/>
              </a:ext>
            </a:extLst>
          </p:cNvPr>
          <p:cNvSpPr>
            <a:spLocks xmlns:a="http://schemas.openxmlformats.org/drawingml/2006/main" noGrp="1"/>
          </p:cNvSpPr>
          <p:nvPr/>
        </p:nvSpPr>
        <p:spPr>
          <a:xfrm xmlns:a="http://schemas.openxmlformats.org/drawingml/2006/main">
            <a:off x="876300" y="444817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Does not provide a formal record-level differential-privacy guarantee.</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Its FHE and anomaly pipeline differs from a sum-only CKKS workflow.</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No ciphertext-aligned adaptive compression or external audit layer.</a:t>
            </a:r>
          </a:p>
        </p:txBody>
      </p:sp>
      <p:sp>
        <p:nvSpPr>
          <p:cNvPr id="238" name="ddfed-flow-title">
            <a:extLst xmlns:a="http://schemas.openxmlformats.org/drawingml/2006/main">
              <a:ext uri="{FF2B5EF4-FFF2-40B4-BE49-F238E27FC236}">
                <a16:creationId xmlns:a16="http://schemas.microsoft.com/office/drawing/2014/main" id="{8CB8BE2E-0ED9-45FA-B725-4AF686E5772A}"/>
              </a:ext>
            </a:extLst>
          </p:cNvPr>
          <p:cNvSpPr>
            <a:spLocks xmlns:a="http://schemas.openxmlformats.org/drawingml/2006/main" noGrp="1"/>
          </p:cNvSpPr>
          <p:nvPr/>
        </p:nvSpPr>
        <p:spPr>
          <a:xfrm xmlns:a="http://schemas.openxmlformats.org/drawingml/2006/main">
            <a:off x="7810500" y="1790700"/>
            <a:ext cx="3476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333"/>
          </a:bodyPr>
          <a:lstStyle xmlns:a="http://schemas.openxmlformats.org/drawingml/2006/main"/>
          <a:p xmlns:a="http://schemas.openxmlformats.org/drawingml/2006/main">
            <a:pPr algn="ctr">
              <a:buNone/>
              <a:defRPr sz="1500" b="1">
                <a:solidFill>
                  <a:srgbClr val="1E3A5F"/>
                </a:solidFill>
                <a:latin typeface="Arial"/>
                <a:ea typeface="Arial"/>
                <a:cs typeface="Arial"/>
              </a:defRPr>
            </a:pPr>
            <a:r>
              <a:rPr sz="1500" b="1">
                <a:solidFill>
                  <a:srgbClr val="1E3A5F"/>
                </a:solidFill>
                <a:latin typeface="Arial"/>
                <a:ea typeface="Arial"/>
                <a:cs typeface="Arial"/>
              </a:rPr>
              <a:t>DDFed conceptual workflow</a:t>
            </a:r>
          </a:p>
        </p:txBody>
      </p:sp>
      <p:sp>
        <p:nvSpPr>
          <p:cNvPr id="239" name="ddfed-box-1">
            <a:extLst xmlns:a="http://schemas.openxmlformats.org/drawingml/2006/main">
              <a:ext uri="{FF2B5EF4-FFF2-40B4-BE49-F238E27FC236}">
                <a16:creationId xmlns:a16="http://schemas.microsoft.com/office/drawing/2014/main" id="{6963A159-2939-4A1B-90B6-627A21FBD7E2}"/>
              </a:ext>
            </a:extLst>
          </p:cNvPr>
          <p:cNvSpPr>
            <a:spLocks xmlns:a="http://schemas.openxmlformats.org/drawingml/2006/main" noGrp="1"/>
          </p:cNvSpPr>
          <p:nvPr/>
        </p:nvSpPr>
        <p:spPr>
          <a:xfrm xmlns:a="http://schemas.openxmlformats.org/drawingml/2006/main">
            <a:off x="8143875" y="2190750"/>
            <a:ext cx="2809875" cy="476250"/>
          </a:xfrm>
          <a:prstGeom xmlns:a="http://schemas.openxmlformats.org/drawingml/2006/main" prst="rect">
            <a:avLst/>
          </a:prstGeom>
          <a:solidFill xmlns:a="http://schemas.openxmlformats.org/drawingml/2006/main">
            <a:srgbClr val="EAF4F8"/>
          </a:solidFill>
          <a:ln xmlns:a="http://schemas.openxmlformats.org/drawingml/2006/main" w="13335">
            <a:solidFill>
              <a:srgbClr val="1E3A5F"/>
            </a:solidFill>
          </a:ln>
        </p:spPr>
        <p:txBody>
          <a:bodyPr xmlns:a="http://schemas.openxmlformats.org/drawingml/2006/main" anchor="ctr">
            <a:normAutofit/>
          </a:bodyPr>
          <a:lstStyle xmlns:a="http://schemas.openxmlformats.org/drawingml/2006/main"/>
          <a:p xmlns:a="http://schemas.openxmlformats.org/drawingml/2006/main">
            <a:pPr algn="ctr">
              <a:buNone/>
              <a:defRPr sz="1275" b="1">
                <a:solidFill>
                  <a:srgbClr val="1E3A5F"/>
                </a:solidFill>
                <a:latin typeface="Arial"/>
                <a:ea typeface="Arial"/>
                <a:cs typeface="Arial"/>
              </a:defRPr>
            </a:pPr>
            <a:r>
              <a:rPr sz="1275" b="1">
                <a:solidFill>
                  <a:srgbClr val="1E3A5F"/>
                </a:solidFill>
                <a:latin typeface="Arial"/>
                <a:ea typeface="Arial"/>
                <a:cs typeface="Arial"/>
              </a:rPr>
              <a:t>Hospitals train locally</a:t>
            </a:r>
          </a:p>
        </p:txBody>
      </p:sp>
      <p:sp>
        <p:nvSpPr>
          <p:cNvPr id="240" name="ddfed-arrow-1">
            <a:extLst xmlns:a="http://schemas.openxmlformats.org/drawingml/2006/main">
              <a:ext uri="{FF2B5EF4-FFF2-40B4-BE49-F238E27FC236}">
                <a16:creationId xmlns:a16="http://schemas.microsoft.com/office/drawing/2014/main" id="{4C0890BD-7D76-4D38-B647-32B578D171D0}"/>
              </a:ext>
            </a:extLst>
          </p:cNvPr>
          <p:cNvSpPr>
            <a:spLocks xmlns:a="http://schemas.openxmlformats.org/drawingml/2006/main" noGrp="1"/>
          </p:cNvSpPr>
          <p:nvPr/>
        </p:nvSpPr>
        <p:spPr>
          <a:xfrm xmlns:a="http://schemas.openxmlformats.org/drawingml/2006/main">
            <a:off x="9096375" y="2667000"/>
            <a:ext cx="904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889" lnSpcReduction="10000"/>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a:t>
            </a:r>
          </a:p>
        </p:txBody>
      </p:sp>
      <p:sp>
        <p:nvSpPr>
          <p:cNvPr id="241" name="ddfed-box-2">
            <a:extLst xmlns:a="http://schemas.openxmlformats.org/drawingml/2006/main">
              <a:ext uri="{FF2B5EF4-FFF2-40B4-BE49-F238E27FC236}">
                <a16:creationId xmlns:a16="http://schemas.microsoft.com/office/drawing/2014/main" id="{C4AFBC31-DAE7-4E40-85D7-AACF96A0ACC2}"/>
              </a:ext>
            </a:extLst>
          </p:cNvPr>
          <p:cNvSpPr>
            <a:spLocks xmlns:a="http://schemas.openxmlformats.org/drawingml/2006/main" noGrp="1"/>
          </p:cNvSpPr>
          <p:nvPr/>
        </p:nvSpPr>
        <p:spPr>
          <a:xfrm xmlns:a="http://schemas.openxmlformats.org/drawingml/2006/main">
            <a:off x="8143875" y="2933700"/>
            <a:ext cx="2809875" cy="47625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a:bodyPr>
          <a:lstStyle xmlns:a="http://schemas.openxmlformats.org/drawingml/2006/main"/>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FHE-encrypted updates</a:t>
            </a:r>
          </a:p>
        </p:txBody>
      </p:sp>
      <p:sp>
        <p:nvSpPr>
          <p:cNvPr id="242" name="ddfed-arrow-2">
            <a:extLst xmlns:a="http://schemas.openxmlformats.org/drawingml/2006/main">
              <a:ext uri="{FF2B5EF4-FFF2-40B4-BE49-F238E27FC236}">
                <a16:creationId xmlns:a16="http://schemas.microsoft.com/office/drawing/2014/main" id="{6F51285A-95D1-4F0F-98CA-779F521FA531}"/>
              </a:ext>
            </a:extLst>
          </p:cNvPr>
          <p:cNvSpPr>
            <a:spLocks xmlns:a="http://schemas.openxmlformats.org/drawingml/2006/main" noGrp="1"/>
          </p:cNvSpPr>
          <p:nvPr/>
        </p:nvSpPr>
        <p:spPr>
          <a:xfrm xmlns:a="http://schemas.openxmlformats.org/drawingml/2006/main">
            <a:off x="9096375" y="3409950"/>
            <a:ext cx="904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889" lnSpcReduction="10000"/>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a:t>
            </a:r>
          </a:p>
        </p:txBody>
      </p:sp>
      <p:sp>
        <p:nvSpPr>
          <p:cNvPr id="243" name="ddfed-box-3">
            <a:extLst xmlns:a="http://schemas.openxmlformats.org/drawingml/2006/main">
              <a:ext uri="{FF2B5EF4-FFF2-40B4-BE49-F238E27FC236}">
                <a16:creationId xmlns:a16="http://schemas.microsoft.com/office/drawing/2014/main" id="{449AEF2C-F6D7-4466-9BC2-451E0B3A47B4}"/>
              </a:ext>
            </a:extLst>
          </p:cNvPr>
          <p:cNvSpPr>
            <a:spLocks xmlns:a="http://schemas.openxmlformats.org/drawingml/2006/main" noGrp="1"/>
          </p:cNvSpPr>
          <p:nvPr/>
        </p:nvSpPr>
        <p:spPr>
          <a:xfrm xmlns:a="http://schemas.openxmlformats.org/drawingml/2006/main">
            <a:off x="8143875" y="3676650"/>
            <a:ext cx="2809875" cy="590550"/>
          </a:xfrm>
          <a:prstGeom xmlns:a="http://schemas.openxmlformats.org/drawingml/2006/main" prst="rect">
            <a:avLst/>
          </a:prstGeom>
          <a:solidFill xmlns:a="http://schemas.openxmlformats.org/drawingml/2006/main">
            <a:srgbClr val="FFF4E5"/>
          </a:solidFill>
          <a:ln xmlns:a="http://schemas.openxmlformats.org/drawingml/2006/main" w="13335">
            <a:solidFill>
              <a:srgbClr val="D97706"/>
            </a:solidFill>
          </a:ln>
        </p:spPr>
        <p:txBody>
          <a:bodyPr xmlns:a="http://schemas.openxmlformats.org/drawingml/2006/main" anchor="ctr">
            <a:normAutofit/>
          </a:bodyPr>
          <a:lstStyle xmlns:a="http://schemas.openxmlformats.org/drawingml/2006/main"/>
          <a:p xmlns:a="http://schemas.openxmlformats.org/drawingml/2006/main">
            <a:pPr algn="ctr">
              <a:buNone/>
              <a:defRPr sz="1200" b="1">
                <a:solidFill>
                  <a:srgbClr val="D97706"/>
                </a:solidFill>
                <a:latin typeface="Arial"/>
                <a:ea typeface="Arial"/>
                <a:cs typeface="Arial"/>
              </a:defRPr>
            </a:pPr>
            <a:r>
              <a:rPr sz="1200" b="1">
                <a:solidFill>
                  <a:srgbClr val="D97706"/>
                </a:solidFill>
                <a:latin typeface="Arial"/>
                <a:ea typeface="Arial"/>
                <a:cs typeface="Arial"/>
              </a:rPr>
              <a:t>Secure similarity + anomaly selection</a:t>
            </a:r>
          </a:p>
        </p:txBody>
      </p:sp>
      <p:sp>
        <p:nvSpPr>
          <p:cNvPr id="244" name="ddfed-arrow-3">
            <a:extLst xmlns:a="http://schemas.openxmlformats.org/drawingml/2006/main">
              <a:ext uri="{FF2B5EF4-FFF2-40B4-BE49-F238E27FC236}">
                <a16:creationId xmlns:a16="http://schemas.microsoft.com/office/drawing/2014/main" id="{A4D045CB-845D-498B-98E0-16B67FCEE9B7}"/>
              </a:ext>
            </a:extLst>
          </p:cNvPr>
          <p:cNvSpPr>
            <a:spLocks xmlns:a="http://schemas.openxmlformats.org/drawingml/2006/main" noGrp="1"/>
          </p:cNvSpPr>
          <p:nvPr/>
        </p:nvSpPr>
        <p:spPr>
          <a:xfrm xmlns:a="http://schemas.openxmlformats.org/drawingml/2006/main">
            <a:off x="9096375" y="4267200"/>
            <a:ext cx="904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889" lnSpcReduction="10000"/>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a:t>
            </a:r>
          </a:p>
        </p:txBody>
      </p:sp>
      <p:sp>
        <p:nvSpPr>
          <p:cNvPr id="245" name="ddfed-box-4">
            <a:extLst xmlns:a="http://schemas.openxmlformats.org/drawingml/2006/main">
              <a:ext uri="{FF2B5EF4-FFF2-40B4-BE49-F238E27FC236}">
                <a16:creationId xmlns:a16="http://schemas.microsoft.com/office/drawing/2014/main" id="{093C5A3E-4826-4DE4-85FA-FC1CDCE16914}"/>
              </a:ext>
            </a:extLst>
          </p:cNvPr>
          <p:cNvSpPr>
            <a:spLocks xmlns:a="http://schemas.openxmlformats.org/drawingml/2006/main" noGrp="1"/>
          </p:cNvSpPr>
          <p:nvPr/>
        </p:nvSpPr>
        <p:spPr>
          <a:xfrm xmlns:a="http://schemas.openxmlformats.org/drawingml/2006/main">
            <a:off x="8143875" y="4533900"/>
            <a:ext cx="2809875" cy="49530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a:bodyPr>
          <a:lstStyle xmlns:a="http://schemas.openxmlformats.org/drawingml/2006/main"/>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Accepted global update</a:t>
            </a:r>
          </a:p>
        </p:txBody>
      </p:sp>
      <p:sp>
        <p:nvSpPr>
          <p:cNvPr id="246" name="ddfed-diagram-caption">
            <a:extLst xmlns:a="http://schemas.openxmlformats.org/drawingml/2006/main">
              <a:ext uri="{FF2B5EF4-FFF2-40B4-BE49-F238E27FC236}">
                <a16:creationId xmlns:a16="http://schemas.microsoft.com/office/drawing/2014/main" id="{939B91A4-0599-47E4-8778-2AA81A2BFC90}"/>
              </a:ext>
            </a:extLst>
          </p:cNvPr>
          <p:cNvSpPr>
            <a:spLocks xmlns:a="http://schemas.openxmlformats.org/drawingml/2006/main" noGrp="1"/>
          </p:cNvSpPr>
          <p:nvPr/>
        </p:nvSpPr>
        <p:spPr>
          <a:xfrm xmlns:a="http://schemas.openxmlformats.org/drawingml/2006/main">
            <a:off x="7810500" y="5162550"/>
            <a:ext cx="3476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837"/>
          </a:bodyPr>
          <a:lstStyle xmlns:a="http://schemas.openxmlformats.org/drawingml/2006/main"/>
          <a:p xmlns:a="http://schemas.openxmlformats.org/drawingml/2006/main">
            <a:pPr algn="ctr">
              <a:buNone/>
              <a:defRPr sz="1125" i="1">
                <a:solidFill>
                  <a:srgbClr val="52606D"/>
                </a:solidFill>
                <a:latin typeface="Arial"/>
                <a:ea typeface="Arial"/>
                <a:cs typeface="Arial"/>
              </a:defRPr>
            </a:pPr>
            <a:r>
              <a:rPr sz="1125" i="1">
                <a:solidFill>
                  <a:srgbClr val="52606D"/>
                </a:solidFill>
                <a:latin typeface="Arial"/>
                <a:ea typeface="Arial"/>
                <a:cs typeface="Arial"/>
              </a:rPr>
              <a:t>Privacy and anomaly detection are co-designed [16].</a:t>
            </a:r>
          </a:p>
        </p:txBody>
      </p:sp>
    </p:spTree>
    <p:extLst>
      <p:ext uri="{BB962C8B-B14F-4D97-AF65-F5344CB8AC3E}">
        <p14:creationId xmlns:p14="http://schemas.microsoft.com/office/powerpoint/2010/main" val="970286495"/>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41" name="Picture 40"/>
          <p:cNvPicPr>
            <a:picLocks xmlns:a="http://schemas.openxmlformats.org/drawingml/2006/main" noChangeAspect="1"/>
          </p:cNvPicPr>
          <p:nvPr/>
        </p:nvPicPr>
        <p:blipFill>
          <a:blip xmlns:r="http://schemas.openxmlformats.org/officeDocument/2006/relationships" xmlns:a="http://schemas.openxmlformats.org/drawingml/2006/main" r:embed="R83582ec966864b1f"/>
          <a:stretch xmlns:a="http://schemas.openxmlformats.org/drawingml/2006/main"/>
        </p:blipFill>
        <p:spPr>
          <a:xfrm xmlns:a="http://schemas.openxmlformats.org/drawingml/2006/main">
            <a:off x="361950" y="371475"/>
            <a:ext cx="685800" cy="685800"/>
          </a:xfrm>
          <a:prstGeom xmlns:a="http://schemas.openxmlformats.org/drawingml/2006/main" prst="rect">
            <a:avLst/>
          </a:prstGeom>
        </p:spPr>
      </p:pic>
      <p:pic>
        <p:nvPicPr>
          <p:cNvPr id="42" name="Picture 41"/>
          <p:cNvPicPr>
            <a:picLocks xmlns:a="http://schemas.openxmlformats.org/drawingml/2006/main" noChangeAspect="1"/>
          </p:cNvPicPr>
          <p:nvPr/>
        </p:nvPicPr>
        <p:blipFill>
          <a:blip xmlns:r="http://schemas.openxmlformats.org/officeDocument/2006/relationships" xmlns:a="http://schemas.openxmlformats.org/drawingml/2006/main" r:embed="R52e33c2f76874cfc"/>
          <a:stretch xmlns:a="http://schemas.openxmlformats.org/drawingml/2006/main"/>
        </p:blipFill>
        <p:spPr>
          <a:xfrm xmlns:a="http://schemas.openxmlformats.org/drawingml/2006/main">
            <a:off x="9915525" y="248278"/>
            <a:ext cx="1943100" cy="808370"/>
          </a:xfrm>
          <a:prstGeom xmlns:a="http://schemas.openxmlformats.org/drawingml/2006/main" prst="rect">
            <a:avLst/>
          </a:prstGeom>
        </p:spPr>
      </p:pic>
      <p:sp>
        <p:nvSpPr>
          <p:cNvPr id="5" name="chrome-date-10">
            <a:extLst xmlns:a="http://schemas.openxmlformats.org/drawingml/2006/main">
              <a:ext uri="{FF2B5EF4-FFF2-40B4-BE49-F238E27FC236}">
                <a16:creationId xmlns:a16="http://schemas.microsoft.com/office/drawing/2014/main" id="{41926EB2-1F02-4343-97A9-E20CB53A474C}"/>
              </a:ext>
            </a:extLst>
          </p:cNvPr>
          <p:cNvSpPr>
            <a:spLocks xmlns:a="http://schemas.openxmlformats.org/drawingml/2006/main" noGrp="1"/>
          </p:cNvSpPr>
          <p:nvPr/>
        </p:nvSpPr>
        <p:spPr>
          <a:xfrm xmlns:a="http://schemas.openxmlformats.org/drawingml/2006/main">
            <a:off x="466725" y="6391275"/>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900" b="0" i="0">
                <a:solidFill>
                  <a:srgbClr val="17365D"/>
                </a:solidFill>
                <a:latin typeface="Arial"/>
                <a:ea typeface="Arial"/>
                <a:cs typeface="Arial"/>
              </a:defRPr>
            </a:pPr>
            <a:endParaRPr/>
          </a:p>
        </p:txBody>
      </p:sp>
      <p:sp>
        <p:nvSpPr>
          <p:cNvPr id="6" name="chrome-footer-10">
            <a:extLst xmlns:a="http://schemas.openxmlformats.org/drawingml/2006/main">
              <a:ext uri="{FF2B5EF4-FFF2-40B4-BE49-F238E27FC236}">
                <a16:creationId xmlns:a16="http://schemas.microsoft.com/office/drawing/2014/main" id="{0BF3CB06-8452-4282-91A8-E926925581F3}"/>
              </a:ext>
            </a:extLst>
          </p:cNvPr>
          <p:cNvSpPr>
            <a:spLocks xmlns:a="http://schemas.openxmlformats.org/drawingml/2006/main" noGrp="1"/>
          </p:cNvSpPr>
          <p:nvPr/>
        </p:nvSpPr>
        <p:spPr>
          <a:xfrm xmlns:a="http://schemas.openxmlformats.org/drawingml/2006/main">
            <a:off x="2627923" y="6637215"/>
            <a:ext cx="6686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buNone/>
              <a:defRPr sz="900" b="0" i="0">
                <a:solidFill>
                  <a:srgbClr val="6B7280"/>
                </a:solidFill>
                <a:latin typeface="Arial"/>
                <a:ea typeface="Arial"/>
                <a:cs typeface="Arial"/>
              </a:defRPr>
            </a:pPr>
            <a:r>
              <a:rPr sz="1200" b="0" i="0">
                <a:latin typeface="Arial"/>
                <a:ea typeface="Arial"/>
                <a:cs typeface="Arial"/>
              </a:rPr>
              <a:t>CAABC-FL: A Hybrid Privacy-Preserving Framework for Secure Multi-Institutional Collaboration</a:t>
            </a:r>
          </a:p>
        </p:txBody>
      </p:sp>
      <p:sp>
        <p:nvSpPr>
          <p:cNvPr id="7" name="chrome-page-10">
            <a:extLst xmlns:a="http://schemas.openxmlformats.org/drawingml/2006/main">
              <a:ext uri="{FF2B5EF4-FFF2-40B4-BE49-F238E27FC236}">
                <a16:creationId xmlns:a16="http://schemas.microsoft.com/office/drawing/2014/main" id="{5AF2CF82-A8D8-4B89-A2FF-9F3CFF9D4BD8}"/>
              </a:ext>
            </a:extLst>
          </p:cNvPr>
          <p:cNvSpPr>
            <a:spLocks xmlns:a="http://schemas.openxmlformats.org/drawingml/2006/main" noGrp="1"/>
          </p:cNvSpPr>
          <p:nvPr/>
        </p:nvSpPr>
        <p:spPr>
          <a:xfrm xmlns:a="http://schemas.openxmlformats.org/drawingml/2006/main">
            <a:off x="11277600" y="6124575"/>
            <a:ext cx="685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2550" b="1" i="0">
                <a:solidFill>
                  <a:srgbClr val="17365D"/>
                </a:solidFill>
                <a:latin typeface="Arial"/>
                <a:ea typeface="Arial"/>
                <a:cs typeface="Arial"/>
              </a:defRPr>
            </a:pPr>
            <a:r>
              <a:rPr sz="2550" b="1" i="0">
                <a:solidFill>
                  <a:srgbClr val="17365D"/>
                </a:solidFill>
                <a:latin typeface="Arial"/>
                <a:ea typeface="Arial"/>
                <a:cs typeface="Arial"/>
              </a:rPr>
              <a:t>12</a:t>
            </a:r>
          </a:p>
        </p:txBody>
      </p:sp>
      <p:sp>
        <p:nvSpPr>
          <p:cNvPr id="8" name="table-caption-rs2">
            <a:extLst xmlns:a="http://schemas.openxmlformats.org/drawingml/2006/main">
              <a:ext uri="{FF2B5EF4-FFF2-40B4-BE49-F238E27FC236}">
                <a16:creationId xmlns:a16="http://schemas.microsoft.com/office/drawing/2014/main" id="{B183B579-7D91-4042-B92A-4DE6C7672D84}"/>
              </a:ext>
            </a:extLst>
          </p:cNvPr>
          <p:cNvSpPr>
            <a:spLocks xmlns:a="http://schemas.openxmlformats.org/drawingml/2006/main" noGrp="1"/>
          </p:cNvSpPr>
          <p:nvPr/>
        </p:nvSpPr>
        <p:spPr>
          <a:xfrm xmlns:a="http://schemas.openxmlformats.org/drawingml/2006/main">
            <a:off x="1428750" y="1143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II. Communication and robustness methods</a:t>
            </a:r>
          </a:p>
        </p:txBody>
      </p:sp>
      <p:graphicFrame>
        <p:nvGraphicFramePr>
          <p:cNvPr id="47" name="Table 47"/>
          <p:cNvGraphicFramePr/>
          <p:nvPr/>
        </p:nvGraphicFramePr>
        <p:xfrm>
          <a:off xmlns:a="http://schemas.openxmlformats.org/drawingml/2006/main" x="523875" y="1619250"/>
          <a:ext xmlns:a="http://schemas.openxmlformats.org/drawingml/2006/main" cx="11144250" cy="3762375"/>
        </p:xfrm>
        <a:graphic xmlns:a="http://schemas.openxmlformats.org/drawingml/2006/main">
          <a:graphicData uri="http://schemas.openxmlformats.org/drawingml/2006/table">
            <a:tbl>
              <a:tblPr firstRow="1" bandRow="1"/>
              <a:tblGrid>
                <a:gridCol w="1762125"/>
                <a:gridCol w="1714500"/>
                <a:gridCol w="1952625"/>
                <a:gridCol w="2524125"/>
                <a:gridCol w="3190875"/>
              </a:tblGrid>
              <a:tr h="752475">
                <a:tc>
                  <a:txBody>
                    <a:bodyPr/>
                    <a:lstStyle/>
                    <a:p>
                      <a:r>
                        <a:rPr sz="1275" b="1">
                          <a:solidFill>
                            <a:srgbClr val="FFFFFF"/>
                          </a:solidFill>
                          <a:latin typeface="Arial"/>
                          <a:ea typeface="Arial"/>
                          <a:cs typeface="Arial"/>
                        </a:rPr>
                        <a:t>Approach</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Privacy</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Communication</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Poisoning response</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Main assumption</a:t>
                      </a:r>
                    </a:p>
                  </a:txBody>
                  <a:tcPr marL="66675" marR="66675" marT="47625" marB="47625" anchor="ctr">
                    <a:solidFill>
                      <a:srgbClr val="17365D"/>
                    </a:solidFill>
                  </a:tcPr>
                </a:tc>
              </a:tr>
              <a:tr h="752475">
                <a:tc>
                  <a:txBody>
                    <a:bodyPr/>
                    <a:lstStyle/>
                    <a:p>
                      <a:r>
                        <a:rPr sz="1200">
                          <a:solidFill>
                            <a:srgbClr val="1F2937"/>
                          </a:solidFill>
                          <a:latin typeface="Arial"/>
                          <a:ea typeface="Arial"/>
                          <a:cs typeface="Arial"/>
                        </a:rPr>
                        <a:t>SoteriaFL [13]</a:t>
                      </a:r>
                    </a:p>
                  </a:txBody>
                  <a:tcPr marL="66675" marR="66675" marT="47625" marB="47625" anchor="ctr">
                    <a:solidFill>
                      <a:srgbClr val="FFFFFF"/>
                    </a:solidFill>
                  </a:tcPr>
                </a:tc>
                <a:tc>
                  <a:txBody>
                    <a:bodyPr/>
                    <a:lstStyle/>
                    <a:p>
                      <a:r>
                        <a:rPr sz="1200">
                          <a:solidFill>
                            <a:srgbClr val="1F2937"/>
                          </a:solidFill>
                          <a:latin typeface="Arial"/>
                          <a:ea typeface="Arial"/>
                          <a:cs typeface="Arial"/>
                        </a:rPr>
                        <a:t>Formal DP</a:t>
                      </a:r>
                    </a:p>
                  </a:txBody>
                  <a:tcPr marL="66675" marR="66675" marT="47625" marB="47625" anchor="ctr">
                    <a:solidFill>
                      <a:srgbClr val="FFFFFF"/>
                    </a:solidFill>
                  </a:tcPr>
                </a:tc>
                <a:tc>
                  <a:txBody>
                    <a:bodyPr/>
                    <a:lstStyle/>
                    <a:p>
                      <a:r>
                        <a:rPr sz="1200">
                          <a:solidFill>
                            <a:srgbClr val="1F2937"/>
                          </a:solidFill>
                          <a:latin typeface="Arial"/>
                          <a:ea typeface="Arial"/>
                          <a:cs typeface="Arial"/>
                        </a:rPr>
                        <a:t>Logical compression</a:t>
                      </a:r>
                    </a:p>
                  </a:txBody>
                  <a:tcPr marL="66675" marR="66675" marT="47625" marB="47625" anchor="ctr">
                    <a:solidFill>
                      <a:srgbClr val="FFFFFF"/>
                    </a:solidFill>
                  </a:tcPr>
                </a:tc>
                <a:tc>
                  <a:txBody>
                    <a:bodyPr/>
                    <a:lstStyle/>
                    <a:p>
                      <a:r>
                        <a:rPr sz="1200">
                          <a:solidFill>
                            <a:srgbClr val="1F2937"/>
                          </a:solidFill>
                          <a:latin typeface="Arial"/>
                          <a:ea typeface="Arial"/>
                          <a:cs typeface="Arial"/>
                        </a:rPr>
                        <a:t>No</a:t>
                      </a:r>
                    </a:p>
                  </a:txBody>
                  <a:tcPr marL="66675" marR="66675" marT="47625" marB="47625" anchor="ctr">
                    <a:solidFill>
                      <a:srgbClr val="FFFFFF"/>
                    </a:solidFill>
                  </a:tcPr>
                </a:tc>
                <a:tc>
                  <a:txBody>
                    <a:bodyPr/>
                    <a:lstStyle/>
                    <a:p>
                      <a:r>
                        <a:rPr sz="1200">
                          <a:solidFill>
                            <a:srgbClr val="1F2937"/>
                          </a:solidFill>
                          <a:latin typeface="Arial"/>
                          <a:ea typeface="Arial"/>
                          <a:cs typeface="Arial"/>
                        </a:rPr>
                        <a:t>Dense encryption can remove wire savings</a:t>
                      </a:r>
                    </a:p>
                  </a:txBody>
                  <a:tcPr marL="66675" marR="66675" marT="47625" marB="47625" anchor="ctr">
                    <a:solidFill>
                      <a:srgbClr val="FFFFFF"/>
                    </a:solidFill>
                  </a:tcPr>
                </a:tc>
              </a:tr>
              <a:tr h="752475">
                <a:tc>
                  <a:txBody>
                    <a:bodyPr/>
                    <a:lstStyle/>
                    <a:p>
                      <a:r>
                        <a:rPr sz="1200">
                          <a:solidFill>
                            <a:srgbClr val="1F2937"/>
                          </a:solidFill>
                          <a:latin typeface="Arial"/>
                          <a:ea typeface="Arial"/>
                          <a:cs typeface="Arial"/>
                        </a:rPr>
                        <a:t>Fed-EF [14]</a:t>
                      </a:r>
                    </a:p>
                  </a:txBody>
                  <a:tcPr marL="66675" marR="66675" marT="47625" marB="47625" anchor="ctr">
                    <a:solidFill>
                      <a:srgbClr val="FFFFFF"/>
                    </a:solidFill>
                  </a:tcPr>
                </a:tc>
                <a:tc>
                  <a:txBody>
                    <a:bodyPr/>
                    <a:lstStyle/>
                    <a:p>
                      <a:r>
                        <a:rPr sz="1200">
                          <a:solidFill>
                            <a:srgbClr val="1F2937"/>
                          </a:solidFill>
                          <a:latin typeface="Arial"/>
                          <a:ea typeface="Arial"/>
                          <a:cs typeface="Arial"/>
                        </a:rPr>
                        <a:t>No formal DP</a:t>
                      </a:r>
                    </a:p>
                  </a:txBody>
                  <a:tcPr marL="66675" marR="66675" marT="47625" marB="47625" anchor="ctr">
                    <a:solidFill>
                      <a:srgbClr val="FFFFFF"/>
                    </a:solidFill>
                  </a:tcPr>
                </a:tc>
                <a:tc>
                  <a:txBody>
                    <a:bodyPr/>
                    <a:lstStyle/>
                    <a:p>
                      <a:r>
                        <a:rPr sz="1200">
                          <a:solidFill>
                            <a:srgbClr val="1F2937"/>
                          </a:solidFill>
                          <a:latin typeface="Arial"/>
                          <a:ea typeface="Arial"/>
                          <a:cs typeface="Arial"/>
                        </a:rPr>
                        <a:t>Error-feedback compression</a:t>
                      </a:r>
                    </a:p>
                  </a:txBody>
                  <a:tcPr marL="66675" marR="66675" marT="47625" marB="47625" anchor="ctr">
                    <a:solidFill>
                      <a:srgbClr val="FFFFFF"/>
                    </a:solidFill>
                  </a:tcPr>
                </a:tc>
                <a:tc>
                  <a:txBody>
                    <a:bodyPr/>
                    <a:lstStyle/>
                    <a:p>
                      <a:r>
                        <a:rPr sz="1200">
                          <a:solidFill>
                            <a:srgbClr val="1F2937"/>
                          </a:solidFill>
                          <a:latin typeface="Arial"/>
                          <a:ea typeface="Arial"/>
                          <a:cs typeface="Arial"/>
                        </a:rPr>
                        <a:t>No</a:t>
                      </a:r>
                    </a:p>
                  </a:txBody>
                  <a:tcPr marL="66675" marR="66675" marT="47625" marB="47625" anchor="ctr">
                    <a:solidFill>
                      <a:srgbClr val="FFFFFF"/>
                    </a:solidFill>
                  </a:tcPr>
                </a:tc>
                <a:tc>
                  <a:txBody>
                    <a:bodyPr/>
                    <a:lstStyle/>
                    <a:p>
                      <a:r>
                        <a:rPr sz="1200">
                          <a:solidFill>
                            <a:srgbClr val="1F2937"/>
                          </a:solidFill>
                          <a:latin typeface="Arial"/>
                          <a:ea typeface="Arial"/>
                          <a:cs typeface="Arial"/>
                        </a:rPr>
                        <a:t>Individual updates remain visible</a:t>
                      </a:r>
                    </a:p>
                  </a:txBody>
                  <a:tcPr marL="66675" marR="66675" marT="47625" marB="47625" anchor="ctr">
                    <a:solidFill>
                      <a:srgbClr val="FFFFFF"/>
                    </a:solidFill>
                  </a:tcPr>
                </a:tc>
              </a:tr>
              <a:tr h="752475">
                <a:tc>
                  <a:txBody>
                    <a:bodyPr/>
                    <a:lstStyle/>
                    <a:p>
                      <a:r>
                        <a:rPr sz="1200">
                          <a:solidFill>
                            <a:srgbClr val="1F2937"/>
                          </a:solidFill>
                          <a:latin typeface="Arial"/>
                          <a:ea typeface="Arial"/>
                          <a:cs typeface="Arial"/>
                        </a:rPr>
                        <a:t>FLTrust [15]</a:t>
                      </a:r>
                    </a:p>
                  </a:txBody>
                  <a:tcPr marL="66675" marR="66675" marT="47625" marB="47625" anchor="ctr">
                    <a:solidFill>
                      <a:srgbClr val="FFFFFF"/>
                    </a:solidFill>
                  </a:tcPr>
                </a:tc>
                <a:tc>
                  <a:txBody>
                    <a:bodyPr/>
                    <a:lstStyle/>
                    <a:p>
                      <a:r>
                        <a:rPr sz="1200">
                          <a:solidFill>
                            <a:srgbClr val="1F2937"/>
                          </a:solidFill>
                          <a:latin typeface="Arial"/>
                          <a:ea typeface="Arial"/>
                          <a:cs typeface="Arial"/>
                        </a:rPr>
                        <a:t>No</a:t>
                      </a:r>
                    </a:p>
                  </a:txBody>
                  <a:tcPr marL="66675" marR="66675" marT="47625" marB="47625" anchor="ctr">
                    <a:solidFill>
                      <a:srgbClr val="FFFFFF"/>
                    </a:solidFill>
                  </a:tcPr>
                </a:tc>
                <a:tc>
                  <a:txBody>
                    <a:bodyPr/>
                    <a:lstStyle/>
                    <a:p>
                      <a:r>
                        <a:rPr sz="1200">
                          <a:solidFill>
                            <a:srgbClr val="1F2937"/>
                          </a:solidFill>
                          <a:latin typeface="Arial"/>
                          <a:ea typeface="Arial"/>
                          <a:cs typeface="Arial"/>
                        </a:rPr>
                        <a:t>No</a:t>
                      </a:r>
                    </a:p>
                  </a:txBody>
                  <a:tcPr marL="66675" marR="66675" marT="47625" marB="47625" anchor="ctr">
                    <a:solidFill>
                      <a:srgbClr val="FFFFFF"/>
                    </a:solidFill>
                  </a:tcPr>
                </a:tc>
                <a:tc>
                  <a:txBody>
                    <a:bodyPr/>
                    <a:lstStyle/>
                    <a:p>
                      <a:r>
                        <a:rPr sz="1200">
                          <a:solidFill>
                            <a:srgbClr val="1F2937"/>
                          </a:solidFill>
                          <a:latin typeface="Arial"/>
                          <a:ea typeface="Arial"/>
                          <a:cs typeface="Arial"/>
                        </a:rPr>
                        <a:t>Trust-weighted aggregation</a:t>
                      </a:r>
                    </a:p>
                  </a:txBody>
                  <a:tcPr marL="66675" marR="66675" marT="47625" marB="47625" anchor="ctr">
                    <a:solidFill>
                      <a:srgbClr val="FFFFFF"/>
                    </a:solidFill>
                  </a:tcPr>
                </a:tc>
                <a:tc>
                  <a:txBody>
                    <a:bodyPr/>
                    <a:lstStyle/>
                    <a:p>
                      <a:r>
                        <a:rPr sz="1200">
                          <a:solidFill>
                            <a:srgbClr val="1F2937"/>
                          </a:solidFill>
                          <a:latin typeface="Arial"/>
                          <a:ea typeface="Arial"/>
                          <a:cs typeface="Arial"/>
                        </a:rPr>
                        <a:t>Clean representative root data</a:t>
                      </a:r>
                    </a:p>
                  </a:txBody>
                  <a:tcPr marL="66675" marR="66675" marT="47625" marB="47625" anchor="ctr">
                    <a:solidFill>
                      <a:srgbClr val="FFFFFF"/>
                    </a:solidFill>
                  </a:tcPr>
                </a:tc>
              </a:tr>
              <a:tr h="752475">
                <a:tc>
                  <a:txBody>
                    <a:bodyPr/>
                    <a:lstStyle/>
                    <a:p>
                      <a:r>
                        <a:rPr sz="1200">
                          <a:solidFill>
                            <a:srgbClr val="1F2937"/>
                          </a:solidFill>
                          <a:latin typeface="Arial"/>
                          <a:ea typeface="Arial"/>
                          <a:cs typeface="Arial"/>
                        </a:rPr>
                        <a:t>DDFed [16]</a:t>
                      </a:r>
                    </a:p>
                  </a:txBody>
                  <a:tcPr marL="66675" marR="66675" marT="47625" marB="47625" anchor="ctr">
                    <a:solidFill>
                      <a:srgbClr val="FFFFFF"/>
                    </a:solidFill>
                  </a:tcPr>
                </a:tc>
                <a:tc>
                  <a:txBody>
                    <a:bodyPr/>
                    <a:lstStyle/>
                    <a:p>
                      <a:r>
                        <a:rPr sz="1200">
                          <a:solidFill>
                            <a:srgbClr val="1F2937"/>
                          </a:solidFill>
                          <a:latin typeface="Arial"/>
                          <a:ea typeface="Arial"/>
                          <a:cs typeface="Arial"/>
                        </a:rPr>
                        <a:t>Encrypted updates</a:t>
                      </a:r>
                    </a:p>
                  </a:txBody>
                  <a:tcPr marL="66675" marR="66675" marT="47625" marB="47625" anchor="ctr">
                    <a:solidFill>
                      <a:srgbClr val="FFFFFF"/>
                    </a:solidFill>
                  </a:tcPr>
                </a:tc>
                <a:tc>
                  <a:txBody>
                    <a:bodyPr/>
                    <a:lstStyle/>
                    <a:p>
                      <a:r>
                        <a:rPr sz="1200">
                          <a:solidFill>
                            <a:srgbClr val="1F2937"/>
                          </a:solidFill>
                          <a:latin typeface="Arial"/>
                          <a:ea typeface="Arial"/>
                          <a:cs typeface="Arial"/>
                        </a:rPr>
                        <a:t>Secondary</a:t>
                      </a:r>
                    </a:p>
                  </a:txBody>
                  <a:tcPr marL="66675" marR="66675" marT="47625" marB="47625" anchor="ctr">
                    <a:solidFill>
                      <a:srgbClr val="FFFFFF"/>
                    </a:solidFill>
                  </a:tcPr>
                </a:tc>
                <a:tc>
                  <a:txBody>
                    <a:bodyPr/>
                    <a:lstStyle/>
                    <a:p>
                      <a:r>
                        <a:rPr sz="1200">
                          <a:solidFill>
                            <a:srgbClr val="1F2937"/>
                          </a:solidFill>
                          <a:latin typeface="Arial"/>
                          <a:ea typeface="Arial"/>
                          <a:cs typeface="Arial"/>
                        </a:rPr>
                        <a:t>Encrypted anomaly detection</a:t>
                      </a:r>
                    </a:p>
                  </a:txBody>
                  <a:tcPr marL="66675" marR="66675" marT="47625" marB="47625" anchor="ctr">
                    <a:solidFill>
                      <a:srgbClr val="FFFFFF"/>
                    </a:solidFill>
                  </a:tcPr>
                </a:tc>
                <a:tc>
                  <a:txBody>
                    <a:bodyPr/>
                    <a:lstStyle/>
                    <a:p>
                      <a:r>
                        <a:rPr sz="1200">
                          <a:solidFill>
                            <a:srgbClr val="1F2937"/>
                          </a:solidFill>
                          <a:latin typeface="Arial"/>
                          <a:ea typeface="Arial"/>
                          <a:cs typeface="Arial"/>
                        </a:rPr>
                        <a:t>FHE and anomaly model</a:t>
                      </a:r>
                    </a:p>
                  </a:txBody>
                  <a:tcPr marL="66675" marR="66675" marT="47625" marB="47625" anchor="ctr">
                    <a:solidFill>
                      <a:srgbClr val="FFFFFF"/>
                    </a:solidFill>
                  </a:tcPr>
                </a:tc>
              </a:tr>
            </a:tbl>
          </a:graphicData>
        </a:graphic>
      </p:graphicFrame>
      <p:sp>
        <p:nvSpPr>
          <p:cNvPr id="10" name="rs2-note">
            <a:extLst xmlns:a="http://schemas.openxmlformats.org/drawingml/2006/main">
              <a:ext uri="{FF2B5EF4-FFF2-40B4-BE49-F238E27FC236}">
                <a16:creationId xmlns:a16="http://schemas.microsoft.com/office/drawing/2014/main" id="{D5A34EEF-6719-4EBF-BAF3-B1EEA9E8F519}"/>
              </a:ext>
            </a:extLst>
          </p:cNvPr>
          <p:cNvSpPr>
            <a:spLocks xmlns:a="http://schemas.openxmlformats.org/drawingml/2006/main" noGrp="1"/>
          </p:cNvSpPr>
          <p:nvPr/>
        </p:nvSpPr>
        <p:spPr>
          <a:xfrm xmlns:a="http://schemas.openxmlformats.org/drawingml/2006/main">
            <a:off x="1285875" y="5572125"/>
            <a:ext cx="9620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1148" lnSpcReduction="10000"/>
          </a:bodyPr>
          <a:lstStyle xmlns:a="http://schemas.openxmlformats.org/drawingml/2006/main"/>
          <a:p xmlns:a="http://schemas.openxmlformats.org/drawingml/2006/main">
            <a:pPr algn="ctr">
              <a:buNone/>
              <a:defRPr sz="1650" b="1" i="0">
                <a:solidFill>
                  <a:srgbClr val="17365D"/>
                </a:solidFill>
                <a:latin typeface="Arial"/>
                <a:ea typeface="Arial"/>
                <a:cs typeface="Arial"/>
              </a:defRPr>
            </a:pPr>
            <a:r>
              <a:rPr sz="1650" b="1" i="0">
                <a:solidFill>
                  <a:srgbClr val="17365D"/>
                </a:solidFill>
                <a:latin typeface="Arial"/>
                <a:ea typeface="Arial"/>
                <a:cs typeface="Arial"/>
              </a:rPr>
              <a:t>Plaintext robust aggregation often conflicts with the update hiding provided by homomorphic aggregation.</a:t>
            </a:r>
          </a:p>
        </p:txBody>
      </p:sp>
      <p:sp>
        <p:nvSpPr>
          <p:cNvPr id="14" name="visible-footer-date-10">
            <a:extLst xmlns:a="http://schemas.openxmlformats.org/drawingml/2006/main">
              <a:ext uri="{FF2B5EF4-FFF2-40B4-BE49-F238E27FC236}">
                <a16:creationId xmlns:a16="http://schemas.microsoft.com/office/drawing/2014/main" id="{21FF7D5C-3264-4359-8EC6-14D1C8ECC201}"/>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18" name="related-study-title-cover-2">
            <a:extLst xmlns:a="http://schemas.openxmlformats.org/drawingml/2006/main">
              <a:ext uri="{FF2B5EF4-FFF2-40B4-BE49-F238E27FC236}">
                <a16:creationId xmlns:a16="http://schemas.microsoft.com/office/drawing/2014/main" id="{1ADE9605-CB6F-4717-B1C7-DA8274CFBD20}"/>
              </a:ext>
            </a:extLst>
          </p:cNvPr>
          <p:cNvSpPr>
            <a:spLocks xmlns:a="http://schemas.openxmlformats.org/drawingml/2006/main" noGrp="1"/>
          </p:cNvSpPr>
          <p:nvPr/>
        </p:nvSpPr>
        <p:spPr>
          <a:xfrm xmlns:a="http://schemas.openxmlformats.org/drawingml/2006/main">
            <a:off x="1524000" y="323850"/>
            <a:ext cx="8382000" cy="74295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0" name="related-study-title-2">
            <a:extLst xmlns:a="http://schemas.openxmlformats.org/drawingml/2006/main">
              <a:ext uri="{FF2B5EF4-FFF2-40B4-BE49-F238E27FC236}">
                <a16:creationId xmlns:a16="http://schemas.microsoft.com/office/drawing/2014/main" id="{6EBA2491-6518-4087-ABCA-04604C76317A}"/>
              </a:ext>
            </a:extLst>
          </p:cNvPr>
          <p:cNvSpPr>
            <a:spLocks xmlns:a="http://schemas.openxmlformats.org/drawingml/2006/main" noGrp="1"/>
          </p:cNvSpPr>
          <p:nvPr/>
        </p:nvSpPr>
        <p:spPr>
          <a:xfrm xmlns:a="http://schemas.openxmlformats.org/drawingml/2006/main">
            <a:off x="2000250" y="311640"/>
            <a:ext cx="7810500" cy="62865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3300" b="1">
                <a:solidFill>
                  <a:srgbClr val="062B6F"/>
                </a:solidFill>
                <a:latin typeface="Arial"/>
                <a:ea typeface="Arial"/>
                <a:cs typeface="Arial"/>
              </a:defRPr>
            </a:pPr>
            <a:r>
              <a:rPr sz="3300" b="1">
                <a:solidFill>
                  <a:srgbClr val="062B6F"/>
                </a:solidFill>
                <a:latin typeface="Arial"/>
                <a:ea typeface="Arial"/>
                <a:cs typeface="Arial"/>
              </a:rPr>
              <a:t>Related Studies (2/3)</a:t>
            </a:r>
          </a:p>
        </p:txBody>
      </p:sp>
      <p:sp>
        <p:nvSpPr>
          <p:cNvPr id="21" name="related-study-cover-2">
            <a:extLst xmlns:a="http://schemas.openxmlformats.org/drawingml/2006/main">
              <a:ext uri="{FF2B5EF4-FFF2-40B4-BE49-F238E27FC236}">
                <a16:creationId xmlns:a16="http://schemas.microsoft.com/office/drawing/2014/main" id="{9A41AA70-677B-46BE-BBAD-CBA4B067A8D9}"/>
              </a:ext>
            </a:extLst>
          </p:cNvPr>
          <p:cNvSpPr>
            <a:spLocks xmlns:a="http://schemas.openxmlformats.org/drawingml/2006/main" noGrp="1"/>
          </p:cNvSpPr>
          <p:nvPr/>
        </p:nvSpPr>
        <p:spPr>
          <a:xfrm xmlns:a="http://schemas.openxmlformats.org/drawingml/2006/main">
            <a:off x="428625" y="1066800"/>
            <a:ext cx="1133475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2" name="paper-title-2">
            <a:extLst xmlns:a="http://schemas.openxmlformats.org/drawingml/2006/main">
              <a:ext uri="{FF2B5EF4-FFF2-40B4-BE49-F238E27FC236}">
                <a16:creationId xmlns:a16="http://schemas.microsoft.com/office/drawing/2014/main" id="{8A306287-C155-419A-850A-F6841720E23F}"/>
              </a:ext>
            </a:extLst>
          </p:cNvPr>
          <p:cNvSpPr>
            <a:spLocks xmlns:a="http://schemas.openxmlformats.org/drawingml/2006/main" noGrp="1"/>
          </p:cNvSpPr>
          <p:nvPr/>
        </p:nvSpPr>
        <p:spPr>
          <a:xfrm xmlns:a="http://schemas.openxmlformats.org/drawingml/2006/main">
            <a:off x="666750" y="112395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598"/>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DP-BREM: Differentially-Private and Byzantine-Robust Federated Learning with Client Momentum [17]</a:t>
            </a:r>
          </a:p>
        </p:txBody>
      </p:sp>
      <p:sp>
        <p:nvSpPr>
          <p:cNvPr id="23" name="paper-summary-2">
            <a:extLst xmlns:a="http://schemas.openxmlformats.org/drawingml/2006/main">
              <a:ext uri="{FF2B5EF4-FFF2-40B4-BE49-F238E27FC236}">
                <a16:creationId xmlns:a16="http://schemas.microsoft.com/office/drawing/2014/main" id="{9504971E-646A-48CF-BE67-BA1AC23CA447}"/>
              </a:ext>
            </a:extLst>
          </p:cNvPr>
          <p:cNvSpPr>
            <a:spLocks xmlns:a="http://schemas.openxmlformats.org/drawingml/2006/main" noGrp="1"/>
          </p:cNvSpPr>
          <p:nvPr/>
        </p:nvSpPr>
        <p:spPr>
          <a:xfrm xmlns:a="http://schemas.openxmlformats.org/drawingml/2006/main">
            <a:off x="666750" y="1714500"/>
            <a:ext cx="6572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734"/>
          </a:bodyPr>
          <a:lstStyle xmlns:a="http://schemas.openxmlformats.org/drawingml/2006/main"/>
          <a:p xmlns:a="http://schemas.openxmlformats.org/drawingml/2006/main">
            <a:pPr algn="l">
              <a:buNone/>
              <a:defRPr sz="1425">
                <a:solidFill>
                  <a:srgbClr val="1F2937"/>
                </a:solidFill>
                <a:latin typeface="Arial"/>
                <a:ea typeface="Arial"/>
                <a:cs typeface="Arial"/>
              </a:defRPr>
            </a:pPr>
            <a:r>
              <a:rPr sz="1425">
                <a:solidFill>
                  <a:srgbClr val="1F2937"/>
                </a:solidFill>
                <a:latin typeface="Arial"/>
                <a:ea typeface="Arial"/>
                <a:cs typeface="Arial"/>
              </a:rPr>
              <a:t>DP-BREM learns from client history: momentum reduces honest-update variance and exposes small malicious perturbations. DP-BREM+ removes the trusted-server assumption through secure aggregation and jointly generated noise.</a:t>
            </a:r>
          </a:p>
        </p:txBody>
      </p:sp>
      <p:sp>
        <p:nvSpPr>
          <p:cNvPr id="24" name="paper-source-2">
            <a:extLst xmlns:a="http://schemas.openxmlformats.org/drawingml/2006/main">
              <a:ext uri="{FF2B5EF4-FFF2-40B4-BE49-F238E27FC236}">
                <a16:creationId xmlns:a16="http://schemas.microsoft.com/office/drawing/2014/main" id="{9C9690AD-BFC7-42AE-8171-3AB172CB9F5B}"/>
              </a:ext>
            </a:extLst>
          </p:cNvPr>
          <p:cNvSpPr>
            <a:spLocks xmlns:a="http://schemas.openxmlformats.org/drawingml/2006/main" noGrp="1"/>
          </p:cNvSpPr>
          <p:nvPr/>
        </p:nvSpPr>
        <p:spPr>
          <a:xfrm xmlns:a="http://schemas.openxmlformats.org/drawingml/2006/main">
            <a:off x="666750" y="5829300"/>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013" i="1">
                <a:solidFill>
                  <a:srgbClr val="52606D"/>
                </a:solidFill>
                <a:latin typeface="Arial"/>
                <a:ea typeface="Arial"/>
                <a:cs typeface="Arial"/>
              </a:defRPr>
            </a:pPr>
            <a:r>
              <a:rPr sz="1013" i="1">
                <a:solidFill>
                  <a:srgbClr val="52606D"/>
                </a:solidFill>
                <a:latin typeface="Arial"/>
                <a:ea typeface="Arial"/>
                <a:cs typeface="Arial"/>
              </a:rPr>
              <a:t>Source: Gu, Li, and Xiong, USENIX Security 2025 [17].</a:t>
            </a:r>
          </a:p>
        </p:txBody>
      </p:sp>
      <p:sp>
        <p:nvSpPr>
          <p:cNvPr id="25" name="dpbrem-strengths-heading">
            <a:extLst xmlns:a="http://schemas.openxmlformats.org/drawingml/2006/main">
              <a:ext uri="{FF2B5EF4-FFF2-40B4-BE49-F238E27FC236}">
                <a16:creationId xmlns:a16="http://schemas.microsoft.com/office/drawing/2014/main" id="{3226CF28-E297-4854-9F27-F0ADFC6CE885}"/>
              </a:ext>
            </a:extLst>
          </p:cNvPr>
          <p:cNvSpPr>
            <a:spLocks xmlns:a="http://schemas.openxmlformats.org/drawingml/2006/main" noGrp="1"/>
          </p:cNvSpPr>
          <p:nvPr/>
        </p:nvSpPr>
        <p:spPr>
          <a:xfrm xmlns:a="http://schemas.openxmlformats.org/drawingml/2006/main">
            <a:off x="647700" y="2590800"/>
            <a:ext cx="6572250" cy="323850"/>
          </a:xfrm>
          <a:prstGeom xmlns:a="http://schemas.openxmlformats.org/drawingml/2006/main" prst="rect">
            <a:avLst/>
          </a:prstGeom>
          <a:solidFill xmlns:a="http://schemas.openxmlformats.org/drawingml/2006/main">
            <a:srgbClr val="EAF7F0"/>
          </a:solidFill>
          <a:ln xmlns:a="http://schemas.openxmlformats.org/drawingml/2006/main" w="10478">
            <a:solidFill>
              <a:srgbClr val="008A46"/>
            </a:solidFill>
          </a:ln>
        </p:spPr>
        <p:txBody>
          <a:bodyPr xmlns:a="http://schemas.openxmlformats.org/drawingml/2006/main" anchor="ctr">
            <a:normAutofit fontScale="99924" lnSpcReduction="10000"/>
          </a:bodyPr>
          <a:lstStyle xmlns:a="http://schemas.openxmlformats.org/drawingml/2006/main"/>
          <a:p xmlns:a="http://schemas.openxmlformats.org/drawingml/2006/main">
            <a:pPr algn="l">
              <a:buNone/>
              <a:defRPr sz="1650" b="1">
                <a:solidFill>
                  <a:srgbClr val="008A46"/>
                </a:solidFill>
                <a:latin typeface="Arial"/>
                <a:ea typeface="Arial"/>
                <a:cs typeface="Arial"/>
              </a:defRPr>
            </a:pPr>
            <a:r>
              <a:rPr sz="1650" b="1">
                <a:solidFill>
                  <a:srgbClr val="008A46"/>
                </a:solidFill>
                <a:latin typeface="Arial"/>
                <a:ea typeface="Arial"/>
                <a:cs typeface="Arial"/>
              </a:rPr>
              <a:t>Strengths</a:t>
            </a:r>
          </a:p>
        </p:txBody>
      </p:sp>
      <p:sp>
        <p:nvSpPr>
          <p:cNvPr id="26" name="dpbrem-strengths-bullets">
            <a:extLst xmlns:a="http://schemas.openxmlformats.org/drawingml/2006/main">
              <a:ext uri="{FF2B5EF4-FFF2-40B4-BE49-F238E27FC236}">
                <a16:creationId xmlns:a16="http://schemas.microsoft.com/office/drawing/2014/main" id="{2BEC5F65-9039-4C51-8D75-DCE5257BC6DA}"/>
              </a:ext>
            </a:extLst>
          </p:cNvPr>
          <p:cNvSpPr>
            <a:spLocks xmlns:a="http://schemas.openxmlformats.org/drawingml/2006/main" noGrp="1"/>
          </p:cNvSpPr>
          <p:nvPr/>
        </p:nvSpPr>
        <p:spPr>
          <a:xfrm xmlns:a="http://schemas.openxmlformats.org/drawingml/2006/main">
            <a:off x="876300" y="294322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Combines formal differential privacy with Byzantine robustness.</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Uses longitudinal client momentum rather than one-round evidence only.</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DP-BREM+ protects updates and distributes DP-noise generation.</a:t>
            </a:r>
          </a:p>
        </p:txBody>
      </p:sp>
      <p:sp>
        <p:nvSpPr>
          <p:cNvPr id="27" name="dpbrem-limits-heading">
            <a:extLst xmlns:a="http://schemas.openxmlformats.org/drawingml/2006/main">
              <a:ext uri="{FF2B5EF4-FFF2-40B4-BE49-F238E27FC236}">
                <a16:creationId xmlns:a16="http://schemas.microsoft.com/office/drawing/2014/main" id="{7F5ADE2B-7DAA-40E7-A26B-881AE9713F3D}"/>
              </a:ext>
            </a:extLst>
          </p:cNvPr>
          <p:cNvSpPr>
            <a:spLocks xmlns:a="http://schemas.openxmlformats.org/drawingml/2006/main" noGrp="1"/>
          </p:cNvSpPr>
          <p:nvPr/>
        </p:nvSpPr>
        <p:spPr>
          <a:xfrm xmlns:a="http://schemas.openxmlformats.org/drawingml/2006/main">
            <a:off x="647700" y="4095750"/>
            <a:ext cx="6572250" cy="323850"/>
          </a:xfrm>
          <a:prstGeom xmlns:a="http://schemas.openxmlformats.org/drawingml/2006/main" prst="rect">
            <a:avLst/>
          </a:prstGeom>
          <a:solidFill xmlns:a="http://schemas.openxmlformats.org/drawingml/2006/main">
            <a:srgbClr val="FFF0EE"/>
          </a:solidFill>
          <a:ln xmlns:a="http://schemas.openxmlformats.org/drawingml/2006/main" w="10478">
            <a:solidFill>
              <a:srgbClr val="B42318"/>
            </a:solidFill>
          </a:ln>
        </p:spPr>
        <p:txBody>
          <a:bodyPr xmlns:a="http://schemas.openxmlformats.org/drawingml/2006/main" anchor="ctr">
            <a:normAutofit fontScale="99924" lnSpcReduction="10000"/>
          </a:bodyPr>
          <a:lstStyle xmlns:a="http://schemas.openxmlformats.org/drawingml/2006/main"/>
          <a:p xmlns:a="http://schemas.openxmlformats.org/drawingml/2006/main">
            <a:pPr algn="l">
              <a:buNone/>
              <a:defRPr sz="1650" b="1">
                <a:solidFill>
                  <a:srgbClr val="B42318"/>
                </a:solidFill>
                <a:latin typeface="Arial"/>
                <a:ea typeface="Arial"/>
                <a:cs typeface="Arial"/>
              </a:defRPr>
            </a:pPr>
            <a:r>
              <a:rPr sz="1650" b="1">
                <a:solidFill>
                  <a:srgbClr val="B42318"/>
                </a:solidFill>
                <a:latin typeface="Arial"/>
                <a:ea typeface="Arial"/>
                <a:cs typeface="Arial"/>
              </a:rPr>
              <a:t>Limitations relative to this thesis</a:t>
            </a:r>
          </a:p>
        </p:txBody>
      </p:sp>
      <p:sp>
        <p:nvSpPr>
          <p:cNvPr id="28" name="dpbrem-limits-bullets">
            <a:extLst xmlns:a="http://schemas.openxmlformats.org/drawingml/2006/main">
              <a:ext uri="{FF2B5EF4-FFF2-40B4-BE49-F238E27FC236}">
                <a16:creationId xmlns:a16="http://schemas.microsoft.com/office/drawing/2014/main" id="{D70AFC31-2F3B-4376-9C4B-77CADBBA7201}"/>
              </a:ext>
            </a:extLst>
          </p:cNvPr>
          <p:cNvSpPr>
            <a:spLocks xmlns:a="http://schemas.openxmlformats.org/drawingml/2006/main" noGrp="1"/>
          </p:cNvSpPr>
          <p:nvPr/>
        </p:nvSpPr>
        <p:spPr>
          <a:xfrm xmlns:a="http://schemas.openxmlformats.org/drawingml/2006/main">
            <a:off x="876300" y="444817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No cryptography-aware method for reducing encrypted wire payload.</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Robustness depends on client history and the stated Byzantine model.</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No clinical cohort, independent verifier, or external audit ledger.</a:t>
            </a:r>
          </a:p>
        </p:txBody>
      </p:sp>
      <p:sp>
        <p:nvSpPr>
          <p:cNvPr id="29" name="dpbrem-flow-title">
            <a:extLst xmlns:a="http://schemas.openxmlformats.org/drawingml/2006/main">
              <a:ext uri="{FF2B5EF4-FFF2-40B4-BE49-F238E27FC236}">
                <a16:creationId xmlns:a16="http://schemas.microsoft.com/office/drawing/2014/main" id="{B6A98EC0-9903-4A7D-A1D4-EE3552F6E2F8}"/>
              </a:ext>
            </a:extLst>
          </p:cNvPr>
          <p:cNvSpPr>
            <a:spLocks xmlns:a="http://schemas.openxmlformats.org/drawingml/2006/main" noGrp="1"/>
          </p:cNvSpPr>
          <p:nvPr/>
        </p:nvSpPr>
        <p:spPr>
          <a:xfrm xmlns:a="http://schemas.openxmlformats.org/drawingml/2006/main">
            <a:off x="7810500" y="1790700"/>
            <a:ext cx="3476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333"/>
          </a:bodyPr>
          <a:lstStyle xmlns:a="http://schemas.openxmlformats.org/drawingml/2006/main"/>
          <a:p xmlns:a="http://schemas.openxmlformats.org/drawingml/2006/main">
            <a:pPr algn="ctr">
              <a:buNone/>
              <a:defRPr sz="1500" b="1">
                <a:solidFill>
                  <a:srgbClr val="1E3A5F"/>
                </a:solidFill>
                <a:latin typeface="Arial"/>
                <a:ea typeface="Arial"/>
                <a:cs typeface="Arial"/>
              </a:defRPr>
            </a:pPr>
            <a:r>
              <a:rPr sz="1500" b="1">
                <a:solidFill>
                  <a:srgbClr val="1E3A5F"/>
                </a:solidFill>
                <a:latin typeface="Arial"/>
                <a:ea typeface="Arial"/>
                <a:cs typeface="Arial"/>
              </a:rPr>
              <a:t>DP-BREM+ conceptual workflow</a:t>
            </a:r>
          </a:p>
        </p:txBody>
      </p:sp>
      <p:sp>
        <p:nvSpPr>
          <p:cNvPr id="30" name="dpbrem-box-1">
            <a:extLst xmlns:a="http://schemas.openxmlformats.org/drawingml/2006/main">
              <a:ext uri="{FF2B5EF4-FFF2-40B4-BE49-F238E27FC236}">
                <a16:creationId xmlns:a16="http://schemas.microsoft.com/office/drawing/2014/main" id="{85AD0CC3-6582-47EC-AFD5-193500F7E74A}"/>
              </a:ext>
            </a:extLst>
          </p:cNvPr>
          <p:cNvSpPr>
            <a:spLocks xmlns:a="http://schemas.openxmlformats.org/drawingml/2006/main" noGrp="1"/>
          </p:cNvSpPr>
          <p:nvPr/>
        </p:nvSpPr>
        <p:spPr>
          <a:xfrm xmlns:a="http://schemas.openxmlformats.org/drawingml/2006/main">
            <a:off x="8143875" y="2190750"/>
            <a:ext cx="2809875" cy="476250"/>
          </a:xfrm>
          <a:prstGeom xmlns:a="http://schemas.openxmlformats.org/drawingml/2006/main" prst="rect">
            <a:avLst/>
          </a:prstGeom>
          <a:solidFill xmlns:a="http://schemas.openxmlformats.org/drawingml/2006/main">
            <a:srgbClr val="EAF4F8"/>
          </a:solidFill>
          <a:ln xmlns:a="http://schemas.openxmlformats.org/drawingml/2006/main" w="13335">
            <a:solidFill>
              <a:srgbClr val="1E3A5F"/>
            </a:solidFill>
          </a:ln>
        </p:spPr>
        <p:txBody>
          <a:bodyPr xmlns:a="http://schemas.openxmlformats.org/drawingml/2006/main" anchor="ctr">
            <a:normAutofit/>
          </a:bodyPr>
          <a:lstStyle xmlns:a="http://schemas.openxmlformats.org/drawingml/2006/main"/>
          <a:p xmlns:a="http://schemas.openxmlformats.org/drawingml/2006/main">
            <a:pPr algn="ctr">
              <a:buNone/>
              <a:defRPr sz="1275" b="1">
                <a:solidFill>
                  <a:srgbClr val="1E3A5F"/>
                </a:solidFill>
                <a:latin typeface="Arial"/>
                <a:ea typeface="Arial"/>
                <a:cs typeface="Arial"/>
              </a:defRPr>
            </a:pPr>
            <a:r>
              <a:rPr sz="1275" b="1">
                <a:solidFill>
                  <a:srgbClr val="1E3A5F"/>
                </a:solidFill>
                <a:latin typeface="Arial"/>
                <a:ea typeface="Arial"/>
                <a:cs typeface="Arial"/>
              </a:rPr>
              <a:t>Current client update</a:t>
            </a:r>
          </a:p>
        </p:txBody>
      </p:sp>
      <p:sp>
        <p:nvSpPr>
          <p:cNvPr id="31" name="dpbrem-arrow-1">
            <a:extLst xmlns:a="http://schemas.openxmlformats.org/drawingml/2006/main">
              <a:ext uri="{FF2B5EF4-FFF2-40B4-BE49-F238E27FC236}">
                <a16:creationId xmlns:a16="http://schemas.microsoft.com/office/drawing/2014/main" id="{FAC0B191-6093-4CC0-B157-6C9D9FBD46AF}"/>
              </a:ext>
            </a:extLst>
          </p:cNvPr>
          <p:cNvSpPr>
            <a:spLocks xmlns:a="http://schemas.openxmlformats.org/drawingml/2006/main" noGrp="1"/>
          </p:cNvSpPr>
          <p:nvPr/>
        </p:nvSpPr>
        <p:spPr>
          <a:xfrm xmlns:a="http://schemas.openxmlformats.org/drawingml/2006/main">
            <a:off x="8858250" y="2667000"/>
            <a:ext cx="1381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702" lnSpcReduction="10000"/>
          </a:bodyPr>
          <a:lstStyle xmlns:a="http://schemas.openxmlformats.org/drawingml/2006/main"/>
          <a:p xmlns:a="http://schemas.openxmlformats.org/drawingml/2006/main">
            <a:pPr algn="ctr">
              <a:buNone/>
              <a:defRPr sz="1425" b="1">
                <a:solidFill>
                  <a:srgbClr val="008A46"/>
                </a:solidFill>
                <a:latin typeface="Arial"/>
                <a:ea typeface="Arial"/>
                <a:cs typeface="Arial"/>
              </a:defRPr>
            </a:pPr>
            <a:r>
              <a:rPr sz="1425" b="1">
                <a:solidFill>
                  <a:srgbClr val="008A46"/>
                </a:solidFill>
                <a:latin typeface="Arial"/>
                <a:ea typeface="Arial"/>
                <a:cs typeface="Arial"/>
              </a:rPr>
              <a:t>+ history ↓</a:t>
            </a:r>
          </a:p>
        </p:txBody>
      </p:sp>
      <p:sp>
        <p:nvSpPr>
          <p:cNvPr id="32" name="dpbrem-box-2">
            <a:extLst xmlns:a="http://schemas.openxmlformats.org/drawingml/2006/main">
              <a:ext uri="{FF2B5EF4-FFF2-40B4-BE49-F238E27FC236}">
                <a16:creationId xmlns:a16="http://schemas.microsoft.com/office/drawing/2014/main" id="{489914B5-E8C6-46A0-894A-1B6B972621A9}"/>
              </a:ext>
            </a:extLst>
          </p:cNvPr>
          <p:cNvSpPr>
            <a:spLocks xmlns:a="http://schemas.openxmlformats.org/drawingml/2006/main" noGrp="1"/>
          </p:cNvSpPr>
          <p:nvPr/>
        </p:nvSpPr>
        <p:spPr>
          <a:xfrm xmlns:a="http://schemas.openxmlformats.org/drawingml/2006/main">
            <a:off x="8143875" y="2933700"/>
            <a:ext cx="2809875" cy="476250"/>
          </a:xfrm>
          <a:prstGeom xmlns:a="http://schemas.openxmlformats.org/drawingml/2006/main" prst="rect">
            <a:avLst/>
          </a:prstGeom>
          <a:solidFill xmlns:a="http://schemas.openxmlformats.org/drawingml/2006/main">
            <a:srgbClr val="FFF4E5"/>
          </a:solidFill>
          <a:ln xmlns:a="http://schemas.openxmlformats.org/drawingml/2006/main" w="13335">
            <a:solidFill>
              <a:srgbClr val="D97706"/>
            </a:solidFill>
          </a:ln>
        </p:spPr>
        <p:txBody>
          <a:bodyPr xmlns:a="http://schemas.openxmlformats.org/drawingml/2006/main" anchor="ctr">
            <a:normAutofit/>
          </a:bodyPr>
          <a:lstStyle xmlns:a="http://schemas.openxmlformats.org/drawingml/2006/main"/>
          <a:p xmlns:a="http://schemas.openxmlformats.org/drawingml/2006/main">
            <a:pPr algn="ctr">
              <a:buNone/>
              <a:defRPr sz="1275" b="1">
                <a:solidFill>
                  <a:srgbClr val="D97706"/>
                </a:solidFill>
                <a:latin typeface="Arial"/>
                <a:ea typeface="Arial"/>
                <a:cs typeface="Arial"/>
              </a:defRPr>
            </a:pPr>
            <a:r>
              <a:rPr sz="1275" b="1">
                <a:solidFill>
                  <a:srgbClr val="D97706"/>
                </a:solidFill>
                <a:latin typeface="Arial"/>
                <a:ea typeface="Arial"/>
                <a:cs typeface="Arial"/>
              </a:rPr>
              <a:t>Client momentum</a:t>
            </a:r>
          </a:p>
        </p:txBody>
      </p:sp>
      <p:sp>
        <p:nvSpPr>
          <p:cNvPr id="33" name="dpbrem-arrow-2">
            <a:extLst xmlns:a="http://schemas.openxmlformats.org/drawingml/2006/main">
              <a:ext uri="{FF2B5EF4-FFF2-40B4-BE49-F238E27FC236}">
                <a16:creationId xmlns:a16="http://schemas.microsoft.com/office/drawing/2014/main" id="{DBFF3B59-114D-4424-855D-3E8FC3254FA2}"/>
              </a:ext>
            </a:extLst>
          </p:cNvPr>
          <p:cNvSpPr>
            <a:spLocks xmlns:a="http://schemas.openxmlformats.org/drawingml/2006/main" noGrp="1"/>
          </p:cNvSpPr>
          <p:nvPr/>
        </p:nvSpPr>
        <p:spPr>
          <a:xfrm xmlns:a="http://schemas.openxmlformats.org/drawingml/2006/main">
            <a:off x="9096375" y="3409950"/>
            <a:ext cx="904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889" lnSpcReduction="10000"/>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a:t>
            </a:r>
          </a:p>
        </p:txBody>
      </p:sp>
      <p:sp>
        <p:nvSpPr>
          <p:cNvPr id="34" name="dpbrem-box-3">
            <a:extLst xmlns:a="http://schemas.openxmlformats.org/drawingml/2006/main">
              <a:ext uri="{FF2B5EF4-FFF2-40B4-BE49-F238E27FC236}">
                <a16:creationId xmlns:a16="http://schemas.microsoft.com/office/drawing/2014/main" id="{76EFEE9B-8AD6-49EB-A7CD-54177B73592C}"/>
              </a:ext>
            </a:extLst>
          </p:cNvPr>
          <p:cNvSpPr>
            <a:spLocks xmlns:a="http://schemas.openxmlformats.org/drawingml/2006/main" noGrp="1"/>
          </p:cNvSpPr>
          <p:nvPr/>
        </p:nvSpPr>
        <p:spPr>
          <a:xfrm xmlns:a="http://schemas.openxmlformats.org/drawingml/2006/main">
            <a:off x="8143875" y="3676650"/>
            <a:ext cx="2809875" cy="59055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a:bodyPr>
          <a:lstStyle xmlns:a="http://schemas.openxmlformats.org/drawingml/2006/main"/>
          <a:p xmlns:a="http://schemas.openxmlformats.org/drawingml/2006/main">
            <a:pPr algn="ctr">
              <a:buNone/>
              <a:defRPr sz="1200" b="1">
                <a:solidFill>
                  <a:srgbClr val="008A46"/>
                </a:solidFill>
                <a:latin typeface="Arial"/>
                <a:ea typeface="Arial"/>
                <a:cs typeface="Arial"/>
              </a:defRPr>
            </a:pPr>
            <a:r>
              <a:rPr sz="1200" b="1">
                <a:solidFill>
                  <a:srgbClr val="008A46"/>
                </a:solidFill>
                <a:latin typeface="Arial"/>
                <a:ea typeface="Arial"/>
                <a:cs typeface="Arial"/>
              </a:rPr>
              <a:t>Secure aggregation + jointly generated DP noise</a:t>
            </a:r>
          </a:p>
        </p:txBody>
      </p:sp>
      <p:sp>
        <p:nvSpPr>
          <p:cNvPr id="35" name="dpbrem-arrow-3">
            <a:extLst xmlns:a="http://schemas.openxmlformats.org/drawingml/2006/main">
              <a:ext uri="{FF2B5EF4-FFF2-40B4-BE49-F238E27FC236}">
                <a16:creationId xmlns:a16="http://schemas.microsoft.com/office/drawing/2014/main" id="{57140725-AD0A-4D8B-9323-4116EDEABB38}"/>
              </a:ext>
            </a:extLst>
          </p:cNvPr>
          <p:cNvSpPr>
            <a:spLocks xmlns:a="http://schemas.openxmlformats.org/drawingml/2006/main" noGrp="1"/>
          </p:cNvSpPr>
          <p:nvPr/>
        </p:nvSpPr>
        <p:spPr>
          <a:xfrm xmlns:a="http://schemas.openxmlformats.org/drawingml/2006/main">
            <a:off x="9096375" y="4267200"/>
            <a:ext cx="904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889" lnSpcReduction="10000"/>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a:t>
            </a:r>
          </a:p>
        </p:txBody>
      </p:sp>
      <p:sp>
        <p:nvSpPr>
          <p:cNvPr id="36" name="dpbrem-box-4">
            <a:extLst xmlns:a="http://schemas.openxmlformats.org/drawingml/2006/main">
              <a:ext uri="{FF2B5EF4-FFF2-40B4-BE49-F238E27FC236}">
                <a16:creationId xmlns:a16="http://schemas.microsoft.com/office/drawing/2014/main" id="{9D79AF4E-D1A8-429E-8E4C-A777FAA393AA}"/>
              </a:ext>
            </a:extLst>
          </p:cNvPr>
          <p:cNvSpPr>
            <a:spLocks xmlns:a="http://schemas.openxmlformats.org/drawingml/2006/main" noGrp="1"/>
          </p:cNvSpPr>
          <p:nvPr/>
        </p:nvSpPr>
        <p:spPr>
          <a:xfrm xmlns:a="http://schemas.openxmlformats.org/drawingml/2006/main">
            <a:off x="8143875" y="4533900"/>
            <a:ext cx="2809875" cy="49530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a:bodyPr>
          <a:lstStyle xmlns:a="http://schemas.openxmlformats.org/drawingml/2006/main"/>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Private, robust global model</a:t>
            </a:r>
          </a:p>
        </p:txBody>
      </p:sp>
      <p:sp>
        <p:nvSpPr>
          <p:cNvPr id="37" name="dpbrem-diagram-caption">
            <a:extLst xmlns:a="http://schemas.openxmlformats.org/drawingml/2006/main">
              <a:ext uri="{FF2B5EF4-FFF2-40B4-BE49-F238E27FC236}">
                <a16:creationId xmlns:a16="http://schemas.microsoft.com/office/drawing/2014/main" id="{B65D6B49-D9FB-4BB7-8903-DA30D5465A73}"/>
              </a:ext>
            </a:extLst>
          </p:cNvPr>
          <p:cNvSpPr>
            <a:spLocks xmlns:a="http://schemas.openxmlformats.org/drawingml/2006/main" noGrp="1"/>
          </p:cNvSpPr>
          <p:nvPr/>
        </p:nvSpPr>
        <p:spPr>
          <a:xfrm xmlns:a="http://schemas.openxmlformats.org/drawingml/2006/main">
            <a:off x="7810500" y="5162550"/>
            <a:ext cx="3476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125" i="1">
                <a:solidFill>
                  <a:srgbClr val="52606D"/>
                </a:solidFill>
                <a:latin typeface="Arial"/>
                <a:ea typeface="Arial"/>
                <a:cs typeface="Arial"/>
              </a:defRPr>
            </a:pPr>
            <a:r>
              <a:rPr sz="1125" i="1">
                <a:solidFill>
                  <a:srgbClr val="52606D"/>
                </a:solidFill>
                <a:latin typeface="Arial"/>
                <a:ea typeface="Arial"/>
                <a:cs typeface="Arial"/>
              </a:rPr>
              <a:t>History, privacy, and robustness are linked [17].</a:t>
            </a:r>
          </a:p>
        </p:txBody>
      </p:sp>
    </p:spTree>
    <p:extLst>
      <p:ext uri="{BB962C8B-B14F-4D97-AF65-F5344CB8AC3E}">
        <p14:creationId xmlns:p14="http://schemas.microsoft.com/office/powerpoint/2010/main" val="970286495"/>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Related Studies (3/3)</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13</a:t>
            </a:r>
            <a:endParaRPr sz="2800"/>
          </a:p>
        </p:txBody>
      </p:sp>
      <p:pic>
        <p:nvPicPr>
          <p:cNvPr id="251"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2d19b3696bc84ad9">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52"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6087c583fe554a46">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table-caption-rs3">
            <a:extLst xmlns:a="http://schemas.openxmlformats.org/drawingml/2006/main">
              <a:ext uri="{FF2B5EF4-FFF2-40B4-BE49-F238E27FC236}">
                <a16:creationId xmlns:a16="http://schemas.microsoft.com/office/drawing/2014/main" id="{D5FB49E3-377F-4081-9952-52800B850D3C}"/>
              </a:ext>
            </a:extLst>
          </p:cNvPr>
          <p:cNvSpPr>
            <a:spLocks xmlns:a="http://schemas.openxmlformats.org/drawingml/2006/main" noGrp="1"/>
          </p:cNvSpPr>
          <p:nvPr/>
        </p:nvSpPr>
        <p:spPr>
          <a:xfrm xmlns:a="http://schemas.openxmlformats.org/drawingml/2006/main">
            <a:off x="1428750" y="1143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III. Capability map of recent integrated methods</a:t>
            </a:r>
          </a:p>
        </p:txBody>
      </p:sp>
      <p:graphicFrame>
        <p:nvGraphicFramePr>
          <p:cNvPr id="255" name="Table 255"/>
          <p:cNvGraphicFramePr/>
          <p:nvPr/>
        </p:nvGraphicFramePr>
        <p:xfrm>
          <a:off xmlns:a="http://schemas.openxmlformats.org/drawingml/2006/main" x="428625" y="1571625"/>
          <a:ext xmlns:a="http://schemas.openxmlformats.org/drawingml/2006/main" cx="11334750" cy="4000500"/>
        </p:xfrm>
        <a:graphic xmlns:a="http://schemas.openxmlformats.org/drawingml/2006/main">
          <a:graphicData uri="http://schemas.openxmlformats.org/drawingml/2006/table">
            <a:tbl>
              <a:tblPr firstRow="1" bandRow="1"/>
              <a:tblGrid>
                <a:gridCol w="1524000"/>
                <a:gridCol w="1809750"/>
                <a:gridCol w="1285875"/>
                <a:gridCol w="2190750"/>
                <a:gridCol w="2143125"/>
                <a:gridCol w="2381250"/>
              </a:tblGrid>
              <a:tr h="666750">
                <a:tc>
                  <a:txBody>
                    <a:bodyPr/>
                    <a:lstStyle/>
                    <a:p>
                      <a:r>
                        <a:rPr sz="1163" b="1">
                          <a:solidFill>
                            <a:srgbClr val="FFFFFF"/>
                          </a:solidFill>
                          <a:latin typeface="Arial"/>
                          <a:ea typeface="Arial"/>
                          <a:cs typeface="Arial"/>
                        </a:rPr>
                        <a:t>Method</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Healthcare evidence</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Formal DP</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Protected aggregation</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Wire-aware compression</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Poisoning defence</a:t>
                      </a:r>
                    </a:p>
                  </a:txBody>
                  <a:tcPr marL="66675" marR="66675" marT="47625" marB="47625" anchor="ctr">
                    <a:solidFill>
                      <a:srgbClr val="17365D"/>
                    </a:solidFill>
                  </a:tcPr>
                </a:tc>
              </a:tr>
              <a:tr h="666750">
                <a:tc>
                  <a:txBody>
                    <a:bodyPr/>
                    <a:lstStyle/>
                    <a:p>
                      <a:r>
                        <a:rPr sz="1125">
                          <a:solidFill>
                            <a:srgbClr val="1F2937"/>
                          </a:solidFill>
                          <a:latin typeface="Arial"/>
                          <a:ea typeface="Arial"/>
                          <a:cs typeface="Arial"/>
                        </a:rPr>
                        <a:t>FLDP [11]</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Protocol-level</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DDFed [16]</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DP-BREM+ [17]</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PREAMBLE [18]</a:t>
                      </a:r>
                    </a:p>
                  </a:txBody>
                  <a:tcPr marL="66675" marR="66675" marT="47625" marB="47625" anchor="ctr">
                    <a:solidFill>
                      <a:srgbClr val="FFFFFF"/>
                    </a:solidFill>
                  </a:tcPr>
                </a:tc>
                <a:tc>
                  <a:txBody>
                    <a:bodyPr/>
                    <a:lstStyle/>
                    <a:p>
                      <a:r>
                        <a:rPr sz="1125">
                          <a:solidFill>
                            <a:srgbClr val="1F2937"/>
                          </a:solidFill>
                          <a:latin typeface="Arial"/>
                          <a:ea typeface="Arial"/>
                          <a:cs typeface="Arial"/>
                        </a:rPr>
                        <a:t>Different task</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CAABC-FL</a:t>
                      </a:r>
                    </a:p>
                  </a:txBody>
                  <a:tcPr marL="66675" marR="66675" marT="47625" marB="47625" anchor="ctr">
                    <a:solidFill>
                      <a:srgbClr val="FFFFFF"/>
                    </a:solidFill>
                  </a:tcPr>
                </a:tc>
                <a:tc>
                  <a:txBody>
                    <a:bodyPr/>
                    <a:lstStyle/>
                    <a:p>
                      <a:r>
                        <a:rPr sz="1125">
                          <a:solidFill>
                            <a:srgbClr val="1F2937"/>
                          </a:solidFill>
                          <a:latin typeface="Arial"/>
                          <a:ea typeface="Arial"/>
                          <a:cs typeface="Arial"/>
                        </a:rPr>
                        <a:t>PhysioNet 2019</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CKKS sum path</a:t>
                      </a:r>
                    </a:p>
                  </a:txBody>
                  <a:tcPr marL="66675" marR="66675" marT="47625" marB="47625" anchor="ctr">
                    <a:solidFill>
                      <a:srgbClr val="FFFFFF"/>
                    </a:solidFill>
                  </a:tcPr>
                </a:tc>
                <a:tc>
                  <a:txBody>
                    <a:bodyPr/>
                    <a:lstStyle/>
                    <a:p>
                      <a:r>
                        <a:rPr sz="1125">
                          <a:solidFill>
                            <a:srgbClr val="1F2937"/>
                          </a:solidFill>
                          <a:latin typeface="Arial"/>
                          <a:ea typeface="Arial"/>
                          <a:cs typeface="Arial"/>
                        </a:rPr>
                        <a:t>Measured bytes</a:t>
                      </a:r>
                    </a:p>
                  </a:txBody>
                  <a:tcPr marL="66675" marR="66675" marT="47625" marB="47625" anchor="ctr">
                    <a:solidFill>
                      <a:srgbClr val="FFFFFF"/>
                    </a:solidFill>
                  </a:tcPr>
                </a:tc>
                <a:tc>
                  <a:txBody>
                    <a:bodyPr/>
                    <a:lstStyle/>
                    <a:p>
                      <a:r>
                        <a:rPr sz="1125">
                          <a:solidFill>
                            <a:srgbClr val="1F2937"/>
                          </a:solidFill>
                          <a:latin typeface="Arial"/>
                          <a:ea typeface="Arial"/>
                          <a:cs typeface="Arial"/>
                        </a:rPr>
                        <a:t>Release control</a:t>
                      </a:r>
                    </a:p>
                  </a:txBody>
                  <a:tcPr marL="66675" marR="66675" marT="47625" marB="47625" anchor="ctr">
                    <a:solidFill>
                      <a:srgbClr val="FFFFFF"/>
                    </a:solidFill>
                  </a:tcPr>
                </a:tc>
              </a:tr>
            </a:tbl>
          </a:graphicData>
        </a:graphic>
      </p:graphicFrame>
      <p:sp>
        <p:nvSpPr>
          <p:cNvPr id="222" name="rs3-note">
            <a:extLst xmlns:a="http://schemas.openxmlformats.org/drawingml/2006/main">
              <a:ext uri="{FF2B5EF4-FFF2-40B4-BE49-F238E27FC236}">
                <a16:creationId xmlns:a16="http://schemas.microsoft.com/office/drawing/2014/main" id="{3CBE3883-65EE-4FF6-905B-D06FF17E7E80}"/>
              </a:ext>
            </a:extLst>
          </p:cNvPr>
          <p:cNvSpPr>
            <a:spLocks xmlns:a="http://schemas.openxmlformats.org/drawingml/2006/main" noGrp="1"/>
          </p:cNvSpPr>
          <p:nvPr/>
        </p:nvSpPr>
        <p:spPr>
          <a:xfrm xmlns:a="http://schemas.openxmlformats.org/drawingml/2006/main">
            <a:off x="1428750" y="5715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500" b="0" i="1">
                <a:solidFill>
                  <a:srgbClr val="5B6573"/>
                </a:solidFill>
                <a:latin typeface="Arial"/>
                <a:ea typeface="Arial"/>
                <a:cs typeface="Arial"/>
              </a:defRPr>
            </a:pPr>
            <a:r>
              <a:rPr sz="1500" b="0" i="1">
                <a:solidFill>
                  <a:srgbClr val="5B6573"/>
                </a:solidFill>
                <a:latin typeface="Arial"/>
                <a:ea typeface="Arial"/>
                <a:cs typeface="Arial"/>
              </a:rPr>
              <a:t>The rows use different datasets and threat models, so this map describes scope rather than rank.</a:t>
            </a:r>
          </a:p>
        </p:txBody>
      </p:sp>
      <p:sp>
        <p:nvSpPr>
          <p:cNvPr id="226" name="visible-footer-date-11">
            <a:extLst xmlns:a="http://schemas.openxmlformats.org/drawingml/2006/main">
              <a:ext uri="{FF2B5EF4-FFF2-40B4-BE49-F238E27FC236}">
                <a16:creationId xmlns:a16="http://schemas.microsoft.com/office/drawing/2014/main" id="{AC6EAD33-26BD-47B1-84B2-8A6BC3518A86}"/>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30" name="related-study-cover-3">
            <a:extLst xmlns:a="http://schemas.openxmlformats.org/drawingml/2006/main">
              <a:ext uri="{FF2B5EF4-FFF2-40B4-BE49-F238E27FC236}">
                <a16:creationId xmlns:a16="http://schemas.microsoft.com/office/drawing/2014/main" id="{D497C4B0-9EA7-4670-A3B0-930037AA052F}"/>
              </a:ext>
            </a:extLst>
          </p:cNvPr>
          <p:cNvSpPr>
            <a:spLocks xmlns:a="http://schemas.openxmlformats.org/drawingml/2006/main" noGrp="1"/>
          </p:cNvSpPr>
          <p:nvPr/>
        </p:nvSpPr>
        <p:spPr>
          <a:xfrm xmlns:a="http://schemas.openxmlformats.org/drawingml/2006/main">
            <a:off x="428625" y="1066800"/>
            <a:ext cx="1133475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31" name="paper-title-3">
            <a:extLst xmlns:a="http://schemas.openxmlformats.org/drawingml/2006/main">
              <a:ext uri="{FF2B5EF4-FFF2-40B4-BE49-F238E27FC236}">
                <a16:creationId xmlns:a16="http://schemas.microsoft.com/office/drawing/2014/main" id="{5ED14AEF-C3C5-4B85-8F43-F00DDB2BF860}"/>
              </a:ext>
            </a:extLst>
          </p:cNvPr>
          <p:cNvSpPr>
            <a:spLocks xmlns:a="http://schemas.openxmlformats.org/drawingml/2006/main" noGrp="1"/>
          </p:cNvSpPr>
          <p:nvPr/>
        </p:nvSpPr>
        <p:spPr>
          <a:xfrm xmlns:a="http://schemas.openxmlformats.org/drawingml/2006/main">
            <a:off x="666750" y="112395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PREAMBLE: Private and Efficient Aggregation via Block Sparse Vectors [18]</a:t>
            </a:r>
          </a:p>
        </p:txBody>
      </p:sp>
      <p:sp>
        <p:nvSpPr>
          <p:cNvPr id="232" name="paper-summary-3">
            <a:extLst xmlns:a="http://schemas.openxmlformats.org/drawingml/2006/main">
              <a:ext uri="{FF2B5EF4-FFF2-40B4-BE49-F238E27FC236}">
                <a16:creationId xmlns:a16="http://schemas.microsoft.com/office/drawing/2014/main" id="{63420EE7-E716-40DE-912F-1D4814E18315}"/>
              </a:ext>
            </a:extLst>
          </p:cNvPr>
          <p:cNvSpPr>
            <a:spLocks xmlns:a="http://schemas.openxmlformats.org/drawingml/2006/main" noGrp="1"/>
          </p:cNvSpPr>
          <p:nvPr/>
        </p:nvSpPr>
        <p:spPr>
          <a:xfrm xmlns:a="http://schemas.openxmlformats.org/drawingml/2006/main">
            <a:off x="666750" y="1714500"/>
            <a:ext cx="6572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425">
                <a:solidFill>
                  <a:srgbClr val="1F2937"/>
                </a:solidFill>
                <a:latin typeface="Arial"/>
                <a:ea typeface="Arial"/>
                <a:cs typeface="Arial"/>
              </a:defRPr>
            </a:pPr>
            <a:r>
              <a:rPr sz="1425">
                <a:solidFill>
                  <a:srgbClr val="1F2937"/>
                </a:solidFill>
                <a:latin typeface="Arial"/>
                <a:ea typeface="Arial"/>
                <a:cs typeface="Arial"/>
              </a:rPr>
              <a:t>PREAMBLE co-designs a two-server private-aggregation protocol with block-sparse vectors, distributed point functions, sampling, and privacy amplification to reduce high-dimensional communication.</a:t>
            </a:r>
          </a:p>
        </p:txBody>
      </p:sp>
      <p:sp>
        <p:nvSpPr>
          <p:cNvPr id="233" name="paper-source-3">
            <a:extLst xmlns:a="http://schemas.openxmlformats.org/drawingml/2006/main">
              <a:ext uri="{FF2B5EF4-FFF2-40B4-BE49-F238E27FC236}">
                <a16:creationId xmlns:a16="http://schemas.microsoft.com/office/drawing/2014/main" id="{6ECDB239-EFD8-48A5-8284-10E99DFADF9C}"/>
              </a:ext>
            </a:extLst>
          </p:cNvPr>
          <p:cNvSpPr>
            <a:spLocks xmlns:a="http://schemas.openxmlformats.org/drawingml/2006/main" noGrp="1"/>
          </p:cNvSpPr>
          <p:nvPr/>
        </p:nvSpPr>
        <p:spPr>
          <a:xfrm xmlns:a="http://schemas.openxmlformats.org/drawingml/2006/main">
            <a:off x="666750" y="5829300"/>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013" i="1">
                <a:solidFill>
                  <a:srgbClr val="52606D"/>
                </a:solidFill>
                <a:latin typeface="Arial"/>
                <a:ea typeface="Arial"/>
                <a:cs typeface="Arial"/>
              </a:defRPr>
            </a:pPr>
            <a:r>
              <a:rPr sz="1013" i="1">
                <a:solidFill>
                  <a:srgbClr val="52606D"/>
                </a:solidFill>
                <a:latin typeface="Arial"/>
                <a:ea typeface="Arial"/>
                <a:cs typeface="Arial"/>
              </a:rPr>
              <a:t>Source: Asi et al., NeurIPS 2025 [18].</a:t>
            </a:r>
          </a:p>
        </p:txBody>
      </p:sp>
      <p:sp>
        <p:nvSpPr>
          <p:cNvPr id="234" name="preamble-strengths-heading">
            <a:extLst xmlns:a="http://schemas.openxmlformats.org/drawingml/2006/main">
              <a:ext uri="{FF2B5EF4-FFF2-40B4-BE49-F238E27FC236}">
                <a16:creationId xmlns:a16="http://schemas.microsoft.com/office/drawing/2014/main" id="{4A5652FD-A1B3-4E80-8D03-0F9199010238}"/>
              </a:ext>
            </a:extLst>
          </p:cNvPr>
          <p:cNvSpPr>
            <a:spLocks xmlns:a="http://schemas.openxmlformats.org/drawingml/2006/main" noGrp="1"/>
          </p:cNvSpPr>
          <p:nvPr/>
        </p:nvSpPr>
        <p:spPr>
          <a:xfrm xmlns:a="http://schemas.openxmlformats.org/drawingml/2006/main">
            <a:off x="647700" y="2590800"/>
            <a:ext cx="6572250" cy="323850"/>
          </a:xfrm>
          <a:prstGeom xmlns:a="http://schemas.openxmlformats.org/drawingml/2006/main" prst="rect">
            <a:avLst/>
          </a:prstGeom>
          <a:solidFill xmlns:a="http://schemas.openxmlformats.org/drawingml/2006/main">
            <a:srgbClr val="EAF7F0"/>
          </a:solidFill>
          <a:ln xmlns:a="http://schemas.openxmlformats.org/drawingml/2006/main" w="10478">
            <a:solidFill>
              <a:srgbClr val="008A46"/>
            </a:solidFill>
          </a:ln>
        </p:spPr>
        <p:txBody>
          <a:bodyPr xmlns:a="http://schemas.openxmlformats.org/drawingml/2006/main" anchor="ctr">
            <a:normAutofit fontScale="99924" lnSpcReduction="10000"/>
          </a:bodyPr>
          <a:lstStyle xmlns:a="http://schemas.openxmlformats.org/drawingml/2006/main"/>
          <a:p xmlns:a="http://schemas.openxmlformats.org/drawingml/2006/main">
            <a:pPr algn="l">
              <a:buNone/>
              <a:defRPr sz="1650" b="1">
                <a:solidFill>
                  <a:srgbClr val="008A46"/>
                </a:solidFill>
                <a:latin typeface="Arial"/>
                <a:ea typeface="Arial"/>
                <a:cs typeface="Arial"/>
              </a:defRPr>
            </a:pPr>
            <a:r>
              <a:rPr sz="1650" b="1">
                <a:solidFill>
                  <a:srgbClr val="008A46"/>
                </a:solidFill>
                <a:latin typeface="Arial"/>
                <a:ea typeface="Arial"/>
                <a:cs typeface="Arial"/>
              </a:rPr>
              <a:t>Strengths</a:t>
            </a:r>
          </a:p>
        </p:txBody>
      </p:sp>
      <p:sp>
        <p:nvSpPr>
          <p:cNvPr id="235" name="preamble-strengths-bullets">
            <a:extLst xmlns:a="http://schemas.openxmlformats.org/drawingml/2006/main">
              <a:ext uri="{FF2B5EF4-FFF2-40B4-BE49-F238E27FC236}">
                <a16:creationId xmlns:a16="http://schemas.microsoft.com/office/drawing/2014/main" id="{F391703E-3566-48C2-927F-F2AEA5369EA1}"/>
              </a:ext>
            </a:extLst>
          </p:cNvPr>
          <p:cNvSpPr>
            <a:spLocks xmlns:a="http://schemas.openxmlformats.org/drawingml/2006/main" noGrp="1"/>
          </p:cNvSpPr>
          <p:nvPr/>
        </p:nvSpPr>
        <p:spPr>
          <a:xfrm xmlns:a="http://schemas.openxmlformats.org/drawingml/2006/main">
            <a:off x="876300" y="294322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Aligns the sparse representation with its protected transport protocol.</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Reduces communication and computation for block-sparse vectors.</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Provides formal privacy–utility analysis with low added noise overhead.</a:t>
            </a:r>
          </a:p>
        </p:txBody>
      </p:sp>
      <p:sp>
        <p:nvSpPr>
          <p:cNvPr id="236" name="preamble-limits-heading">
            <a:extLst xmlns:a="http://schemas.openxmlformats.org/drawingml/2006/main">
              <a:ext uri="{FF2B5EF4-FFF2-40B4-BE49-F238E27FC236}">
                <a16:creationId xmlns:a16="http://schemas.microsoft.com/office/drawing/2014/main" id="{4B8A7FFE-404D-41FC-99EE-43E4C50CAC78}"/>
              </a:ext>
            </a:extLst>
          </p:cNvPr>
          <p:cNvSpPr>
            <a:spLocks xmlns:a="http://schemas.openxmlformats.org/drawingml/2006/main" noGrp="1"/>
          </p:cNvSpPr>
          <p:nvPr/>
        </p:nvSpPr>
        <p:spPr>
          <a:xfrm xmlns:a="http://schemas.openxmlformats.org/drawingml/2006/main">
            <a:off x="647700" y="4095750"/>
            <a:ext cx="6572250" cy="323850"/>
          </a:xfrm>
          <a:prstGeom xmlns:a="http://schemas.openxmlformats.org/drawingml/2006/main" prst="rect">
            <a:avLst/>
          </a:prstGeom>
          <a:solidFill xmlns:a="http://schemas.openxmlformats.org/drawingml/2006/main">
            <a:srgbClr val="FFF0EE"/>
          </a:solidFill>
          <a:ln xmlns:a="http://schemas.openxmlformats.org/drawingml/2006/main" w="10478">
            <a:solidFill>
              <a:srgbClr val="B42318"/>
            </a:solidFill>
          </a:ln>
        </p:spPr>
        <p:txBody>
          <a:bodyPr xmlns:a="http://schemas.openxmlformats.org/drawingml/2006/main" anchor="ctr">
            <a:normAutofit fontScale="99924" lnSpcReduction="10000"/>
          </a:bodyPr>
          <a:lstStyle xmlns:a="http://schemas.openxmlformats.org/drawingml/2006/main"/>
          <a:p xmlns:a="http://schemas.openxmlformats.org/drawingml/2006/main">
            <a:pPr algn="l">
              <a:buNone/>
              <a:defRPr sz="1650" b="1">
                <a:solidFill>
                  <a:srgbClr val="B42318"/>
                </a:solidFill>
                <a:latin typeface="Arial"/>
                <a:ea typeface="Arial"/>
                <a:cs typeface="Arial"/>
              </a:defRPr>
            </a:pPr>
            <a:r>
              <a:rPr sz="1650" b="1">
                <a:solidFill>
                  <a:srgbClr val="B42318"/>
                </a:solidFill>
                <a:latin typeface="Arial"/>
                <a:ea typeface="Arial"/>
                <a:cs typeface="Arial"/>
              </a:rPr>
              <a:t>Limitations relative to this thesis</a:t>
            </a:r>
          </a:p>
        </p:txBody>
      </p:sp>
      <p:sp>
        <p:nvSpPr>
          <p:cNvPr id="237" name="preamble-limits-bullets">
            <a:extLst xmlns:a="http://schemas.openxmlformats.org/drawingml/2006/main">
              <a:ext uri="{FF2B5EF4-FFF2-40B4-BE49-F238E27FC236}">
                <a16:creationId xmlns:a16="http://schemas.microsoft.com/office/drawing/2014/main" id="{7243B988-B459-4C0B-80B6-9984718F584B}"/>
              </a:ext>
            </a:extLst>
          </p:cNvPr>
          <p:cNvSpPr>
            <a:spLocks xmlns:a="http://schemas.openxmlformats.org/drawingml/2006/main" noGrp="1"/>
          </p:cNvSpPr>
          <p:nvPr/>
        </p:nvSpPr>
        <p:spPr>
          <a:xfrm xmlns:a="http://schemas.openxmlformats.org/drawingml/2006/main">
            <a:off x="876300" y="444817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Requires two non-colluding aggregation servers.</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Targets vector aggregation rather than iterative CKKS clinical FL.</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Does not evaluate poisoning, release governance, or healthcare utility.</a:t>
            </a:r>
          </a:p>
        </p:txBody>
      </p:sp>
      <p:sp>
        <p:nvSpPr>
          <p:cNvPr id="238" name="preamble-flow-title">
            <a:extLst xmlns:a="http://schemas.openxmlformats.org/drawingml/2006/main">
              <a:ext uri="{FF2B5EF4-FFF2-40B4-BE49-F238E27FC236}">
                <a16:creationId xmlns:a16="http://schemas.microsoft.com/office/drawing/2014/main" id="{D73159F9-3ED5-44AA-8396-BFC2D15520CB}"/>
              </a:ext>
            </a:extLst>
          </p:cNvPr>
          <p:cNvSpPr>
            <a:spLocks xmlns:a="http://schemas.openxmlformats.org/drawingml/2006/main" noGrp="1"/>
          </p:cNvSpPr>
          <p:nvPr/>
        </p:nvSpPr>
        <p:spPr>
          <a:xfrm xmlns:a="http://schemas.openxmlformats.org/drawingml/2006/main">
            <a:off x="7810500" y="1790700"/>
            <a:ext cx="3476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333"/>
          </a:bodyPr>
          <a:lstStyle xmlns:a="http://schemas.openxmlformats.org/drawingml/2006/main"/>
          <a:p xmlns:a="http://schemas.openxmlformats.org/drawingml/2006/main">
            <a:pPr algn="ctr">
              <a:buNone/>
              <a:defRPr sz="1500" b="1">
                <a:solidFill>
                  <a:srgbClr val="1E3A5F"/>
                </a:solidFill>
                <a:latin typeface="Arial"/>
                <a:ea typeface="Arial"/>
                <a:cs typeface="Arial"/>
              </a:defRPr>
            </a:pPr>
            <a:r>
              <a:rPr sz="1500" b="1">
                <a:solidFill>
                  <a:srgbClr val="1E3A5F"/>
                </a:solidFill>
                <a:latin typeface="Arial"/>
                <a:ea typeface="Arial"/>
                <a:cs typeface="Arial"/>
              </a:rPr>
              <a:t>PREAMBLE conceptual workflow</a:t>
            </a:r>
          </a:p>
        </p:txBody>
      </p:sp>
      <p:sp>
        <p:nvSpPr>
          <p:cNvPr id="239" name="preamble-box-1">
            <a:extLst xmlns:a="http://schemas.openxmlformats.org/drawingml/2006/main">
              <a:ext uri="{FF2B5EF4-FFF2-40B4-BE49-F238E27FC236}">
                <a16:creationId xmlns:a16="http://schemas.microsoft.com/office/drawing/2014/main" id="{7AE7E345-6275-4DDE-B112-20A1C4E5EE2C}"/>
              </a:ext>
            </a:extLst>
          </p:cNvPr>
          <p:cNvSpPr>
            <a:spLocks xmlns:a="http://schemas.openxmlformats.org/drawingml/2006/main" noGrp="1"/>
          </p:cNvSpPr>
          <p:nvPr/>
        </p:nvSpPr>
        <p:spPr>
          <a:xfrm xmlns:a="http://schemas.openxmlformats.org/drawingml/2006/main">
            <a:off x="8143875" y="2190750"/>
            <a:ext cx="2809875" cy="495300"/>
          </a:xfrm>
          <a:prstGeom xmlns:a="http://schemas.openxmlformats.org/drawingml/2006/main" prst="rect">
            <a:avLst/>
          </a:prstGeom>
          <a:solidFill xmlns:a="http://schemas.openxmlformats.org/drawingml/2006/main">
            <a:srgbClr val="EAF4F8"/>
          </a:solidFill>
          <a:ln xmlns:a="http://schemas.openxmlformats.org/drawingml/2006/main" w="13335">
            <a:solidFill>
              <a:srgbClr val="1E3A5F"/>
            </a:solidFill>
          </a:ln>
        </p:spPr>
        <p:txBody>
          <a:bodyPr xmlns:a="http://schemas.openxmlformats.org/drawingml/2006/main" anchor="ctr">
            <a:normAutofit/>
          </a:bodyPr>
          <a:lstStyle xmlns:a="http://schemas.openxmlformats.org/drawingml/2006/main"/>
          <a:p xmlns:a="http://schemas.openxmlformats.org/drawingml/2006/main">
            <a:pPr algn="ctr">
              <a:buNone/>
              <a:defRPr sz="1275" b="1">
                <a:solidFill>
                  <a:srgbClr val="1E3A5F"/>
                </a:solidFill>
                <a:latin typeface="Arial"/>
                <a:ea typeface="Arial"/>
                <a:cs typeface="Arial"/>
              </a:defRPr>
            </a:pPr>
            <a:r>
              <a:rPr sz="1275" b="1">
                <a:solidFill>
                  <a:srgbClr val="1E3A5F"/>
                </a:solidFill>
                <a:latin typeface="Arial"/>
                <a:ea typeface="Arial"/>
                <a:cs typeface="Arial"/>
              </a:rPr>
              <a:t>Block-sparse client vector</a:t>
            </a:r>
          </a:p>
        </p:txBody>
      </p:sp>
      <p:sp>
        <p:nvSpPr>
          <p:cNvPr id="240" name="preamble-arrow-split">
            <a:extLst xmlns:a="http://schemas.openxmlformats.org/drawingml/2006/main">
              <a:ext uri="{FF2B5EF4-FFF2-40B4-BE49-F238E27FC236}">
                <a16:creationId xmlns:a16="http://schemas.microsoft.com/office/drawing/2014/main" id="{62DA6507-6552-4E74-B474-DC3158F16F8B}"/>
              </a:ext>
            </a:extLst>
          </p:cNvPr>
          <p:cNvSpPr>
            <a:spLocks xmlns:a="http://schemas.openxmlformats.org/drawingml/2006/main" noGrp="1"/>
          </p:cNvSpPr>
          <p:nvPr/>
        </p:nvSpPr>
        <p:spPr>
          <a:xfrm xmlns:a="http://schemas.openxmlformats.org/drawingml/2006/main">
            <a:off x="8239125" y="2686050"/>
            <a:ext cx="2619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833" lnSpcReduction="2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                 ↘</a:t>
            </a:r>
          </a:p>
        </p:txBody>
      </p:sp>
      <p:sp>
        <p:nvSpPr>
          <p:cNvPr id="241" name="preamble-box-2a">
            <a:extLst xmlns:a="http://schemas.openxmlformats.org/drawingml/2006/main">
              <a:ext uri="{FF2B5EF4-FFF2-40B4-BE49-F238E27FC236}">
                <a16:creationId xmlns:a16="http://schemas.microsoft.com/office/drawing/2014/main" id="{03A81E5E-2B15-4CC5-A311-935D6D1EE146}"/>
              </a:ext>
            </a:extLst>
          </p:cNvPr>
          <p:cNvSpPr>
            <a:spLocks xmlns:a="http://schemas.openxmlformats.org/drawingml/2006/main" noGrp="1"/>
          </p:cNvSpPr>
          <p:nvPr/>
        </p:nvSpPr>
        <p:spPr>
          <a:xfrm xmlns:a="http://schemas.openxmlformats.org/drawingml/2006/main">
            <a:off x="7858125" y="3067050"/>
            <a:ext cx="1571625" cy="74295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a:bodyPr>
          <a:lstStyle xmlns:a="http://schemas.openxmlformats.org/drawingml/2006/main"/>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Server A</a:t>
            </a:r>
          </a:p>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DPF share</a:t>
            </a:r>
          </a:p>
        </p:txBody>
      </p:sp>
      <p:sp>
        <p:nvSpPr>
          <p:cNvPr id="242" name="preamble-box-2b">
            <a:extLst xmlns:a="http://schemas.openxmlformats.org/drawingml/2006/main">
              <a:ext uri="{FF2B5EF4-FFF2-40B4-BE49-F238E27FC236}">
                <a16:creationId xmlns:a16="http://schemas.microsoft.com/office/drawing/2014/main" id="{DEF78BC3-25C5-43C6-BBB5-3872DA823F18}"/>
              </a:ext>
            </a:extLst>
          </p:cNvPr>
          <p:cNvSpPr>
            <a:spLocks xmlns:a="http://schemas.openxmlformats.org/drawingml/2006/main" noGrp="1"/>
          </p:cNvSpPr>
          <p:nvPr/>
        </p:nvSpPr>
        <p:spPr>
          <a:xfrm xmlns:a="http://schemas.openxmlformats.org/drawingml/2006/main">
            <a:off x="9667875" y="3067050"/>
            <a:ext cx="1571625" cy="74295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a:bodyPr>
          <a:lstStyle xmlns:a="http://schemas.openxmlformats.org/drawingml/2006/main"/>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Server B</a:t>
            </a:r>
          </a:p>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DPF share</a:t>
            </a:r>
          </a:p>
        </p:txBody>
      </p:sp>
      <p:sp>
        <p:nvSpPr>
          <p:cNvPr id="243" name="preamble-arrow-merge">
            <a:extLst xmlns:a="http://schemas.openxmlformats.org/drawingml/2006/main">
              <a:ext uri="{FF2B5EF4-FFF2-40B4-BE49-F238E27FC236}">
                <a16:creationId xmlns:a16="http://schemas.microsoft.com/office/drawing/2014/main" id="{03DA5FE3-5395-4C45-9B7C-E980A0E09B62}"/>
              </a:ext>
            </a:extLst>
          </p:cNvPr>
          <p:cNvSpPr>
            <a:spLocks xmlns:a="http://schemas.openxmlformats.org/drawingml/2006/main" noGrp="1"/>
          </p:cNvSpPr>
          <p:nvPr/>
        </p:nvSpPr>
        <p:spPr>
          <a:xfrm xmlns:a="http://schemas.openxmlformats.org/drawingml/2006/main">
            <a:off x="8239125" y="3829050"/>
            <a:ext cx="2619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833" lnSpcReduction="2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                 ↙</a:t>
            </a:r>
          </a:p>
        </p:txBody>
      </p:sp>
      <p:sp>
        <p:nvSpPr>
          <p:cNvPr id="244" name="preamble-box-3">
            <a:extLst xmlns:a="http://schemas.openxmlformats.org/drawingml/2006/main">
              <a:ext uri="{FF2B5EF4-FFF2-40B4-BE49-F238E27FC236}">
                <a16:creationId xmlns:a16="http://schemas.microsoft.com/office/drawing/2014/main" id="{B1EB8236-E9B0-4813-B69C-33061CE128C8}"/>
              </a:ext>
            </a:extLst>
          </p:cNvPr>
          <p:cNvSpPr>
            <a:spLocks xmlns:a="http://schemas.openxmlformats.org/drawingml/2006/main" noGrp="1"/>
          </p:cNvSpPr>
          <p:nvPr/>
        </p:nvSpPr>
        <p:spPr>
          <a:xfrm xmlns:a="http://schemas.openxmlformats.org/drawingml/2006/main">
            <a:off x="8143875" y="4248150"/>
            <a:ext cx="2809875" cy="590550"/>
          </a:xfrm>
          <a:prstGeom xmlns:a="http://schemas.openxmlformats.org/drawingml/2006/main" prst="rect">
            <a:avLst/>
          </a:prstGeom>
          <a:solidFill xmlns:a="http://schemas.openxmlformats.org/drawingml/2006/main">
            <a:srgbClr val="FFF4E5"/>
          </a:solidFill>
          <a:ln xmlns:a="http://schemas.openxmlformats.org/drawingml/2006/main" w="13335">
            <a:solidFill>
              <a:srgbClr val="D97706"/>
            </a:solidFill>
          </a:ln>
        </p:spPr>
        <p:txBody>
          <a:bodyPr xmlns:a="http://schemas.openxmlformats.org/drawingml/2006/main" anchor="ctr">
            <a:normAutofit/>
          </a:bodyPr>
          <a:lstStyle xmlns:a="http://schemas.openxmlformats.org/drawingml/2006/main"/>
          <a:p xmlns:a="http://schemas.openxmlformats.org/drawingml/2006/main">
            <a:pPr algn="ctr">
              <a:buNone/>
              <a:defRPr sz="1200" b="1">
                <a:solidFill>
                  <a:srgbClr val="D97706"/>
                </a:solidFill>
                <a:latin typeface="Arial"/>
                <a:ea typeface="Arial"/>
                <a:cs typeface="Arial"/>
              </a:defRPr>
            </a:pPr>
            <a:r>
              <a:rPr sz="1200" b="1">
                <a:solidFill>
                  <a:srgbClr val="D97706"/>
                </a:solidFill>
                <a:latin typeface="Arial"/>
                <a:ea typeface="Arial"/>
                <a:cs typeface="Arial"/>
              </a:rPr>
              <a:t>Private block-sparse aggregate</a:t>
            </a:r>
          </a:p>
        </p:txBody>
      </p:sp>
      <p:sp>
        <p:nvSpPr>
          <p:cNvPr id="245" name="preamble-diagram-caption">
            <a:extLst xmlns:a="http://schemas.openxmlformats.org/drawingml/2006/main">
              <a:ext uri="{FF2B5EF4-FFF2-40B4-BE49-F238E27FC236}">
                <a16:creationId xmlns:a16="http://schemas.microsoft.com/office/drawing/2014/main" id="{E103B243-C93A-4A36-8D33-AB0AB78BC5BB}"/>
              </a:ext>
            </a:extLst>
          </p:cNvPr>
          <p:cNvSpPr>
            <a:spLocks xmlns:a="http://schemas.openxmlformats.org/drawingml/2006/main" noGrp="1"/>
          </p:cNvSpPr>
          <p:nvPr/>
        </p:nvSpPr>
        <p:spPr>
          <a:xfrm xmlns:a="http://schemas.openxmlformats.org/drawingml/2006/main">
            <a:off x="7762875" y="5048250"/>
            <a:ext cx="3571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125" i="1">
                <a:solidFill>
                  <a:srgbClr val="52606D"/>
                </a:solidFill>
                <a:latin typeface="Arial"/>
                <a:ea typeface="Arial"/>
                <a:cs typeface="Arial"/>
              </a:defRPr>
            </a:pPr>
            <a:r>
              <a:rPr sz="1125" i="1">
                <a:solidFill>
                  <a:srgbClr val="52606D"/>
                </a:solidFill>
                <a:latin typeface="Arial"/>
                <a:ea typeface="Arial"/>
                <a:cs typeface="Arial"/>
              </a:rPr>
              <a:t>Efficiency relies on a two-server non-collusion model [18].</a:t>
            </a:r>
          </a:p>
        </p:txBody>
      </p:sp>
    </p:spTree>
    <p:extLst>
      <p:ext uri="{BB962C8B-B14F-4D97-AF65-F5344CB8AC3E}">
        <p14:creationId xmlns:p14="http://schemas.microsoft.com/office/powerpoint/2010/main" val="970286495"/>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defRPr sz="3150" b="1">
                <a:solidFill>
                  <a:srgbClr val="062B6F"/>
                </a:solidFill>
                <a:latin typeface="Arial"/>
                <a:ea typeface="Arial"/>
                <a:cs typeface="Arial"/>
              </a:defRPr>
            </a:pPr>
            <a:r>
              <a:rPr sz="3150" b="1">
                <a:solidFill>
                  <a:srgbClr val="062B6F"/>
                </a:solidFill>
                <a:latin typeface="Arial"/>
                <a:ea typeface="Arial"/>
                <a:cs typeface="Arial"/>
              </a:rPr>
              <a:t>Comparison of Related Studies</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14</a:t>
            </a:r>
            <a:endParaRPr sz="2800"/>
          </a:p>
        </p:txBody>
      </p:sp>
      <p:pic>
        <p:nvPicPr>
          <p:cNvPr id="266"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d76dee4c3899494a">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67"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637b5781c72d4aa3">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table-caption-rs3">
            <a:extLst xmlns:a="http://schemas.openxmlformats.org/drawingml/2006/main">
              <a:ext uri="{FF2B5EF4-FFF2-40B4-BE49-F238E27FC236}">
                <a16:creationId xmlns:a16="http://schemas.microsoft.com/office/drawing/2014/main" id="{D5FB49E3-377F-4081-9952-52800B850D3C}"/>
              </a:ext>
            </a:extLst>
          </p:cNvPr>
          <p:cNvSpPr>
            <a:spLocks xmlns:a="http://schemas.openxmlformats.org/drawingml/2006/main" noGrp="1"/>
          </p:cNvSpPr>
          <p:nvPr/>
        </p:nvSpPr>
        <p:spPr>
          <a:xfrm xmlns:a="http://schemas.openxmlformats.org/drawingml/2006/main">
            <a:off x="1428750" y="1143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III. Capability map of recent integrated methods</a:t>
            </a:r>
          </a:p>
        </p:txBody>
      </p:sp>
      <p:graphicFrame>
        <p:nvGraphicFramePr>
          <p:cNvPr id="270" name="Table 270"/>
          <p:cNvGraphicFramePr/>
          <p:nvPr/>
        </p:nvGraphicFramePr>
        <p:xfrm>
          <a:off xmlns:a="http://schemas.openxmlformats.org/drawingml/2006/main" x="428625" y="1571625"/>
          <a:ext xmlns:a="http://schemas.openxmlformats.org/drawingml/2006/main" cx="11334750" cy="4000500"/>
        </p:xfrm>
        <a:graphic xmlns:a="http://schemas.openxmlformats.org/drawingml/2006/main">
          <a:graphicData uri="http://schemas.openxmlformats.org/drawingml/2006/table">
            <a:tbl>
              <a:tblPr firstRow="1" bandRow="1"/>
              <a:tblGrid>
                <a:gridCol w="1524000"/>
                <a:gridCol w="1809750"/>
                <a:gridCol w="1285875"/>
                <a:gridCol w="2190750"/>
                <a:gridCol w="2143125"/>
                <a:gridCol w="2381250"/>
              </a:tblGrid>
              <a:tr h="666750">
                <a:tc>
                  <a:txBody>
                    <a:bodyPr/>
                    <a:lstStyle/>
                    <a:p>
                      <a:r>
                        <a:rPr sz="1163" b="1">
                          <a:solidFill>
                            <a:srgbClr val="FFFFFF"/>
                          </a:solidFill>
                          <a:latin typeface="Arial"/>
                          <a:ea typeface="Arial"/>
                          <a:cs typeface="Arial"/>
                        </a:rPr>
                        <a:t>Method</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Healthcare evidence</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Formal DP</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Protected aggregation</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Wire-aware compression</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Poisoning defence</a:t>
                      </a:r>
                    </a:p>
                  </a:txBody>
                  <a:tcPr marL="66675" marR="66675" marT="47625" marB="47625" anchor="ctr">
                    <a:solidFill>
                      <a:srgbClr val="17365D"/>
                    </a:solidFill>
                  </a:tcPr>
                </a:tc>
              </a:tr>
              <a:tr h="666750">
                <a:tc>
                  <a:txBody>
                    <a:bodyPr/>
                    <a:lstStyle/>
                    <a:p>
                      <a:r>
                        <a:rPr sz="1125">
                          <a:solidFill>
                            <a:srgbClr val="1F2937"/>
                          </a:solidFill>
                          <a:latin typeface="Arial"/>
                          <a:ea typeface="Arial"/>
                          <a:cs typeface="Arial"/>
                        </a:rPr>
                        <a:t>FLDP [11]</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Protocol-level</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DDFed [16]</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DP-BREM+ [17]</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PREAMBLE [18]</a:t>
                      </a:r>
                    </a:p>
                  </a:txBody>
                  <a:tcPr marL="66675" marR="66675" marT="47625" marB="47625" anchor="ctr">
                    <a:solidFill>
                      <a:srgbClr val="FFFFFF"/>
                    </a:solidFill>
                  </a:tcPr>
                </a:tc>
                <a:tc>
                  <a:txBody>
                    <a:bodyPr/>
                    <a:lstStyle/>
                    <a:p>
                      <a:r>
                        <a:rPr sz="1125">
                          <a:solidFill>
                            <a:srgbClr val="1F2937"/>
                          </a:solidFill>
                          <a:latin typeface="Arial"/>
                          <a:ea typeface="Arial"/>
                          <a:cs typeface="Arial"/>
                        </a:rPr>
                        <a:t>Different task</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CAABC-FL</a:t>
                      </a:r>
                    </a:p>
                  </a:txBody>
                  <a:tcPr marL="66675" marR="66675" marT="47625" marB="47625" anchor="ctr">
                    <a:solidFill>
                      <a:srgbClr val="FFFFFF"/>
                    </a:solidFill>
                  </a:tcPr>
                </a:tc>
                <a:tc>
                  <a:txBody>
                    <a:bodyPr/>
                    <a:lstStyle/>
                    <a:p>
                      <a:r>
                        <a:rPr sz="1125">
                          <a:solidFill>
                            <a:srgbClr val="1F2937"/>
                          </a:solidFill>
                          <a:latin typeface="Arial"/>
                          <a:ea typeface="Arial"/>
                          <a:cs typeface="Arial"/>
                        </a:rPr>
                        <a:t>PhysioNet 2019</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CKKS sum path</a:t>
                      </a:r>
                    </a:p>
                  </a:txBody>
                  <a:tcPr marL="66675" marR="66675" marT="47625" marB="47625" anchor="ctr">
                    <a:solidFill>
                      <a:srgbClr val="FFFFFF"/>
                    </a:solidFill>
                  </a:tcPr>
                </a:tc>
                <a:tc>
                  <a:txBody>
                    <a:bodyPr/>
                    <a:lstStyle/>
                    <a:p>
                      <a:r>
                        <a:rPr sz="1125">
                          <a:solidFill>
                            <a:srgbClr val="1F2937"/>
                          </a:solidFill>
                          <a:latin typeface="Arial"/>
                          <a:ea typeface="Arial"/>
                          <a:cs typeface="Arial"/>
                        </a:rPr>
                        <a:t>Measured bytes</a:t>
                      </a:r>
                    </a:p>
                  </a:txBody>
                  <a:tcPr marL="66675" marR="66675" marT="47625" marB="47625" anchor="ctr">
                    <a:solidFill>
                      <a:srgbClr val="FFFFFF"/>
                    </a:solidFill>
                  </a:tcPr>
                </a:tc>
                <a:tc>
                  <a:txBody>
                    <a:bodyPr/>
                    <a:lstStyle/>
                    <a:p>
                      <a:r>
                        <a:rPr sz="1125">
                          <a:solidFill>
                            <a:srgbClr val="1F2937"/>
                          </a:solidFill>
                          <a:latin typeface="Arial"/>
                          <a:ea typeface="Arial"/>
                          <a:cs typeface="Arial"/>
                        </a:rPr>
                        <a:t>Release control</a:t>
                      </a:r>
                    </a:p>
                  </a:txBody>
                  <a:tcPr marL="66675" marR="66675" marT="47625" marB="47625" anchor="ctr">
                    <a:solidFill>
                      <a:srgbClr val="FFFFFF"/>
                    </a:solidFill>
                  </a:tcPr>
                </a:tc>
              </a:tr>
            </a:tbl>
          </a:graphicData>
        </a:graphic>
      </p:graphicFrame>
      <p:sp>
        <p:nvSpPr>
          <p:cNvPr id="222" name="rs3-note">
            <a:extLst xmlns:a="http://schemas.openxmlformats.org/drawingml/2006/main">
              <a:ext uri="{FF2B5EF4-FFF2-40B4-BE49-F238E27FC236}">
                <a16:creationId xmlns:a16="http://schemas.microsoft.com/office/drawing/2014/main" id="{3CBE3883-65EE-4FF6-905B-D06FF17E7E80}"/>
              </a:ext>
            </a:extLst>
          </p:cNvPr>
          <p:cNvSpPr>
            <a:spLocks xmlns:a="http://schemas.openxmlformats.org/drawingml/2006/main" noGrp="1"/>
          </p:cNvSpPr>
          <p:nvPr/>
        </p:nvSpPr>
        <p:spPr>
          <a:xfrm xmlns:a="http://schemas.openxmlformats.org/drawingml/2006/main">
            <a:off x="1428750" y="5715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500" b="0" i="1">
                <a:solidFill>
                  <a:srgbClr val="5B6573"/>
                </a:solidFill>
                <a:latin typeface="Arial"/>
                <a:ea typeface="Arial"/>
                <a:cs typeface="Arial"/>
              </a:defRPr>
            </a:pPr>
            <a:r>
              <a:rPr sz="1500" b="0" i="1">
                <a:solidFill>
                  <a:srgbClr val="5B6573"/>
                </a:solidFill>
                <a:latin typeface="Arial"/>
                <a:ea typeface="Arial"/>
                <a:cs typeface="Arial"/>
              </a:rPr>
              <a:t>The rows use different datasets and threat models, so this map describes scope rather than rank.</a:t>
            </a:r>
          </a:p>
        </p:txBody>
      </p:sp>
      <p:sp>
        <p:nvSpPr>
          <p:cNvPr id="226" name="visible-footer-date-11">
            <a:extLst xmlns:a="http://schemas.openxmlformats.org/drawingml/2006/main">
              <a:ext uri="{FF2B5EF4-FFF2-40B4-BE49-F238E27FC236}">
                <a16:creationId xmlns:a16="http://schemas.microsoft.com/office/drawing/2014/main" id="{AC6EAD33-26BD-47B1-84B2-8A6BC3518A86}"/>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30" name="related-study-cover-3">
            <a:extLst xmlns:a="http://schemas.openxmlformats.org/drawingml/2006/main">
              <a:ext uri="{FF2B5EF4-FFF2-40B4-BE49-F238E27FC236}">
                <a16:creationId xmlns:a16="http://schemas.microsoft.com/office/drawing/2014/main" id="{D497C4B0-9EA7-4670-A3B0-930037AA052F}"/>
              </a:ext>
            </a:extLst>
          </p:cNvPr>
          <p:cNvSpPr>
            <a:spLocks xmlns:a="http://schemas.openxmlformats.org/drawingml/2006/main" noGrp="1"/>
          </p:cNvSpPr>
          <p:nvPr/>
        </p:nvSpPr>
        <p:spPr>
          <a:xfrm xmlns:a="http://schemas.openxmlformats.org/drawingml/2006/main">
            <a:off x="428625" y="1066800"/>
            <a:ext cx="1133475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31" name="paper-title-3">
            <a:extLst xmlns:a="http://schemas.openxmlformats.org/drawingml/2006/main">
              <a:ext uri="{FF2B5EF4-FFF2-40B4-BE49-F238E27FC236}">
                <a16:creationId xmlns:a16="http://schemas.microsoft.com/office/drawing/2014/main" id="{5ED14AEF-C3C5-4B85-8F43-F00DDB2BF860}"/>
              </a:ext>
            </a:extLst>
          </p:cNvPr>
          <p:cNvSpPr>
            <a:spLocks xmlns:a="http://schemas.openxmlformats.org/drawingml/2006/main" noGrp="1"/>
          </p:cNvSpPr>
          <p:nvPr/>
        </p:nvSpPr>
        <p:spPr>
          <a:xfrm xmlns:a="http://schemas.openxmlformats.org/drawingml/2006/main">
            <a:off x="666750" y="112395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PREAMBLE: Private and Efficient Aggregation via Block Sparse Vectors [18]</a:t>
            </a:r>
          </a:p>
        </p:txBody>
      </p:sp>
      <p:sp>
        <p:nvSpPr>
          <p:cNvPr id="232" name="paper-summary-3">
            <a:extLst xmlns:a="http://schemas.openxmlformats.org/drawingml/2006/main">
              <a:ext uri="{FF2B5EF4-FFF2-40B4-BE49-F238E27FC236}">
                <a16:creationId xmlns:a16="http://schemas.microsoft.com/office/drawing/2014/main" id="{63420EE7-E716-40DE-912F-1D4814E18315}"/>
              </a:ext>
            </a:extLst>
          </p:cNvPr>
          <p:cNvSpPr>
            <a:spLocks xmlns:a="http://schemas.openxmlformats.org/drawingml/2006/main" noGrp="1"/>
          </p:cNvSpPr>
          <p:nvPr/>
        </p:nvSpPr>
        <p:spPr>
          <a:xfrm xmlns:a="http://schemas.openxmlformats.org/drawingml/2006/main">
            <a:off x="666750" y="1714500"/>
            <a:ext cx="6572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425">
                <a:solidFill>
                  <a:srgbClr val="1F2937"/>
                </a:solidFill>
                <a:latin typeface="Arial"/>
                <a:ea typeface="Arial"/>
                <a:cs typeface="Arial"/>
              </a:defRPr>
            </a:pPr>
            <a:r>
              <a:rPr sz="1425">
                <a:solidFill>
                  <a:srgbClr val="1F2937"/>
                </a:solidFill>
                <a:latin typeface="Arial"/>
                <a:ea typeface="Arial"/>
                <a:cs typeface="Arial"/>
              </a:rPr>
              <a:t>PREAMBLE co-designs a two-server private-aggregation protocol with block-sparse vectors, distributed point functions, sampling, and privacy amplification to reduce high-dimensional communication.</a:t>
            </a:r>
          </a:p>
        </p:txBody>
      </p:sp>
      <p:sp>
        <p:nvSpPr>
          <p:cNvPr id="233" name="paper-source-3">
            <a:extLst xmlns:a="http://schemas.openxmlformats.org/drawingml/2006/main">
              <a:ext uri="{FF2B5EF4-FFF2-40B4-BE49-F238E27FC236}">
                <a16:creationId xmlns:a16="http://schemas.microsoft.com/office/drawing/2014/main" id="{6ECDB239-EFD8-48A5-8284-10E99DFADF9C}"/>
              </a:ext>
            </a:extLst>
          </p:cNvPr>
          <p:cNvSpPr>
            <a:spLocks xmlns:a="http://schemas.openxmlformats.org/drawingml/2006/main" noGrp="1"/>
          </p:cNvSpPr>
          <p:nvPr/>
        </p:nvSpPr>
        <p:spPr>
          <a:xfrm xmlns:a="http://schemas.openxmlformats.org/drawingml/2006/main">
            <a:off x="666750" y="5829300"/>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013" i="1">
                <a:solidFill>
                  <a:srgbClr val="52606D"/>
                </a:solidFill>
                <a:latin typeface="Arial"/>
                <a:ea typeface="Arial"/>
                <a:cs typeface="Arial"/>
              </a:defRPr>
            </a:pPr>
            <a:r>
              <a:rPr sz="1013" i="1">
                <a:solidFill>
                  <a:srgbClr val="52606D"/>
                </a:solidFill>
                <a:latin typeface="Arial"/>
                <a:ea typeface="Arial"/>
                <a:cs typeface="Arial"/>
              </a:rPr>
              <a:t>Source: Asi et al., NeurIPS 2025 [18].</a:t>
            </a:r>
          </a:p>
        </p:txBody>
      </p:sp>
      <p:sp>
        <p:nvSpPr>
          <p:cNvPr id="234" name="preamble-strengths-heading">
            <a:extLst xmlns:a="http://schemas.openxmlformats.org/drawingml/2006/main">
              <a:ext uri="{FF2B5EF4-FFF2-40B4-BE49-F238E27FC236}">
                <a16:creationId xmlns:a16="http://schemas.microsoft.com/office/drawing/2014/main" id="{4A5652FD-A1B3-4E80-8D03-0F9199010238}"/>
              </a:ext>
            </a:extLst>
          </p:cNvPr>
          <p:cNvSpPr>
            <a:spLocks xmlns:a="http://schemas.openxmlformats.org/drawingml/2006/main" noGrp="1"/>
          </p:cNvSpPr>
          <p:nvPr/>
        </p:nvSpPr>
        <p:spPr>
          <a:xfrm xmlns:a="http://schemas.openxmlformats.org/drawingml/2006/main">
            <a:off x="647700" y="2590800"/>
            <a:ext cx="6572250" cy="323850"/>
          </a:xfrm>
          <a:prstGeom xmlns:a="http://schemas.openxmlformats.org/drawingml/2006/main" prst="rect">
            <a:avLst/>
          </a:prstGeom>
          <a:solidFill xmlns:a="http://schemas.openxmlformats.org/drawingml/2006/main">
            <a:srgbClr val="EAF7F0"/>
          </a:solidFill>
          <a:ln xmlns:a="http://schemas.openxmlformats.org/drawingml/2006/main" w="10478">
            <a:solidFill>
              <a:srgbClr val="008A46"/>
            </a:solidFill>
          </a:ln>
        </p:spPr>
        <p:txBody>
          <a:bodyPr xmlns:a="http://schemas.openxmlformats.org/drawingml/2006/main" anchor="ctr">
            <a:normAutofit fontScale="99924" lnSpcReduction="10000"/>
          </a:bodyPr>
          <a:lstStyle xmlns:a="http://schemas.openxmlformats.org/drawingml/2006/main"/>
          <a:p xmlns:a="http://schemas.openxmlformats.org/drawingml/2006/main">
            <a:pPr algn="l">
              <a:buNone/>
              <a:defRPr sz="1650" b="1">
                <a:solidFill>
                  <a:srgbClr val="008A46"/>
                </a:solidFill>
                <a:latin typeface="Arial"/>
                <a:ea typeface="Arial"/>
                <a:cs typeface="Arial"/>
              </a:defRPr>
            </a:pPr>
            <a:r>
              <a:rPr sz="1650" b="1">
                <a:solidFill>
                  <a:srgbClr val="008A46"/>
                </a:solidFill>
                <a:latin typeface="Arial"/>
                <a:ea typeface="Arial"/>
                <a:cs typeface="Arial"/>
              </a:rPr>
              <a:t>Strengths</a:t>
            </a:r>
          </a:p>
        </p:txBody>
      </p:sp>
      <p:sp>
        <p:nvSpPr>
          <p:cNvPr id="235" name="preamble-strengths-bullets">
            <a:extLst xmlns:a="http://schemas.openxmlformats.org/drawingml/2006/main">
              <a:ext uri="{FF2B5EF4-FFF2-40B4-BE49-F238E27FC236}">
                <a16:creationId xmlns:a16="http://schemas.microsoft.com/office/drawing/2014/main" id="{F391703E-3566-48C2-927F-F2AEA5369EA1}"/>
              </a:ext>
            </a:extLst>
          </p:cNvPr>
          <p:cNvSpPr>
            <a:spLocks xmlns:a="http://schemas.openxmlformats.org/drawingml/2006/main" noGrp="1"/>
          </p:cNvSpPr>
          <p:nvPr/>
        </p:nvSpPr>
        <p:spPr>
          <a:xfrm xmlns:a="http://schemas.openxmlformats.org/drawingml/2006/main">
            <a:off x="876300" y="294322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Aligns the sparse representation with its protected transport protocol.</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Reduces communication and computation for block-sparse vectors.</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Provides formal privacy–utility analysis with low added noise overhead.</a:t>
            </a:r>
          </a:p>
        </p:txBody>
      </p:sp>
      <p:sp>
        <p:nvSpPr>
          <p:cNvPr id="236" name="preamble-limits-heading">
            <a:extLst xmlns:a="http://schemas.openxmlformats.org/drawingml/2006/main">
              <a:ext uri="{FF2B5EF4-FFF2-40B4-BE49-F238E27FC236}">
                <a16:creationId xmlns:a16="http://schemas.microsoft.com/office/drawing/2014/main" id="{4B8A7FFE-404D-41FC-99EE-43E4C50CAC78}"/>
              </a:ext>
            </a:extLst>
          </p:cNvPr>
          <p:cNvSpPr>
            <a:spLocks xmlns:a="http://schemas.openxmlformats.org/drawingml/2006/main" noGrp="1"/>
          </p:cNvSpPr>
          <p:nvPr/>
        </p:nvSpPr>
        <p:spPr>
          <a:xfrm xmlns:a="http://schemas.openxmlformats.org/drawingml/2006/main">
            <a:off x="647700" y="4095750"/>
            <a:ext cx="6572250" cy="323850"/>
          </a:xfrm>
          <a:prstGeom xmlns:a="http://schemas.openxmlformats.org/drawingml/2006/main" prst="rect">
            <a:avLst/>
          </a:prstGeom>
          <a:solidFill xmlns:a="http://schemas.openxmlformats.org/drawingml/2006/main">
            <a:srgbClr val="FFF0EE"/>
          </a:solidFill>
          <a:ln xmlns:a="http://schemas.openxmlformats.org/drawingml/2006/main" w="10478">
            <a:solidFill>
              <a:srgbClr val="B42318"/>
            </a:solidFill>
          </a:ln>
        </p:spPr>
        <p:txBody>
          <a:bodyPr xmlns:a="http://schemas.openxmlformats.org/drawingml/2006/main" anchor="ctr">
            <a:normAutofit fontScale="99924" lnSpcReduction="10000"/>
          </a:bodyPr>
          <a:lstStyle xmlns:a="http://schemas.openxmlformats.org/drawingml/2006/main"/>
          <a:p xmlns:a="http://schemas.openxmlformats.org/drawingml/2006/main">
            <a:pPr algn="l">
              <a:buNone/>
              <a:defRPr sz="1650" b="1">
                <a:solidFill>
                  <a:srgbClr val="B42318"/>
                </a:solidFill>
                <a:latin typeface="Arial"/>
                <a:ea typeface="Arial"/>
                <a:cs typeface="Arial"/>
              </a:defRPr>
            </a:pPr>
            <a:r>
              <a:rPr sz="1650" b="1">
                <a:solidFill>
                  <a:srgbClr val="B42318"/>
                </a:solidFill>
                <a:latin typeface="Arial"/>
                <a:ea typeface="Arial"/>
                <a:cs typeface="Arial"/>
              </a:rPr>
              <a:t>Limitations relative to this thesis</a:t>
            </a:r>
          </a:p>
        </p:txBody>
      </p:sp>
      <p:sp>
        <p:nvSpPr>
          <p:cNvPr id="237" name="preamble-limits-bullets">
            <a:extLst xmlns:a="http://schemas.openxmlformats.org/drawingml/2006/main">
              <a:ext uri="{FF2B5EF4-FFF2-40B4-BE49-F238E27FC236}">
                <a16:creationId xmlns:a16="http://schemas.microsoft.com/office/drawing/2014/main" id="{7243B988-B459-4C0B-80B6-9984718F584B}"/>
              </a:ext>
            </a:extLst>
          </p:cNvPr>
          <p:cNvSpPr>
            <a:spLocks xmlns:a="http://schemas.openxmlformats.org/drawingml/2006/main" noGrp="1"/>
          </p:cNvSpPr>
          <p:nvPr/>
        </p:nvSpPr>
        <p:spPr>
          <a:xfrm xmlns:a="http://schemas.openxmlformats.org/drawingml/2006/main">
            <a:off x="876300" y="444817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Requires two non-colluding aggregation servers.</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Targets vector aggregation rather than iterative CKKS clinical FL.</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Does not evaluate poisoning, release governance, or healthcare utility.</a:t>
            </a:r>
          </a:p>
        </p:txBody>
      </p:sp>
      <p:sp>
        <p:nvSpPr>
          <p:cNvPr id="238" name="preamble-flow-title">
            <a:extLst xmlns:a="http://schemas.openxmlformats.org/drawingml/2006/main">
              <a:ext uri="{FF2B5EF4-FFF2-40B4-BE49-F238E27FC236}">
                <a16:creationId xmlns:a16="http://schemas.microsoft.com/office/drawing/2014/main" id="{D73159F9-3ED5-44AA-8396-BFC2D15520CB}"/>
              </a:ext>
            </a:extLst>
          </p:cNvPr>
          <p:cNvSpPr>
            <a:spLocks xmlns:a="http://schemas.openxmlformats.org/drawingml/2006/main" noGrp="1"/>
          </p:cNvSpPr>
          <p:nvPr/>
        </p:nvSpPr>
        <p:spPr>
          <a:xfrm xmlns:a="http://schemas.openxmlformats.org/drawingml/2006/main">
            <a:off x="7810500" y="1790700"/>
            <a:ext cx="3476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333"/>
          </a:bodyPr>
          <a:lstStyle xmlns:a="http://schemas.openxmlformats.org/drawingml/2006/main"/>
          <a:p xmlns:a="http://schemas.openxmlformats.org/drawingml/2006/main">
            <a:pPr algn="ctr">
              <a:buNone/>
              <a:defRPr sz="1500" b="1">
                <a:solidFill>
                  <a:srgbClr val="1E3A5F"/>
                </a:solidFill>
                <a:latin typeface="Arial"/>
                <a:ea typeface="Arial"/>
                <a:cs typeface="Arial"/>
              </a:defRPr>
            </a:pPr>
            <a:r>
              <a:rPr sz="1500" b="1">
                <a:solidFill>
                  <a:srgbClr val="1E3A5F"/>
                </a:solidFill>
                <a:latin typeface="Arial"/>
                <a:ea typeface="Arial"/>
                <a:cs typeface="Arial"/>
              </a:rPr>
              <a:t>PREAMBLE conceptual workflow</a:t>
            </a:r>
          </a:p>
        </p:txBody>
      </p:sp>
      <p:sp>
        <p:nvSpPr>
          <p:cNvPr id="239" name="preamble-box-1">
            <a:extLst xmlns:a="http://schemas.openxmlformats.org/drawingml/2006/main">
              <a:ext uri="{FF2B5EF4-FFF2-40B4-BE49-F238E27FC236}">
                <a16:creationId xmlns:a16="http://schemas.microsoft.com/office/drawing/2014/main" id="{7AE7E345-6275-4DDE-B112-20A1C4E5EE2C}"/>
              </a:ext>
            </a:extLst>
          </p:cNvPr>
          <p:cNvSpPr>
            <a:spLocks xmlns:a="http://schemas.openxmlformats.org/drawingml/2006/main" noGrp="1"/>
          </p:cNvSpPr>
          <p:nvPr/>
        </p:nvSpPr>
        <p:spPr>
          <a:xfrm xmlns:a="http://schemas.openxmlformats.org/drawingml/2006/main">
            <a:off x="8143875" y="2190750"/>
            <a:ext cx="2809875" cy="495300"/>
          </a:xfrm>
          <a:prstGeom xmlns:a="http://schemas.openxmlformats.org/drawingml/2006/main" prst="rect">
            <a:avLst/>
          </a:prstGeom>
          <a:solidFill xmlns:a="http://schemas.openxmlformats.org/drawingml/2006/main">
            <a:srgbClr val="EAF4F8"/>
          </a:solidFill>
          <a:ln xmlns:a="http://schemas.openxmlformats.org/drawingml/2006/main" w="13335">
            <a:solidFill>
              <a:srgbClr val="1E3A5F"/>
            </a:solidFill>
          </a:ln>
        </p:spPr>
        <p:txBody>
          <a:bodyPr xmlns:a="http://schemas.openxmlformats.org/drawingml/2006/main" anchor="ctr">
            <a:normAutofit/>
          </a:bodyPr>
          <a:lstStyle xmlns:a="http://schemas.openxmlformats.org/drawingml/2006/main"/>
          <a:p xmlns:a="http://schemas.openxmlformats.org/drawingml/2006/main">
            <a:pPr algn="ctr">
              <a:buNone/>
              <a:defRPr sz="1275" b="1">
                <a:solidFill>
                  <a:srgbClr val="1E3A5F"/>
                </a:solidFill>
                <a:latin typeface="Arial"/>
                <a:ea typeface="Arial"/>
                <a:cs typeface="Arial"/>
              </a:defRPr>
            </a:pPr>
            <a:r>
              <a:rPr sz="1275" b="1">
                <a:solidFill>
                  <a:srgbClr val="1E3A5F"/>
                </a:solidFill>
                <a:latin typeface="Arial"/>
                <a:ea typeface="Arial"/>
                <a:cs typeface="Arial"/>
              </a:rPr>
              <a:t>Block-sparse client vector</a:t>
            </a:r>
          </a:p>
        </p:txBody>
      </p:sp>
      <p:sp>
        <p:nvSpPr>
          <p:cNvPr id="240" name="preamble-arrow-split">
            <a:extLst xmlns:a="http://schemas.openxmlformats.org/drawingml/2006/main">
              <a:ext uri="{FF2B5EF4-FFF2-40B4-BE49-F238E27FC236}">
                <a16:creationId xmlns:a16="http://schemas.microsoft.com/office/drawing/2014/main" id="{62DA6507-6552-4E74-B474-DC3158F16F8B}"/>
              </a:ext>
            </a:extLst>
          </p:cNvPr>
          <p:cNvSpPr>
            <a:spLocks xmlns:a="http://schemas.openxmlformats.org/drawingml/2006/main" noGrp="1"/>
          </p:cNvSpPr>
          <p:nvPr/>
        </p:nvSpPr>
        <p:spPr>
          <a:xfrm xmlns:a="http://schemas.openxmlformats.org/drawingml/2006/main">
            <a:off x="8239125" y="2686050"/>
            <a:ext cx="2619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833" lnSpcReduction="2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                 ↘</a:t>
            </a:r>
          </a:p>
        </p:txBody>
      </p:sp>
      <p:sp>
        <p:nvSpPr>
          <p:cNvPr id="241" name="preamble-box-2a">
            <a:extLst xmlns:a="http://schemas.openxmlformats.org/drawingml/2006/main">
              <a:ext uri="{FF2B5EF4-FFF2-40B4-BE49-F238E27FC236}">
                <a16:creationId xmlns:a16="http://schemas.microsoft.com/office/drawing/2014/main" id="{03A81E5E-2B15-4CC5-A311-935D6D1EE146}"/>
              </a:ext>
            </a:extLst>
          </p:cNvPr>
          <p:cNvSpPr>
            <a:spLocks xmlns:a="http://schemas.openxmlformats.org/drawingml/2006/main" noGrp="1"/>
          </p:cNvSpPr>
          <p:nvPr/>
        </p:nvSpPr>
        <p:spPr>
          <a:xfrm xmlns:a="http://schemas.openxmlformats.org/drawingml/2006/main">
            <a:off x="7858125" y="3067050"/>
            <a:ext cx="1571625" cy="74295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a:bodyPr>
          <a:lstStyle xmlns:a="http://schemas.openxmlformats.org/drawingml/2006/main"/>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Server A</a:t>
            </a:r>
          </a:p>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DPF share</a:t>
            </a:r>
          </a:p>
        </p:txBody>
      </p:sp>
      <p:sp>
        <p:nvSpPr>
          <p:cNvPr id="242" name="preamble-box-2b">
            <a:extLst xmlns:a="http://schemas.openxmlformats.org/drawingml/2006/main">
              <a:ext uri="{FF2B5EF4-FFF2-40B4-BE49-F238E27FC236}">
                <a16:creationId xmlns:a16="http://schemas.microsoft.com/office/drawing/2014/main" id="{DEF78BC3-25C5-43C6-BBB5-3872DA823F18}"/>
              </a:ext>
            </a:extLst>
          </p:cNvPr>
          <p:cNvSpPr>
            <a:spLocks xmlns:a="http://schemas.openxmlformats.org/drawingml/2006/main" noGrp="1"/>
          </p:cNvSpPr>
          <p:nvPr/>
        </p:nvSpPr>
        <p:spPr>
          <a:xfrm xmlns:a="http://schemas.openxmlformats.org/drawingml/2006/main">
            <a:off x="9667875" y="3067050"/>
            <a:ext cx="1571625" cy="74295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a:bodyPr>
          <a:lstStyle xmlns:a="http://schemas.openxmlformats.org/drawingml/2006/main"/>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Server B</a:t>
            </a:r>
          </a:p>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DPF share</a:t>
            </a:r>
          </a:p>
        </p:txBody>
      </p:sp>
      <p:sp>
        <p:nvSpPr>
          <p:cNvPr id="243" name="preamble-arrow-merge">
            <a:extLst xmlns:a="http://schemas.openxmlformats.org/drawingml/2006/main">
              <a:ext uri="{FF2B5EF4-FFF2-40B4-BE49-F238E27FC236}">
                <a16:creationId xmlns:a16="http://schemas.microsoft.com/office/drawing/2014/main" id="{03DA5FE3-5395-4C45-9B7C-E980A0E09B62}"/>
              </a:ext>
            </a:extLst>
          </p:cNvPr>
          <p:cNvSpPr>
            <a:spLocks xmlns:a="http://schemas.openxmlformats.org/drawingml/2006/main" noGrp="1"/>
          </p:cNvSpPr>
          <p:nvPr/>
        </p:nvSpPr>
        <p:spPr>
          <a:xfrm xmlns:a="http://schemas.openxmlformats.org/drawingml/2006/main">
            <a:off x="8239125" y="3829050"/>
            <a:ext cx="2619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833" lnSpcReduction="2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                 ↙</a:t>
            </a:r>
          </a:p>
        </p:txBody>
      </p:sp>
      <p:sp>
        <p:nvSpPr>
          <p:cNvPr id="244" name="preamble-box-3">
            <a:extLst xmlns:a="http://schemas.openxmlformats.org/drawingml/2006/main">
              <a:ext uri="{FF2B5EF4-FFF2-40B4-BE49-F238E27FC236}">
                <a16:creationId xmlns:a16="http://schemas.microsoft.com/office/drawing/2014/main" id="{B1EB8236-E9B0-4813-B69C-33061CE128C8}"/>
              </a:ext>
            </a:extLst>
          </p:cNvPr>
          <p:cNvSpPr>
            <a:spLocks xmlns:a="http://schemas.openxmlformats.org/drawingml/2006/main" noGrp="1"/>
          </p:cNvSpPr>
          <p:nvPr/>
        </p:nvSpPr>
        <p:spPr>
          <a:xfrm xmlns:a="http://schemas.openxmlformats.org/drawingml/2006/main">
            <a:off x="8143875" y="4248150"/>
            <a:ext cx="2809875" cy="590550"/>
          </a:xfrm>
          <a:prstGeom xmlns:a="http://schemas.openxmlformats.org/drawingml/2006/main" prst="rect">
            <a:avLst/>
          </a:prstGeom>
          <a:solidFill xmlns:a="http://schemas.openxmlformats.org/drawingml/2006/main">
            <a:srgbClr val="FFF4E5"/>
          </a:solidFill>
          <a:ln xmlns:a="http://schemas.openxmlformats.org/drawingml/2006/main" w="13335">
            <a:solidFill>
              <a:srgbClr val="D97706"/>
            </a:solidFill>
          </a:ln>
        </p:spPr>
        <p:txBody>
          <a:bodyPr xmlns:a="http://schemas.openxmlformats.org/drawingml/2006/main" anchor="ctr">
            <a:normAutofit/>
          </a:bodyPr>
          <a:lstStyle xmlns:a="http://schemas.openxmlformats.org/drawingml/2006/main"/>
          <a:p xmlns:a="http://schemas.openxmlformats.org/drawingml/2006/main">
            <a:pPr algn="ctr">
              <a:buNone/>
              <a:defRPr sz="1200" b="1">
                <a:solidFill>
                  <a:srgbClr val="D97706"/>
                </a:solidFill>
                <a:latin typeface="Arial"/>
                <a:ea typeface="Arial"/>
                <a:cs typeface="Arial"/>
              </a:defRPr>
            </a:pPr>
            <a:r>
              <a:rPr sz="1200" b="1">
                <a:solidFill>
                  <a:srgbClr val="D97706"/>
                </a:solidFill>
                <a:latin typeface="Arial"/>
                <a:ea typeface="Arial"/>
                <a:cs typeface="Arial"/>
              </a:rPr>
              <a:t>Private block-sparse aggregate</a:t>
            </a:r>
          </a:p>
        </p:txBody>
      </p:sp>
      <p:sp>
        <p:nvSpPr>
          <p:cNvPr id="245" name="preamble-diagram-caption">
            <a:extLst xmlns:a="http://schemas.openxmlformats.org/drawingml/2006/main">
              <a:ext uri="{FF2B5EF4-FFF2-40B4-BE49-F238E27FC236}">
                <a16:creationId xmlns:a16="http://schemas.microsoft.com/office/drawing/2014/main" id="{E103B243-C93A-4A36-8D33-AB0AB78BC5BB}"/>
              </a:ext>
            </a:extLst>
          </p:cNvPr>
          <p:cNvSpPr>
            <a:spLocks xmlns:a="http://schemas.openxmlformats.org/drawingml/2006/main" noGrp="1"/>
          </p:cNvSpPr>
          <p:nvPr/>
        </p:nvSpPr>
        <p:spPr>
          <a:xfrm xmlns:a="http://schemas.openxmlformats.org/drawingml/2006/main">
            <a:off x="7762875" y="5048250"/>
            <a:ext cx="3571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125" i="1">
                <a:solidFill>
                  <a:srgbClr val="52606D"/>
                </a:solidFill>
                <a:latin typeface="Arial"/>
                <a:ea typeface="Arial"/>
                <a:cs typeface="Arial"/>
              </a:defRPr>
            </a:pPr>
            <a:r>
              <a:rPr sz="1125" i="1">
                <a:solidFill>
                  <a:srgbClr val="52606D"/>
                </a:solidFill>
                <a:latin typeface="Arial"/>
                <a:ea typeface="Arial"/>
                <a:cs typeface="Arial"/>
              </a:rPr>
              <a:t>Efficiency relies on a two-server non-collusion model [18].</a:t>
            </a:r>
          </a:p>
        </p:txBody>
      </p:sp>
      <p:sp>
        <p:nvSpPr>
          <p:cNvPr id="249" name="related-comparison-cover">
            <a:extLst xmlns:a="http://schemas.openxmlformats.org/drawingml/2006/main">
              <a:ext uri="{FF2B5EF4-FFF2-40B4-BE49-F238E27FC236}">
                <a16:creationId xmlns:a16="http://schemas.microsoft.com/office/drawing/2014/main" id="{E3799B93-7326-4544-B17C-639EED2DC534}"/>
              </a:ext>
            </a:extLst>
          </p:cNvPr>
          <p:cNvSpPr>
            <a:spLocks xmlns:a="http://schemas.openxmlformats.org/drawingml/2006/main" noGrp="1"/>
          </p:cNvSpPr>
          <p:nvPr/>
        </p:nvSpPr>
        <p:spPr>
          <a:xfrm xmlns:a="http://schemas.openxmlformats.org/drawingml/2006/main">
            <a:off x="428625" y="1066800"/>
            <a:ext cx="1133475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50" name="related-comparison-caption">
            <a:extLst xmlns:a="http://schemas.openxmlformats.org/drawingml/2006/main">
              <a:ext uri="{FF2B5EF4-FFF2-40B4-BE49-F238E27FC236}">
                <a16:creationId xmlns:a16="http://schemas.microsoft.com/office/drawing/2014/main" id="{D5E7070B-AA26-4FD4-82E8-7DFB674D4BD6}"/>
              </a:ext>
            </a:extLst>
          </p:cNvPr>
          <p:cNvSpPr>
            <a:spLocks xmlns:a="http://schemas.openxmlformats.org/drawingml/2006/main" noGrp="1"/>
          </p:cNvSpPr>
          <p:nvPr/>
        </p:nvSpPr>
        <p:spPr>
          <a:xfrm xmlns:a="http://schemas.openxmlformats.org/drawingml/2006/main">
            <a:off x="904875" y="1143000"/>
            <a:ext cx="1038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350" i="1">
                <a:solidFill>
                  <a:srgbClr val="1E3A5F"/>
                </a:solidFill>
                <a:latin typeface="Arial"/>
                <a:ea typeface="Arial"/>
                <a:cs typeface="Arial"/>
              </a:defRPr>
            </a:pPr>
            <a:r>
              <a:rPr sz="1350" i="1">
                <a:solidFill>
                  <a:srgbClr val="1E3A5F"/>
                </a:solidFill>
                <a:latin typeface="Arial"/>
                <a:ea typeface="Arial"/>
                <a:cs typeface="Arial"/>
              </a:rPr>
              <a:t>TABLE I. Comparison of the closest privacy-preserving federated-learning studies</a:t>
            </a:r>
          </a:p>
        </p:txBody>
      </p:sp>
      <p:graphicFrame>
        <p:nvGraphicFramePr>
          <p:cNvPr id="291" name="Table 291"/>
          <p:cNvGraphicFramePr/>
          <p:nvPr/>
        </p:nvGraphicFramePr>
        <p:xfrm>
          <a:off xmlns:a="http://schemas.openxmlformats.org/drawingml/2006/main" x="523875" y="1524000"/>
          <a:ext xmlns:a="http://schemas.openxmlformats.org/drawingml/2006/main" cx="11144250" cy="4000500"/>
        </p:xfrm>
        <a:graphic xmlns:a="http://schemas.openxmlformats.org/drawingml/2006/main">
          <a:graphicData uri="http://schemas.openxmlformats.org/drawingml/2006/table">
            <a:tbl>
              <a:tblPr firstRow="1" bandRow="1"/>
              <a:tblGrid>
                <a:gridCol w="1666875"/>
                <a:gridCol w="742950"/>
                <a:gridCol w="2143125"/>
                <a:gridCol w="3190875"/>
                <a:gridCol w="3400425"/>
              </a:tblGrid>
              <a:tr h="666750">
                <a:tc>
                  <a:txBody>
                    <a:bodyPr/>
                    <a:lstStyle/>
                    <a:p>
                      <a:r>
                        <a:rPr sz="1163" b="1">
                          <a:solidFill>
                            <a:srgbClr val="FFFFFF"/>
                          </a:solidFill>
                          <a:latin typeface="Arial"/>
                          <a:ea typeface="Arial"/>
                          <a:cs typeface="Arial"/>
                        </a:rPr>
                        <a:t>Study</a:t>
                      </a:r>
                    </a:p>
                  </a:txBody>
                  <a:tcPr marL="57150" marR="57150" marT="38100" marB="38100" anchor="ctr">
                    <a:solidFill>
                      <a:srgbClr val="1E3A5F"/>
                    </a:solidFill>
                  </a:tcPr>
                </a:tc>
                <a:tc>
                  <a:txBody>
                    <a:bodyPr/>
                    <a:lstStyle/>
                    <a:p>
                      <a:r>
                        <a:rPr sz="1163" b="1">
                          <a:solidFill>
                            <a:srgbClr val="FFFFFF"/>
                          </a:solidFill>
                          <a:latin typeface="Arial"/>
                          <a:ea typeface="Arial"/>
                          <a:cs typeface="Arial"/>
                        </a:rPr>
                        <a:t>Year</a:t>
                      </a:r>
                    </a:p>
                  </a:txBody>
                  <a:tcPr marL="57150" marR="57150" marT="38100" marB="38100" anchor="ctr">
                    <a:solidFill>
                      <a:srgbClr val="1E3A5F"/>
                    </a:solidFill>
                  </a:tcPr>
                </a:tc>
                <a:tc>
                  <a:txBody>
                    <a:bodyPr/>
                    <a:lstStyle/>
                    <a:p>
                      <a:r>
                        <a:rPr sz="1163" b="1">
                          <a:solidFill>
                            <a:srgbClr val="FFFFFF"/>
                          </a:solidFill>
                          <a:latin typeface="Arial"/>
                          <a:ea typeface="Arial"/>
                          <a:cs typeface="Arial"/>
                        </a:rPr>
                        <a:t>Method</a:t>
                      </a:r>
                    </a:p>
                  </a:txBody>
                  <a:tcPr marL="57150" marR="57150" marT="38100" marB="38100" anchor="ctr">
                    <a:solidFill>
                      <a:srgbClr val="1E3A5F"/>
                    </a:solidFill>
                  </a:tcPr>
                </a:tc>
                <a:tc>
                  <a:txBody>
                    <a:bodyPr/>
                    <a:lstStyle/>
                    <a:p>
                      <a:r>
                        <a:rPr sz="1163" b="1">
                          <a:solidFill>
                            <a:srgbClr val="FFFFFF"/>
                          </a:solidFill>
                          <a:latin typeface="Arial"/>
                          <a:ea typeface="Arial"/>
                          <a:cs typeface="Arial"/>
                        </a:rPr>
                        <a:t>Main contribution</a:t>
                      </a:r>
                    </a:p>
                  </a:txBody>
                  <a:tcPr marL="57150" marR="57150" marT="38100" marB="38100" anchor="ctr">
                    <a:solidFill>
                      <a:srgbClr val="1E3A5F"/>
                    </a:solidFill>
                  </a:tcPr>
                </a:tc>
                <a:tc>
                  <a:txBody>
                    <a:bodyPr/>
                    <a:lstStyle/>
                    <a:p>
                      <a:r>
                        <a:rPr sz="1163" b="1">
                          <a:solidFill>
                            <a:srgbClr val="FFFFFF"/>
                          </a:solidFill>
                          <a:latin typeface="Arial"/>
                          <a:ea typeface="Arial"/>
                          <a:cs typeface="Arial"/>
                        </a:rPr>
                        <a:t>Limitation relative to this thesis</a:t>
                      </a:r>
                    </a:p>
                  </a:txBody>
                  <a:tcPr marL="57150" marR="57150" marT="38100" marB="38100" anchor="ctr">
                    <a:solidFill>
                      <a:srgbClr val="1E3A5F"/>
                    </a:solidFill>
                  </a:tcPr>
                </a:tc>
              </a:tr>
              <a:tr h="666750">
                <a:tc>
                  <a:txBody>
                    <a:bodyPr/>
                    <a:lstStyle/>
                    <a:p>
                      <a:r>
                        <a:rPr sz="1110" b="1">
                          <a:solidFill>
                            <a:srgbClr val="1E3A5F"/>
                          </a:solidFill>
                          <a:latin typeface="Arial"/>
                          <a:ea typeface="Arial"/>
                          <a:cs typeface="Arial"/>
                        </a:rPr>
                        <a:t>Stevens et al.</a:t>
                      </a:r>
                    </a:p>
                    <a:p>
                      <a:r>
                        <a:rPr sz="1110" b="1">
                          <a:solidFill>
                            <a:srgbClr val="1E3A5F"/>
                          </a:solidFill>
                          <a:latin typeface="Arial"/>
                          <a:ea typeface="Arial"/>
                          <a:cs typeface="Arial"/>
                        </a:rPr>
                        <a:t>FLDP [11]</a:t>
                      </a:r>
                    </a:p>
                  </a:txBody>
                  <a:tcPr marL="57150" marR="57150" marT="38100" marB="38100" anchor="ctr">
                    <a:solidFill>
                      <a:srgbClr val="EAF4F8"/>
                    </a:solidFill>
                  </a:tcPr>
                </a:tc>
                <a:tc>
                  <a:txBody>
                    <a:bodyPr/>
                    <a:lstStyle/>
                    <a:p>
                      <a:r>
                        <a:rPr sz="1110">
                          <a:solidFill>
                            <a:srgbClr val="1F2937"/>
                          </a:solidFill>
                          <a:latin typeface="Arial"/>
                          <a:ea typeface="Arial"/>
                          <a:cs typeface="Arial"/>
                        </a:rPr>
                        <a:t>2022</a:t>
                      </a:r>
                    </a:p>
                  </a:txBody>
                  <a:tcPr marL="57150" marR="57150" marT="38100" marB="38100" anchor="ctr">
                    <a:solidFill>
                      <a:srgbClr val="F2F5F7"/>
                    </a:solidFill>
                  </a:tcPr>
                </a:tc>
                <a:tc>
                  <a:txBody>
                    <a:bodyPr/>
                    <a:lstStyle/>
                    <a:p>
                      <a:r>
                        <a:rPr sz="1110">
                          <a:solidFill>
                            <a:srgbClr val="1F2937"/>
                          </a:solidFill>
                          <a:latin typeface="Arial"/>
                          <a:ea typeface="Arial"/>
                          <a:cs typeface="Arial"/>
                        </a:rPr>
                        <a:t>LWE secure aggregation with distributed DP</a:t>
                      </a:r>
                    </a:p>
                  </a:txBody>
                  <a:tcPr marL="57150" marR="57150" marT="38100" marB="38100" anchor="ctr">
                    <a:solidFill>
                      <a:srgbClr val="FFFFFF"/>
                    </a:solidFill>
                  </a:tcPr>
                </a:tc>
                <a:tc>
                  <a:txBody>
                    <a:bodyPr/>
                    <a:lstStyle/>
                    <a:p>
                      <a:r>
                        <a:rPr sz="1110">
                          <a:solidFill>
                            <a:srgbClr val="1F2937"/>
                          </a:solidFill>
                          <a:latin typeface="Arial"/>
                          <a:ea typeface="Arial"/>
                          <a:cs typeface="Arial"/>
                        </a:rPr>
                        <a:t>Malicious-secure private aggregation with measured communication and server cost</a:t>
                      </a:r>
                    </a:p>
                  </a:txBody>
                  <a:tcPr marL="57150" marR="57150" marT="38100" marB="38100" anchor="ctr">
                    <a:solidFill>
                      <a:srgbClr val="FFFFFF"/>
                    </a:solidFill>
                  </a:tcPr>
                </a:tc>
                <a:tc>
                  <a:txBody>
                    <a:bodyPr/>
                    <a:lstStyle/>
                    <a:p>
                      <a:r>
                        <a:rPr sz="1110">
                          <a:solidFill>
                            <a:srgbClr val="1F2937"/>
                          </a:solidFill>
                          <a:latin typeface="Arial"/>
                          <a:ea typeface="Arial"/>
                          <a:cs typeface="Arial"/>
                        </a:rPr>
                        <a:t>No poisoning defence; non-clinical benchmarks and a different cryptographic path</a:t>
                      </a:r>
                    </a:p>
                  </a:txBody>
                  <a:tcPr marL="57150" marR="57150" marT="38100" marB="38100" anchor="ctr">
                    <a:solidFill>
                      <a:srgbClr val="FFFFFF"/>
                    </a:solidFill>
                  </a:tcPr>
                </a:tc>
              </a:tr>
              <a:tr h="666750">
                <a:tc>
                  <a:txBody>
                    <a:bodyPr/>
                    <a:lstStyle/>
                    <a:p>
                      <a:r>
                        <a:rPr sz="1110" b="1">
                          <a:solidFill>
                            <a:srgbClr val="1E3A5F"/>
                          </a:solidFill>
                          <a:latin typeface="Arial"/>
                          <a:ea typeface="Arial"/>
                          <a:cs typeface="Arial"/>
                        </a:rPr>
                        <a:t>Froelicher et al.</a:t>
                      </a:r>
                    </a:p>
                    <a:p>
                      <a:r>
                        <a:rPr sz="1110" b="1">
                          <a:solidFill>
                            <a:srgbClr val="1E3A5F"/>
                          </a:solidFill>
                          <a:latin typeface="Arial"/>
                          <a:ea typeface="Arial"/>
                          <a:cs typeface="Arial"/>
                        </a:rPr>
                        <a:t>FAMHE [12]</a:t>
                      </a:r>
                    </a:p>
                  </a:txBody>
                  <a:tcPr marL="57150" marR="57150" marT="38100" marB="38100" anchor="ctr">
                    <a:solidFill>
                      <a:srgbClr val="EAF4F8"/>
                    </a:solidFill>
                  </a:tcPr>
                </a:tc>
                <a:tc>
                  <a:txBody>
                    <a:bodyPr/>
                    <a:lstStyle/>
                    <a:p>
                      <a:r>
                        <a:rPr sz="1110">
                          <a:solidFill>
                            <a:srgbClr val="1F2937"/>
                          </a:solidFill>
                          <a:latin typeface="Arial"/>
                          <a:ea typeface="Arial"/>
                          <a:cs typeface="Arial"/>
                        </a:rPr>
                        <a:t>2021</a:t>
                      </a:r>
                    </a:p>
                  </a:txBody>
                  <a:tcPr marL="57150" marR="57150" marT="38100" marB="38100" anchor="ctr">
                    <a:solidFill>
                      <a:srgbClr val="F2F5F7"/>
                    </a:solidFill>
                  </a:tcPr>
                </a:tc>
                <a:tc>
                  <a:txBody>
                    <a:bodyPr/>
                    <a:lstStyle/>
                    <a:p>
                      <a:r>
                        <a:rPr sz="1110">
                          <a:solidFill>
                            <a:srgbClr val="1F2937"/>
                          </a:solidFill>
                          <a:latin typeface="Arial"/>
                          <a:ea typeface="Arial"/>
                          <a:cs typeface="Arial"/>
                        </a:rPr>
                        <a:t>Multiparty homomorphic encryption</a:t>
                      </a:r>
                    </a:p>
                  </a:txBody>
                  <a:tcPr marL="57150" marR="57150" marT="38100" marB="38100" anchor="ctr">
                    <a:solidFill>
                      <a:srgbClr val="FFFFFF"/>
                    </a:solidFill>
                  </a:tcPr>
                </a:tc>
                <a:tc>
                  <a:txBody>
                    <a:bodyPr/>
                    <a:lstStyle/>
                    <a:p>
                      <a:r>
                        <a:rPr sz="1110">
                          <a:solidFill>
                            <a:srgbClr val="1F2937"/>
                          </a:solidFill>
                          <a:latin typeface="Arial"/>
                          <a:ea typeface="Arial"/>
                          <a:cs typeface="Arial"/>
                        </a:rPr>
                        <a:t>Protected biomedical survival and genomic analytics without a central decryptor</a:t>
                      </a:r>
                    </a:p>
                  </a:txBody>
                  <a:tcPr marL="57150" marR="57150" marT="38100" marB="38100" anchor="ctr">
                    <a:solidFill>
                      <a:srgbClr val="FFFFFF"/>
                    </a:solidFill>
                  </a:tcPr>
                </a:tc>
                <a:tc>
                  <a:txBody>
                    <a:bodyPr/>
                    <a:lstStyle/>
                    <a:p>
                      <a:r>
                        <a:rPr sz="1110">
                          <a:solidFill>
                            <a:srgbClr val="1F2937"/>
                          </a:solidFill>
                          <a:latin typeface="Arial"/>
                          <a:ea typeface="Arial"/>
                          <a:cs typeface="Arial"/>
                        </a:rPr>
                        <a:t>Not iterative neural FL; no adaptive compression or poisoning evaluation</a:t>
                      </a:r>
                    </a:p>
                  </a:txBody>
                  <a:tcPr marL="57150" marR="57150" marT="38100" marB="38100" anchor="ctr">
                    <a:solidFill>
                      <a:srgbClr val="FFFFFF"/>
                    </a:solidFill>
                  </a:tcPr>
                </a:tc>
              </a:tr>
              <a:tr h="666750">
                <a:tc>
                  <a:txBody>
                    <a:bodyPr/>
                    <a:lstStyle/>
                    <a:p>
                      <a:r>
                        <a:rPr sz="1110" b="1">
                          <a:solidFill>
                            <a:srgbClr val="1E3A5F"/>
                          </a:solidFill>
                          <a:latin typeface="Arial"/>
                          <a:ea typeface="Arial"/>
                          <a:cs typeface="Arial"/>
                        </a:rPr>
                        <a:t>Xu et al.</a:t>
                      </a:r>
                    </a:p>
                    <a:p>
                      <a:r>
                        <a:rPr sz="1110" b="1">
                          <a:solidFill>
                            <a:srgbClr val="1E3A5F"/>
                          </a:solidFill>
                          <a:latin typeface="Arial"/>
                          <a:ea typeface="Arial"/>
                          <a:cs typeface="Arial"/>
                        </a:rPr>
                        <a:t>DDFed [16]</a:t>
                      </a:r>
                    </a:p>
                  </a:txBody>
                  <a:tcPr marL="57150" marR="57150" marT="38100" marB="38100" anchor="ctr">
                    <a:solidFill>
                      <a:srgbClr val="EAF4F8"/>
                    </a:solidFill>
                  </a:tcPr>
                </a:tc>
                <a:tc>
                  <a:txBody>
                    <a:bodyPr/>
                    <a:lstStyle/>
                    <a:p>
                      <a:r>
                        <a:rPr sz="1110">
                          <a:solidFill>
                            <a:srgbClr val="1F2937"/>
                          </a:solidFill>
                          <a:latin typeface="Arial"/>
                          <a:ea typeface="Arial"/>
                          <a:cs typeface="Arial"/>
                        </a:rPr>
                        <a:t>2024</a:t>
                      </a:r>
                    </a:p>
                  </a:txBody>
                  <a:tcPr marL="57150" marR="57150" marT="38100" marB="38100" anchor="ctr">
                    <a:solidFill>
                      <a:srgbClr val="F2F5F7"/>
                    </a:solidFill>
                  </a:tcPr>
                </a:tc>
                <a:tc>
                  <a:txBody>
                    <a:bodyPr/>
                    <a:lstStyle/>
                    <a:p>
                      <a:r>
                        <a:rPr sz="1110">
                          <a:solidFill>
                            <a:srgbClr val="1F2937"/>
                          </a:solidFill>
                          <a:latin typeface="Arial"/>
                          <a:ea typeface="Arial"/>
                          <a:cs typeface="Arial"/>
                        </a:rPr>
                        <a:t>FHE with encrypted anomaly detection</a:t>
                      </a:r>
                    </a:p>
                  </a:txBody>
                  <a:tcPr marL="57150" marR="57150" marT="38100" marB="38100" anchor="ctr">
                    <a:solidFill>
                      <a:srgbClr val="FFFFFF"/>
                    </a:solidFill>
                  </a:tcPr>
                </a:tc>
                <a:tc>
                  <a:txBody>
                    <a:bodyPr/>
                    <a:lstStyle/>
                    <a:p>
                      <a:r>
                        <a:rPr sz="1110">
                          <a:solidFill>
                            <a:srgbClr val="1F2937"/>
                          </a:solidFill>
                          <a:latin typeface="Arial"/>
                          <a:ea typeface="Arial"/>
                          <a:cs typeface="Arial"/>
                        </a:rPr>
                        <a:t>Combines update confidentiality with poisoning detection in cross-device and cross-silo FL</a:t>
                      </a:r>
                    </a:p>
                  </a:txBody>
                  <a:tcPr marL="57150" marR="57150" marT="38100" marB="38100" anchor="ctr">
                    <a:solidFill>
                      <a:srgbClr val="FFFFFF"/>
                    </a:solidFill>
                  </a:tcPr>
                </a:tc>
                <a:tc>
                  <a:txBody>
                    <a:bodyPr/>
                    <a:lstStyle/>
                    <a:p>
                      <a:r>
                        <a:rPr sz="1110">
                          <a:solidFill>
                            <a:srgbClr val="1F2937"/>
                          </a:solidFill>
                          <a:latin typeface="Arial"/>
                          <a:ea typeface="Arial"/>
                          <a:cs typeface="Arial"/>
                        </a:rPr>
                        <a:t>No formal record-level DP, ciphertext-aware compression, or external governance</a:t>
                      </a:r>
                    </a:p>
                  </a:txBody>
                  <a:tcPr marL="57150" marR="57150" marT="38100" marB="38100" anchor="ctr">
                    <a:solidFill>
                      <a:srgbClr val="FFFFFF"/>
                    </a:solidFill>
                  </a:tcPr>
                </a:tc>
              </a:tr>
              <a:tr h="666750">
                <a:tc>
                  <a:txBody>
                    <a:bodyPr/>
                    <a:lstStyle/>
                    <a:p>
                      <a:r>
                        <a:rPr sz="1110" b="1">
                          <a:solidFill>
                            <a:srgbClr val="1E3A5F"/>
                          </a:solidFill>
                          <a:latin typeface="Arial"/>
                          <a:ea typeface="Arial"/>
                          <a:cs typeface="Arial"/>
                        </a:rPr>
                        <a:t>Gu et al.</a:t>
                      </a:r>
                    </a:p>
                    <a:p>
                      <a:r>
                        <a:rPr sz="1110" b="1">
                          <a:solidFill>
                            <a:srgbClr val="1E3A5F"/>
                          </a:solidFill>
                          <a:latin typeface="Arial"/>
                          <a:ea typeface="Arial"/>
                          <a:cs typeface="Arial"/>
                        </a:rPr>
                        <a:t>DP-BREM+ [17]</a:t>
                      </a:r>
                    </a:p>
                  </a:txBody>
                  <a:tcPr marL="57150" marR="57150" marT="38100" marB="38100" anchor="ctr">
                    <a:solidFill>
                      <a:srgbClr val="EAF4F8"/>
                    </a:solidFill>
                  </a:tcPr>
                </a:tc>
                <a:tc>
                  <a:txBody>
                    <a:bodyPr/>
                    <a:lstStyle/>
                    <a:p>
                      <a:r>
                        <a:rPr sz="1110">
                          <a:solidFill>
                            <a:srgbClr val="1F2937"/>
                          </a:solidFill>
                          <a:latin typeface="Arial"/>
                          <a:ea typeface="Arial"/>
                          <a:cs typeface="Arial"/>
                        </a:rPr>
                        <a:t>2025</a:t>
                      </a:r>
                    </a:p>
                  </a:txBody>
                  <a:tcPr marL="57150" marR="57150" marT="38100" marB="38100" anchor="ctr">
                    <a:solidFill>
                      <a:srgbClr val="F2F5F7"/>
                    </a:solidFill>
                  </a:tcPr>
                </a:tc>
                <a:tc>
                  <a:txBody>
                    <a:bodyPr/>
                    <a:lstStyle/>
                    <a:p>
                      <a:r>
                        <a:rPr sz="1110">
                          <a:solidFill>
                            <a:srgbClr val="1F2937"/>
                          </a:solidFill>
                          <a:latin typeface="Arial"/>
                          <a:ea typeface="Arial"/>
                          <a:cs typeface="Arial"/>
                        </a:rPr>
                        <a:t>Secure aggregation, client momentum, and DP</a:t>
                      </a:r>
                    </a:p>
                  </a:txBody>
                  <a:tcPr marL="57150" marR="57150" marT="38100" marB="38100" anchor="ctr">
                    <a:solidFill>
                      <a:srgbClr val="FFFFFF"/>
                    </a:solidFill>
                  </a:tcPr>
                </a:tc>
                <a:tc>
                  <a:txBody>
                    <a:bodyPr/>
                    <a:lstStyle/>
                    <a:p>
                      <a:r>
                        <a:rPr sz="1110">
                          <a:solidFill>
                            <a:srgbClr val="1F2937"/>
                          </a:solidFill>
                          <a:latin typeface="Arial"/>
                          <a:ea typeface="Arial"/>
                          <a:cs typeface="Arial"/>
                        </a:rPr>
                        <a:t>Combines formal privacy and Byzantine robustness without a trusted server</a:t>
                      </a:r>
                    </a:p>
                  </a:txBody>
                  <a:tcPr marL="57150" marR="57150" marT="38100" marB="38100" anchor="ctr">
                    <a:solidFill>
                      <a:srgbClr val="FFFFFF"/>
                    </a:solidFill>
                  </a:tcPr>
                </a:tc>
                <a:tc>
                  <a:txBody>
                    <a:bodyPr/>
                    <a:lstStyle/>
                    <a:p>
                      <a:r>
                        <a:rPr sz="1110">
                          <a:solidFill>
                            <a:srgbClr val="1F2937"/>
                          </a:solidFill>
                          <a:latin typeface="Arial"/>
                          <a:ea typeface="Arial"/>
                          <a:cs typeface="Arial"/>
                        </a:rPr>
                        <a:t>No encrypted wire-reduction method, clinical cohort, or external audit ledger</a:t>
                      </a:r>
                    </a:p>
                  </a:txBody>
                  <a:tcPr marL="57150" marR="57150" marT="38100" marB="38100" anchor="ctr">
                    <a:solidFill>
                      <a:srgbClr val="FFFFFF"/>
                    </a:solidFill>
                  </a:tcPr>
                </a:tc>
              </a:tr>
              <a:tr h="666750">
                <a:tc>
                  <a:txBody>
                    <a:bodyPr/>
                    <a:lstStyle/>
                    <a:p>
                      <a:r>
                        <a:rPr sz="1110" b="1">
                          <a:solidFill>
                            <a:srgbClr val="1E3A5F"/>
                          </a:solidFill>
                          <a:latin typeface="Arial"/>
                          <a:ea typeface="Arial"/>
                          <a:cs typeface="Arial"/>
                        </a:rPr>
                        <a:t>Asi et al.</a:t>
                      </a:r>
                    </a:p>
                    <a:p>
                      <a:r>
                        <a:rPr sz="1110" b="1">
                          <a:solidFill>
                            <a:srgbClr val="1E3A5F"/>
                          </a:solidFill>
                          <a:latin typeface="Arial"/>
                          <a:ea typeface="Arial"/>
                          <a:cs typeface="Arial"/>
                        </a:rPr>
                        <a:t>PREAMBLE [18]</a:t>
                      </a:r>
                    </a:p>
                  </a:txBody>
                  <a:tcPr marL="57150" marR="57150" marT="38100" marB="38100" anchor="ctr">
                    <a:solidFill>
                      <a:srgbClr val="EAF4F8"/>
                    </a:solidFill>
                  </a:tcPr>
                </a:tc>
                <a:tc>
                  <a:txBody>
                    <a:bodyPr/>
                    <a:lstStyle/>
                    <a:p>
                      <a:r>
                        <a:rPr sz="1110">
                          <a:solidFill>
                            <a:srgbClr val="1F2937"/>
                          </a:solidFill>
                          <a:latin typeface="Arial"/>
                          <a:ea typeface="Arial"/>
                          <a:cs typeface="Arial"/>
                        </a:rPr>
                        <a:t>2025</a:t>
                      </a:r>
                    </a:p>
                  </a:txBody>
                  <a:tcPr marL="57150" marR="57150" marT="38100" marB="38100" anchor="ctr">
                    <a:solidFill>
                      <a:srgbClr val="F2F5F7"/>
                    </a:solidFill>
                  </a:tcPr>
                </a:tc>
                <a:tc>
                  <a:txBody>
                    <a:bodyPr/>
                    <a:lstStyle/>
                    <a:p>
                      <a:r>
                        <a:rPr sz="1110">
                          <a:solidFill>
                            <a:srgbClr val="1F2937"/>
                          </a:solidFill>
                          <a:latin typeface="Arial"/>
                          <a:ea typeface="Arial"/>
                          <a:cs typeface="Arial"/>
                        </a:rPr>
                        <a:t>Two-server block-sparse private aggregation</a:t>
                      </a:r>
                    </a:p>
                  </a:txBody>
                  <a:tcPr marL="57150" marR="57150" marT="38100" marB="38100" anchor="ctr">
                    <a:solidFill>
                      <a:srgbClr val="FFFFFF"/>
                    </a:solidFill>
                  </a:tcPr>
                </a:tc>
                <a:tc>
                  <a:txBody>
                    <a:bodyPr/>
                    <a:lstStyle/>
                    <a:p>
                      <a:r>
                        <a:rPr sz="1110">
                          <a:solidFill>
                            <a:srgbClr val="1F2937"/>
                          </a:solidFill>
                          <a:latin typeface="Arial"/>
                          <a:ea typeface="Arial"/>
                          <a:cs typeface="Arial"/>
                        </a:rPr>
                        <a:t>Co-designs block sparsity and protected transport for high-dimensional vectors</a:t>
                      </a:r>
                    </a:p>
                  </a:txBody>
                  <a:tcPr marL="57150" marR="57150" marT="38100" marB="38100" anchor="ctr">
                    <a:solidFill>
                      <a:srgbClr val="FFFFFF"/>
                    </a:solidFill>
                  </a:tcPr>
                </a:tc>
                <a:tc>
                  <a:txBody>
                    <a:bodyPr/>
                    <a:lstStyle/>
                    <a:p>
                      <a:r>
                        <a:rPr sz="1110">
                          <a:solidFill>
                            <a:srgbClr val="1F2937"/>
                          </a:solidFill>
                          <a:latin typeface="Arial"/>
                          <a:ea typeface="Arial"/>
                          <a:cs typeface="Arial"/>
                        </a:rPr>
                        <a:t>Requires non-colluding servers; no poisoning or end-to-end clinical FL</a:t>
                      </a:r>
                    </a:p>
                  </a:txBody>
                  <a:tcPr marL="57150" marR="57150" marT="38100" marB="38100" anchor="ctr">
                    <a:solidFill>
                      <a:srgbClr val="FFFFFF"/>
                    </a:solidFill>
                  </a:tcPr>
                </a:tc>
              </a:tr>
            </a:tbl>
          </a:graphicData>
        </a:graphic>
      </p:graphicFrame>
      <p:sp>
        <p:nvSpPr>
          <p:cNvPr id="252" name="related-comparison-note">
            <a:extLst xmlns:a="http://schemas.openxmlformats.org/drawingml/2006/main">
              <a:ext uri="{FF2B5EF4-FFF2-40B4-BE49-F238E27FC236}">
                <a16:creationId xmlns:a16="http://schemas.microsoft.com/office/drawing/2014/main" id="{EEA77285-8E95-45D8-AA77-13B2B157C036}"/>
              </a:ext>
            </a:extLst>
          </p:cNvPr>
          <p:cNvSpPr>
            <a:spLocks xmlns:a="http://schemas.openxmlformats.org/drawingml/2006/main" noGrp="1"/>
          </p:cNvSpPr>
          <p:nvPr/>
        </p:nvSpPr>
        <p:spPr>
          <a:xfrm xmlns:a="http://schemas.openxmlformats.org/drawingml/2006/main">
            <a:off x="904875" y="5667375"/>
            <a:ext cx="10382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163" i="1">
                <a:solidFill>
                  <a:srgbClr val="52606D"/>
                </a:solidFill>
                <a:latin typeface="Arial"/>
                <a:ea typeface="Arial"/>
                <a:cs typeface="Arial"/>
              </a:defRPr>
            </a:pPr>
            <a:r>
              <a:rPr sz="1163" i="1">
                <a:solidFill>
                  <a:srgbClr val="52606D"/>
                </a:solidFill>
                <a:latin typeface="Arial"/>
                <a:ea typeface="Arial"/>
                <a:cs typeface="Arial"/>
              </a:rPr>
              <a:t>The studies use different datasets, privacy definitions, and threat models; the table compares scope rather than rank.</a:t>
            </a:r>
          </a:p>
        </p:txBody>
      </p:sp>
      <p:sp>
        <p:nvSpPr>
          <p:cNvPr id="254" name="related-comparison-footer-rule">
            <a:extLst xmlns:a="http://schemas.openxmlformats.org/drawingml/2006/main">
              <a:ext uri="{FF2B5EF4-FFF2-40B4-BE49-F238E27FC236}">
                <a16:creationId xmlns:a16="http://schemas.microsoft.com/office/drawing/2014/main" id="{509A58D0-ABF3-4437-85DF-C353E9E73395}"/>
              </a:ext>
            </a:extLst>
          </p:cNvPr>
          <p:cNvSpPr>
            <a:spLocks xmlns:a="http://schemas.openxmlformats.org/drawingml/2006/main" noGrp="1"/>
          </p:cNvSpPr>
          <p:nvPr/>
        </p:nvSpPr>
        <p:spPr>
          <a:xfrm xmlns:a="http://schemas.openxmlformats.org/drawingml/2006/main">
            <a:off x="343879" y="6015037"/>
            <a:ext cx="11334750" cy="9525"/>
          </a:xfrm>
          <a:prstGeom xmlns:a="http://schemas.openxmlformats.org/drawingml/2006/main" prst="rect">
            <a:avLst/>
          </a:prstGeom>
          <a:solidFill xmlns:a="http://schemas.openxmlformats.org/drawingml/2006/main">
            <a:srgbClr val="C8D9A5"/>
          </a:solidFill>
          <a:ln xmlns:a="http://schemas.openxmlformats.org/drawingml/2006/main" w="0">
            <a:noFill/>
          </a:ln>
        </p:spPr>
      </p:sp>
      <p:pic>
        <p:nvPicPr>
          <p:cNvPr id="294" name="Picture 295"/>
          <p:cNvPicPr>
            <a:picLocks xmlns:a="http://schemas.openxmlformats.org/drawingml/2006/main" noChangeAspect="1"/>
          </p:cNvPicPr>
          <p:nvPr/>
        </p:nvPicPr>
        <p:blipFill>
          <a:blip xmlns:r="http://schemas.openxmlformats.org/officeDocument/2006/relationships" xmlns:a="http://schemas.openxmlformats.org/drawingml/2006/main" r:embed="Rd76dee4c3899494a"/>
          <a:stretch xmlns:a="http://schemas.openxmlformats.org/drawingml/2006/main"/>
        </p:blipFill>
        <p:spPr>
          <a:xfrm xmlns:a="http://schemas.openxmlformats.org/drawingml/2006/main">
            <a:off x="361950" y="371475"/>
            <a:ext cx="685800" cy="685800"/>
          </a:xfrm>
          <a:prstGeom xmlns:a="http://schemas.openxmlformats.org/drawingml/2006/main" prst="rect">
            <a:avLst/>
          </a:prstGeom>
        </p:spPr>
      </p:pic>
      <p:pic>
        <p:nvPicPr>
          <p:cNvPr id="295" name="Picture 296"/>
          <p:cNvPicPr>
            <a:picLocks xmlns:a="http://schemas.openxmlformats.org/drawingml/2006/main" noChangeAspect="1"/>
          </p:cNvPicPr>
          <p:nvPr/>
        </p:nvPicPr>
        <p:blipFill>
          <a:blip xmlns:r="http://schemas.openxmlformats.org/officeDocument/2006/relationships" xmlns:a="http://schemas.openxmlformats.org/drawingml/2006/main" r:embed="R637b5781c72d4aa3"/>
          <a:stretch xmlns:a="http://schemas.openxmlformats.org/drawingml/2006/main"/>
        </p:blipFill>
        <p:spPr>
          <a:xfrm xmlns:a="http://schemas.openxmlformats.org/drawingml/2006/main">
            <a:off x="9915525" y="248278"/>
            <a:ext cx="1943100" cy="808370"/>
          </a:xfrm>
          <a:prstGeom xmlns:a="http://schemas.openxmlformats.org/drawingml/2006/main" prst="rect">
            <a:avLst/>
          </a:prstGeom>
        </p:spPr>
      </p:pic>
      <p:sp>
        <p:nvSpPr>
          <p:cNvPr id="257" name="related-comparison-date">
            <a:extLst xmlns:a="http://schemas.openxmlformats.org/drawingml/2006/main">
              <a:ext uri="{FF2B5EF4-FFF2-40B4-BE49-F238E27FC236}">
                <a16:creationId xmlns:a16="http://schemas.microsoft.com/office/drawing/2014/main" id="{11BFE405-CAC3-4071-8F9F-2AD1172221A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lnSpcReduction="10000"/>
          </a:bodyPr>
          <a:lstStyle xmlns:a="http://schemas.openxmlformats.org/drawingml/2006/main"/>
          <a:p xmlns:a="http://schemas.openxmlformats.org/drawingml/2006/main">
            <a:pPr>
              <a:buNone/>
              <a:defRPr sz="900">
                <a:solidFill>
                  <a:srgbClr val="1E3A5F"/>
                </a:solidFill>
                <a:latin typeface="Arial"/>
                <a:ea typeface="Arial"/>
                <a:cs typeface="Arial"/>
              </a:defRPr>
            </a:pPr>
            <a:r>
              <a:rPr sz="900">
                <a:solidFill>
                  <a:srgbClr val="1E3A5F"/>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4F441C9C-DB24-BC90-E1A8-06BB78A42B4B}"/>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Gap</a:t>
            </a:r>
            <a:endParaRPr/>
          </a:p>
        </p:txBody>
      </p:sp>
      <p:sp>
        <p:nvSpPr>
          <p:cNvPr id="212" name="Google Shape;212;p28">
            <a:extLst xmlns:a="http://schemas.openxmlformats.org/drawingml/2006/main">
              <a:ext uri="{FF2B5EF4-FFF2-40B4-BE49-F238E27FC236}">
                <a16:creationId xmlns:a16="http://schemas.microsoft.com/office/drawing/2014/main" id="{04AC4499-7181-9004-D4F7-FF8D445EA123}"/>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15</a:t>
            </a:r>
            <a:endParaRPr sz="2800"/>
          </a:p>
        </p:txBody>
      </p:sp>
      <p:pic>
        <p:nvPicPr>
          <p:cNvPr id="22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fbfafdbcfbc544de">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b3061e53bb93416a">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B4B3C55C-04DC-095A-55DA-789E59E8DFB1}"/>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gap-bullets">
            <a:extLst xmlns:a="http://schemas.openxmlformats.org/drawingml/2006/main">
              <a:ext uri="{FF2B5EF4-FFF2-40B4-BE49-F238E27FC236}">
                <a16:creationId xmlns:a16="http://schemas.microsoft.com/office/drawing/2014/main" id="{2DFEB144-76F9-43F8-87E2-D826FFA3D6E8}"/>
              </a:ext>
            </a:extLst>
          </p:cNvPr>
          <p:cNvSpPr>
            <a:spLocks xmlns:a="http://schemas.openxmlformats.org/drawingml/2006/main" noGrp="1"/>
          </p:cNvSpPr>
          <p:nvPr/>
        </p:nvSpPr>
        <p:spPr>
          <a:xfrm xmlns:a="http://schemas.openxmlformats.org/drawingml/2006/main">
            <a:off x="904875" y="1381125"/>
            <a:ext cx="10382250"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No reviewed study evaluates patient-level DP, real CKKS serialization, adaptive common-block compression, poisoning-aware release, and external audit evidence under one protocol.</a:t>
            </a:r>
          </a:p>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Many compressors reduce plaintext coordinates but recover little or no encrypted network bandwidth.</a:t>
            </a:r>
          </a:p>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Robust plaintext aggregators require individual update distances that a sum-only encrypted path intentionally hides.</a:t>
            </a:r>
          </a:p>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Prior evaluations seldom combine paired multi-seed utility, membership inference, gradient reconstruction, one-round poisoning, longitudinal poisoning, and service timing.</a:t>
            </a:r>
          </a:p>
        </p:txBody>
      </p:sp>
      <p:sp>
        <p:nvSpPr>
          <p:cNvPr id="221" name="gap-response">
            <a:extLst xmlns:a="http://schemas.openxmlformats.org/drawingml/2006/main">
              <a:ext uri="{FF2B5EF4-FFF2-40B4-BE49-F238E27FC236}">
                <a16:creationId xmlns:a16="http://schemas.microsoft.com/office/drawing/2014/main" id="{66E1C845-31B3-4F02-9C0E-56EF08B8DD0D}"/>
              </a:ext>
            </a:extLst>
          </p:cNvPr>
          <p:cNvSpPr>
            <a:spLocks xmlns:a="http://schemas.openxmlformats.org/drawingml/2006/main" noGrp="1"/>
          </p:cNvSpPr>
          <p:nvPr/>
        </p:nvSpPr>
        <p:spPr>
          <a:xfrm xmlns:a="http://schemas.openxmlformats.org/drawingml/2006/main">
            <a:off x="1095375" y="4905375"/>
            <a:ext cx="10001250" cy="952500"/>
          </a:xfrm>
          <a:prstGeom xmlns:a="http://schemas.openxmlformats.org/drawingml/2006/main" prst="roundRect">
            <a:avLst>
              <a:gd name="adj" fmla="val 8000"/>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Thesis response</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CAABC-FL aligns adaptive compression with CKKS blocks and places verification, validation, rollback, threshold policy, and witnessed audit evidence around the encrypted training round.</a:t>
            </a:r>
          </a:p>
        </p:txBody>
      </p:sp>
      <p:sp>
        <p:nvSpPr>
          <p:cNvPr id="224" name="visible-footer-date-12">
            <a:extLst xmlns:a="http://schemas.openxmlformats.org/drawingml/2006/main">
              <a:ext uri="{FF2B5EF4-FFF2-40B4-BE49-F238E27FC236}">
                <a16:creationId xmlns:a16="http://schemas.microsoft.com/office/drawing/2014/main" id="{A85C2E33-42AD-4E2A-9450-64B073424856}"/>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026661964"/>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211" name="chrome-title-16">
            <a:extLst xmlns:a="http://schemas.openxmlformats.org/drawingml/2006/main">
              <a:ext uri="{FF2B5EF4-FFF2-40B4-BE49-F238E27FC236}">
                <a16:creationId xmlns:a16="http://schemas.microsoft.com/office/drawing/2014/main" id="{4F441C9C-DB24-BC90-E1A8-06BB78A42B4B}"/>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Conceptual Framework</a:t>
            </a:r>
            <a:endParaRPr/>
          </a:p>
        </p:txBody>
      </p:sp>
      <p:sp>
        <p:nvSpPr>
          <p:cNvPr id="212" name="Google Shape;212;p28">
            <a:extLst xmlns:a="http://schemas.openxmlformats.org/drawingml/2006/main">
              <a:ext uri="{FF2B5EF4-FFF2-40B4-BE49-F238E27FC236}">
                <a16:creationId xmlns:a16="http://schemas.microsoft.com/office/drawing/2014/main" id="{04AC4499-7181-9004-D4F7-FF8D445EA123}"/>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16</a:t>
            </a:r>
            <a:endParaRPr sz="2800"/>
          </a:p>
        </p:txBody>
      </p:sp>
      <p:pic>
        <p:nvPicPr>
          <p:cNvPr id="288"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f657dbeb1faf4c7d">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89"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460d95454c2d4c8d">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B4B3C55C-04DC-095A-55DA-789E59E8DFB1}"/>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gap-bullets">
            <a:extLst xmlns:a="http://schemas.openxmlformats.org/drawingml/2006/main">
              <a:ext uri="{FF2B5EF4-FFF2-40B4-BE49-F238E27FC236}">
                <a16:creationId xmlns:a16="http://schemas.microsoft.com/office/drawing/2014/main" id="{2DFEB144-76F9-43F8-87E2-D826FFA3D6E8}"/>
              </a:ext>
            </a:extLst>
          </p:cNvPr>
          <p:cNvSpPr>
            <a:spLocks xmlns:a="http://schemas.openxmlformats.org/drawingml/2006/main" noGrp="1"/>
          </p:cNvSpPr>
          <p:nvPr/>
        </p:nvSpPr>
        <p:spPr>
          <a:xfrm xmlns:a="http://schemas.openxmlformats.org/drawingml/2006/main">
            <a:off x="904875" y="1381125"/>
            <a:ext cx="10382250"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No reviewed study evaluates patient-level DP, real CKKS serialization, adaptive common-block compression, poisoning-aware release, and external audit evidence under one protocol.</a:t>
            </a:r>
          </a:p>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Many compressors reduce plaintext coordinates but recover little or no encrypted network bandwidth.</a:t>
            </a:r>
          </a:p>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Robust plaintext aggregators require individual update distances that a sum-only encrypted path intentionally hides.</a:t>
            </a:r>
          </a:p>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Prior evaluations seldom combine paired multi-seed utility, membership inference, gradient reconstruction, one-round poisoning, longitudinal poisoning, and service timing.</a:t>
            </a:r>
          </a:p>
        </p:txBody>
      </p:sp>
      <p:sp>
        <p:nvSpPr>
          <p:cNvPr id="221" name="gap-response">
            <a:extLst xmlns:a="http://schemas.openxmlformats.org/drawingml/2006/main">
              <a:ext uri="{FF2B5EF4-FFF2-40B4-BE49-F238E27FC236}">
                <a16:creationId xmlns:a16="http://schemas.microsoft.com/office/drawing/2014/main" id="{66E1C845-31B3-4F02-9C0E-56EF08B8DD0D}"/>
              </a:ext>
            </a:extLst>
          </p:cNvPr>
          <p:cNvSpPr>
            <a:spLocks xmlns:a="http://schemas.openxmlformats.org/drawingml/2006/main" noGrp="1"/>
          </p:cNvSpPr>
          <p:nvPr/>
        </p:nvSpPr>
        <p:spPr>
          <a:xfrm xmlns:a="http://schemas.openxmlformats.org/drawingml/2006/main">
            <a:off x="1095375" y="4905375"/>
            <a:ext cx="10001250" cy="952500"/>
          </a:xfrm>
          <a:prstGeom xmlns:a="http://schemas.openxmlformats.org/drawingml/2006/main" prst="roundRect">
            <a:avLst>
              <a:gd name="adj" fmla="val 8000"/>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Thesis response</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CAABC-FL aligns adaptive compression with CKKS blocks and places verification, validation, rollback, threshold policy, and witnessed audit evidence around the encrypted training round.</a:t>
            </a:r>
          </a:p>
        </p:txBody>
      </p:sp>
      <p:sp>
        <p:nvSpPr>
          <p:cNvPr id="224" name="visible-footer-date-12">
            <a:extLst xmlns:a="http://schemas.openxmlformats.org/drawingml/2006/main">
              <a:ext uri="{FF2B5EF4-FFF2-40B4-BE49-F238E27FC236}">
                <a16:creationId xmlns:a16="http://schemas.microsoft.com/office/drawing/2014/main" id="{A85C2E33-42AD-4E2A-9450-64B073424856}"/>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27" name="conceptual-framework-content-cover">
            <a:extLst xmlns:a="http://schemas.openxmlformats.org/drawingml/2006/main">
              <a:ext uri="{FF2B5EF4-FFF2-40B4-BE49-F238E27FC236}">
                <a16:creationId xmlns:a16="http://schemas.microsoft.com/office/drawing/2014/main" id="{96288690-7E6F-43DB-B354-2B1AEDCC0CAF}"/>
              </a:ext>
            </a:extLst>
          </p:cNvPr>
          <p:cNvSpPr>
            <a:spLocks xmlns:a="http://schemas.openxmlformats.org/drawingml/2006/main" noGrp="1"/>
          </p:cNvSpPr>
          <p:nvPr/>
        </p:nvSpPr>
        <p:spPr>
          <a:xfrm xmlns:a="http://schemas.openxmlformats.org/drawingml/2006/main">
            <a:off x="619125" y="1190625"/>
            <a:ext cx="10953750" cy="49053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28" name="conceptual-framework-subtitle">
            <a:extLst xmlns:a="http://schemas.openxmlformats.org/drawingml/2006/main">
              <a:ext uri="{FF2B5EF4-FFF2-40B4-BE49-F238E27FC236}">
                <a16:creationId xmlns:a16="http://schemas.microsoft.com/office/drawing/2014/main" id="{95AFBCF6-6857-4EBC-B361-C0A3164B5B85}"/>
              </a:ext>
            </a:extLst>
          </p:cNvPr>
          <p:cNvSpPr>
            <a:spLocks xmlns:a="http://schemas.openxmlformats.org/drawingml/2006/main" noGrp="1"/>
          </p:cNvSpPr>
          <p:nvPr/>
        </p:nvSpPr>
        <p:spPr>
          <a:xfrm xmlns:a="http://schemas.openxmlformats.org/drawingml/2006/main">
            <a:off x="1381125" y="1190625"/>
            <a:ext cx="9429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00" i="1">
                <a:solidFill>
                  <a:srgbClr val="5B677A"/>
                </a:solidFill>
                <a:latin typeface="Arial"/>
                <a:ea typeface="Arial"/>
                <a:cs typeface="Arial"/>
              </a:defRPr>
            </a:pPr>
            <a:r>
              <a:rPr sz="1200" i="1">
                <a:solidFill>
                  <a:srgbClr val="5B677A"/>
                </a:solidFill>
                <a:latin typeface="Arial"/>
                <a:ea typeface="Arial"/>
                <a:cs typeface="Arial"/>
              </a:rPr>
              <a:t>Conceptual relationship between the research problem, integrated controls, collaboration process and evaluation outcomes</a:t>
            </a:r>
          </a:p>
        </p:txBody>
      </p:sp>
      <p:sp>
        <p:nvSpPr>
          <p:cNvPr id="229" name="framework-context-box">
            <a:extLst xmlns:a="http://schemas.openxmlformats.org/drawingml/2006/main">
              <a:ext uri="{FF2B5EF4-FFF2-40B4-BE49-F238E27FC236}">
                <a16:creationId xmlns:a16="http://schemas.microsoft.com/office/drawing/2014/main" id="{3B658E35-1310-4B15-8AFF-3E603B55CE5F}"/>
              </a:ext>
            </a:extLst>
          </p:cNvPr>
          <p:cNvSpPr>
            <a:spLocks xmlns:a="http://schemas.openxmlformats.org/drawingml/2006/main" noGrp="1"/>
          </p:cNvSpPr>
          <p:nvPr/>
        </p:nvSpPr>
        <p:spPr>
          <a:xfrm xmlns:a="http://schemas.openxmlformats.org/drawingml/2006/main">
            <a:off x="714375" y="1762125"/>
            <a:ext cx="2286000" cy="1885950"/>
          </a:xfrm>
          <a:prstGeom xmlns:a="http://schemas.openxmlformats.org/drawingml/2006/main" prst="roundRect">
            <a:avLst>
              <a:gd name="adj" fmla="val 4040"/>
            </a:avLst>
          </a:prstGeom>
          <a:solidFill xmlns:a="http://schemas.openxmlformats.org/drawingml/2006/main">
            <a:srgbClr val="EEF4FA"/>
          </a:solidFill>
          <a:ln xmlns:a="http://schemas.openxmlformats.org/drawingml/2006/main" w="16193">
            <a:solidFill>
              <a:srgbClr val="2E75B6"/>
            </a:solidFill>
          </a:ln>
        </p:spPr>
      </p:sp>
      <p:sp>
        <p:nvSpPr>
          <p:cNvPr id="230" name="framework-context-accent">
            <a:extLst xmlns:a="http://schemas.openxmlformats.org/drawingml/2006/main">
              <a:ext uri="{FF2B5EF4-FFF2-40B4-BE49-F238E27FC236}">
                <a16:creationId xmlns:a16="http://schemas.microsoft.com/office/drawing/2014/main" id="{D4A4FBCD-7904-4E90-B778-C061EAC28D10}"/>
              </a:ext>
            </a:extLst>
          </p:cNvPr>
          <p:cNvSpPr>
            <a:spLocks xmlns:a="http://schemas.openxmlformats.org/drawingml/2006/main" noGrp="1"/>
          </p:cNvSpPr>
          <p:nvPr/>
        </p:nvSpPr>
        <p:spPr>
          <a:xfrm xmlns:a="http://schemas.openxmlformats.org/drawingml/2006/main">
            <a:off x="714375" y="1762125"/>
            <a:ext cx="2286000" cy="409575"/>
          </a:xfrm>
          <a:prstGeom xmlns:a="http://schemas.openxmlformats.org/drawingml/2006/main" prst="rect">
            <a:avLst/>
          </a:prstGeom>
          <a:solidFill xmlns:a="http://schemas.openxmlformats.org/drawingml/2006/main">
            <a:srgbClr val="2E75B6"/>
          </a:solidFill>
          <a:ln xmlns:a="http://schemas.openxmlformats.org/drawingml/2006/main" w="0">
            <a:noFill/>
          </a:ln>
        </p:spPr>
      </p:sp>
      <p:sp>
        <p:nvSpPr>
          <p:cNvPr id="231" name="framework-context-title">
            <a:extLst xmlns:a="http://schemas.openxmlformats.org/drawingml/2006/main">
              <a:ext uri="{FF2B5EF4-FFF2-40B4-BE49-F238E27FC236}">
                <a16:creationId xmlns:a16="http://schemas.microsoft.com/office/drawing/2014/main" id="{E2C47E08-7616-4859-BCE8-E12FC18382B8}"/>
              </a:ext>
            </a:extLst>
          </p:cNvPr>
          <p:cNvSpPr>
            <a:spLocks xmlns:a="http://schemas.openxmlformats.org/drawingml/2006/main" noGrp="1"/>
          </p:cNvSpPr>
          <p:nvPr/>
        </p:nvSpPr>
        <p:spPr>
          <a:xfrm xmlns:a="http://schemas.openxmlformats.org/drawingml/2006/main">
            <a:off x="809625" y="1790700"/>
            <a:ext cx="2095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500" b="1">
                <a:solidFill>
                  <a:srgbClr val="FFFFFF"/>
                </a:solidFill>
                <a:latin typeface="Arial"/>
                <a:ea typeface="Arial"/>
                <a:cs typeface="Arial"/>
              </a:defRPr>
            </a:pPr>
            <a:r>
              <a:rPr sz="1500" b="1">
                <a:solidFill>
                  <a:srgbClr val="FFFFFF"/>
                </a:solidFill>
                <a:latin typeface="Arial"/>
                <a:ea typeface="Arial"/>
                <a:cs typeface="Arial"/>
              </a:rPr>
              <a:t>Research context</a:t>
            </a:r>
          </a:p>
        </p:txBody>
      </p:sp>
      <p:sp>
        <p:nvSpPr>
          <p:cNvPr id="232" name="framework-context-body">
            <a:extLst xmlns:a="http://schemas.openxmlformats.org/drawingml/2006/main">
              <a:ext uri="{FF2B5EF4-FFF2-40B4-BE49-F238E27FC236}">
                <a16:creationId xmlns:a16="http://schemas.microsoft.com/office/drawing/2014/main" id="{4C225EF8-BACD-402B-9AF5-AEB7E591762B}"/>
              </a:ext>
            </a:extLst>
          </p:cNvPr>
          <p:cNvSpPr>
            <a:spLocks xmlns:a="http://schemas.openxmlformats.org/drawingml/2006/main" noGrp="1"/>
          </p:cNvSpPr>
          <p:nvPr/>
        </p:nvSpPr>
        <p:spPr>
          <a:xfrm xmlns:a="http://schemas.openxmlformats.org/drawingml/2006/main">
            <a:off x="866775" y="2266950"/>
            <a:ext cx="19812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buNone/>
              <a:defRPr sz="1125">
                <a:solidFill>
                  <a:srgbClr val="263244"/>
                </a:solidFill>
                <a:latin typeface="Arial"/>
                <a:ea typeface="Arial"/>
                <a:cs typeface="Arial"/>
              </a:defRPr>
            </a:pPr>
            <a:r>
              <a:rPr sz="1125">
                <a:solidFill>
                  <a:srgbClr val="263244"/>
                </a:solidFill>
                <a:latin typeface="Arial"/>
                <a:ea typeface="Arial"/>
                <a:cs typeface="Arial"/>
              </a:rPr>
              <a:t>Distributed hospital data</a:t>
            </a:r>
          </a:p>
          <a:p xmlns:a="http://schemas.openxmlformats.org/drawingml/2006/main">
            <a:pPr>
              <a:buNone/>
              <a:defRPr sz="1125">
                <a:solidFill>
                  <a:srgbClr val="263244"/>
                </a:solidFill>
                <a:latin typeface="Arial"/>
                <a:ea typeface="Arial"/>
                <a:cs typeface="Arial"/>
              </a:defRPr>
            </a:pPr>
            <a:r>
              <a:rPr sz="1125">
                <a:solidFill>
                  <a:srgbClr val="263244"/>
                </a:solidFill>
                <a:latin typeface="Arial"/>
                <a:ea typeface="Arial"/>
                <a:cs typeface="Arial"/>
              </a:rPr>
              <a:t>Non-IID client partitions</a:t>
            </a:r>
          </a:p>
          <a:p xmlns:a="http://schemas.openxmlformats.org/drawingml/2006/main">
            <a:pPr>
              <a:buNone/>
              <a:defRPr sz="1125">
                <a:solidFill>
                  <a:srgbClr val="263244"/>
                </a:solidFill>
                <a:latin typeface="Arial"/>
                <a:ea typeface="Arial"/>
                <a:cs typeface="Arial"/>
              </a:defRPr>
            </a:pPr>
            <a:r>
              <a:rPr sz="1125">
                <a:solidFill>
                  <a:srgbClr val="263244"/>
                </a:solidFill>
                <a:latin typeface="Arial"/>
                <a:ea typeface="Arial"/>
                <a:cs typeface="Arial"/>
              </a:rPr>
              <a:t>Privacy and poisoning threats</a:t>
            </a:r>
          </a:p>
          <a:p xmlns:a="http://schemas.openxmlformats.org/drawingml/2006/main">
            <a:pPr>
              <a:buNone/>
              <a:defRPr sz="1125">
                <a:solidFill>
                  <a:srgbClr val="263244"/>
                </a:solidFill>
                <a:latin typeface="Arial"/>
                <a:ea typeface="Arial"/>
                <a:cs typeface="Arial"/>
              </a:defRPr>
            </a:pPr>
            <a:r>
              <a:rPr sz="1125">
                <a:solidFill>
                  <a:srgbClr val="263244"/>
                </a:solidFill>
                <a:latin typeface="Arial"/>
                <a:ea typeface="Arial"/>
                <a:cs typeface="Arial"/>
              </a:rPr>
              <a:t>High encrypted communication cost</a:t>
            </a:r>
          </a:p>
        </p:txBody>
      </p:sp>
      <p:sp>
        <p:nvSpPr>
          <p:cNvPr id="233" name="framework-intervention-box">
            <a:extLst xmlns:a="http://schemas.openxmlformats.org/drawingml/2006/main">
              <a:ext uri="{FF2B5EF4-FFF2-40B4-BE49-F238E27FC236}">
                <a16:creationId xmlns:a16="http://schemas.microsoft.com/office/drawing/2014/main" id="{5F8C42AB-3F4F-4105-B15E-5AF572B806B6}"/>
              </a:ext>
            </a:extLst>
          </p:cNvPr>
          <p:cNvSpPr>
            <a:spLocks xmlns:a="http://schemas.openxmlformats.org/drawingml/2006/main" noGrp="1"/>
          </p:cNvSpPr>
          <p:nvPr/>
        </p:nvSpPr>
        <p:spPr>
          <a:xfrm xmlns:a="http://schemas.openxmlformats.org/drawingml/2006/main">
            <a:off x="3524250" y="1762125"/>
            <a:ext cx="2286000" cy="1885950"/>
          </a:xfrm>
          <a:prstGeom xmlns:a="http://schemas.openxmlformats.org/drawingml/2006/main" prst="roundRect">
            <a:avLst>
              <a:gd name="adj" fmla="val 4040"/>
            </a:avLst>
          </a:prstGeom>
          <a:solidFill xmlns:a="http://schemas.openxmlformats.org/drawingml/2006/main">
            <a:srgbClr val="EBF7F2"/>
          </a:solidFill>
          <a:ln xmlns:a="http://schemas.openxmlformats.org/drawingml/2006/main" w="16193">
            <a:solidFill>
              <a:srgbClr val="008A46"/>
            </a:solidFill>
          </a:ln>
        </p:spPr>
      </p:sp>
      <p:sp>
        <p:nvSpPr>
          <p:cNvPr id="234" name="framework-intervention-accent">
            <a:extLst xmlns:a="http://schemas.openxmlformats.org/drawingml/2006/main">
              <a:ext uri="{FF2B5EF4-FFF2-40B4-BE49-F238E27FC236}">
                <a16:creationId xmlns:a16="http://schemas.microsoft.com/office/drawing/2014/main" id="{779CD5EF-DFD1-422F-985C-3CBE83E6AB7E}"/>
              </a:ext>
            </a:extLst>
          </p:cNvPr>
          <p:cNvSpPr>
            <a:spLocks xmlns:a="http://schemas.openxmlformats.org/drawingml/2006/main" noGrp="1"/>
          </p:cNvSpPr>
          <p:nvPr/>
        </p:nvSpPr>
        <p:spPr>
          <a:xfrm xmlns:a="http://schemas.openxmlformats.org/drawingml/2006/main">
            <a:off x="3524250" y="1762125"/>
            <a:ext cx="2286000" cy="409575"/>
          </a:xfrm>
          <a:prstGeom xmlns:a="http://schemas.openxmlformats.org/drawingml/2006/main" prst="rect">
            <a:avLst/>
          </a:prstGeom>
          <a:solidFill xmlns:a="http://schemas.openxmlformats.org/drawingml/2006/main">
            <a:srgbClr val="008A46"/>
          </a:solidFill>
          <a:ln xmlns:a="http://schemas.openxmlformats.org/drawingml/2006/main" w="0">
            <a:noFill/>
          </a:ln>
        </p:spPr>
      </p:sp>
      <p:sp>
        <p:nvSpPr>
          <p:cNvPr id="235" name="framework-intervention-title">
            <a:extLst xmlns:a="http://schemas.openxmlformats.org/drawingml/2006/main">
              <a:ext uri="{FF2B5EF4-FFF2-40B4-BE49-F238E27FC236}">
                <a16:creationId xmlns:a16="http://schemas.microsoft.com/office/drawing/2014/main" id="{73EB110A-BAB9-49D9-ADFB-1358A9ECA51A}"/>
              </a:ext>
            </a:extLst>
          </p:cNvPr>
          <p:cNvSpPr>
            <a:spLocks xmlns:a="http://schemas.openxmlformats.org/drawingml/2006/main" noGrp="1"/>
          </p:cNvSpPr>
          <p:nvPr/>
        </p:nvSpPr>
        <p:spPr>
          <a:xfrm xmlns:a="http://schemas.openxmlformats.org/drawingml/2006/main">
            <a:off x="3619500" y="1790700"/>
            <a:ext cx="2095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500" b="1">
                <a:solidFill>
                  <a:srgbClr val="FFFFFF"/>
                </a:solidFill>
                <a:latin typeface="Arial"/>
                <a:ea typeface="Arial"/>
                <a:cs typeface="Arial"/>
              </a:defRPr>
            </a:pPr>
            <a:r>
              <a:rPr sz="1500" b="1">
                <a:solidFill>
                  <a:srgbClr val="FFFFFF"/>
                </a:solidFill>
                <a:latin typeface="Arial"/>
                <a:ea typeface="Arial"/>
                <a:cs typeface="Arial"/>
              </a:rPr>
              <a:t>Hybrid intervention</a:t>
            </a:r>
          </a:p>
        </p:txBody>
      </p:sp>
      <p:sp>
        <p:nvSpPr>
          <p:cNvPr id="236" name="framework-intervention-body">
            <a:extLst xmlns:a="http://schemas.openxmlformats.org/drawingml/2006/main">
              <a:ext uri="{FF2B5EF4-FFF2-40B4-BE49-F238E27FC236}">
                <a16:creationId xmlns:a16="http://schemas.microsoft.com/office/drawing/2014/main" id="{40C6F4B1-4BE5-4BE2-AC95-342C5A09A6F8}"/>
              </a:ext>
            </a:extLst>
          </p:cNvPr>
          <p:cNvSpPr>
            <a:spLocks xmlns:a="http://schemas.openxmlformats.org/drawingml/2006/main" noGrp="1"/>
          </p:cNvSpPr>
          <p:nvPr/>
        </p:nvSpPr>
        <p:spPr>
          <a:xfrm xmlns:a="http://schemas.openxmlformats.org/drawingml/2006/main">
            <a:off x="3676650" y="2266950"/>
            <a:ext cx="19812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buNone/>
              <a:defRPr sz="1125">
                <a:solidFill>
                  <a:srgbClr val="263244"/>
                </a:solidFill>
                <a:latin typeface="Arial"/>
                <a:ea typeface="Arial"/>
                <a:cs typeface="Arial"/>
              </a:defRPr>
            </a:pPr>
            <a:r>
              <a:rPr sz="1125">
                <a:solidFill>
                  <a:srgbClr val="263244"/>
                </a:solidFill>
                <a:latin typeface="Arial"/>
                <a:ea typeface="Arial"/>
                <a:cs typeface="Arial"/>
              </a:rPr>
              <a:t>Record-level differential privacy</a:t>
            </a:r>
          </a:p>
          <a:p xmlns:a="http://schemas.openxmlformats.org/drawingml/2006/main">
            <a:pPr>
              <a:buNone/>
              <a:defRPr sz="1125">
                <a:solidFill>
                  <a:srgbClr val="263244"/>
                </a:solidFill>
                <a:latin typeface="Arial"/>
                <a:ea typeface="Arial"/>
                <a:cs typeface="Arial"/>
              </a:defRPr>
            </a:pPr>
            <a:r>
              <a:rPr sz="1125">
                <a:solidFill>
                  <a:srgbClr val="263244"/>
                </a:solidFill>
                <a:latin typeface="Arial"/>
                <a:ea typeface="Arial"/>
                <a:cs typeface="Arial"/>
              </a:rPr>
              <a:t>CAABC-FL block compression</a:t>
            </a:r>
          </a:p>
          <a:p xmlns:a="http://schemas.openxmlformats.org/drawingml/2006/main">
            <a:pPr>
              <a:buNone/>
              <a:defRPr sz="1125">
                <a:solidFill>
                  <a:srgbClr val="263244"/>
                </a:solidFill>
                <a:latin typeface="Arial"/>
                <a:ea typeface="Arial"/>
                <a:cs typeface="Arial"/>
              </a:defRPr>
            </a:pPr>
            <a:r>
              <a:rPr sz="1125">
                <a:solidFill>
                  <a:srgbClr val="263244"/>
                </a:solidFill>
                <a:latin typeface="Arial"/>
                <a:ea typeface="Arial"/>
                <a:cs typeface="Arial"/>
              </a:rPr>
              <a:t>CKKS-protected updates</a:t>
            </a:r>
          </a:p>
          <a:p xmlns:a="http://schemas.openxmlformats.org/drawingml/2006/main">
            <a:pPr>
              <a:buNone/>
              <a:defRPr sz="1125">
                <a:solidFill>
                  <a:srgbClr val="263244"/>
                </a:solidFill>
                <a:latin typeface="Arial"/>
                <a:ea typeface="Arial"/>
                <a:cs typeface="Arial"/>
              </a:defRPr>
            </a:pPr>
            <a:r>
              <a:rPr sz="1125">
                <a:solidFill>
                  <a:srgbClr val="263244"/>
                </a:solidFill>
                <a:latin typeface="Arial"/>
                <a:ea typeface="Arial"/>
                <a:cs typeface="Arial"/>
              </a:rPr>
              <a:t>Trust and audit governance</a:t>
            </a:r>
          </a:p>
        </p:txBody>
      </p:sp>
      <p:sp>
        <p:nvSpPr>
          <p:cNvPr id="237" name="framework-process-box">
            <a:extLst xmlns:a="http://schemas.openxmlformats.org/drawingml/2006/main">
              <a:ext uri="{FF2B5EF4-FFF2-40B4-BE49-F238E27FC236}">
                <a16:creationId xmlns:a16="http://schemas.microsoft.com/office/drawing/2014/main" id="{55EA8B73-4B99-4BB8-AD38-52D3C83A49D2}"/>
              </a:ext>
            </a:extLst>
          </p:cNvPr>
          <p:cNvSpPr>
            <a:spLocks xmlns:a="http://schemas.openxmlformats.org/drawingml/2006/main" noGrp="1"/>
          </p:cNvSpPr>
          <p:nvPr/>
        </p:nvSpPr>
        <p:spPr>
          <a:xfrm xmlns:a="http://schemas.openxmlformats.org/drawingml/2006/main">
            <a:off x="6334125" y="1762125"/>
            <a:ext cx="2286000" cy="1885950"/>
          </a:xfrm>
          <a:prstGeom xmlns:a="http://schemas.openxmlformats.org/drawingml/2006/main" prst="roundRect">
            <a:avLst>
              <a:gd name="adj" fmla="val 4040"/>
            </a:avLst>
          </a:prstGeom>
          <a:solidFill xmlns:a="http://schemas.openxmlformats.org/drawingml/2006/main">
            <a:srgbClr val="EFF8F7"/>
          </a:solidFill>
          <a:ln xmlns:a="http://schemas.openxmlformats.org/drawingml/2006/main" w="16193">
            <a:solidFill>
              <a:srgbClr val="2F807B"/>
            </a:solidFill>
          </a:ln>
        </p:spPr>
      </p:sp>
      <p:sp>
        <p:nvSpPr>
          <p:cNvPr id="238" name="framework-process-accent">
            <a:extLst xmlns:a="http://schemas.openxmlformats.org/drawingml/2006/main">
              <a:ext uri="{FF2B5EF4-FFF2-40B4-BE49-F238E27FC236}">
                <a16:creationId xmlns:a16="http://schemas.microsoft.com/office/drawing/2014/main" id="{73085FC3-06C2-415B-BB13-957A3C463D6F}"/>
              </a:ext>
            </a:extLst>
          </p:cNvPr>
          <p:cNvSpPr>
            <a:spLocks xmlns:a="http://schemas.openxmlformats.org/drawingml/2006/main" noGrp="1"/>
          </p:cNvSpPr>
          <p:nvPr/>
        </p:nvSpPr>
        <p:spPr>
          <a:xfrm xmlns:a="http://schemas.openxmlformats.org/drawingml/2006/main">
            <a:off x="6334125" y="1762125"/>
            <a:ext cx="2286000" cy="409575"/>
          </a:xfrm>
          <a:prstGeom xmlns:a="http://schemas.openxmlformats.org/drawingml/2006/main" prst="rect">
            <a:avLst/>
          </a:prstGeom>
          <a:solidFill xmlns:a="http://schemas.openxmlformats.org/drawingml/2006/main">
            <a:srgbClr val="2F807B"/>
          </a:solidFill>
          <a:ln xmlns:a="http://schemas.openxmlformats.org/drawingml/2006/main" w="0">
            <a:noFill/>
          </a:ln>
        </p:spPr>
      </p:sp>
      <p:sp>
        <p:nvSpPr>
          <p:cNvPr id="239" name="framework-process-title">
            <a:extLst xmlns:a="http://schemas.openxmlformats.org/drawingml/2006/main">
              <a:ext uri="{FF2B5EF4-FFF2-40B4-BE49-F238E27FC236}">
                <a16:creationId xmlns:a16="http://schemas.microsoft.com/office/drawing/2014/main" id="{AA9562BE-DE76-43CC-BE42-00230C2F90AA}"/>
              </a:ext>
            </a:extLst>
          </p:cNvPr>
          <p:cNvSpPr>
            <a:spLocks xmlns:a="http://schemas.openxmlformats.org/drawingml/2006/main" noGrp="1"/>
          </p:cNvSpPr>
          <p:nvPr/>
        </p:nvSpPr>
        <p:spPr>
          <a:xfrm xmlns:a="http://schemas.openxmlformats.org/drawingml/2006/main">
            <a:off x="6429375" y="1790700"/>
            <a:ext cx="2095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142"/>
          </a:bodyPr>
          <a:lstStyle xmlns:a="http://schemas.openxmlformats.org/drawingml/2006/main"/>
          <a:p xmlns:a="http://schemas.openxmlformats.org/drawingml/2006/main">
            <a:pPr algn="ctr">
              <a:buNone/>
              <a:defRPr sz="1500" b="1">
                <a:solidFill>
                  <a:srgbClr val="FFFFFF"/>
                </a:solidFill>
                <a:latin typeface="Arial"/>
                <a:ea typeface="Arial"/>
                <a:cs typeface="Arial"/>
              </a:defRPr>
            </a:pPr>
            <a:r>
              <a:rPr sz="1500" b="1">
                <a:solidFill>
                  <a:srgbClr val="FFFFFF"/>
                </a:solidFill>
                <a:latin typeface="Arial"/>
                <a:ea typeface="Arial"/>
                <a:cs typeface="Arial"/>
              </a:rPr>
              <a:t>Collaboration process</a:t>
            </a:r>
          </a:p>
        </p:txBody>
      </p:sp>
      <p:sp>
        <p:nvSpPr>
          <p:cNvPr id="240" name="framework-process-body">
            <a:extLst xmlns:a="http://schemas.openxmlformats.org/drawingml/2006/main">
              <a:ext uri="{FF2B5EF4-FFF2-40B4-BE49-F238E27FC236}">
                <a16:creationId xmlns:a16="http://schemas.microsoft.com/office/drawing/2014/main" id="{EEE3B869-7708-4F8C-8BBE-DA23BAB5C6C2}"/>
              </a:ext>
            </a:extLst>
          </p:cNvPr>
          <p:cNvSpPr>
            <a:spLocks xmlns:a="http://schemas.openxmlformats.org/drawingml/2006/main" noGrp="1"/>
          </p:cNvSpPr>
          <p:nvPr/>
        </p:nvSpPr>
        <p:spPr>
          <a:xfrm xmlns:a="http://schemas.openxmlformats.org/drawingml/2006/main">
            <a:off x="6486525" y="2266950"/>
            <a:ext cx="19812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5556"/>
          </a:bodyPr>
          <a:lstStyle xmlns:a="http://schemas.openxmlformats.org/drawingml/2006/main"/>
          <a:p xmlns:a="http://schemas.openxmlformats.org/drawingml/2006/main">
            <a:pPr>
              <a:buNone/>
              <a:defRPr sz="1125">
                <a:solidFill>
                  <a:srgbClr val="263244"/>
                </a:solidFill>
                <a:latin typeface="Arial"/>
                <a:ea typeface="Arial"/>
                <a:cs typeface="Arial"/>
              </a:defRPr>
            </a:pPr>
            <a:r>
              <a:rPr sz="1125">
                <a:solidFill>
                  <a:srgbClr val="263244"/>
                </a:solidFill>
                <a:latin typeface="Arial"/>
                <a:ea typeface="Arial"/>
                <a:cs typeface="Arial"/>
              </a:rPr>
              <a:t>Protected local training</a:t>
            </a:r>
          </a:p>
          <a:p xmlns:a="http://schemas.openxmlformats.org/drawingml/2006/main">
            <a:pPr>
              <a:buNone/>
              <a:defRPr sz="1125">
                <a:solidFill>
                  <a:srgbClr val="263244"/>
                </a:solidFill>
                <a:latin typeface="Arial"/>
                <a:ea typeface="Arial"/>
                <a:cs typeface="Arial"/>
              </a:defRPr>
            </a:pPr>
            <a:r>
              <a:rPr sz="1125">
                <a:solidFill>
                  <a:srgbClr val="263244"/>
                </a:solidFill>
                <a:latin typeface="Arial"/>
                <a:ea typeface="Arial"/>
                <a:cs typeface="Arial"/>
              </a:rPr>
              <a:t>Authenticated update exchange</a:t>
            </a:r>
          </a:p>
          <a:p xmlns:a="http://schemas.openxmlformats.org/drawingml/2006/main">
            <a:pPr>
              <a:buNone/>
              <a:defRPr sz="1125">
                <a:solidFill>
                  <a:srgbClr val="263244"/>
                </a:solidFill>
                <a:latin typeface="Arial"/>
                <a:ea typeface="Arial"/>
                <a:cs typeface="Arial"/>
              </a:defRPr>
            </a:pPr>
            <a:r>
              <a:rPr sz="1125">
                <a:solidFill>
                  <a:srgbClr val="263244"/>
                </a:solidFill>
                <a:latin typeface="Arial"/>
                <a:ea typeface="Arial"/>
                <a:cs typeface="Arial"/>
              </a:rPr>
              <a:t>Verified homomorphic aggregation</a:t>
            </a:r>
          </a:p>
          <a:p xmlns:a="http://schemas.openxmlformats.org/drawingml/2006/main">
            <a:pPr>
              <a:buNone/>
              <a:defRPr sz="1125">
                <a:solidFill>
                  <a:srgbClr val="263244"/>
                </a:solidFill>
                <a:latin typeface="Arial"/>
                <a:ea typeface="Arial"/>
                <a:cs typeface="Arial"/>
              </a:defRPr>
            </a:pPr>
            <a:r>
              <a:rPr sz="1125">
                <a:solidFill>
                  <a:srgbClr val="263244"/>
                </a:solidFill>
                <a:latin typeface="Arial"/>
                <a:ea typeface="Arial"/>
                <a:cs typeface="Arial"/>
              </a:rPr>
              <a:t>Threshold-governed model release</a:t>
            </a:r>
          </a:p>
        </p:txBody>
      </p:sp>
      <p:sp>
        <p:nvSpPr>
          <p:cNvPr id="241" name="framework-outcomes-box">
            <a:extLst xmlns:a="http://schemas.openxmlformats.org/drawingml/2006/main">
              <a:ext uri="{FF2B5EF4-FFF2-40B4-BE49-F238E27FC236}">
                <a16:creationId xmlns:a16="http://schemas.microsoft.com/office/drawing/2014/main" id="{3BB61328-13C4-495F-890D-578990787C92}"/>
              </a:ext>
            </a:extLst>
          </p:cNvPr>
          <p:cNvSpPr>
            <a:spLocks xmlns:a="http://schemas.openxmlformats.org/drawingml/2006/main" noGrp="1"/>
          </p:cNvSpPr>
          <p:nvPr/>
        </p:nvSpPr>
        <p:spPr>
          <a:xfrm xmlns:a="http://schemas.openxmlformats.org/drawingml/2006/main">
            <a:off x="9144000" y="1762125"/>
            <a:ext cx="2286000" cy="1885950"/>
          </a:xfrm>
          <a:prstGeom xmlns:a="http://schemas.openxmlformats.org/drawingml/2006/main" prst="roundRect">
            <a:avLst>
              <a:gd name="adj" fmla="val 4040"/>
            </a:avLst>
          </a:prstGeom>
          <a:solidFill xmlns:a="http://schemas.openxmlformats.org/drawingml/2006/main">
            <a:srgbClr val="F3EEF9"/>
          </a:solidFill>
          <a:ln xmlns:a="http://schemas.openxmlformats.org/drawingml/2006/main" w="16193">
            <a:solidFill>
              <a:srgbClr val="6B4BB5"/>
            </a:solidFill>
          </a:ln>
        </p:spPr>
      </p:sp>
      <p:sp>
        <p:nvSpPr>
          <p:cNvPr id="242" name="framework-outcomes-accent">
            <a:extLst xmlns:a="http://schemas.openxmlformats.org/drawingml/2006/main">
              <a:ext uri="{FF2B5EF4-FFF2-40B4-BE49-F238E27FC236}">
                <a16:creationId xmlns:a16="http://schemas.microsoft.com/office/drawing/2014/main" id="{162202BB-AC31-4299-AF61-D3604F5D5A72}"/>
              </a:ext>
            </a:extLst>
          </p:cNvPr>
          <p:cNvSpPr>
            <a:spLocks xmlns:a="http://schemas.openxmlformats.org/drawingml/2006/main" noGrp="1"/>
          </p:cNvSpPr>
          <p:nvPr/>
        </p:nvSpPr>
        <p:spPr>
          <a:xfrm xmlns:a="http://schemas.openxmlformats.org/drawingml/2006/main">
            <a:off x="9144000" y="1762125"/>
            <a:ext cx="2286000" cy="409575"/>
          </a:xfrm>
          <a:prstGeom xmlns:a="http://schemas.openxmlformats.org/drawingml/2006/main" prst="rect">
            <a:avLst/>
          </a:prstGeom>
          <a:solidFill xmlns:a="http://schemas.openxmlformats.org/drawingml/2006/main">
            <a:srgbClr val="6B4BB5"/>
          </a:solidFill>
          <a:ln xmlns:a="http://schemas.openxmlformats.org/drawingml/2006/main" w="0">
            <a:noFill/>
          </a:ln>
        </p:spPr>
      </p:sp>
      <p:sp>
        <p:nvSpPr>
          <p:cNvPr id="243" name="framework-outcomes-title">
            <a:extLst xmlns:a="http://schemas.openxmlformats.org/drawingml/2006/main">
              <a:ext uri="{FF2B5EF4-FFF2-40B4-BE49-F238E27FC236}">
                <a16:creationId xmlns:a16="http://schemas.microsoft.com/office/drawing/2014/main" id="{234DF05C-6027-417F-9176-9F268E97DD7D}"/>
              </a:ext>
            </a:extLst>
          </p:cNvPr>
          <p:cNvSpPr>
            <a:spLocks xmlns:a="http://schemas.openxmlformats.org/drawingml/2006/main" noGrp="1"/>
          </p:cNvSpPr>
          <p:nvPr/>
        </p:nvSpPr>
        <p:spPr>
          <a:xfrm xmlns:a="http://schemas.openxmlformats.org/drawingml/2006/main">
            <a:off x="9239250" y="1790700"/>
            <a:ext cx="2095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500" b="1">
                <a:solidFill>
                  <a:srgbClr val="FFFFFF"/>
                </a:solidFill>
                <a:latin typeface="Arial"/>
                <a:ea typeface="Arial"/>
                <a:cs typeface="Arial"/>
              </a:defRPr>
            </a:pPr>
            <a:r>
              <a:rPr sz="1500" b="1">
                <a:solidFill>
                  <a:srgbClr val="FFFFFF"/>
                </a:solidFill>
                <a:latin typeface="Arial"/>
                <a:ea typeface="Arial"/>
                <a:cs typeface="Arial"/>
              </a:rPr>
              <a:t>Measured outcomes</a:t>
            </a:r>
          </a:p>
        </p:txBody>
      </p:sp>
      <p:sp>
        <p:nvSpPr>
          <p:cNvPr id="244" name="framework-outcomes-body">
            <a:extLst xmlns:a="http://schemas.openxmlformats.org/drawingml/2006/main">
              <a:ext uri="{FF2B5EF4-FFF2-40B4-BE49-F238E27FC236}">
                <a16:creationId xmlns:a16="http://schemas.microsoft.com/office/drawing/2014/main" id="{B8F143C6-443F-4D3E-9EA9-1108E07B0BF5}"/>
              </a:ext>
            </a:extLst>
          </p:cNvPr>
          <p:cNvSpPr>
            <a:spLocks xmlns:a="http://schemas.openxmlformats.org/drawingml/2006/main" noGrp="1"/>
          </p:cNvSpPr>
          <p:nvPr/>
        </p:nvSpPr>
        <p:spPr>
          <a:xfrm xmlns:a="http://schemas.openxmlformats.org/drawingml/2006/main">
            <a:off x="9296400" y="2266950"/>
            <a:ext cx="19812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buNone/>
              <a:defRPr sz="1125">
                <a:solidFill>
                  <a:srgbClr val="263244"/>
                </a:solidFill>
                <a:latin typeface="Arial"/>
                <a:ea typeface="Arial"/>
                <a:cs typeface="Arial"/>
              </a:defRPr>
            </a:pPr>
            <a:r>
              <a:rPr sz="1125">
                <a:solidFill>
                  <a:srgbClr val="263244"/>
                </a:solidFill>
                <a:latin typeface="Arial"/>
                <a:ea typeface="Arial"/>
                <a:cs typeface="Arial"/>
              </a:rPr>
              <a:t>Predictive utility</a:t>
            </a:r>
          </a:p>
          <a:p xmlns:a="http://schemas.openxmlformats.org/drawingml/2006/main">
            <a:pPr>
              <a:buNone/>
              <a:defRPr sz="1125">
                <a:solidFill>
                  <a:srgbClr val="263244"/>
                </a:solidFill>
                <a:latin typeface="Arial"/>
                <a:ea typeface="Arial"/>
                <a:cs typeface="Arial"/>
              </a:defRPr>
            </a:pPr>
            <a:r>
              <a:rPr sz="1125">
                <a:solidFill>
                  <a:srgbClr val="263244"/>
                </a:solidFill>
                <a:latin typeface="Arial"/>
                <a:ea typeface="Arial"/>
                <a:cs typeface="Arial"/>
              </a:rPr>
              <a:t>Privacy attack exposure</a:t>
            </a:r>
          </a:p>
          <a:p xmlns:a="http://schemas.openxmlformats.org/drawingml/2006/main">
            <a:pPr>
              <a:buNone/>
              <a:defRPr sz="1125">
                <a:solidFill>
                  <a:srgbClr val="263244"/>
                </a:solidFill>
                <a:latin typeface="Arial"/>
                <a:ea typeface="Arial"/>
                <a:cs typeface="Arial"/>
              </a:defRPr>
            </a:pPr>
            <a:r>
              <a:rPr sz="1125">
                <a:solidFill>
                  <a:srgbClr val="263244"/>
                </a:solidFill>
                <a:latin typeface="Arial"/>
                <a:ea typeface="Arial"/>
                <a:cs typeface="Arial"/>
              </a:rPr>
              <a:t>Poisoning resilience</a:t>
            </a:r>
          </a:p>
          <a:p xmlns:a="http://schemas.openxmlformats.org/drawingml/2006/main">
            <a:pPr>
              <a:buNone/>
              <a:defRPr sz="1125">
                <a:solidFill>
                  <a:srgbClr val="263244"/>
                </a:solidFill>
                <a:latin typeface="Arial"/>
                <a:ea typeface="Arial"/>
                <a:cs typeface="Arial"/>
              </a:defRPr>
            </a:pPr>
            <a:r>
              <a:rPr sz="1125">
                <a:solidFill>
                  <a:srgbClr val="263244"/>
                </a:solidFill>
                <a:latin typeface="Arial"/>
                <a:ea typeface="Arial"/>
                <a:cs typeface="Arial"/>
              </a:rPr>
              <a:t>Serialized upload and runtime cost</a:t>
            </a:r>
          </a:p>
        </p:txBody>
      </p:sp>
      <p:cxnSp>
        <p:nvCxnSpPr>
          <p:cNvPr id="312" name=""/>
          <p:cNvCxnSpPr>
            <a:stCxn xmlns:a="http://schemas.openxmlformats.org/drawingml/2006/main" id="229" idx="3"/>
            <a:endCxn xmlns:a="http://schemas.openxmlformats.org/drawingml/2006/main" id="233" idx="1"/>
          </p:cNvCxnSpPr>
          <p:nvPr/>
        </p:nvCxnSpPr>
        <p:spPr>
          <a:xfrm xmlns:a="http://schemas.openxmlformats.org/drawingml/2006/main">
            <a:off x="3000375" y="2705100"/>
            <a:ext cx="523875" cy="0"/>
          </a:xfrm>
          <a:prstGeom xmlns:a="http://schemas.openxmlformats.org/drawingml/2006/main" prst="straightConnector1">
            <a:avLst/>
          </a:prstGeom>
          <a:ln xmlns:a="http://schemas.openxmlformats.org/drawingml/2006/main" w="19050">
            <a:solidFill>
              <a:srgbClr val="17365D"/>
            </a:solidFill>
            <a:prstDash val="solid"/>
            <a:tailEnd type="triangle" w="med" len="med"/>
          </a:ln>
        </p:spPr>
      </p:cxnSp>
      <p:cxnSp>
        <p:nvCxnSpPr>
          <p:cNvPr id="313" name=""/>
          <p:cNvCxnSpPr>
            <a:stCxn xmlns:a="http://schemas.openxmlformats.org/drawingml/2006/main" id="233" idx="3"/>
            <a:endCxn xmlns:a="http://schemas.openxmlformats.org/drawingml/2006/main" id="237" idx="1"/>
          </p:cNvCxnSpPr>
          <p:nvPr/>
        </p:nvCxnSpPr>
        <p:spPr>
          <a:xfrm xmlns:a="http://schemas.openxmlformats.org/drawingml/2006/main">
            <a:off x="5810250" y="2705100"/>
            <a:ext cx="523875" cy="0"/>
          </a:xfrm>
          <a:prstGeom xmlns:a="http://schemas.openxmlformats.org/drawingml/2006/main" prst="straightConnector1">
            <a:avLst/>
          </a:prstGeom>
          <a:ln xmlns:a="http://schemas.openxmlformats.org/drawingml/2006/main" w="19050">
            <a:solidFill>
              <a:srgbClr val="17365D"/>
            </a:solidFill>
            <a:prstDash val="solid"/>
            <a:tailEnd type="triangle" w="med" len="med"/>
          </a:ln>
        </p:spPr>
      </p:cxnSp>
      <p:cxnSp>
        <p:nvCxnSpPr>
          <p:cNvPr id="314" name=""/>
          <p:cNvCxnSpPr>
            <a:stCxn xmlns:a="http://schemas.openxmlformats.org/drawingml/2006/main" id="237" idx="3"/>
            <a:endCxn xmlns:a="http://schemas.openxmlformats.org/drawingml/2006/main" id="241" idx="1"/>
          </p:cNvCxnSpPr>
          <p:nvPr/>
        </p:nvCxnSpPr>
        <p:spPr>
          <a:xfrm xmlns:a="http://schemas.openxmlformats.org/drawingml/2006/main">
            <a:off x="8620125" y="2705100"/>
            <a:ext cx="523875" cy="0"/>
          </a:xfrm>
          <a:prstGeom xmlns:a="http://schemas.openxmlformats.org/drawingml/2006/main" prst="straightConnector1">
            <a:avLst/>
          </a:prstGeom>
          <a:ln xmlns:a="http://schemas.openxmlformats.org/drawingml/2006/main" w="19050">
            <a:solidFill>
              <a:srgbClr val="17365D"/>
            </a:solidFill>
            <a:prstDash val="solid"/>
            <a:tailEnd type="triangle" w="med" len="med"/>
          </a:ln>
        </p:spPr>
      </p:cxnSp>
      <p:sp>
        <p:nvSpPr>
          <p:cNvPr id="248" name="framework-assumptions-band">
            <a:extLst xmlns:a="http://schemas.openxmlformats.org/drawingml/2006/main">
              <a:ext uri="{FF2B5EF4-FFF2-40B4-BE49-F238E27FC236}">
                <a16:creationId xmlns:a16="http://schemas.microsoft.com/office/drawing/2014/main" id="{C93DB946-639A-4F33-A4D7-DDC6014142FD}"/>
              </a:ext>
            </a:extLst>
          </p:cNvPr>
          <p:cNvSpPr>
            <a:spLocks xmlns:a="http://schemas.openxmlformats.org/drawingml/2006/main" noGrp="1"/>
          </p:cNvSpPr>
          <p:nvPr/>
        </p:nvSpPr>
        <p:spPr>
          <a:xfrm xmlns:a="http://schemas.openxmlformats.org/drawingml/2006/main">
            <a:off x="714375" y="4000500"/>
            <a:ext cx="10715625" cy="1123950"/>
          </a:xfrm>
          <a:prstGeom xmlns:a="http://schemas.openxmlformats.org/drawingml/2006/main" prst="roundRect">
            <a:avLst>
              <a:gd name="adj" fmla="val 6780"/>
            </a:avLst>
          </a:prstGeom>
          <a:solidFill xmlns:a="http://schemas.openxmlformats.org/drawingml/2006/main">
            <a:srgbClr val="F7F9FC"/>
          </a:solidFill>
          <a:ln xmlns:a="http://schemas.openxmlformats.org/drawingml/2006/main" w="11430">
            <a:solidFill>
              <a:srgbClr val="AAB6C5"/>
            </a:solidFill>
          </a:ln>
        </p:spPr>
      </p:sp>
      <p:sp>
        <p:nvSpPr>
          <p:cNvPr id="249" name="framework-assumptions-title">
            <a:extLst xmlns:a="http://schemas.openxmlformats.org/drawingml/2006/main">
              <a:ext uri="{FF2B5EF4-FFF2-40B4-BE49-F238E27FC236}">
                <a16:creationId xmlns:a16="http://schemas.microsoft.com/office/drawing/2014/main" id="{85376BA5-2184-4751-AE7A-2CFD958B1ED9}"/>
              </a:ext>
            </a:extLst>
          </p:cNvPr>
          <p:cNvSpPr>
            <a:spLocks xmlns:a="http://schemas.openxmlformats.org/drawingml/2006/main" noGrp="1"/>
          </p:cNvSpPr>
          <p:nvPr/>
        </p:nvSpPr>
        <p:spPr>
          <a:xfrm xmlns:a="http://schemas.openxmlformats.org/drawingml/2006/main">
            <a:off x="952500" y="4086225"/>
            <a:ext cx="102393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833"/>
          </a:bodyPr>
          <a:lstStyle xmlns:a="http://schemas.openxmlformats.org/drawingml/2006/main"/>
          <a:p xmlns:a="http://schemas.openxmlformats.org/drawingml/2006/main">
            <a:pPr algn="ctr">
              <a:buNone/>
              <a:defRPr sz="1500" b="1">
                <a:solidFill>
                  <a:srgbClr val="17365D"/>
                </a:solidFill>
                <a:latin typeface="Arial"/>
                <a:ea typeface="Arial"/>
                <a:cs typeface="Arial"/>
              </a:defRPr>
            </a:pPr>
            <a:r>
              <a:rPr sz="1500" b="1">
                <a:solidFill>
                  <a:srgbClr val="17365D"/>
                </a:solidFill>
                <a:latin typeface="Arial"/>
                <a:ea typeface="Arial"/>
                <a:cs typeface="Arial"/>
              </a:rPr>
              <a:t>Cross-cutting threats and trust assumptions</a:t>
            </a:r>
          </a:p>
        </p:txBody>
      </p:sp>
      <p:sp>
        <p:nvSpPr>
          <p:cNvPr id="250" name="framework-threats">
            <a:extLst xmlns:a="http://schemas.openxmlformats.org/drawingml/2006/main">
              <a:ext uri="{FF2B5EF4-FFF2-40B4-BE49-F238E27FC236}">
                <a16:creationId xmlns:a16="http://schemas.microsoft.com/office/drawing/2014/main" id="{DB226214-2B62-4B5C-AE44-CE6E6485DA48}"/>
              </a:ext>
            </a:extLst>
          </p:cNvPr>
          <p:cNvSpPr>
            <a:spLocks xmlns:a="http://schemas.openxmlformats.org/drawingml/2006/main" noGrp="1"/>
          </p:cNvSpPr>
          <p:nvPr/>
        </p:nvSpPr>
        <p:spPr>
          <a:xfrm xmlns:a="http://schemas.openxmlformats.org/drawingml/2006/main">
            <a:off x="1000125" y="4410075"/>
            <a:ext cx="4762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333"/>
          </a:bodyPr>
          <a:lstStyle xmlns:a="http://schemas.openxmlformats.org/drawingml/2006/main"/>
          <a:p xmlns:a="http://schemas.openxmlformats.org/drawingml/2006/main">
            <a:pPr>
              <a:buNone/>
              <a:defRPr sz="1125">
                <a:solidFill>
                  <a:srgbClr val="263244"/>
                </a:solidFill>
                <a:latin typeface="Arial"/>
                <a:ea typeface="Arial"/>
                <a:cs typeface="Arial"/>
              </a:defRPr>
            </a:pPr>
            <a:r>
              <a:rPr sz="1125">
                <a:solidFill>
                  <a:srgbClr val="263244"/>
                </a:solidFill>
                <a:latin typeface="Arial"/>
                <a:ea typeface="Arial"/>
                <a:cs typeface="Arial"/>
              </a:rPr>
              <a:t>Threats considered</a:t>
            </a:r>
          </a:p>
          <a:p xmlns:a="http://schemas.openxmlformats.org/drawingml/2006/main">
            <a:pPr>
              <a:buNone/>
              <a:defRPr sz="1125">
                <a:solidFill>
                  <a:srgbClr val="263244"/>
                </a:solidFill>
                <a:latin typeface="Arial"/>
                <a:ea typeface="Arial"/>
                <a:cs typeface="Arial"/>
              </a:defRPr>
            </a:pPr>
            <a:r>
              <a:rPr sz="1125">
                <a:solidFill>
                  <a:srgbClr val="263244"/>
                </a:solidFill>
                <a:latin typeface="Arial"/>
                <a:ea typeface="Arial"/>
                <a:cs typeface="Arial"/>
              </a:rPr>
              <a:t>Gradient leakage, membership inference, malicious updates, communication tampering and client dropout</a:t>
            </a:r>
          </a:p>
        </p:txBody>
      </p:sp>
      <p:sp>
        <p:nvSpPr>
          <p:cNvPr id="251" name="framework-trust-assumptions">
            <a:extLst xmlns:a="http://schemas.openxmlformats.org/drawingml/2006/main">
              <a:ext uri="{FF2B5EF4-FFF2-40B4-BE49-F238E27FC236}">
                <a16:creationId xmlns:a16="http://schemas.microsoft.com/office/drawing/2014/main" id="{179E13D1-434D-4FB5-8923-75DB417F8555}"/>
              </a:ext>
            </a:extLst>
          </p:cNvPr>
          <p:cNvSpPr>
            <a:spLocks xmlns:a="http://schemas.openxmlformats.org/drawingml/2006/main" noGrp="1"/>
          </p:cNvSpPr>
          <p:nvPr/>
        </p:nvSpPr>
        <p:spPr>
          <a:xfrm xmlns:a="http://schemas.openxmlformats.org/drawingml/2006/main">
            <a:off x="6429375" y="4410075"/>
            <a:ext cx="4762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333"/>
          </a:bodyPr>
          <a:lstStyle xmlns:a="http://schemas.openxmlformats.org/drawingml/2006/main"/>
          <a:p xmlns:a="http://schemas.openxmlformats.org/drawingml/2006/main">
            <a:pPr>
              <a:buNone/>
              <a:defRPr sz="1125">
                <a:solidFill>
                  <a:srgbClr val="263244"/>
                </a:solidFill>
                <a:latin typeface="Arial"/>
                <a:ea typeface="Arial"/>
                <a:cs typeface="Arial"/>
              </a:defRPr>
            </a:pPr>
            <a:r>
              <a:rPr sz="1125">
                <a:solidFill>
                  <a:srgbClr val="263244"/>
                </a:solidFill>
                <a:latin typeface="Arial"/>
                <a:ea typeface="Arial"/>
                <a:cs typeface="Arial"/>
              </a:rPr>
              <a:t>Trust assumptions</a:t>
            </a:r>
          </a:p>
          <a:p xmlns:a="http://schemas.openxmlformats.org/drawingml/2006/main">
            <a:pPr>
              <a:buNone/>
              <a:defRPr sz="1125">
                <a:solidFill>
                  <a:srgbClr val="263244"/>
                </a:solidFill>
                <a:latin typeface="Arial"/>
                <a:ea typeface="Arial"/>
                <a:cs typeface="Arial"/>
              </a:defRPr>
            </a:pPr>
            <a:r>
              <a:rPr sz="1125">
                <a:solidFill>
                  <a:srgbClr val="263244"/>
                </a:solidFill>
                <a:latin typeface="Arial"/>
                <a:ea typeface="Arial"/>
                <a:cs typeface="Arial"/>
              </a:rPr>
              <a:t>Authenticated institutions, honest-but-curious coordinator, threshold custodians and permissioned audit participants</a:t>
            </a:r>
          </a:p>
        </p:txBody>
      </p:sp>
      <p:sp>
        <p:nvSpPr>
          <p:cNvPr id="252" name="framework-assumptions-divider">
            <a:extLst xmlns:a="http://schemas.openxmlformats.org/drawingml/2006/main">
              <a:ext uri="{FF2B5EF4-FFF2-40B4-BE49-F238E27FC236}">
                <a16:creationId xmlns:a16="http://schemas.microsoft.com/office/drawing/2014/main" id="{DC368890-3967-4923-A964-AEA3CE138177}"/>
              </a:ext>
            </a:extLst>
          </p:cNvPr>
          <p:cNvSpPr>
            <a:spLocks xmlns:a="http://schemas.openxmlformats.org/drawingml/2006/main" noGrp="1"/>
          </p:cNvSpPr>
          <p:nvPr/>
        </p:nvSpPr>
        <p:spPr>
          <a:xfrm xmlns:a="http://schemas.openxmlformats.org/drawingml/2006/main">
            <a:off x="6076950" y="4410075"/>
            <a:ext cx="14288" cy="542925"/>
          </a:xfrm>
          <a:prstGeom xmlns:a="http://schemas.openxmlformats.org/drawingml/2006/main" prst="rect">
            <a:avLst/>
          </a:prstGeom>
          <a:solidFill xmlns:a="http://schemas.openxmlformats.org/drawingml/2006/main">
            <a:srgbClr val="CCD5DF"/>
          </a:solidFill>
          <a:ln xmlns:a="http://schemas.openxmlformats.org/drawingml/2006/main" w="0">
            <a:noFill/>
          </a:ln>
        </p:spPr>
      </p:sp>
      <p:sp>
        <p:nvSpPr>
          <p:cNvPr id="253" name="framework-principle-box">
            <a:extLst xmlns:a="http://schemas.openxmlformats.org/drawingml/2006/main">
              <a:ext uri="{FF2B5EF4-FFF2-40B4-BE49-F238E27FC236}">
                <a16:creationId xmlns:a16="http://schemas.microsoft.com/office/drawing/2014/main" id="{74EAE2CF-77CF-4F77-B3A3-ACB23B803CC4}"/>
              </a:ext>
            </a:extLst>
          </p:cNvPr>
          <p:cNvSpPr>
            <a:spLocks xmlns:a="http://schemas.openxmlformats.org/drawingml/2006/main" noGrp="1"/>
          </p:cNvSpPr>
          <p:nvPr/>
        </p:nvSpPr>
        <p:spPr>
          <a:xfrm xmlns:a="http://schemas.openxmlformats.org/drawingml/2006/main">
            <a:off x="1714500" y="5334000"/>
            <a:ext cx="8763000" cy="590550"/>
          </a:xfrm>
          <a:prstGeom xmlns:a="http://schemas.openxmlformats.org/drawingml/2006/main" prst="roundRect">
            <a:avLst>
              <a:gd name="adj" fmla="val 12903"/>
            </a:avLst>
          </a:prstGeom>
          <a:solidFill xmlns:a="http://schemas.openxmlformats.org/drawingml/2006/main">
            <a:srgbClr val="E8F4EE"/>
          </a:solidFill>
          <a:ln xmlns:a="http://schemas.openxmlformats.org/drawingml/2006/main" w="14288">
            <a:solidFill>
              <a:srgbClr val="008A46"/>
            </a:solidFill>
          </a:ln>
        </p:spPr>
      </p:sp>
      <p:sp>
        <p:nvSpPr>
          <p:cNvPr id="254" name="framework-principle">
            <a:extLst xmlns:a="http://schemas.openxmlformats.org/drawingml/2006/main">
              <a:ext uri="{FF2B5EF4-FFF2-40B4-BE49-F238E27FC236}">
                <a16:creationId xmlns:a16="http://schemas.microsoft.com/office/drawing/2014/main" id="{326D5A41-5020-45AA-BA2B-2715379B75A1}"/>
              </a:ext>
            </a:extLst>
          </p:cNvPr>
          <p:cNvSpPr>
            <a:spLocks xmlns:a="http://schemas.openxmlformats.org/drawingml/2006/main" noGrp="1"/>
          </p:cNvSpPr>
          <p:nvPr/>
        </p:nvSpPr>
        <p:spPr>
          <a:xfrm xmlns:a="http://schemas.openxmlformats.org/drawingml/2006/main">
            <a:off x="1952625" y="5410200"/>
            <a:ext cx="8286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216"/>
          </a:bodyPr>
          <a:lstStyle xmlns:a="http://schemas.openxmlformats.org/drawingml/2006/main"/>
          <a:p xmlns:a="http://schemas.openxmlformats.org/drawingml/2006/main">
            <a:pPr algn="ctr">
              <a:buNone/>
              <a:defRPr sz="1275" b="1">
                <a:solidFill>
                  <a:srgbClr val="17365D"/>
                </a:solidFill>
                <a:latin typeface="Arial"/>
                <a:ea typeface="Arial"/>
                <a:cs typeface="Arial"/>
              </a:defRPr>
            </a:pPr>
            <a:r>
              <a:rPr sz="1275" b="1">
                <a:solidFill>
                  <a:srgbClr val="17365D"/>
                </a:solidFill>
                <a:latin typeface="Arial"/>
                <a:ea typeface="Arial"/>
                <a:cs typeface="Arial"/>
              </a:rPr>
              <a:t>Core principle: patient records remain inside each institution; only protected updates enter the collaboration, and only a validated global model is released.</a:t>
            </a:r>
          </a:p>
        </p:txBody>
      </p:sp>
    </p:spTree>
    <p:extLst>
      <p:ext uri="{BB962C8B-B14F-4D97-AF65-F5344CB8AC3E}">
        <p14:creationId xmlns:p14="http://schemas.microsoft.com/office/powerpoint/2010/main" val="1026661964"/>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pic>
        <p:nvPicPr>
          <p:cNvPr id="566" name="Google Shape;359;p39"/>
          <p:cNvPicPr>
            <a:picLocks xmlns:a="http://schemas.openxmlformats.org/drawingml/2006/main" noChangeAspect="1"/>
          </p:cNvPicPr>
          <p:nvPr/>
        </p:nvPicPr>
        <p:blipFill rotWithShape="1">
          <a:blip xmlns:r="http://schemas.openxmlformats.org/officeDocument/2006/relationships" xmlns:a="http://schemas.openxmlformats.org/drawingml/2006/main" r:embed="R491c7bdf7d0f48a7">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567" name="Google Shape;360;p39"/>
          <p:cNvPicPr>
            <a:picLocks xmlns:a="http://schemas.openxmlformats.org/drawingml/2006/main" noChangeAspect="1"/>
          </p:cNvPicPr>
          <p:nvPr/>
        </p:nvPicPr>
        <p:blipFill rotWithShape="1">
          <a:blip xmlns:r="http://schemas.openxmlformats.org/officeDocument/2006/relationships" xmlns:a="http://schemas.openxmlformats.org/drawingml/2006/main" r:embed="Rc93f2097ad0c40b4">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568" name="Google Shape;361;p39"/>
          <p:cNvPicPr>
            <a:picLocks xmlns:a="http://schemas.openxmlformats.org/drawingml/2006/main" noChangeAspect="1"/>
          </p:cNvPicPr>
          <p:nvPr/>
        </p:nvPicPr>
        <p:blipFill rotWithShape="1">
          <a:blip xmlns:r="http://schemas.openxmlformats.org/officeDocument/2006/relationships" xmlns:a="http://schemas.openxmlformats.org/drawingml/2006/main" r:embed="R39d215874839450a">
            <a:alphaModFix/>
          </a:blip>
          <a:srcRect xmlns:a="http://schemas.openxmlformats.org/drawingml/2006/main" l="1187" t="2321" r="3422" b="0"/>
          <a:stretch xmlns:a="http://schemas.openxmlformats.org/drawingml/2006/main"/>
        </p:blipFill>
        <p:spPr>
          <a:xfrm xmlns:a="http://schemas.openxmlformats.org/drawingml/2006/main">
            <a:off x="2210143" y="374895"/>
            <a:ext cx="7565366" cy="5537780"/>
          </a:xfrm>
          <a:prstGeom xmlns:a="http://schemas.openxmlformats.org/drawingml/2006/main" prst="rect">
            <a:avLst/>
          </a:prstGeom>
          <a:ln xmlns:a="http://schemas.openxmlformats.org/drawingml/2006/main">
            <a:noFill/>
          </a:ln>
        </p:spPr>
      </p:pic>
      <p:sp>
        <p:nvSpPr>
          <p:cNvPr id="362" name="Google Shape;362;p39">
            <a:extLst xmlns:a="http://schemas.openxmlformats.org/drawingml/2006/main">
              <a:ext uri="{FF2B5EF4-FFF2-40B4-BE49-F238E27FC236}">
                <a16:creationId xmlns:a16="http://schemas.microsoft.com/office/drawing/2014/main" id="{EEFF338C-48B1-8132-B969-54ACC4C332A7}"/>
              </a:ext>
            </a:extLst>
          </p:cNvPr>
          <p:cNvSpPr>
            <a:spLocks xmlns:a="http://schemas.openxmlformats.org/drawingml/2006/main" noGrp="1"/>
          </p:cNvSpPr>
          <p:nvPr>
            <p:ph type="title" idx="0"/>
          </p:nvPr>
        </p:nvSpPr>
        <p:spPr>
          <a:xfrm xmlns:a="http://schemas.openxmlformats.org/drawingml/2006/main">
            <a:off x="1664208" y="4207482"/>
            <a:ext cx="8613648" cy="796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algn="ctr">
              <a:buNone/>
            </a:pPr>
            <a:r>
              <a:rPr sz="4000"/>
              <a:t>Methodology</a:t>
            </a:r>
          </a:p>
        </p:txBody>
      </p:sp>
      <p:pic>
        <p:nvPicPr>
          <p:cNvPr id="570" name="Google Shape;363;p39"/>
          <p:cNvPicPr>
            <a:picLocks xmlns:a="http://schemas.openxmlformats.org/drawingml/2006/main" noChangeAspect="1"/>
          </p:cNvPicPr>
          <p:nvPr/>
        </p:nvPicPr>
        <p:blipFill rotWithShape="1">
          <a:blip xmlns:r="http://schemas.openxmlformats.org/officeDocument/2006/relationships" xmlns:a="http://schemas.openxmlformats.org/drawingml/2006/main" r:embed="Ra5ab65f1aad94748">
            <a:alphaModFix/>
          </a:blip>
          <a:srcRect xmlns:a="http://schemas.openxmlformats.org/drawingml/2006/main" l="0" t="0" r="0" b="0"/>
          <a:stretch xmlns:a="http://schemas.openxmlformats.org/drawingml/2006/main"/>
        </p:blipFill>
        <p:spPr>
          <a:xfrm xmlns:a="http://schemas.openxmlformats.org/drawingml/2006/main">
            <a:off x="4785233" y="1949845"/>
            <a:ext cx="2056847" cy="2056847"/>
          </a:xfrm>
          <a:prstGeom xmlns:a="http://schemas.openxmlformats.org/drawingml/2006/main" prst="roundRect">
            <a:avLst>
              <a:gd name="adj" fmla="val 16667"/>
            </a:avLst>
          </a:prstGeom>
          <a:ln xmlns:a="http://schemas.openxmlformats.org/drawingml/2006/main">
            <a:noFill/>
          </a:ln>
          <a:effectLst xmlns:a="http://schemas.openxmlformats.org/drawingml/2006/main">
            <a:outerShdw blurRad="76200" dist="38100" dir="7800000" algn="tl" rotWithShape="0">
              <a:srgbClr val="000000">
                <a:alpha val="40000"/>
              </a:srgbClr>
            </a:outerShdw>
          </a:effectLst>
        </p:spPr>
      </p:pic>
      <p:sp>
        <p:nvSpPr>
          <p:cNvPr id="2" name="Google Shape;216;p28">
            <a:extLst xmlns:a="http://schemas.openxmlformats.org/drawingml/2006/main">
              <a:ext uri="{FF2B5EF4-FFF2-40B4-BE49-F238E27FC236}">
                <a16:creationId xmlns:a16="http://schemas.microsoft.com/office/drawing/2014/main" id="{4AC777A5-57EB-AFC4-A5F3-AC25B803C8B5}"/>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3" name="Google Shape;212;p28">
            <a:extLst xmlns:a="http://schemas.openxmlformats.org/drawingml/2006/main">
              <a:ext uri="{FF2B5EF4-FFF2-40B4-BE49-F238E27FC236}">
                <a16:creationId xmlns:a16="http://schemas.microsoft.com/office/drawing/2014/main" id="{486602C0-C428-5611-E318-DE85074D6D16}"/>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17</a:t>
            </a:r>
            <a:endParaRPr sz="2800"/>
          </a:p>
        </p:txBody>
      </p:sp>
      <p:cxnSp>
        <p:nvCxnSpPr>
          <p:cNvPr id="573" name="Google Shape;271;p32"/>
          <p:cNvCxnSpPr/>
          <p:nvPr/>
        </p:nvCxnSpPr>
        <p:spPr>
          <a:xfrm xmlns:a="http://schemas.openxmlformats.org/drawingml/2006/main">
            <a:off x="424707" y="5119185"/>
            <a:ext cx="11342585"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384" name="visible-footer-date-13">
            <a:extLst xmlns:a="http://schemas.openxmlformats.org/drawingml/2006/main">
              <a:ext uri="{FF2B5EF4-FFF2-40B4-BE49-F238E27FC236}">
                <a16:creationId xmlns:a16="http://schemas.microsoft.com/office/drawing/2014/main" id="{F0EB0EB9-746C-4502-95C1-397FF73DAD8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289875798"/>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D53C2C4-0238-2DF2-4E36-7218D813FEA6}"/>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defRPr sz="2700" b="1">
                <a:solidFill>
                  <a:srgbClr val="062B6F"/>
                </a:solidFill>
                <a:latin typeface="Arial"/>
                <a:ea typeface="Arial"/>
                <a:cs typeface="Arial"/>
              </a:defRPr>
            </a:pPr>
            <a:r>
              <a:rPr sz="2700" b="1">
                <a:solidFill>
                  <a:srgbClr val="062B6F"/>
                </a:solidFill>
                <a:latin typeface="Arial"/>
                <a:ea typeface="Arial"/>
                <a:cs typeface="Arial"/>
              </a:rPr>
              <a:t>System Approach: Local Privacy Pipeline</a:t>
            </a:r>
            <a:endParaRPr/>
          </a:p>
        </p:txBody>
      </p:sp>
      <p:sp>
        <p:nvSpPr>
          <p:cNvPr id="212" name="Google Shape;212;p28">
            <a:extLst xmlns:a="http://schemas.openxmlformats.org/drawingml/2006/main">
              <a:ext uri="{FF2B5EF4-FFF2-40B4-BE49-F238E27FC236}">
                <a16:creationId xmlns:a16="http://schemas.microsoft.com/office/drawing/2014/main" id="{7D7835C0-40C3-DEA8-DB7B-B74329928B9D}"/>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18</a:t>
            </a:r>
            <a:endParaRPr sz="2800"/>
          </a:p>
        </p:txBody>
      </p:sp>
      <p:pic>
        <p:nvPicPr>
          <p:cNvPr id="570"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896fffa171e84840">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571"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fd5bbc2526724c75">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9BA7BDD1-B401-9532-3A90-883A29A4D80C}"/>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pic>
        <p:nvPicPr>
          <p:cNvPr id="573" name="Picture 458"/>
          <p:cNvPicPr>
            <a:picLocks xmlns:a="http://schemas.openxmlformats.org/drawingml/2006/main" noChangeAspect="1"/>
          </p:cNvPicPr>
          <p:nvPr/>
        </p:nvPicPr>
        <p:blipFill>
          <a:blip xmlns:r="http://schemas.openxmlformats.org/officeDocument/2006/relationships" xmlns:a="http://schemas.openxmlformats.org/drawingml/2006/main" r:embed="R52248c888b9743d8"/>
          <a:stretch xmlns:a="http://schemas.openxmlformats.org/drawingml/2006/main"/>
        </p:blipFill>
        <p:spPr>
          <a:xfrm xmlns:a="http://schemas.openxmlformats.org/drawingml/2006/main">
            <a:off x="3111500" y="1143000"/>
            <a:ext cx="5969000" cy="4476750"/>
          </a:xfrm>
          <a:prstGeom xmlns:a="http://schemas.openxmlformats.org/drawingml/2006/main" prst="rect">
            <a:avLst/>
          </a:prstGeom>
        </p:spPr>
      </p:pic>
      <p:sp>
        <p:nvSpPr>
          <p:cNvPr id="221" name="architecture-caption">
            <a:extLst xmlns:a="http://schemas.openxmlformats.org/drawingml/2006/main">
              <a:ext uri="{FF2B5EF4-FFF2-40B4-BE49-F238E27FC236}">
                <a16:creationId xmlns:a16="http://schemas.microsoft.com/office/drawing/2014/main" id="{5F354A9E-A34D-443F-9641-0389D0C1B311}"/>
              </a:ext>
            </a:extLst>
          </p:cNvPr>
          <p:cNvSpPr>
            <a:spLocks xmlns:a="http://schemas.openxmlformats.org/drawingml/2006/main" noGrp="1"/>
          </p:cNvSpPr>
          <p:nvPr/>
        </p:nvSpPr>
        <p:spPr>
          <a:xfrm xmlns:a="http://schemas.openxmlformats.org/drawingml/2006/main">
            <a:off x="1095375" y="5619750"/>
            <a:ext cx="1000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425" b="0" i="1">
                <a:solidFill>
                  <a:srgbClr val="1F2937"/>
                </a:solidFill>
                <a:latin typeface="Arial"/>
                <a:ea typeface="Arial"/>
                <a:cs typeface="Arial"/>
              </a:defRPr>
            </a:pPr>
            <a:r>
              <a:rPr sz="1425" b="0" i="1">
                <a:solidFill>
                  <a:srgbClr val="1F2937"/>
                </a:solidFill>
                <a:latin typeface="Arial"/>
                <a:ea typeface="Arial"/>
                <a:cs typeface="Arial"/>
              </a:rPr>
              <a:t>Fig. 1. End-to-end CAABC-FL architecture with privacy, encrypted transport, verification, governance, and audit layers.</a:t>
            </a:r>
          </a:p>
        </p:txBody>
      </p:sp>
      <p:sp>
        <p:nvSpPr>
          <p:cNvPr id="225" name="visible-footer-date-14">
            <a:extLst xmlns:a="http://schemas.openxmlformats.org/drawingml/2006/main">
              <a:ext uri="{FF2B5EF4-FFF2-40B4-BE49-F238E27FC236}">
                <a16:creationId xmlns:a16="http://schemas.microsoft.com/office/drawing/2014/main" id="{814A7836-9876-42DA-930B-6EA53E85DC10}"/>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29" name="system-approach-top-cover">
            <a:extLst xmlns:a="http://schemas.openxmlformats.org/drawingml/2006/main">
              <a:ext uri="{FF2B5EF4-FFF2-40B4-BE49-F238E27FC236}">
                <a16:creationId xmlns:a16="http://schemas.microsoft.com/office/drawing/2014/main" id="{9DF7472F-2598-4AB1-8E9A-98E970C1D43C}"/>
              </a:ext>
            </a:extLst>
          </p:cNvPr>
          <p:cNvSpPr>
            <a:spLocks xmlns:a="http://schemas.openxmlformats.org/drawingml/2006/main" noGrp="1"/>
          </p:cNvSpPr>
          <p:nvPr/>
        </p:nvSpPr>
        <p:spPr>
          <a:xfrm xmlns:a="http://schemas.openxmlformats.org/drawingml/2006/main">
            <a:off x="400050" y="1066800"/>
            <a:ext cx="1139190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577" name="Picture 462"/>
          <p:cNvPicPr>
            <a:picLocks xmlns:a="http://schemas.openxmlformats.org/drawingml/2006/main" noChangeAspect="1"/>
          </p:cNvPicPr>
          <p:nvPr/>
        </p:nvPicPr>
        <p:blipFill>
          <a:blip xmlns:r="http://schemas.openxmlformats.org/officeDocument/2006/relationships" xmlns:a="http://schemas.openxmlformats.org/drawingml/2006/main" r:embed="R2904054a2389484d"/>
          <a:stretch xmlns:a="http://schemas.openxmlformats.org/drawingml/2006/main"/>
        </p:blipFill>
        <p:spPr>
          <a:xfrm xmlns:a="http://schemas.openxmlformats.org/drawingml/2006/main">
            <a:off x="671232" y="1238250"/>
            <a:ext cx="10849535" cy="3924300"/>
          </a:xfrm>
          <a:prstGeom xmlns:a="http://schemas.openxmlformats.org/drawingml/2006/main" prst="rect">
            <a:avLst/>
          </a:prstGeom>
        </p:spPr>
      </p:pic>
      <p:sp>
        <p:nvSpPr>
          <p:cNvPr id="231" name="system-approach-caption-part-1">
            <a:extLst xmlns:a="http://schemas.openxmlformats.org/drawingml/2006/main">
              <a:ext uri="{FF2B5EF4-FFF2-40B4-BE49-F238E27FC236}">
                <a16:creationId xmlns:a16="http://schemas.microsoft.com/office/drawing/2014/main" id="{2C738972-09F0-47FD-A1B0-410E3A3EA558}"/>
              </a:ext>
            </a:extLst>
          </p:cNvPr>
          <p:cNvSpPr>
            <a:spLocks xmlns:a="http://schemas.openxmlformats.org/drawingml/2006/main" noGrp="1"/>
          </p:cNvSpPr>
          <p:nvPr/>
        </p:nvSpPr>
        <p:spPr>
          <a:xfrm xmlns:a="http://schemas.openxmlformats.org/drawingml/2006/main">
            <a:off x="1095375" y="53149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425" i="1">
                <a:solidFill>
                  <a:srgbClr val="1F2937"/>
                </a:solidFill>
                <a:latin typeface="Arial"/>
                <a:ea typeface="Arial"/>
                <a:cs typeface="Arial"/>
              </a:defRPr>
            </a:pPr>
            <a:r>
              <a:rPr sz="1425" i="1">
                <a:solidFill>
                  <a:srgbClr val="1F2937"/>
                </a:solidFill>
                <a:latin typeface="Arial"/>
                <a:ea typeface="Arial"/>
                <a:cs typeface="Arial"/>
              </a:rPr>
              <a:t>Fig. 1(a). Governance, local data handling, distributed CKKS setup, DP training, CAABC-FL compression, encryption, and signed submission.</a:t>
            </a:r>
          </a:p>
        </p:txBody>
      </p:sp>
      <p:sp>
        <p:nvSpPr>
          <p:cNvPr id="236" name="native-local-pipeline-cover">
            <a:extLst xmlns:a="http://schemas.openxmlformats.org/drawingml/2006/main">
              <a:ext uri="{FF2B5EF4-FFF2-40B4-BE49-F238E27FC236}">
                <a16:creationId xmlns:a16="http://schemas.microsoft.com/office/drawing/2014/main" id="{63076E54-EF4F-4E7E-9F2D-BF83042568CD}"/>
              </a:ext>
            </a:extLst>
          </p:cNvPr>
          <p:cNvSpPr>
            <a:spLocks xmlns:a="http://schemas.openxmlformats.org/drawingml/2006/main" noGrp="1"/>
          </p:cNvSpPr>
          <p:nvPr/>
        </p:nvSpPr>
        <p:spPr>
          <a:xfrm xmlns:a="http://schemas.openxmlformats.org/drawingml/2006/main">
            <a:off x="400050" y="1066800"/>
            <a:ext cx="1139190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37" name="local-system-header">
            <a:extLst xmlns:a="http://schemas.openxmlformats.org/drawingml/2006/main">
              <a:ext uri="{FF2B5EF4-FFF2-40B4-BE49-F238E27FC236}">
                <a16:creationId xmlns:a16="http://schemas.microsoft.com/office/drawing/2014/main" id="{706016C4-DA04-40BC-858F-5CF33415A322}"/>
              </a:ext>
            </a:extLst>
          </p:cNvPr>
          <p:cNvSpPr>
            <a:spLocks xmlns:a="http://schemas.openxmlformats.org/drawingml/2006/main" noGrp="1"/>
          </p:cNvSpPr>
          <p:nvPr/>
        </p:nvSpPr>
        <p:spPr>
          <a:xfrm xmlns:a="http://schemas.openxmlformats.org/drawingml/2006/main">
            <a:off x="3000375" y="1133475"/>
            <a:ext cx="6191250" cy="361950"/>
          </a:xfrm>
          <a:prstGeom xmlns:a="http://schemas.openxmlformats.org/drawingml/2006/main" prst="roundRect">
            <a:avLst>
              <a:gd name="adj" fmla="val 21053"/>
            </a:avLst>
          </a:prstGeom>
          <a:solidFill xmlns:a="http://schemas.openxmlformats.org/drawingml/2006/main">
            <a:srgbClr val="F4F7FB"/>
          </a:solidFill>
          <a:ln xmlns:a="http://schemas.openxmlformats.org/drawingml/2006/main" w="13335">
            <a:solidFill>
              <a:srgbClr val="2F6690"/>
            </a:solidFill>
          </a:ln>
        </p:spPr>
        <p:txBody>
          <a:bodyPr xmlns:a="http://schemas.openxmlformats.org/drawingml/2006/main" anchor="ctr">
            <a:normAutofit/>
          </a:bodyPr>
          <a:lstStyle xmlns:a="http://schemas.openxmlformats.org/drawingml/2006/main"/>
          <a:p xmlns:a="http://schemas.openxmlformats.org/drawingml/2006/main">
            <a:pPr algn="ctr">
              <a:buNone/>
              <a:defRPr sz="1350" b="1">
                <a:solidFill>
                  <a:srgbClr val="1F2937"/>
                </a:solidFill>
                <a:latin typeface="Arial"/>
                <a:ea typeface="Arial"/>
                <a:cs typeface="Arial"/>
              </a:defRPr>
            </a:pPr>
            <a:r>
              <a:rPr sz="1350" b="1">
                <a:solidFill>
                  <a:srgbClr val="1F2937"/>
                </a:solidFill>
                <a:latin typeface="Arial"/>
                <a:ea typeface="Arial"/>
                <a:cs typeface="Arial"/>
              </a:rPr>
              <a:t>Secure Multi-Institutional Healthcare Federated Learning</a:t>
            </a:r>
          </a:p>
        </p:txBody>
      </p:sp>
      <p:sp>
        <p:nvSpPr>
          <p:cNvPr id="238" name="L0-lane-background">
            <a:extLst xmlns:a="http://schemas.openxmlformats.org/drawingml/2006/main">
              <a:ext uri="{FF2B5EF4-FFF2-40B4-BE49-F238E27FC236}">
                <a16:creationId xmlns:a16="http://schemas.microsoft.com/office/drawing/2014/main" id="{73FB87CA-14E0-4603-9DDE-A364A0014D62}"/>
              </a:ext>
            </a:extLst>
          </p:cNvPr>
          <p:cNvSpPr>
            <a:spLocks xmlns:a="http://schemas.openxmlformats.org/drawingml/2006/main" noGrp="1"/>
          </p:cNvSpPr>
          <p:nvPr/>
        </p:nvSpPr>
        <p:spPr>
          <a:xfrm xmlns:a="http://schemas.openxmlformats.org/drawingml/2006/main">
            <a:off x="819150" y="1619250"/>
            <a:ext cx="10572750" cy="876300"/>
          </a:xfrm>
          <a:prstGeom xmlns:a="http://schemas.openxmlformats.org/drawingml/2006/main" prst="roundRect">
            <a:avLst>
              <a:gd name="adj" fmla="val 8696"/>
            </a:avLst>
          </a:prstGeom>
          <a:solidFill xmlns:a="http://schemas.openxmlformats.org/drawingml/2006/main">
            <a:srgbClr val="EEF4FB"/>
          </a:solidFill>
          <a:ln xmlns:a="http://schemas.openxmlformats.org/drawingml/2006/main" w="9525">
            <a:solidFill>
              <a:srgbClr val="D8E0E8"/>
            </a:solidFill>
          </a:ln>
        </p:spPr>
      </p:sp>
      <p:sp>
        <p:nvSpPr>
          <p:cNvPr id="239" name="L0-lane-label">
            <a:extLst xmlns:a="http://schemas.openxmlformats.org/drawingml/2006/main">
              <a:ext uri="{FF2B5EF4-FFF2-40B4-BE49-F238E27FC236}">
                <a16:creationId xmlns:a16="http://schemas.microsoft.com/office/drawing/2014/main" id="{5BB1BD96-5C24-4BE4-B530-145BE438678A}"/>
              </a:ext>
            </a:extLst>
          </p:cNvPr>
          <p:cNvSpPr>
            <a:spLocks xmlns:a="http://schemas.openxmlformats.org/drawingml/2006/main" noGrp="1"/>
          </p:cNvSpPr>
          <p:nvPr/>
        </p:nvSpPr>
        <p:spPr>
          <a:xfrm xmlns:a="http://schemas.openxmlformats.org/drawingml/2006/main">
            <a:off x="914400" y="1714500"/>
            <a:ext cx="1381125" cy="685800"/>
          </a:xfrm>
          <a:prstGeom xmlns:a="http://schemas.openxmlformats.org/drawingml/2006/main" prst="roundRect">
            <a:avLst>
              <a:gd name="adj" fmla="val 11111"/>
            </a:avLst>
          </a:prstGeom>
          <a:solidFill xmlns:a="http://schemas.openxmlformats.org/drawingml/2006/main">
            <a:srgbClr val="2F6690"/>
          </a:solidFill>
          <a:ln xmlns:a="http://schemas.openxmlformats.org/drawingml/2006/main" w="9525">
            <a:solidFill>
              <a:srgbClr val="2F6690"/>
            </a:solidFill>
          </a:ln>
        </p:spPr>
        <p:txBody>
          <a:bodyPr xmlns:a="http://schemas.openxmlformats.org/drawingml/2006/main" anchor="ctr">
            <a:normAutofit/>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L0</a:t>
            </a:r>
          </a:p>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Governance</a:t>
            </a:r>
          </a:p>
        </p:txBody>
      </p:sp>
      <p:sp>
        <p:nvSpPr>
          <p:cNvPr id="240" name="L1-lane-background">
            <a:extLst xmlns:a="http://schemas.openxmlformats.org/drawingml/2006/main">
              <a:ext uri="{FF2B5EF4-FFF2-40B4-BE49-F238E27FC236}">
                <a16:creationId xmlns:a16="http://schemas.microsoft.com/office/drawing/2014/main" id="{4C3E122E-BFCA-4BAA-8878-DB569979C7E0}"/>
              </a:ext>
            </a:extLst>
          </p:cNvPr>
          <p:cNvSpPr>
            <a:spLocks xmlns:a="http://schemas.openxmlformats.org/drawingml/2006/main" noGrp="1"/>
          </p:cNvSpPr>
          <p:nvPr/>
        </p:nvSpPr>
        <p:spPr>
          <a:xfrm xmlns:a="http://schemas.openxmlformats.org/drawingml/2006/main">
            <a:off x="819150" y="2590800"/>
            <a:ext cx="10572750" cy="876300"/>
          </a:xfrm>
          <a:prstGeom xmlns:a="http://schemas.openxmlformats.org/drawingml/2006/main" prst="roundRect">
            <a:avLst>
              <a:gd name="adj" fmla="val 8696"/>
            </a:avLst>
          </a:prstGeom>
          <a:solidFill xmlns:a="http://schemas.openxmlformats.org/drawingml/2006/main">
            <a:srgbClr val="F1F6FB"/>
          </a:solidFill>
          <a:ln xmlns:a="http://schemas.openxmlformats.org/drawingml/2006/main" w="9525">
            <a:solidFill>
              <a:srgbClr val="D8E0E8"/>
            </a:solidFill>
          </a:ln>
        </p:spPr>
      </p:sp>
      <p:sp>
        <p:nvSpPr>
          <p:cNvPr id="241" name="L1-lane-label">
            <a:extLst xmlns:a="http://schemas.openxmlformats.org/drawingml/2006/main">
              <a:ext uri="{FF2B5EF4-FFF2-40B4-BE49-F238E27FC236}">
                <a16:creationId xmlns:a16="http://schemas.microsoft.com/office/drawing/2014/main" id="{C17F811D-0B4B-446F-8551-3A4BEE966D2C}"/>
              </a:ext>
            </a:extLst>
          </p:cNvPr>
          <p:cNvSpPr>
            <a:spLocks xmlns:a="http://schemas.openxmlformats.org/drawingml/2006/main" noGrp="1"/>
          </p:cNvSpPr>
          <p:nvPr/>
        </p:nvSpPr>
        <p:spPr>
          <a:xfrm xmlns:a="http://schemas.openxmlformats.org/drawingml/2006/main">
            <a:off x="914400" y="2686050"/>
            <a:ext cx="1381125" cy="685800"/>
          </a:xfrm>
          <a:prstGeom xmlns:a="http://schemas.openxmlformats.org/drawingml/2006/main" prst="roundRect">
            <a:avLst>
              <a:gd name="adj" fmla="val 11111"/>
            </a:avLst>
          </a:prstGeom>
          <a:solidFill xmlns:a="http://schemas.openxmlformats.org/drawingml/2006/main">
            <a:srgbClr val="3C78A8"/>
          </a:solidFill>
          <a:ln xmlns:a="http://schemas.openxmlformats.org/drawingml/2006/main" w="9525">
            <a:solidFill>
              <a:srgbClr val="3C78A8"/>
            </a:solidFill>
          </a:ln>
        </p:spPr>
        <p:txBody>
          <a:bodyPr xmlns:a="http://schemas.openxmlformats.org/drawingml/2006/main" anchor="ctr">
            <a:normAutofit/>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L1</a:t>
            </a:r>
          </a:p>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Local data</a:t>
            </a:r>
          </a:p>
        </p:txBody>
      </p:sp>
      <p:sp>
        <p:nvSpPr>
          <p:cNvPr id="242" name="L2-lane-background">
            <a:extLst xmlns:a="http://schemas.openxmlformats.org/drawingml/2006/main">
              <a:ext uri="{FF2B5EF4-FFF2-40B4-BE49-F238E27FC236}">
                <a16:creationId xmlns:a16="http://schemas.microsoft.com/office/drawing/2014/main" id="{11D9D8EC-208A-44C2-99D8-1BFA83FBBA10}"/>
              </a:ext>
            </a:extLst>
          </p:cNvPr>
          <p:cNvSpPr>
            <a:spLocks xmlns:a="http://schemas.openxmlformats.org/drawingml/2006/main" noGrp="1"/>
          </p:cNvSpPr>
          <p:nvPr/>
        </p:nvSpPr>
        <p:spPr>
          <a:xfrm xmlns:a="http://schemas.openxmlformats.org/drawingml/2006/main">
            <a:off x="819150" y="3562350"/>
            <a:ext cx="10572750" cy="876300"/>
          </a:xfrm>
          <a:prstGeom xmlns:a="http://schemas.openxmlformats.org/drawingml/2006/main" prst="roundRect">
            <a:avLst>
              <a:gd name="adj" fmla="val 8696"/>
            </a:avLst>
          </a:prstGeom>
          <a:solidFill xmlns:a="http://schemas.openxmlformats.org/drawingml/2006/main">
            <a:srgbClr val="ECF7F5"/>
          </a:solidFill>
          <a:ln xmlns:a="http://schemas.openxmlformats.org/drawingml/2006/main" w="9525">
            <a:solidFill>
              <a:srgbClr val="D8E0E8"/>
            </a:solidFill>
          </a:ln>
        </p:spPr>
      </p:sp>
      <p:sp>
        <p:nvSpPr>
          <p:cNvPr id="243" name="L2-lane-label">
            <a:extLst xmlns:a="http://schemas.openxmlformats.org/drawingml/2006/main">
              <a:ext uri="{FF2B5EF4-FFF2-40B4-BE49-F238E27FC236}">
                <a16:creationId xmlns:a16="http://schemas.microsoft.com/office/drawing/2014/main" id="{C47C850B-9B12-437C-B8D9-64382B989158}"/>
              </a:ext>
            </a:extLst>
          </p:cNvPr>
          <p:cNvSpPr>
            <a:spLocks xmlns:a="http://schemas.openxmlformats.org/drawingml/2006/main" noGrp="1"/>
          </p:cNvSpPr>
          <p:nvPr/>
        </p:nvSpPr>
        <p:spPr>
          <a:xfrm xmlns:a="http://schemas.openxmlformats.org/drawingml/2006/main">
            <a:off x="914400" y="3657600"/>
            <a:ext cx="1381125" cy="685800"/>
          </a:xfrm>
          <a:prstGeom xmlns:a="http://schemas.openxmlformats.org/drawingml/2006/main" prst="roundRect">
            <a:avLst>
              <a:gd name="adj" fmla="val 11111"/>
            </a:avLst>
          </a:prstGeom>
          <a:solidFill xmlns:a="http://schemas.openxmlformats.org/drawingml/2006/main">
            <a:srgbClr val="2F7F77"/>
          </a:solidFill>
          <a:ln xmlns:a="http://schemas.openxmlformats.org/drawingml/2006/main" w="9525">
            <a:solidFill>
              <a:srgbClr val="2F7F77"/>
            </a:solidFill>
          </a:ln>
        </p:spPr>
        <p:txBody>
          <a:bodyPr xmlns:a="http://schemas.openxmlformats.org/drawingml/2006/main" anchor="ctr">
            <a:normAutofit/>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L2</a:t>
            </a:r>
          </a:p>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Key setup</a:t>
            </a:r>
          </a:p>
        </p:txBody>
      </p:sp>
      <p:sp>
        <p:nvSpPr>
          <p:cNvPr id="244" name="L3-lane-background">
            <a:extLst xmlns:a="http://schemas.openxmlformats.org/drawingml/2006/main">
              <a:ext uri="{FF2B5EF4-FFF2-40B4-BE49-F238E27FC236}">
                <a16:creationId xmlns:a16="http://schemas.microsoft.com/office/drawing/2014/main" id="{94F6A69F-501C-48C1-8825-928751ADFFC1}"/>
              </a:ext>
            </a:extLst>
          </p:cNvPr>
          <p:cNvSpPr>
            <a:spLocks xmlns:a="http://schemas.openxmlformats.org/drawingml/2006/main" noGrp="1"/>
          </p:cNvSpPr>
          <p:nvPr/>
        </p:nvSpPr>
        <p:spPr>
          <a:xfrm xmlns:a="http://schemas.openxmlformats.org/drawingml/2006/main">
            <a:off x="819150" y="4533900"/>
            <a:ext cx="10572750" cy="1028700"/>
          </a:xfrm>
          <a:prstGeom xmlns:a="http://schemas.openxmlformats.org/drawingml/2006/main" prst="roundRect">
            <a:avLst>
              <a:gd name="adj" fmla="val 7407"/>
            </a:avLst>
          </a:prstGeom>
          <a:solidFill xmlns:a="http://schemas.openxmlformats.org/drawingml/2006/main">
            <a:srgbClr val="F3EFFB"/>
          </a:solidFill>
          <a:ln xmlns:a="http://schemas.openxmlformats.org/drawingml/2006/main" w="9525">
            <a:solidFill>
              <a:srgbClr val="D8E0E8"/>
            </a:solidFill>
          </a:ln>
        </p:spPr>
      </p:sp>
      <p:sp>
        <p:nvSpPr>
          <p:cNvPr id="245" name="L3-lane-label">
            <a:extLst xmlns:a="http://schemas.openxmlformats.org/drawingml/2006/main">
              <a:ext uri="{FF2B5EF4-FFF2-40B4-BE49-F238E27FC236}">
                <a16:creationId xmlns:a16="http://schemas.microsoft.com/office/drawing/2014/main" id="{2D5828D6-DB9F-45DB-BC22-4BD155E3FC98}"/>
              </a:ext>
            </a:extLst>
          </p:cNvPr>
          <p:cNvSpPr>
            <a:spLocks xmlns:a="http://schemas.openxmlformats.org/drawingml/2006/main" noGrp="1"/>
          </p:cNvSpPr>
          <p:nvPr/>
        </p:nvSpPr>
        <p:spPr>
          <a:xfrm xmlns:a="http://schemas.openxmlformats.org/drawingml/2006/main">
            <a:off x="914400" y="4629150"/>
            <a:ext cx="1381125" cy="838200"/>
          </a:xfrm>
          <a:prstGeom xmlns:a="http://schemas.openxmlformats.org/drawingml/2006/main" prst="roundRect">
            <a:avLst>
              <a:gd name="adj" fmla="val 9091"/>
            </a:avLst>
          </a:prstGeom>
          <a:solidFill xmlns:a="http://schemas.openxmlformats.org/drawingml/2006/main">
            <a:srgbClr val="6B4FB3"/>
          </a:solidFill>
          <a:ln xmlns:a="http://schemas.openxmlformats.org/drawingml/2006/main" w="9525">
            <a:solidFill>
              <a:srgbClr val="6B4FB3"/>
            </a:solidFill>
          </a:ln>
        </p:spPr>
        <p:txBody>
          <a:bodyPr xmlns:a="http://schemas.openxmlformats.org/drawingml/2006/main" anchor="ctr">
            <a:normAutofit/>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L3</a:t>
            </a:r>
          </a:p>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Private training</a:t>
            </a:r>
          </a:p>
        </p:txBody>
      </p:sp>
      <p:sp>
        <p:nvSpPr>
          <p:cNvPr id="246" name="l0-ca">
            <a:extLst xmlns:a="http://schemas.openxmlformats.org/drawingml/2006/main">
              <a:ext uri="{FF2B5EF4-FFF2-40B4-BE49-F238E27FC236}">
                <a16:creationId xmlns:a16="http://schemas.microsoft.com/office/drawing/2014/main" id="{49D62A80-8525-4CEE-BC31-FE6B83B9645C}"/>
              </a:ext>
            </a:extLst>
          </p:cNvPr>
          <p:cNvSpPr>
            <a:spLocks xmlns:a="http://schemas.openxmlformats.org/drawingml/2006/main" noGrp="1"/>
          </p:cNvSpPr>
          <p:nvPr/>
        </p:nvSpPr>
        <p:spPr>
          <a:xfrm xmlns:a="http://schemas.openxmlformats.org/drawingml/2006/main">
            <a:off x="2714625" y="1809750"/>
            <a:ext cx="1952625" cy="504825"/>
          </a:xfrm>
          <a:prstGeom xmlns:a="http://schemas.openxmlformats.org/drawingml/2006/main" prst="roundRect">
            <a:avLst>
              <a:gd name="adj" fmla="val 15094"/>
            </a:avLst>
          </a:prstGeom>
          <a:solidFill xmlns:a="http://schemas.openxmlformats.org/drawingml/2006/main">
            <a:srgbClr val="EEF4FB"/>
          </a:solidFill>
          <a:ln xmlns:a="http://schemas.openxmlformats.org/drawingml/2006/main" w="13335">
            <a:solidFill>
              <a:srgbClr val="2F6690"/>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Consortium CA</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identity and roles</a:t>
            </a:r>
          </a:p>
        </p:txBody>
      </p:sp>
      <p:sp>
        <p:nvSpPr>
          <p:cNvPr id="247" name="l0-consent">
            <a:extLst xmlns:a="http://schemas.openxmlformats.org/drawingml/2006/main">
              <a:ext uri="{FF2B5EF4-FFF2-40B4-BE49-F238E27FC236}">
                <a16:creationId xmlns:a16="http://schemas.microsoft.com/office/drawing/2014/main" id="{93D5C538-A757-4153-B299-F28807A2E010}"/>
              </a:ext>
            </a:extLst>
          </p:cNvPr>
          <p:cNvSpPr>
            <a:spLocks xmlns:a="http://schemas.openxmlformats.org/drawingml/2006/main" noGrp="1"/>
          </p:cNvSpPr>
          <p:nvPr/>
        </p:nvSpPr>
        <p:spPr>
          <a:xfrm xmlns:a="http://schemas.openxmlformats.org/drawingml/2006/main">
            <a:off x="5238750" y="1809750"/>
            <a:ext cx="1952625" cy="504825"/>
          </a:xfrm>
          <a:prstGeom xmlns:a="http://schemas.openxmlformats.org/drawingml/2006/main" prst="roundRect">
            <a:avLst>
              <a:gd name="adj" fmla="val 15094"/>
            </a:avLst>
          </a:prstGeom>
          <a:solidFill xmlns:a="http://schemas.openxmlformats.org/drawingml/2006/main">
            <a:srgbClr val="EEF4FB"/>
          </a:solidFill>
          <a:ln xmlns:a="http://schemas.openxmlformats.org/drawingml/2006/main" w="13335">
            <a:solidFill>
              <a:srgbClr val="2F6690"/>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Consent registry</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scope and revocation</a:t>
            </a:r>
          </a:p>
        </p:txBody>
      </p:sp>
      <p:sp>
        <p:nvSpPr>
          <p:cNvPr id="248" name="l0-policy">
            <a:extLst xmlns:a="http://schemas.openxmlformats.org/drawingml/2006/main">
              <a:ext uri="{FF2B5EF4-FFF2-40B4-BE49-F238E27FC236}">
                <a16:creationId xmlns:a16="http://schemas.microsoft.com/office/drawing/2014/main" id="{1D18C00B-88DB-46CA-9626-DC45E40B8562}"/>
              </a:ext>
            </a:extLst>
          </p:cNvPr>
          <p:cNvSpPr>
            <a:spLocks xmlns:a="http://schemas.openxmlformats.org/drawingml/2006/main" noGrp="1"/>
          </p:cNvSpPr>
          <p:nvPr/>
        </p:nvSpPr>
        <p:spPr>
          <a:xfrm xmlns:a="http://schemas.openxmlformats.org/drawingml/2006/main">
            <a:off x="7762875" y="1809750"/>
            <a:ext cx="2190750" cy="504825"/>
          </a:xfrm>
          <a:prstGeom xmlns:a="http://schemas.openxmlformats.org/drawingml/2006/main" prst="roundRect">
            <a:avLst>
              <a:gd name="adj" fmla="val 15094"/>
            </a:avLst>
          </a:prstGeom>
          <a:solidFill xmlns:a="http://schemas.openxmlformats.org/drawingml/2006/main">
            <a:srgbClr val="EEF4FB"/>
          </a:solidFill>
          <a:ln xmlns:a="http://schemas.openxmlformats.org/drawingml/2006/main" w="13335">
            <a:solidFill>
              <a:srgbClr val="2F6690"/>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Governance policy</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access and incident rules</a:t>
            </a:r>
          </a:p>
        </p:txBody>
      </p:sp>
      <p:cxnSp>
        <p:nvCxnSpPr>
          <p:cNvPr id="592" name="Straight Arrow Connector 477"/>
          <p:cNvCxnSpPr>
            <a:stCxn xmlns:a="http://schemas.openxmlformats.org/drawingml/2006/main" id="246" idx="3"/>
            <a:endCxn xmlns:a="http://schemas.openxmlformats.org/drawingml/2006/main" id="247" idx="1"/>
          </p:cNvCxnSpPr>
          <p:nvPr/>
        </p:nvCxnSpPr>
        <p:spPr>
          <a:xfrm xmlns:a="http://schemas.openxmlformats.org/drawingml/2006/main">
            <a:off x="4667250" y="2062163"/>
            <a:ext cx="571500"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593" name="Straight Arrow Connector 478"/>
          <p:cNvCxnSpPr>
            <a:stCxn xmlns:a="http://schemas.openxmlformats.org/drawingml/2006/main" id="247" idx="3"/>
            <a:endCxn xmlns:a="http://schemas.openxmlformats.org/drawingml/2006/main" id="248" idx="1"/>
          </p:cNvCxnSpPr>
          <p:nvPr/>
        </p:nvCxnSpPr>
        <p:spPr>
          <a:xfrm xmlns:a="http://schemas.openxmlformats.org/drawingml/2006/main">
            <a:off x="7191375" y="2062163"/>
            <a:ext cx="571500"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sp>
        <p:nvSpPr>
          <p:cNvPr id="251" name="l1-hospitals">
            <a:extLst xmlns:a="http://schemas.openxmlformats.org/drawingml/2006/main">
              <a:ext uri="{FF2B5EF4-FFF2-40B4-BE49-F238E27FC236}">
                <a16:creationId xmlns:a16="http://schemas.microsoft.com/office/drawing/2014/main" id="{20F84B98-B76E-47ED-A284-094A3FE6371F}"/>
              </a:ext>
            </a:extLst>
          </p:cNvPr>
          <p:cNvSpPr>
            <a:spLocks xmlns:a="http://schemas.openxmlformats.org/drawingml/2006/main" noGrp="1"/>
          </p:cNvSpPr>
          <p:nvPr/>
        </p:nvSpPr>
        <p:spPr>
          <a:xfrm xmlns:a="http://schemas.openxmlformats.org/drawingml/2006/main">
            <a:off x="2552700" y="2781300"/>
            <a:ext cx="1571625" cy="504825"/>
          </a:xfrm>
          <a:prstGeom xmlns:a="http://schemas.openxmlformats.org/drawingml/2006/main" prst="roundRect">
            <a:avLst>
              <a:gd name="adj" fmla="val 15094"/>
            </a:avLst>
          </a:prstGeom>
          <a:solidFill xmlns:a="http://schemas.openxmlformats.org/drawingml/2006/main">
            <a:srgbClr val="F1F6FB"/>
          </a:solidFill>
          <a:ln xmlns:a="http://schemas.openxmlformats.org/drawingml/2006/main" w="13335">
            <a:solidFill>
              <a:srgbClr val="3C78A8"/>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Hospitals</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 B, C, ... N</a:t>
            </a:r>
          </a:p>
        </p:txBody>
      </p:sp>
      <p:sp>
        <p:nvSpPr>
          <p:cNvPr id="252" name="l1-check">
            <a:extLst xmlns:a="http://schemas.openxmlformats.org/drawingml/2006/main">
              <a:ext uri="{FF2B5EF4-FFF2-40B4-BE49-F238E27FC236}">
                <a16:creationId xmlns:a16="http://schemas.microsoft.com/office/drawing/2014/main" id="{F9F867D4-41EB-43F7-B63B-3DE5F01E2C51}"/>
              </a:ext>
            </a:extLst>
          </p:cNvPr>
          <p:cNvSpPr>
            <a:spLocks xmlns:a="http://schemas.openxmlformats.org/drawingml/2006/main" noGrp="1"/>
          </p:cNvSpPr>
          <p:nvPr/>
        </p:nvSpPr>
        <p:spPr>
          <a:xfrm xmlns:a="http://schemas.openxmlformats.org/drawingml/2006/main">
            <a:off x="4524375" y="2781300"/>
            <a:ext cx="1666875" cy="504825"/>
          </a:xfrm>
          <a:prstGeom xmlns:a="http://schemas.openxmlformats.org/drawingml/2006/main" prst="roundRect">
            <a:avLst>
              <a:gd name="adj" fmla="val 15094"/>
            </a:avLst>
          </a:prstGeom>
          <a:solidFill xmlns:a="http://schemas.openxmlformats.org/drawingml/2006/main">
            <a:srgbClr val="F1F6FB"/>
          </a:solidFill>
          <a:ln xmlns:a="http://schemas.openxmlformats.org/drawingml/2006/main" w="13335">
            <a:solidFill>
              <a:srgbClr val="3C78A8"/>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Consent and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purpose check</a:t>
            </a:r>
          </a:p>
        </p:txBody>
      </p:sp>
      <p:sp>
        <p:nvSpPr>
          <p:cNvPr id="253" name="l1-preprocess">
            <a:extLst xmlns:a="http://schemas.openxmlformats.org/drawingml/2006/main">
              <a:ext uri="{FF2B5EF4-FFF2-40B4-BE49-F238E27FC236}">
                <a16:creationId xmlns:a16="http://schemas.microsoft.com/office/drawing/2014/main" id="{5BB3347D-AF57-44BC-BDED-8E79B69F46C4}"/>
              </a:ext>
            </a:extLst>
          </p:cNvPr>
          <p:cNvSpPr>
            <a:spLocks xmlns:a="http://schemas.openxmlformats.org/drawingml/2006/main" noGrp="1"/>
          </p:cNvSpPr>
          <p:nvPr/>
        </p:nvSpPr>
        <p:spPr>
          <a:xfrm xmlns:a="http://schemas.openxmlformats.org/drawingml/2006/main">
            <a:off x="6591300" y="2781300"/>
            <a:ext cx="1809750" cy="504825"/>
          </a:xfrm>
          <a:prstGeom xmlns:a="http://schemas.openxmlformats.org/drawingml/2006/main" prst="roundRect">
            <a:avLst>
              <a:gd name="adj" fmla="val 15094"/>
            </a:avLst>
          </a:prstGeom>
          <a:solidFill xmlns:a="http://schemas.openxmlformats.org/drawingml/2006/main">
            <a:srgbClr val="F1F6FB"/>
          </a:solidFill>
          <a:ln xmlns:a="http://schemas.openxmlformats.org/drawingml/2006/main" w="13335">
            <a:solidFill>
              <a:srgbClr val="3C78A8"/>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Preprocess and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normalize features</a:t>
            </a:r>
          </a:p>
        </p:txBody>
      </p:sp>
      <p:sp>
        <p:nvSpPr>
          <p:cNvPr id="254" name="l1-onsite">
            <a:extLst xmlns:a="http://schemas.openxmlformats.org/drawingml/2006/main">
              <a:ext uri="{FF2B5EF4-FFF2-40B4-BE49-F238E27FC236}">
                <a16:creationId xmlns:a16="http://schemas.microsoft.com/office/drawing/2014/main" id="{0FB41C00-15F1-42F5-A268-172C7A2681BC}"/>
              </a:ext>
            </a:extLst>
          </p:cNvPr>
          <p:cNvSpPr>
            <a:spLocks xmlns:a="http://schemas.openxmlformats.org/drawingml/2006/main" noGrp="1"/>
          </p:cNvSpPr>
          <p:nvPr/>
        </p:nvSpPr>
        <p:spPr>
          <a:xfrm xmlns:a="http://schemas.openxmlformats.org/drawingml/2006/main">
            <a:off x="8801100" y="2781300"/>
            <a:ext cx="1809750" cy="504825"/>
          </a:xfrm>
          <a:prstGeom xmlns:a="http://schemas.openxmlformats.org/drawingml/2006/main" prst="roundRect">
            <a:avLst>
              <a:gd name="adj" fmla="val 15094"/>
            </a:avLst>
          </a:prstGeom>
          <a:solidFill xmlns:a="http://schemas.openxmlformats.org/drawingml/2006/main">
            <a:srgbClr val="F1F6FB"/>
          </a:solidFill>
          <a:ln xmlns:a="http://schemas.openxmlformats.org/drawingml/2006/main" w="13335">
            <a:solidFill>
              <a:srgbClr val="3C78A8"/>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Local dataset</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remains at hospital</a:t>
            </a:r>
          </a:p>
        </p:txBody>
      </p:sp>
      <p:cxnSp>
        <p:nvCxnSpPr>
          <p:cNvPr id="598" name="Straight Arrow Connector 483"/>
          <p:cNvCxnSpPr>
            <a:stCxn xmlns:a="http://schemas.openxmlformats.org/drawingml/2006/main" id="251" idx="3"/>
            <a:endCxn xmlns:a="http://schemas.openxmlformats.org/drawingml/2006/main" id="252" idx="1"/>
          </p:cNvCxnSpPr>
          <p:nvPr/>
        </p:nvCxnSpPr>
        <p:spPr>
          <a:xfrm xmlns:a="http://schemas.openxmlformats.org/drawingml/2006/main">
            <a:off x="4124325" y="3033713"/>
            <a:ext cx="400050"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599" name="Straight Arrow Connector 484"/>
          <p:cNvCxnSpPr>
            <a:stCxn xmlns:a="http://schemas.openxmlformats.org/drawingml/2006/main" id="252" idx="3"/>
            <a:endCxn xmlns:a="http://schemas.openxmlformats.org/drawingml/2006/main" id="253" idx="1"/>
          </p:cNvCxnSpPr>
          <p:nvPr/>
        </p:nvCxnSpPr>
        <p:spPr>
          <a:xfrm xmlns:a="http://schemas.openxmlformats.org/drawingml/2006/main">
            <a:off x="6191250" y="3033713"/>
            <a:ext cx="400050"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600" name="Straight Arrow Connector 485"/>
          <p:cNvCxnSpPr>
            <a:stCxn xmlns:a="http://schemas.openxmlformats.org/drawingml/2006/main" id="253" idx="3"/>
            <a:endCxn xmlns:a="http://schemas.openxmlformats.org/drawingml/2006/main" id="254" idx="1"/>
          </p:cNvCxnSpPr>
          <p:nvPr/>
        </p:nvCxnSpPr>
        <p:spPr>
          <a:xfrm xmlns:a="http://schemas.openxmlformats.org/drawingml/2006/main">
            <a:off x="8401050" y="3033713"/>
            <a:ext cx="400050"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sp>
        <p:nvSpPr>
          <p:cNvPr id="258" name="l2-rotate">
            <a:extLst xmlns:a="http://schemas.openxmlformats.org/drawingml/2006/main">
              <a:ext uri="{FF2B5EF4-FFF2-40B4-BE49-F238E27FC236}">
                <a16:creationId xmlns:a16="http://schemas.microsoft.com/office/drawing/2014/main" id="{F9DC976F-7649-4EF9-8FF2-DD28B4D06F3B}"/>
              </a:ext>
            </a:extLst>
          </p:cNvPr>
          <p:cNvSpPr>
            <a:spLocks xmlns:a="http://schemas.openxmlformats.org/drawingml/2006/main" noGrp="1"/>
          </p:cNvSpPr>
          <p:nvPr/>
        </p:nvSpPr>
        <p:spPr>
          <a:xfrm xmlns:a="http://schemas.openxmlformats.org/drawingml/2006/main">
            <a:off x="2552700" y="3752850"/>
            <a:ext cx="1666875" cy="504825"/>
          </a:xfrm>
          <a:prstGeom xmlns:a="http://schemas.openxmlformats.org/drawingml/2006/main" prst="roundRect">
            <a:avLst>
              <a:gd name="adj" fmla="val 15094"/>
            </a:avLst>
          </a:prstGeom>
          <a:solidFill xmlns:a="http://schemas.openxmlformats.org/drawingml/2006/main">
            <a:srgbClr val="ECF7F5"/>
          </a:solidFill>
          <a:ln xmlns:a="http://schemas.openxmlformats.org/drawingml/2006/main" w="13335">
            <a:solidFill>
              <a:srgbClr val="2F7F77"/>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Key rotation and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revocation</a:t>
            </a:r>
          </a:p>
        </p:txBody>
      </p:sp>
      <p:sp>
        <p:nvSpPr>
          <p:cNvPr id="259" name="l2-keygen">
            <a:extLst xmlns:a="http://schemas.openxmlformats.org/drawingml/2006/main">
              <a:ext uri="{FF2B5EF4-FFF2-40B4-BE49-F238E27FC236}">
                <a16:creationId xmlns:a16="http://schemas.microsoft.com/office/drawing/2014/main" id="{3582771A-D1DB-4D60-9C2B-E888F5770CA9}"/>
              </a:ext>
            </a:extLst>
          </p:cNvPr>
          <p:cNvSpPr>
            <a:spLocks xmlns:a="http://schemas.openxmlformats.org/drawingml/2006/main" noGrp="1"/>
          </p:cNvSpPr>
          <p:nvPr/>
        </p:nvSpPr>
        <p:spPr>
          <a:xfrm xmlns:a="http://schemas.openxmlformats.org/drawingml/2006/main">
            <a:off x="4629150" y="3752850"/>
            <a:ext cx="1666875" cy="504825"/>
          </a:xfrm>
          <a:prstGeom xmlns:a="http://schemas.openxmlformats.org/drawingml/2006/main" prst="roundRect">
            <a:avLst>
              <a:gd name="adj" fmla="val 15094"/>
            </a:avLst>
          </a:prstGeom>
          <a:solidFill xmlns:a="http://schemas.openxmlformats.org/drawingml/2006/main">
            <a:srgbClr val="ECF7F5"/>
          </a:solidFill>
          <a:ln xmlns:a="http://schemas.openxmlformats.org/drawingml/2006/main" w="13335">
            <a:solidFill>
              <a:srgbClr val="2F7F77"/>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Distributed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key generation</a:t>
            </a:r>
          </a:p>
        </p:txBody>
      </p:sp>
      <p:sp>
        <p:nvSpPr>
          <p:cNvPr id="260" name="l2-pubkey">
            <a:extLst xmlns:a="http://schemas.openxmlformats.org/drawingml/2006/main">
              <a:ext uri="{FF2B5EF4-FFF2-40B4-BE49-F238E27FC236}">
                <a16:creationId xmlns:a16="http://schemas.microsoft.com/office/drawing/2014/main" id="{13168765-EBBB-4719-985C-A7481E663919}"/>
              </a:ext>
            </a:extLst>
          </p:cNvPr>
          <p:cNvSpPr>
            <a:spLocks xmlns:a="http://schemas.openxmlformats.org/drawingml/2006/main" noGrp="1"/>
          </p:cNvSpPr>
          <p:nvPr/>
        </p:nvSpPr>
        <p:spPr>
          <a:xfrm xmlns:a="http://schemas.openxmlformats.org/drawingml/2006/main">
            <a:off x="6705600" y="3752850"/>
            <a:ext cx="1714500" cy="504825"/>
          </a:xfrm>
          <a:prstGeom xmlns:a="http://schemas.openxmlformats.org/drawingml/2006/main" prst="roundRect">
            <a:avLst>
              <a:gd name="adj" fmla="val 15094"/>
            </a:avLst>
          </a:prstGeom>
          <a:solidFill xmlns:a="http://schemas.openxmlformats.org/drawingml/2006/main">
            <a:srgbClr val="ECF7F5"/>
          </a:solidFill>
          <a:ln xmlns:a="http://schemas.openxmlformats.org/drawingml/2006/main" w="13335">
            <a:solidFill>
              <a:srgbClr val="2F7F77"/>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Collective CKKS</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public key</a:t>
            </a:r>
          </a:p>
        </p:txBody>
      </p:sp>
      <p:sp>
        <p:nvSpPr>
          <p:cNvPr id="261" name="l2-shares">
            <a:extLst xmlns:a="http://schemas.openxmlformats.org/drawingml/2006/main">
              <a:ext uri="{FF2B5EF4-FFF2-40B4-BE49-F238E27FC236}">
                <a16:creationId xmlns:a16="http://schemas.microsoft.com/office/drawing/2014/main" id="{5C5432F7-54F8-4FD3-8D47-BB7CB95A332C}"/>
              </a:ext>
            </a:extLst>
          </p:cNvPr>
          <p:cNvSpPr>
            <a:spLocks xmlns:a="http://schemas.openxmlformats.org/drawingml/2006/main" noGrp="1"/>
          </p:cNvSpPr>
          <p:nvPr/>
        </p:nvSpPr>
        <p:spPr>
          <a:xfrm xmlns:a="http://schemas.openxmlformats.org/drawingml/2006/main">
            <a:off x="8829675" y="3752850"/>
            <a:ext cx="1952625" cy="504825"/>
          </a:xfrm>
          <a:prstGeom xmlns:a="http://schemas.openxmlformats.org/drawingml/2006/main" prst="roundRect">
            <a:avLst>
              <a:gd name="adj" fmla="val 15094"/>
            </a:avLst>
          </a:prstGeom>
          <a:solidFill xmlns:a="http://schemas.openxmlformats.org/drawingml/2006/main">
            <a:srgbClr val="ECF7F5"/>
          </a:solidFill>
          <a:ln xmlns:a="http://schemas.openxmlformats.org/drawingml/2006/main" w="13335">
            <a:solidFill>
              <a:srgbClr val="2F7F77"/>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Threshold shares</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protected by custodians</a:t>
            </a:r>
          </a:p>
        </p:txBody>
      </p:sp>
      <p:cxnSp>
        <p:nvCxnSpPr>
          <p:cNvPr id="605" name="Straight Arrow Connector 490"/>
          <p:cNvCxnSpPr>
            <a:stCxn xmlns:a="http://schemas.openxmlformats.org/drawingml/2006/main" id="258" idx="3"/>
            <a:endCxn xmlns:a="http://schemas.openxmlformats.org/drawingml/2006/main" id="259" idx="1"/>
          </p:cNvCxnSpPr>
          <p:nvPr/>
        </p:nvCxnSpPr>
        <p:spPr>
          <a:xfrm xmlns:a="http://schemas.openxmlformats.org/drawingml/2006/main">
            <a:off x="4219575" y="4005263"/>
            <a:ext cx="4095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606" name="Straight Arrow Connector 491"/>
          <p:cNvCxnSpPr>
            <a:stCxn xmlns:a="http://schemas.openxmlformats.org/drawingml/2006/main" id="259" idx="3"/>
            <a:endCxn xmlns:a="http://schemas.openxmlformats.org/drawingml/2006/main" id="260" idx="1"/>
          </p:cNvCxnSpPr>
          <p:nvPr/>
        </p:nvCxnSpPr>
        <p:spPr>
          <a:xfrm xmlns:a="http://schemas.openxmlformats.org/drawingml/2006/main">
            <a:off x="6296025" y="4005263"/>
            <a:ext cx="4095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607" name="Straight Arrow Connector 492"/>
          <p:cNvCxnSpPr>
            <a:stCxn xmlns:a="http://schemas.openxmlformats.org/drawingml/2006/main" id="260" idx="3"/>
            <a:endCxn xmlns:a="http://schemas.openxmlformats.org/drawingml/2006/main" id="261" idx="1"/>
          </p:cNvCxnSpPr>
          <p:nvPr/>
        </p:nvCxnSpPr>
        <p:spPr>
          <a:xfrm xmlns:a="http://schemas.openxmlformats.org/drawingml/2006/main">
            <a:off x="8420100" y="4005263"/>
            <a:ext cx="4095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sp>
        <p:nvSpPr>
          <p:cNvPr id="265" name="l3-train">
            <a:extLst xmlns:a="http://schemas.openxmlformats.org/drawingml/2006/main">
              <a:ext uri="{FF2B5EF4-FFF2-40B4-BE49-F238E27FC236}">
                <a16:creationId xmlns:a16="http://schemas.microsoft.com/office/drawing/2014/main" id="{A7BAEA67-2B8B-45CA-83A3-0A0965124C38}"/>
              </a:ext>
            </a:extLst>
          </p:cNvPr>
          <p:cNvSpPr>
            <a:spLocks xmlns:a="http://schemas.openxmlformats.org/drawingml/2006/main" noGrp="1"/>
          </p:cNvSpPr>
          <p:nvPr/>
        </p:nvSpPr>
        <p:spPr>
          <a:xfrm xmlns:a="http://schemas.openxmlformats.org/drawingml/2006/main">
            <a:off x="2419350" y="4810125"/>
            <a:ext cx="1381125" cy="523875"/>
          </a:xfrm>
          <a:prstGeom xmlns:a="http://schemas.openxmlformats.org/drawingml/2006/main" prst="roundRect">
            <a:avLst>
              <a:gd name="adj" fmla="val 14545"/>
            </a:avLst>
          </a:prstGeom>
          <a:solidFill xmlns:a="http://schemas.openxmlformats.org/drawingml/2006/main">
            <a:srgbClr val="F3EFFB"/>
          </a:solidFill>
          <a:ln xmlns:a="http://schemas.openxmlformats.org/drawingml/2006/main" w="13335">
            <a:solidFill>
              <a:srgbClr val="6B4FB3"/>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Local model</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training</a:t>
            </a:r>
          </a:p>
        </p:txBody>
      </p:sp>
      <p:sp>
        <p:nvSpPr>
          <p:cNvPr id="266" name="l3-clip">
            <a:extLst xmlns:a="http://schemas.openxmlformats.org/drawingml/2006/main">
              <a:ext uri="{FF2B5EF4-FFF2-40B4-BE49-F238E27FC236}">
                <a16:creationId xmlns:a16="http://schemas.microsoft.com/office/drawing/2014/main" id="{E17737D8-BFC8-4D94-98C6-4BD580CFF17F}"/>
              </a:ext>
            </a:extLst>
          </p:cNvPr>
          <p:cNvSpPr>
            <a:spLocks xmlns:a="http://schemas.openxmlformats.org/drawingml/2006/main" noGrp="1"/>
          </p:cNvSpPr>
          <p:nvPr/>
        </p:nvSpPr>
        <p:spPr>
          <a:xfrm xmlns:a="http://schemas.openxmlformats.org/drawingml/2006/main">
            <a:off x="4019550" y="4810125"/>
            <a:ext cx="1381125" cy="523875"/>
          </a:xfrm>
          <a:prstGeom xmlns:a="http://schemas.openxmlformats.org/drawingml/2006/main" prst="roundRect">
            <a:avLst>
              <a:gd name="adj" fmla="val 14545"/>
            </a:avLst>
          </a:prstGeom>
          <a:solidFill xmlns:a="http://schemas.openxmlformats.org/drawingml/2006/main">
            <a:srgbClr val="F3EFFB"/>
          </a:solidFill>
          <a:ln xmlns:a="http://schemas.openxmlformats.org/drawingml/2006/main" w="13335">
            <a:solidFill>
              <a:srgbClr val="6B4FB3"/>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Clip per-record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gradients</a:t>
            </a:r>
          </a:p>
        </p:txBody>
      </p:sp>
      <p:sp>
        <p:nvSpPr>
          <p:cNvPr id="267" name="l3-noise">
            <a:extLst xmlns:a="http://schemas.openxmlformats.org/drawingml/2006/main">
              <a:ext uri="{FF2B5EF4-FFF2-40B4-BE49-F238E27FC236}">
                <a16:creationId xmlns:a16="http://schemas.microsoft.com/office/drawing/2014/main" id="{D6B0E17B-FE12-46B7-A038-B555D641EF95}"/>
              </a:ext>
            </a:extLst>
          </p:cNvPr>
          <p:cNvSpPr>
            <a:spLocks xmlns:a="http://schemas.openxmlformats.org/drawingml/2006/main" noGrp="1"/>
          </p:cNvSpPr>
          <p:nvPr/>
        </p:nvSpPr>
        <p:spPr>
          <a:xfrm xmlns:a="http://schemas.openxmlformats.org/drawingml/2006/main">
            <a:off x="5619750" y="4810125"/>
            <a:ext cx="1381125" cy="523875"/>
          </a:xfrm>
          <a:prstGeom xmlns:a="http://schemas.openxmlformats.org/drawingml/2006/main" prst="roundRect">
            <a:avLst>
              <a:gd name="adj" fmla="val 14545"/>
            </a:avLst>
          </a:prstGeom>
          <a:solidFill xmlns:a="http://schemas.openxmlformats.org/drawingml/2006/main">
            <a:srgbClr val="F3EFFB"/>
          </a:solidFill>
          <a:ln xmlns:a="http://schemas.openxmlformats.org/drawingml/2006/main" w="13335">
            <a:solidFill>
              <a:srgbClr val="6B4FB3"/>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Add calibrated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DP noise</a:t>
            </a:r>
          </a:p>
        </p:txBody>
      </p:sp>
      <p:sp>
        <p:nvSpPr>
          <p:cNvPr id="268" name="l3-caabc">
            <a:extLst xmlns:a="http://schemas.openxmlformats.org/drawingml/2006/main">
              <a:ext uri="{FF2B5EF4-FFF2-40B4-BE49-F238E27FC236}">
                <a16:creationId xmlns:a16="http://schemas.microsoft.com/office/drawing/2014/main" id="{6FA4D302-A99A-4791-9FF6-6249DCDCDED1}"/>
              </a:ext>
            </a:extLst>
          </p:cNvPr>
          <p:cNvSpPr>
            <a:spLocks xmlns:a="http://schemas.openxmlformats.org/drawingml/2006/main" noGrp="1"/>
          </p:cNvSpPr>
          <p:nvPr/>
        </p:nvSpPr>
        <p:spPr>
          <a:xfrm xmlns:a="http://schemas.openxmlformats.org/drawingml/2006/main">
            <a:off x="7219950" y="4810125"/>
            <a:ext cx="1476375" cy="523875"/>
          </a:xfrm>
          <a:prstGeom xmlns:a="http://schemas.openxmlformats.org/drawingml/2006/main" prst="roundRect">
            <a:avLst>
              <a:gd name="adj" fmla="val 14545"/>
            </a:avLst>
          </a:prstGeom>
          <a:solidFill xmlns:a="http://schemas.openxmlformats.org/drawingml/2006/main">
            <a:srgbClr val="F3EFFB"/>
          </a:solidFill>
          <a:ln xmlns:a="http://schemas.openxmlformats.org/drawingml/2006/main" w="13335">
            <a:solidFill>
              <a:srgbClr val="6B4FB3"/>
            </a:solidFill>
          </a:ln>
        </p:spPr>
        <p:txBody>
          <a:bodyPr xmlns:a="http://schemas.openxmlformats.org/drawingml/2006/main" anchor="ctr">
            <a:normAutofit/>
          </a:bodyPr>
          <a:lstStyle xmlns:a="http://schemas.openxmlformats.org/drawingml/2006/main"/>
          <a:p xmlns:a="http://schemas.openxmlformats.org/drawingml/2006/main">
            <a:pPr algn="ctr">
              <a:buNone/>
              <a:defRPr sz="1200" b="1">
                <a:solidFill>
                  <a:srgbClr val="1F2937"/>
                </a:solidFill>
                <a:latin typeface="Arial"/>
                <a:ea typeface="Arial"/>
                <a:cs typeface="Arial"/>
              </a:defRPr>
            </a:pPr>
            <a:r>
              <a:rPr sz="1200" b="1">
                <a:solidFill>
                  <a:srgbClr val="1F2937"/>
                </a:solidFill>
                <a:latin typeface="Arial"/>
                <a:ea typeface="Arial"/>
                <a:cs typeface="Arial"/>
              </a:rPr>
              <a:t>CAABC-FL block</a:t>
            </a:r>
          </a:p>
          <a:p xmlns:a="http://schemas.openxmlformats.org/drawingml/2006/main">
            <a:pPr algn="ctr">
              <a:buNone/>
              <a:defRPr sz="1200" b="1">
                <a:solidFill>
                  <a:srgbClr val="1F2937"/>
                </a:solidFill>
                <a:latin typeface="Arial"/>
                <a:ea typeface="Arial"/>
                <a:cs typeface="Arial"/>
              </a:defRPr>
            </a:pPr>
            <a:r>
              <a:rPr sz="1200" b="1">
                <a:solidFill>
                  <a:srgbClr val="1F2937"/>
                </a:solidFill>
                <a:latin typeface="Arial"/>
                <a:ea typeface="Arial"/>
                <a:cs typeface="Arial"/>
              </a:rPr>
              <a:t>compression</a:t>
            </a:r>
          </a:p>
        </p:txBody>
      </p:sp>
      <p:sp>
        <p:nvSpPr>
          <p:cNvPr id="269" name="l3-encrypt">
            <a:extLst xmlns:a="http://schemas.openxmlformats.org/drawingml/2006/main">
              <a:ext uri="{FF2B5EF4-FFF2-40B4-BE49-F238E27FC236}">
                <a16:creationId xmlns:a16="http://schemas.microsoft.com/office/drawing/2014/main" id="{5E2B45AA-9696-4B00-BC33-367E23267FC6}"/>
              </a:ext>
            </a:extLst>
          </p:cNvPr>
          <p:cNvSpPr>
            <a:spLocks xmlns:a="http://schemas.openxmlformats.org/drawingml/2006/main" noGrp="1"/>
          </p:cNvSpPr>
          <p:nvPr/>
        </p:nvSpPr>
        <p:spPr>
          <a:xfrm xmlns:a="http://schemas.openxmlformats.org/drawingml/2006/main">
            <a:off x="8915400" y="4810125"/>
            <a:ext cx="1571625" cy="523875"/>
          </a:xfrm>
          <a:prstGeom xmlns:a="http://schemas.openxmlformats.org/drawingml/2006/main" prst="roundRect">
            <a:avLst>
              <a:gd name="adj" fmla="val 14545"/>
            </a:avLst>
          </a:prstGeom>
          <a:solidFill xmlns:a="http://schemas.openxmlformats.org/drawingml/2006/main">
            <a:srgbClr val="ECF7F5"/>
          </a:solidFill>
          <a:ln xmlns:a="http://schemas.openxmlformats.org/drawingml/2006/main" w="13335">
            <a:solidFill>
              <a:srgbClr val="2F7F77"/>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CKKS encrypt</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and sign update</a:t>
            </a:r>
          </a:p>
        </p:txBody>
      </p:sp>
      <p:cxnSp>
        <p:nvCxnSpPr>
          <p:cNvPr id="613" name="Straight Arrow Connector 498"/>
          <p:cNvCxnSpPr>
            <a:stCxn xmlns:a="http://schemas.openxmlformats.org/drawingml/2006/main" id="265" idx="3"/>
            <a:endCxn xmlns:a="http://schemas.openxmlformats.org/drawingml/2006/main" id="266" idx="1"/>
          </p:cNvCxnSpPr>
          <p:nvPr/>
        </p:nvCxnSpPr>
        <p:spPr>
          <a:xfrm xmlns:a="http://schemas.openxmlformats.org/drawingml/2006/main">
            <a:off x="3800475" y="5072063"/>
            <a:ext cx="2190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614" name="Straight Arrow Connector 499"/>
          <p:cNvCxnSpPr>
            <a:stCxn xmlns:a="http://schemas.openxmlformats.org/drawingml/2006/main" id="266" idx="3"/>
            <a:endCxn xmlns:a="http://schemas.openxmlformats.org/drawingml/2006/main" id="267" idx="1"/>
          </p:cNvCxnSpPr>
          <p:nvPr/>
        </p:nvCxnSpPr>
        <p:spPr>
          <a:xfrm xmlns:a="http://schemas.openxmlformats.org/drawingml/2006/main">
            <a:off x="5400675" y="5072063"/>
            <a:ext cx="2190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615" name="Straight Arrow Connector 500"/>
          <p:cNvCxnSpPr>
            <a:stCxn xmlns:a="http://schemas.openxmlformats.org/drawingml/2006/main" id="267" idx="3"/>
            <a:endCxn xmlns:a="http://schemas.openxmlformats.org/drawingml/2006/main" id="268" idx="1"/>
          </p:cNvCxnSpPr>
          <p:nvPr/>
        </p:nvCxnSpPr>
        <p:spPr>
          <a:xfrm xmlns:a="http://schemas.openxmlformats.org/drawingml/2006/main">
            <a:off x="7000875" y="5072063"/>
            <a:ext cx="2190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616" name="Straight Arrow Connector 501"/>
          <p:cNvCxnSpPr>
            <a:stCxn xmlns:a="http://schemas.openxmlformats.org/drawingml/2006/main" id="268" idx="3"/>
            <a:endCxn xmlns:a="http://schemas.openxmlformats.org/drawingml/2006/main" id="269" idx="1"/>
          </p:cNvCxnSpPr>
          <p:nvPr/>
        </p:nvCxnSpPr>
        <p:spPr>
          <a:xfrm xmlns:a="http://schemas.openxmlformats.org/drawingml/2006/main">
            <a:off x="8696325" y="5072063"/>
            <a:ext cx="2190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617" name="Connector: Elbow 502"/>
          <p:cNvCxnSpPr>
            <a:stCxn xmlns:a="http://schemas.openxmlformats.org/drawingml/2006/main" id="237" idx="2"/>
            <a:endCxn xmlns:a="http://schemas.openxmlformats.org/drawingml/2006/main" id="247" idx="0"/>
          </p:cNvCxnSpPr>
          <p:nvPr/>
        </p:nvCxnSpPr>
        <p:spPr>
          <a:xfrm xmlns:a="http://schemas.openxmlformats.org/drawingml/2006/main">
            <a:off x="6096000" y="1495425"/>
            <a:ext cx="119063" cy="314325"/>
          </a:xfrm>
          <a:prstGeom xmlns:a="http://schemas.openxmlformats.org/drawingml/2006/main" prst="bentConnector4">
            <a:avLst>
              <a:gd name="adj1" fmla="val 0"/>
              <a:gd name="adj2" fmla="val 50000"/>
            </a:avLst>
          </a:prstGeom>
          <a:ln xmlns:a="http://schemas.openxmlformats.org/drawingml/2006/main" w="16193">
            <a:solidFill>
              <a:srgbClr val="7A8DA5"/>
            </a:solidFill>
            <a:prstDash val="solid"/>
            <a:headEnd type="none" w="med" len="med"/>
            <a:tailEnd type="triangle" w="sm" len="sm"/>
          </a:ln>
        </p:spPr>
      </p:cxnSp>
      <p:cxnSp>
        <p:nvCxnSpPr>
          <p:cNvPr id="618" name="Connector: Elbow 503"/>
          <p:cNvCxnSpPr>
            <a:stCxn xmlns:a="http://schemas.openxmlformats.org/drawingml/2006/main" id="247" idx="2"/>
            <a:endCxn xmlns:a="http://schemas.openxmlformats.org/drawingml/2006/main" id="252" idx="0"/>
          </p:cNvCxnSpPr>
          <p:nvPr/>
        </p:nvCxnSpPr>
        <p:spPr>
          <a:xfrm xmlns:a="http://schemas.openxmlformats.org/drawingml/2006/main" flipH="1">
            <a:off x="5357813" y="2314575"/>
            <a:ext cx="857250" cy="466725"/>
          </a:xfrm>
          <a:prstGeom xmlns:a="http://schemas.openxmlformats.org/drawingml/2006/main" prst="bentConnector4">
            <a:avLst>
              <a:gd name="adj1" fmla="val 0"/>
              <a:gd name="adj2" fmla="val 50000"/>
            </a:avLst>
          </a:prstGeom>
          <a:ln xmlns:a="http://schemas.openxmlformats.org/drawingml/2006/main" w="16193">
            <a:solidFill>
              <a:srgbClr val="7A8DA5"/>
            </a:solidFill>
            <a:prstDash val="solid"/>
            <a:headEnd type="none" w="med" len="med"/>
            <a:tailEnd type="triangle" w="sm" len="sm"/>
          </a:ln>
        </p:spPr>
      </p:cxnSp>
      <p:cxnSp>
        <p:nvCxnSpPr>
          <p:cNvPr id="619" name="Connector: Elbow 504"/>
          <p:cNvCxnSpPr>
            <a:stCxn xmlns:a="http://schemas.openxmlformats.org/drawingml/2006/main" id="254" idx="2"/>
            <a:endCxn xmlns:a="http://schemas.openxmlformats.org/drawingml/2006/main" id="260" idx="0"/>
          </p:cNvCxnSpPr>
          <p:nvPr/>
        </p:nvCxnSpPr>
        <p:spPr>
          <a:xfrm xmlns:a="http://schemas.openxmlformats.org/drawingml/2006/main" flipH="1">
            <a:off x="7562850" y="3286125"/>
            <a:ext cx="2143125" cy="466725"/>
          </a:xfrm>
          <a:prstGeom xmlns:a="http://schemas.openxmlformats.org/drawingml/2006/main" prst="bentConnector4">
            <a:avLst>
              <a:gd name="adj1" fmla="val 0"/>
              <a:gd name="adj2" fmla="val 50000"/>
            </a:avLst>
          </a:prstGeom>
          <a:ln xmlns:a="http://schemas.openxmlformats.org/drawingml/2006/main" w="16193">
            <a:solidFill>
              <a:srgbClr val="7A8DA5"/>
            </a:solidFill>
            <a:prstDash val="solid"/>
            <a:headEnd type="none" w="med" len="med"/>
            <a:tailEnd type="triangle" w="sm" len="sm"/>
          </a:ln>
        </p:spPr>
      </p:cxnSp>
      <p:cxnSp>
        <p:nvCxnSpPr>
          <p:cNvPr id="620" name="Connector: Elbow 505"/>
          <p:cNvCxnSpPr>
            <a:stCxn xmlns:a="http://schemas.openxmlformats.org/drawingml/2006/main" id="261" idx="2"/>
            <a:endCxn xmlns:a="http://schemas.openxmlformats.org/drawingml/2006/main" id="269" idx="0"/>
          </p:cNvCxnSpPr>
          <p:nvPr/>
        </p:nvCxnSpPr>
        <p:spPr>
          <a:xfrm xmlns:a="http://schemas.openxmlformats.org/drawingml/2006/main" flipH="1">
            <a:off x="9701213" y="4257675"/>
            <a:ext cx="104775" cy="552450"/>
          </a:xfrm>
          <a:prstGeom xmlns:a="http://schemas.openxmlformats.org/drawingml/2006/main" prst="bentConnector4">
            <a:avLst>
              <a:gd name="adj1" fmla="val 0"/>
              <a:gd name="adj2" fmla="val 50000"/>
            </a:avLst>
          </a:prstGeom>
          <a:ln xmlns:a="http://schemas.openxmlformats.org/drawingml/2006/main" w="16193">
            <a:solidFill>
              <a:srgbClr val="7A8DA5"/>
            </a:solidFill>
            <a:prstDash val="solid"/>
            <a:headEnd type="none" w="med" len="med"/>
            <a:tailEnd type="triangle" w="sm" len="sm"/>
          </a:ln>
        </p:spPr>
      </p:cxnSp>
      <p:sp>
        <p:nvSpPr>
          <p:cNvPr id="278" name="diagram-outcome-note">
            <a:extLst xmlns:a="http://schemas.openxmlformats.org/drawingml/2006/main">
              <a:ext uri="{FF2B5EF4-FFF2-40B4-BE49-F238E27FC236}">
                <a16:creationId xmlns:a16="http://schemas.microsoft.com/office/drawing/2014/main" id="{57242147-2845-48CD-8D35-0B7EFEC99455}"/>
              </a:ext>
            </a:extLst>
          </p:cNvPr>
          <p:cNvSpPr>
            <a:spLocks xmlns:a="http://schemas.openxmlformats.org/drawingml/2006/main" noGrp="1"/>
          </p:cNvSpPr>
          <p:nvPr/>
        </p:nvSpPr>
        <p:spPr>
          <a:xfrm xmlns:a="http://schemas.openxmlformats.org/drawingml/2006/main">
            <a:off x="3000375" y="5686425"/>
            <a:ext cx="6191250" cy="342900"/>
          </a:xfrm>
          <a:prstGeom xmlns:a="http://schemas.openxmlformats.org/drawingml/2006/main" prst="roundRect">
            <a:avLst>
              <a:gd name="adj" fmla="val 22222"/>
            </a:avLst>
          </a:prstGeom>
          <a:solidFill xmlns:a="http://schemas.openxmlformats.org/drawingml/2006/main">
            <a:srgbClr val="ECF7F5"/>
          </a:solidFill>
          <a:ln xmlns:a="http://schemas.openxmlformats.org/drawingml/2006/main" w="11430">
            <a:solidFill>
              <a:srgbClr val="2F7F77"/>
            </a:solidFill>
          </a:ln>
        </p:spPr>
        <p:txBody>
          <a:bodyPr xmlns:a="http://schemas.openxmlformats.org/drawingml/2006/main" anchor="ctr">
            <a:normAutofit/>
          </a:bodyPr>
          <a:lstStyle xmlns:a="http://schemas.openxmlformats.org/drawingml/2006/main"/>
          <a:p xmlns:a="http://schemas.openxmlformats.org/drawingml/2006/main">
            <a:pPr algn="ctr">
              <a:buNone/>
              <a:defRPr sz="1275" b="1">
                <a:solidFill>
                  <a:srgbClr val="2F7F77"/>
                </a:solidFill>
                <a:latin typeface="Arial"/>
                <a:ea typeface="Arial"/>
                <a:cs typeface="Arial"/>
              </a:defRPr>
            </a:pPr>
            <a:r>
              <a:rPr sz="1275" b="1">
                <a:solidFill>
                  <a:srgbClr val="2F7F77"/>
                </a:solidFill>
                <a:latin typeface="Arial"/>
                <a:ea typeface="Arial"/>
                <a:cs typeface="Arial"/>
              </a:rPr>
              <a:t>Output: encrypted, compressed and signed client update</a:t>
            </a:r>
          </a:p>
        </p:txBody>
      </p:sp>
    </p:spTree>
    <p:extLst>
      <p:ext uri="{BB962C8B-B14F-4D97-AF65-F5344CB8AC3E}">
        <p14:creationId xmlns:p14="http://schemas.microsoft.com/office/powerpoint/2010/main" val="224468282"/>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D53C2C4-0238-2DF2-4E36-7218D813FEA6}"/>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defRPr sz="2700" b="1">
                <a:solidFill>
                  <a:srgbClr val="062B6F"/>
                </a:solidFill>
                <a:latin typeface="Arial"/>
                <a:ea typeface="Arial"/>
                <a:cs typeface="Arial"/>
              </a:defRPr>
            </a:pPr>
            <a:r>
              <a:rPr sz="2700" b="1">
                <a:solidFill>
                  <a:srgbClr val="062B6F"/>
                </a:solidFill>
                <a:latin typeface="Arial"/>
                <a:ea typeface="Arial"/>
                <a:cs typeface="Arial"/>
              </a:rPr>
              <a:t>System Approach: Trust and Model Release</a:t>
            </a:r>
            <a:endParaRPr/>
          </a:p>
        </p:txBody>
      </p:sp>
      <p:sp>
        <p:nvSpPr>
          <p:cNvPr id="212" name="Google Shape;212;p28">
            <a:extLst xmlns:a="http://schemas.openxmlformats.org/drawingml/2006/main">
              <a:ext uri="{FF2B5EF4-FFF2-40B4-BE49-F238E27FC236}">
                <a16:creationId xmlns:a16="http://schemas.microsoft.com/office/drawing/2014/main" id="{7D7835C0-40C3-DEA8-DB7B-B74329928B9D}"/>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19</a:t>
            </a:r>
            <a:endParaRPr sz="2800"/>
          </a:p>
        </p:txBody>
      </p:sp>
      <p:pic>
        <p:nvPicPr>
          <p:cNvPr id="65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94086055a20545d5">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66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422846396c96444e">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9BA7BDD1-B401-9532-3A90-883A29A4D80C}"/>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pic>
        <p:nvPicPr>
          <p:cNvPr id="662" name="Picture 518"/>
          <p:cNvPicPr>
            <a:picLocks xmlns:a="http://schemas.openxmlformats.org/drawingml/2006/main" noChangeAspect="1"/>
          </p:cNvPicPr>
          <p:nvPr/>
        </p:nvPicPr>
        <p:blipFill>
          <a:blip xmlns:r="http://schemas.openxmlformats.org/officeDocument/2006/relationships" xmlns:a="http://schemas.openxmlformats.org/drawingml/2006/main" r:embed="Rd827fea38a8f4e79"/>
          <a:stretch xmlns:a="http://schemas.openxmlformats.org/drawingml/2006/main"/>
        </p:blipFill>
        <p:spPr>
          <a:xfrm xmlns:a="http://schemas.openxmlformats.org/drawingml/2006/main">
            <a:off x="3111500" y="1143000"/>
            <a:ext cx="5969000" cy="4476750"/>
          </a:xfrm>
          <a:prstGeom xmlns:a="http://schemas.openxmlformats.org/drawingml/2006/main" prst="rect">
            <a:avLst/>
          </a:prstGeom>
        </p:spPr>
      </p:pic>
      <p:sp>
        <p:nvSpPr>
          <p:cNvPr id="221" name="architecture-caption">
            <a:extLst xmlns:a="http://schemas.openxmlformats.org/drawingml/2006/main">
              <a:ext uri="{FF2B5EF4-FFF2-40B4-BE49-F238E27FC236}">
                <a16:creationId xmlns:a16="http://schemas.microsoft.com/office/drawing/2014/main" id="{5F354A9E-A34D-443F-9641-0389D0C1B311}"/>
              </a:ext>
            </a:extLst>
          </p:cNvPr>
          <p:cNvSpPr>
            <a:spLocks xmlns:a="http://schemas.openxmlformats.org/drawingml/2006/main" noGrp="1"/>
          </p:cNvSpPr>
          <p:nvPr/>
        </p:nvSpPr>
        <p:spPr>
          <a:xfrm xmlns:a="http://schemas.openxmlformats.org/drawingml/2006/main">
            <a:off x="1095375" y="5619750"/>
            <a:ext cx="1000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425" b="0" i="1">
                <a:solidFill>
                  <a:srgbClr val="1F2937"/>
                </a:solidFill>
                <a:latin typeface="Arial"/>
                <a:ea typeface="Arial"/>
                <a:cs typeface="Arial"/>
              </a:defRPr>
            </a:pPr>
            <a:r>
              <a:rPr sz="1425" b="0" i="1">
                <a:solidFill>
                  <a:srgbClr val="1F2937"/>
                </a:solidFill>
                <a:latin typeface="Arial"/>
                <a:ea typeface="Arial"/>
                <a:cs typeface="Arial"/>
              </a:rPr>
              <a:t>Fig. 1. End-to-end CAABC-FL architecture with privacy, encrypted transport, verification, governance, and audit layers.</a:t>
            </a:r>
          </a:p>
        </p:txBody>
      </p:sp>
      <p:sp>
        <p:nvSpPr>
          <p:cNvPr id="225" name="visible-footer-date-14">
            <a:extLst xmlns:a="http://schemas.openxmlformats.org/drawingml/2006/main">
              <a:ext uri="{FF2B5EF4-FFF2-40B4-BE49-F238E27FC236}">
                <a16:creationId xmlns:a16="http://schemas.microsoft.com/office/drawing/2014/main" id="{814A7836-9876-42DA-930B-6EA53E85DC10}"/>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29" name="system-approach-bottom-cover">
            <a:extLst xmlns:a="http://schemas.openxmlformats.org/drawingml/2006/main">
              <a:ext uri="{FF2B5EF4-FFF2-40B4-BE49-F238E27FC236}">
                <a16:creationId xmlns:a16="http://schemas.microsoft.com/office/drawing/2014/main" id="{E3A906FD-7BF6-484C-BDB4-58637173EB14}"/>
              </a:ext>
            </a:extLst>
          </p:cNvPr>
          <p:cNvSpPr>
            <a:spLocks xmlns:a="http://schemas.openxmlformats.org/drawingml/2006/main" noGrp="1"/>
          </p:cNvSpPr>
          <p:nvPr/>
        </p:nvSpPr>
        <p:spPr>
          <a:xfrm xmlns:a="http://schemas.openxmlformats.org/drawingml/2006/main">
            <a:off x="400050" y="1066800"/>
            <a:ext cx="1139190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666" name="Picture 522"/>
          <p:cNvPicPr>
            <a:picLocks xmlns:a="http://schemas.openxmlformats.org/drawingml/2006/main" noChangeAspect="1"/>
          </p:cNvPicPr>
          <p:nvPr/>
        </p:nvPicPr>
        <p:blipFill>
          <a:blip xmlns:r="http://schemas.openxmlformats.org/officeDocument/2006/relationships" xmlns:a="http://schemas.openxmlformats.org/drawingml/2006/main" r:embed="R80486b407b6a460a"/>
          <a:stretch xmlns:a="http://schemas.openxmlformats.org/drawingml/2006/main"/>
        </p:blipFill>
        <p:spPr>
          <a:xfrm xmlns:a="http://schemas.openxmlformats.org/drawingml/2006/main">
            <a:off x="667606" y="1276350"/>
            <a:ext cx="10856789" cy="3857625"/>
          </a:xfrm>
          <a:prstGeom xmlns:a="http://schemas.openxmlformats.org/drawingml/2006/main" prst="rect">
            <a:avLst/>
          </a:prstGeom>
        </p:spPr>
      </p:pic>
      <p:sp>
        <p:nvSpPr>
          <p:cNvPr id="231" name="system-approach-caption-part-2">
            <a:extLst xmlns:a="http://schemas.openxmlformats.org/drawingml/2006/main">
              <a:ext uri="{FF2B5EF4-FFF2-40B4-BE49-F238E27FC236}">
                <a16:creationId xmlns:a16="http://schemas.microsoft.com/office/drawing/2014/main" id="{18971FE5-D80A-483E-A284-E1BB231D4782}"/>
              </a:ext>
            </a:extLst>
          </p:cNvPr>
          <p:cNvSpPr>
            <a:spLocks xmlns:a="http://schemas.openxmlformats.org/drawingml/2006/main" noGrp="1"/>
          </p:cNvSpPr>
          <p:nvPr/>
        </p:nvSpPr>
        <p:spPr>
          <a:xfrm xmlns:a="http://schemas.openxmlformats.org/drawingml/2006/main">
            <a:off x="1095375" y="5276850"/>
            <a:ext cx="1000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425" i="1">
                <a:solidFill>
                  <a:srgbClr val="1F2937"/>
                </a:solidFill>
                <a:latin typeface="Arial"/>
                <a:ea typeface="Arial"/>
                <a:cs typeface="Arial"/>
              </a:defRPr>
            </a:pPr>
            <a:r>
              <a:rPr sz="1425" i="1">
                <a:solidFill>
                  <a:srgbClr val="1F2937"/>
                </a:solidFill>
                <a:latin typeface="Arial"/>
                <a:ea typeface="Arial"/>
                <a:cs typeface="Arial"/>
              </a:rPr>
              <a:t>Fig. 1(b). Authenticated transport, trust policy, encrypted aggregation, validation, threshold release, verified distribution, and private inference.</a:t>
            </a:r>
          </a:p>
        </p:txBody>
      </p:sp>
      <p:sp>
        <p:nvSpPr>
          <p:cNvPr id="232" name="system-split-border">
            <a:extLst xmlns:a="http://schemas.openxmlformats.org/drawingml/2006/main">
              <a:ext uri="{FF2B5EF4-FFF2-40B4-BE49-F238E27FC236}">
                <a16:creationId xmlns:a16="http://schemas.microsoft.com/office/drawing/2014/main" id="{9F2CC37C-0250-40E7-86DF-B4885E0E33BB}"/>
              </a:ext>
            </a:extLst>
          </p:cNvPr>
          <p:cNvSpPr>
            <a:spLocks xmlns:a="http://schemas.openxmlformats.org/drawingml/2006/main" noGrp="1"/>
          </p:cNvSpPr>
          <p:nvPr/>
        </p:nvSpPr>
        <p:spPr>
          <a:xfrm xmlns:a="http://schemas.openxmlformats.org/drawingml/2006/main">
            <a:off x="285750" y="295275"/>
            <a:ext cx="11811000" cy="6324600"/>
          </a:xfrm>
          <a:prstGeom xmlns:a="http://schemas.openxmlformats.org/drawingml/2006/main" prst="rect">
            <a:avLst/>
          </a:prstGeom>
          <a:noFill xmlns:a="http://schemas.openxmlformats.org/drawingml/2006/main"/>
          <a:ln xmlns:a="http://schemas.openxmlformats.org/drawingml/2006/main" w="11430">
            <a:solidFill>
              <a:srgbClr val="222222"/>
            </a:solidFill>
          </a:ln>
        </p:spPr>
      </p:sp>
      <p:pic>
        <p:nvPicPr>
          <p:cNvPr id="669" name="Picture 526"/>
          <p:cNvPicPr>
            <a:picLocks xmlns:a="http://schemas.openxmlformats.org/drawingml/2006/main" noChangeAspect="1"/>
          </p:cNvPicPr>
          <p:nvPr/>
        </p:nvPicPr>
        <p:blipFill>
          <a:blip xmlns:r="http://schemas.openxmlformats.org/officeDocument/2006/relationships" xmlns:a="http://schemas.openxmlformats.org/drawingml/2006/main" r:embed="R94086055a20545d5"/>
          <a:stretch xmlns:a="http://schemas.openxmlformats.org/drawingml/2006/main"/>
        </p:blipFill>
        <p:spPr>
          <a:xfrm xmlns:a="http://schemas.openxmlformats.org/drawingml/2006/main">
            <a:off x="361950" y="371475"/>
            <a:ext cx="685800" cy="685800"/>
          </a:xfrm>
          <a:prstGeom xmlns:a="http://schemas.openxmlformats.org/drawingml/2006/main" prst="rect">
            <a:avLst/>
          </a:prstGeom>
        </p:spPr>
      </p:pic>
      <p:pic>
        <p:nvPicPr>
          <p:cNvPr id="670" name="Picture 527"/>
          <p:cNvPicPr>
            <a:picLocks xmlns:a="http://schemas.openxmlformats.org/drawingml/2006/main" noChangeAspect="1"/>
          </p:cNvPicPr>
          <p:nvPr/>
        </p:nvPicPr>
        <p:blipFill>
          <a:blip xmlns:r="http://schemas.openxmlformats.org/officeDocument/2006/relationships" xmlns:a="http://schemas.openxmlformats.org/drawingml/2006/main" r:embed="R422846396c96444e"/>
          <a:stretch xmlns:a="http://schemas.openxmlformats.org/drawingml/2006/main"/>
        </p:blipFill>
        <p:spPr>
          <a:xfrm xmlns:a="http://schemas.openxmlformats.org/drawingml/2006/main">
            <a:off x="9915525" y="248278"/>
            <a:ext cx="1943100" cy="808370"/>
          </a:xfrm>
          <a:prstGeom xmlns:a="http://schemas.openxmlformats.org/drawingml/2006/main" prst="rect">
            <a:avLst/>
          </a:prstGeom>
        </p:spPr>
      </p:pic>
      <p:sp>
        <p:nvSpPr>
          <p:cNvPr id="236" name="system-split-visible-date">
            <a:extLst xmlns:a="http://schemas.openxmlformats.org/drawingml/2006/main">
              <a:ext uri="{FF2B5EF4-FFF2-40B4-BE49-F238E27FC236}">
                <a16:creationId xmlns:a16="http://schemas.microsoft.com/office/drawing/2014/main" id="{327A7C41-1D12-4BBD-90CE-548504B079D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lnSpcReduction="10000"/>
          </a:bodyPr>
          <a:lstStyle xmlns:a="http://schemas.openxmlformats.org/drawingml/2006/main"/>
          <a:p xmlns:a="http://schemas.openxmlformats.org/drawingml/2006/main">
            <a:pPr algn="l">
              <a:buNone/>
              <a:defRPr sz="900">
                <a:solidFill>
                  <a:srgbClr val="062B6F"/>
                </a:solidFill>
                <a:latin typeface="Arial"/>
                <a:ea typeface="Arial"/>
                <a:cs typeface="Arial"/>
              </a:defRPr>
            </a:pPr>
            <a:r>
              <a:rPr sz="900">
                <a:solidFill>
                  <a:srgbClr val="062B6F"/>
                </a:solidFill>
                <a:latin typeface="Arial"/>
                <a:ea typeface="Arial"/>
                <a:cs typeface="Arial"/>
              </a:rPr>
              <a:t>25 September 2026</a:t>
            </a:r>
          </a:p>
        </p:txBody>
      </p:sp>
      <p:sp>
        <p:nvSpPr>
          <p:cNvPr id="243" name="native-release-pipeline-cover">
            <a:extLst xmlns:a="http://schemas.openxmlformats.org/drawingml/2006/main">
              <a:ext uri="{FF2B5EF4-FFF2-40B4-BE49-F238E27FC236}">
                <a16:creationId xmlns:a16="http://schemas.microsoft.com/office/drawing/2014/main" id="{B1AC3206-E032-4B91-9184-F82DCF820FF1}"/>
              </a:ext>
            </a:extLst>
          </p:cNvPr>
          <p:cNvSpPr>
            <a:spLocks xmlns:a="http://schemas.openxmlformats.org/drawingml/2006/main" noGrp="1"/>
          </p:cNvSpPr>
          <p:nvPr/>
        </p:nvSpPr>
        <p:spPr>
          <a:xfrm xmlns:a="http://schemas.openxmlformats.org/drawingml/2006/main">
            <a:off x="400050" y="1066800"/>
            <a:ext cx="1139190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44" name="L4-lane-background">
            <a:extLst xmlns:a="http://schemas.openxmlformats.org/drawingml/2006/main">
              <a:ext uri="{FF2B5EF4-FFF2-40B4-BE49-F238E27FC236}">
                <a16:creationId xmlns:a16="http://schemas.microsoft.com/office/drawing/2014/main" id="{09E3513A-5CB7-4816-AADC-B212D8729B78}"/>
              </a:ext>
            </a:extLst>
          </p:cNvPr>
          <p:cNvSpPr>
            <a:spLocks xmlns:a="http://schemas.openxmlformats.org/drawingml/2006/main" noGrp="1"/>
          </p:cNvSpPr>
          <p:nvPr/>
        </p:nvSpPr>
        <p:spPr>
          <a:xfrm xmlns:a="http://schemas.openxmlformats.org/drawingml/2006/main">
            <a:off x="819150" y="1333500"/>
            <a:ext cx="10572750" cy="895350"/>
          </a:xfrm>
          <a:prstGeom xmlns:a="http://schemas.openxmlformats.org/drawingml/2006/main" prst="roundRect">
            <a:avLst>
              <a:gd name="adj" fmla="val 8511"/>
            </a:avLst>
          </a:prstGeom>
          <a:solidFill xmlns:a="http://schemas.openxmlformats.org/drawingml/2006/main">
            <a:srgbClr val="FFF6E3"/>
          </a:solidFill>
          <a:ln xmlns:a="http://schemas.openxmlformats.org/drawingml/2006/main" w="9525">
            <a:solidFill>
              <a:srgbClr val="D8E0E8"/>
            </a:solidFill>
          </a:ln>
        </p:spPr>
      </p:sp>
      <p:sp>
        <p:nvSpPr>
          <p:cNvPr id="245" name="L4-lane-label">
            <a:extLst xmlns:a="http://schemas.openxmlformats.org/drawingml/2006/main">
              <a:ext uri="{FF2B5EF4-FFF2-40B4-BE49-F238E27FC236}">
                <a16:creationId xmlns:a16="http://schemas.microsoft.com/office/drawing/2014/main" id="{5674893F-4486-4B37-AABF-42C9CE8ABEFA}"/>
              </a:ext>
            </a:extLst>
          </p:cNvPr>
          <p:cNvSpPr>
            <a:spLocks xmlns:a="http://schemas.openxmlformats.org/drawingml/2006/main" noGrp="1"/>
          </p:cNvSpPr>
          <p:nvPr/>
        </p:nvSpPr>
        <p:spPr>
          <a:xfrm xmlns:a="http://schemas.openxmlformats.org/drawingml/2006/main">
            <a:off x="914400" y="1428750"/>
            <a:ext cx="1381125" cy="704850"/>
          </a:xfrm>
          <a:prstGeom xmlns:a="http://schemas.openxmlformats.org/drawingml/2006/main" prst="roundRect">
            <a:avLst>
              <a:gd name="adj" fmla="val 10811"/>
            </a:avLst>
          </a:prstGeom>
          <a:solidFill xmlns:a="http://schemas.openxmlformats.org/drawingml/2006/main">
            <a:srgbClr val="A66F0A"/>
          </a:solidFill>
          <a:ln xmlns:a="http://schemas.openxmlformats.org/drawingml/2006/main" w="9525">
            <a:solidFill>
              <a:srgbClr val="A66F0A"/>
            </a:solidFill>
          </a:ln>
        </p:spPr>
        <p:txBody>
          <a:bodyPr xmlns:a="http://schemas.openxmlformats.org/drawingml/2006/main" anchor="ctr">
            <a:normAutofit/>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L4</a:t>
            </a:r>
          </a:p>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Trust and transport</a:t>
            </a:r>
          </a:p>
        </p:txBody>
      </p:sp>
      <p:sp>
        <p:nvSpPr>
          <p:cNvPr id="246" name="L5-lane-background">
            <a:extLst xmlns:a="http://schemas.openxmlformats.org/drawingml/2006/main">
              <a:ext uri="{FF2B5EF4-FFF2-40B4-BE49-F238E27FC236}">
                <a16:creationId xmlns:a16="http://schemas.microsoft.com/office/drawing/2014/main" id="{35B580AB-35F2-4E62-8572-D443B5922050}"/>
              </a:ext>
            </a:extLst>
          </p:cNvPr>
          <p:cNvSpPr>
            <a:spLocks xmlns:a="http://schemas.openxmlformats.org/drawingml/2006/main" noGrp="1"/>
          </p:cNvSpPr>
          <p:nvPr/>
        </p:nvSpPr>
        <p:spPr>
          <a:xfrm xmlns:a="http://schemas.openxmlformats.org/drawingml/2006/main">
            <a:off x="819150" y="2324100"/>
            <a:ext cx="10572750" cy="1333500"/>
          </a:xfrm>
          <a:prstGeom xmlns:a="http://schemas.openxmlformats.org/drawingml/2006/main" prst="roundRect">
            <a:avLst>
              <a:gd name="adj" fmla="val 5714"/>
            </a:avLst>
          </a:prstGeom>
          <a:solidFill xmlns:a="http://schemas.openxmlformats.org/drawingml/2006/main">
            <a:srgbClr val="EDF7F0"/>
          </a:solidFill>
          <a:ln xmlns:a="http://schemas.openxmlformats.org/drawingml/2006/main" w="9525">
            <a:solidFill>
              <a:srgbClr val="D8E0E8"/>
            </a:solidFill>
          </a:ln>
        </p:spPr>
      </p:sp>
      <p:sp>
        <p:nvSpPr>
          <p:cNvPr id="247" name="L5-lane-label">
            <a:extLst xmlns:a="http://schemas.openxmlformats.org/drawingml/2006/main">
              <a:ext uri="{FF2B5EF4-FFF2-40B4-BE49-F238E27FC236}">
                <a16:creationId xmlns:a16="http://schemas.microsoft.com/office/drawing/2014/main" id="{DBBDB24D-534D-4864-B96F-CF722C78DAD3}"/>
              </a:ext>
            </a:extLst>
          </p:cNvPr>
          <p:cNvSpPr>
            <a:spLocks xmlns:a="http://schemas.openxmlformats.org/drawingml/2006/main" noGrp="1"/>
          </p:cNvSpPr>
          <p:nvPr/>
        </p:nvSpPr>
        <p:spPr>
          <a:xfrm xmlns:a="http://schemas.openxmlformats.org/drawingml/2006/main">
            <a:off x="914400" y="2419350"/>
            <a:ext cx="1381125" cy="1143000"/>
          </a:xfrm>
          <a:prstGeom xmlns:a="http://schemas.openxmlformats.org/drawingml/2006/main" prst="roundRect">
            <a:avLst>
              <a:gd name="adj" fmla="val 6667"/>
            </a:avLst>
          </a:prstGeom>
          <a:solidFill xmlns:a="http://schemas.openxmlformats.org/drawingml/2006/main">
            <a:srgbClr val="2E7D4F"/>
          </a:solidFill>
          <a:ln xmlns:a="http://schemas.openxmlformats.org/drawingml/2006/main" w="9525">
            <a:solidFill>
              <a:srgbClr val="2E7D4F"/>
            </a:solidFill>
          </a:ln>
        </p:spPr>
        <p:txBody>
          <a:bodyPr xmlns:a="http://schemas.openxmlformats.org/drawingml/2006/main" anchor="ctr">
            <a:normAutofit/>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L5</a:t>
            </a:r>
          </a:p>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Secure aggregation</a:t>
            </a:r>
          </a:p>
        </p:txBody>
      </p:sp>
      <p:sp>
        <p:nvSpPr>
          <p:cNvPr id="248" name="L6-lane-background">
            <a:extLst xmlns:a="http://schemas.openxmlformats.org/drawingml/2006/main">
              <a:ext uri="{FF2B5EF4-FFF2-40B4-BE49-F238E27FC236}">
                <a16:creationId xmlns:a16="http://schemas.microsoft.com/office/drawing/2014/main" id="{0C0B051A-D6CA-45B1-A268-E52798527E74}"/>
              </a:ext>
            </a:extLst>
          </p:cNvPr>
          <p:cNvSpPr>
            <a:spLocks xmlns:a="http://schemas.openxmlformats.org/drawingml/2006/main" noGrp="1"/>
          </p:cNvSpPr>
          <p:nvPr/>
        </p:nvSpPr>
        <p:spPr>
          <a:xfrm xmlns:a="http://schemas.openxmlformats.org/drawingml/2006/main">
            <a:off x="819150" y="3752850"/>
            <a:ext cx="10572750" cy="876300"/>
          </a:xfrm>
          <a:prstGeom xmlns:a="http://schemas.openxmlformats.org/drawingml/2006/main" prst="roundRect">
            <a:avLst>
              <a:gd name="adj" fmla="val 8696"/>
            </a:avLst>
          </a:prstGeom>
          <a:solidFill xmlns:a="http://schemas.openxmlformats.org/drawingml/2006/main">
            <a:srgbClr val="EDF7F0"/>
          </a:solidFill>
          <a:ln xmlns:a="http://schemas.openxmlformats.org/drawingml/2006/main" w="9525">
            <a:solidFill>
              <a:srgbClr val="D8E0E8"/>
            </a:solidFill>
          </a:ln>
        </p:spPr>
      </p:sp>
      <p:sp>
        <p:nvSpPr>
          <p:cNvPr id="249" name="L6-lane-label">
            <a:extLst xmlns:a="http://schemas.openxmlformats.org/drawingml/2006/main">
              <a:ext uri="{FF2B5EF4-FFF2-40B4-BE49-F238E27FC236}">
                <a16:creationId xmlns:a16="http://schemas.microsoft.com/office/drawing/2014/main" id="{E9543AEF-D764-406C-A3A0-010F4F0FD0FF}"/>
              </a:ext>
            </a:extLst>
          </p:cNvPr>
          <p:cNvSpPr>
            <a:spLocks xmlns:a="http://schemas.openxmlformats.org/drawingml/2006/main" noGrp="1"/>
          </p:cNvSpPr>
          <p:nvPr/>
        </p:nvSpPr>
        <p:spPr>
          <a:xfrm xmlns:a="http://schemas.openxmlformats.org/drawingml/2006/main">
            <a:off x="914400" y="3848100"/>
            <a:ext cx="1381125" cy="685800"/>
          </a:xfrm>
          <a:prstGeom xmlns:a="http://schemas.openxmlformats.org/drawingml/2006/main" prst="roundRect">
            <a:avLst>
              <a:gd name="adj" fmla="val 11111"/>
            </a:avLst>
          </a:prstGeom>
          <a:solidFill xmlns:a="http://schemas.openxmlformats.org/drawingml/2006/main">
            <a:srgbClr val="2E7D4F"/>
          </a:solidFill>
          <a:ln xmlns:a="http://schemas.openxmlformats.org/drawingml/2006/main" w="9525">
            <a:solidFill>
              <a:srgbClr val="2E7D4F"/>
            </a:solidFill>
          </a:ln>
        </p:spPr>
        <p:txBody>
          <a:bodyPr xmlns:a="http://schemas.openxmlformats.org/drawingml/2006/main" anchor="ctr">
            <a:normAutofit/>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L6</a:t>
            </a:r>
          </a:p>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Verified release</a:t>
            </a:r>
          </a:p>
        </p:txBody>
      </p:sp>
      <p:sp>
        <p:nvSpPr>
          <p:cNvPr id="250" name="L7-lane-background">
            <a:extLst xmlns:a="http://schemas.openxmlformats.org/drawingml/2006/main">
              <a:ext uri="{FF2B5EF4-FFF2-40B4-BE49-F238E27FC236}">
                <a16:creationId xmlns:a16="http://schemas.microsoft.com/office/drawing/2014/main" id="{D9321302-1A93-489F-BC90-BAB44DCB630C}"/>
              </a:ext>
            </a:extLst>
          </p:cNvPr>
          <p:cNvSpPr>
            <a:spLocks xmlns:a="http://schemas.openxmlformats.org/drawingml/2006/main" noGrp="1"/>
          </p:cNvSpPr>
          <p:nvPr/>
        </p:nvSpPr>
        <p:spPr>
          <a:xfrm xmlns:a="http://schemas.openxmlformats.org/drawingml/2006/main">
            <a:off x="819150" y="4724400"/>
            <a:ext cx="10572750" cy="876300"/>
          </a:xfrm>
          <a:prstGeom xmlns:a="http://schemas.openxmlformats.org/drawingml/2006/main" prst="roundRect">
            <a:avLst>
              <a:gd name="adj" fmla="val 8696"/>
            </a:avLst>
          </a:prstGeom>
          <a:solidFill xmlns:a="http://schemas.openxmlformats.org/drawingml/2006/main">
            <a:srgbClr val="ECF7F6"/>
          </a:solidFill>
          <a:ln xmlns:a="http://schemas.openxmlformats.org/drawingml/2006/main" w="9525">
            <a:solidFill>
              <a:srgbClr val="D8E0E8"/>
            </a:solidFill>
          </a:ln>
        </p:spPr>
      </p:sp>
      <p:sp>
        <p:nvSpPr>
          <p:cNvPr id="251" name="L7-lane-label">
            <a:extLst xmlns:a="http://schemas.openxmlformats.org/drawingml/2006/main">
              <a:ext uri="{FF2B5EF4-FFF2-40B4-BE49-F238E27FC236}">
                <a16:creationId xmlns:a16="http://schemas.microsoft.com/office/drawing/2014/main" id="{E2D74EF4-B0D2-4F6B-AAC3-912FAAE1EFF7}"/>
              </a:ext>
            </a:extLst>
          </p:cNvPr>
          <p:cNvSpPr>
            <a:spLocks xmlns:a="http://schemas.openxmlformats.org/drawingml/2006/main" noGrp="1"/>
          </p:cNvSpPr>
          <p:nvPr/>
        </p:nvSpPr>
        <p:spPr>
          <a:xfrm xmlns:a="http://schemas.openxmlformats.org/drawingml/2006/main">
            <a:off x="914400" y="4819650"/>
            <a:ext cx="1381125" cy="685800"/>
          </a:xfrm>
          <a:prstGeom xmlns:a="http://schemas.openxmlformats.org/drawingml/2006/main" prst="roundRect">
            <a:avLst>
              <a:gd name="adj" fmla="val 11111"/>
            </a:avLst>
          </a:prstGeom>
          <a:solidFill xmlns:a="http://schemas.openxmlformats.org/drawingml/2006/main">
            <a:srgbClr val="287D78"/>
          </a:solidFill>
          <a:ln xmlns:a="http://schemas.openxmlformats.org/drawingml/2006/main" w="9525">
            <a:solidFill>
              <a:srgbClr val="287D78"/>
            </a:solidFill>
          </a:ln>
        </p:spPr>
        <p:txBody>
          <a:bodyPr xmlns:a="http://schemas.openxmlformats.org/drawingml/2006/main" anchor="ctr">
            <a:normAutofit/>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L7</a:t>
            </a:r>
          </a:p>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Private inference</a:t>
            </a:r>
          </a:p>
        </p:txBody>
      </p:sp>
      <p:sp>
        <p:nvSpPr>
          <p:cNvPr id="252" name="l4-mtls">
            <a:extLst xmlns:a="http://schemas.openxmlformats.org/drawingml/2006/main">
              <a:ext uri="{FF2B5EF4-FFF2-40B4-BE49-F238E27FC236}">
                <a16:creationId xmlns:a16="http://schemas.microsoft.com/office/drawing/2014/main" id="{EB74CFD5-298D-495C-BD1C-035783E5DBCB}"/>
              </a:ext>
            </a:extLst>
          </p:cNvPr>
          <p:cNvSpPr>
            <a:spLocks xmlns:a="http://schemas.openxmlformats.org/drawingml/2006/main" noGrp="1"/>
          </p:cNvSpPr>
          <p:nvPr/>
        </p:nvSpPr>
        <p:spPr>
          <a:xfrm xmlns:a="http://schemas.openxmlformats.org/drawingml/2006/main">
            <a:off x="2476500" y="1524000"/>
            <a:ext cx="1619250" cy="514350"/>
          </a:xfrm>
          <a:prstGeom xmlns:a="http://schemas.openxmlformats.org/drawingml/2006/main" prst="roundRect">
            <a:avLst>
              <a:gd name="adj" fmla="val 14815"/>
            </a:avLst>
          </a:prstGeom>
          <a:solidFill xmlns:a="http://schemas.openxmlformats.org/drawingml/2006/main">
            <a:srgbClr val="FFF6E3"/>
          </a:solidFill>
          <a:ln xmlns:a="http://schemas.openxmlformats.org/drawingml/2006/main" w="13335">
            <a:solidFill>
              <a:srgbClr val="A66F0A"/>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Mutual TLS</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secure channel</a:t>
            </a:r>
          </a:p>
        </p:txBody>
      </p:sp>
      <p:sp>
        <p:nvSpPr>
          <p:cNvPr id="253" name="l4-verify">
            <a:extLst xmlns:a="http://schemas.openxmlformats.org/drawingml/2006/main">
              <a:ext uri="{FF2B5EF4-FFF2-40B4-BE49-F238E27FC236}">
                <a16:creationId xmlns:a16="http://schemas.microsoft.com/office/drawing/2014/main" id="{5C443436-7287-45F4-BD19-8E4A19BAC0B2}"/>
              </a:ext>
            </a:extLst>
          </p:cNvPr>
          <p:cNvSpPr>
            <a:spLocks xmlns:a="http://schemas.openxmlformats.org/drawingml/2006/main" noGrp="1"/>
          </p:cNvSpPr>
          <p:nvPr/>
        </p:nvSpPr>
        <p:spPr>
          <a:xfrm xmlns:a="http://schemas.openxmlformats.org/drawingml/2006/main">
            <a:off x="4524375" y="1524000"/>
            <a:ext cx="1857375" cy="514350"/>
          </a:xfrm>
          <a:prstGeom xmlns:a="http://schemas.openxmlformats.org/drawingml/2006/main" prst="roundRect">
            <a:avLst>
              <a:gd name="adj" fmla="val 14815"/>
            </a:avLst>
          </a:prstGeom>
          <a:solidFill xmlns:a="http://schemas.openxmlformats.org/drawingml/2006/main">
            <a:srgbClr val="FFF6E3"/>
          </a:solidFill>
          <a:ln xmlns:a="http://schemas.openxmlformats.org/drawingml/2006/main" w="13335">
            <a:solidFill>
              <a:srgbClr val="A66F0A"/>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Verify identity, signature</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and round freshness</a:t>
            </a:r>
          </a:p>
        </p:txBody>
      </p:sp>
      <p:sp>
        <p:nvSpPr>
          <p:cNvPr id="254" name="l4-admit">
            <a:extLst xmlns:a="http://schemas.openxmlformats.org/drawingml/2006/main">
              <a:ext uri="{FF2B5EF4-FFF2-40B4-BE49-F238E27FC236}">
                <a16:creationId xmlns:a16="http://schemas.microsoft.com/office/drawing/2014/main" id="{53CE035A-2A77-4748-955D-E940258CE5D1}"/>
              </a:ext>
            </a:extLst>
          </p:cNvPr>
          <p:cNvSpPr>
            <a:spLocks xmlns:a="http://schemas.openxmlformats.org/drawingml/2006/main" noGrp="1"/>
          </p:cNvSpPr>
          <p:nvPr/>
        </p:nvSpPr>
        <p:spPr>
          <a:xfrm xmlns:a="http://schemas.openxmlformats.org/drawingml/2006/main">
            <a:off x="6810375" y="1524000"/>
            <a:ext cx="1809750" cy="514350"/>
          </a:xfrm>
          <a:prstGeom xmlns:a="http://schemas.openxmlformats.org/drawingml/2006/main" prst="roundRect">
            <a:avLst>
              <a:gd name="adj" fmla="val 14815"/>
            </a:avLst>
          </a:prstGeom>
          <a:solidFill xmlns:a="http://schemas.openxmlformats.org/drawingml/2006/main">
            <a:srgbClr val="FFF6E3"/>
          </a:solidFill>
          <a:ln xmlns:a="http://schemas.openxmlformats.org/drawingml/2006/main" w="13335">
            <a:solidFill>
              <a:srgbClr val="A66F0A"/>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Admission policy</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and reputation check</a:t>
            </a:r>
          </a:p>
        </p:txBody>
      </p:sp>
      <p:sp>
        <p:nvSpPr>
          <p:cNvPr id="255" name="l4-ledger">
            <a:extLst xmlns:a="http://schemas.openxmlformats.org/drawingml/2006/main">
              <a:ext uri="{FF2B5EF4-FFF2-40B4-BE49-F238E27FC236}">
                <a16:creationId xmlns:a16="http://schemas.microsoft.com/office/drawing/2014/main" id="{CF8EC2A1-4D15-4565-9680-ED14178B4034}"/>
              </a:ext>
            </a:extLst>
          </p:cNvPr>
          <p:cNvSpPr>
            <a:spLocks xmlns:a="http://schemas.openxmlformats.org/drawingml/2006/main" noGrp="1"/>
          </p:cNvSpPr>
          <p:nvPr/>
        </p:nvSpPr>
        <p:spPr>
          <a:xfrm xmlns:a="http://schemas.openxmlformats.org/drawingml/2006/main">
            <a:off x="9048750" y="1524000"/>
            <a:ext cx="1952625" cy="514350"/>
          </a:xfrm>
          <a:prstGeom xmlns:a="http://schemas.openxmlformats.org/drawingml/2006/main" prst="roundRect">
            <a:avLst>
              <a:gd name="adj" fmla="val 14815"/>
            </a:avLst>
          </a:prstGeom>
          <a:solidFill xmlns:a="http://schemas.openxmlformats.org/drawingml/2006/main">
            <a:srgbClr val="FFF6E3"/>
          </a:solidFill>
          <a:ln xmlns:a="http://schemas.openxmlformats.org/drawingml/2006/main" w="13335">
            <a:solidFill>
              <a:srgbClr val="A66F0A"/>
            </a:solidFill>
          </a:ln>
        </p:spPr>
        <p:txBody>
          <a:bodyPr xmlns:a="http://schemas.openxmlformats.org/drawingml/2006/main" anchor="ctr">
            <a:normAutofit fontScale="90803"/>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Ciphertext off-chain</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hash and status on ledger</a:t>
            </a:r>
          </a:p>
        </p:txBody>
      </p:sp>
      <p:cxnSp>
        <p:nvCxnSpPr>
          <p:cNvPr id="685" name="Straight Arrow Connector 542"/>
          <p:cNvCxnSpPr>
            <a:stCxn xmlns:a="http://schemas.openxmlformats.org/drawingml/2006/main" id="252" idx="3"/>
            <a:endCxn xmlns:a="http://schemas.openxmlformats.org/drawingml/2006/main" id="253" idx="1"/>
          </p:cNvCxnSpPr>
          <p:nvPr/>
        </p:nvCxnSpPr>
        <p:spPr>
          <a:xfrm xmlns:a="http://schemas.openxmlformats.org/drawingml/2006/main">
            <a:off x="4095750" y="1781175"/>
            <a:ext cx="42862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686" name="Straight Arrow Connector 543"/>
          <p:cNvCxnSpPr>
            <a:stCxn xmlns:a="http://schemas.openxmlformats.org/drawingml/2006/main" id="253" idx="3"/>
            <a:endCxn xmlns:a="http://schemas.openxmlformats.org/drawingml/2006/main" id="254" idx="1"/>
          </p:cNvCxnSpPr>
          <p:nvPr/>
        </p:nvCxnSpPr>
        <p:spPr>
          <a:xfrm xmlns:a="http://schemas.openxmlformats.org/drawingml/2006/main">
            <a:off x="6381750" y="1781175"/>
            <a:ext cx="42862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687" name="Straight Arrow Connector 544"/>
          <p:cNvCxnSpPr>
            <a:stCxn xmlns:a="http://schemas.openxmlformats.org/drawingml/2006/main" id="254" idx="3"/>
            <a:endCxn xmlns:a="http://schemas.openxmlformats.org/drawingml/2006/main" id="255" idx="1"/>
          </p:cNvCxnSpPr>
          <p:nvPr/>
        </p:nvCxnSpPr>
        <p:spPr>
          <a:xfrm xmlns:a="http://schemas.openxmlformats.org/drawingml/2006/main">
            <a:off x="8620125" y="1781175"/>
            <a:ext cx="42862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sp>
        <p:nvSpPr>
          <p:cNvPr id="259" name="l5-quorum">
            <a:extLst xmlns:a="http://schemas.openxmlformats.org/drawingml/2006/main">
              <a:ext uri="{FF2B5EF4-FFF2-40B4-BE49-F238E27FC236}">
                <a16:creationId xmlns:a16="http://schemas.microsoft.com/office/drawing/2014/main" id="{6A773FF3-EE2F-493E-9D55-9E2EFF3A0419}"/>
              </a:ext>
            </a:extLst>
          </p:cNvPr>
          <p:cNvSpPr>
            <a:spLocks xmlns:a="http://schemas.openxmlformats.org/drawingml/2006/main" noGrp="1"/>
          </p:cNvSpPr>
          <p:nvPr/>
        </p:nvSpPr>
        <p:spPr>
          <a:xfrm xmlns:a="http://schemas.openxmlformats.org/drawingml/2006/main">
            <a:off x="2343150" y="2724150"/>
            <a:ext cx="1381125" cy="533400"/>
          </a:xfrm>
          <a:prstGeom xmlns:a="http://schemas.openxmlformats.org/drawingml/2006/main" prst="roundRect">
            <a:avLst>
              <a:gd name="adj" fmla="val 14286"/>
            </a:avLst>
          </a:prstGeom>
          <a:solidFill xmlns:a="http://schemas.openxmlformats.org/drawingml/2006/main">
            <a:srgbClr val="EDF7F0"/>
          </a:solidFill>
          <a:ln xmlns:a="http://schemas.openxmlformats.org/drawingml/2006/main" w="13335">
            <a:solidFill>
              <a:srgbClr val="2E7D4F"/>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Quorum and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dropout handling</a:t>
            </a:r>
          </a:p>
        </p:txBody>
      </p:sp>
      <p:sp>
        <p:nvSpPr>
          <p:cNvPr id="260" name="l5-fedavg">
            <a:extLst xmlns:a="http://schemas.openxmlformats.org/drawingml/2006/main">
              <a:ext uri="{FF2B5EF4-FFF2-40B4-BE49-F238E27FC236}">
                <a16:creationId xmlns:a16="http://schemas.microsoft.com/office/drawing/2014/main" id="{80102FEA-2126-4AE3-A615-5B3CD4D47D7A}"/>
              </a:ext>
            </a:extLst>
          </p:cNvPr>
          <p:cNvSpPr>
            <a:spLocks xmlns:a="http://schemas.openxmlformats.org/drawingml/2006/main" noGrp="1"/>
          </p:cNvSpPr>
          <p:nvPr/>
        </p:nvSpPr>
        <p:spPr>
          <a:xfrm xmlns:a="http://schemas.openxmlformats.org/drawingml/2006/main">
            <a:off x="4000500" y="2724150"/>
            <a:ext cx="1619250" cy="533400"/>
          </a:xfrm>
          <a:prstGeom xmlns:a="http://schemas.openxmlformats.org/drawingml/2006/main" prst="roundRect">
            <a:avLst>
              <a:gd name="adj" fmla="val 14286"/>
            </a:avLst>
          </a:prstGeom>
          <a:solidFill xmlns:a="http://schemas.openxmlformats.org/drawingml/2006/main">
            <a:srgbClr val="EDF7F0"/>
          </a:solidFill>
          <a:ln xmlns:a="http://schemas.openxmlformats.org/drawingml/2006/main" w="13335">
            <a:solidFill>
              <a:srgbClr val="2E7D4F"/>
            </a:solidFill>
          </a:ln>
        </p:spPr>
        <p:txBody>
          <a:bodyPr xmlns:a="http://schemas.openxmlformats.org/drawingml/2006/main" anchor="ctr">
            <a:normAutofit fontScale="93147"/>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Reputation-weighted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homomorphic FedAvg</a:t>
            </a:r>
          </a:p>
        </p:txBody>
      </p:sp>
      <p:sp>
        <p:nvSpPr>
          <p:cNvPr id="261" name="l5-decrypt">
            <a:extLst xmlns:a="http://schemas.openxmlformats.org/drawingml/2006/main">
              <a:ext uri="{FF2B5EF4-FFF2-40B4-BE49-F238E27FC236}">
                <a16:creationId xmlns:a16="http://schemas.microsoft.com/office/drawing/2014/main" id="{ED1B2A6C-4649-4427-A1FE-873CB8B69D86}"/>
              </a:ext>
            </a:extLst>
          </p:cNvPr>
          <p:cNvSpPr>
            <a:spLocks xmlns:a="http://schemas.openxmlformats.org/drawingml/2006/main" noGrp="1"/>
          </p:cNvSpPr>
          <p:nvPr/>
        </p:nvSpPr>
        <p:spPr>
          <a:xfrm xmlns:a="http://schemas.openxmlformats.org/drawingml/2006/main">
            <a:off x="5895975" y="2724150"/>
            <a:ext cx="1476375" cy="533400"/>
          </a:xfrm>
          <a:prstGeom xmlns:a="http://schemas.openxmlformats.org/drawingml/2006/main" prst="roundRect">
            <a:avLst>
              <a:gd name="adj" fmla="val 14286"/>
            </a:avLst>
          </a:prstGeom>
          <a:solidFill xmlns:a="http://schemas.openxmlformats.org/drawingml/2006/main">
            <a:srgbClr val="ECF7F5"/>
          </a:solidFill>
          <a:ln xmlns:a="http://schemas.openxmlformats.org/drawingml/2006/main" w="13335">
            <a:solidFill>
              <a:srgbClr val="2F7F77"/>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Threshold decrypt</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aggregate only</a:t>
            </a:r>
          </a:p>
        </p:txBody>
      </p:sp>
      <p:sp>
        <p:nvSpPr>
          <p:cNvPr id="262" name="l5-validate">
            <a:extLst xmlns:a="http://schemas.openxmlformats.org/drawingml/2006/main">
              <a:ext uri="{FF2B5EF4-FFF2-40B4-BE49-F238E27FC236}">
                <a16:creationId xmlns:a16="http://schemas.microsoft.com/office/drawing/2014/main" id="{EEB77686-D3D0-4666-8225-CCB147821891}"/>
              </a:ext>
            </a:extLst>
          </p:cNvPr>
          <p:cNvSpPr>
            <a:spLocks xmlns:a="http://schemas.openxmlformats.org/drawingml/2006/main" noGrp="1"/>
          </p:cNvSpPr>
          <p:nvPr/>
        </p:nvSpPr>
        <p:spPr>
          <a:xfrm xmlns:a="http://schemas.openxmlformats.org/drawingml/2006/main">
            <a:off x="7648575" y="2724150"/>
            <a:ext cx="1524000" cy="533400"/>
          </a:xfrm>
          <a:prstGeom xmlns:a="http://schemas.openxmlformats.org/drawingml/2006/main" prst="roundRect">
            <a:avLst>
              <a:gd name="adj" fmla="val 14286"/>
            </a:avLst>
          </a:prstGeom>
          <a:solidFill xmlns:a="http://schemas.openxmlformats.org/drawingml/2006/main">
            <a:srgbClr val="EDF7F0"/>
          </a:solidFill>
          <a:ln xmlns:a="http://schemas.openxmlformats.org/drawingml/2006/main" w="13335">
            <a:solidFill>
              <a:srgbClr val="2E7D4F"/>
            </a:solidFill>
          </a:ln>
        </p:spPr>
        <p:txBody>
          <a:bodyPr xmlns:a="http://schemas.openxmlformats.org/drawingml/2006/main" anchor="ctr">
            <a:normAutofit fontScale="92703"/>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Validate utility, drift</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and anomaly checks</a:t>
            </a:r>
          </a:p>
        </p:txBody>
      </p:sp>
      <p:sp>
        <p:nvSpPr>
          <p:cNvPr id="263" name="l5-decision">
            <a:extLst xmlns:a="http://schemas.openxmlformats.org/drawingml/2006/main">
              <a:ext uri="{FF2B5EF4-FFF2-40B4-BE49-F238E27FC236}">
                <a16:creationId xmlns:a16="http://schemas.microsoft.com/office/drawing/2014/main" id="{BC3B00FA-F196-4BDF-9D42-CD87EEED5A18}"/>
              </a:ext>
            </a:extLst>
          </p:cNvPr>
          <p:cNvSpPr>
            <a:spLocks xmlns:a="http://schemas.openxmlformats.org/drawingml/2006/main" noGrp="1"/>
          </p:cNvSpPr>
          <p:nvPr/>
        </p:nvSpPr>
        <p:spPr>
          <a:xfrm xmlns:a="http://schemas.openxmlformats.org/drawingml/2006/main">
            <a:off x="9353550" y="2657475"/>
            <a:ext cx="838200" cy="666750"/>
          </a:xfrm>
          <a:prstGeom xmlns:a="http://schemas.openxmlformats.org/drawingml/2006/main" prst="diamond">
            <a:avLst/>
          </a:prstGeom>
          <a:solidFill xmlns:a="http://schemas.openxmlformats.org/drawingml/2006/main">
            <a:srgbClr val="EDF7F0"/>
          </a:solidFill>
          <a:ln xmlns:a="http://schemas.openxmlformats.org/drawingml/2006/main" w="13335">
            <a:solidFill>
              <a:srgbClr val="2E7D4F"/>
            </a:solidFill>
          </a:ln>
        </p:spPr>
        <p:txBody>
          <a:bodyPr xmlns:a="http://schemas.openxmlformats.org/drawingml/2006/main" anchor="ctr">
            <a:normAutofit fontScale="75595" lnSpcReduction="10000"/>
          </a:bodyPr>
          <a:lstStyle xmlns:a="http://schemas.openxmlformats.org/drawingml/2006/main"/>
          <a:p xmlns:a="http://schemas.openxmlformats.org/drawingml/2006/main">
            <a:pPr algn="ctr">
              <a:buNone/>
              <a:defRPr sz="1050" b="1">
                <a:solidFill>
                  <a:srgbClr val="1F2937"/>
                </a:solidFill>
                <a:latin typeface="Arial"/>
                <a:ea typeface="Arial"/>
                <a:cs typeface="Arial"/>
              </a:defRPr>
            </a:pPr>
            <a:r>
              <a:rPr sz="1050" b="1">
                <a:solidFill>
                  <a:srgbClr val="1F2937"/>
                </a:solidFill>
                <a:latin typeface="Arial"/>
                <a:ea typeface="Arial"/>
                <a:cs typeface="Arial"/>
              </a:rPr>
              <a:t>Pass?</a:t>
            </a:r>
          </a:p>
        </p:txBody>
      </p:sp>
      <p:cxnSp>
        <p:nvCxnSpPr>
          <p:cNvPr id="693" name="Straight Arrow Connector 550"/>
          <p:cNvCxnSpPr>
            <a:stCxn xmlns:a="http://schemas.openxmlformats.org/drawingml/2006/main" id="259" idx="3"/>
            <a:endCxn xmlns:a="http://schemas.openxmlformats.org/drawingml/2006/main" id="260" idx="1"/>
          </p:cNvCxnSpPr>
          <p:nvPr/>
        </p:nvCxnSpPr>
        <p:spPr>
          <a:xfrm xmlns:a="http://schemas.openxmlformats.org/drawingml/2006/main">
            <a:off x="3724275" y="2990850"/>
            <a:ext cx="27622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694" name="Straight Arrow Connector 551"/>
          <p:cNvCxnSpPr>
            <a:stCxn xmlns:a="http://schemas.openxmlformats.org/drawingml/2006/main" id="260" idx="3"/>
            <a:endCxn xmlns:a="http://schemas.openxmlformats.org/drawingml/2006/main" id="261" idx="1"/>
          </p:cNvCxnSpPr>
          <p:nvPr/>
        </p:nvCxnSpPr>
        <p:spPr>
          <a:xfrm xmlns:a="http://schemas.openxmlformats.org/drawingml/2006/main">
            <a:off x="5619750" y="2990850"/>
            <a:ext cx="27622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695" name="Straight Arrow Connector 552"/>
          <p:cNvCxnSpPr>
            <a:stCxn xmlns:a="http://schemas.openxmlformats.org/drawingml/2006/main" id="261" idx="3"/>
            <a:endCxn xmlns:a="http://schemas.openxmlformats.org/drawingml/2006/main" id="262" idx="1"/>
          </p:cNvCxnSpPr>
          <p:nvPr/>
        </p:nvCxnSpPr>
        <p:spPr>
          <a:xfrm xmlns:a="http://schemas.openxmlformats.org/drawingml/2006/main">
            <a:off x="7372350" y="2990850"/>
            <a:ext cx="27622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696" name="Straight Arrow Connector 553"/>
          <p:cNvCxnSpPr>
            <a:stCxn xmlns:a="http://schemas.openxmlformats.org/drawingml/2006/main" id="262" idx="3"/>
            <a:endCxn xmlns:a="http://schemas.openxmlformats.org/drawingml/2006/main" id="263" idx="1"/>
          </p:cNvCxnSpPr>
          <p:nvPr/>
        </p:nvCxnSpPr>
        <p:spPr>
          <a:xfrm xmlns:a="http://schemas.openxmlformats.org/drawingml/2006/main">
            <a:off x="9172575" y="2990850"/>
            <a:ext cx="1809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sp>
        <p:nvSpPr>
          <p:cNvPr id="268" name="l5-accept">
            <a:extLst xmlns:a="http://schemas.openxmlformats.org/drawingml/2006/main">
              <a:ext uri="{FF2B5EF4-FFF2-40B4-BE49-F238E27FC236}">
                <a16:creationId xmlns:a16="http://schemas.microsoft.com/office/drawing/2014/main" id="{B290B1B0-3FD4-4DF9-80AB-79B80DF555A6}"/>
              </a:ext>
            </a:extLst>
          </p:cNvPr>
          <p:cNvSpPr>
            <a:spLocks xmlns:a="http://schemas.openxmlformats.org/drawingml/2006/main" noGrp="1"/>
          </p:cNvSpPr>
          <p:nvPr/>
        </p:nvSpPr>
        <p:spPr>
          <a:xfrm xmlns:a="http://schemas.openxmlformats.org/drawingml/2006/main">
            <a:off x="10382250" y="2447925"/>
            <a:ext cx="904875" cy="400050"/>
          </a:xfrm>
          <a:prstGeom xmlns:a="http://schemas.openxmlformats.org/drawingml/2006/main" prst="roundRect">
            <a:avLst>
              <a:gd name="adj" fmla="val 19048"/>
            </a:avLst>
          </a:prstGeom>
          <a:solidFill xmlns:a="http://schemas.openxmlformats.org/drawingml/2006/main">
            <a:srgbClr val="EDF7F0"/>
          </a:solidFill>
          <a:ln xmlns:a="http://schemas.openxmlformats.org/drawingml/2006/main" w="13335">
            <a:solidFill>
              <a:srgbClr val="2E7D4F"/>
            </a:solidFill>
          </a:ln>
        </p:spPr>
        <p:txBody>
          <a:bodyPr xmlns:a="http://schemas.openxmlformats.org/drawingml/2006/main" anchor="ctr">
            <a:normAutofit fontScale="82481" lnSpcReduction="10000"/>
          </a:bodyPr>
          <a:lstStyle xmlns:a="http://schemas.openxmlformats.org/drawingml/2006/main"/>
          <a:p xmlns:a="http://schemas.openxmlformats.org/drawingml/2006/main">
            <a:pPr algn="ctr">
              <a:buNone/>
              <a:defRPr sz="1050" b="1">
                <a:solidFill>
                  <a:srgbClr val="1F2937"/>
                </a:solidFill>
                <a:latin typeface="Arial"/>
                <a:ea typeface="Arial"/>
                <a:cs typeface="Arial"/>
              </a:defRPr>
            </a:pPr>
            <a:r>
              <a:rPr sz="1050" b="1">
                <a:solidFill>
                  <a:srgbClr val="1F2937"/>
                </a:solidFill>
                <a:latin typeface="Arial"/>
                <a:ea typeface="Arial"/>
                <a:cs typeface="Arial"/>
              </a:rPr>
              <a:t>Accept model</a:t>
            </a:r>
          </a:p>
        </p:txBody>
      </p:sp>
      <p:sp>
        <p:nvSpPr>
          <p:cNvPr id="269" name="l5-reject">
            <a:extLst xmlns:a="http://schemas.openxmlformats.org/drawingml/2006/main">
              <a:ext uri="{FF2B5EF4-FFF2-40B4-BE49-F238E27FC236}">
                <a16:creationId xmlns:a16="http://schemas.microsoft.com/office/drawing/2014/main" id="{4189A42B-F3E3-4595-BD80-16F3C5CF3BAD}"/>
              </a:ext>
            </a:extLst>
          </p:cNvPr>
          <p:cNvSpPr>
            <a:spLocks xmlns:a="http://schemas.openxmlformats.org/drawingml/2006/main" noGrp="1"/>
          </p:cNvSpPr>
          <p:nvPr/>
        </p:nvSpPr>
        <p:spPr>
          <a:xfrm xmlns:a="http://schemas.openxmlformats.org/drawingml/2006/main">
            <a:off x="10382250" y="3105150"/>
            <a:ext cx="904875" cy="419100"/>
          </a:xfrm>
          <a:prstGeom xmlns:a="http://schemas.openxmlformats.org/drawingml/2006/main" prst="roundRect">
            <a:avLst>
              <a:gd name="adj" fmla="val 18182"/>
            </a:avLst>
          </a:prstGeom>
          <a:solidFill xmlns:a="http://schemas.openxmlformats.org/drawingml/2006/main">
            <a:srgbClr val="FDEEEE"/>
          </a:solidFill>
          <a:ln xmlns:a="http://schemas.openxmlformats.org/drawingml/2006/main" w="13335">
            <a:solidFill>
              <a:srgbClr val="C94B4B"/>
            </a:solidFill>
          </a:ln>
        </p:spPr>
        <p:txBody>
          <a:bodyPr xmlns:a="http://schemas.openxmlformats.org/drawingml/2006/main" anchor="ctr">
            <a:normAutofit fontScale="74025" lnSpcReduction="20000"/>
          </a:bodyPr>
          <a:lstStyle xmlns:a="http://schemas.openxmlformats.org/drawingml/2006/main"/>
          <a:p xmlns:a="http://schemas.openxmlformats.org/drawingml/2006/main">
            <a:pPr algn="ctr">
              <a:buNone/>
              <a:defRPr sz="1050" b="1">
                <a:solidFill>
                  <a:srgbClr val="1F2937"/>
                </a:solidFill>
                <a:latin typeface="Arial"/>
                <a:ea typeface="Arial"/>
                <a:cs typeface="Arial"/>
              </a:defRPr>
            </a:pPr>
            <a:r>
              <a:rPr sz="1050" b="1">
                <a:solidFill>
                  <a:srgbClr val="1F2937"/>
                </a:solidFill>
                <a:latin typeface="Arial"/>
                <a:ea typeface="Arial"/>
                <a:cs typeface="Arial"/>
              </a:rPr>
              <a:t>Rollback and</a:t>
            </a:r>
          </a:p>
          <a:p xmlns:a="http://schemas.openxmlformats.org/drawingml/2006/main">
            <a:pPr algn="ctr">
              <a:buNone/>
              <a:defRPr sz="1050" b="1">
                <a:solidFill>
                  <a:srgbClr val="1F2937"/>
                </a:solidFill>
                <a:latin typeface="Arial"/>
                <a:ea typeface="Arial"/>
                <a:cs typeface="Arial"/>
              </a:defRPr>
            </a:pPr>
            <a:r>
              <a:rPr sz="1050" b="1">
                <a:solidFill>
                  <a:srgbClr val="1F2937"/>
                </a:solidFill>
                <a:latin typeface="Arial"/>
                <a:ea typeface="Arial"/>
                <a:cs typeface="Arial"/>
              </a:rPr>
              <a:t>quarantine</a:t>
            </a:r>
          </a:p>
        </p:txBody>
      </p:sp>
      <p:cxnSp>
        <p:nvCxnSpPr>
          <p:cNvPr id="699" name="Connector: Elbow 556"/>
          <p:cNvCxnSpPr>
            <a:stCxn xmlns:a="http://schemas.openxmlformats.org/drawingml/2006/main" id="263" idx="3"/>
            <a:endCxn xmlns:a="http://schemas.openxmlformats.org/drawingml/2006/main" id="268" idx="1"/>
          </p:cNvCxnSpPr>
          <p:nvPr/>
        </p:nvCxnSpPr>
        <p:spPr>
          <a:xfrm xmlns:a="http://schemas.openxmlformats.org/drawingml/2006/main" flipV="1">
            <a:off x="10191750" y="2647950"/>
            <a:ext cx="190500" cy="342900"/>
          </a:xfrm>
          <a:prstGeom xmlns:a="http://schemas.openxmlformats.org/drawingml/2006/main" prst="bentConnector3">
            <a:avLst>
              <a:gd name="adj1" fmla="val 50000"/>
            </a:avLst>
          </a:prstGeom>
          <a:ln xmlns:a="http://schemas.openxmlformats.org/drawingml/2006/main" w="16193">
            <a:solidFill>
              <a:srgbClr val="2E7D4F"/>
            </a:solidFill>
            <a:prstDash val="solid"/>
            <a:headEnd type="none" w="med" len="med"/>
            <a:tailEnd type="triangle" w="sm" len="sm"/>
          </a:ln>
        </p:spPr>
      </p:cxnSp>
      <p:cxnSp>
        <p:nvCxnSpPr>
          <p:cNvPr id="700" name="Connector: Elbow 557"/>
          <p:cNvCxnSpPr>
            <a:stCxn xmlns:a="http://schemas.openxmlformats.org/drawingml/2006/main" id="263" idx="2"/>
            <a:endCxn xmlns:a="http://schemas.openxmlformats.org/drawingml/2006/main" id="269" idx="1"/>
          </p:cNvCxnSpPr>
          <p:nvPr/>
        </p:nvCxnSpPr>
        <p:spPr>
          <a:xfrm xmlns:a="http://schemas.openxmlformats.org/drawingml/2006/main" flipV="1">
            <a:off x="9772650" y="3314700"/>
            <a:ext cx="609600" cy="9525"/>
          </a:xfrm>
          <a:prstGeom xmlns:a="http://schemas.openxmlformats.org/drawingml/2006/main" prst="bentConnector3">
            <a:avLst>
              <a:gd name="adj1" fmla="val 0"/>
            </a:avLst>
          </a:prstGeom>
          <a:ln xmlns:a="http://schemas.openxmlformats.org/drawingml/2006/main" w="16193">
            <a:solidFill>
              <a:srgbClr val="C94B4B"/>
            </a:solidFill>
            <a:prstDash val="solid"/>
            <a:headEnd type="none" w="med" len="med"/>
            <a:tailEnd type="triangle" w="sm" len="sm"/>
          </a:ln>
        </p:spPr>
      </p:cxnSp>
      <p:sp>
        <p:nvSpPr>
          <p:cNvPr id="272" name="accept-label">
            <a:extLst xmlns:a="http://schemas.openxmlformats.org/drawingml/2006/main">
              <a:ext uri="{FF2B5EF4-FFF2-40B4-BE49-F238E27FC236}">
                <a16:creationId xmlns:a16="http://schemas.microsoft.com/office/drawing/2014/main" id="{8E306D12-4090-4BF4-8EAA-7DABEB8CF822}"/>
              </a:ext>
            </a:extLst>
          </p:cNvPr>
          <p:cNvSpPr>
            <a:spLocks xmlns:a="http://schemas.openxmlformats.org/drawingml/2006/main" noGrp="1"/>
          </p:cNvSpPr>
          <p:nvPr/>
        </p:nvSpPr>
        <p:spPr>
          <a:xfrm xmlns:a="http://schemas.openxmlformats.org/drawingml/2006/main">
            <a:off x="10163175" y="24479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59523" lnSpcReduction="20000"/>
          </a:bodyPr>
          <a:lstStyle xmlns:a="http://schemas.openxmlformats.org/drawingml/2006/main"/>
          <a:p xmlns:a="http://schemas.openxmlformats.org/drawingml/2006/main">
            <a:pPr algn="ctr">
              <a:buNone/>
              <a:defRPr sz="825" b="1">
                <a:solidFill>
                  <a:srgbClr val="2E7D4F"/>
                </a:solidFill>
                <a:latin typeface="Arial"/>
                <a:ea typeface="Arial"/>
                <a:cs typeface="Arial"/>
              </a:defRPr>
            </a:pPr>
            <a:r>
              <a:rPr sz="825" b="1">
                <a:solidFill>
                  <a:srgbClr val="2E7D4F"/>
                </a:solidFill>
                <a:latin typeface="Arial"/>
                <a:ea typeface="Arial"/>
                <a:cs typeface="Arial"/>
              </a:rPr>
              <a:t>YES</a:t>
            </a:r>
          </a:p>
        </p:txBody>
      </p:sp>
      <p:sp>
        <p:nvSpPr>
          <p:cNvPr id="273" name="reject-label">
            <a:extLst xmlns:a="http://schemas.openxmlformats.org/drawingml/2006/main">
              <a:ext uri="{FF2B5EF4-FFF2-40B4-BE49-F238E27FC236}">
                <a16:creationId xmlns:a16="http://schemas.microsoft.com/office/drawing/2014/main" id="{2E444E79-6138-4BBB-86BD-6266C96D64E4}"/>
              </a:ext>
            </a:extLst>
          </p:cNvPr>
          <p:cNvSpPr>
            <a:spLocks xmlns:a="http://schemas.openxmlformats.org/drawingml/2006/main" noGrp="1"/>
          </p:cNvSpPr>
          <p:nvPr/>
        </p:nvSpPr>
        <p:spPr>
          <a:xfrm xmlns:a="http://schemas.openxmlformats.org/drawingml/2006/main">
            <a:off x="10086975" y="3257550"/>
            <a:ext cx="285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2777" lnSpcReduction="10000"/>
          </a:bodyPr>
          <a:lstStyle xmlns:a="http://schemas.openxmlformats.org/drawingml/2006/main"/>
          <a:p xmlns:a="http://schemas.openxmlformats.org/drawingml/2006/main">
            <a:pPr algn="ctr">
              <a:buNone/>
              <a:defRPr sz="825" b="1">
                <a:solidFill>
                  <a:srgbClr val="C94B4B"/>
                </a:solidFill>
                <a:latin typeface="Arial"/>
                <a:ea typeface="Arial"/>
                <a:cs typeface="Arial"/>
              </a:defRPr>
            </a:pPr>
            <a:r>
              <a:rPr sz="825" b="1">
                <a:solidFill>
                  <a:srgbClr val="C94B4B"/>
                </a:solidFill>
                <a:latin typeface="Arial"/>
                <a:ea typeface="Arial"/>
                <a:cs typeface="Arial"/>
              </a:rPr>
              <a:t>NO</a:t>
            </a:r>
          </a:p>
        </p:txBody>
      </p:sp>
      <p:sp>
        <p:nvSpPr>
          <p:cNvPr id="274" name="l6-record">
            <a:extLst xmlns:a="http://schemas.openxmlformats.org/drawingml/2006/main">
              <a:ext uri="{FF2B5EF4-FFF2-40B4-BE49-F238E27FC236}">
                <a16:creationId xmlns:a16="http://schemas.microsoft.com/office/drawing/2014/main" id="{DDD347D4-BDDF-4091-B408-4538BFC7CC55}"/>
              </a:ext>
            </a:extLst>
          </p:cNvPr>
          <p:cNvSpPr>
            <a:spLocks xmlns:a="http://schemas.openxmlformats.org/drawingml/2006/main" noGrp="1"/>
          </p:cNvSpPr>
          <p:nvPr/>
        </p:nvSpPr>
        <p:spPr>
          <a:xfrm xmlns:a="http://schemas.openxmlformats.org/drawingml/2006/main">
            <a:off x="2638425" y="3943350"/>
            <a:ext cx="1666875" cy="495300"/>
          </a:xfrm>
          <a:prstGeom xmlns:a="http://schemas.openxmlformats.org/drawingml/2006/main" prst="roundRect">
            <a:avLst>
              <a:gd name="adj" fmla="val 15385"/>
            </a:avLst>
          </a:prstGeom>
          <a:solidFill xmlns:a="http://schemas.openxmlformats.org/drawingml/2006/main">
            <a:srgbClr val="EDF7F0"/>
          </a:solidFill>
          <a:ln xmlns:a="http://schemas.openxmlformats.org/drawingml/2006/main" w="13335">
            <a:solidFill>
              <a:srgbClr val="2E7D4F"/>
            </a:solidFill>
          </a:ln>
        </p:spPr>
        <p:txBody>
          <a:bodyPr xmlns:a="http://schemas.openxmlformats.org/drawingml/2006/main" anchor="ctr">
            <a:normAutofit fontScale="98213" lnSpcReduction="10000"/>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Record global-model</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hash</a:t>
            </a:r>
          </a:p>
        </p:txBody>
      </p:sp>
      <p:sp>
        <p:nvSpPr>
          <p:cNvPr id="275" name="l6-broadcast">
            <a:extLst xmlns:a="http://schemas.openxmlformats.org/drawingml/2006/main">
              <a:ext uri="{FF2B5EF4-FFF2-40B4-BE49-F238E27FC236}">
                <a16:creationId xmlns:a16="http://schemas.microsoft.com/office/drawing/2014/main" id="{81870695-226F-4D05-8587-02783712BD68}"/>
              </a:ext>
            </a:extLst>
          </p:cNvPr>
          <p:cNvSpPr>
            <a:spLocks xmlns:a="http://schemas.openxmlformats.org/drawingml/2006/main" noGrp="1"/>
          </p:cNvSpPr>
          <p:nvPr/>
        </p:nvSpPr>
        <p:spPr>
          <a:xfrm xmlns:a="http://schemas.openxmlformats.org/drawingml/2006/main">
            <a:off x="4781550" y="3943350"/>
            <a:ext cx="1666875" cy="495300"/>
          </a:xfrm>
          <a:prstGeom xmlns:a="http://schemas.openxmlformats.org/drawingml/2006/main" prst="roundRect">
            <a:avLst>
              <a:gd name="adj" fmla="val 15385"/>
            </a:avLst>
          </a:prstGeom>
          <a:solidFill xmlns:a="http://schemas.openxmlformats.org/drawingml/2006/main">
            <a:srgbClr val="EDF7F0"/>
          </a:solidFill>
          <a:ln xmlns:a="http://schemas.openxmlformats.org/drawingml/2006/main" w="13335">
            <a:solidFill>
              <a:srgbClr val="2E7D4F"/>
            </a:solidFill>
          </a:ln>
        </p:spPr>
        <p:txBody>
          <a:bodyPr xmlns:a="http://schemas.openxmlformats.org/drawingml/2006/main" anchor="ctr">
            <a:normAutofit fontScale="98213" lnSpcReduction="10000"/>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Signed secure</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broadcast</a:t>
            </a:r>
          </a:p>
        </p:txBody>
      </p:sp>
      <p:sp>
        <p:nvSpPr>
          <p:cNvPr id="276" name="l6-verify">
            <a:extLst xmlns:a="http://schemas.openxmlformats.org/drawingml/2006/main">
              <a:ext uri="{FF2B5EF4-FFF2-40B4-BE49-F238E27FC236}">
                <a16:creationId xmlns:a16="http://schemas.microsoft.com/office/drawing/2014/main" id="{603F78C0-586C-4CEC-8D06-A0742952D251}"/>
              </a:ext>
            </a:extLst>
          </p:cNvPr>
          <p:cNvSpPr>
            <a:spLocks xmlns:a="http://schemas.openxmlformats.org/drawingml/2006/main" noGrp="1"/>
          </p:cNvSpPr>
          <p:nvPr/>
        </p:nvSpPr>
        <p:spPr>
          <a:xfrm xmlns:a="http://schemas.openxmlformats.org/drawingml/2006/main">
            <a:off x="6924675" y="3943350"/>
            <a:ext cx="1666875" cy="495300"/>
          </a:xfrm>
          <a:prstGeom xmlns:a="http://schemas.openxmlformats.org/drawingml/2006/main" prst="roundRect">
            <a:avLst>
              <a:gd name="adj" fmla="val 15385"/>
            </a:avLst>
          </a:prstGeom>
          <a:solidFill xmlns:a="http://schemas.openxmlformats.org/drawingml/2006/main">
            <a:srgbClr val="EDF7F0"/>
          </a:solidFill>
          <a:ln xmlns:a="http://schemas.openxmlformats.org/drawingml/2006/main" w="13335">
            <a:solidFill>
              <a:srgbClr val="2E7D4F"/>
            </a:solidFill>
          </a:ln>
        </p:spPr>
        <p:txBody>
          <a:bodyPr xmlns:a="http://schemas.openxmlformats.org/drawingml/2006/main" anchor="ctr">
            <a:normAutofit fontScale="98213" lnSpcReduction="10000"/>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Hospitals verify</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version and hash</a:t>
            </a:r>
          </a:p>
        </p:txBody>
      </p:sp>
      <p:sp>
        <p:nvSpPr>
          <p:cNvPr id="277" name="l6-next">
            <a:extLst xmlns:a="http://schemas.openxmlformats.org/drawingml/2006/main">
              <a:ext uri="{FF2B5EF4-FFF2-40B4-BE49-F238E27FC236}">
                <a16:creationId xmlns:a16="http://schemas.microsoft.com/office/drawing/2014/main" id="{A68478F7-87A2-4FBC-B7FF-369AF12D4132}"/>
              </a:ext>
            </a:extLst>
          </p:cNvPr>
          <p:cNvSpPr>
            <a:spLocks xmlns:a="http://schemas.openxmlformats.org/drawingml/2006/main" noGrp="1"/>
          </p:cNvSpPr>
          <p:nvPr/>
        </p:nvSpPr>
        <p:spPr>
          <a:xfrm xmlns:a="http://schemas.openxmlformats.org/drawingml/2006/main">
            <a:off x="9067800" y="3943350"/>
            <a:ext cx="1476375" cy="495300"/>
          </a:xfrm>
          <a:prstGeom xmlns:a="http://schemas.openxmlformats.org/drawingml/2006/main" prst="roundRect">
            <a:avLst>
              <a:gd name="adj" fmla="val 15385"/>
            </a:avLst>
          </a:prstGeom>
          <a:solidFill xmlns:a="http://schemas.openxmlformats.org/drawingml/2006/main">
            <a:srgbClr val="EDF7F0"/>
          </a:solidFill>
          <a:ln xmlns:a="http://schemas.openxmlformats.org/drawingml/2006/main" w="13335">
            <a:solidFill>
              <a:srgbClr val="2E7D4F"/>
            </a:solidFill>
          </a:ln>
        </p:spPr>
        <p:txBody>
          <a:bodyPr xmlns:a="http://schemas.openxmlformats.org/drawingml/2006/main" anchor="ctr">
            <a:normAutofit fontScale="98213" lnSpcReduction="10000"/>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Begin next</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FL round</a:t>
            </a:r>
          </a:p>
        </p:txBody>
      </p:sp>
      <p:cxnSp>
        <p:nvCxnSpPr>
          <p:cNvPr id="707" name="Straight Arrow Connector 564"/>
          <p:cNvCxnSpPr>
            <a:stCxn xmlns:a="http://schemas.openxmlformats.org/drawingml/2006/main" id="274" idx="3"/>
            <a:endCxn xmlns:a="http://schemas.openxmlformats.org/drawingml/2006/main" id="275" idx="1"/>
          </p:cNvCxnSpPr>
          <p:nvPr/>
        </p:nvCxnSpPr>
        <p:spPr>
          <a:xfrm xmlns:a="http://schemas.openxmlformats.org/drawingml/2006/main">
            <a:off x="4305300" y="4191000"/>
            <a:ext cx="476250"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708" name="Straight Arrow Connector 565"/>
          <p:cNvCxnSpPr>
            <a:stCxn xmlns:a="http://schemas.openxmlformats.org/drawingml/2006/main" id="275" idx="3"/>
            <a:endCxn xmlns:a="http://schemas.openxmlformats.org/drawingml/2006/main" id="276" idx="1"/>
          </p:cNvCxnSpPr>
          <p:nvPr/>
        </p:nvCxnSpPr>
        <p:spPr>
          <a:xfrm xmlns:a="http://schemas.openxmlformats.org/drawingml/2006/main">
            <a:off x="6448425" y="4191000"/>
            <a:ext cx="476250"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709" name="Straight Arrow Connector 566"/>
          <p:cNvCxnSpPr>
            <a:stCxn xmlns:a="http://schemas.openxmlformats.org/drawingml/2006/main" id="276" idx="3"/>
            <a:endCxn xmlns:a="http://schemas.openxmlformats.org/drawingml/2006/main" id="277" idx="1"/>
          </p:cNvCxnSpPr>
          <p:nvPr/>
        </p:nvCxnSpPr>
        <p:spPr>
          <a:xfrm xmlns:a="http://schemas.openxmlformats.org/drawingml/2006/main">
            <a:off x="8591550" y="4191000"/>
            <a:ext cx="476250"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sp>
        <p:nvSpPr>
          <p:cNvPr id="281" name="l7-auth">
            <a:extLst xmlns:a="http://schemas.openxmlformats.org/drawingml/2006/main">
              <a:ext uri="{FF2B5EF4-FFF2-40B4-BE49-F238E27FC236}">
                <a16:creationId xmlns:a16="http://schemas.microsoft.com/office/drawing/2014/main" id="{19409721-CEAB-43EC-B6AF-F948D7EFDB13}"/>
              </a:ext>
            </a:extLst>
          </p:cNvPr>
          <p:cNvSpPr>
            <a:spLocks xmlns:a="http://schemas.openxmlformats.org/drawingml/2006/main" noGrp="1"/>
          </p:cNvSpPr>
          <p:nvPr/>
        </p:nvSpPr>
        <p:spPr>
          <a:xfrm xmlns:a="http://schemas.openxmlformats.org/drawingml/2006/main">
            <a:off x="2343150" y="4914900"/>
            <a:ext cx="1381125" cy="495300"/>
          </a:xfrm>
          <a:prstGeom xmlns:a="http://schemas.openxmlformats.org/drawingml/2006/main" prst="roundRect">
            <a:avLst>
              <a:gd name="adj" fmla="val 15385"/>
            </a:avLst>
          </a:prstGeom>
          <a:solidFill xmlns:a="http://schemas.openxmlformats.org/drawingml/2006/main">
            <a:srgbClr val="ECF7F6"/>
          </a:solidFill>
          <a:ln xmlns:a="http://schemas.openxmlformats.org/drawingml/2006/main" w="13335">
            <a:solidFill>
              <a:srgbClr val="287D78"/>
            </a:solidFill>
          </a:ln>
        </p:spPr>
        <p:txBody>
          <a:bodyPr xmlns:a="http://schemas.openxmlformats.org/drawingml/2006/main" anchor="ctr">
            <a:normAutofit fontScale="98213" lnSpcReduction="10000"/>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Authenticate</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request</a:t>
            </a:r>
          </a:p>
        </p:txBody>
      </p:sp>
      <p:sp>
        <p:nvSpPr>
          <p:cNvPr id="282" name="l7-consent">
            <a:extLst xmlns:a="http://schemas.openxmlformats.org/drawingml/2006/main">
              <a:ext uri="{FF2B5EF4-FFF2-40B4-BE49-F238E27FC236}">
                <a16:creationId xmlns:a16="http://schemas.microsoft.com/office/drawing/2014/main" id="{DDB05C49-B6EE-4642-97F5-1CF0226CCCE5}"/>
              </a:ext>
            </a:extLst>
          </p:cNvPr>
          <p:cNvSpPr>
            <a:spLocks xmlns:a="http://schemas.openxmlformats.org/drawingml/2006/main" noGrp="1"/>
          </p:cNvSpPr>
          <p:nvPr/>
        </p:nvSpPr>
        <p:spPr>
          <a:xfrm xmlns:a="http://schemas.openxmlformats.org/drawingml/2006/main">
            <a:off x="3981450" y="4914900"/>
            <a:ext cx="1428750" cy="495300"/>
          </a:xfrm>
          <a:prstGeom xmlns:a="http://schemas.openxmlformats.org/drawingml/2006/main" prst="roundRect">
            <a:avLst>
              <a:gd name="adj" fmla="val 15385"/>
            </a:avLst>
          </a:prstGeom>
          <a:solidFill xmlns:a="http://schemas.openxmlformats.org/drawingml/2006/main">
            <a:srgbClr val="ECF7F6"/>
          </a:solidFill>
          <a:ln xmlns:a="http://schemas.openxmlformats.org/drawingml/2006/main" w="13335">
            <a:solidFill>
              <a:srgbClr val="287D78"/>
            </a:solidFill>
          </a:ln>
        </p:spPr>
        <p:txBody>
          <a:bodyPr xmlns:a="http://schemas.openxmlformats.org/drawingml/2006/main" anchor="ctr">
            <a:normAutofit fontScale="98213" lnSpcReduction="10000"/>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Consent and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authorization</a:t>
            </a:r>
          </a:p>
        </p:txBody>
      </p:sp>
      <p:sp>
        <p:nvSpPr>
          <p:cNvPr id="283" name="l7-infer">
            <a:extLst xmlns:a="http://schemas.openxmlformats.org/drawingml/2006/main">
              <a:ext uri="{FF2B5EF4-FFF2-40B4-BE49-F238E27FC236}">
                <a16:creationId xmlns:a16="http://schemas.microsoft.com/office/drawing/2014/main" id="{8F97F9D7-557C-4EC7-8ACC-3C7C633777BC}"/>
              </a:ext>
            </a:extLst>
          </p:cNvPr>
          <p:cNvSpPr>
            <a:spLocks xmlns:a="http://schemas.openxmlformats.org/drawingml/2006/main" noGrp="1"/>
          </p:cNvSpPr>
          <p:nvPr/>
        </p:nvSpPr>
        <p:spPr>
          <a:xfrm xmlns:a="http://schemas.openxmlformats.org/drawingml/2006/main">
            <a:off x="5667375" y="4914900"/>
            <a:ext cx="1619250" cy="495300"/>
          </a:xfrm>
          <a:prstGeom xmlns:a="http://schemas.openxmlformats.org/drawingml/2006/main" prst="roundRect">
            <a:avLst>
              <a:gd name="adj" fmla="val 15385"/>
            </a:avLst>
          </a:prstGeom>
          <a:solidFill xmlns:a="http://schemas.openxmlformats.org/drawingml/2006/main">
            <a:srgbClr val="ECF7F6"/>
          </a:solidFill>
          <a:ln xmlns:a="http://schemas.openxmlformats.org/drawingml/2006/main" w="13335">
            <a:solidFill>
              <a:srgbClr val="287D78"/>
            </a:solidFill>
          </a:ln>
        </p:spPr>
        <p:txBody>
          <a:bodyPr xmlns:a="http://schemas.openxmlformats.org/drawingml/2006/main" anchor="ctr">
            <a:normAutofit fontScale="88991"/>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Encrypted or</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confidential inference</a:t>
            </a:r>
          </a:p>
        </p:txBody>
      </p:sp>
      <p:sp>
        <p:nvSpPr>
          <p:cNvPr id="284" name="l7-decrypt">
            <a:extLst xmlns:a="http://schemas.openxmlformats.org/drawingml/2006/main">
              <a:ext uri="{FF2B5EF4-FFF2-40B4-BE49-F238E27FC236}">
                <a16:creationId xmlns:a16="http://schemas.microsoft.com/office/drawing/2014/main" id="{4F4AF1CD-710F-4C7B-B7AA-0799FF8D502B}"/>
              </a:ext>
            </a:extLst>
          </p:cNvPr>
          <p:cNvSpPr>
            <a:spLocks xmlns:a="http://schemas.openxmlformats.org/drawingml/2006/main" noGrp="1"/>
          </p:cNvSpPr>
          <p:nvPr/>
        </p:nvSpPr>
        <p:spPr>
          <a:xfrm xmlns:a="http://schemas.openxmlformats.org/drawingml/2006/main">
            <a:off x="7543800" y="4914900"/>
            <a:ext cx="1476375" cy="495300"/>
          </a:xfrm>
          <a:prstGeom xmlns:a="http://schemas.openxmlformats.org/drawingml/2006/main" prst="roundRect">
            <a:avLst>
              <a:gd name="adj" fmla="val 15385"/>
            </a:avLst>
          </a:prstGeom>
          <a:solidFill xmlns:a="http://schemas.openxmlformats.org/drawingml/2006/main">
            <a:srgbClr val="ECF7F6"/>
          </a:solidFill>
          <a:ln xmlns:a="http://schemas.openxmlformats.org/drawingml/2006/main" w="13335">
            <a:solidFill>
              <a:srgbClr val="287D78"/>
            </a:solidFill>
          </a:ln>
        </p:spPr>
        <p:txBody>
          <a:bodyPr xmlns:a="http://schemas.openxmlformats.org/drawingml/2006/main" anchor="ctr">
            <a:normAutofit fontScale="98213" lnSpcReduction="10000"/>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Controlled result</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decryption</a:t>
            </a:r>
          </a:p>
        </p:txBody>
      </p:sp>
      <p:sp>
        <p:nvSpPr>
          <p:cNvPr id="285" name="l7-output">
            <a:extLst xmlns:a="http://schemas.openxmlformats.org/drawingml/2006/main">
              <a:ext uri="{FF2B5EF4-FFF2-40B4-BE49-F238E27FC236}">
                <a16:creationId xmlns:a16="http://schemas.microsoft.com/office/drawing/2014/main" id="{754DEA59-7302-40AB-B1C4-EE419E527356}"/>
              </a:ext>
            </a:extLst>
          </p:cNvPr>
          <p:cNvSpPr>
            <a:spLocks xmlns:a="http://schemas.openxmlformats.org/drawingml/2006/main" noGrp="1"/>
          </p:cNvSpPr>
          <p:nvPr/>
        </p:nvSpPr>
        <p:spPr>
          <a:xfrm xmlns:a="http://schemas.openxmlformats.org/drawingml/2006/main">
            <a:off x="9277350" y="4914900"/>
            <a:ext cx="1762125" cy="495300"/>
          </a:xfrm>
          <a:prstGeom xmlns:a="http://schemas.openxmlformats.org/drawingml/2006/main" prst="roundRect">
            <a:avLst>
              <a:gd name="adj" fmla="val 15385"/>
            </a:avLst>
          </a:prstGeom>
          <a:solidFill xmlns:a="http://schemas.openxmlformats.org/drawingml/2006/main">
            <a:srgbClr val="ECF7F6"/>
          </a:solidFill>
          <a:ln xmlns:a="http://schemas.openxmlformats.org/drawingml/2006/main" w="13335">
            <a:solidFill>
              <a:srgbClr val="287D78"/>
            </a:solidFill>
          </a:ln>
        </p:spPr>
        <p:txBody>
          <a:bodyPr xmlns:a="http://schemas.openxmlformats.org/drawingml/2006/main" anchor="ctr">
            <a:normAutofit fontScale="98213" lnSpcReduction="10000"/>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Minimized, rate-limited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and audited output</a:t>
            </a:r>
          </a:p>
        </p:txBody>
      </p:sp>
      <p:cxnSp>
        <p:nvCxnSpPr>
          <p:cNvPr id="715" name="Straight Arrow Connector 572"/>
          <p:cNvCxnSpPr>
            <a:stCxn xmlns:a="http://schemas.openxmlformats.org/drawingml/2006/main" id="281" idx="3"/>
            <a:endCxn xmlns:a="http://schemas.openxmlformats.org/drawingml/2006/main" id="282" idx="1"/>
          </p:cNvCxnSpPr>
          <p:nvPr/>
        </p:nvCxnSpPr>
        <p:spPr>
          <a:xfrm xmlns:a="http://schemas.openxmlformats.org/drawingml/2006/main">
            <a:off x="3724275" y="5162550"/>
            <a:ext cx="2571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716" name="Straight Arrow Connector 573"/>
          <p:cNvCxnSpPr>
            <a:stCxn xmlns:a="http://schemas.openxmlformats.org/drawingml/2006/main" id="282" idx="3"/>
            <a:endCxn xmlns:a="http://schemas.openxmlformats.org/drawingml/2006/main" id="283" idx="1"/>
          </p:cNvCxnSpPr>
          <p:nvPr/>
        </p:nvCxnSpPr>
        <p:spPr>
          <a:xfrm xmlns:a="http://schemas.openxmlformats.org/drawingml/2006/main">
            <a:off x="5410200" y="5162550"/>
            <a:ext cx="2571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717" name="Straight Arrow Connector 574"/>
          <p:cNvCxnSpPr>
            <a:stCxn xmlns:a="http://schemas.openxmlformats.org/drawingml/2006/main" id="283" idx="3"/>
            <a:endCxn xmlns:a="http://schemas.openxmlformats.org/drawingml/2006/main" id="284" idx="1"/>
          </p:cNvCxnSpPr>
          <p:nvPr/>
        </p:nvCxnSpPr>
        <p:spPr>
          <a:xfrm xmlns:a="http://schemas.openxmlformats.org/drawingml/2006/main">
            <a:off x="7286625" y="5162550"/>
            <a:ext cx="2571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718" name="Straight Arrow Connector 575"/>
          <p:cNvCxnSpPr>
            <a:stCxn xmlns:a="http://schemas.openxmlformats.org/drawingml/2006/main" id="284" idx="3"/>
            <a:endCxn xmlns:a="http://schemas.openxmlformats.org/drawingml/2006/main" id="285" idx="1"/>
          </p:cNvCxnSpPr>
          <p:nvPr/>
        </p:nvCxnSpPr>
        <p:spPr>
          <a:xfrm xmlns:a="http://schemas.openxmlformats.org/drawingml/2006/main">
            <a:off x="9020175" y="5162550"/>
            <a:ext cx="2571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719" name="Connector: Elbow 576"/>
          <p:cNvCxnSpPr>
            <a:stCxn xmlns:a="http://schemas.openxmlformats.org/drawingml/2006/main" id="255" idx="2"/>
            <a:endCxn xmlns:a="http://schemas.openxmlformats.org/drawingml/2006/main" id="259" idx="0"/>
          </p:cNvCxnSpPr>
          <p:nvPr/>
        </p:nvCxnSpPr>
        <p:spPr>
          <a:xfrm xmlns:a="http://schemas.openxmlformats.org/drawingml/2006/main" flipH="1">
            <a:off x="3033713" y="2038350"/>
            <a:ext cx="6991350" cy="685800"/>
          </a:xfrm>
          <a:prstGeom xmlns:a="http://schemas.openxmlformats.org/drawingml/2006/main" prst="bentConnector4">
            <a:avLst>
              <a:gd name="adj1" fmla="val 0"/>
              <a:gd name="adj2" fmla="val 50000"/>
            </a:avLst>
          </a:prstGeom>
          <a:ln xmlns:a="http://schemas.openxmlformats.org/drawingml/2006/main" w="16193">
            <a:solidFill>
              <a:srgbClr val="7A8DA5"/>
            </a:solidFill>
            <a:prstDash val="solid"/>
            <a:headEnd type="none" w="med" len="med"/>
            <a:tailEnd type="triangle" w="sm" len="sm"/>
          </a:ln>
        </p:spPr>
      </p:cxnSp>
      <p:cxnSp>
        <p:nvCxnSpPr>
          <p:cNvPr id="720" name="Connector: Elbow 577"/>
          <p:cNvCxnSpPr>
            <a:stCxn xmlns:a="http://schemas.openxmlformats.org/drawingml/2006/main" id="268" idx="2"/>
            <a:endCxn xmlns:a="http://schemas.openxmlformats.org/drawingml/2006/main" id="274" idx="0"/>
          </p:cNvCxnSpPr>
          <p:nvPr/>
        </p:nvCxnSpPr>
        <p:spPr>
          <a:xfrm xmlns:a="http://schemas.openxmlformats.org/drawingml/2006/main" flipH="1">
            <a:off x="3471863" y="2847975"/>
            <a:ext cx="7362825" cy="1095375"/>
          </a:xfrm>
          <a:prstGeom xmlns:a="http://schemas.openxmlformats.org/drawingml/2006/main" prst="bentConnector4">
            <a:avLst>
              <a:gd name="adj1" fmla="val 0"/>
              <a:gd name="adj2" fmla="val 50000"/>
            </a:avLst>
          </a:prstGeom>
          <a:ln xmlns:a="http://schemas.openxmlformats.org/drawingml/2006/main" w="16193">
            <a:solidFill>
              <a:srgbClr val="2E7D4F"/>
            </a:solidFill>
            <a:prstDash val="solid"/>
            <a:headEnd type="none" w="med" len="med"/>
            <a:tailEnd type="triangle" w="sm" len="sm"/>
          </a:ln>
        </p:spPr>
      </p:cxnSp>
      <p:cxnSp>
        <p:nvCxnSpPr>
          <p:cNvPr id="721" name="Connector: Elbow 578"/>
          <p:cNvCxnSpPr>
            <a:stCxn xmlns:a="http://schemas.openxmlformats.org/drawingml/2006/main" id="277" idx="2"/>
            <a:endCxn xmlns:a="http://schemas.openxmlformats.org/drawingml/2006/main" id="281" idx="0"/>
          </p:cNvCxnSpPr>
          <p:nvPr/>
        </p:nvCxnSpPr>
        <p:spPr>
          <a:xfrm xmlns:a="http://schemas.openxmlformats.org/drawingml/2006/main" flipH="1">
            <a:off x="3033713" y="4438650"/>
            <a:ext cx="6772275" cy="476250"/>
          </a:xfrm>
          <a:prstGeom xmlns:a="http://schemas.openxmlformats.org/drawingml/2006/main" prst="bentConnector4">
            <a:avLst>
              <a:gd name="adj1" fmla="val 0"/>
              <a:gd name="adj2" fmla="val 50000"/>
            </a:avLst>
          </a:prstGeom>
          <a:ln xmlns:a="http://schemas.openxmlformats.org/drawingml/2006/main" w="16193">
            <a:solidFill>
              <a:srgbClr val="287D78"/>
            </a:solidFill>
            <a:prstDash val="dash"/>
            <a:headEnd type="none" w="med" len="med"/>
            <a:tailEnd type="triangle" w="sm" len="sm"/>
          </a:ln>
        </p:spPr>
      </p:cxnSp>
      <p:sp>
        <p:nvSpPr>
          <p:cNvPr id="293" name="release-boundary-note">
            <a:extLst xmlns:a="http://schemas.openxmlformats.org/drawingml/2006/main">
              <a:ext uri="{FF2B5EF4-FFF2-40B4-BE49-F238E27FC236}">
                <a16:creationId xmlns:a16="http://schemas.microsoft.com/office/drawing/2014/main" id="{7E225858-8FF8-4DC9-944C-EB0B9F859513}"/>
              </a:ext>
            </a:extLst>
          </p:cNvPr>
          <p:cNvSpPr>
            <a:spLocks xmlns:a="http://schemas.openxmlformats.org/drawingml/2006/main" noGrp="1"/>
          </p:cNvSpPr>
          <p:nvPr/>
        </p:nvSpPr>
        <p:spPr>
          <a:xfrm xmlns:a="http://schemas.openxmlformats.org/drawingml/2006/main">
            <a:off x="2190750" y="5695950"/>
            <a:ext cx="7810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003"/>
          </a:bodyPr>
          <a:lstStyle xmlns:a="http://schemas.openxmlformats.org/drawingml/2006/main"/>
          <a:p xmlns:a="http://schemas.openxmlformats.org/drawingml/2006/main">
            <a:pPr algn="ctr">
              <a:buNone/>
              <a:defRPr sz="1200" i="1">
                <a:solidFill>
                  <a:srgbClr val="52606D"/>
                </a:solidFill>
                <a:latin typeface="Arial"/>
                <a:ea typeface="Arial"/>
                <a:cs typeface="Arial"/>
              </a:defRPr>
            </a:pPr>
            <a:r>
              <a:rPr sz="1200" i="1">
                <a:solidFill>
                  <a:srgbClr val="52606D"/>
                </a:solidFill>
                <a:latin typeface="Arial"/>
                <a:ea typeface="Arial"/>
                <a:cs typeface="Arial"/>
              </a:rPr>
              <a:t>Only the validated aggregate can become the global model. The audit ledger stores evidence, not model ciphertexts.</a:t>
            </a:r>
          </a:p>
        </p:txBody>
      </p:sp>
    </p:spTree>
    <p:extLst>
      <p:ext uri="{BB962C8B-B14F-4D97-AF65-F5344CB8AC3E}">
        <p14:creationId xmlns:p14="http://schemas.microsoft.com/office/powerpoint/2010/main" val="224468282"/>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Problem Formulation</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20</a:t>
            </a:r>
            <a:endParaRPr sz="2800"/>
          </a:p>
        </p:txBody>
      </p:sp>
      <p:pic>
        <p:nvPicPr>
          <p:cNvPr id="266"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9510d6b4d57a4eff">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67"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a97ee71bdeb645c2">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analysis-heading-0">
            <a:extLst xmlns:a="http://schemas.openxmlformats.org/drawingml/2006/main">
              <a:ext uri="{FF2B5EF4-FFF2-40B4-BE49-F238E27FC236}">
                <a16:creationId xmlns:a16="http://schemas.microsoft.com/office/drawing/2014/main" id="{3ECCB687-E844-4C46-8D87-97DED2082525}"/>
              </a:ext>
            </a:extLst>
          </p:cNvPr>
          <p:cNvSpPr>
            <a:spLocks xmlns:a="http://schemas.openxmlformats.org/drawingml/2006/main" noGrp="1"/>
          </p:cNvSpPr>
          <p:nvPr/>
        </p:nvSpPr>
        <p:spPr>
          <a:xfrm xmlns:a="http://schemas.openxmlformats.org/drawingml/2006/main">
            <a:off x="904875"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Learning objective</a:t>
            </a:r>
          </a:p>
        </p:txBody>
      </p:sp>
      <p:sp>
        <p:nvSpPr>
          <p:cNvPr id="221" name="rule-95-205">
            <a:extLst xmlns:a="http://schemas.openxmlformats.org/drawingml/2006/main">
              <a:ext uri="{FF2B5EF4-FFF2-40B4-BE49-F238E27FC236}">
                <a16:creationId xmlns:a16="http://schemas.microsoft.com/office/drawing/2014/main" id="{352B6B40-0702-4168-8048-430375DFED3B}"/>
              </a:ext>
            </a:extLst>
          </p:cNvPr>
          <p:cNvSpPr>
            <a:spLocks xmlns:a="http://schemas.openxmlformats.org/drawingml/2006/main" noGrp="1"/>
          </p:cNvSpPr>
          <p:nvPr/>
        </p:nvSpPr>
        <p:spPr>
          <a:xfrm xmlns:a="http://schemas.openxmlformats.org/drawingml/2006/main">
            <a:off x="904875" y="1952625"/>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analysis-body-0">
            <a:extLst xmlns:a="http://schemas.openxmlformats.org/drawingml/2006/main">
              <a:ext uri="{FF2B5EF4-FFF2-40B4-BE49-F238E27FC236}">
                <a16:creationId xmlns:a16="http://schemas.microsoft.com/office/drawing/2014/main" id="{E1145757-13C9-434A-9AA9-83512B8A0F01}"/>
              </a:ext>
            </a:extLst>
          </p:cNvPr>
          <p:cNvSpPr>
            <a:spLocks xmlns:a="http://schemas.openxmlformats.org/drawingml/2006/main" noGrp="1"/>
          </p:cNvSpPr>
          <p:nvPr/>
        </p:nvSpPr>
        <p:spPr>
          <a:xfrm xmlns:a="http://schemas.openxmlformats.org/drawingml/2006/main">
            <a:off x="904875"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F(w) = Σₖ (nₖ/N)Fₖ(w)</a:t>
            </a:r>
          </a:p>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Fₖ(w) = (1/nₖ)Σᵢ ℓ(w; xᵢ, yᵢ)</a:t>
            </a:r>
          </a:p>
        </p:txBody>
      </p:sp>
      <p:sp>
        <p:nvSpPr>
          <p:cNvPr id="223" name="analysis-heading-1">
            <a:extLst xmlns:a="http://schemas.openxmlformats.org/drawingml/2006/main">
              <a:ext uri="{FF2B5EF4-FFF2-40B4-BE49-F238E27FC236}">
                <a16:creationId xmlns:a16="http://schemas.microsoft.com/office/drawing/2014/main" id="{67D7186D-BE3C-4FC7-BC15-C60486E3FADA}"/>
              </a:ext>
            </a:extLst>
          </p:cNvPr>
          <p:cNvSpPr>
            <a:spLocks xmlns:a="http://schemas.openxmlformats.org/drawingml/2006/main" noGrp="1"/>
          </p:cNvSpPr>
          <p:nvPr/>
        </p:nvSpPr>
        <p:spPr>
          <a:xfrm xmlns:a="http://schemas.openxmlformats.org/drawingml/2006/main">
            <a:off x="6381750"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Protected local update</a:t>
            </a:r>
          </a:p>
        </p:txBody>
      </p:sp>
      <p:sp>
        <p:nvSpPr>
          <p:cNvPr id="224" name="rule-670-205">
            <a:extLst xmlns:a="http://schemas.openxmlformats.org/drawingml/2006/main">
              <a:ext uri="{FF2B5EF4-FFF2-40B4-BE49-F238E27FC236}">
                <a16:creationId xmlns:a16="http://schemas.microsoft.com/office/drawing/2014/main" id="{D6C87596-8434-4BD7-9CCB-4FE6EA7D1472}"/>
              </a:ext>
            </a:extLst>
          </p:cNvPr>
          <p:cNvSpPr>
            <a:spLocks xmlns:a="http://schemas.openxmlformats.org/drawingml/2006/main" noGrp="1"/>
          </p:cNvSpPr>
          <p:nvPr/>
        </p:nvSpPr>
        <p:spPr>
          <a:xfrm xmlns:a="http://schemas.openxmlformats.org/drawingml/2006/main">
            <a:off x="6381750" y="1952625"/>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analysis-body-1">
            <a:extLst xmlns:a="http://schemas.openxmlformats.org/drawingml/2006/main">
              <a:ext uri="{FF2B5EF4-FFF2-40B4-BE49-F238E27FC236}">
                <a16:creationId xmlns:a16="http://schemas.microsoft.com/office/drawing/2014/main" id="{F7809C9B-0102-4004-9388-E586B6FE72E6}"/>
              </a:ext>
            </a:extLst>
          </p:cNvPr>
          <p:cNvSpPr>
            <a:spLocks xmlns:a="http://schemas.openxmlformats.org/drawingml/2006/main" noGrp="1"/>
          </p:cNvSpPr>
          <p:nvPr/>
        </p:nvSpPr>
        <p:spPr>
          <a:xfrm xmlns:a="http://schemas.openxmlformats.org/drawingml/2006/main">
            <a:off x="6381750"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ḡₖᵗ = gₖᵗ / max(1, ||gₖᵗ||₂/C)</a:t>
            </a:r>
          </a:p>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uₖᵗ = Qₛₜ(ḡₖᵗ + zₖᵗ + eₖᵗ)</a:t>
            </a:r>
          </a:p>
        </p:txBody>
      </p:sp>
      <p:sp>
        <p:nvSpPr>
          <p:cNvPr id="226" name="analysis-heading-2">
            <a:extLst xmlns:a="http://schemas.openxmlformats.org/drawingml/2006/main">
              <a:ext uri="{FF2B5EF4-FFF2-40B4-BE49-F238E27FC236}">
                <a16:creationId xmlns:a16="http://schemas.microsoft.com/office/drawing/2014/main" id="{963F3648-552A-4F3B-B427-1B855DDDFDCD}"/>
              </a:ext>
            </a:extLst>
          </p:cNvPr>
          <p:cNvSpPr>
            <a:spLocks xmlns:a="http://schemas.openxmlformats.org/drawingml/2006/main" noGrp="1"/>
          </p:cNvSpPr>
          <p:nvPr/>
        </p:nvSpPr>
        <p:spPr>
          <a:xfrm xmlns:a="http://schemas.openxmlformats.org/drawingml/2006/main">
            <a:off x="904875"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Encrypted aggregation</a:t>
            </a:r>
          </a:p>
        </p:txBody>
      </p:sp>
      <p:sp>
        <p:nvSpPr>
          <p:cNvPr id="227" name="rule-95-430">
            <a:extLst xmlns:a="http://schemas.openxmlformats.org/drawingml/2006/main">
              <a:ext uri="{FF2B5EF4-FFF2-40B4-BE49-F238E27FC236}">
                <a16:creationId xmlns:a16="http://schemas.microsoft.com/office/drawing/2014/main" id="{C2B4816D-3834-4F9F-9806-0BAF559D77AA}"/>
              </a:ext>
            </a:extLst>
          </p:cNvPr>
          <p:cNvSpPr>
            <a:spLocks xmlns:a="http://schemas.openxmlformats.org/drawingml/2006/main" noGrp="1"/>
          </p:cNvSpPr>
          <p:nvPr/>
        </p:nvSpPr>
        <p:spPr>
          <a:xfrm xmlns:a="http://schemas.openxmlformats.org/drawingml/2006/main">
            <a:off x="904875" y="4095750"/>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analysis-body-2">
            <a:extLst xmlns:a="http://schemas.openxmlformats.org/drawingml/2006/main">
              <a:ext uri="{FF2B5EF4-FFF2-40B4-BE49-F238E27FC236}">
                <a16:creationId xmlns:a16="http://schemas.microsoft.com/office/drawing/2014/main" id="{C30C5366-B15D-42D8-84BE-05EB22CCA644}"/>
              </a:ext>
            </a:extLst>
          </p:cNvPr>
          <p:cNvSpPr>
            <a:spLocks xmlns:a="http://schemas.openxmlformats.org/drawingml/2006/main" noGrp="1"/>
          </p:cNvSpPr>
          <p:nvPr/>
        </p:nvSpPr>
        <p:spPr>
          <a:xfrm xmlns:a="http://schemas.openxmlformats.org/drawingml/2006/main">
            <a:off x="904875"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cₜ = ⊕ₖ∈Aₜ Encₚₖ(uₖᵗ)</a:t>
            </a:r>
          </a:p>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wₜ₊₁ = wₜ − ηₜ Decₜ(cₜ)/|Aₜ|</a:t>
            </a:r>
          </a:p>
        </p:txBody>
      </p:sp>
      <p:sp>
        <p:nvSpPr>
          <p:cNvPr id="229" name="analysis-heading-3">
            <a:extLst xmlns:a="http://schemas.openxmlformats.org/drawingml/2006/main">
              <a:ext uri="{FF2B5EF4-FFF2-40B4-BE49-F238E27FC236}">
                <a16:creationId xmlns:a16="http://schemas.microsoft.com/office/drawing/2014/main" id="{8579A858-5086-44ED-9B76-162A3A49E573}"/>
              </a:ext>
            </a:extLst>
          </p:cNvPr>
          <p:cNvSpPr>
            <a:spLocks xmlns:a="http://schemas.openxmlformats.org/drawingml/2006/main" noGrp="1"/>
          </p:cNvSpPr>
          <p:nvPr/>
        </p:nvSpPr>
        <p:spPr>
          <a:xfrm xmlns:a="http://schemas.openxmlformats.org/drawingml/2006/main">
            <a:off x="6381750"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Design constraints</a:t>
            </a:r>
          </a:p>
        </p:txBody>
      </p:sp>
      <p:sp>
        <p:nvSpPr>
          <p:cNvPr id="230" name="rule-670-430">
            <a:extLst xmlns:a="http://schemas.openxmlformats.org/drawingml/2006/main">
              <a:ext uri="{FF2B5EF4-FFF2-40B4-BE49-F238E27FC236}">
                <a16:creationId xmlns:a16="http://schemas.microsoft.com/office/drawing/2014/main" id="{36A2713B-9577-45B2-BDBB-D5A09125D637}"/>
              </a:ext>
            </a:extLst>
          </p:cNvPr>
          <p:cNvSpPr>
            <a:spLocks xmlns:a="http://schemas.openxmlformats.org/drawingml/2006/main" noGrp="1"/>
          </p:cNvSpPr>
          <p:nvPr/>
        </p:nvSpPr>
        <p:spPr>
          <a:xfrm xmlns:a="http://schemas.openxmlformats.org/drawingml/2006/main">
            <a:off x="6381750" y="4095750"/>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analysis-body-3">
            <a:extLst xmlns:a="http://schemas.openxmlformats.org/drawingml/2006/main">
              <a:ext uri="{FF2B5EF4-FFF2-40B4-BE49-F238E27FC236}">
                <a16:creationId xmlns:a16="http://schemas.microsoft.com/office/drawing/2014/main" id="{3C4AA0AE-85F2-42F7-AEAD-380C38D88CF9}"/>
              </a:ext>
            </a:extLst>
          </p:cNvPr>
          <p:cNvSpPr>
            <a:spLocks xmlns:a="http://schemas.openxmlformats.org/drawingml/2006/main" noGrp="1"/>
          </p:cNvSpPr>
          <p:nvPr/>
        </p:nvSpPr>
        <p:spPr>
          <a:xfrm xmlns:a="http://schemas.openxmlformats.org/drawingml/2006/main">
            <a:off x="6381750"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Minimize final loss and serialized bytes subject to record-level DP, verified aggregation, threshold-authorized release, and auditable execution.</a:t>
            </a:r>
          </a:p>
        </p:txBody>
      </p:sp>
      <p:sp>
        <p:nvSpPr>
          <p:cNvPr id="234" name="visible-footer-date-17">
            <a:extLst xmlns:a="http://schemas.openxmlformats.org/drawingml/2006/main">
              <a:ext uri="{FF2B5EF4-FFF2-40B4-BE49-F238E27FC236}">
                <a16:creationId xmlns:a16="http://schemas.microsoft.com/office/drawing/2014/main" id="{4AC84D05-C535-4C09-A644-6BEFDB21436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37" name="problem-formulation-explanation-cover">
            <a:extLst xmlns:a="http://schemas.openxmlformats.org/drawingml/2006/main">
              <a:ext uri="{FF2B5EF4-FFF2-40B4-BE49-F238E27FC236}">
                <a16:creationId xmlns:a16="http://schemas.microsoft.com/office/drawing/2014/main" id="{84699A72-0121-48F9-83F4-99E981AB73AF}"/>
              </a:ext>
            </a:extLst>
          </p:cNvPr>
          <p:cNvSpPr>
            <a:spLocks xmlns:a="http://schemas.openxmlformats.org/drawingml/2006/main" noGrp="1"/>
          </p:cNvSpPr>
          <p:nvPr/>
        </p:nvSpPr>
        <p:spPr>
          <a:xfrm xmlns:a="http://schemas.openxmlformats.org/drawingml/2006/main">
            <a:off x="400050" y="1200150"/>
            <a:ext cx="11391900" cy="49530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38" name="learning-objective-title">
            <a:extLst xmlns:a="http://schemas.openxmlformats.org/drawingml/2006/main">
              <a:ext uri="{FF2B5EF4-FFF2-40B4-BE49-F238E27FC236}">
                <a16:creationId xmlns:a16="http://schemas.microsoft.com/office/drawing/2014/main" id="{79B670E3-A9CD-4346-BE6C-9728D4174518}"/>
              </a:ext>
            </a:extLst>
          </p:cNvPr>
          <p:cNvSpPr>
            <a:spLocks xmlns:a="http://schemas.openxmlformats.org/drawingml/2006/main" noGrp="1"/>
          </p:cNvSpPr>
          <p:nvPr/>
        </p:nvSpPr>
        <p:spPr>
          <a:xfrm xmlns:a="http://schemas.openxmlformats.org/drawingml/2006/main">
            <a:off x="904875" y="1362075"/>
            <a:ext cx="4810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981" lnSpcReduction="10000"/>
          </a:bodyPr>
          <a:lstStyle xmlns:a="http://schemas.openxmlformats.org/drawingml/2006/main"/>
          <a:p xmlns:a="http://schemas.openxmlformats.org/drawingml/2006/main">
            <a:pPr>
              <a:buNone/>
              <a:defRPr sz="2025" b="1">
                <a:solidFill>
                  <a:srgbClr val="008A46"/>
                </a:solidFill>
                <a:latin typeface="Arial"/>
                <a:ea typeface="Arial"/>
                <a:cs typeface="Arial"/>
              </a:defRPr>
            </a:pPr>
            <a:r>
              <a:rPr sz="2025" b="1">
                <a:solidFill>
                  <a:srgbClr val="008A46"/>
                </a:solidFill>
                <a:latin typeface="Arial"/>
                <a:ea typeface="Arial"/>
                <a:cs typeface="Arial"/>
              </a:rPr>
              <a:t>Learning objective</a:t>
            </a:r>
          </a:p>
        </p:txBody>
      </p:sp>
      <p:sp>
        <p:nvSpPr>
          <p:cNvPr id="239" name="learning-objective-rule">
            <a:extLst xmlns:a="http://schemas.openxmlformats.org/drawingml/2006/main">
              <a:ext uri="{FF2B5EF4-FFF2-40B4-BE49-F238E27FC236}">
                <a16:creationId xmlns:a16="http://schemas.microsoft.com/office/drawing/2014/main" id="{ACABD4A9-60F2-4789-9336-ACDD7ECA7737}"/>
              </a:ext>
            </a:extLst>
          </p:cNvPr>
          <p:cNvSpPr>
            <a:spLocks xmlns:a="http://schemas.openxmlformats.org/drawingml/2006/main" noGrp="1"/>
          </p:cNvSpPr>
          <p:nvPr/>
        </p:nvSpPr>
        <p:spPr>
          <a:xfrm xmlns:a="http://schemas.openxmlformats.org/drawingml/2006/main">
            <a:off x="904875" y="1762125"/>
            <a:ext cx="4810125" cy="28575"/>
          </a:xfrm>
          <a:prstGeom xmlns:a="http://schemas.openxmlformats.org/drawingml/2006/main" prst="rect">
            <a:avLst/>
          </a:prstGeom>
          <a:solidFill xmlns:a="http://schemas.openxmlformats.org/drawingml/2006/main">
            <a:srgbClr val="008A46"/>
          </a:solidFill>
          <a:ln xmlns:a="http://schemas.openxmlformats.org/drawingml/2006/main" w="0">
            <a:noFill/>
          </a:ln>
        </p:spPr>
      </p:sp>
      <p:sp>
        <p:nvSpPr>
          <p:cNvPr id="240" name="learning-objective-equation">
            <a:extLst xmlns:a="http://schemas.openxmlformats.org/drawingml/2006/main">
              <a:ext uri="{FF2B5EF4-FFF2-40B4-BE49-F238E27FC236}">
                <a16:creationId xmlns:a16="http://schemas.microsoft.com/office/drawing/2014/main" id="{0C168608-0CA2-4D92-9DF3-4BCF50253E90}"/>
              </a:ext>
            </a:extLst>
          </p:cNvPr>
          <p:cNvSpPr>
            <a:spLocks xmlns:a="http://schemas.openxmlformats.org/drawingml/2006/main" noGrp="1"/>
          </p:cNvSpPr>
          <p:nvPr/>
        </p:nvSpPr>
        <p:spPr>
          <a:xfrm xmlns:a="http://schemas.openxmlformats.org/drawingml/2006/main">
            <a:off x="981075" y="1885950"/>
            <a:ext cx="46196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buNone/>
              <a:defRPr sz="1725">
                <a:solidFill>
                  <a:srgbClr val="1F2937"/>
                </a:solidFill>
                <a:latin typeface="Arial"/>
                <a:ea typeface="Arial"/>
                <a:cs typeface="Arial"/>
              </a:defRPr>
            </a:pPr>
            <a:r>
              <a:rPr sz="1725">
                <a:solidFill>
                  <a:srgbClr val="1F2937"/>
                </a:solidFill>
                <a:latin typeface="Arial"/>
                <a:ea typeface="Arial"/>
                <a:cs typeface="Arial"/>
              </a:rPr>
              <a:t>F(w) = Σₖ (nₖ/N)Fₖ(w)</a:t>
            </a:r>
          </a:p>
          <a:p xmlns:a="http://schemas.openxmlformats.org/drawingml/2006/main">
            <a:pPr>
              <a:buNone/>
              <a:defRPr sz="1725">
                <a:solidFill>
                  <a:srgbClr val="1F2937"/>
                </a:solidFill>
                <a:latin typeface="Arial"/>
                <a:ea typeface="Arial"/>
                <a:cs typeface="Arial"/>
              </a:defRPr>
            </a:pPr>
            <a:r>
              <a:rPr sz="1725">
                <a:solidFill>
                  <a:srgbClr val="1F2937"/>
                </a:solidFill>
                <a:latin typeface="Arial"/>
                <a:ea typeface="Arial"/>
                <a:cs typeface="Arial"/>
              </a:rPr>
              <a:t>Fₖ(w) = (1/nₖ)Σᵢ ℓ(w; xᵢ, yᵢ)</a:t>
            </a:r>
          </a:p>
        </p:txBody>
      </p:sp>
      <p:sp>
        <p:nvSpPr>
          <p:cNvPr id="241" name="learning-objective-explanation">
            <a:extLst xmlns:a="http://schemas.openxmlformats.org/drawingml/2006/main">
              <a:ext uri="{FF2B5EF4-FFF2-40B4-BE49-F238E27FC236}">
                <a16:creationId xmlns:a16="http://schemas.microsoft.com/office/drawing/2014/main" id="{11211DA1-BE96-4A97-96F5-8CA3C652111F}"/>
              </a:ext>
            </a:extLst>
          </p:cNvPr>
          <p:cNvSpPr>
            <a:spLocks xmlns:a="http://schemas.openxmlformats.org/drawingml/2006/main" noGrp="1"/>
          </p:cNvSpPr>
          <p:nvPr/>
        </p:nvSpPr>
        <p:spPr>
          <a:xfrm xmlns:a="http://schemas.openxmlformats.org/drawingml/2006/main">
            <a:off x="981075" y="2524125"/>
            <a:ext cx="46196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buNone/>
              <a:defRPr sz="1125">
                <a:solidFill>
                  <a:srgbClr val="52606D"/>
                </a:solidFill>
                <a:latin typeface="Arial"/>
                <a:ea typeface="Arial"/>
                <a:cs typeface="Arial"/>
              </a:defRPr>
            </a:pPr>
            <a:r>
              <a:rPr sz="1125">
                <a:solidFill>
                  <a:srgbClr val="52606D"/>
                </a:solidFill>
                <a:latin typeface="Arial"/>
                <a:ea typeface="Arial"/>
                <a:cs typeface="Arial"/>
              </a:rPr>
              <a:t>Fₖ(w) is the empirical loss at hospital k. The ratio nₖ/N weights each hospital by its share of the combined training records.</a:t>
            </a:r>
          </a:p>
        </p:txBody>
      </p:sp>
      <p:sp>
        <p:nvSpPr>
          <p:cNvPr id="242" name="learning-objective-takeaway">
            <a:extLst xmlns:a="http://schemas.openxmlformats.org/drawingml/2006/main">
              <a:ext uri="{FF2B5EF4-FFF2-40B4-BE49-F238E27FC236}">
                <a16:creationId xmlns:a16="http://schemas.microsoft.com/office/drawing/2014/main" id="{EFB9FA41-E2DE-49D2-98AA-61CEF65BF54C}"/>
              </a:ext>
            </a:extLst>
          </p:cNvPr>
          <p:cNvSpPr>
            <a:spLocks xmlns:a="http://schemas.openxmlformats.org/drawingml/2006/main" noGrp="1"/>
          </p:cNvSpPr>
          <p:nvPr/>
        </p:nvSpPr>
        <p:spPr>
          <a:xfrm xmlns:a="http://schemas.openxmlformats.org/drawingml/2006/main">
            <a:off x="981075" y="3067050"/>
            <a:ext cx="4619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buNone/>
              <a:defRPr sz="1125" b="1">
                <a:solidFill>
                  <a:srgbClr val="008A46"/>
                </a:solidFill>
                <a:latin typeface="Arial"/>
                <a:ea typeface="Arial"/>
                <a:cs typeface="Arial"/>
              </a:defRPr>
            </a:pPr>
            <a:r>
              <a:rPr sz="1125" b="1">
                <a:solidFill>
                  <a:srgbClr val="008A46"/>
                </a:solidFill>
                <a:latin typeface="Arial"/>
                <a:ea typeface="Arial"/>
                <a:cs typeface="Arial"/>
              </a:rPr>
              <a:t>Goal: minimize weighted global loss while records remain local.</a:t>
            </a:r>
          </a:p>
        </p:txBody>
      </p:sp>
      <p:sp>
        <p:nvSpPr>
          <p:cNvPr id="243" name="protected-update-title">
            <a:extLst xmlns:a="http://schemas.openxmlformats.org/drawingml/2006/main">
              <a:ext uri="{FF2B5EF4-FFF2-40B4-BE49-F238E27FC236}">
                <a16:creationId xmlns:a16="http://schemas.microsoft.com/office/drawing/2014/main" id="{22CA2067-CE68-47A3-A909-EE970DC70D3F}"/>
              </a:ext>
            </a:extLst>
          </p:cNvPr>
          <p:cNvSpPr>
            <a:spLocks xmlns:a="http://schemas.openxmlformats.org/drawingml/2006/main" noGrp="1"/>
          </p:cNvSpPr>
          <p:nvPr/>
        </p:nvSpPr>
        <p:spPr>
          <a:xfrm xmlns:a="http://schemas.openxmlformats.org/drawingml/2006/main">
            <a:off x="6477000" y="1362075"/>
            <a:ext cx="4810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981" lnSpcReduction="10000"/>
          </a:bodyPr>
          <a:lstStyle xmlns:a="http://schemas.openxmlformats.org/drawingml/2006/main"/>
          <a:p xmlns:a="http://schemas.openxmlformats.org/drawingml/2006/main">
            <a:pPr>
              <a:buNone/>
              <a:defRPr sz="2025" b="1">
                <a:solidFill>
                  <a:srgbClr val="00A9D6"/>
                </a:solidFill>
                <a:latin typeface="Arial"/>
                <a:ea typeface="Arial"/>
                <a:cs typeface="Arial"/>
              </a:defRPr>
            </a:pPr>
            <a:r>
              <a:rPr sz="2025" b="1">
                <a:solidFill>
                  <a:srgbClr val="00A9D6"/>
                </a:solidFill>
                <a:latin typeface="Arial"/>
                <a:ea typeface="Arial"/>
                <a:cs typeface="Arial"/>
              </a:rPr>
              <a:t>Protected local update</a:t>
            </a:r>
          </a:p>
        </p:txBody>
      </p:sp>
      <p:sp>
        <p:nvSpPr>
          <p:cNvPr id="244" name="protected-update-rule">
            <a:extLst xmlns:a="http://schemas.openxmlformats.org/drawingml/2006/main">
              <a:ext uri="{FF2B5EF4-FFF2-40B4-BE49-F238E27FC236}">
                <a16:creationId xmlns:a16="http://schemas.microsoft.com/office/drawing/2014/main" id="{5D9C9DC8-9CFF-42C5-A880-6946FCE14179}"/>
              </a:ext>
            </a:extLst>
          </p:cNvPr>
          <p:cNvSpPr>
            <a:spLocks xmlns:a="http://schemas.openxmlformats.org/drawingml/2006/main" noGrp="1"/>
          </p:cNvSpPr>
          <p:nvPr/>
        </p:nvSpPr>
        <p:spPr>
          <a:xfrm xmlns:a="http://schemas.openxmlformats.org/drawingml/2006/main">
            <a:off x="6477000" y="1762125"/>
            <a:ext cx="4810125" cy="28575"/>
          </a:xfrm>
          <a:prstGeom xmlns:a="http://schemas.openxmlformats.org/drawingml/2006/main" prst="rect">
            <a:avLst/>
          </a:prstGeom>
          <a:solidFill xmlns:a="http://schemas.openxmlformats.org/drawingml/2006/main">
            <a:srgbClr val="00A9D6"/>
          </a:solidFill>
          <a:ln xmlns:a="http://schemas.openxmlformats.org/drawingml/2006/main" w="0">
            <a:noFill/>
          </a:ln>
        </p:spPr>
      </p:sp>
      <p:sp>
        <p:nvSpPr>
          <p:cNvPr id="245" name="protected-update-equation">
            <a:extLst xmlns:a="http://schemas.openxmlformats.org/drawingml/2006/main">
              <a:ext uri="{FF2B5EF4-FFF2-40B4-BE49-F238E27FC236}">
                <a16:creationId xmlns:a16="http://schemas.microsoft.com/office/drawing/2014/main" id="{C0589AB0-3A98-449D-8E96-D13B6CC80664}"/>
              </a:ext>
            </a:extLst>
          </p:cNvPr>
          <p:cNvSpPr>
            <a:spLocks xmlns:a="http://schemas.openxmlformats.org/drawingml/2006/main" noGrp="1"/>
          </p:cNvSpPr>
          <p:nvPr/>
        </p:nvSpPr>
        <p:spPr>
          <a:xfrm xmlns:a="http://schemas.openxmlformats.org/drawingml/2006/main">
            <a:off x="6553200" y="1885950"/>
            <a:ext cx="46196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buNone/>
              <a:defRPr sz="1725">
                <a:solidFill>
                  <a:srgbClr val="1F2937"/>
                </a:solidFill>
                <a:latin typeface="Arial"/>
                <a:ea typeface="Arial"/>
                <a:cs typeface="Arial"/>
              </a:defRPr>
            </a:pPr>
            <a:r>
              <a:rPr sz="1725">
                <a:solidFill>
                  <a:srgbClr val="1F2937"/>
                </a:solidFill>
                <a:latin typeface="Arial"/>
                <a:ea typeface="Arial"/>
                <a:cs typeface="Arial"/>
              </a:rPr>
              <a:t>ḡₖᵗ = gₖᵗ / max(1, ‖gₖᵗ‖₂/C)</a:t>
            </a:r>
          </a:p>
          <a:p xmlns:a="http://schemas.openxmlformats.org/drawingml/2006/main">
            <a:pPr>
              <a:buNone/>
              <a:defRPr sz="1725">
                <a:solidFill>
                  <a:srgbClr val="1F2937"/>
                </a:solidFill>
                <a:latin typeface="Arial"/>
                <a:ea typeface="Arial"/>
                <a:cs typeface="Arial"/>
              </a:defRPr>
            </a:pPr>
            <a:r>
              <a:rPr sz="1725">
                <a:solidFill>
                  <a:srgbClr val="1F2937"/>
                </a:solidFill>
                <a:latin typeface="Arial"/>
                <a:ea typeface="Arial"/>
                <a:cs typeface="Arial"/>
              </a:rPr>
              <a:t>uₖᵗ = Qₛₜ(ḡₖᵗ + zₖᵗ + eₖᵗ)</a:t>
            </a:r>
          </a:p>
        </p:txBody>
      </p:sp>
      <p:sp>
        <p:nvSpPr>
          <p:cNvPr id="246" name="protected-update-explanation">
            <a:extLst xmlns:a="http://schemas.openxmlformats.org/drawingml/2006/main">
              <a:ext uri="{FF2B5EF4-FFF2-40B4-BE49-F238E27FC236}">
                <a16:creationId xmlns:a16="http://schemas.microsoft.com/office/drawing/2014/main" id="{C2870143-9667-4B0D-A93B-FA30BCC80606}"/>
              </a:ext>
            </a:extLst>
          </p:cNvPr>
          <p:cNvSpPr>
            <a:spLocks xmlns:a="http://schemas.openxmlformats.org/drawingml/2006/main" noGrp="1"/>
          </p:cNvSpPr>
          <p:nvPr/>
        </p:nvSpPr>
        <p:spPr>
          <a:xfrm xmlns:a="http://schemas.openxmlformats.org/drawingml/2006/main">
            <a:off x="6553200" y="2524125"/>
            <a:ext cx="46196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9450"/>
          </a:bodyPr>
          <a:lstStyle xmlns:a="http://schemas.openxmlformats.org/drawingml/2006/main"/>
          <a:p xmlns:a="http://schemas.openxmlformats.org/drawingml/2006/main">
            <a:pPr>
              <a:buNone/>
              <a:defRPr sz="1125">
                <a:solidFill>
                  <a:srgbClr val="52606D"/>
                </a:solidFill>
                <a:latin typeface="Arial"/>
                <a:ea typeface="Arial"/>
                <a:cs typeface="Arial"/>
              </a:defRPr>
            </a:pPr>
            <a:r>
              <a:rPr sz="1125">
                <a:solidFill>
                  <a:srgbClr val="52606D"/>
                </a:solidFill>
                <a:latin typeface="Arial"/>
                <a:ea typeface="Arial"/>
                <a:cs typeface="Arial"/>
              </a:rPr>
              <a:t>C bounds each gradient. zₖᵗ adds Gaussian DP noise, eₖᵗ carries the compression residual, and Qₛₜ applies the CAABC-FL block compressor.</a:t>
            </a:r>
          </a:p>
        </p:txBody>
      </p:sp>
      <p:sp>
        <p:nvSpPr>
          <p:cNvPr id="247" name="protected-update-takeaway">
            <a:extLst xmlns:a="http://schemas.openxmlformats.org/drawingml/2006/main">
              <a:ext uri="{FF2B5EF4-FFF2-40B4-BE49-F238E27FC236}">
                <a16:creationId xmlns:a16="http://schemas.microsoft.com/office/drawing/2014/main" id="{CA0E8D0A-92C2-44FC-A191-959156B1795D}"/>
              </a:ext>
            </a:extLst>
          </p:cNvPr>
          <p:cNvSpPr>
            <a:spLocks xmlns:a="http://schemas.openxmlformats.org/drawingml/2006/main" noGrp="1"/>
          </p:cNvSpPr>
          <p:nvPr/>
        </p:nvSpPr>
        <p:spPr>
          <a:xfrm xmlns:a="http://schemas.openxmlformats.org/drawingml/2006/main">
            <a:off x="6553200" y="3067050"/>
            <a:ext cx="4619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buNone/>
              <a:defRPr sz="1125" b="1">
                <a:solidFill>
                  <a:srgbClr val="00A9D6"/>
                </a:solidFill>
                <a:latin typeface="Arial"/>
                <a:ea typeface="Arial"/>
                <a:cs typeface="Arial"/>
              </a:defRPr>
            </a:pPr>
            <a:r>
              <a:rPr sz="1125" b="1">
                <a:solidFill>
                  <a:srgbClr val="00A9D6"/>
                </a:solidFill>
                <a:latin typeface="Arial"/>
                <a:ea typeface="Arial"/>
                <a:cs typeface="Arial"/>
              </a:rPr>
              <a:t>Result: a bounded, private and compression-aware client update.</a:t>
            </a:r>
          </a:p>
        </p:txBody>
      </p:sp>
      <p:sp>
        <p:nvSpPr>
          <p:cNvPr id="248" name="encrypted-aggregation-title">
            <a:extLst xmlns:a="http://schemas.openxmlformats.org/drawingml/2006/main">
              <a:ext uri="{FF2B5EF4-FFF2-40B4-BE49-F238E27FC236}">
                <a16:creationId xmlns:a16="http://schemas.microsoft.com/office/drawing/2014/main" id="{4F565ACE-3B3B-4646-A107-E1AF767DE8FF}"/>
              </a:ext>
            </a:extLst>
          </p:cNvPr>
          <p:cNvSpPr>
            <a:spLocks xmlns:a="http://schemas.openxmlformats.org/drawingml/2006/main" noGrp="1"/>
          </p:cNvSpPr>
          <p:nvPr/>
        </p:nvSpPr>
        <p:spPr>
          <a:xfrm xmlns:a="http://schemas.openxmlformats.org/drawingml/2006/main">
            <a:off x="904875" y="3524250"/>
            <a:ext cx="4810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981" lnSpcReduction="10000"/>
          </a:bodyPr>
          <a:lstStyle xmlns:a="http://schemas.openxmlformats.org/drawingml/2006/main"/>
          <a:p xmlns:a="http://schemas.openxmlformats.org/drawingml/2006/main">
            <a:pPr>
              <a:buNone/>
              <a:defRPr sz="2025" b="1">
                <a:solidFill>
                  <a:srgbClr val="008A46"/>
                </a:solidFill>
                <a:latin typeface="Arial"/>
                <a:ea typeface="Arial"/>
                <a:cs typeface="Arial"/>
              </a:defRPr>
            </a:pPr>
            <a:r>
              <a:rPr sz="2025" b="1">
                <a:solidFill>
                  <a:srgbClr val="008A46"/>
                </a:solidFill>
                <a:latin typeface="Arial"/>
                <a:ea typeface="Arial"/>
                <a:cs typeface="Arial"/>
              </a:rPr>
              <a:t>Encrypted aggregation</a:t>
            </a:r>
          </a:p>
        </p:txBody>
      </p:sp>
      <p:sp>
        <p:nvSpPr>
          <p:cNvPr id="249" name="encrypted-aggregation-rule">
            <a:extLst xmlns:a="http://schemas.openxmlformats.org/drawingml/2006/main">
              <a:ext uri="{FF2B5EF4-FFF2-40B4-BE49-F238E27FC236}">
                <a16:creationId xmlns:a16="http://schemas.microsoft.com/office/drawing/2014/main" id="{D4E628CF-50B1-4E64-9A20-1090396E404A}"/>
              </a:ext>
            </a:extLst>
          </p:cNvPr>
          <p:cNvSpPr>
            <a:spLocks xmlns:a="http://schemas.openxmlformats.org/drawingml/2006/main" noGrp="1"/>
          </p:cNvSpPr>
          <p:nvPr/>
        </p:nvSpPr>
        <p:spPr>
          <a:xfrm xmlns:a="http://schemas.openxmlformats.org/drawingml/2006/main">
            <a:off x="904875" y="3924300"/>
            <a:ext cx="4810125" cy="28575"/>
          </a:xfrm>
          <a:prstGeom xmlns:a="http://schemas.openxmlformats.org/drawingml/2006/main" prst="rect">
            <a:avLst/>
          </a:prstGeom>
          <a:solidFill xmlns:a="http://schemas.openxmlformats.org/drawingml/2006/main">
            <a:srgbClr val="008A46"/>
          </a:solidFill>
          <a:ln xmlns:a="http://schemas.openxmlformats.org/drawingml/2006/main" w="0">
            <a:noFill/>
          </a:ln>
        </p:spPr>
      </p:sp>
      <p:sp>
        <p:nvSpPr>
          <p:cNvPr id="250" name="encrypted-aggregation-equation">
            <a:extLst xmlns:a="http://schemas.openxmlformats.org/drawingml/2006/main">
              <a:ext uri="{FF2B5EF4-FFF2-40B4-BE49-F238E27FC236}">
                <a16:creationId xmlns:a16="http://schemas.microsoft.com/office/drawing/2014/main" id="{4CCFADB6-34C0-4E2D-96BA-F1A38B975721}"/>
              </a:ext>
            </a:extLst>
          </p:cNvPr>
          <p:cNvSpPr>
            <a:spLocks xmlns:a="http://schemas.openxmlformats.org/drawingml/2006/main" noGrp="1"/>
          </p:cNvSpPr>
          <p:nvPr/>
        </p:nvSpPr>
        <p:spPr>
          <a:xfrm xmlns:a="http://schemas.openxmlformats.org/drawingml/2006/main">
            <a:off x="981075" y="4048125"/>
            <a:ext cx="46196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buNone/>
              <a:defRPr sz="1725">
                <a:solidFill>
                  <a:srgbClr val="1F2937"/>
                </a:solidFill>
                <a:latin typeface="Arial"/>
                <a:ea typeface="Arial"/>
                <a:cs typeface="Arial"/>
              </a:defRPr>
            </a:pPr>
            <a:r>
              <a:rPr sz="1725">
                <a:solidFill>
                  <a:srgbClr val="1F2937"/>
                </a:solidFill>
                <a:latin typeface="Arial"/>
                <a:ea typeface="Arial"/>
                <a:cs typeface="Arial"/>
              </a:rPr>
              <a:t>cₜ = ⊕ₖ∈Aₜ Encₚₖ(uₖᵗ)</a:t>
            </a:r>
          </a:p>
          <a:p xmlns:a="http://schemas.openxmlformats.org/drawingml/2006/main">
            <a:pPr>
              <a:buNone/>
              <a:defRPr sz="1725">
                <a:solidFill>
                  <a:srgbClr val="1F2937"/>
                </a:solidFill>
                <a:latin typeface="Arial"/>
                <a:ea typeface="Arial"/>
                <a:cs typeface="Arial"/>
              </a:defRPr>
            </a:pPr>
            <a:r>
              <a:rPr sz="1725">
                <a:solidFill>
                  <a:srgbClr val="1F2937"/>
                </a:solidFill>
                <a:latin typeface="Arial"/>
                <a:ea typeface="Arial"/>
                <a:cs typeface="Arial"/>
              </a:rPr>
              <a:t>wₜ₊₁ = wₜ − ηₜ Dec(cₜ)/|Aₜ|</a:t>
            </a:r>
          </a:p>
        </p:txBody>
      </p:sp>
      <p:sp>
        <p:nvSpPr>
          <p:cNvPr id="251" name="encrypted-aggregation-explanation">
            <a:extLst xmlns:a="http://schemas.openxmlformats.org/drawingml/2006/main">
              <a:ext uri="{FF2B5EF4-FFF2-40B4-BE49-F238E27FC236}">
                <a16:creationId xmlns:a16="http://schemas.microsoft.com/office/drawing/2014/main" id="{EE3EAF5F-FFB7-485D-A8DD-73C42CCDEE96}"/>
              </a:ext>
            </a:extLst>
          </p:cNvPr>
          <p:cNvSpPr>
            <a:spLocks xmlns:a="http://schemas.openxmlformats.org/drawingml/2006/main" noGrp="1"/>
          </p:cNvSpPr>
          <p:nvPr/>
        </p:nvSpPr>
        <p:spPr>
          <a:xfrm xmlns:a="http://schemas.openxmlformats.org/drawingml/2006/main">
            <a:off x="981075" y="4686300"/>
            <a:ext cx="46196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857"/>
          </a:bodyPr>
          <a:lstStyle xmlns:a="http://schemas.openxmlformats.org/drawingml/2006/main"/>
          <a:p xmlns:a="http://schemas.openxmlformats.org/drawingml/2006/main">
            <a:pPr>
              <a:buNone/>
              <a:defRPr sz="1125">
                <a:solidFill>
                  <a:srgbClr val="52606D"/>
                </a:solidFill>
                <a:latin typeface="Arial"/>
                <a:ea typeface="Arial"/>
                <a:cs typeface="Arial"/>
              </a:defRPr>
            </a:pPr>
            <a:r>
              <a:rPr sz="1125">
                <a:solidFill>
                  <a:srgbClr val="52606D"/>
                </a:solidFill>
                <a:latin typeface="Arial"/>
                <a:ea typeface="Arial"/>
                <a:cs typeface="Arial"/>
              </a:rPr>
              <a:t>Aₜ contains admitted clients. CKKS sums encrypted uₖᵗ values without exposing them. Custodians decrypt cₜ, the aggregate, rather than individual updates.</a:t>
            </a:r>
          </a:p>
        </p:txBody>
      </p:sp>
      <p:sp>
        <p:nvSpPr>
          <p:cNvPr id="252" name="encrypted-aggregation-takeaway">
            <a:extLst xmlns:a="http://schemas.openxmlformats.org/drawingml/2006/main">
              <a:ext uri="{FF2B5EF4-FFF2-40B4-BE49-F238E27FC236}">
                <a16:creationId xmlns:a16="http://schemas.microsoft.com/office/drawing/2014/main" id="{B1906C49-A301-4C72-8F3B-C2DF5C38CD68}"/>
              </a:ext>
            </a:extLst>
          </p:cNvPr>
          <p:cNvSpPr>
            <a:spLocks xmlns:a="http://schemas.openxmlformats.org/drawingml/2006/main" noGrp="1"/>
          </p:cNvSpPr>
          <p:nvPr/>
        </p:nvSpPr>
        <p:spPr>
          <a:xfrm xmlns:a="http://schemas.openxmlformats.org/drawingml/2006/main">
            <a:off x="981075" y="5229225"/>
            <a:ext cx="4619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8863"/>
          </a:bodyPr>
          <a:lstStyle xmlns:a="http://schemas.openxmlformats.org/drawingml/2006/main"/>
          <a:p xmlns:a="http://schemas.openxmlformats.org/drawingml/2006/main">
            <a:pPr>
              <a:buNone/>
              <a:defRPr sz="1125" b="1">
                <a:solidFill>
                  <a:srgbClr val="008A46"/>
                </a:solidFill>
                <a:latin typeface="Arial"/>
                <a:ea typeface="Arial"/>
                <a:cs typeface="Arial"/>
              </a:defRPr>
            </a:pPr>
            <a:r>
              <a:rPr sz="1125" b="1">
                <a:solidFill>
                  <a:srgbClr val="008A46"/>
                </a:solidFill>
                <a:latin typeface="Arial"/>
                <a:ea typeface="Arial"/>
                <a:cs typeface="Arial"/>
              </a:rPr>
              <a:t>ηₜ controls the update step and |Aₜ| produces the mean aggregate.</a:t>
            </a:r>
          </a:p>
        </p:txBody>
      </p:sp>
      <p:sp>
        <p:nvSpPr>
          <p:cNvPr id="253" name="constraints-title">
            <a:extLst xmlns:a="http://schemas.openxmlformats.org/drawingml/2006/main">
              <a:ext uri="{FF2B5EF4-FFF2-40B4-BE49-F238E27FC236}">
                <a16:creationId xmlns:a16="http://schemas.microsoft.com/office/drawing/2014/main" id="{53DD9FDF-3741-493D-AB81-B019B35C7F35}"/>
              </a:ext>
            </a:extLst>
          </p:cNvPr>
          <p:cNvSpPr>
            <a:spLocks xmlns:a="http://schemas.openxmlformats.org/drawingml/2006/main" noGrp="1"/>
          </p:cNvSpPr>
          <p:nvPr/>
        </p:nvSpPr>
        <p:spPr>
          <a:xfrm xmlns:a="http://schemas.openxmlformats.org/drawingml/2006/main">
            <a:off x="6477000" y="3524250"/>
            <a:ext cx="4810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981" lnSpcReduction="10000"/>
          </a:bodyPr>
          <a:lstStyle xmlns:a="http://schemas.openxmlformats.org/drawingml/2006/main"/>
          <a:p xmlns:a="http://schemas.openxmlformats.org/drawingml/2006/main">
            <a:pPr>
              <a:buNone/>
              <a:defRPr sz="2025" b="1">
                <a:solidFill>
                  <a:srgbClr val="1E3A5F"/>
                </a:solidFill>
                <a:latin typeface="Arial"/>
                <a:ea typeface="Arial"/>
                <a:cs typeface="Arial"/>
              </a:defRPr>
            </a:pPr>
            <a:r>
              <a:rPr sz="2025" b="1">
                <a:solidFill>
                  <a:srgbClr val="1E3A5F"/>
                </a:solidFill>
                <a:latin typeface="Arial"/>
                <a:ea typeface="Arial"/>
                <a:cs typeface="Arial"/>
              </a:rPr>
              <a:t>Design constraints</a:t>
            </a:r>
          </a:p>
        </p:txBody>
      </p:sp>
      <p:sp>
        <p:nvSpPr>
          <p:cNvPr id="254" name="constraints-rule">
            <a:extLst xmlns:a="http://schemas.openxmlformats.org/drawingml/2006/main">
              <a:ext uri="{FF2B5EF4-FFF2-40B4-BE49-F238E27FC236}">
                <a16:creationId xmlns:a16="http://schemas.microsoft.com/office/drawing/2014/main" id="{ACDF0887-D9F8-4DAB-8E94-80F0BF5E7D67}"/>
              </a:ext>
            </a:extLst>
          </p:cNvPr>
          <p:cNvSpPr>
            <a:spLocks xmlns:a="http://schemas.openxmlformats.org/drawingml/2006/main" noGrp="1"/>
          </p:cNvSpPr>
          <p:nvPr/>
        </p:nvSpPr>
        <p:spPr>
          <a:xfrm xmlns:a="http://schemas.openxmlformats.org/drawingml/2006/main">
            <a:off x="6477000" y="3924300"/>
            <a:ext cx="4810125" cy="28575"/>
          </a:xfrm>
          <a:prstGeom xmlns:a="http://schemas.openxmlformats.org/drawingml/2006/main" prst="rect">
            <a:avLst/>
          </a:prstGeom>
          <a:solidFill xmlns:a="http://schemas.openxmlformats.org/drawingml/2006/main">
            <a:srgbClr val="00A9D6"/>
          </a:solidFill>
          <a:ln xmlns:a="http://schemas.openxmlformats.org/drawingml/2006/main" w="0">
            <a:noFill/>
          </a:ln>
        </p:spPr>
      </p:sp>
      <p:sp>
        <p:nvSpPr>
          <p:cNvPr id="255" name="constraints-objective">
            <a:extLst xmlns:a="http://schemas.openxmlformats.org/drawingml/2006/main">
              <a:ext uri="{FF2B5EF4-FFF2-40B4-BE49-F238E27FC236}">
                <a16:creationId xmlns:a16="http://schemas.microsoft.com/office/drawing/2014/main" id="{4E551B32-E413-4E20-A51F-2E73B6BAECD9}"/>
              </a:ext>
            </a:extLst>
          </p:cNvPr>
          <p:cNvSpPr>
            <a:spLocks xmlns:a="http://schemas.openxmlformats.org/drawingml/2006/main" noGrp="1"/>
          </p:cNvSpPr>
          <p:nvPr/>
        </p:nvSpPr>
        <p:spPr>
          <a:xfrm xmlns:a="http://schemas.openxmlformats.org/drawingml/2006/main">
            <a:off x="6553200" y="4067175"/>
            <a:ext cx="46196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7225"/>
          </a:bodyPr>
          <a:lstStyle xmlns:a="http://schemas.openxmlformats.org/drawingml/2006/main"/>
          <a:p xmlns:a="http://schemas.openxmlformats.org/drawingml/2006/main">
            <a:pPr>
              <a:buNone/>
              <a:defRPr sz="1350" b="1">
                <a:solidFill>
                  <a:srgbClr val="1F2937"/>
                </a:solidFill>
                <a:latin typeface="Arial"/>
                <a:ea typeface="Arial"/>
                <a:cs typeface="Arial"/>
              </a:defRPr>
            </a:pPr>
            <a:r>
              <a:rPr sz="1350" b="1">
                <a:solidFill>
                  <a:srgbClr val="1F2937"/>
                </a:solidFill>
                <a:latin typeface="Arial"/>
                <a:ea typeface="Arial"/>
                <a:cs typeface="Arial"/>
              </a:rPr>
              <a:t>Minimize prediction loss and serialized upload subject to:</a:t>
            </a:r>
          </a:p>
        </p:txBody>
      </p:sp>
      <p:sp>
        <p:nvSpPr>
          <p:cNvPr id="256" name="constraints-list-left">
            <a:extLst xmlns:a="http://schemas.openxmlformats.org/drawingml/2006/main">
              <a:ext uri="{FF2B5EF4-FFF2-40B4-BE49-F238E27FC236}">
                <a16:creationId xmlns:a16="http://schemas.microsoft.com/office/drawing/2014/main" id="{9135BCB5-8D25-4202-887F-791C987F9F76}"/>
              </a:ext>
            </a:extLst>
          </p:cNvPr>
          <p:cNvSpPr>
            <a:spLocks xmlns:a="http://schemas.openxmlformats.org/drawingml/2006/main" noGrp="1"/>
          </p:cNvSpPr>
          <p:nvPr/>
        </p:nvSpPr>
        <p:spPr>
          <a:xfrm xmlns:a="http://schemas.openxmlformats.org/drawingml/2006/main">
            <a:off x="6553200" y="4438650"/>
            <a:ext cx="1095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buNone/>
              <a:defRPr sz="1200" b="1">
                <a:solidFill>
                  <a:srgbClr val="1E3A5F"/>
                </a:solidFill>
                <a:latin typeface="Arial"/>
                <a:ea typeface="Arial"/>
                <a:cs typeface="Arial"/>
              </a:defRPr>
            </a:pPr>
            <a:r>
              <a:rPr sz="1200" b="1">
                <a:solidFill>
                  <a:srgbClr val="1E3A5F"/>
                </a:solidFill>
                <a:latin typeface="Arial"/>
                <a:ea typeface="Arial"/>
                <a:cs typeface="Arial"/>
              </a:rPr>
              <a:t>Privacy</a:t>
            </a:r>
          </a:p>
          <a:p xmlns:a="http://schemas.openxmlformats.org/drawingml/2006/main">
            <a:pPr>
              <a:buNone/>
              <a:defRPr sz="1200" b="1">
                <a:solidFill>
                  <a:srgbClr val="1E3A5F"/>
                </a:solidFill>
                <a:latin typeface="Arial"/>
                <a:ea typeface="Arial"/>
                <a:cs typeface="Arial"/>
              </a:defRPr>
            </a:pPr>
            <a:r>
              <a:rPr sz="1200" b="1">
                <a:solidFill>
                  <a:srgbClr val="1E3A5F"/>
                </a:solidFill>
                <a:latin typeface="Arial"/>
                <a:ea typeface="Arial"/>
                <a:cs typeface="Arial"/>
              </a:rPr>
              <a:t>Integrity</a:t>
            </a:r>
          </a:p>
        </p:txBody>
      </p:sp>
      <p:sp>
        <p:nvSpPr>
          <p:cNvPr id="257" name="constraints-values-left">
            <a:extLst xmlns:a="http://schemas.openxmlformats.org/drawingml/2006/main">
              <a:ext uri="{FF2B5EF4-FFF2-40B4-BE49-F238E27FC236}">
                <a16:creationId xmlns:a16="http://schemas.microsoft.com/office/drawing/2014/main" id="{88B4E04D-EB19-4B6C-96E9-37BF912A6A83}"/>
              </a:ext>
            </a:extLst>
          </p:cNvPr>
          <p:cNvSpPr>
            <a:spLocks xmlns:a="http://schemas.openxmlformats.org/drawingml/2006/main" noGrp="1"/>
          </p:cNvSpPr>
          <p:nvPr/>
        </p:nvSpPr>
        <p:spPr>
          <a:xfrm xmlns:a="http://schemas.openxmlformats.org/drawingml/2006/main">
            <a:off x="7620000" y="4438650"/>
            <a:ext cx="3476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buNone/>
              <a:defRPr sz="1200">
                <a:solidFill>
                  <a:srgbClr val="52606D"/>
                </a:solidFill>
                <a:latin typeface="Arial"/>
                <a:ea typeface="Arial"/>
                <a:cs typeface="Arial"/>
              </a:defRPr>
            </a:pPr>
            <a:r>
              <a:rPr sz="1200">
                <a:solidFill>
                  <a:srgbClr val="52606D"/>
                </a:solidFill>
                <a:latin typeface="Arial"/>
                <a:ea typeface="Arial"/>
                <a:cs typeface="Arial"/>
              </a:rPr>
              <a:t>Record-level differential privacy</a:t>
            </a:r>
          </a:p>
          <a:p xmlns:a="http://schemas.openxmlformats.org/drawingml/2006/main">
            <a:pPr>
              <a:buNone/>
              <a:defRPr sz="1200">
                <a:solidFill>
                  <a:srgbClr val="52606D"/>
                </a:solidFill>
                <a:latin typeface="Arial"/>
                <a:ea typeface="Arial"/>
                <a:cs typeface="Arial"/>
              </a:defRPr>
            </a:pPr>
            <a:r>
              <a:rPr sz="1200">
                <a:solidFill>
                  <a:srgbClr val="52606D"/>
                </a:solidFill>
                <a:latin typeface="Arial"/>
                <a:ea typeface="Arial"/>
                <a:cs typeface="Arial"/>
              </a:rPr>
              <a:t>Independently checked aggregate</a:t>
            </a:r>
          </a:p>
        </p:txBody>
      </p:sp>
      <p:sp>
        <p:nvSpPr>
          <p:cNvPr id="258" name="constraints-list-right">
            <a:extLst xmlns:a="http://schemas.openxmlformats.org/drawingml/2006/main">
              <a:ext uri="{FF2B5EF4-FFF2-40B4-BE49-F238E27FC236}">
                <a16:creationId xmlns:a16="http://schemas.microsoft.com/office/drawing/2014/main" id="{6BB50B8B-1E53-42B5-9842-96AB03D06685}"/>
              </a:ext>
            </a:extLst>
          </p:cNvPr>
          <p:cNvSpPr>
            <a:spLocks xmlns:a="http://schemas.openxmlformats.org/drawingml/2006/main" noGrp="1"/>
          </p:cNvSpPr>
          <p:nvPr/>
        </p:nvSpPr>
        <p:spPr>
          <a:xfrm xmlns:a="http://schemas.openxmlformats.org/drawingml/2006/main">
            <a:off x="6553200" y="5010150"/>
            <a:ext cx="1095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buNone/>
              <a:defRPr sz="1200" b="1">
                <a:solidFill>
                  <a:srgbClr val="1E3A5F"/>
                </a:solidFill>
                <a:latin typeface="Arial"/>
                <a:ea typeface="Arial"/>
                <a:cs typeface="Arial"/>
              </a:defRPr>
            </a:pPr>
            <a:r>
              <a:rPr sz="1200" b="1">
                <a:solidFill>
                  <a:srgbClr val="1E3A5F"/>
                </a:solidFill>
                <a:latin typeface="Arial"/>
                <a:ea typeface="Arial"/>
                <a:cs typeface="Arial"/>
              </a:rPr>
              <a:t>Release</a:t>
            </a:r>
          </a:p>
          <a:p xmlns:a="http://schemas.openxmlformats.org/drawingml/2006/main">
            <a:pPr>
              <a:buNone/>
              <a:defRPr sz="1200" b="1">
                <a:solidFill>
                  <a:srgbClr val="1E3A5F"/>
                </a:solidFill>
                <a:latin typeface="Arial"/>
                <a:ea typeface="Arial"/>
                <a:cs typeface="Arial"/>
              </a:defRPr>
            </a:pPr>
            <a:r>
              <a:rPr sz="1200" b="1">
                <a:solidFill>
                  <a:srgbClr val="1E3A5F"/>
                </a:solidFill>
                <a:latin typeface="Arial"/>
                <a:ea typeface="Arial"/>
                <a:cs typeface="Arial"/>
              </a:rPr>
              <a:t>Audit</a:t>
            </a:r>
          </a:p>
        </p:txBody>
      </p:sp>
      <p:sp>
        <p:nvSpPr>
          <p:cNvPr id="259" name="constraints-values-right">
            <a:extLst xmlns:a="http://schemas.openxmlformats.org/drawingml/2006/main">
              <a:ext uri="{FF2B5EF4-FFF2-40B4-BE49-F238E27FC236}">
                <a16:creationId xmlns:a16="http://schemas.microsoft.com/office/drawing/2014/main" id="{752038E5-E065-462B-B6EA-84737D2DDB45}"/>
              </a:ext>
            </a:extLst>
          </p:cNvPr>
          <p:cNvSpPr>
            <a:spLocks xmlns:a="http://schemas.openxmlformats.org/drawingml/2006/main" noGrp="1"/>
          </p:cNvSpPr>
          <p:nvPr/>
        </p:nvSpPr>
        <p:spPr>
          <a:xfrm xmlns:a="http://schemas.openxmlformats.org/drawingml/2006/main">
            <a:off x="7620000" y="5010150"/>
            <a:ext cx="3476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buNone/>
              <a:defRPr sz="1200">
                <a:solidFill>
                  <a:srgbClr val="52606D"/>
                </a:solidFill>
                <a:latin typeface="Arial"/>
                <a:ea typeface="Arial"/>
                <a:cs typeface="Arial"/>
              </a:defRPr>
            </a:pPr>
            <a:r>
              <a:rPr sz="1200">
                <a:solidFill>
                  <a:srgbClr val="52606D"/>
                </a:solidFill>
                <a:latin typeface="Arial"/>
                <a:ea typeface="Arial"/>
                <a:cs typeface="Arial"/>
              </a:rPr>
              <a:t>Threshold authorization</a:t>
            </a:r>
          </a:p>
          <a:p xmlns:a="http://schemas.openxmlformats.org/drawingml/2006/main">
            <a:pPr>
              <a:buNone/>
              <a:defRPr sz="1200">
                <a:solidFill>
                  <a:srgbClr val="52606D"/>
                </a:solidFill>
                <a:latin typeface="Arial"/>
                <a:ea typeface="Arial"/>
                <a:cs typeface="Arial"/>
              </a:defRPr>
            </a:pPr>
            <a:r>
              <a:rPr sz="1200">
                <a:solidFill>
                  <a:srgbClr val="52606D"/>
                </a:solidFill>
                <a:latin typeface="Arial"/>
                <a:ea typeface="Arial"/>
                <a:cs typeface="Arial"/>
              </a:rPr>
              <a:t>Permissioned execution evidence</a:t>
            </a:r>
          </a:p>
        </p:txBody>
      </p:sp>
      <p:sp>
        <p:nvSpPr>
          <p:cNvPr id="260" name="problem-formulation-column-divider">
            <a:extLst xmlns:a="http://schemas.openxmlformats.org/drawingml/2006/main">
              <a:ext uri="{FF2B5EF4-FFF2-40B4-BE49-F238E27FC236}">
                <a16:creationId xmlns:a16="http://schemas.microsoft.com/office/drawing/2014/main" id="{B1D8E0C4-C8D6-4FC8-B6B9-1B62E7237EF6}"/>
              </a:ext>
            </a:extLst>
          </p:cNvPr>
          <p:cNvSpPr>
            <a:spLocks xmlns:a="http://schemas.openxmlformats.org/drawingml/2006/main" noGrp="1"/>
          </p:cNvSpPr>
          <p:nvPr/>
        </p:nvSpPr>
        <p:spPr>
          <a:xfrm xmlns:a="http://schemas.openxmlformats.org/drawingml/2006/main">
            <a:off x="6076950" y="1409700"/>
            <a:ext cx="14288" cy="4171950"/>
          </a:xfrm>
          <a:prstGeom xmlns:a="http://schemas.openxmlformats.org/drawingml/2006/main" prst="rect">
            <a:avLst/>
          </a:prstGeom>
          <a:solidFill xmlns:a="http://schemas.openxmlformats.org/drawingml/2006/main">
            <a:srgbClr val="D7DEE7"/>
          </a:solidFill>
          <a:ln xmlns:a="http://schemas.openxmlformats.org/drawingml/2006/main" w="0">
            <a:noFill/>
          </a:ln>
        </p:spPr>
      </p:sp>
      <p:sp>
        <p:nvSpPr>
          <p:cNvPr id="261" name="problem-formulation-round-summary">
            <a:extLst xmlns:a="http://schemas.openxmlformats.org/drawingml/2006/main">
              <a:ext uri="{FF2B5EF4-FFF2-40B4-BE49-F238E27FC236}">
                <a16:creationId xmlns:a16="http://schemas.microsoft.com/office/drawing/2014/main" id="{5FC43600-EC93-4CAA-8525-F78230726572}"/>
              </a:ext>
            </a:extLst>
          </p:cNvPr>
          <p:cNvSpPr>
            <a:spLocks xmlns:a="http://schemas.openxmlformats.org/drawingml/2006/main" noGrp="1"/>
          </p:cNvSpPr>
          <p:nvPr/>
        </p:nvSpPr>
        <p:spPr>
          <a:xfrm xmlns:a="http://schemas.openxmlformats.org/drawingml/2006/main">
            <a:off x="2143125" y="5715000"/>
            <a:ext cx="7905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703"/>
          </a:bodyPr>
          <a:lstStyle xmlns:a="http://schemas.openxmlformats.org/drawingml/2006/main"/>
          <a:p xmlns:a="http://schemas.openxmlformats.org/drawingml/2006/main">
            <a:pPr algn="ctr">
              <a:buNone/>
              <a:defRPr sz="1200" i="1">
                <a:solidFill>
                  <a:srgbClr val="1E3A5F"/>
                </a:solidFill>
                <a:latin typeface="Arial"/>
                <a:ea typeface="Arial"/>
                <a:cs typeface="Arial"/>
              </a:defRPr>
            </a:pPr>
            <a:r>
              <a:rPr sz="1200" i="1">
                <a:solidFill>
                  <a:srgbClr val="1E3A5F"/>
                </a:solidFill>
                <a:latin typeface="Arial"/>
                <a:ea typeface="Arial"/>
                <a:cs typeface="Arial"/>
              </a:rPr>
              <a:t>One training round constructs protected local updates, aggregates ciphertexts, and releases only a validated global model.</a:t>
            </a:r>
          </a:p>
        </p:txBody>
      </p:sp>
    </p:spTree>
    <p:extLst>
      <p:ext uri="{BB962C8B-B14F-4D97-AF65-F5344CB8AC3E}">
        <p14:creationId xmlns:p14="http://schemas.microsoft.com/office/powerpoint/2010/main" val="970286495"/>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0B393FC-42F7-D7BB-5BEF-646BBB8320B1}"/>
              </a:ext>
            </a:extLst>
          </p:cNvPr>
          <p:cNvSpPr>
            <a:spLocks xmlns:a="http://schemas.openxmlformats.org/drawingml/2006/main" noGrp="1"/>
          </p:cNvSpPr>
          <p:nvPr>
            <p:ph type="title" idx="0"/>
          </p:nvPr>
        </p:nvSpPr>
        <p:spPr>
          <a:xfrm xmlns:a="http://schemas.openxmlformats.org/drawingml/2006/main">
            <a:off x="1892046" y="241785"/>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Design</a:t>
            </a:r>
            <a:endParaRPr/>
          </a:p>
        </p:txBody>
      </p:sp>
      <p:sp>
        <p:nvSpPr>
          <p:cNvPr id="212" name="Google Shape;212;p28">
            <a:extLst xmlns:a="http://schemas.openxmlformats.org/drawingml/2006/main">
              <a:ext uri="{FF2B5EF4-FFF2-40B4-BE49-F238E27FC236}">
                <a16:creationId xmlns:a16="http://schemas.microsoft.com/office/drawing/2014/main" id="{F0F25C4D-A462-7DA7-C209-CF24A66829DA}"/>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21</a:t>
            </a:r>
            <a:endParaRPr sz="2800"/>
          </a:p>
        </p:txBody>
      </p:sp>
      <p:pic>
        <p:nvPicPr>
          <p:cNvPr id="23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dbb003cc8f2f4cac">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17f4e3ab931049ac">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AB162E3B-8DFF-696B-E379-B77DF5DD1E54}"/>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design-step-1">
            <a:extLst xmlns:a="http://schemas.openxmlformats.org/drawingml/2006/main">
              <a:ext uri="{FF2B5EF4-FFF2-40B4-BE49-F238E27FC236}">
                <a16:creationId xmlns:a16="http://schemas.microsoft.com/office/drawing/2014/main" id="{8B47488A-154B-4C19-9728-8035407A57B6}"/>
              </a:ext>
            </a:extLst>
          </p:cNvPr>
          <p:cNvSpPr>
            <a:spLocks xmlns:a="http://schemas.openxmlformats.org/drawingml/2006/main" noGrp="1"/>
          </p:cNvSpPr>
          <p:nvPr/>
        </p:nvSpPr>
        <p:spPr>
          <a:xfrm xmlns:a="http://schemas.openxmlformats.org/drawingml/2006/main">
            <a:off x="619125" y="2333625"/>
            <a:ext cx="1571625" cy="1143000"/>
          </a:xfrm>
          <a:prstGeom xmlns:a="http://schemas.openxmlformats.org/drawingml/2006/main" prst="roundRect">
            <a:avLst>
              <a:gd name="adj" fmla="val 6667"/>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PhysioNet 2019</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40,336 patients</a:t>
            </a:r>
          </a:p>
        </p:txBody>
      </p:sp>
      <p:sp>
        <p:nvSpPr>
          <p:cNvPr id="221" name="rule-230-302">
            <a:extLst xmlns:a="http://schemas.openxmlformats.org/drawingml/2006/main">
              <a:ext uri="{FF2B5EF4-FFF2-40B4-BE49-F238E27FC236}">
                <a16:creationId xmlns:a16="http://schemas.microsoft.com/office/drawing/2014/main" id="{3E29BB4F-BB59-440E-8972-FAFBC3519283}"/>
              </a:ext>
            </a:extLst>
          </p:cNvPr>
          <p:cNvSpPr>
            <a:spLocks xmlns:a="http://schemas.openxmlformats.org/drawingml/2006/main" noGrp="1"/>
          </p:cNvSpPr>
          <p:nvPr/>
        </p:nvSpPr>
        <p:spPr>
          <a:xfrm xmlns:a="http://schemas.openxmlformats.org/drawingml/2006/main">
            <a:off x="2190750" y="2876550"/>
            <a:ext cx="333375" cy="381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design-step-2">
            <a:extLst xmlns:a="http://schemas.openxmlformats.org/drawingml/2006/main">
              <a:ext uri="{FF2B5EF4-FFF2-40B4-BE49-F238E27FC236}">
                <a16:creationId xmlns:a16="http://schemas.microsoft.com/office/drawing/2014/main" id="{84C8675A-03B7-4272-8D88-E7B5FC535C39}"/>
              </a:ext>
            </a:extLst>
          </p:cNvPr>
          <p:cNvSpPr>
            <a:spLocks xmlns:a="http://schemas.openxmlformats.org/drawingml/2006/main" noGrp="1"/>
          </p:cNvSpPr>
          <p:nvPr/>
        </p:nvSpPr>
        <p:spPr>
          <a:xfrm xmlns:a="http://schemas.openxmlformats.org/drawingml/2006/main">
            <a:off x="2524125" y="2333625"/>
            <a:ext cx="1571625" cy="1143000"/>
          </a:xfrm>
          <a:prstGeom xmlns:a="http://schemas.openxmlformats.org/drawingml/2006/main" prst="roundRect">
            <a:avLst>
              <a:gd name="adj" fmla="val 6667"/>
            </a:avLst>
          </a:prstGeom>
          <a:solidFill xmlns:a="http://schemas.openxmlformats.org/drawingml/2006/main">
            <a:srgbClr val="EAF2F8"/>
          </a:solidFill>
          <a:ln xmlns:a="http://schemas.openxmlformats.org/drawingml/2006/main" w="19050">
            <a:solidFill>
              <a:srgbClr val="17365D"/>
            </a:solidFill>
            <a:prstDash val="solid"/>
          </a:ln>
        </p:spPr>
        <p:txBody>
          <a:bodyPr xmlns:a="http://schemas.openxmlformats.org/drawingml/2006/main" anchor="ctr">
            <a:normAutofit/>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Natural split</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Hospital A and B</a:t>
            </a:r>
          </a:p>
        </p:txBody>
      </p:sp>
      <p:sp>
        <p:nvSpPr>
          <p:cNvPr id="223" name="rule-430-302">
            <a:extLst xmlns:a="http://schemas.openxmlformats.org/drawingml/2006/main">
              <a:ext uri="{FF2B5EF4-FFF2-40B4-BE49-F238E27FC236}">
                <a16:creationId xmlns:a16="http://schemas.microsoft.com/office/drawing/2014/main" id="{CE82DF3B-F7C1-4C56-905B-554E1A1B8C97}"/>
              </a:ext>
            </a:extLst>
          </p:cNvPr>
          <p:cNvSpPr>
            <a:spLocks xmlns:a="http://schemas.openxmlformats.org/drawingml/2006/main" noGrp="1"/>
          </p:cNvSpPr>
          <p:nvPr/>
        </p:nvSpPr>
        <p:spPr>
          <a:xfrm xmlns:a="http://schemas.openxmlformats.org/drawingml/2006/main">
            <a:off x="4095750" y="2876550"/>
            <a:ext cx="333375" cy="38100"/>
          </a:xfrm>
          <a:prstGeom xmlns:a="http://schemas.openxmlformats.org/drawingml/2006/main" prst="rect">
            <a:avLst/>
          </a:prstGeom>
          <a:solidFill xmlns:a="http://schemas.openxmlformats.org/drawingml/2006/main">
            <a:srgbClr val="17365D"/>
          </a:solidFill>
          <a:ln xmlns:a="http://schemas.openxmlformats.org/drawingml/2006/main" w="0">
            <a:noFill/>
          </a:ln>
        </p:spPr>
      </p:sp>
      <p:sp>
        <p:nvSpPr>
          <p:cNvPr id="224" name="design-step-3">
            <a:extLst xmlns:a="http://schemas.openxmlformats.org/drawingml/2006/main">
              <a:ext uri="{FF2B5EF4-FFF2-40B4-BE49-F238E27FC236}">
                <a16:creationId xmlns:a16="http://schemas.microsoft.com/office/drawing/2014/main" id="{2DA4CED2-59B1-4E4B-B407-41898578097A}"/>
              </a:ext>
            </a:extLst>
          </p:cNvPr>
          <p:cNvSpPr>
            <a:spLocks xmlns:a="http://schemas.openxmlformats.org/drawingml/2006/main" noGrp="1"/>
          </p:cNvSpPr>
          <p:nvPr/>
        </p:nvSpPr>
        <p:spPr>
          <a:xfrm xmlns:a="http://schemas.openxmlformats.org/drawingml/2006/main">
            <a:off x="4429125" y="2333625"/>
            <a:ext cx="1571625" cy="1143000"/>
          </a:xfrm>
          <a:prstGeom xmlns:a="http://schemas.openxmlformats.org/drawingml/2006/main" prst="roundRect">
            <a:avLst>
              <a:gd name="adj" fmla="val 6667"/>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Five paired seeds</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Frozen protocol</a:t>
            </a:r>
          </a:p>
        </p:txBody>
      </p:sp>
      <p:sp>
        <p:nvSpPr>
          <p:cNvPr id="225" name="rule-630-302">
            <a:extLst xmlns:a="http://schemas.openxmlformats.org/drawingml/2006/main">
              <a:ext uri="{FF2B5EF4-FFF2-40B4-BE49-F238E27FC236}">
                <a16:creationId xmlns:a16="http://schemas.microsoft.com/office/drawing/2014/main" id="{9DE0EBB8-AA62-4581-BD02-9DE6FF5C4994}"/>
              </a:ext>
            </a:extLst>
          </p:cNvPr>
          <p:cNvSpPr>
            <a:spLocks xmlns:a="http://schemas.openxmlformats.org/drawingml/2006/main" noGrp="1"/>
          </p:cNvSpPr>
          <p:nvPr/>
        </p:nvSpPr>
        <p:spPr>
          <a:xfrm xmlns:a="http://schemas.openxmlformats.org/drawingml/2006/main">
            <a:off x="6000750" y="2876550"/>
            <a:ext cx="333375" cy="381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6" name="design-step-4">
            <a:extLst xmlns:a="http://schemas.openxmlformats.org/drawingml/2006/main">
              <a:ext uri="{FF2B5EF4-FFF2-40B4-BE49-F238E27FC236}">
                <a16:creationId xmlns:a16="http://schemas.microsoft.com/office/drawing/2014/main" id="{6C501C09-CAC3-4E5E-B35C-8FE6F90B0D4E}"/>
              </a:ext>
            </a:extLst>
          </p:cNvPr>
          <p:cNvSpPr>
            <a:spLocks xmlns:a="http://schemas.openxmlformats.org/drawingml/2006/main" noGrp="1"/>
          </p:cNvSpPr>
          <p:nvPr/>
        </p:nvSpPr>
        <p:spPr>
          <a:xfrm xmlns:a="http://schemas.openxmlformats.org/drawingml/2006/main">
            <a:off x="6334125" y="2333625"/>
            <a:ext cx="1571625" cy="1143000"/>
          </a:xfrm>
          <a:prstGeom xmlns:a="http://schemas.openxmlformats.org/drawingml/2006/main" prst="roundRect">
            <a:avLst>
              <a:gd name="adj" fmla="val 6667"/>
            </a:avLst>
          </a:prstGeom>
          <a:solidFill xmlns:a="http://schemas.openxmlformats.org/drawingml/2006/main">
            <a:srgbClr val="EAF2F8"/>
          </a:solidFill>
          <a:ln xmlns:a="http://schemas.openxmlformats.org/drawingml/2006/main" w="19050">
            <a:solidFill>
              <a:srgbClr val="17365D"/>
            </a:solidFill>
            <a:prstDash val="solid"/>
          </a:ln>
        </p:spPr>
        <p:txBody>
          <a:bodyPr xmlns:a="http://schemas.openxmlformats.org/drawingml/2006/main" anchor="ctr">
            <a:normAutofit/>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Baselines and</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CAABC-FL</a:t>
            </a:r>
          </a:p>
        </p:txBody>
      </p:sp>
      <p:sp>
        <p:nvSpPr>
          <p:cNvPr id="227" name="rule-830-302">
            <a:extLst xmlns:a="http://schemas.openxmlformats.org/drawingml/2006/main">
              <a:ext uri="{FF2B5EF4-FFF2-40B4-BE49-F238E27FC236}">
                <a16:creationId xmlns:a16="http://schemas.microsoft.com/office/drawing/2014/main" id="{56AE0268-473C-4919-9E91-78D2E8B3CA68}"/>
              </a:ext>
            </a:extLst>
          </p:cNvPr>
          <p:cNvSpPr>
            <a:spLocks xmlns:a="http://schemas.openxmlformats.org/drawingml/2006/main" noGrp="1"/>
          </p:cNvSpPr>
          <p:nvPr/>
        </p:nvSpPr>
        <p:spPr>
          <a:xfrm xmlns:a="http://schemas.openxmlformats.org/drawingml/2006/main">
            <a:off x="7905750" y="2876550"/>
            <a:ext cx="333375" cy="38100"/>
          </a:xfrm>
          <a:prstGeom xmlns:a="http://schemas.openxmlformats.org/drawingml/2006/main" prst="rect">
            <a:avLst/>
          </a:prstGeom>
          <a:solidFill xmlns:a="http://schemas.openxmlformats.org/drawingml/2006/main">
            <a:srgbClr val="17365D"/>
          </a:solidFill>
          <a:ln xmlns:a="http://schemas.openxmlformats.org/drawingml/2006/main" w="0">
            <a:noFill/>
          </a:ln>
        </p:spPr>
      </p:sp>
      <p:sp>
        <p:nvSpPr>
          <p:cNvPr id="228" name="design-step-5">
            <a:extLst xmlns:a="http://schemas.openxmlformats.org/drawingml/2006/main">
              <a:ext uri="{FF2B5EF4-FFF2-40B4-BE49-F238E27FC236}">
                <a16:creationId xmlns:a16="http://schemas.microsoft.com/office/drawing/2014/main" id="{3478D8CC-727A-4AF4-9774-3ED0CDC2523B}"/>
              </a:ext>
            </a:extLst>
          </p:cNvPr>
          <p:cNvSpPr>
            <a:spLocks xmlns:a="http://schemas.openxmlformats.org/drawingml/2006/main" noGrp="1"/>
          </p:cNvSpPr>
          <p:nvPr/>
        </p:nvSpPr>
        <p:spPr>
          <a:xfrm xmlns:a="http://schemas.openxmlformats.org/drawingml/2006/main">
            <a:off x="8239125" y="2333625"/>
            <a:ext cx="1571625" cy="1143000"/>
          </a:xfrm>
          <a:prstGeom xmlns:a="http://schemas.openxmlformats.org/drawingml/2006/main" prst="roundRect">
            <a:avLst>
              <a:gd name="adj" fmla="val 6667"/>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Utility, attacks,</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wire and systems</a:t>
            </a:r>
          </a:p>
        </p:txBody>
      </p:sp>
      <p:sp>
        <p:nvSpPr>
          <p:cNvPr id="229" name="rule-1030-302">
            <a:extLst xmlns:a="http://schemas.openxmlformats.org/drawingml/2006/main">
              <a:ext uri="{FF2B5EF4-FFF2-40B4-BE49-F238E27FC236}">
                <a16:creationId xmlns:a16="http://schemas.microsoft.com/office/drawing/2014/main" id="{806F1D3C-48E0-4725-B9C8-6F200AAEEADE}"/>
              </a:ext>
            </a:extLst>
          </p:cNvPr>
          <p:cNvSpPr>
            <a:spLocks xmlns:a="http://schemas.openxmlformats.org/drawingml/2006/main" noGrp="1"/>
          </p:cNvSpPr>
          <p:nvPr/>
        </p:nvSpPr>
        <p:spPr>
          <a:xfrm xmlns:a="http://schemas.openxmlformats.org/drawingml/2006/main">
            <a:off x="9810750" y="2876550"/>
            <a:ext cx="333375" cy="381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30" name="design-step-6">
            <a:extLst xmlns:a="http://schemas.openxmlformats.org/drawingml/2006/main">
              <a:ext uri="{FF2B5EF4-FFF2-40B4-BE49-F238E27FC236}">
                <a16:creationId xmlns:a16="http://schemas.microsoft.com/office/drawing/2014/main" id="{D8B96DD7-3444-487E-850F-33106000B96A}"/>
              </a:ext>
            </a:extLst>
          </p:cNvPr>
          <p:cNvSpPr>
            <a:spLocks xmlns:a="http://schemas.openxmlformats.org/drawingml/2006/main" noGrp="1"/>
          </p:cNvSpPr>
          <p:nvPr/>
        </p:nvSpPr>
        <p:spPr>
          <a:xfrm xmlns:a="http://schemas.openxmlformats.org/drawingml/2006/main">
            <a:off x="10144125" y="2333625"/>
            <a:ext cx="1571625" cy="1143000"/>
          </a:xfrm>
          <a:prstGeom xmlns:a="http://schemas.openxmlformats.org/drawingml/2006/main" prst="roundRect">
            <a:avLst>
              <a:gd name="adj" fmla="val 6667"/>
            </a:avLst>
          </a:prstGeom>
          <a:solidFill xmlns:a="http://schemas.openxmlformats.org/drawingml/2006/main">
            <a:srgbClr val="EAF2F8"/>
          </a:solidFill>
          <a:ln xmlns:a="http://schemas.openxmlformats.org/drawingml/2006/main" w="19050">
            <a:solidFill>
              <a:srgbClr val="17365D"/>
            </a:solidFill>
            <a:prstDash val="solid"/>
          </a:ln>
        </p:spPr>
        <p:txBody>
          <a:bodyPr xmlns:a="http://schemas.openxmlformats.org/drawingml/2006/main" anchor="ctr">
            <a:normAutofit/>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Paired inference</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and claim boundary</a:t>
            </a:r>
          </a:p>
        </p:txBody>
      </p:sp>
      <p:sp>
        <p:nvSpPr>
          <p:cNvPr id="231" name="design-bullets">
            <a:extLst xmlns:a="http://schemas.openxmlformats.org/drawingml/2006/main">
              <a:ext uri="{FF2B5EF4-FFF2-40B4-BE49-F238E27FC236}">
                <a16:creationId xmlns:a16="http://schemas.microsoft.com/office/drawing/2014/main" id="{87C7EF95-D8FE-4386-BABD-F9B7504F2A1E}"/>
              </a:ext>
            </a:extLst>
          </p:cNvPr>
          <p:cNvSpPr>
            <a:spLocks xmlns:a="http://schemas.openxmlformats.org/drawingml/2006/main" noGrp="1"/>
          </p:cNvSpPr>
          <p:nvPr/>
        </p:nvSpPr>
        <p:spPr>
          <a:xfrm xmlns:a="http://schemas.openxmlformats.org/drawingml/2006/main">
            <a:off x="1428750" y="3952875"/>
            <a:ext cx="933450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marL="254000" indent="-127000">
              <a:spcAft>
                <a:spcPts val="700"/>
              </a:spcAft>
              <a:buChar char="•"/>
              <a:defRPr sz="1800">
                <a:solidFill>
                  <a:srgbClr val="1F2937"/>
                </a:solidFill>
                <a:latin typeface="Arial"/>
                <a:ea typeface="Arial"/>
                <a:cs typeface="Arial"/>
              </a:defRPr>
            </a:pPr>
            <a:r>
              <a:rPr sz="1800">
                <a:solidFill>
                  <a:srgbClr val="1F2937"/>
                </a:solidFill>
                <a:latin typeface="Arial"/>
                <a:ea typeface="Arial"/>
                <a:cs typeface="Arial"/>
              </a:rPr>
              <a:t>Cross-silo client-server experiment with a naturally partitioned healthcare cohort.</a:t>
            </a:r>
          </a:p>
          <a:p xmlns:a="http://schemas.openxmlformats.org/drawingml/2006/main">
            <a:pPr marL="254000" indent="-127000">
              <a:spcAft>
                <a:spcPts val="700"/>
              </a:spcAft>
              <a:buChar char="•"/>
              <a:defRPr sz="1800">
                <a:solidFill>
                  <a:srgbClr val="1F2937"/>
                </a:solidFill>
                <a:latin typeface="Arial"/>
                <a:ea typeface="Arial"/>
                <a:cs typeface="Arial"/>
              </a:defRPr>
            </a:pPr>
            <a:r>
              <a:rPr sz="1800">
                <a:solidFill>
                  <a:srgbClr val="1F2937"/>
                </a:solidFill>
                <a:latin typeface="Arial"/>
                <a:ea typeface="Arial"/>
                <a:cs typeface="Arial"/>
              </a:rPr>
              <a:t>Same model, privacy budget, CKKS context, round budget, and evaluation split across compared methods.</a:t>
            </a:r>
          </a:p>
          <a:p xmlns:a="http://schemas.openxmlformats.org/drawingml/2006/main">
            <a:pPr marL="254000" indent="-127000">
              <a:spcAft>
                <a:spcPts val="700"/>
              </a:spcAft>
              <a:buChar char="•"/>
              <a:defRPr sz="1800">
                <a:solidFill>
                  <a:srgbClr val="1F2937"/>
                </a:solidFill>
                <a:latin typeface="Arial"/>
                <a:ea typeface="Arial"/>
                <a:cs typeface="Arial"/>
              </a:defRPr>
            </a:pPr>
            <a:r>
              <a:rPr sz="1800">
                <a:solidFill>
                  <a:srgbClr val="1F2937"/>
                </a:solidFill>
                <a:latin typeface="Arial"/>
                <a:ea typeface="Arial"/>
                <a:cs typeface="Arial"/>
              </a:rPr>
              <a:t>Claims restricted to the evaluated data, attacks, deployment, and trust assumptions.</a:t>
            </a:r>
          </a:p>
        </p:txBody>
      </p:sp>
      <p:sp>
        <p:nvSpPr>
          <p:cNvPr id="234" name="visible-footer-date-15">
            <a:extLst xmlns:a="http://schemas.openxmlformats.org/drawingml/2006/main">
              <a:ext uri="{FF2B5EF4-FFF2-40B4-BE49-F238E27FC236}">
                <a16:creationId xmlns:a16="http://schemas.microsoft.com/office/drawing/2014/main" id="{A61205BE-2644-47EC-8F1A-C75D6617A9F2}"/>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2251748902"/>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2A1079EE-366E-379B-6617-A562F928AC23}"/>
              </a:ext>
            </a:extLst>
          </p:cNvPr>
          <p:cNvSpPr>
            <a:spLocks xmlns:a="http://schemas.openxmlformats.org/drawingml/2006/main" noGrp="1"/>
          </p:cNvSpPr>
          <p:nvPr>
            <p:ph type="title" idx="0"/>
          </p:nvPr>
        </p:nvSpPr>
        <p:spPr>
          <a:xfrm xmlns:a="http://schemas.openxmlformats.org/drawingml/2006/main">
            <a:off x="1892046" y="241785"/>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Data Collection Methods</a:t>
            </a:r>
            <a:endParaRPr/>
          </a:p>
        </p:txBody>
      </p:sp>
      <p:sp>
        <p:nvSpPr>
          <p:cNvPr id="212" name="Google Shape;212;p28">
            <a:extLst xmlns:a="http://schemas.openxmlformats.org/drawingml/2006/main">
              <a:ext uri="{FF2B5EF4-FFF2-40B4-BE49-F238E27FC236}">
                <a16:creationId xmlns:a16="http://schemas.microsoft.com/office/drawing/2014/main" id="{8569B78E-82D5-1F00-FFF4-A1F4DD38C16B}"/>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22</a:t>
            </a:r>
            <a:endParaRPr sz="2800"/>
          </a:p>
        </p:txBody>
      </p:sp>
      <p:pic>
        <p:nvPicPr>
          <p:cNvPr id="232"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09f81688ae0e4f63">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3"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9f64aab7edba4fe0">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FC08CC14-CDF6-806A-B93A-0FA7436F4236}"/>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dataset-number">
            <a:extLst xmlns:a="http://schemas.openxmlformats.org/drawingml/2006/main">
              <a:ext uri="{FF2B5EF4-FFF2-40B4-BE49-F238E27FC236}">
                <a16:creationId xmlns:a16="http://schemas.microsoft.com/office/drawing/2014/main" id="{5EAA8510-E034-4D48-B664-788A309791E6}"/>
              </a:ext>
            </a:extLst>
          </p:cNvPr>
          <p:cNvSpPr>
            <a:spLocks xmlns:a="http://schemas.openxmlformats.org/drawingml/2006/main" noGrp="1"/>
          </p:cNvSpPr>
          <p:nvPr/>
        </p:nvSpPr>
        <p:spPr>
          <a:xfrm xmlns:a="http://schemas.openxmlformats.org/drawingml/2006/main">
            <a:off x="857250" y="2336799"/>
            <a:ext cx="333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4650" b="1" i="0">
                <a:solidFill>
                  <a:srgbClr val="00843D"/>
                </a:solidFill>
                <a:latin typeface="Arial"/>
                <a:ea typeface="Arial"/>
                <a:cs typeface="Arial"/>
              </a:defRPr>
            </a:pPr>
            <a:r>
              <a:rPr sz="4650" b="1" i="0">
                <a:solidFill>
                  <a:srgbClr val="00843D"/>
                </a:solidFill>
                <a:latin typeface="Arial"/>
                <a:ea typeface="Arial"/>
                <a:cs typeface="Arial"/>
              </a:rPr>
              <a:t>40,336</a:t>
            </a:r>
          </a:p>
        </p:txBody>
      </p:sp>
      <p:sp>
        <p:nvSpPr>
          <p:cNvPr id="221" name="dataset-label">
            <a:extLst xmlns:a="http://schemas.openxmlformats.org/drawingml/2006/main">
              <a:ext uri="{FF2B5EF4-FFF2-40B4-BE49-F238E27FC236}">
                <a16:creationId xmlns:a16="http://schemas.microsoft.com/office/drawing/2014/main" id="{68F1A882-762B-4DE6-92F9-57C0EFB3AE60}"/>
              </a:ext>
            </a:extLst>
          </p:cNvPr>
          <p:cNvSpPr>
            <a:spLocks xmlns:a="http://schemas.openxmlformats.org/drawingml/2006/main" noGrp="1"/>
          </p:cNvSpPr>
          <p:nvPr/>
        </p:nvSpPr>
        <p:spPr>
          <a:xfrm xmlns:a="http://schemas.openxmlformats.org/drawingml/2006/main">
            <a:off x="857250" y="3289299"/>
            <a:ext cx="333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875" b="1" i="0">
                <a:solidFill>
                  <a:srgbClr val="17365D"/>
                </a:solidFill>
                <a:latin typeface="Arial"/>
                <a:ea typeface="Arial"/>
                <a:cs typeface="Arial"/>
              </a:defRPr>
            </a:pPr>
            <a:r>
              <a:rPr sz="1875" b="1" i="0">
                <a:solidFill>
                  <a:srgbClr val="17365D"/>
                </a:solidFill>
                <a:latin typeface="Arial"/>
                <a:ea typeface="Arial"/>
                <a:cs typeface="Arial"/>
              </a:rPr>
              <a:t>patient records in the PhysioNet 2019 sepsis cohort</a:t>
            </a:r>
          </a:p>
        </p:txBody>
      </p:sp>
      <p:sp>
        <p:nvSpPr>
          <p:cNvPr id="222" name="rule-475-150">
            <a:extLst xmlns:a="http://schemas.openxmlformats.org/drawingml/2006/main">
              <a:ext uri="{FF2B5EF4-FFF2-40B4-BE49-F238E27FC236}">
                <a16:creationId xmlns:a16="http://schemas.microsoft.com/office/drawing/2014/main" id="{BE5BC648-CA59-4609-88EA-F682A6F3B7FD}"/>
              </a:ext>
            </a:extLst>
          </p:cNvPr>
          <p:cNvSpPr>
            <a:spLocks xmlns:a="http://schemas.openxmlformats.org/drawingml/2006/main" noGrp="1"/>
          </p:cNvSpPr>
          <p:nvPr/>
        </p:nvSpPr>
        <p:spPr>
          <a:xfrm xmlns:a="http://schemas.openxmlformats.org/drawingml/2006/main">
            <a:off x="4524375" y="1428750"/>
            <a:ext cx="28575" cy="40005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3" name="collection-bullets">
            <a:extLst xmlns:a="http://schemas.openxmlformats.org/drawingml/2006/main">
              <a:ext uri="{FF2B5EF4-FFF2-40B4-BE49-F238E27FC236}">
                <a16:creationId xmlns:a16="http://schemas.microsoft.com/office/drawing/2014/main" id="{CBAD06CC-1B5F-413F-9972-4F496E0E3893}"/>
              </a:ext>
            </a:extLst>
          </p:cNvPr>
          <p:cNvSpPr>
            <a:spLocks xmlns:a="http://schemas.openxmlformats.org/drawingml/2006/main" noGrp="1"/>
          </p:cNvSpPr>
          <p:nvPr/>
        </p:nvSpPr>
        <p:spPr>
          <a:xfrm xmlns:a="http://schemas.openxmlformats.org/drawingml/2006/main">
            <a:off x="5048250" y="1476375"/>
            <a:ext cx="6191250"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Open retrospective critical-care data released for the PhysioNet/Computing in Cardiology Challenge [19].</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Two natural source partitions retained as Hospital A and Hospital B rather than randomly mixing institutions.</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Patient records remain local during the simulated cross-silo training process.</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Consent and governance assumptions follow the public dataset terms. The study does not involve prospective patient recruitment.</a:t>
            </a:r>
          </a:p>
        </p:txBody>
      </p:sp>
      <p:sp>
        <p:nvSpPr>
          <p:cNvPr id="224" name="collection-source">
            <a:extLst xmlns:a="http://schemas.openxmlformats.org/drawingml/2006/main">
              <a:ext uri="{FF2B5EF4-FFF2-40B4-BE49-F238E27FC236}">
                <a16:creationId xmlns:a16="http://schemas.microsoft.com/office/drawing/2014/main" id="{167C21B0-EB7E-4D39-9DFF-3ECA0A072CE1}"/>
              </a:ext>
            </a:extLst>
          </p:cNvPr>
          <p:cNvSpPr>
            <a:spLocks xmlns:a="http://schemas.openxmlformats.org/drawingml/2006/main" noGrp="1"/>
          </p:cNvSpPr>
          <p:nvPr/>
        </p:nvSpPr>
        <p:spPr>
          <a:xfrm xmlns:a="http://schemas.openxmlformats.org/drawingml/2006/main">
            <a:off x="5048250" y="5476875"/>
            <a:ext cx="619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50" b="0" i="1">
                <a:solidFill>
                  <a:srgbClr val="5B6573"/>
                </a:solidFill>
                <a:latin typeface="Arial"/>
                <a:ea typeface="Arial"/>
                <a:cs typeface="Arial"/>
              </a:defRPr>
            </a:pPr>
            <a:r>
              <a:rPr sz="1350" b="0" i="1">
                <a:solidFill>
                  <a:srgbClr val="5B6573"/>
                </a:solidFill>
                <a:latin typeface="Arial"/>
                <a:ea typeface="Arial"/>
                <a:cs typeface="Arial"/>
              </a:rPr>
              <a:t>Source: Reyna et al., Critical Care Medicine, 2020 [19].</a:t>
            </a:r>
          </a:p>
        </p:txBody>
      </p:sp>
      <p:sp>
        <p:nvSpPr>
          <p:cNvPr id="227" name="visible-footer-date-16">
            <a:extLst xmlns:a="http://schemas.openxmlformats.org/drawingml/2006/main">
              <a:ext uri="{FF2B5EF4-FFF2-40B4-BE49-F238E27FC236}">
                <a16:creationId xmlns:a16="http://schemas.microsoft.com/office/drawing/2014/main" id="{07201868-099B-4C0E-959D-74FC956B67D8}"/>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244198176"/>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241785"/>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Data Analysis Methods</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23</a:t>
            </a:r>
            <a:endParaRPr sz="2800"/>
          </a:p>
        </p:txBody>
      </p:sp>
      <p:pic>
        <p:nvPicPr>
          <p:cNvPr id="23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25b3d5fb3fe34308">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e313a9975bcb4370">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analysis-heading-0">
            <a:extLst xmlns:a="http://schemas.openxmlformats.org/drawingml/2006/main">
              <a:ext uri="{FF2B5EF4-FFF2-40B4-BE49-F238E27FC236}">
                <a16:creationId xmlns:a16="http://schemas.microsoft.com/office/drawing/2014/main" id="{3ECCB687-E844-4C46-8D87-97DED2082525}"/>
              </a:ext>
            </a:extLst>
          </p:cNvPr>
          <p:cNvSpPr>
            <a:spLocks xmlns:a="http://schemas.openxmlformats.org/drawingml/2006/main" noGrp="1"/>
          </p:cNvSpPr>
          <p:nvPr/>
        </p:nvSpPr>
        <p:spPr>
          <a:xfrm xmlns:a="http://schemas.openxmlformats.org/drawingml/2006/main">
            <a:off x="904875"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Utility</a:t>
            </a:r>
          </a:p>
        </p:txBody>
      </p:sp>
      <p:sp>
        <p:nvSpPr>
          <p:cNvPr id="221" name="rule-95-205">
            <a:extLst xmlns:a="http://schemas.openxmlformats.org/drawingml/2006/main">
              <a:ext uri="{FF2B5EF4-FFF2-40B4-BE49-F238E27FC236}">
                <a16:creationId xmlns:a16="http://schemas.microsoft.com/office/drawing/2014/main" id="{352B6B40-0702-4168-8048-430375DFED3B}"/>
              </a:ext>
            </a:extLst>
          </p:cNvPr>
          <p:cNvSpPr>
            <a:spLocks xmlns:a="http://schemas.openxmlformats.org/drawingml/2006/main" noGrp="1"/>
          </p:cNvSpPr>
          <p:nvPr/>
        </p:nvSpPr>
        <p:spPr>
          <a:xfrm xmlns:a="http://schemas.openxmlformats.org/drawingml/2006/main">
            <a:off x="904875" y="1952625"/>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analysis-body-0">
            <a:extLst xmlns:a="http://schemas.openxmlformats.org/drawingml/2006/main">
              <a:ext uri="{FF2B5EF4-FFF2-40B4-BE49-F238E27FC236}">
                <a16:creationId xmlns:a16="http://schemas.microsoft.com/office/drawing/2014/main" id="{E1145757-13C9-434A-9AA9-83512B8A0F01}"/>
              </a:ext>
            </a:extLst>
          </p:cNvPr>
          <p:cNvSpPr>
            <a:spLocks xmlns:a="http://schemas.openxmlformats.org/drawingml/2006/main" noGrp="1"/>
          </p:cNvSpPr>
          <p:nvPr/>
        </p:nvSpPr>
        <p:spPr>
          <a:xfrm xmlns:a="http://schemas.openxmlformats.org/drawingml/2006/main">
            <a:off x="904875"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Accuracy, precision, recall, F1, AUROC, AUPRC, balanced accuracy, MCC, and Brier score.</a:t>
            </a:r>
          </a:p>
        </p:txBody>
      </p:sp>
      <p:sp>
        <p:nvSpPr>
          <p:cNvPr id="223" name="analysis-heading-1">
            <a:extLst xmlns:a="http://schemas.openxmlformats.org/drawingml/2006/main">
              <a:ext uri="{FF2B5EF4-FFF2-40B4-BE49-F238E27FC236}">
                <a16:creationId xmlns:a16="http://schemas.microsoft.com/office/drawing/2014/main" id="{67D7186D-BE3C-4FC7-BC15-C60486E3FADA}"/>
              </a:ext>
            </a:extLst>
          </p:cNvPr>
          <p:cNvSpPr>
            <a:spLocks xmlns:a="http://schemas.openxmlformats.org/drawingml/2006/main" noGrp="1"/>
          </p:cNvSpPr>
          <p:nvPr/>
        </p:nvSpPr>
        <p:spPr>
          <a:xfrm xmlns:a="http://schemas.openxmlformats.org/drawingml/2006/main">
            <a:off x="6381750"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Privacy</a:t>
            </a:r>
          </a:p>
        </p:txBody>
      </p:sp>
      <p:sp>
        <p:nvSpPr>
          <p:cNvPr id="224" name="rule-670-205">
            <a:extLst xmlns:a="http://schemas.openxmlformats.org/drawingml/2006/main">
              <a:ext uri="{FF2B5EF4-FFF2-40B4-BE49-F238E27FC236}">
                <a16:creationId xmlns:a16="http://schemas.microsoft.com/office/drawing/2014/main" id="{D6C87596-8434-4BD7-9CCB-4FE6EA7D1472}"/>
              </a:ext>
            </a:extLst>
          </p:cNvPr>
          <p:cNvSpPr>
            <a:spLocks xmlns:a="http://schemas.openxmlformats.org/drawingml/2006/main" noGrp="1"/>
          </p:cNvSpPr>
          <p:nvPr/>
        </p:nvSpPr>
        <p:spPr>
          <a:xfrm xmlns:a="http://schemas.openxmlformats.org/drawingml/2006/main">
            <a:off x="6381750" y="1952625"/>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analysis-body-1">
            <a:extLst xmlns:a="http://schemas.openxmlformats.org/drawingml/2006/main">
              <a:ext uri="{FF2B5EF4-FFF2-40B4-BE49-F238E27FC236}">
                <a16:creationId xmlns:a16="http://schemas.microsoft.com/office/drawing/2014/main" id="{F7809C9B-0102-4004-9388-E586B6FE72E6}"/>
              </a:ext>
            </a:extLst>
          </p:cNvPr>
          <p:cNvSpPr>
            <a:spLocks xmlns:a="http://schemas.openxmlformats.org/drawingml/2006/main" noGrp="1"/>
          </p:cNvSpPr>
          <p:nvPr/>
        </p:nvSpPr>
        <p:spPr>
          <a:xfrm xmlns:a="http://schemas.openxmlformats.org/drawingml/2006/main">
            <a:off x="6381750"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LiRA and RMIA membership inference with eight reference models per seed. A 300-step gradient reconstruction attack.</a:t>
            </a:r>
          </a:p>
        </p:txBody>
      </p:sp>
      <p:sp>
        <p:nvSpPr>
          <p:cNvPr id="226" name="analysis-heading-2">
            <a:extLst xmlns:a="http://schemas.openxmlformats.org/drawingml/2006/main">
              <a:ext uri="{FF2B5EF4-FFF2-40B4-BE49-F238E27FC236}">
                <a16:creationId xmlns:a16="http://schemas.microsoft.com/office/drawing/2014/main" id="{963F3648-552A-4F3B-B427-1B855DDDFDCD}"/>
              </a:ext>
            </a:extLst>
          </p:cNvPr>
          <p:cNvSpPr>
            <a:spLocks xmlns:a="http://schemas.openxmlformats.org/drawingml/2006/main" noGrp="1"/>
          </p:cNvSpPr>
          <p:nvPr/>
        </p:nvSpPr>
        <p:spPr>
          <a:xfrm xmlns:a="http://schemas.openxmlformats.org/drawingml/2006/main">
            <a:off x="904875"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Poisoning</a:t>
            </a:r>
          </a:p>
        </p:txBody>
      </p:sp>
      <p:sp>
        <p:nvSpPr>
          <p:cNvPr id="227" name="rule-95-430">
            <a:extLst xmlns:a="http://schemas.openxmlformats.org/drawingml/2006/main">
              <a:ext uri="{FF2B5EF4-FFF2-40B4-BE49-F238E27FC236}">
                <a16:creationId xmlns:a16="http://schemas.microsoft.com/office/drawing/2014/main" id="{C2B4816D-3834-4F9F-9806-0BAF559D77AA}"/>
              </a:ext>
            </a:extLst>
          </p:cNvPr>
          <p:cNvSpPr>
            <a:spLocks xmlns:a="http://schemas.openxmlformats.org/drawingml/2006/main" noGrp="1"/>
          </p:cNvSpPr>
          <p:nvPr/>
        </p:nvSpPr>
        <p:spPr>
          <a:xfrm xmlns:a="http://schemas.openxmlformats.org/drawingml/2006/main">
            <a:off x="904875" y="4095750"/>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analysis-body-2">
            <a:extLst xmlns:a="http://schemas.openxmlformats.org/drawingml/2006/main">
              <a:ext uri="{FF2B5EF4-FFF2-40B4-BE49-F238E27FC236}">
                <a16:creationId xmlns:a16="http://schemas.microsoft.com/office/drawing/2014/main" id="{C30C5366-B15D-42D8-84BE-05EB22CCA644}"/>
              </a:ext>
            </a:extLst>
          </p:cNvPr>
          <p:cNvSpPr>
            <a:spLocks xmlns:a="http://schemas.openxmlformats.org/drawingml/2006/main" noGrp="1"/>
          </p:cNvSpPr>
          <p:nvPr/>
        </p:nvSpPr>
        <p:spPr>
          <a:xfrm xmlns:a="http://schemas.openxmlformats.org/drawingml/2006/main">
            <a:off x="904875"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Seven one-round attacks at 40% malicious clients and two longitudinal attack settings.</a:t>
            </a:r>
          </a:p>
        </p:txBody>
      </p:sp>
      <p:sp>
        <p:nvSpPr>
          <p:cNvPr id="229" name="analysis-heading-3">
            <a:extLst xmlns:a="http://schemas.openxmlformats.org/drawingml/2006/main">
              <a:ext uri="{FF2B5EF4-FFF2-40B4-BE49-F238E27FC236}">
                <a16:creationId xmlns:a16="http://schemas.microsoft.com/office/drawing/2014/main" id="{8579A858-5086-44ED-9B76-162A3A49E573}"/>
              </a:ext>
            </a:extLst>
          </p:cNvPr>
          <p:cNvSpPr>
            <a:spLocks xmlns:a="http://schemas.openxmlformats.org/drawingml/2006/main" noGrp="1"/>
          </p:cNvSpPr>
          <p:nvPr/>
        </p:nvSpPr>
        <p:spPr>
          <a:xfrm xmlns:a="http://schemas.openxmlformats.org/drawingml/2006/main">
            <a:off x="6381750"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Systems and statistics</a:t>
            </a:r>
          </a:p>
        </p:txBody>
      </p:sp>
      <p:sp>
        <p:nvSpPr>
          <p:cNvPr id="230" name="rule-670-430">
            <a:extLst xmlns:a="http://schemas.openxmlformats.org/drawingml/2006/main">
              <a:ext uri="{FF2B5EF4-FFF2-40B4-BE49-F238E27FC236}">
                <a16:creationId xmlns:a16="http://schemas.microsoft.com/office/drawing/2014/main" id="{36A2713B-9577-45B2-BDBB-D5A09125D637}"/>
              </a:ext>
            </a:extLst>
          </p:cNvPr>
          <p:cNvSpPr>
            <a:spLocks xmlns:a="http://schemas.openxmlformats.org/drawingml/2006/main" noGrp="1"/>
          </p:cNvSpPr>
          <p:nvPr/>
        </p:nvSpPr>
        <p:spPr>
          <a:xfrm xmlns:a="http://schemas.openxmlformats.org/drawingml/2006/main">
            <a:off x="6381750" y="4095750"/>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analysis-body-3">
            <a:extLst xmlns:a="http://schemas.openxmlformats.org/drawingml/2006/main">
              <a:ext uri="{FF2B5EF4-FFF2-40B4-BE49-F238E27FC236}">
                <a16:creationId xmlns:a16="http://schemas.microsoft.com/office/drawing/2014/main" id="{3C4AA0AE-85F2-42F7-AEAD-380C38D88CF9}"/>
              </a:ext>
            </a:extLst>
          </p:cNvPr>
          <p:cNvSpPr>
            <a:spLocks xmlns:a="http://schemas.openxmlformats.org/drawingml/2006/main" noGrp="1"/>
          </p:cNvSpPr>
          <p:nvPr/>
        </p:nvSpPr>
        <p:spPr>
          <a:xfrm xmlns:a="http://schemas.openxmlformats.org/drawingml/2006/main">
            <a:off x="6381750"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Serialized CKKS bytes, latency, cryptographic correctness, five paired seeds, 95% t intervals, and Holm correction.</a:t>
            </a:r>
          </a:p>
        </p:txBody>
      </p:sp>
      <p:sp>
        <p:nvSpPr>
          <p:cNvPr id="234" name="visible-footer-date-17">
            <a:extLst xmlns:a="http://schemas.openxmlformats.org/drawingml/2006/main">
              <a:ext uri="{FF2B5EF4-FFF2-40B4-BE49-F238E27FC236}">
                <a16:creationId xmlns:a16="http://schemas.microsoft.com/office/drawing/2014/main" id="{4AC84D05-C535-4C09-A644-6BEFDB21436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Budget Plan</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24</a:t>
            </a:r>
            <a:endParaRPr sz="2800"/>
          </a:p>
        </p:txBody>
      </p:sp>
      <p:pic>
        <p:nvPicPr>
          <p:cNvPr id="233"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efbff5c6df834696">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4"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6030f99ef3b64383">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budget-summary">
            <a:extLst xmlns:a="http://schemas.openxmlformats.org/drawingml/2006/main">
              <a:ext uri="{FF2B5EF4-FFF2-40B4-BE49-F238E27FC236}">
                <a16:creationId xmlns:a16="http://schemas.microsoft.com/office/drawing/2014/main" id="{8137B54B-653C-4133-9587-F93E6F3F151F}"/>
              </a:ext>
            </a:extLst>
          </p:cNvPr>
          <p:cNvSpPr>
            <a:spLocks xmlns:a="http://schemas.openxmlformats.org/drawingml/2006/main" noGrp="1"/>
          </p:cNvSpPr>
          <p:nvPr/>
        </p:nvSpPr>
        <p:spPr>
          <a:xfrm xmlns:a="http://schemas.openxmlformats.org/drawingml/2006/main">
            <a:off x="1524000" y="1190625"/>
            <a:ext cx="914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2325" b="1" i="0">
                <a:solidFill>
                  <a:srgbClr val="00843D"/>
                </a:solidFill>
                <a:latin typeface="Arial"/>
                <a:ea typeface="Arial"/>
                <a:cs typeface="Arial"/>
              </a:defRPr>
            </a:pPr>
            <a:r>
              <a:rPr sz="2325" b="1" i="0">
                <a:solidFill>
                  <a:srgbClr val="00843D"/>
                </a:solidFill>
                <a:latin typeface="Arial"/>
                <a:ea typeface="Arial"/>
                <a:cs typeface="Arial"/>
              </a:rPr>
              <a:t>No major project cost was required</a:t>
            </a:r>
          </a:p>
        </p:txBody>
      </p:sp>
      <p:sp>
        <p:nvSpPr>
          <p:cNvPr id="221" name="table-caption-budget">
            <a:extLst xmlns:a="http://schemas.openxmlformats.org/drawingml/2006/main">
              <a:ext uri="{FF2B5EF4-FFF2-40B4-BE49-F238E27FC236}">
                <a16:creationId xmlns:a16="http://schemas.microsoft.com/office/drawing/2014/main" id="{30FA90FD-4715-4D7B-80EA-6AD40A2657BE}"/>
              </a:ext>
            </a:extLst>
          </p:cNvPr>
          <p:cNvSpPr>
            <a:spLocks xmlns:a="http://schemas.openxmlformats.org/drawingml/2006/main" noGrp="1"/>
          </p:cNvSpPr>
          <p:nvPr/>
        </p:nvSpPr>
        <p:spPr>
          <a:xfrm xmlns:a="http://schemas.openxmlformats.org/drawingml/2006/main">
            <a:off x="1714500" y="1809750"/>
            <a:ext cx="876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IV. Resources used for the thesis</a:t>
            </a:r>
          </a:p>
        </p:txBody>
      </p:sp>
      <p:graphicFrame>
        <p:nvGraphicFramePr>
          <p:cNvPr id="238" name="Table 238"/>
          <p:cNvGraphicFramePr/>
          <p:nvPr/>
        </p:nvGraphicFramePr>
        <p:xfrm>
          <a:off xmlns:a="http://schemas.openxmlformats.org/drawingml/2006/main" x="1524000" y="2238375"/>
          <a:ext xmlns:a="http://schemas.openxmlformats.org/drawingml/2006/main" cx="9144000" cy="3143250"/>
        </p:xfrm>
        <a:graphic xmlns:a="http://schemas.openxmlformats.org/drawingml/2006/main">
          <a:graphicData uri="http://schemas.openxmlformats.org/drawingml/2006/table">
            <a:tbl>
              <a:tblPr firstRow="1" bandRow="1"/>
              <a:tblGrid>
                <a:gridCol w="2952750"/>
                <a:gridCol w="3714750"/>
                <a:gridCol w="2476500"/>
              </a:tblGrid>
              <a:tr h="628650">
                <a:tc>
                  <a:txBody>
                    <a:bodyPr/>
                    <a:lstStyle/>
                    <a:p>
                      <a:r>
                        <a:rPr sz="1425" b="1">
                          <a:solidFill>
                            <a:srgbClr val="FFFFFF"/>
                          </a:solidFill>
                          <a:latin typeface="Arial"/>
                          <a:ea typeface="Arial"/>
                          <a:cs typeface="Arial"/>
                        </a:rPr>
                        <a:t>Resource</a:t>
                      </a:r>
                    </a:p>
                  </a:txBody>
                  <a:tcPr marL="66675" marR="66675" marT="47625" marB="47625" anchor="ctr">
                    <a:solidFill>
                      <a:srgbClr val="17365D"/>
                    </a:solidFill>
                  </a:tcPr>
                </a:tc>
                <a:tc>
                  <a:txBody>
                    <a:bodyPr/>
                    <a:lstStyle/>
                    <a:p>
                      <a:r>
                        <a:rPr sz="1425" b="1">
                          <a:solidFill>
                            <a:srgbClr val="FFFFFF"/>
                          </a:solidFill>
                          <a:latin typeface="Arial"/>
                          <a:ea typeface="Arial"/>
                          <a:cs typeface="Arial"/>
                        </a:rPr>
                        <a:t>Provision</a:t>
                      </a:r>
                    </a:p>
                  </a:txBody>
                  <a:tcPr marL="66675" marR="66675" marT="47625" marB="47625" anchor="ctr">
                    <a:solidFill>
                      <a:srgbClr val="17365D"/>
                    </a:solidFill>
                  </a:tcPr>
                </a:tc>
                <a:tc>
                  <a:txBody>
                    <a:bodyPr/>
                    <a:lstStyle/>
                    <a:p>
                      <a:r>
                        <a:rPr sz="1425" b="1">
                          <a:solidFill>
                            <a:srgbClr val="FFFFFF"/>
                          </a:solidFill>
                          <a:latin typeface="Arial"/>
                          <a:ea typeface="Arial"/>
                          <a:cs typeface="Arial"/>
                        </a:rPr>
                        <a:t>Direct project cost</a:t>
                      </a:r>
                    </a:p>
                  </a:txBody>
                  <a:tcPr marL="66675" marR="66675" marT="47625" marB="47625" anchor="ctr">
                    <a:solidFill>
                      <a:srgbClr val="17365D"/>
                    </a:solidFill>
                  </a:tcPr>
                </a:tc>
              </a:tr>
              <a:tr h="628650">
                <a:tc>
                  <a:txBody>
                    <a:bodyPr/>
                    <a:lstStyle/>
                    <a:p>
                      <a:r>
                        <a:rPr sz="1350">
                          <a:solidFill>
                            <a:srgbClr val="1F2937"/>
                          </a:solidFill>
                          <a:latin typeface="Arial"/>
                          <a:ea typeface="Arial"/>
                          <a:cs typeface="Arial"/>
                        </a:rPr>
                        <a:t>PhysioNet 2019 dataset</a:t>
                      </a:r>
                    </a:p>
                  </a:txBody>
                  <a:tcPr marL="66675" marR="66675" marT="47625" marB="47625" anchor="ctr">
                    <a:solidFill>
                      <a:srgbClr val="FFFFFF"/>
                    </a:solidFill>
                  </a:tcPr>
                </a:tc>
                <a:tc>
                  <a:txBody>
                    <a:bodyPr/>
                    <a:lstStyle/>
                    <a:p>
                      <a:r>
                        <a:rPr sz="1350">
                          <a:solidFill>
                            <a:srgbClr val="1F2937"/>
                          </a:solidFill>
                          <a:latin typeface="Arial"/>
                          <a:ea typeface="Arial"/>
                          <a:cs typeface="Arial"/>
                        </a:rPr>
                        <a:t>Public research dataset</a:t>
                      </a:r>
                    </a:p>
                  </a:txBody>
                  <a:tcPr marL="66675" marR="66675" marT="47625" marB="47625" anchor="ctr">
                    <a:solidFill>
                      <a:srgbClr val="FFFFFF"/>
                    </a:solidFill>
                  </a:tcPr>
                </a:tc>
                <a:tc>
                  <a:txBody>
                    <a:bodyPr/>
                    <a:lstStyle/>
                    <a:p>
                      <a:r>
                        <a:rPr sz="1350">
                          <a:solidFill>
                            <a:srgbClr val="1F2937"/>
                          </a:solidFill>
                          <a:latin typeface="Arial"/>
                          <a:ea typeface="Arial"/>
                          <a:cs typeface="Arial"/>
                        </a:rPr>
                        <a:t>No fee</a:t>
                      </a:r>
                    </a:p>
                  </a:txBody>
                  <a:tcPr marL="66675" marR="66675" marT="47625" marB="47625" anchor="ctr">
                    <a:solidFill>
                      <a:srgbClr val="FFFFFF"/>
                    </a:solidFill>
                  </a:tcPr>
                </a:tc>
              </a:tr>
              <a:tr h="628650">
                <a:tc>
                  <a:txBody>
                    <a:bodyPr/>
                    <a:lstStyle/>
                    <a:p>
                      <a:r>
                        <a:rPr sz="1350">
                          <a:solidFill>
                            <a:srgbClr val="1F2937"/>
                          </a:solidFill>
                          <a:latin typeface="Arial"/>
                          <a:ea typeface="Arial"/>
                          <a:cs typeface="Arial"/>
                        </a:rPr>
                        <a:t>Python, PyTorch, TenSEAL, OpenFHE</a:t>
                      </a:r>
                    </a:p>
                  </a:txBody>
                  <a:tcPr marL="66675" marR="66675" marT="47625" marB="47625" anchor="ctr">
                    <a:solidFill>
                      <a:srgbClr val="FFFFFF"/>
                    </a:solidFill>
                  </a:tcPr>
                </a:tc>
                <a:tc>
                  <a:txBody>
                    <a:bodyPr/>
                    <a:lstStyle/>
                    <a:p>
                      <a:r>
                        <a:rPr sz="1350">
                          <a:solidFill>
                            <a:srgbClr val="1F2937"/>
                          </a:solidFill>
                          <a:latin typeface="Arial"/>
                          <a:ea typeface="Arial"/>
                          <a:cs typeface="Arial"/>
                        </a:rPr>
                        <a:t>Open-source software</a:t>
                      </a:r>
                    </a:p>
                  </a:txBody>
                  <a:tcPr marL="66675" marR="66675" marT="47625" marB="47625" anchor="ctr">
                    <a:solidFill>
                      <a:srgbClr val="FFFFFF"/>
                    </a:solidFill>
                  </a:tcPr>
                </a:tc>
                <a:tc>
                  <a:txBody>
                    <a:bodyPr/>
                    <a:lstStyle/>
                    <a:p>
                      <a:r>
                        <a:rPr sz="1350">
                          <a:solidFill>
                            <a:srgbClr val="1F2937"/>
                          </a:solidFill>
                          <a:latin typeface="Arial"/>
                          <a:ea typeface="Arial"/>
                          <a:cs typeface="Arial"/>
                        </a:rPr>
                        <a:t>No licence fee</a:t>
                      </a:r>
                    </a:p>
                  </a:txBody>
                  <a:tcPr marL="66675" marR="66675" marT="47625" marB="47625" anchor="ctr">
                    <a:solidFill>
                      <a:srgbClr val="FFFFFF"/>
                    </a:solidFill>
                  </a:tcPr>
                </a:tc>
              </a:tr>
              <a:tr h="628650">
                <a:tc>
                  <a:txBody>
                    <a:bodyPr/>
                    <a:lstStyle/>
                    <a:p>
                      <a:r>
                        <a:rPr sz="1350">
                          <a:solidFill>
                            <a:srgbClr val="1F2937"/>
                          </a:solidFill>
                          <a:latin typeface="Arial"/>
                          <a:ea typeface="Arial"/>
                          <a:cs typeface="Arial"/>
                        </a:rPr>
                        <a:t>Development hardware</a:t>
                      </a:r>
                    </a:p>
                  </a:txBody>
                  <a:tcPr marL="66675" marR="66675" marT="47625" marB="47625" anchor="ctr">
                    <a:solidFill>
                      <a:srgbClr val="FFFFFF"/>
                    </a:solidFill>
                  </a:tcPr>
                </a:tc>
                <a:tc>
                  <a:txBody>
                    <a:bodyPr/>
                    <a:lstStyle/>
                    <a:p>
                      <a:r>
                        <a:rPr sz="1350">
                          <a:solidFill>
                            <a:srgbClr val="1F2937"/>
                          </a:solidFill>
                          <a:latin typeface="Arial"/>
                          <a:ea typeface="Arial"/>
                          <a:cs typeface="Arial"/>
                        </a:rPr>
                        <a:t>Existing personal computer</a:t>
                      </a:r>
                    </a:p>
                  </a:txBody>
                  <a:tcPr marL="66675" marR="66675" marT="47625" marB="47625" anchor="ctr">
                    <a:solidFill>
                      <a:srgbClr val="FFFFFF"/>
                    </a:solidFill>
                  </a:tcPr>
                </a:tc>
                <a:tc>
                  <a:txBody>
                    <a:bodyPr/>
                    <a:lstStyle/>
                    <a:p>
                      <a:r>
                        <a:rPr sz="1350">
                          <a:solidFill>
                            <a:srgbClr val="1F2937"/>
                          </a:solidFill>
                          <a:latin typeface="Arial"/>
                          <a:ea typeface="Arial"/>
                          <a:cs typeface="Arial"/>
                        </a:rPr>
                        <a:t>No new purchase</a:t>
                      </a:r>
                    </a:p>
                  </a:txBody>
                  <a:tcPr marL="66675" marR="66675" marT="47625" marB="47625" anchor="ctr">
                    <a:solidFill>
                      <a:srgbClr val="FFFFFF"/>
                    </a:solidFill>
                  </a:tcPr>
                </a:tc>
              </a:tr>
              <a:tr h="628650">
                <a:tc>
                  <a:txBody>
                    <a:bodyPr/>
                    <a:lstStyle/>
                    <a:p>
                      <a:r>
                        <a:rPr sz="1350">
                          <a:solidFill>
                            <a:srgbClr val="1F2937"/>
                          </a:solidFill>
                          <a:latin typeface="Arial"/>
                          <a:ea typeface="Arial"/>
                          <a:cs typeface="Arial"/>
                        </a:rPr>
                        <a:t>Documentation and collaboration</a:t>
                      </a:r>
                    </a:p>
                  </a:txBody>
                  <a:tcPr marL="66675" marR="66675" marT="47625" marB="47625" anchor="ctr">
                    <a:solidFill>
                      <a:srgbClr val="FFFFFF"/>
                    </a:solidFill>
                  </a:tcPr>
                </a:tc>
                <a:tc>
                  <a:txBody>
                    <a:bodyPr/>
                    <a:lstStyle/>
                    <a:p>
                      <a:r>
                        <a:rPr sz="1350">
                          <a:solidFill>
                            <a:srgbClr val="1F2937"/>
                          </a:solidFill>
                          <a:latin typeface="Arial"/>
                          <a:ea typeface="Arial"/>
                          <a:cs typeface="Arial"/>
                        </a:rPr>
                        <a:t>University and existing services</a:t>
                      </a:r>
                    </a:p>
                  </a:txBody>
                  <a:tcPr marL="66675" marR="66675" marT="47625" marB="47625" anchor="ctr">
                    <a:solidFill>
                      <a:srgbClr val="FFFFFF"/>
                    </a:solidFill>
                  </a:tcPr>
                </a:tc>
                <a:tc>
                  <a:txBody>
                    <a:bodyPr/>
                    <a:lstStyle/>
                    <a:p>
                      <a:r>
                        <a:rPr sz="1350">
                          <a:solidFill>
                            <a:srgbClr val="1F2937"/>
                          </a:solidFill>
                          <a:latin typeface="Arial"/>
                          <a:ea typeface="Arial"/>
                          <a:cs typeface="Arial"/>
                        </a:rPr>
                        <a:t>No major additional cost</a:t>
                      </a:r>
                    </a:p>
                  </a:txBody>
                  <a:tcPr marL="66675" marR="66675" marT="47625" marB="47625" anchor="ctr">
                    <a:solidFill>
                      <a:srgbClr val="FFFFFF"/>
                    </a:solidFill>
                  </a:tcPr>
                </a:tc>
              </a:tr>
            </a:tbl>
          </a:graphicData>
        </a:graphic>
      </p:graphicFrame>
      <p:sp>
        <p:nvSpPr>
          <p:cNvPr id="227" name="visible-footer-date-18">
            <a:extLst xmlns:a="http://schemas.openxmlformats.org/drawingml/2006/main">
              <a:ext uri="{FF2B5EF4-FFF2-40B4-BE49-F238E27FC236}">
                <a16:creationId xmlns:a16="http://schemas.microsoft.com/office/drawing/2014/main" id="{019C4209-3297-4541-91A5-92028810CB27}"/>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pic>
        <p:nvPicPr>
          <p:cNvPr id="647" name="Google Shape;484;p49"/>
          <p:cNvPicPr>
            <a:picLocks xmlns:a="http://schemas.openxmlformats.org/drawingml/2006/main" noChangeAspect="1"/>
          </p:cNvPicPr>
          <p:nvPr/>
        </p:nvPicPr>
        <p:blipFill rotWithShape="1">
          <a:blip xmlns:r="http://schemas.openxmlformats.org/officeDocument/2006/relationships" xmlns:a="http://schemas.openxmlformats.org/drawingml/2006/main" r:embed="Rc13c028872e94f68">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648" name="Google Shape;485;p49"/>
          <p:cNvPicPr>
            <a:picLocks xmlns:a="http://schemas.openxmlformats.org/drawingml/2006/main" noChangeAspect="1"/>
          </p:cNvPicPr>
          <p:nvPr/>
        </p:nvPicPr>
        <p:blipFill rotWithShape="1">
          <a:blip xmlns:r="http://schemas.openxmlformats.org/officeDocument/2006/relationships" xmlns:a="http://schemas.openxmlformats.org/drawingml/2006/main" r:embed="R0781117033524235">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649" name="Google Shape;486;p49"/>
          <p:cNvPicPr>
            <a:picLocks xmlns:a="http://schemas.openxmlformats.org/drawingml/2006/main" noChangeAspect="1"/>
          </p:cNvPicPr>
          <p:nvPr/>
        </p:nvPicPr>
        <p:blipFill rotWithShape="1">
          <a:blip xmlns:r="http://schemas.openxmlformats.org/officeDocument/2006/relationships" xmlns:a="http://schemas.openxmlformats.org/drawingml/2006/main" r:embed="R398f09e1e886497d">
            <a:alphaModFix/>
          </a:blip>
          <a:srcRect xmlns:a="http://schemas.openxmlformats.org/drawingml/2006/main" l="1182" t="2324" r="3424" b="0"/>
          <a:stretch xmlns:a="http://schemas.openxmlformats.org/drawingml/2006/main"/>
        </p:blipFill>
        <p:spPr>
          <a:xfrm xmlns:a="http://schemas.openxmlformats.org/drawingml/2006/main">
            <a:off x="2210143" y="374895"/>
            <a:ext cx="7565367" cy="5537780"/>
          </a:xfrm>
          <a:prstGeom xmlns:a="http://schemas.openxmlformats.org/drawingml/2006/main" prst="rect">
            <a:avLst/>
          </a:prstGeom>
          <a:ln xmlns:a="http://schemas.openxmlformats.org/drawingml/2006/main">
            <a:noFill/>
          </a:ln>
        </p:spPr>
      </p:pic>
      <p:sp>
        <p:nvSpPr>
          <p:cNvPr id="487" name="Google Shape;487;p49">
            <a:extLst xmlns:a="http://schemas.openxmlformats.org/drawingml/2006/main">
              <a:ext uri="{FF2B5EF4-FFF2-40B4-BE49-F238E27FC236}">
                <a16:creationId xmlns:a16="http://schemas.microsoft.com/office/drawing/2014/main" id="{78E1052A-C591-416F-86AE-AD46DA65D61B}"/>
              </a:ext>
            </a:extLst>
          </p:cNvPr>
          <p:cNvSpPr>
            <a:spLocks xmlns:a="http://schemas.openxmlformats.org/drawingml/2006/main" noGrp="1"/>
          </p:cNvSpPr>
          <p:nvPr>
            <p:ph type="title" idx="0"/>
          </p:nvPr>
        </p:nvSpPr>
        <p:spPr>
          <a:xfrm xmlns:a="http://schemas.openxmlformats.org/drawingml/2006/main">
            <a:off x="3308410" y="4417569"/>
            <a:ext cx="5865900" cy="796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lvl="0" algn="ctr">
              <a:buSzPts val="4000"/>
              <a:buNone/>
            </a:pPr>
            <a:r>
              <a:rPr sz="4000">
                <a:latin typeface="Arial"/>
                <a:ea typeface="Arial"/>
                <a:cs typeface="Arial"/>
              </a:rPr>
              <a:t>Results and Discussion</a:t>
            </a:r>
            <a:endParaRPr/>
          </a:p>
        </p:txBody>
      </p:sp>
      <p:pic>
        <p:nvPicPr>
          <p:cNvPr id="651" name="Google Shape;488;p49"/>
          <p:cNvPicPr>
            <a:picLocks xmlns:a="http://schemas.openxmlformats.org/drawingml/2006/main" noChangeAspect="1"/>
          </p:cNvPicPr>
          <p:nvPr/>
        </p:nvPicPr>
        <p:blipFill rotWithShape="1">
          <a:blip xmlns:r="http://schemas.openxmlformats.org/officeDocument/2006/relationships" xmlns:a="http://schemas.openxmlformats.org/drawingml/2006/main" r:embed="R15e8d5ac82c54f6c">
            <a:alphaModFix/>
          </a:blip>
          <a:srcRect xmlns:a="http://schemas.openxmlformats.org/drawingml/2006/main" l="0" t="0" r="0" b="0"/>
          <a:stretch xmlns:a="http://schemas.openxmlformats.org/drawingml/2006/main"/>
        </p:blipFill>
        <p:spPr>
          <a:xfrm xmlns:a="http://schemas.openxmlformats.org/drawingml/2006/main">
            <a:off x="4782271" y="1829206"/>
            <a:ext cx="2341861" cy="2341861"/>
          </a:xfrm>
          <a:prstGeom xmlns:a="http://schemas.openxmlformats.org/drawingml/2006/main" prst="rect">
            <a:avLst/>
          </a:prstGeom>
          <a:ln xmlns:a="http://schemas.openxmlformats.org/drawingml/2006/main">
            <a:noFill/>
          </a:ln>
        </p:spPr>
      </p:pic>
      <p:cxnSp>
        <p:nvCxnSpPr>
          <p:cNvPr id="652" name="Google Shape;489;p49"/>
          <p:cNvCxnSpPr/>
          <p:nvPr/>
        </p:nvCxnSpPr>
        <p:spPr>
          <a:xfrm xmlns:a="http://schemas.openxmlformats.org/drawingml/2006/main">
            <a:off x="424707" y="5119185"/>
            <a:ext cx="11342700"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2" name="Google Shape;216;p28">
            <a:extLst xmlns:a="http://schemas.openxmlformats.org/drawingml/2006/main">
              <a:ext uri="{FF2B5EF4-FFF2-40B4-BE49-F238E27FC236}">
                <a16:creationId xmlns:a16="http://schemas.microsoft.com/office/drawing/2014/main" id="{A60FB40A-D25F-F66E-D3EC-B635D9E753B0}"/>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3" name="Google Shape;212;p28">
            <a:extLst xmlns:a="http://schemas.openxmlformats.org/drawingml/2006/main">
              <a:ext uri="{FF2B5EF4-FFF2-40B4-BE49-F238E27FC236}">
                <a16:creationId xmlns:a16="http://schemas.microsoft.com/office/drawing/2014/main" id="{F0366C7A-4C73-D4CB-3B84-166111325F0C}"/>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25</a:t>
            </a:r>
            <a:endParaRPr sz="2800"/>
          </a:p>
        </p:txBody>
      </p:sp>
      <p:sp>
        <p:nvSpPr>
          <p:cNvPr id="506" name="visible-footer-date-19">
            <a:extLst xmlns:a="http://schemas.openxmlformats.org/drawingml/2006/main">
              <a:ext uri="{FF2B5EF4-FFF2-40B4-BE49-F238E27FC236}">
                <a16:creationId xmlns:a16="http://schemas.microsoft.com/office/drawing/2014/main" id="{1AD8E625-EAFD-4388-9F52-DF4218A5D8B1}"/>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511854777"/>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9749074-61B2-7B23-C5FD-A3C425EE12E5}"/>
              </a:ext>
            </a:extLst>
          </p:cNvPr>
          <p:cNvSpPr>
            <a:spLocks xmlns:a="http://schemas.openxmlformats.org/drawingml/2006/main" noGrp="1"/>
          </p:cNvSpPr>
          <p:nvPr>
            <p:ph type="title" idx="0"/>
          </p:nvPr>
        </p:nvSpPr>
        <p:spPr>
          <a:xfrm xmlns:a="http://schemas.openxmlformats.org/drawingml/2006/main">
            <a:off x="1892046" y="241785"/>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Key Findings</a:t>
            </a:r>
            <a:endParaRPr/>
          </a:p>
        </p:txBody>
      </p:sp>
      <p:sp>
        <p:nvSpPr>
          <p:cNvPr id="212" name="Google Shape;212;p28">
            <a:extLst xmlns:a="http://schemas.openxmlformats.org/drawingml/2006/main">
              <a:ext uri="{FF2B5EF4-FFF2-40B4-BE49-F238E27FC236}">
                <a16:creationId xmlns:a16="http://schemas.microsoft.com/office/drawing/2014/main" id="{35C11982-4687-AC0D-8620-6C19505BCB5F}"/>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26</a:t>
            </a:r>
            <a:endParaRPr sz="2800"/>
          </a:p>
        </p:txBody>
      </p:sp>
      <p:pic>
        <p:nvPicPr>
          <p:cNvPr id="23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9e20b5af0c384f12">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53482822097b49da">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E2474A79-A604-DA23-71E4-29A8E265570A}"/>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metric-value-0">
            <a:extLst xmlns:a="http://schemas.openxmlformats.org/drawingml/2006/main">
              <a:ext uri="{FF2B5EF4-FFF2-40B4-BE49-F238E27FC236}">
                <a16:creationId xmlns:a16="http://schemas.microsoft.com/office/drawing/2014/main" id="{81FCF53F-B390-49AA-B12A-27362E742030}"/>
              </a:ext>
            </a:extLst>
          </p:cNvPr>
          <p:cNvSpPr>
            <a:spLocks xmlns:a="http://schemas.openxmlformats.org/drawingml/2006/main" noGrp="1"/>
          </p:cNvSpPr>
          <p:nvPr/>
        </p:nvSpPr>
        <p:spPr>
          <a:xfrm xmlns:a="http://schemas.openxmlformats.org/drawingml/2006/main">
            <a:off x="571500" y="166687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4200" b="1" i="0">
                <a:solidFill>
                  <a:srgbClr val="00843D"/>
                </a:solidFill>
                <a:latin typeface="Arial"/>
                <a:ea typeface="Arial"/>
                <a:cs typeface="Arial"/>
              </a:defRPr>
            </a:pPr>
            <a:r>
              <a:rPr sz="4200" b="1" i="0">
                <a:solidFill>
                  <a:srgbClr val="00843D"/>
                </a:solidFill>
                <a:latin typeface="Arial"/>
                <a:ea typeface="Arial"/>
                <a:cs typeface="Arial"/>
              </a:rPr>
              <a:t>0.730</a:t>
            </a:r>
          </a:p>
        </p:txBody>
      </p:sp>
      <p:sp>
        <p:nvSpPr>
          <p:cNvPr id="221" name="metric-label-0">
            <a:extLst xmlns:a="http://schemas.openxmlformats.org/drawingml/2006/main">
              <a:ext uri="{FF2B5EF4-FFF2-40B4-BE49-F238E27FC236}">
                <a16:creationId xmlns:a16="http://schemas.microsoft.com/office/drawing/2014/main" id="{CE4EE827-C2BA-4B8D-8FD7-4CA11C6BAF5F}"/>
              </a:ext>
            </a:extLst>
          </p:cNvPr>
          <p:cNvSpPr>
            <a:spLocks xmlns:a="http://schemas.openxmlformats.org/drawingml/2006/main" noGrp="1"/>
          </p:cNvSpPr>
          <p:nvPr/>
        </p:nvSpPr>
        <p:spPr>
          <a:xfrm xmlns:a="http://schemas.openxmlformats.org/drawingml/2006/main">
            <a:off x="571500" y="2571750"/>
            <a:ext cx="238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725" b="1" i="0">
                <a:solidFill>
                  <a:srgbClr val="17365D"/>
                </a:solidFill>
                <a:latin typeface="Arial"/>
                <a:ea typeface="Arial"/>
                <a:cs typeface="Arial"/>
              </a:defRPr>
            </a:pPr>
            <a:r>
              <a:rPr sz="1725" b="1" i="0">
                <a:solidFill>
                  <a:srgbClr val="17365D"/>
                </a:solidFill>
                <a:latin typeface="Arial"/>
                <a:ea typeface="Arial"/>
                <a:cs typeface="Arial"/>
              </a:rPr>
              <a:t>Mean test AUROC</a:t>
            </a:r>
          </a:p>
        </p:txBody>
      </p:sp>
      <p:sp>
        <p:nvSpPr>
          <p:cNvPr id="222" name="rule-335-165">
            <a:extLst xmlns:a="http://schemas.openxmlformats.org/drawingml/2006/main">
              <a:ext uri="{FF2B5EF4-FFF2-40B4-BE49-F238E27FC236}">
                <a16:creationId xmlns:a16="http://schemas.microsoft.com/office/drawing/2014/main" id="{C7811AF5-FFCE-40EC-B2B6-0A1CACD2D75A}"/>
              </a:ext>
            </a:extLst>
          </p:cNvPr>
          <p:cNvSpPr>
            <a:spLocks xmlns:a="http://schemas.openxmlformats.org/drawingml/2006/main" noGrp="1"/>
          </p:cNvSpPr>
          <p:nvPr/>
        </p:nvSpPr>
        <p:spPr>
          <a:xfrm xmlns:a="http://schemas.openxmlformats.org/drawingml/2006/main">
            <a:off x="3190875" y="1571625"/>
            <a:ext cx="19050" cy="19526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3" name="metric-value-1">
            <a:extLst xmlns:a="http://schemas.openxmlformats.org/drawingml/2006/main">
              <a:ext uri="{FF2B5EF4-FFF2-40B4-BE49-F238E27FC236}">
                <a16:creationId xmlns:a16="http://schemas.microsoft.com/office/drawing/2014/main" id="{756F8A59-9ACA-4C1F-AEF2-EE1D91C9555B}"/>
              </a:ext>
            </a:extLst>
          </p:cNvPr>
          <p:cNvSpPr>
            <a:spLocks xmlns:a="http://schemas.openxmlformats.org/drawingml/2006/main" noGrp="1"/>
          </p:cNvSpPr>
          <p:nvPr/>
        </p:nvSpPr>
        <p:spPr>
          <a:xfrm xmlns:a="http://schemas.openxmlformats.org/drawingml/2006/main">
            <a:off x="3476625" y="166687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4200" b="1" i="0">
                <a:solidFill>
                  <a:srgbClr val="17365D"/>
                </a:solidFill>
                <a:latin typeface="Arial"/>
                <a:ea typeface="Arial"/>
                <a:cs typeface="Arial"/>
              </a:defRPr>
            </a:pPr>
            <a:r>
              <a:rPr sz="4200" b="1" i="0">
                <a:solidFill>
                  <a:srgbClr val="17365D"/>
                </a:solidFill>
                <a:latin typeface="Arial"/>
                <a:ea typeface="Arial"/>
                <a:cs typeface="Arial"/>
              </a:rPr>
              <a:t>0.384</a:t>
            </a:r>
          </a:p>
        </p:txBody>
      </p:sp>
      <p:sp>
        <p:nvSpPr>
          <p:cNvPr id="224" name="metric-label-1">
            <a:extLst xmlns:a="http://schemas.openxmlformats.org/drawingml/2006/main">
              <a:ext uri="{FF2B5EF4-FFF2-40B4-BE49-F238E27FC236}">
                <a16:creationId xmlns:a16="http://schemas.microsoft.com/office/drawing/2014/main" id="{9127602C-9C01-4A7E-AEEF-62548F94789E}"/>
              </a:ext>
            </a:extLst>
          </p:cNvPr>
          <p:cNvSpPr>
            <a:spLocks xmlns:a="http://schemas.openxmlformats.org/drawingml/2006/main" noGrp="1"/>
          </p:cNvSpPr>
          <p:nvPr/>
        </p:nvSpPr>
        <p:spPr>
          <a:xfrm xmlns:a="http://schemas.openxmlformats.org/drawingml/2006/main">
            <a:off x="3476625" y="2571750"/>
            <a:ext cx="238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725" b="1" i="0">
                <a:solidFill>
                  <a:srgbClr val="17365D"/>
                </a:solidFill>
                <a:latin typeface="Arial"/>
                <a:ea typeface="Arial"/>
                <a:cs typeface="Arial"/>
              </a:defRPr>
            </a:pPr>
            <a:r>
              <a:rPr sz="1725" b="1" i="0">
                <a:solidFill>
                  <a:srgbClr val="17365D"/>
                </a:solidFill>
                <a:latin typeface="Arial"/>
                <a:ea typeface="Arial"/>
                <a:cs typeface="Arial"/>
              </a:rPr>
              <a:t>Mean test AUPRC</a:t>
            </a:r>
          </a:p>
        </p:txBody>
      </p:sp>
      <p:sp>
        <p:nvSpPr>
          <p:cNvPr id="225" name="rule-640-165">
            <a:extLst xmlns:a="http://schemas.openxmlformats.org/drawingml/2006/main">
              <a:ext uri="{FF2B5EF4-FFF2-40B4-BE49-F238E27FC236}">
                <a16:creationId xmlns:a16="http://schemas.microsoft.com/office/drawing/2014/main" id="{89547A79-1C4C-4AD2-94FF-D3B20425459D}"/>
              </a:ext>
            </a:extLst>
          </p:cNvPr>
          <p:cNvSpPr>
            <a:spLocks xmlns:a="http://schemas.openxmlformats.org/drawingml/2006/main" noGrp="1"/>
          </p:cNvSpPr>
          <p:nvPr/>
        </p:nvSpPr>
        <p:spPr>
          <a:xfrm xmlns:a="http://schemas.openxmlformats.org/drawingml/2006/main">
            <a:off x="6096000" y="1571625"/>
            <a:ext cx="19050" cy="19526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6" name="metric-value-2">
            <a:extLst xmlns:a="http://schemas.openxmlformats.org/drawingml/2006/main">
              <a:ext uri="{FF2B5EF4-FFF2-40B4-BE49-F238E27FC236}">
                <a16:creationId xmlns:a16="http://schemas.microsoft.com/office/drawing/2014/main" id="{DA443CB4-E551-4B2F-92D4-E0C463124B8A}"/>
              </a:ext>
            </a:extLst>
          </p:cNvPr>
          <p:cNvSpPr>
            <a:spLocks xmlns:a="http://schemas.openxmlformats.org/drawingml/2006/main" noGrp="1"/>
          </p:cNvSpPr>
          <p:nvPr/>
        </p:nvSpPr>
        <p:spPr>
          <a:xfrm xmlns:a="http://schemas.openxmlformats.org/drawingml/2006/main">
            <a:off x="6381750" y="166687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4200" b="1" i="0">
                <a:solidFill>
                  <a:srgbClr val="00843D"/>
                </a:solidFill>
                <a:latin typeface="Arial"/>
                <a:ea typeface="Arial"/>
                <a:cs typeface="Arial"/>
              </a:defRPr>
            </a:pPr>
            <a:r>
              <a:rPr sz="4200" b="1" i="0">
                <a:solidFill>
                  <a:srgbClr val="00843D"/>
                </a:solidFill>
                <a:latin typeface="Arial"/>
                <a:ea typeface="Arial"/>
                <a:cs typeface="Arial"/>
              </a:rPr>
              <a:t>56.0%</a:t>
            </a:r>
          </a:p>
        </p:txBody>
      </p:sp>
      <p:sp>
        <p:nvSpPr>
          <p:cNvPr id="227" name="metric-label-2">
            <a:extLst xmlns:a="http://schemas.openxmlformats.org/drawingml/2006/main">
              <a:ext uri="{FF2B5EF4-FFF2-40B4-BE49-F238E27FC236}">
                <a16:creationId xmlns:a16="http://schemas.microsoft.com/office/drawing/2014/main" id="{BAF988F8-780C-48FA-A3DC-692446A8A2BD}"/>
              </a:ext>
            </a:extLst>
          </p:cNvPr>
          <p:cNvSpPr>
            <a:spLocks xmlns:a="http://schemas.openxmlformats.org/drawingml/2006/main" noGrp="1"/>
          </p:cNvSpPr>
          <p:nvPr/>
        </p:nvSpPr>
        <p:spPr>
          <a:xfrm xmlns:a="http://schemas.openxmlformats.org/drawingml/2006/main">
            <a:off x="6381750" y="2571750"/>
            <a:ext cx="238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725" b="1" i="0">
                <a:solidFill>
                  <a:srgbClr val="17365D"/>
                </a:solidFill>
                <a:latin typeface="Arial"/>
                <a:ea typeface="Arial"/>
                <a:cs typeface="Arial"/>
              </a:defRPr>
            </a:pPr>
            <a:r>
              <a:rPr sz="1725" b="1" i="0">
                <a:solidFill>
                  <a:srgbClr val="17365D"/>
                </a:solidFill>
                <a:latin typeface="Arial"/>
                <a:ea typeface="Arial"/>
                <a:cs typeface="Arial"/>
              </a:rPr>
              <a:t>Encrypted upload reduction</a:t>
            </a:r>
          </a:p>
        </p:txBody>
      </p:sp>
      <p:sp>
        <p:nvSpPr>
          <p:cNvPr id="228" name="rule-945-165">
            <a:extLst xmlns:a="http://schemas.openxmlformats.org/drawingml/2006/main">
              <a:ext uri="{FF2B5EF4-FFF2-40B4-BE49-F238E27FC236}">
                <a16:creationId xmlns:a16="http://schemas.microsoft.com/office/drawing/2014/main" id="{78C123C2-3991-4E21-8749-EAF3B51C0BC4}"/>
              </a:ext>
            </a:extLst>
          </p:cNvPr>
          <p:cNvSpPr>
            <a:spLocks xmlns:a="http://schemas.openxmlformats.org/drawingml/2006/main" noGrp="1"/>
          </p:cNvSpPr>
          <p:nvPr/>
        </p:nvSpPr>
        <p:spPr>
          <a:xfrm xmlns:a="http://schemas.openxmlformats.org/drawingml/2006/main">
            <a:off x="9001125" y="1571625"/>
            <a:ext cx="19050" cy="19526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9" name="metric-value-3">
            <a:extLst xmlns:a="http://schemas.openxmlformats.org/drawingml/2006/main">
              <a:ext uri="{FF2B5EF4-FFF2-40B4-BE49-F238E27FC236}">
                <a16:creationId xmlns:a16="http://schemas.microsoft.com/office/drawing/2014/main" id="{B8BFB624-1091-4870-BBD2-DAEA3E982CDC}"/>
              </a:ext>
            </a:extLst>
          </p:cNvPr>
          <p:cNvSpPr>
            <a:spLocks xmlns:a="http://schemas.openxmlformats.org/drawingml/2006/main" noGrp="1"/>
          </p:cNvSpPr>
          <p:nvPr/>
        </p:nvSpPr>
        <p:spPr>
          <a:xfrm xmlns:a="http://schemas.openxmlformats.org/drawingml/2006/main">
            <a:off x="9286875" y="166687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3225" b="1" i="0">
                <a:solidFill>
                  <a:srgbClr val="17365D"/>
                </a:solidFill>
                <a:latin typeface="Arial"/>
                <a:ea typeface="Arial"/>
                <a:cs typeface="Arial"/>
              </a:defRPr>
            </a:pPr>
            <a:r>
              <a:rPr sz="3225" b="1" i="0">
                <a:solidFill>
                  <a:srgbClr val="17365D"/>
                </a:solidFill>
                <a:latin typeface="Arial"/>
                <a:ea typeface="Arial"/>
                <a:cs typeface="Arial"/>
              </a:rPr>
              <a:t>0.496-0.507</a:t>
            </a:r>
          </a:p>
        </p:txBody>
      </p:sp>
      <p:sp>
        <p:nvSpPr>
          <p:cNvPr id="230" name="metric-label-3">
            <a:extLst xmlns:a="http://schemas.openxmlformats.org/drawingml/2006/main">
              <a:ext uri="{FF2B5EF4-FFF2-40B4-BE49-F238E27FC236}">
                <a16:creationId xmlns:a16="http://schemas.microsoft.com/office/drawing/2014/main" id="{2C0F81FD-81D4-456F-BF65-6BF085CFE3F5}"/>
              </a:ext>
            </a:extLst>
          </p:cNvPr>
          <p:cNvSpPr>
            <a:spLocks xmlns:a="http://schemas.openxmlformats.org/drawingml/2006/main" noGrp="1"/>
          </p:cNvSpPr>
          <p:nvPr/>
        </p:nvSpPr>
        <p:spPr>
          <a:xfrm xmlns:a="http://schemas.openxmlformats.org/drawingml/2006/main">
            <a:off x="9286875" y="2571750"/>
            <a:ext cx="238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725" b="1" i="0">
                <a:solidFill>
                  <a:srgbClr val="17365D"/>
                </a:solidFill>
                <a:latin typeface="Arial"/>
                <a:ea typeface="Arial"/>
                <a:cs typeface="Arial"/>
              </a:defRPr>
            </a:pPr>
            <a:r>
              <a:rPr sz="1725" b="1" i="0">
                <a:solidFill>
                  <a:srgbClr val="17365D"/>
                </a:solidFill>
                <a:latin typeface="Arial"/>
                <a:ea typeface="Arial"/>
                <a:cs typeface="Arial"/>
              </a:rPr>
              <a:t>Private-model attack AUC</a:t>
            </a:r>
          </a:p>
        </p:txBody>
      </p:sp>
      <p:sp>
        <p:nvSpPr>
          <p:cNvPr id="231" name="finding-bullets">
            <a:extLst xmlns:a="http://schemas.openxmlformats.org/drawingml/2006/main">
              <a:ext uri="{FF2B5EF4-FFF2-40B4-BE49-F238E27FC236}">
                <a16:creationId xmlns:a16="http://schemas.microsoft.com/office/drawing/2014/main" id="{75FFB60E-1FC8-4EE1-BB1F-4F4B853F2D0E}"/>
              </a:ext>
            </a:extLst>
          </p:cNvPr>
          <p:cNvSpPr>
            <a:spLocks xmlns:a="http://schemas.openxmlformats.org/drawingml/2006/main" noGrp="1"/>
          </p:cNvSpPr>
          <p:nvPr/>
        </p:nvSpPr>
        <p:spPr>
          <a:xfrm xmlns:a="http://schemas.openxmlformats.org/drawingml/2006/main">
            <a:off x="1238250" y="3762375"/>
            <a:ext cx="9715500"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7076" lnSpcReduction="10000"/>
          </a:bodyPr>
          <a:lstStyle xmlns:a="http://schemas.openxmlformats.org/drawingml/2006/main"/>
          <a:p xmlns:a="http://schemas.openxmlformats.org/drawingml/2006/main">
            <a:pPr marL="254000" indent="-127000">
              <a:spcAft>
                <a:spcPts val="700"/>
              </a:spcAft>
              <a:buChar char="•"/>
              <a:defRPr sz="1725">
                <a:solidFill>
                  <a:srgbClr val="1F2937"/>
                </a:solidFill>
                <a:latin typeface="Arial"/>
                <a:ea typeface="Arial"/>
                <a:cs typeface="Arial"/>
              </a:defRPr>
            </a:pPr>
            <a:r>
              <a:rPr sz="1725">
                <a:solidFill>
                  <a:srgbClr val="1F2937"/>
                </a:solidFill>
                <a:latin typeface="Arial"/>
                <a:ea typeface="Arial"/>
                <a:cs typeface="Arial"/>
              </a:rPr>
              <a:t>CAABC-FL passed the registered AUROC non-inferiority gate against dense DP-FedAvg-CKKS.</a:t>
            </a:r>
          </a:p>
          <a:p xmlns:a="http://schemas.openxmlformats.org/drawingml/2006/main">
            <a:pPr marL="254000" indent="-127000">
              <a:spcAft>
                <a:spcPts val="700"/>
              </a:spcAft>
              <a:buChar char="•"/>
              <a:defRPr sz="1725">
                <a:solidFill>
                  <a:srgbClr val="1F2937"/>
                </a:solidFill>
                <a:latin typeface="Arial"/>
                <a:ea typeface="Arial"/>
                <a:cs typeface="Arial"/>
              </a:defRPr>
            </a:pPr>
            <a:r>
              <a:rPr sz="1725">
                <a:solidFill>
                  <a:srgbClr val="1F2937"/>
                </a:solidFill>
                <a:latin typeface="Arial"/>
                <a:ea typeface="Arial"/>
                <a:cs typeface="Arial"/>
              </a:rPr>
              <a:t>The AUPRC difference was negative, so the evidence does not support universal utility superiority.</a:t>
            </a:r>
          </a:p>
          <a:p xmlns:a="http://schemas.openxmlformats.org/drawingml/2006/main">
            <a:pPr marL="254000" indent="-127000">
              <a:spcAft>
                <a:spcPts val="700"/>
              </a:spcAft>
              <a:buChar char="•"/>
              <a:defRPr sz="1725">
                <a:solidFill>
                  <a:srgbClr val="1F2937"/>
                </a:solidFill>
                <a:latin typeface="Arial"/>
                <a:ea typeface="Arial"/>
                <a:cs typeface="Arial"/>
              </a:defRPr>
            </a:pPr>
            <a:r>
              <a:rPr sz="1725">
                <a:solidFill>
                  <a:srgbClr val="1F2937"/>
                </a:solidFill>
                <a:latin typeface="Arial"/>
                <a:ea typeface="Arial"/>
                <a:cs typeface="Arial"/>
              </a:rPr>
              <a:t>The governance layer contained the tested longitudinal backdoor with 60% rollback and a 0.0293 clean-AUROC cost.</a:t>
            </a:r>
          </a:p>
          <a:p xmlns:a="http://schemas.openxmlformats.org/drawingml/2006/main">
            <a:pPr marL="254000" indent="-127000">
              <a:spcAft>
                <a:spcPts val="700"/>
              </a:spcAft>
              <a:buChar char="•"/>
              <a:defRPr sz="1725">
                <a:solidFill>
                  <a:srgbClr val="1F2937"/>
                </a:solidFill>
                <a:latin typeface="Arial"/>
                <a:ea typeface="Arial"/>
                <a:cs typeface="Arial"/>
              </a:defRPr>
            </a:pPr>
            <a:r>
              <a:rPr sz="1725">
                <a:solidFill>
                  <a:srgbClr val="1F2937"/>
                </a:solidFill>
                <a:latin typeface="Arial"/>
                <a:ea typeface="Arial"/>
                <a:cs typeface="Arial"/>
              </a:rPr>
              <a:t>OpenFHE 3-of-3 CKKS achieved maximum error of 1.34 x 10^-13, while the main service remained centrally keyed.</a:t>
            </a:r>
          </a:p>
        </p:txBody>
      </p:sp>
      <p:sp>
        <p:nvSpPr>
          <p:cNvPr id="234" name="visible-footer-date-20">
            <a:extLst xmlns:a="http://schemas.openxmlformats.org/drawingml/2006/main">
              <a:ext uri="{FF2B5EF4-FFF2-40B4-BE49-F238E27FC236}">
                <a16:creationId xmlns:a16="http://schemas.microsoft.com/office/drawing/2014/main" id="{51EA2B7B-2F1F-48B1-8E4B-475805A7E5A4}"/>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986240585"/>
      </p:ext>
    </p:extLst>
  </p:cSld>
</p:sld>
</file>

<file path=ppt/slides/slide27.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6E90B73-F2C3-53A1-7B13-3555FC0B642C}"/>
              </a:ext>
            </a:extLst>
          </p:cNvPr>
          <p:cNvSpPr>
            <a:spLocks xmlns:a="http://schemas.openxmlformats.org/drawingml/2006/main" noGrp="1"/>
          </p:cNvSpPr>
          <p:nvPr>
            <p:ph type="title" idx="0"/>
          </p:nvPr>
        </p:nvSpPr>
        <p:spPr>
          <a:xfrm xmlns:a="http://schemas.openxmlformats.org/drawingml/2006/main">
            <a:off x="1892046" y="241785"/>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Same-Protocol Comparison</a:t>
            </a:r>
            <a:endParaRPr/>
          </a:p>
        </p:txBody>
      </p:sp>
      <p:sp>
        <p:nvSpPr>
          <p:cNvPr id="212" name="Google Shape;212;p28">
            <a:extLst xmlns:a="http://schemas.openxmlformats.org/drawingml/2006/main">
              <a:ext uri="{FF2B5EF4-FFF2-40B4-BE49-F238E27FC236}">
                <a16:creationId xmlns:a16="http://schemas.microsoft.com/office/drawing/2014/main" id="{329DDF94-3FDB-C82D-677A-0954FAB0B9D8}"/>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27</a:t>
            </a:r>
            <a:endParaRPr sz="2800"/>
          </a:p>
        </p:txBody>
      </p:sp>
      <p:pic>
        <p:nvPicPr>
          <p:cNvPr id="235"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9ad20766b41f4685">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6"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97a7f08a9dde4f86">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F8A4CD7-C5F7-3AFA-03D4-7EFB3D4151A6}"/>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table-caption-comparison">
            <a:extLst xmlns:a="http://schemas.openxmlformats.org/drawingml/2006/main">
              <a:ext uri="{FF2B5EF4-FFF2-40B4-BE49-F238E27FC236}">
                <a16:creationId xmlns:a16="http://schemas.microsoft.com/office/drawing/2014/main" id="{78FD406A-6BCF-4178-9769-D011AF2B62AD}"/>
              </a:ext>
            </a:extLst>
          </p:cNvPr>
          <p:cNvSpPr>
            <a:spLocks xmlns:a="http://schemas.openxmlformats.org/drawingml/2006/main" noGrp="1"/>
          </p:cNvSpPr>
          <p:nvPr/>
        </p:nvSpPr>
        <p:spPr>
          <a:xfrm xmlns:a="http://schemas.openxmlformats.org/drawingml/2006/main">
            <a:off x="619125" y="1143000"/>
            <a:ext cx="5810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V. Five-seed same-protocol comparison</a:t>
            </a:r>
          </a:p>
        </p:txBody>
      </p:sp>
      <p:graphicFrame>
        <p:nvGraphicFramePr>
          <p:cNvPr id="239" name="Table 239"/>
          <p:cNvGraphicFramePr/>
          <p:nvPr/>
        </p:nvGraphicFramePr>
        <p:xfrm>
          <a:off xmlns:a="http://schemas.openxmlformats.org/drawingml/2006/main" x="428625" y="1571625"/>
          <a:ext xmlns:a="http://schemas.openxmlformats.org/drawingml/2006/main" cx="6191250" cy="3667128"/>
        </p:xfrm>
        <a:graphic xmlns:a="http://schemas.openxmlformats.org/drawingml/2006/main">
          <a:graphicData uri="http://schemas.openxmlformats.org/drawingml/2006/table">
            <a:tbl>
              <a:tblPr firstRow="1" bandRow="1"/>
              <a:tblGrid>
                <a:gridCol w="2381250"/>
                <a:gridCol w="1238250"/>
                <a:gridCol w="1238250"/>
                <a:gridCol w="1333500"/>
              </a:tblGrid>
              <a:tr h="611188">
                <a:tc>
                  <a:txBody>
                    <a:bodyPr/>
                    <a:lstStyle/>
                    <a:p>
                      <a:r>
                        <a:rPr sz="1275" b="1">
                          <a:solidFill>
                            <a:srgbClr val="FFFFFF"/>
                          </a:solidFill>
                          <a:latin typeface="Arial"/>
                          <a:ea typeface="Arial"/>
                          <a:cs typeface="Arial"/>
                        </a:rPr>
                        <a:t>Method</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AUROC</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AUPRC</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Upload (MiB)</a:t>
                      </a:r>
                    </a:p>
                  </a:txBody>
                  <a:tcPr marL="66675" marR="66675" marT="47625" marB="47625" anchor="ctr">
                    <a:solidFill>
                      <a:srgbClr val="17365D"/>
                    </a:solidFill>
                  </a:tcPr>
                </a:tc>
              </a:tr>
              <a:tr h="611188">
                <a:tc>
                  <a:txBody>
                    <a:bodyPr/>
                    <a:lstStyle/>
                    <a:p>
                      <a:r>
                        <a:rPr sz="1238">
                          <a:solidFill>
                            <a:srgbClr val="1F2937"/>
                          </a:solidFill>
                          <a:latin typeface="Arial"/>
                          <a:ea typeface="Arial"/>
                          <a:cs typeface="Arial"/>
                        </a:rPr>
                        <a:t>DP-FedAvg-CKKS</a:t>
                      </a:r>
                    </a:p>
                  </a:txBody>
                  <a:tcPr marL="66675" marR="66675" marT="47625" marB="47625" anchor="ctr">
                    <a:solidFill>
                      <a:srgbClr val="FFFFFF"/>
                    </a:solidFill>
                  </a:tcPr>
                </a:tc>
                <a:tc>
                  <a:txBody>
                    <a:bodyPr/>
                    <a:lstStyle/>
                    <a:p>
                      <a:r>
                        <a:rPr sz="1238">
                          <a:solidFill>
                            <a:srgbClr val="1F2937"/>
                          </a:solidFill>
                          <a:latin typeface="Arial"/>
                          <a:ea typeface="Arial"/>
                          <a:cs typeface="Arial"/>
                        </a:rPr>
                        <a:t>0.731</a:t>
                      </a:r>
                    </a:p>
                  </a:txBody>
                  <a:tcPr marL="66675" marR="66675" marT="47625" marB="47625" anchor="ctr">
                    <a:solidFill>
                      <a:srgbClr val="FFFFFF"/>
                    </a:solidFill>
                  </a:tcPr>
                </a:tc>
                <a:tc>
                  <a:txBody>
                    <a:bodyPr/>
                    <a:lstStyle/>
                    <a:p>
                      <a:r>
                        <a:rPr sz="1238">
                          <a:solidFill>
                            <a:srgbClr val="1F2937"/>
                          </a:solidFill>
                          <a:latin typeface="Arial"/>
                          <a:ea typeface="Arial"/>
                          <a:cs typeface="Arial"/>
                        </a:rPr>
                        <a:t>0.394</a:t>
                      </a:r>
                    </a:p>
                  </a:txBody>
                  <a:tcPr marL="66675" marR="66675" marT="47625" marB="47625" anchor="ctr">
                    <a:solidFill>
                      <a:srgbClr val="FFFFFF"/>
                    </a:solidFill>
                  </a:tcPr>
                </a:tc>
                <a:tc>
                  <a:txBody>
                    <a:bodyPr/>
                    <a:lstStyle/>
                    <a:p>
                      <a:r>
                        <a:rPr sz="1238">
                          <a:solidFill>
                            <a:srgbClr val="1F2937"/>
                          </a:solidFill>
                          <a:latin typeface="Arial"/>
                          <a:ea typeface="Arial"/>
                          <a:cs typeface="Arial"/>
                        </a:rPr>
                        <a:t>63.20</a:t>
                      </a:r>
                    </a:p>
                  </a:txBody>
                  <a:tcPr marL="66675" marR="66675" marT="47625" marB="47625" anchor="ctr">
                    <a:solidFill>
                      <a:srgbClr val="FFFFFF"/>
                    </a:solidFill>
                  </a:tcPr>
                </a:tc>
              </a:tr>
              <a:tr h="611188">
                <a:tc>
                  <a:txBody>
                    <a:bodyPr/>
                    <a:lstStyle/>
                    <a:p>
                      <a:r>
                        <a:rPr sz="1238">
                          <a:solidFill>
                            <a:srgbClr val="1F2937"/>
                          </a:solidFill>
                          <a:latin typeface="Arial"/>
                          <a:ea typeface="Arial"/>
                          <a:cs typeface="Arial"/>
                        </a:rPr>
                        <a:t>CAABC-FL</a:t>
                      </a:r>
                    </a:p>
                  </a:txBody>
                  <a:tcPr marL="66675" marR="66675" marT="47625" marB="47625" anchor="ctr">
                    <a:solidFill>
                      <a:srgbClr val="FFFFFF"/>
                    </a:solidFill>
                  </a:tcPr>
                </a:tc>
                <a:tc>
                  <a:txBody>
                    <a:bodyPr/>
                    <a:lstStyle/>
                    <a:p>
                      <a:r>
                        <a:rPr sz="1238">
                          <a:solidFill>
                            <a:srgbClr val="1F2937"/>
                          </a:solidFill>
                          <a:latin typeface="Arial"/>
                          <a:ea typeface="Arial"/>
                          <a:cs typeface="Arial"/>
                        </a:rPr>
                        <a:t>0.730</a:t>
                      </a:r>
                    </a:p>
                  </a:txBody>
                  <a:tcPr marL="66675" marR="66675" marT="47625" marB="47625" anchor="ctr">
                    <a:solidFill>
                      <a:srgbClr val="FFFFFF"/>
                    </a:solidFill>
                  </a:tcPr>
                </a:tc>
                <a:tc>
                  <a:txBody>
                    <a:bodyPr/>
                    <a:lstStyle/>
                    <a:p>
                      <a:r>
                        <a:rPr sz="1238">
                          <a:solidFill>
                            <a:srgbClr val="1F2937"/>
                          </a:solidFill>
                          <a:latin typeface="Arial"/>
                          <a:ea typeface="Arial"/>
                          <a:cs typeface="Arial"/>
                        </a:rPr>
                        <a:t>0.384</a:t>
                      </a:r>
                    </a:p>
                  </a:txBody>
                  <a:tcPr marL="66675" marR="66675" marT="47625" marB="47625" anchor="ctr">
                    <a:solidFill>
                      <a:srgbClr val="FFFFFF"/>
                    </a:solidFill>
                  </a:tcPr>
                </a:tc>
                <a:tc>
                  <a:txBody>
                    <a:bodyPr/>
                    <a:lstStyle/>
                    <a:p>
                      <a:r>
                        <a:rPr sz="1238">
                          <a:solidFill>
                            <a:srgbClr val="1F2937"/>
                          </a:solidFill>
                          <a:latin typeface="Arial"/>
                          <a:ea typeface="Arial"/>
                          <a:cs typeface="Arial"/>
                        </a:rPr>
                        <a:t>27.81</a:t>
                      </a:r>
                    </a:p>
                  </a:txBody>
                  <a:tcPr marL="66675" marR="66675" marT="47625" marB="47625" anchor="ctr">
                    <a:solidFill>
                      <a:srgbClr val="FFFFFF"/>
                    </a:solidFill>
                  </a:tcPr>
                </a:tc>
              </a:tr>
              <a:tr h="611188">
                <a:tc>
                  <a:txBody>
                    <a:bodyPr/>
                    <a:lstStyle/>
                    <a:p>
                      <a:r>
                        <a:rPr sz="1238">
                          <a:solidFill>
                            <a:srgbClr val="1F2937"/>
                          </a:solidFill>
                          <a:latin typeface="Arial"/>
                          <a:ea typeface="Arial"/>
                          <a:cs typeface="Arial"/>
                        </a:rPr>
                        <a:t>Fed-EF-SGD</a:t>
                      </a:r>
                    </a:p>
                  </a:txBody>
                  <a:tcPr marL="66675" marR="66675" marT="47625" marB="47625" anchor="ctr">
                    <a:solidFill>
                      <a:srgbClr val="FFFFFF"/>
                    </a:solidFill>
                  </a:tcPr>
                </a:tc>
                <a:tc>
                  <a:txBody>
                    <a:bodyPr/>
                    <a:lstStyle/>
                    <a:p>
                      <a:r>
                        <a:rPr sz="1238">
                          <a:solidFill>
                            <a:srgbClr val="1F2937"/>
                          </a:solidFill>
                          <a:latin typeface="Arial"/>
                          <a:ea typeface="Arial"/>
                          <a:cs typeface="Arial"/>
                        </a:rPr>
                        <a:t>0.731</a:t>
                      </a:r>
                    </a:p>
                  </a:txBody>
                  <a:tcPr marL="66675" marR="66675" marT="47625" marB="47625" anchor="ctr">
                    <a:solidFill>
                      <a:srgbClr val="FFFFFF"/>
                    </a:solidFill>
                  </a:tcPr>
                </a:tc>
                <a:tc>
                  <a:txBody>
                    <a:bodyPr/>
                    <a:lstStyle/>
                    <a:p>
                      <a:r>
                        <a:rPr sz="1238">
                          <a:solidFill>
                            <a:srgbClr val="1F2937"/>
                          </a:solidFill>
                          <a:latin typeface="Arial"/>
                          <a:ea typeface="Arial"/>
                          <a:cs typeface="Arial"/>
                        </a:rPr>
                        <a:t>0.395</a:t>
                      </a:r>
                    </a:p>
                  </a:txBody>
                  <a:tcPr marL="66675" marR="66675" marT="47625" marB="47625" anchor="ctr">
                    <a:solidFill>
                      <a:srgbClr val="FFFFFF"/>
                    </a:solidFill>
                  </a:tcPr>
                </a:tc>
                <a:tc>
                  <a:txBody>
                    <a:bodyPr/>
                    <a:lstStyle/>
                    <a:p>
                      <a:r>
                        <a:rPr sz="1238">
                          <a:solidFill>
                            <a:srgbClr val="1F2937"/>
                          </a:solidFill>
                          <a:latin typeface="Arial"/>
                          <a:ea typeface="Arial"/>
                          <a:cs typeface="Arial"/>
                        </a:rPr>
                        <a:t>63.20</a:t>
                      </a:r>
                    </a:p>
                  </a:txBody>
                  <a:tcPr marL="66675" marR="66675" marT="47625" marB="47625" anchor="ctr">
                    <a:solidFill>
                      <a:srgbClr val="FFFFFF"/>
                    </a:solidFill>
                  </a:tcPr>
                </a:tc>
              </a:tr>
              <a:tr h="611188">
                <a:tc>
                  <a:txBody>
                    <a:bodyPr/>
                    <a:lstStyle/>
                    <a:p>
                      <a:r>
                        <a:rPr sz="1238">
                          <a:solidFill>
                            <a:srgbClr val="1F2937"/>
                          </a:solidFill>
                          <a:latin typeface="Arial"/>
                          <a:ea typeface="Arial"/>
                          <a:cs typeface="Arial"/>
                        </a:rPr>
                        <a:t>Fed-EF-AMS</a:t>
                      </a:r>
                    </a:p>
                  </a:txBody>
                  <a:tcPr marL="66675" marR="66675" marT="47625" marB="47625" anchor="ctr">
                    <a:solidFill>
                      <a:srgbClr val="FFFFFF"/>
                    </a:solidFill>
                  </a:tcPr>
                </a:tc>
                <a:tc>
                  <a:txBody>
                    <a:bodyPr/>
                    <a:lstStyle/>
                    <a:p>
                      <a:r>
                        <a:rPr sz="1238">
                          <a:solidFill>
                            <a:srgbClr val="1F2937"/>
                          </a:solidFill>
                          <a:latin typeface="Arial"/>
                          <a:ea typeface="Arial"/>
                          <a:cs typeface="Arial"/>
                        </a:rPr>
                        <a:t>0.732</a:t>
                      </a:r>
                    </a:p>
                  </a:txBody>
                  <a:tcPr marL="66675" marR="66675" marT="47625" marB="47625" anchor="ctr">
                    <a:solidFill>
                      <a:srgbClr val="FFFFFF"/>
                    </a:solidFill>
                  </a:tcPr>
                </a:tc>
                <a:tc>
                  <a:txBody>
                    <a:bodyPr/>
                    <a:lstStyle/>
                    <a:p>
                      <a:r>
                        <a:rPr sz="1238">
                          <a:solidFill>
                            <a:srgbClr val="1F2937"/>
                          </a:solidFill>
                          <a:latin typeface="Arial"/>
                          <a:ea typeface="Arial"/>
                          <a:cs typeface="Arial"/>
                        </a:rPr>
                        <a:t>0.341</a:t>
                      </a:r>
                    </a:p>
                  </a:txBody>
                  <a:tcPr marL="66675" marR="66675" marT="47625" marB="47625" anchor="ctr">
                    <a:solidFill>
                      <a:srgbClr val="FFFFFF"/>
                    </a:solidFill>
                  </a:tcPr>
                </a:tc>
                <a:tc>
                  <a:txBody>
                    <a:bodyPr/>
                    <a:lstStyle/>
                    <a:p>
                      <a:r>
                        <a:rPr sz="1238">
                          <a:solidFill>
                            <a:srgbClr val="1F2937"/>
                          </a:solidFill>
                          <a:latin typeface="Arial"/>
                          <a:ea typeface="Arial"/>
                          <a:cs typeface="Arial"/>
                        </a:rPr>
                        <a:t>63.20</a:t>
                      </a:r>
                    </a:p>
                  </a:txBody>
                  <a:tcPr marL="66675" marR="66675" marT="47625" marB="47625" anchor="ctr">
                    <a:solidFill>
                      <a:srgbClr val="FFFFFF"/>
                    </a:solidFill>
                  </a:tcPr>
                </a:tc>
              </a:tr>
              <a:tr h="611188">
                <a:tc>
                  <a:txBody>
                    <a:bodyPr/>
                    <a:lstStyle/>
                    <a:p>
                      <a:r>
                        <a:rPr sz="1238">
                          <a:solidFill>
                            <a:srgbClr val="1F2937"/>
                          </a:solidFill>
                          <a:latin typeface="Arial"/>
                          <a:ea typeface="Arial"/>
                          <a:cs typeface="Arial"/>
                        </a:rPr>
                        <a:t>SoteriaFL-SGD</a:t>
                      </a:r>
                    </a:p>
                  </a:txBody>
                  <a:tcPr marL="66675" marR="66675" marT="47625" marB="47625" anchor="ctr">
                    <a:solidFill>
                      <a:srgbClr val="FFFFFF"/>
                    </a:solidFill>
                  </a:tcPr>
                </a:tc>
                <a:tc>
                  <a:txBody>
                    <a:bodyPr/>
                    <a:lstStyle/>
                    <a:p>
                      <a:r>
                        <a:rPr sz="1238">
                          <a:solidFill>
                            <a:srgbClr val="1F2937"/>
                          </a:solidFill>
                          <a:latin typeface="Arial"/>
                          <a:ea typeface="Arial"/>
                          <a:cs typeface="Arial"/>
                        </a:rPr>
                        <a:t>0.727</a:t>
                      </a:r>
                    </a:p>
                  </a:txBody>
                  <a:tcPr marL="66675" marR="66675" marT="47625" marB="47625" anchor="ctr">
                    <a:solidFill>
                      <a:srgbClr val="FFFFFF"/>
                    </a:solidFill>
                  </a:tcPr>
                </a:tc>
                <a:tc>
                  <a:txBody>
                    <a:bodyPr/>
                    <a:lstStyle/>
                    <a:p>
                      <a:r>
                        <a:rPr sz="1238">
                          <a:solidFill>
                            <a:srgbClr val="1F2937"/>
                          </a:solidFill>
                          <a:latin typeface="Arial"/>
                          <a:ea typeface="Arial"/>
                          <a:cs typeface="Arial"/>
                        </a:rPr>
                        <a:t>0.392</a:t>
                      </a:r>
                    </a:p>
                  </a:txBody>
                  <a:tcPr marL="66675" marR="66675" marT="47625" marB="47625" anchor="ctr">
                    <a:solidFill>
                      <a:srgbClr val="FFFFFF"/>
                    </a:solidFill>
                  </a:tcPr>
                </a:tc>
                <a:tc>
                  <a:txBody>
                    <a:bodyPr/>
                    <a:lstStyle/>
                    <a:p>
                      <a:r>
                        <a:rPr sz="1238">
                          <a:solidFill>
                            <a:srgbClr val="1F2937"/>
                          </a:solidFill>
                          <a:latin typeface="Arial"/>
                          <a:ea typeface="Arial"/>
                          <a:cs typeface="Arial"/>
                        </a:rPr>
                        <a:t>63.21</a:t>
                      </a:r>
                    </a:p>
                  </a:txBody>
                  <a:tcPr marL="66675" marR="66675" marT="47625" marB="47625" anchor="ctr">
                    <a:solidFill>
                      <a:srgbClr val="FFFFFF"/>
                    </a:solidFill>
                  </a:tcPr>
                </a:tc>
              </a:tr>
            </a:tbl>
          </a:graphicData>
        </a:graphic>
      </p:graphicFrame>
      <p:graphicFrame>
        <p:nvGraphicFramePr>
          <p:cNvPr id="240" name="Chart"/>
          <p:cNvGraphicFramePr/>
          <p:nvPr/>
        </p:nvGraphicFramePr>
        <p:xfrm>
          <a:off xmlns:a="http://schemas.openxmlformats.org/drawingml/2006/main" x="6905625" y="1476375"/>
          <a:ext xmlns:a="http://schemas.openxmlformats.org/drawingml/2006/main" cx="4762500" cy="3810000"/>
        </p:xfrm>
        <a:graphic xmlns:a="http://schemas.openxmlformats.org/drawingml/2006/main">
          <a:graphicData uri="http://schemas.openxmlformats.org/drawingml/2006/chart">
            <c:chart xmlns:r="http://schemas.openxmlformats.org/officeDocument/2006/relationships" xmlns:c="http://schemas.openxmlformats.org/drawingml/2006/chart" r:id="R38be6a9b355b4ff0"/>
          </a:graphicData>
        </a:graphic>
      </p:graphicFrame>
      <p:sp>
        <p:nvSpPr>
          <p:cNvPr id="223" name="comparison-note">
            <a:extLst xmlns:a="http://schemas.openxmlformats.org/drawingml/2006/main">
              <a:ext uri="{FF2B5EF4-FFF2-40B4-BE49-F238E27FC236}">
                <a16:creationId xmlns:a16="http://schemas.microsoft.com/office/drawing/2014/main" id="{4359A255-8DEF-4094-838B-EFAE84812294}"/>
              </a:ext>
            </a:extLst>
          </p:cNvPr>
          <p:cNvSpPr>
            <a:spLocks xmlns:a="http://schemas.openxmlformats.org/drawingml/2006/main" noGrp="1"/>
          </p:cNvSpPr>
          <p:nvPr/>
        </p:nvSpPr>
        <p:spPr>
          <a:xfrm xmlns:a="http://schemas.openxmlformats.org/drawingml/2006/main">
            <a:off x="1047750" y="5476875"/>
            <a:ext cx="10096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650" b="1" i="0">
                <a:solidFill>
                  <a:srgbClr val="00843D"/>
                </a:solidFill>
                <a:latin typeface="Arial"/>
                <a:ea typeface="Arial"/>
                <a:cs typeface="Arial"/>
              </a:defRPr>
            </a:pPr>
            <a:r>
              <a:rPr sz="1650" b="1" i="0">
                <a:solidFill>
                  <a:srgbClr val="00843D"/>
                </a:solidFill>
                <a:latin typeface="Arial"/>
                <a:ea typeface="Arial"/>
                <a:cs typeface="Arial"/>
              </a:rPr>
              <a:t>Only CAABC-FL converted compression into a material serialized CKKS upload saving.</a:t>
            </a:r>
          </a:p>
        </p:txBody>
      </p:sp>
      <p:sp>
        <p:nvSpPr>
          <p:cNvPr id="228" name="visible-footer-date-21">
            <a:extLst xmlns:a="http://schemas.openxmlformats.org/drawingml/2006/main">
              <a:ext uri="{FF2B5EF4-FFF2-40B4-BE49-F238E27FC236}">
                <a16:creationId xmlns:a16="http://schemas.microsoft.com/office/drawing/2014/main" id="{947B7AE5-8DFC-4CBC-90D6-BF20E0CA27DB}"/>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417829261"/>
      </p:ext>
    </p:extLst>
  </p:cSld>
</p:sld>
</file>

<file path=ppt/slides/slide28.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FEBD26CE-42E7-A335-8292-6E657AEDDA37}"/>
              </a:ext>
            </a:extLst>
          </p:cNvPr>
          <p:cNvSpPr>
            <a:spLocks xmlns:a="http://schemas.openxmlformats.org/drawingml/2006/main" noGrp="1"/>
          </p:cNvSpPr>
          <p:nvPr>
            <p:ph type="title" idx="0"/>
          </p:nvPr>
        </p:nvSpPr>
        <p:spPr>
          <a:xfrm xmlns:a="http://schemas.openxmlformats.org/drawingml/2006/main">
            <a:off x="1892046" y="366833"/>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9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Privacy, Poisoning and Systems Performance</a:t>
            </a:r>
            <a:endParaRPr/>
          </a:p>
        </p:txBody>
      </p:sp>
      <p:sp>
        <p:nvSpPr>
          <p:cNvPr id="212" name="Google Shape;212;p28">
            <a:extLst xmlns:a="http://schemas.openxmlformats.org/drawingml/2006/main">
              <a:ext uri="{FF2B5EF4-FFF2-40B4-BE49-F238E27FC236}">
                <a16:creationId xmlns:a16="http://schemas.microsoft.com/office/drawing/2014/main" id="{F0383842-FFA2-4244-D4A7-5EBBE73A3CD4}"/>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28</a:t>
            </a:r>
            <a:endParaRPr sz="2800"/>
          </a:p>
        </p:txBody>
      </p:sp>
      <p:pic>
        <p:nvPicPr>
          <p:cNvPr id="236"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3fc4ebb1637b4837">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7"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a36c3817092a41c7">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AC7F58F-7858-E83B-ED46-884D28D5F233}"/>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pic>
        <p:nvPicPr>
          <p:cNvPr id="239" name="Picture 239"/>
          <p:cNvPicPr>
            <a:picLocks xmlns:a="http://schemas.openxmlformats.org/drawingml/2006/main" noChangeAspect="1"/>
          </p:cNvPicPr>
          <p:nvPr/>
        </p:nvPicPr>
        <p:blipFill>
          <a:blip xmlns:r="http://schemas.openxmlformats.org/officeDocument/2006/relationships" xmlns:a="http://schemas.openxmlformats.org/drawingml/2006/main" r:embed="Rc8d7746ee0b34ce3"/>
          <a:stretch xmlns:a="http://schemas.openxmlformats.org/drawingml/2006/main"/>
        </p:blipFill>
        <p:spPr>
          <a:xfrm xmlns:a="http://schemas.openxmlformats.org/drawingml/2006/main">
            <a:off x="428625" y="1666462"/>
            <a:ext cx="5476875" cy="2763076"/>
          </a:xfrm>
          <a:prstGeom xmlns:a="http://schemas.openxmlformats.org/drawingml/2006/main" prst="rect">
            <a:avLst/>
          </a:prstGeom>
        </p:spPr>
      </p:pic>
      <p:pic>
        <p:nvPicPr>
          <p:cNvPr id="240" name="Picture 240"/>
          <p:cNvPicPr>
            <a:picLocks xmlns:a="http://schemas.openxmlformats.org/drawingml/2006/main" noChangeAspect="1"/>
          </p:cNvPicPr>
          <p:nvPr/>
        </p:nvPicPr>
        <p:blipFill>
          <a:blip xmlns:r="http://schemas.openxmlformats.org/officeDocument/2006/relationships" xmlns:a="http://schemas.openxmlformats.org/drawingml/2006/main" r:embed="R0b6d743284f445f3"/>
          <a:stretch xmlns:a="http://schemas.openxmlformats.org/drawingml/2006/main"/>
        </p:blipFill>
        <p:spPr>
          <a:xfrm xmlns:a="http://schemas.openxmlformats.org/drawingml/2006/main">
            <a:off x="6217004" y="1238250"/>
            <a:ext cx="5520616" cy="3619500"/>
          </a:xfrm>
          <a:prstGeom xmlns:a="http://schemas.openxmlformats.org/drawingml/2006/main" prst="rect">
            <a:avLst/>
          </a:prstGeom>
        </p:spPr>
      </p:pic>
      <p:sp>
        <p:nvSpPr>
          <p:cNvPr id="222" name="privacy-caption">
            <a:extLst xmlns:a="http://schemas.openxmlformats.org/drawingml/2006/main">
              <a:ext uri="{FF2B5EF4-FFF2-40B4-BE49-F238E27FC236}">
                <a16:creationId xmlns:a16="http://schemas.microsoft.com/office/drawing/2014/main" id="{9FE689F8-DBEE-43EB-A250-5B6E19B44C94}"/>
              </a:ext>
            </a:extLst>
          </p:cNvPr>
          <p:cNvSpPr>
            <a:spLocks xmlns:a="http://schemas.openxmlformats.org/drawingml/2006/main" noGrp="1"/>
          </p:cNvSpPr>
          <p:nvPr/>
        </p:nvSpPr>
        <p:spPr>
          <a:xfrm xmlns:a="http://schemas.openxmlformats.org/drawingml/2006/main">
            <a:off x="571500" y="4857750"/>
            <a:ext cx="5191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313" b="0" i="1">
                <a:solidFill>
                  <a:srgbClr val="1F2937"/>
                </a:solidFill>
                <a:latin typeface="Arial"/>
                <a:ea typeface="Arial"/>
                <a:cs typeface="Arial"/>
              </a:defRPr>
            </a:pPr>
            <a:r>
              <a:rPr sz="1313" b="0" i="1">
                <a:solidFill>
                  <a:srgbClr val="1F2937"/>
                </a:solidFill>
                <a:latin typeface="Arial"/>
                <a:ea typeface="Arial"/>
                <a:cs typeface="Arial"/>
              </a:rPr>
              <a:t>Fig. 2. Membership-inference diagnostics. Values near 0.5 indicate chance-level discrimination.</a:t>
            </a:r>
          </a:p>
        </p:txBody>
      </p:sp>
      <p:sp>
        <p:nvSpPr>
          <p:cNvPr id="223" name="poison-caption">
            <a:extLst xmlns:a="http://schemas.openxmlformats.org/drawingml/2006/main">
              <a:ext uri="{FF2B5EF4-FFF2-40B4-BE49-F238E27FC236}">
                <a16:creationId xmlns:a16="http://schemas.microsoft.com/office/drawing/2014/main" id="{2256AF0E-6549-4BCA-9BBE-3D443185F89B}"/>
              </a:ext>
            </a:extLst>
          </p:cNvPr>
          <p:cNvSpPr>
            <a:spLocks xmlns:a="http://schemas.openxmlformats.org/drawingml/2006/main" noGrp="1"/>
          </p:cNvSpPr>
          <p:nvPr/>
        </p:nvSpPr>
        <p:spPr>
          <a:xfrm xmlns:a="http://schemas.openxmlformats.org/drawingml/2006/main">
            <a:off x="6334125" y="4857750"/>
            <a:ext cx="5286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313" b="0" i="1">
                <a:solidFill>
                  <a:srgbClr val="1F2937"/>
                </a:solidFill>
                <a:latin typeface="Arial"/>
                <a:ea typeface="Arial"/>
                <a:cs typeface="Arial"/>
              </a:defRPr>
            </a:pPr>
            <a:r>
              <a:rPr sz="1313" b="0" i="1">
                <a:solidFill>
                  <a:srgbClr val="1F2937"/>
                </a:solidFill>
                <a:latin typeface="Arial"/>
                <a:ea typeface="Arial"/>
                <a:cs typeface="Arial"/>
              </a:rPr>
              <a:t>Fig. 3. Mean paired AUROC change at 40% malicious clients. More negative values indicate greater damage.</a:t>
            </a:r>
          </a:p>
        </p:txBody>
      </p:sp>
      <p:sp>
        <p:nvSpPr>
          <p:cNvPr id="224" name="systems-summary">
            <a:extLst xmlns:a="http://schemas.openxmlformats.org/drawingml/2006/main">
              <a:ext uri="{FF2B5EF4-FFF2-40B4-BE49-F238E27FC236}">
                <a16:creationId xmlns:a16="http://schemas.microsoft.com/office/drawing/2014/main" id="{DE003543-2634-4122-A61F-A3DE15EBCEFC}"/>
              </a:ext>
            </a:extLst>
          </p:cNvPr>
          <p:cNvSpPr>
            <a:spLocks xmlns:a="http://schemas.openxmlformats.org/drawingml/2006/main" noGrp="1"/>
          </p:cNvSpPr>
          <p:nvPr/>
        </p:nvSpPr>
        <p:spPr>
          <a:xfrm xmlns:a="http://schemas.openxmlformats.org/drawingml/2006/main">
            <a:off x="1095375" y="5524500"/>
            <a:ext cx="10001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9746" lnSpcReduction="10000"/>
          </a:bodyPr>
          <a:lstStyle xmlns:a="http://schemas.openxmlformats.org/drawingml/2006/main"/>
          <a:p xmlns:a="http://schemas.openxmlformats.org/drawingml/2006/main">
            <a:pPr algn="ctr">
              <a:buNone/>
              <a:defRPr sz="1538" b="1" i="0">
                <a:solidFill>
                  <a:srgbClr val="17365D"/>
                </a:solidFill>
                <a:latin typeface="Arial"/>
                <a:ea typeface="Arial"/>
                <a:cs typeface="Arial"/>
              </a:defRPr>
            </a:pPr>
            <a:r>
              <a:rPr sz="1538" b="1" i="0">
                <a:solidFill>
                  <a:srgbClr val="17365D"/>
                </a:solidFill>
                <a:latin typeface="Arial"/>
                <a:ea typeface="Arial"/>
                <a:cs typeface="Arial"/>
              </a:rPr>
              <a:t>System evidence: 16-client CKKS upload 25.28 MiB, end-to-end latency 7.080 s, and verified 3-of-3 </a:t>
            </a:r>
            <a:r>
              <a:rPr sz="1538" b="1" i="0">
                <a:solidFill>
                  <a:srgbClr val="17365D"/>
                </a:solidFill>
                <a:latin typeface="Arial"/>
                <a:ea typeface="Arial"/>
                <a:cs typeface="Arial"/>
              </a:rPr>
              <a:t>OpenFHE</a:t>
            </a:r>
            <a:r>
              <a:rPr sz="1538" b="1" i="0">
                <a:solidFill>
                  <a:srgbClr val="17365D"/>
                </a:solidFill>
                <a:latin typeface="Arial"/>
                <a:ea typeface="Arial"/>
                <a:cs typeface="Arial"/>
              </a:rPr>
              <a:t> correctness. These tests do not establish WAN or dropout-tolerant production performance.</a:t>
            </a:r>
          </a:p>
        </p:txBody>
      </p:sp>
      <p:sp>
        <p:nvSpPr>
          <p:cNvPr id="229" name="visible-footer-date-22">
            <a:extLst xmlns:a="http://schemas.openxmlformats.org/drawingml/2006/main">
              <a:ext uri="{FF2B5EF4-FFF2-40B4-BE49-F238E27FC236}">
                <a16:creationId xmlns:a16="http://schemas.microsoft.com/office/drawing/2014/main" id="{70C5A8A9-35E4-4ACA-9FE6-F5D3E9EE31A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436405984"/>
      </p:ext>
    </p:extLst>
  </p:cSld>
</p:sld>
</file>

<file path=ppt/slides/slide29.xml><?xml version="1.0" encoding="utf-8"?>
<p:sld xmlns:p="http://schemas.openxmlformats.org/presentationml/2006/main">
  <p:cSld>
    <p:spTree>
      <p:nvGrpSpPr>
        <p:cNvPr id="1" name=""/>
        <p:cNvGrpSpPr/>
        <p:nvPr/>
      </p:nvGrpSpPr>
      <p:grpSpPr>
        <a:xfrm xmlns:a="http://schemas.openxmlformats.org/drawingml/2006/main"/>
      </p:grpSpPr>
      <p:pic>
        <p:nvPicPr>
          <p:cNvPr id="697" name="Google Shape;520;p52"/>
          <p:cNvPicPr>
            <a:picLocks xmlns:a="http://schemas.openxmlformats.org/drawingml/2006/main" noChangeAspect="1"/>
          </p:cNvPicPr>
          <p:nvPr/>
        </p:nvPicPr>
        <p:blipFill rotWithShape="1">
          <a:blip xmlns:r="http://schemas.openxmlformats.org/officeDocument/2006/relationships" xmlns:a="http://schemas.openxmlformats.org/drawingml/2006/main" r:embed="R0ede22bd6ad342b9">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698" name="Google Shape;521;p52"/>
          <p:cNvPicPr>
            <a:picLocks xmlns:a="http://schemas.openxmlformats.org/drawingml/2006/main" noChangeAspect="1"/>
          </p:cNvPicPr>
          <p:nvPr/>
        </p:nvPicPr>
        <p:blipFill rotWithShape="1">
          <a:blip xmlns:r="http://schemas.openxmlformats.org/officeDocument/2006/relationships" xmlns:a="http://schemas.openxmlformats.org/drawingml/2006/main" r:embed="R6e5bbeff2820419c">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699" name="Google Shape;522;p52"/>
          <p:cNvPicPr>
            <a:picLocks xmlns:a="http://schemas.openxmlformats.org/drawingml/2006/main" noChangeAspect="1"/>
          </p:cNvPicPr>
          <p:nvPr/>
        </p:nvPicPr>
        <p:blipFill rotWithShape="1">
          <a:blip xmlns:r="http://schemas.openxmlformats.org/officeDocument/2006/relationships" xmlns:a="http://schemas.openxmlformats.org/drawingml/2006/main" r:embed="Rc979dad83aa54d74">
            <a:alphaModFix/>
          </a:blip>
          <a:srcRect xmlns:a="http://schemas.openxmlformats.org/drawingml/2006/main" l="1187" t="2321" r="3422" b="0"/>
          <a:stretch xmlns:a="http://schemas.openxmlformats.org/drawingml/2006/main"/>
        </p:blipFill>
        <p:spPr>
          <a:xfrm xmlns:a="http://schemas.openxmlformats.org/drawingml/2006/main">
            <a:off x="2210143" y="374895"/>
            <a:ext cx="7565366" cy="5537780"/>
          </a:xfrm>
          <a:prstGeom xmlns:a="http://schemas.openxmlformats.org/drawingml/2006/main" prst="rect">
            <a:avLst/>
          </a:prstGeom>
          <a:ln xmlns:a="http://schemas.openxmlformats.org/drawingml/2006/main">
            <a:noFill/>
          </a:ln>
        </p:spPr>
      </p:pic>
      <p:sp>
        <p:nvSpPr>
          <p:cNvPr id="523" name="Google Shape;523;p52">
            <a:extLst xmlns:a="http://schemas.openxmlformats.org/drawingml/2006/main">
              <a:ext uri="{FF2B5EF4-FFF2-40B4-BE49-F238E27FC236}">
                <a16:creationId xmlns:a16="http://schemas.microsoft.com/office/drawing/2014/main" id="{5BEFE073-EE09-4104-A7BE-8EE711AE965F}"/>
              </a:ext>
            </a:extLst>
          </p:cNvPr>
          <p:cNvSpPr>
            <a:spLocks xmlns:a="http://schemas.openxmlformats.org/drawingml/2006/main" noGrp="1"/>
          </p:cNvSpPr>
          <p:nvPr>
            <p:ph type="title" idx="0"/>
          </p:nvPr>
        </p:nvSpPr>
        <p:spPr>
          <a:xfrm xmlns:a="http://schemas.openxmlformats.org/drawingml/2006/main">
            <a:off x="1047745" y="4410315"/>
            <a:ext cx="9675673" cy="79680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90000"/>
              </a:lnSpc>
              <a:spcBef>
                <a:spcPts val="0"/>
              </a:spcBef>
              <a:spcAft>
                <a:spcPts val="0"/>
              </a:spcAft>
              <a:buClr>
                <a:schemeClr val="dk1"/>
              </a:buClr>
              <a:buSzPts val="4000"/>
              <a:buFont typeface="Arial"/>
              <a:buNone/>
            </a:pPr>
            <a:r>
              <a:rPr sz="4000">
                <a:latin typeface="Arial"/>
                <a:ea typeface="Arial"/>
                <a:cs typeface="Arial"/>
              </a:rPr>
              <a:t>Conclusion</a:t>
            </a:r>
            <a:endParaRPr/>
          </a:p>
        </p:txBody>
      </p:sp>
      <p:pic>
        <p:nvPicPr>
          <p:cNvPr id="701" name="Google Shape;524;p52"/>
          <p:cNvPicPr>
            <a:picLocks xmlns:a="http://schemas.openxmlformats.org/drawingml/2006/main" noChangeAspect="1"/>
          </p:cNvPicPr>
          <p:nvPr/>
        </p:nvPicPr>
        <p:blipFill rotWithShape="1">
          <a:blip xmlns:r="http://schemas.openxmlformats.org/officeDocument/2006/relationships" xmlns:a="http://schemas.openxmlformats.org/drawingml/2006/main" r:embed="R04652831f42241fc">
            <a:alphaModFix/>
          </a:blip>
          <a:srcRect xmlns:a="http://schemas.openxmlformats.org/drawingml/2006/main" l="0" t="0" r="0" b="0"/>
          <a:stretch xmlns:a="http://schemas.openxmlformats.org/drawingml/2006/main"/>
        </p:blipFill>
        <p:spPr>
          <a:xfrm xmlns:a="http://schemas.openxmlformats.org/drawingml/2006/main">
            <a:off x="4662664" y="1409347"/>
            <a:ext cx="2866672" cy="2866672"/>
          </a:xfrm>
          <a:prstGeom xmlns:a="http://schemas.openxmlformats.org/drawingml/2006/main" prst="rect">
            <a:avLst/>
          </a:prstGeom>
          <a:ln xmlns:a="http://schemas.openxmlformats.org/drawingml/2006/main">
            <a:noFill/>
          </a:ln>
          <a:effectLst xmlns:a="http://schemas.openxmlformats.org/drawingml/2006/main">
            <a:outerShdw blurRad="190500" algn="tl" rotWithShape="0">
              <a:srgbClr val="000000">
                <a:alpha val="69411"/>
              </a:srgbClr>
            </a:outerShdw>
          </a:effectLst>
        </p:spPr>
      </p:pic>
      <p:cxnSp>
        <p:nvCxnSpPr>
          <p:cNvPr id="702" name="Google Shape;489;p49"/>
          <p:cNvCxnSpPr/>
          <p:nvPr/>
        </p:nvCxnSpPr>
        <p:spPr>
          <a:xfrm xmlns:a="http://schemas.openxmlformats.org/drawingml/2006/main">
            <a:off x="424707" y="5119185"/>
            <a:ext cx="11342700"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3" name="Google Shape;216;p28">
            <a:extLst xmlns:a="http://schemas.openxmlformats.org/drawingml/2006/main">
              <a:ext uri="{FF2B5EF4-FFF2-40B4-BE49-F238E27FC236}">
                <a16:creationId xmlns:a16="http://schemas.microsoft.com/office/drawing/2014/main" id="{7DBA4BD6-77AB-D07E-A6E8-7C8CBE15257B}"/>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4" name="Google Shape;212;p28">
            <a:extLst xmlns:a="http://schemas.openxmlformats.org/drawingml/2006/main">
              <a:ext uri="{FF2B5EF4-FFF2-40B4-BE49-F238E27FC236}">
                <a16:creationId xmlns:a16="http://schemas.microsoft.com/office/drawing/2014/main" id="{BC4D2D4B-B4D3-EB5F-77A1-B175A9873E58}"/>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29</a:t>
            </a:r>
            <a:endParaRPr sz="2800"/>
          </a:p>
        </p:txBody>
      </p:sp>
      <p:sp>
        <p:nvSpPr>
          <p:cNvPr id="543" name="visible-footer-date-23">
            <a:extLst xmlns:a="http://schemas.openxmlformats.org/drawingml/2006/main">
              <a:ext uri="{FF2B5EF4-FFF2-40B4-BE49-F238E27FC236}">
                <a16:creationId xmlns:a16="http://schemas.microsoft.com/office/drawing/2014/main" id="{CD5C7620-55DD-4ED4-8FBA-BCF7F34BB343}"/>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675858018"/>
      </p:ext>
    </p:extLst>
  </p:cSld>
</p:sld>
</file>

<file path=ppt/slides/slide30.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0E81DA35-E830-0E70-0FAC-BB25692B1391}"/>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Summary of Key Findings</a:t>
            </a:r>
            <a:endParaRPr/>
          </a:p>
        </p:txBody>
      </p:sp>
      <p:sp>
        <p:nvSpPr>
          <p:cNvPr id="212" name="Google Shape;212;p28">
            <a:extLst xmlns:a="http://schemas.openxmlformats.org/drawingml/2006/main">
              <a:ext uri="{FF2B5EF4-FFF2-40B4-BE49-F238E27FC236}">
                <a16:creationId xmlns:a16="http://schemas.microsoft.com/office/drawing/2014/main" id="{0339D4F0-DDFA-B188-A7AE-DB1F9883C189}"/>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30</a:t>
            </a:r>
            <a:endParaRPr sz="2800"/>
          </a:p>
        </p:txBody>
      </p:sp>
      <p:pic>
        <p:nvPicPr>
          <p:cNvPr id="240"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73ebecba0cab41e3">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1"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c4a2e086e75848fe">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17EF49E2-6D37-5982-5793-B7ED3CAA0F2A}"/>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summary-objective-0">
            <a:extLst xmlns:a="http://schemas.openxmlformats.org/drawingml/2006/main">
              <a:ext uri="{FF2B5EF4-FFF2-40B4-BE49-F238E27FC236}">
                <a16:creationId xmlns:a16="http://schemas.microsoft.com/office/drawing/2014/main" id="{78880B25-0CCF-4207-9281-BC7FCC98EDDE}"/>
              </a:ext>
            </a:extLst>
          </p:cNvPr>
          <p:cNvSpPr>
            <a:spLocks xmlns:a="http://schemas.openxmlformats.org/drawingml/2006/main" noGrp="1"/>
          </p:cNvSpPr>
          <p:nvPr/>
        </p:nvSpPr>
        <p:spPr>
          <a:xfrm xmlns:a="http://schemas.openxmlformats.org/drawingml/2006/main">
            <a:off x="952500" y="1476375"/>
            <a:ext cx="1809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950" b="1" i="0">
                <a:solidFill>
                  <a:srgbClr val="17365D"/>
                </a:solidFill>
                <a:latin typeface="Arial"/>
                <a:ea typeface="Arial"/>
                <a:cs typeface="Arial"/>
              </a:defRPr>
            </a:pPr>
            <a:r>
              <a:rPr sz="1950" b="1" i="0">
                <a:solidFill>
                  <a:srgbClr val="17365D"/>
                </a:solidFill>
                <a:latin typeface="Arial"/>
                <a:ea typeface="Arial"/>
                <a:cs typeface="Arial"/>
              </a:rPr>
              <a:t>Objective 1</a:t>
            </a:r>
          </a:p>
        </p:txBody>
      </p:sp>
      <p:sp>
        <p:nvSpPr>
          <p:cNvPr id="221" name="summary-status-0">
            <a:extLst xmlns:a="http://schemas.openxmlformats.org/drawingml/2006/main">
              <a:ext uri="{FF2B5EF4-FFF2-40B4-BE49-F238E27FC236}">
                <a16:creationId xmlns:a16="http://schemas.microsoft.com/office/drawing/2014/main" id="{4E67885F-049A-4749-B3F3-D0EA7A5D9DA6}"/>
              </a:ext>
            </a:extLst>
          </p:cNvPr>
          <p:cNvSpPr>
            <a:spLocks xmlns:a="http://schemas.openxmlformats.org/drawingml/2006/main" noGrp="1"/>
          </p:cNvSpPr>
          <p:nvPr/>
        </p:nvSpPr>
        <p:spPr>
          <a:xfrm xmlns:a="http://schemas.openxmlformats.org/drawingml/2006/main">
            <a:off x="3000375" y="1476375"/>
            <a:ext cx="209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875" b="1" i="0">
                <a:solidFill>
                  <a:srgbClr val="00843D"/>
                </a:solidFill>
                <a:latin typeface="Arial"/>
                <a:ea typeface="Arial"/>
                <a:cs typeface="Arial"/>
              </a:defRPr>
            </a:pPr>
            <a:r>
              <a:rPr sz="1875" b="1" i="0">
                <a:solidFill>
                  <a:srgbClr val="00843D"/>
                </a:solidFill>
                <a:latin typeface="Arial"/>
                <a:ea typeface="Arial"/>
                <a:cs typeface="Arial"/>
              </a:rPr>
              <a:t>Achieved</a:t>
            </a:r>
          </a:p>
        </p:txBody>
      </p:sp>
      <p:sp>
        <p:nvSpPr>
          <p:cNvPr id="222" name="summary-evidence-0">
            <a:extLst xmlns:a="http://schemas.openxmlformats.org/drawingml/2006/main">
              <a:ext uri="{FF2B5EF4-FFF2-40B4-BE49-F238E27FC236}">
                <a16:creationId xmlns:a16="http://schemas.microsoft.com/office/drawing/2014/main" id="{FAD254E6-9B81-4D8E-8F01-67AA01A5AA7A}"/>
              </a:ext>
            </a:extLst>
          </p:cNvPr>
          <p:cNvSpPr>
            <a:spLocks xmlns:a="http://schemas.openxmlformats.org/drawingml/2006/main" noGrp="1"/>
          </p:cNvSpPr>
          <p:nvPr/>
        </p:nvSpPr>
        <p:spPr>
          <a:xfrm xmlns:a="http://schemas.openxmlformats.org/drawingml/2006/main">
            <a:off x="5381625" y="1428750"/>
            <a:ext cx="5810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Implemented the layered privacy, encrypted aggregation, verification, release, and audit workflow.</a:t>
            </a:r>
          </a:p>
        </p:txBody>
      </p:sp>
      <p:sp>
        <p:nvSpPr>
          <p:cNvPr id="223" name="rule-100-247">
            <a:extLst xmlns:a="http://schemas.openxmlformats.org/drawingml/2006/main">
              <a:ext uri="{FF2B5EF4-FFF2-40B4-BE49-F238E27FC236}">
                <a16:creationId xmlns:a16="http://schemas.microsoft.com/office/drawing/2014/main" id="{9DEEFB91-E5DC-4755-8E44-5433891E2517}"/>
              </a:ext>
            </a:extLst>
          </p:cNvPr>
          <p:cNvSpPr>
            <a:spLocks xmlns:a="http://schemas.openxmlformats.org/drawingml/2006/main" noGrp="1"/>
          </p:cNvSpPr>
          <p:nvPr/>
        </p:nvSpPr>
        <p:spPr>
          <a:xfrm xmlns:a="http://schemas.openxmlformats.org/drawingml/2006/main">
            <a:off x="952500" y="2352675"/>
            <a:ext cx="10239375"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4" name="summary-objective-1">
            <a:extLst xmlns:a="http://schemas.openxmlformats.org/drawingml/2006/main">
              <a:ext uri="{FF2B5EF4-FFF2-40B4-BE49-F238E27FC236}">
                <a16:creationId xmlns:a16="http://schemas.microsoft.com/office/drawing/2014/main" id="{76CA895B-DF34-4C00-AAD5-580BBDEC2F4C}"/>
              </a:ext>
            </a:extLst>
          </p:cNvPr>
          <p:cNvSpPr>
            <a:spLocks xmlns:a="http://schemas.openxmlformats.org/drawingml/2006/main" noGrp="1"/>
          </p:cNvSpPr>
          <p:nvPr/>
        </p:nvSpPr>
        <p:spPr>
          <a:xfrm xmlns:a="http://schemas.openxmlformats.org/drawingml/2006/main">
            <a:off x="952500" y="2905125"/>
            <a:ext cx="1809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950" b="1" i="0">
                <a:solidFill>
                  <a:srgbClr val="17365D"/>
                </a:solidFill>
                <a:latin typeface="Arial"/>
                <a:ea typeface="Arial"/>
                <a:cs typeface="Arial"/>
              </a:defRPr>
            </a:pPr>
            <a:r>
              <a:rPr sz="1950" b="1" i="0">
                <a:solidFill>
                  <a:srgbClr val="17365D"/>
                </a:solidFill>
                <a:latin typeface="Arial"/>
                <a:ea typeface="Arial"/>
                <a:cs typeface="Arial"/>
              </a:rPr>
              <a:t>Objective 2</a:t>
            </a:r>
          </a:p>
        </p:txBody>
      </p:sp>
      <p:sp>
        <p:nvSpPr>
          <p:cNvPr id="225" name="summary-status-1">
            <a:extLst xmlns:a="http://schemas.openxmlformats.org/drawingml/2006/main">
              <a:ext uri="{FF2B5EF4-FFF2-40B4-BE49-F238E27FC236}">
                <a16:creationId xmlns:a16="http://schemas.microsoft.com/office/drawing/2014/main" id="{98A2AEC9-1016-4953-8F74-56E2D3AB154D}"/>
              </a:ext>
            </a:extLst>
          </p:cNvPr>
          <p:cNvSpPr>
            <a:spLocks xmlns:a="http://schemas.openxmlformats.org/drawingml/2006/main" noGrp="1"/>
          </p:cNvSpPr>
          <p:nvPr/>
        </p:nvSpPr>
        <p:spPr>
          <a:xfrm xmlns:a="http://schemas.openxmlformats.org/drawingml/2006/main">
            <a:off x="3000375" y="2905125"/>
            <a:ext cx="209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875" b="1" i="0">
                <a:solidFill>
                  <a:srgbClr val="00843D"/>
                </a:solidFill>
                <a:latin typeface="Arial"/>
                <a:ea typeface="Arial"/>
                <a:cs typeface="Arial"/>
              </a:defRPr>
            </a:pPr>
            <a:r>
              <a:rPr sz="1875" b="1" i="0">
                <a:solidFill>
                  <a:srgbClr val="00843D"/>
                </a:solidFill>
                <a:latin typeface="Arial"/>
                <a:ea typeface="Arial"/>
                <a:cs typeface="Arial"/>
              </a:rPr>
              <a:t>Achieved</a:t>
            </a:r>
          </a:p>
        </p:txBody>
      </p:sp>
      <p:sp>
        <p:nvSpPr>
          <p:cNvPr id="226" name="summary-evidence-1">
            <a:extLst xmlns:a="http://schemas.openxmlformats.org/drawingml/2006/main">
              <a:ext uri="{FF2B5EF4-FFF2-40B4-BE49-F238E27FC236}">
                <a16:creationId xmlns:a16="http://schemas.microsoft.com/office/drawing/2014/main" id="{283AE25D-E5C5-46E5-8ED9-7D04CD2194A4}"/>
              </a:ext>
            </a:extLst>
          </p:cNvPr>
          <p:cNvSpPr>
            <a:spLocks xmlns:a="http://schemas.openxmlformats.org/drawingml/2006/main" noGrp="1"/>
          </p:cNvSpPr>
          <p:nvPr/>
        </p:nvSpPr>
        <p:spPr>
          <a:xfrm xmlns:a="http://schemas.openxmlformats.org/drawingml/2006/main">
            <a:off x="5381625" y="2857500"/>
            <a:ext cx="5810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CAABC-FL reduced measured encrypted upload by 55.998% with an AUROC non-inferiority result.</a:t>
            </a:r>
          </a:p>
        </p:txBody>
      </p:sp>
      <p:sp>
        <p:nvSpPr>
          <p:cNvPr id="227" name="rule-100-397">
            <a:extLst xmlns:a="http://schemas.openxmlformats.org/drawingml/2006/main">
              <a:ext uri="{FF2B5EF4-FFF2-40B4-BE49-F238E27FC236}">
                <a16:creationId xmlns:a16="http://schemas.microsoft.com/office/drawing/2014/main" id="{F0F9BF1B-C1C9-4A4F-BAC9-F457B5310B22}"/>
              </a:ext>
            </a:extLst>
          </p:cNvPr>
          <p:cNvSpPr>
            <a:spLocks xmlns:a="http://schemas.openxmlformats.org/drawingml/2006/main" noGrp="1"/>
          </p:cNvSpPr>
          <p:nvPr/>
        </p:nvSpPr>
        <p:spPr>
          <a:xfrm xmlns:a="http://schemas.openxmlformats.org/drawingml/2006/main">
            <a:off x="952500" y="3781425"/>
            <a:ext cx="10239375"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8" name="summary-objective-2">
            <a:extLst xmlns:a="http://schemas.openxmlformats.org/drawingml/2006/main">
              <a:ext uri="{FF2B5EF4-FFF2-40B4-BE49-F238E27FC236}">
                <a16:creationId xmlns:a16="http://schemas.microsoft.com/office/drawing/2014/main" id="{2FF0C7F1-CA05-4515-B46A-CED9E1D78F46}"/>
              </a:ext>
            </a:extLst>
          </p:cNvPr>
          <p:cNvSpPr>
            <a:spLocks xmlns:a="http://schemas.openxmlformats.org/drawingml/2006/main" noGrp="1"/>
          </p:cNvSpPr>
          <p:nvPr/>
        </p:nvSpPr>
        <p:spPr>
          <a:xfrm xmlns:a="http://schemas.openxmlformats.org/drawingml/2006/main">
            <a:off x="952500" y="4333875"/>
            <a:ext cx="1809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950" b="1" i="0">
                <a:solidFill>
                  <a:srgbClr val="17365D"/>
                </a:solidFill>
                <a:latin typeface="Arial"/>
                <a:ea typeface="Arial"/>
                <a:cs typeface="Arial"/>
              </a:defRPr>
            </a:pPr>
            <a:r>
              <a:rPr sz="1950" b="1" i="0">
                <a:solidFill>
                  <a:srgbClr val="17365D"/>
                </a:solidFill>
                <a:latin typeface="Arial"/>
                <a:ea typeface="Arial"/>
                <a:cs typeface="Arial"/>
              </a:rPr>
              <a:t>Objective 3</a:t>
            </a:r>
          </a:p>
        </p:txBody>
      </p:sp>
      <p:sp>
        <p:nvSpPr>
          <p:cNvPr id="229" name="summary-status-2">
            <a:extLst xmlns:a="http://schemas.openxmlformats.org/drawingml/2006/main">
              <a:ext uri="{FF2B5EF4-FFF2-40B4-BE49-F238E27FC236}">
                <a16:creationId xmlns:a16="http://schemas.microsoft.com/office/drawing/2014/main" id="{9104D8D9-D695-42EB-B0E3-104D3B6756F7}"/>
              </a:ext>
            </a:extLst>
          </p:cNvPr>
          <p:cNvSpPr>
            <a:spLocks xmlns:a="http://schemas.openxmlformats.org/drawingml/2006/main" noGrp="1"/>
          </p:cNvSpPr>
          <p:nvPr/>
        </p:nvSpPr>
        <p:spPr>
          <a:xfrm xmlns:a="http://schemas.openxmlformats.org/drawingml/2006/main">
            <a:off x="3000375" y="4333875"/>
            <a:ext cx="209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9833" lnSpcReduction="10000"/>
          </a:bodyPr>
          <a:lstStyle xmlns:a="http://schemas.openxmlformats.org/drawingml/2006/main"/>
          <a:p xmlns:a="http://schemas.openxmlformats.org/drawingml/2006/main">
            <a:pPr algn="ctr">
              <a:buNone/>
              <a:defRPr sz="1875" b="1" i="0">
                <a:solidFill>
                  <a:srgbClr val="00843D"/>
                </a:solidFill>
                <a:latin typeface="Arial"/>
                <a:ea typeface="Arial"/>
                <a:cs typeface="Arial"/>
              </a:defRPr>
            </a:pPr>
            <a:r>
              <a:rPr sz="1875" b="1" i="0">
                <a:solidFill>
                  <a:srgbClr val="00843D"/>
                </a:solidFill>
                <a:latin typeface="Arial"/>
                <a:ea typeface="Arial"/>
                <a:cs typeface="Arial"/>
              </a:rPr>
              <a:t>Achieved within scope</a:t>
            </a:r>
          </a:p>
        </p:txBody>
      </p:sp>
      <p:sp>
        <p:nvSpPr>
          <p:cNvPr id="230" name="summary-evidence-2">
            <a:extLst xmlns:a="http://schemas.openxmlformats.org/drawingml/2006/main">
              <a:ext uri="{FF2B5EF4-FFF2-40B4-BE49-F238E27FC236}">
                <a16:creationId xmlns:a16="http://schemas.microsoft.com/office/drawing/2014/main" id="{E6AE9D9D-4E64-4F0D-A042-911D9CB29ADC}"/>
              </a:ext>
            </a:extLst>
          </p:cNvPr>
          <p:cNvSpPr>
            <a:spLocks xmlns:a="http://schemas.openxmlformats.org/drawingml/2006/main" noGrp="1"/>
          </p:cNvSpPr>
          <p:nvPr/>
        </p:nvSpPr>
        <p:spPr>
          <a:xfrm xmlns:a="http://schemas.openxmlformats.org/drawingml/2006/main">
            <a:off x="5381625" y="4286250"/>
            <a:ext cx="5810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Completed same-protocol utility, privacy, poisoning, cryptographic, and system evaluations.</a:t>
            </a:r>
          </a:p>
        </p:txBody>
      </p:sp>
      <p:sp>
        <p:nvSpPr>
          <p:cNvPr id="231" name="rule-100-547">
            <a:extLst xmlns:a="http://schemas.openxmlformats.org/drawingml/2006/main">
              <a:ext uri="{FF2B5EF4-FFF2-40B4-BE49-F238E27FC236}">
                <a16:creationId xmlns:a16="http://schemas.microsoft.com/office/drawing/2014/main" id="{3FAE6C79-8547-40D2-AC6B-F1B7396E6FC3}"/>
              </a:ext>
            </a:extLst>
          </p:cNvPr>
          <p:cNvSpPr>
            <a:spLocks xmlns:a="http://schemas.openxmlformats.org/drawingml/2006/main" noGrp="1"/>
          </p:cNvSpPr>
          <p:nvPr/>
        </p:nvSpPr>
        <p:spPr>
          <a:xfrm xmlns:a="http://schemas.openxmlformats.org/drawingml/2006/main">
            <a:off x="952500" y="5210175"/>
            <a:ext cx="10239375"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32" name="summary-boundary">
            <a:extLst xmlns:a="http://schemas.openxmlformats.org/drawingml/2006/main">
              <a:ext uri="{FF2B5EF4-FFF2-40B4-BE49-F238E27FC236}">
                <a16:creationId xmlns:a16="http://schemas.microsoft.com/office/drawing/2014/main" id="{EA6F3D57-D308-4322-BBE9-0639FDB2D524}"/>
              </a:ext>
            </a:extLst>
          </p:cNvPr>
          <p:cNvSpPr>
            <a:spLocks xmlns:a="http://schemas.openxmlformats.org/drawingml/2006/main" noGrp="1"/>
          </p:cNvSpPr>
          <p:nvPr/>
        </p:nvSpPr>
        <p:spPr>
          <a:xfrm xmlns:a="http://schemas.openxmlformats.org/drawingml/2006/main">
            <a:off x="1190625" y="5381625"/>
            <a:ext cx="9810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9051"/>
          </a:bodyPr>
          <a:lstStyle xmlns:a="http://schemas.openxmlformats.org/drawingml/2006/main"/>
          <a:p xmlns:a="http://schemas.openxmlformats.org/drawingml/2006/main">
            <a:pPr algn="ctr">
              <a:buNone/>
              <a:defRPr sz="1688" b="1" i="0">
                <a:solidFill>
                  <a:srgbClr val="17365D"/>
                </a:solidFill>
                <a:latin typeface="Arial"/>
                <a:ea typeface="Arial"/>
                <a:cs typeface="Arial"/>
              </a:defRPr>
            </a:pPr>
            <a:r>
              <a:rPr sz="1688" b="1" i="0">
                <a:solidFill>
                  <a:srgbClr val="17365D"/>
                </a:solidFill>
                <a:latin typeface="Arial"/>
                <a:ea typeface="Arial"/>
                <a:cs typeface="Arial"/>
              </a:rPr>
              <a:t>Conclusion: CAABC-FL provides a defensible privacy-utility-communication trade-off under the registered protocol. The evidence does not support universal superiority or a production-decentralization claim.</a:t>
            </a:r>
          </a:p>
        </p:txBody>
      </p:sp>
      <p:sp>
        <p:nvSpPr>
          <p:cNvPr id="235" name="visible-footer-date-24">
            <a:extLst xmlns:a="http://schemas.openxmlformats.org/drawingml/2006/main">
              <a:ext uri="{FF2B5EF4-FFF2-40B4-BE49-F238E27FC236}">
                <a16:creationId xmlns:a16="http://schemas.microsoft.com/office/drawing/2014/main" id="{0F9E5A8B-EB33-4260-A21D-29627D0B5F92}"/>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2093132514"/>
      </p:ext>
    </p:extLst>
  </p:cSld>
</p:sld>
</file>

<file path=ppt/slides/slide31.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FF3FB8C6-8C90-BAC8-9FAB-EE0D74D6369F}"/>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Contributions</a:t>
            </a:r>
            <a:endParaRPr/>
          </a:p>
        </p:txBody>
      </p:sp>
      <p:sp>
        <p:nvSpPr>
          <p:cNvPr id="212" name="Google Shape;212;p28">
            <a:extLst xmlns:a="http://schemas.openxmlformats.org/drawingml/2006/main">
              <a:ext uri="{FF2B5EF4-FFF2-40B4-BE49-F238E27FC236}">
                <a16:creationId xmlns:a16="http://schemas.microsoft.com/office/drawing/2014/main" id="{8B71ED3F-DBB8-F69D-D1E4-790728995D7F}"/>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31</a:t>
            </a:r>
            <a:endParaRPr sz="2800"/>
          </a:p>
        </p:txBody>
      </p:sp>
      <p:pic>
        <p:nvPicPr>
          <p:cNvPr id="23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c03c15edb318413c">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b399737ed3e84b07">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EB34F6F-4553-7D85-D279-122BFB7FF768}"/>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contribution-heading-0">
            <a:extLst xmlns:a="http://schemas.openxmlformats.org/drawingml/2006/main">
              <a:ext uri="{FF2B5EF4-FFF2-40B4-BE49-F238E27FC236}">
                <a16:creationId xmlns:a16="http://schemas.microsoft.com/office/drawing/2014/main" id="{52C1C6FD-464B-47F3-96C2-6859D207F95D}"/>
              </a:ext>
            </a:extLst>
          </p:cNvPr>
          <p:cNvSpPr>
            <a:spLocks xmlns:a="http://schemas.openxmlformats.org/drawingml/2006/main" noGrp="1"/>
          </p:cNvSpPr>
          <p:nvPr/>
        </p:nvSpPr>
        <p:spPr>
          <a:xfrm xmlns:a="http://schemas.openxmlformats.org/drawingml/2006/main">
            <a:off x="809625" y="1381125"/>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Integrated framework</a:t>
            </a:r>
          </a:p>
        </p:txBody>
      </p:sp>
      <p:sp>
        <p:nvSpPr>
          <p:cNvPr id="221" name="rule-85-205">
            <a:extLst xmlns:a="http://schemas.openxmlformats.org/drawingml/2006/main">
              <a:ext uri="{FF2B5EF4-FFF2-40B4-BE49-F238E27FC236}">
                <a16:creationId xmlns:a16="http://schemas.microsoft.com/office/drawing/2014/main" id="{6BF6761C-D851-47E9-8FC3-252B8B1593DB}"/>
              </a:ext>
            </a:extLst>
          </p:cNvPr>
          <p:cNvSpPr>
            <a:spLocks xmlns:a="http://schemas.openxmlformats.org/drawingml/2006/main" noGrp="1"/>
          </p:cNvSpPr>
          <p:nvPr/>
        </p:nvSpPr>
        <p:spPr>
          <a:xfrm xmlns:a="http://schemas.openxmlformats.org/drawingml/2006/main">
            <a:off x="809625" y="1952625"/>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contribution-body-0">
            <a:extLst xmlns:a="http://schemas.openxmlformats.org/drawingml/2006/main">
              <a:ext uri="{FF2B5EF4-FFF2-40B4-BE49-F238E27FC236}">
                <a16:creationId xmlns:a16="http://schemas.microsoft.com/office/drawing/2014/main" id="{322A2455-2797-49DF-93D2-DA5A552B246A}"/>
              </a:ext>
            </a:extLst>
          </p:cNvPr>
          <p:cNvSpPr>
            <a:spLocks xmlns:a="http://schemas.openxmlformats.org/drawingml/2006/main" noGrp="1"/>
          </p:cNvSpPr>
          <p:nvPr/>
        </p:nvSpPr>
        <p:spPr>
          <a:xfrm xmlns:a="http://schemas.openxmlformats.org/drawingml/2006/main">
            <a:off x="809625" y="2143125"/>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688" b="0" i="0">
                <a:solidFill>
                  <a:srgbClr val="1F2937"/>
                </a:solidFill>
                <a:latin typeface="Arial"/>
                <a:ea typeface="Arial"/>
                <a:cs typeface="Arial"/>
              </a:defRPr>
            </a:pPr>
            <a:r>
              <a:rPr sz="1688" b="0" i="0">
                <a:solidFill>
                  <a:srgbClr val="1F2937"/>
                </a:solidFill>
                <a:latin typeface="Arial"/>
                <a:ea typeface="Arial"/>
                <a:cs typeface="Arial"/>
              </a:rPr>
              <a:t>A working cross-silo pipeline combines patient-level DP, CKKS aggregation, authenticated messages, verification, governed release, and witnessed audit evidence.</a:t>
            </a:r>
          </a:p>
        </p:txBody>
      </p:sp>
      <p:sp>
        <p:nvSpPr>
          <p:cNvPr id="223" name="contribution-heading-1">
            <a:extLst xmlns:a="http://schemas.openxmlformats.org/drawingml/2006/main">
              <a:ext uri="{FF2B5EF4-FFF2-40B4-BE49-F238E27FC236}">
                <a16:creationId xmlns:a16="http://schemas.microsoft.com/office/drawing/2014/main" id="{92FFF5B2-5DC0-4B27-91C5-A8AFAAA92067}"/>
              </a:ext>
            </a:extLst>
          </p:cNvPr>
          <p:cNvSpPr>
            <a:spLocks xmlns:a="http://schemas.openxmlformats.org/drawingml/2006/main" noGrp="1"/>
          </p:cNvSpPr>
          <p:nvPr/>
        </p:nvSpPr>
        <p:spPr>
          <a:xfrm xmlns:a="http://schemas.openxmlformats.org/drawingml/2006/main">
            <a:off x="6286500" y="1381125"/>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CAABC-FL</a:t>
            </a:r>
          </a:p>
        </p:txBody>
      </p:sp>
      <p:sp>
        <p:nvSpPr>
          <p:cNvPr id="224" name="rule-660-205">
            <a:extLst xmlns:a="http://schemas.openxmlformats.org/drawingml/2006/main">
              <a:ext uri="{FF2B5EF4-FFF2-40B4-BE49-F238E27FC236}">
                <a16:creationId xmlns:a16="http://schemas.microsoft.com/office/drawing/2014/main" id="{6F490125-C547-4511-ABA5-469FBFFC3BFF}"/>
              </a:ext>
            </a:extLst>
          </p:cNvPr>
          <p:cNvSpPr>
            <a:spLocks xmlns:a="http://schemas.openxmlformats.org/drawingml/2006/main" noGrp="1"/>
          </p:cNvSpPr>
          <p:nvPr/>
        </p:nvSpPr>
        <p:spPr>
          <a:xfrm xmlns:a="http://schemas.openxmlformats.org/drawingml/2006/main">
            <a:off x="6286500" y="1952625"/>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contribution-body-1">
            <a:extLst xmlns:a="http://schemas.openxmlformats.org/drawingml/2006/main">
              <a:ext uri="{FF2B5EF4-FFF2-40B4-BE49-F238E27FC236}">
                <a16:creationId xmlns:a16="http://schemas.microsoft.com/office/drawing/2014/main" id="{2336BA83-36CE-4241-A14D-79C74F34819F}"/>
              </a:ext>
            </a:extLst>
          </p:cNvPr>
          <p:cNvSpPr>
            <a:spLocks xmlns:a="http://schemas.openxmlformats.org/drawingml/2006/main" noGrp="1"/>
          </p:cNvSpPr>
          <p:nvPr/>
        </p:nvSpPr>
        <p:spPr>
          <a:xfrm xmlns:a="http://schemas.openxmlformats.org/drawingml/2006/main">
            <a:off x="6286500" y="2143125"/>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688" b="0" i="0">
                <a:solidFill>
                  <a:srgbClr val="1F2937"/>
                </a:solidFill>
                <a:latin typeface="Arial"/>
                <a:ea typeface="Arial"/>
                <a:cs typeface="Arial"/>
              </a:defRPr>
            </a:pPr>
            <a:r>
              <a:rPr sz="1688" b="0" i="0">
                <a:solidFill>
                  <a:srgbClr val="1F2937"/>
                </a:solidFill>
                <a:latin typeface="Arial"/>
                <a:ea typeface="Arial"/>
                <a:cs typeface="Arial"/>
              </a:rPr>
              <a:t>Adaptive common blocks align with ciphertext packing, so compression reduces serialized network bytes while error feedback limits discarded-update loss.</a:t>
            </a:r>
          </a:p>
        </p:txBody>
      </p:sp>
      <p:sp>
        <p:nvSpPr>
          <p:cNvPr id="226" name="contribution-heading-2">
            <a:extLst xmlns:a="http://schemas.openxmlformats.org/drawingml/2006/main">
              <a:ext uri="{FF2B5EF4-FFF2-40B4-BE49-F238E27FC236}">
                <a16:creationId xmlns:a16="http://schemas.microsoft.com/office/drawing/2014/main" id="{17CDFF91-A584-4FA0-AB9F-65812ABE4A2E}"/>
              </a:ext>
            </a:extLst>
          </p:cNvPr>
          <p:cNvSpPr>
            <a:spLocks xmlns:a="http://schemas.openxmlformats.org/drawingml/2006/main" noGrp="1"/>
          </p:cNvSpPr>
          <p:nvPr/>
        </p:nvSpPr>
        <p:spPr>
          <a:xfrm xmlns:a="http://schemas.openxmlformats.org/drawingml/2006/main">
            <a:off x="809625" y="3619500"/>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Reproducible evaluation</a:t>
            </a:r>
          </a:p>
        </p:txBody>
      </p:sp>
      <p:sp>
        <p:nvSpPr>
          <p:cNvPr id="227" name="rule-85-440">
            <a:extLst xmlns:a="http://schemas.openxmlformats.org/drawingml/2006/main">
              <a:ext uri="{FF2B5EF4-FFF2-40B4-BE49-F238E27FC236}">
                <a16:creationId xmlns:a16="http://schemas.microsoft.com/office/drawing/2014/main" id="{CEC27297-928F-4A84-A737-5BFFBC3C3594}"/>
              </a:ext>
            </a:extLst>
          </p:cNvPr>
          <p:cNvSpPr>
            <a:spLocks xmlns:a="http://schemas.openxmlformats.org/drawingml/2006/main" noGrp="1"/>
          </p:cNvSpPr>
          <p:nvPr/>
        </p:nvSpPr>
        <p:spPr>
          <a:xfrm xmlns:a="http://schemas.openxmlformats.org/drawingml/2006/main">
            <a:off x="809625" y="4191000"/>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contribution-body-2">
            <a:extLst xmlns:a="http://schemas.openxmlformats.org/drawingml/2006/main">
              <a:ext uri="{FF2B5EF4-FFF2-40B4-BE49-F238E27FC236}">
                <a16:creationId xmlns:a16="http://schemas.microsoft.com/office/drawing/2014/main" id="{B4FD7A21-EA7E-47DC-9B27-61F10A59C19B}"/>
              </a:ext>
            </a:extLst>
          </p:cNvPr>
          <p:cNvSpPr>
            <a:spLocks xmlns:a="http://schemas.openxmlformats.org/drawingml/2006/main" noGrp="1"/>
          </p:cNvSpPr>
          <p:nvPr/>
        </p:nvSpPr>
        <p:spPr>
          <a:xfrm xmlns:a="http://schemas.openxmlformats.org/drawingml/2006/main">
            <a:off x="809625" y="4381500"/>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688" b="0" i="0">
                <a:solidFill>
                  <a:srgbClr val="1F2937"/>
                </a:solidFill>
                <a:latin typeface="Arial"/>
                <a:ea typeface="Arial"/>
                <a:cs typeface="Arial"/>
              </a:defRPr>
            </a:pPr>
            <a:r>
              <a:rPr sz="1688" b="0" i="0">
                <a:solidFill>
                  <a:srgbClr val="1F2937"/>
                </a:solidFill>
                <a:latin typeface="Arial"/>
                <a:ea typeface="Arial"/>
                <a:cs typeface="Arial"/>
              </a:rPr>
              <a:t>Five paired seeds cover utility, LiRA/RMIA, 300-step reconstruction, seven one-round attacks, longitudinal poisoning, CKKS correctness, and service timing.</a:t>
            </a:r>
          </a:p>
        </p:txBody>
      </p:sp>
      <p:sp>
        <p:nvSpPr>
          <p:cNvPr id="229" name="contribution-heading-3">
            <a:extLst xmlns:a="http://schemas.openxmlformats.org/drawingml/2006/main">
              <a:ext uri="{FF2B5EF4-FFF2-40B4-BE49-F238E27FC236}">
                <a16:creationId xmlns:a16="http://schemas.microsoft.com/office/drawing/2014/main" id="{E6D68144-989E-418A-A459-6C7D6D695583}"/>
              </a:ext>
            </a:extLst>
          </p:cNvPr>
          <p:cNvSpPr>
            <a:spLocks xmlns:a="http://schemas.openxmlformats.org/drawingml/2006/main" noGrp="1"/>
          </p:cNvSpPr>
          <p:nvPr/>
        </p:nvSpPr>
        <p:spPr>
          <a:xfrm xmlns:a="http://schemas.openxmlformats.org/drawingml/2006/main">
            <a:off x="6286500" y="3619500"/>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Explicit claim boundary</a:t>
            </a:r>
          </a:p>
        </p:txBody>
      </p:sp>
      <p:sp>
        <p:nvSpPr>
          <p:cNvPr id="230" name="rule-660-440">
            <a:extLst xmlns:a="http://schemas.openxmlformats.org/drawingml/2006/main">
              <a:ext uri="{FF2B5EF4-FFF2-40B4-BE49-F238E27FC236}">
                <a16:creationId xmlns:a16="http://schemas.microsoft.com/office/drawing/2014/main" id="{98C5FDC7-1253-4C25-8939-F8D015C30AB5}"/>
              </a:ext>
            </a:extLst>
          </p:cNvPr>
          <p:cNvSpPr>
            <a:spLocks xmlns:a="http://schemas.openxmlformats.org/drawingml/2006/main" noGrp="1"/>
          </p:cNvSpPr>
          <p:nvPr/>
        </p:nvSpPr>
        <p:spPr>
          <a:xfrm xmlns:a="http://schemas.openxmlformats.org/drawingml/2006/main">
            <a:off x="6286500" y="4191000"/>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contribution-body-3">
            <a:extLst xmlns:a="http://schemas.openxmlformats.org/drawingml/2006/main">
              <a:ext uri="{FF2B5EF4-FFF2-40B4-BE49-F238E27FC236}">
                <a16:creationId xmlns:a16="http://schemas.microsoft.com/office/drawing/2014/main" id="{0BFF1A3B-FBEE-4A8F-8DBE-FE83B0228182}"/>
              </a:ext>
            </a:extLst>
          </p:cNvPr>
          <p:cNvSpPr>
            <a:spLocks xmlns:a="http://schemas.openxmlformats.org/drawingml/2006/main" noGrp="1"/>
          </p:cNvSpPr>
          <p:nvPr/>
        </p:nvSpPr>
        <p:spPr>
          <a:xfrm xmlns:a="http://schemas.openxmlformats.org/drawingml/2006/main">
            <a:off x="6286500" y="4381500"/>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688" b="0" i="0">
                <a:solidFill>
                  <a:srgbClr val="1F2937"/>
                </a:solidFill>
                <a:latin typeface="Arial"/>
                <a:ea typeface="Arial"/>
                <a:cs typeface="Arial"/>
              </a:defRPr>
            </a:pPr>
            <a:r>
              <a:rPr sz="1688" b="0" i="0">
                <a:solidFill>
                  <a:srgbClr val="1F2937"/>
                </a:solidFill>
                <a:latin typeface="Arial"/>
                <a:ea typeface="Arial"/>
                <a:cs typeface="Arial"/>
              </a:rPr>
              <a:t>Negative AUPRC, rollback cost, central key custody, and deployment limits remain visible rather than being hidden by a single headline metric.</a:t>
            </a:r>
          </a:p>
        </p:txBody>
      </p:sp>
      <p:sp>
        <p:nvSpPr>
          <p:cNvPr id="234" name="visible-footer-date-25">
            <a:extLst xmlns:a="http://schemas.openxmlformats.org/drawingml/2006/main">
              <a:ext uri="{FF2B5EF4-FFF2-40B4-BE49-F238E27FC236}">
                <a16:creationId xmlns:a16="http://schemas.microsoft.com/office/drawing/2014/main" id="{5DBD99E7-AB9A-45D3-A9A8-2E566FE9E409}"/>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838165317"/>
      </p:ext>
    </p:extLst>
  </p:cSld>
</p:sld>
</file>

<file path=ppt/slides/slide32.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B791FA7-8393-831E-8AB3-1E71F24E09B1}"/>
              </a:ext>
            </a:extLst>
          </p:cNvPr>
          <p:cNvSpPr>
            <a:spLocks xmlns:a="http://schemas.openxmlformats.org/drawingml/2006/main" noGrp="1"/>
          </p:cNvSpPr>
          <p:nvPr>
            <p:ph type="title" idx="0"/>
          </p:nvPr>
        </p:nvSpPr>
        <p:spPr>
          <a:xfrm xmlns:a="http://schemas.openxmlformats.org/drawingml/2006/main">
            <a:off x="1892046" y="241785"/>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Limitations</a:t>
            </a:r>
            <a:endParaRPr/>
          </a:p>
        </p:txBody>
      </p:sp>
      <p:sp>
        <p:nvSpPr>
          <p:cNvPr id="212" name="Google Shape;212;p28">
            <a:extLst xmlns:a="http://schemas.openxmlformats.org/drawingml/2006/main">
              <a:ext uri="{FF2B5EF4-FFF2-40B4-BE49-F238E27FC236}">
                <a16:creationId xmlns:a16="http://schemas.microsoft.com/office/drawing/2014/main" id="{4A5D3A6C-140B-C181-80E5-1FCC8C53247D}"/>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32</a:t>
            </a:r>
            <a:endParaRPr sz="2800"/>
          </a:p>
        </p:txBody>
      </p:sp>
      <p:pic>
        <p:nvPicPr>
          <p:cNvPr id="22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b899fce344f140a4">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c4e33a30df1d4bd7">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5E7B93C6-6A94-E8D9-9C08-C771DFA446BF}"/>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limitations-bullets">
            <a:extLst xmlns:a="http://schemas.openxmlformats.org/drawingml/2006/main">
              <a:ext uri="{FF2B5EF4-FFF2-40B4-BE49-F238E27FC236}">
                <a16:creationId xmlns:a16="http://schemas.microsoft.com/office/drawing/2014/main" id="{66535D40-F506-4541-B5A4-1EB729B3D51A}"/>
              </a:ext>
            </a:extLst>
          </p:cNvPr>
          <p:cNvSpPr>
            <a:spLocks xmlns:a="http://schemas.openxmlformats.org/drawingml/2006/main" noGrp="1"/>
          </p:cNvSpPr>
          <p:nvPr/>
        </p:nvSpPr>
        <p:spPr>
          <a:xfrm xmlns:a="http://schemas.openxmlformats.org/drawingml/2006/main">
            <a:off x="1047750" y="1381125"/>
            <a:ext cx="10096500" cy="404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One retrospective sepsis cohort, two source hospitals, one MLP, and no prospective or external clinical validation.</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The main TenSEAL service uses central key custody. The OpenFHE threshold experiment remains an isolated 3-of-3 test without dropout tolerance.</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Network timing comes from sequential single-host runs, not a wide-area multi-institution deployment.</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No physical Intel TDX or AMD SEV-SNP experiment, medical-device assessment, or stakeholder usability study.</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Membership, reconstruction, and poisoning findings remain specific to the registered attacks and five security seeds.</a:t>
            </a:r>
          </a:p>
        </p:txBody>
      </p:sp>
      <p:sp>
        <p:nvSpPr>
          <p:cNvPr id="221" name="limitations-close">
            <a:extLst xmlns:a="http://schemas.openxmlformats.org/drawingml/2006/main">
              <a:ext uri="{FF2B5EF4-FFF2-40B4-BE49-F238E27FC236}">
                <a16:creationId xmlns:a16="http://schemas.microsoft.com/office/drawing/2014/main" id="{93C4C268-4512-4584-BECF-715A2CCF774A}"/>
              </a:ext>
            </a:extLst>
          </p:cNvPr>
          <p:cNvSpPr>
            <a:spLocks xmlns:a="http://schemas.openxmlformats.org/drawingml/2006/main" noGrp="1"/>
          </p:cNvSpPr>
          <p:nvPr/>
        </p:nvSpPr>
        <p:spPr>
          <a:xfrm xmlns:a="http://schemas.openxmlformats.org/drawingml/2006/main">
            <a:off x="1381125" y="5572125"/>
            <a:ext cx="9429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1080" lnSpcReduction="10000"/>
          </a:bodyPr>
          <a:lstStyle xmlns:a="http://schemas.openxmlformats.org/drawingml/2006/main"/>
          <a:p xmlns:a="http://schemas.openxmlformats.org/drawingml/2006/main">
            <a:pPr algn="ctr">
              <a:buNone/>
              <a:defRPr sz="1688" b="1" i="0">
                <a:solidFill>
                  <a:srgbClr val="C00000"/>
                </a:solidFill>
                <a:latin typeface="Arial"/>
                <a:ea typeface="Arial"/>
                <a:cs typeface="Arial"/>
              </a:defRPr>
            </a:pPr>
            <a:r>
              <a:rPr sz="1688" b="1" i="0">
                <a:solidFill>
                  <a:srgbClr val="C00000"/>
                </a:solidFill>
                <a:latin typeface="Arial"/>
                <a:ea typeface="Arial"/>
                <a:cs typeface="Arial"/>
              </a:rPr>
              <a:t>These limitations restrict deployment claims but do not invalidate the measured protocol-level results.</a:t>
            </a:r>
          </a:p>
        </p:txBody>
      </p:sp>
      <p:sp>
        <p:nvSpPr>
          <p:cNvPr id="224" name="visible-footer-date-26">
            <a:extLst xmlns:a="http://schemas.openxmlformats.org/drawingml/2006/main">
              <a:ext uri="{FF2B5EF4-FFF2-40B4-BE49-F238E27FC236}">
                <a16:creationId xmlns:a16="http://schemas.microsoft.com/office/drawing/2014/main" id="{37B6C764-FE79-41A7-B5D0-D4EC72E1AE78}"/>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961040222"/>
      </p:ext>
    </p:extLst>
  </p:cSld>
</p:sld>
</file>

<file path=ppt/slides/slide33.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8EE1420B-D505-7F3F-F820-A0568A0EF77B}"/>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Future Work</a:t>
            </a:r>
            <a:endParaRPr/>
          </a:p>
        </p:txBody>
      </p:sp>
      <p:sp>
        <p:nvSpPr>
          <p:cNvPr id="212" name="Google Shape;212;p28">
            <a:extLst xmlns:a="http://schemas.openxmlformats.org/drawingml/2006/main">
              <a:ext uri="{FF2B5EF4-FFF2-40B4-BE49-F238E27FC236}">
                <a16:creationId xmlns:a16="http://schemas.microsoft.com/office/drawing/2014/main" id="{DEFBA6C7-8677-BA99-896A-D45BF6267A33}"/>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33</a:t>
            </a:r>
            <a:endParaRPr sz="2800"/>
          </a:p>
        </p:txBody>
      </p:sp>
      <p:pic>
        <p:nvPicPr>
          <p:cNvPr id="241"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48c5aca7b7964ba8">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2"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9ec898d65fa543ba">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BE7B3C8F-E948-A1D6-7FC6-3DFC5D716250}"/>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future-heading-0">
            <a:extLst xmlns:a="http://schemas.openxmlformats.org/drawingml/2006/main">
              <a:ext uri="{FF2B5EF4-FFF2-40B4-BE49-F238E27FC236}">
                <a16:creationId xmlns:a16="http://schemas.microsoft.com/office/drawing/2014/main" id="{F2ECD84B-E76C-4495-B9CA-4D1D6AFB6122}"/>
              </a:ext>
            </a:extLst>
          </p:cNvPr>
          <p:cNvSpPr>
            <a:spLocks xmlns:a="http://schemas.openxmlformats.org/drawingml/2006/main" noGrp="1"/>
          </p:cNvSpPr>
          <p:nvPr/>
        </p:nvSpPr>
        <p:spPr>
          <a:xfrm xmlns:a="http://schemas.openxmlformats.org/drawingml/2006/main">
            <a:off x="952500" y="123825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875" b="1" i="0">
                <a:solidFill>
                  <a:srgbClr val="00843D"/>
                </a:solidFill>
                <a:latin typeface="Arial"/>
                <a:ea typeface="Arial"/>
                <a:cs typeface="Arial"/>
              </a:defRPr>
            </a:pPr>
            <a:r>
              <a:rPr sz="1875" b="1" i="0">
                <a:solidFill>
                  <a:srgbClr val="00843D"/>
                </a:solidFill>
                <a:latin typeface="Arial"/>
                <a:ea typeface="Arial"/>
                <a:cs typeface="Arial"/>
              </a:rPr>
              <a:t>Threshold custody</a:t>
            </a:r>
          </a:p>
        </p:txBody>
      </p:sp>
      <p:sp>
        <p:nvSpPr>
          <p:cNvPr id="221" name="future-body-0">
            <a:extLst xmlns:a="http://schemas.openxmlformats.org/drawingml/2006/main">
              <a:ext uri="{FF2B5EF4-FFF2-40B4-BE49-F238E27FC236}">
                <a16:creationId xmlns:a16="http://schemas.microsoft.com/office/drawing/2014/main" id="{1765C348-CDF5-4D16-952C-9760DDF9ECBE}"/>
              </a:ext>
            </a:extLst>
          </p:cNvPr>
          <p:cNvSpPr>
            <a:spLocks xmlns:a="http://schemas.openxmlformats.org/drawingml/2006/main" noGrp="1"/>
          </p:cNvSpPr>
          <p:nvPr/>
        </p:nvSpPr>
        <p:spPr>
          <a:xfrm xmlns:a="http://schemas.openxmlformats.org/drawingml/2006/main">
            <a:off x="3714750" y="123825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lnSpcReduction="1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Integrate dropout-tolerant t-of-n decryption with networked independent custodians.</a:t>
            </a:r>
          </a:p>
        </p:txBody>
      </p:sp>
      <p:sp>
        <p:nvSpPr>
          <p:cNvPr id="222" name="rule-100-202">
            <a:extLst xmlns:a="http://schemas.openxmlformats.org/drawingml/2006/main">
              <a:ext uri="{FF2B5EF4-FFF2-40B4-BE49-F238E27FC236}">
                <a16:creationId xmlns:a16="http://schemas.microsoft.com/office/drawing/2014/main" id="{D1B4CE68-A843-47DE-A326-0F8CD92B6A5F}"/>
              </a:ext>
            </a:extLst>
          </p:cNvPr>
          <p:cNvSpPr>
            <a:spLocks xmlns:a="http://schemas.openxmlformats.org/drawingml/2006/main" noGrp="1"/>
          </p:cNvSpPr>
          <p:nvPr/>
        </p:nvSpPr>
        <p:spPr>
          <a:xfrm xmlns:a="http://schemas.openxmlformats.org/drawingml/2006/main">
            <a:off x="952500" y="192405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3" name="future-heading-1">
            <a:extLst xmlns:a="http://schemas.openxmlformats.org/drawingml/2006/main">
              <a:ext uri="{FF2B5EF4-FFF2-40B4-BE49-F238E27FC236}">
                <a16:creationId xmlns:a16="http://schemas.microsoft.com/office/drawing/2014/main" id="{568495B0-C246-4E92-A3A4-897C78E24B8B}"/>
              </a:ext>
            </a:extLst>
          </p:cNvPr>
          <p:cNvSpPr>
            <a:spLocks xmlns:a="http://schemas.openxmlformats.org/drawingml/2006/main" noGrp="1"/>
          </p:cNvSpPr>
          <p:nvPr/>
        </p:nvSpPr>
        <p:spPr>
          <a:xfrm xmlns:a="http://schemas.openxmlformats.org/drawingml/2006/main">
            <a:off x="952500" y="217170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7626"/>
          </a:bodyPr>
          <a:lstStyle xmlns:a="http://schemas.openxmlformats.org/drawingml/2006/main"/>
          <a:p xmlns:a="http://schemas.openxmlformats.org/drawingml/2006/main">
            <a:pPr algn="l">
              <a:buNone/>
              <a:defRPr sz="1875" b="1" i="0">
                <a:solidFill>
                  <a:srgbClr val="17365D"/>
                </a:solidFill>
                <a:latin typeface="Arial"/>
                <a:ea typeface="Arial"/>
                <a:cs typeface="Arial"/>
              </a:defRPr>
            </a:pPr>
            <a:r>
              <a:rPr sz="1875" b="1" i="0">
                <a:solidFill>
                  <a:srgbClr val="17365D"/>
                </a:solidFill>
                <a:latin typeface="Arial"/>
                <a:ea typeface="Arial"/>
                <a:cs typeface="Arial"/>
              </a:rPr>
              <a:t>Encrypted robustness</a:t>
            </a:r>
          </a:p>
        </p:txBody>
      </p:sp>
      <p:sp>
        <p:nvSpPr>
          <p:cNvPr id="224" name="future-body-1">
            <a:extLst xmlns:a="http://schemas.openxmlformats.org/drawingml/2006/main">
              <a:ext uri="{FF2B5EF4-FFF2-40B4-BE49-F238E27FC236}">
                <a16:creationId xmlns:a16="http://schemas.microsoft.com/office/drawing/2014/main" id="{79E69313-3063-41C9-97D9-3260C1BA5A1D}"/>
              </a:ext>
            </a:extLst>
          </p:cNvPr>
          <p:cNvSpPr>
            <a:spLocks xmlns:a="http://schemas.openxmlformats.org/drawingml/2006/main" noGrp="1"/>
          </p:cNvSpPr>
          <p:nvPr/>
        </p:nvSpPr>
        <p:spPr>
          <a:xfrm xmlns:a="http://schemas.openxmlformats.org/drawingml/2006/main">
            <a:off x="3714750" y="217170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lnSpcReduction="1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Develop secure robust statistics that do not require exposing individual plaintext updates.</a:t>
            </a:r>
          </a:p>
        </p:txBody>
      </p:sp>
      <p:sp>
        <p:nvSpPr>
          <p:cNvPr id="225" name="rule-100-300">
            <a:extLst xmlns:a="http://schemas.openxmlformats.org/drawingml/2006/main">
              <a:ext uri="{FF2B5EF4-FFF2-40B4-BE49-F238E27FC236}">
                <a16:creationId xmlns:a16="http://schemas.microsoft.com/office/drawing/2014/main" id="{ED8913E1-5FCF-43AE-AF34-B1BE0DC35E50}"/>
              </a:ext>
            </a:extLst>
          </p:cNvPr>
          <p:cNvSpPr>
            <a:spLocks xmlns:a="http://schemas.openxmlformats.org/drawingml/2006/main" noGrp="1"/>
          </p:cNvSpPr>
          <p:nvPr/>
        </p:nvSpPr>
        <p:spPr>
          <a:xfrm xmlns:a="http://schemas.openxmlformats.org/drawingml/2006/main">
            <a:off x="952500" y="285750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6" name="future-heading-2">
            <a:extLst xmlns:a="http://schemas.openxmlformats.org/drawingml/2006/main">
              <a:ext uri="{FF2B5EF4-FFF2-40B4-BE49-F238E27FC236}">
                <a16:creationId xmlns:a16="http://schemas.microsoft.com/office/drawing/2014/main" id="{78D8A5C4-F2F6-4295-9470-8454CA08421A}"/>
              </a:ext>
            </a:extLst>
          </p:cNvPr>
          <p:cNvSpPr>
            <a:spLocks xmlns:a="http://schemas.openxmlformats.org/drawingml/2006/main" noGrp="1"/>
          </p:cNvSpPr>
          <p:nvPr/>
        </p:nvSpPr>
        <p:spPr>
          <a:xfrm xmlns:a="http://schemas.openxmlformats.org/drawingml/2006/main">
            <a:off x="952500" y="310515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910" lnSpcReduction="20000"/>
          </a:bodyPr>
          <a:lstStyle xmlns:a="http://schemas.openxmlformats.org/drawingml/2006/main"/>
          <a:p xmlns:a="http://schemas.openxmlformats.org/drawingml/2006/main">
            <a:pPr algn="l">
              <a:buNone/>
              <a:defRPr sz="1875" b="1" i="0">
                <a:solidFill>
                  <a:srgbClr val="00843D"/>
                </a:solidFill>
                <a:latin typeface="Arial"/>
                <a:ea typeface="Arial"/>
                <a:cs typeface="Arial"/>
              </a:defRPr>
            </a:pPr>
            <a:r>
              <a:rPr sz="1875" b="1" i="0">
                <a:solidFill>
                  <a:srgbClr val="00843D"/>
                </a:solidFill>
                <a:latin typeface="Arial"/>
                <a:ea typeface="Arial"/>
                <a:cs typeface="Arial"/>
              </a:rPr>
              <a:t>Production deployment</a:t>
            </a:r>
          </a:p>
        </p:txBody>
      </p:sp>
      <p:sp>
        <p:nvSpPr>
          <p:cNvPr id="227" name="future-body-2">
            <a:extLst xmlns:a="http://schemas.openxmlformats.org/drawingml/2006/main">
              <a:ext uri="{FF2B5EF4-FFF2-40B4-BE49-F238E27FC236}">
                <a16:creationId xmlns:a16="http://schemas.microsoft.com/office/drawing/2014/main" id="{E9104F83-5B73-4D84-9A61-93FFD3BDFBE0}"/>
              </a:ext>
            </a:extLst>
          </p:cNvPr>
          <p:cNvSpPr>
            <a:spLocks xmlns:a="http://schemas.openxmlformats.org/drawingml/2006/main" noGrp="1"/>
          </p:cNvSpPr>
          <p:nvPr/>
        </p:nvSpPr>
        <p:spPr>
          <a:xfrm xmlns:a="http://schemas.openxmlformats.org/drawingml/2006/main">
            <a:off x="3714750" y="310515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lnSpcReduction="1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Run concurrent multi-host WAN experiments and physical TDX or SEV-SNP attestation.</a:t>
            </a:r>
          </a:p>
        </p:txBody>
      </p:sp>
      <p:sp>
        <p:nvSpPr>
          <p:cNvPr id="228" name="rule-100-398">
            <a:extLst xmlns:a="http://schemas.openxmlformats.org/drawingml/2006/main">
              <a:ext uri="{FF2B5EF4-FFF2-40B4-BE49-F238E27FC236}">
                <a16:creationId xmlns:a16="http://schemas.microsoft.com/office/drawing/2014/main" id="{CD4C655C-3676-4349-9C17-A269F31B71C9}"/>
              </a:ext>
            </a:extLst>
          </p:cNvPr>
          <p:cNvSpPr>
            <a:spLocks xmlns:a="http://schemas.openxmlformats.org/drawingml/2006/main" noGrp="1"/>
          </p:cNvSpPr>
          <p:nvPr/>
        </p:nvSpPr>
        <p:spPr>
          <a:xfrm xmlns:a="http://schemas.openxmlformats.org/drawingml/2006/main">
            <a:off x="952500" y="379095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9" name="future-heading-3">
            <a:extLst xmlns:a="http://schemas.openxmlformats.org/drawingml/2006/main">
              <a:ext uri="{FF2B5EF4-FFF2-40B4-BE49-F238E27FC236}">
                <a16:creationId xmlns:a16="http://schemas.microsoft.com/office/drawing/2014/main" id="{B534CBAC-79B1-4870-8F32-30613F27B2DA}"/>
              </a:ext>
            </a:extLst>
          </p:cNvPr>
          <p:cNvSpPr>
            <a:spLocks xmlns:a="http://schemas.openxmlformats.org/drawingml/2006/main" noGrp="1"/>
          </p:cNvSpPr>
          <p:nvPr/>
        </p:nvSpPr>
        <p:spPr>
          <a:xfrm xmlns:a="http://schemas.openxmlformats.org/drawingml/2006/main">
            <a:off x="952500" y="403860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7362"/>
          </a:bodyPr>
          <a:lstStyle xmlns:a="http://schemas.openxmlformats.org/drawingml/2006/main"/>
          <a:p xmlns:a="http://schemas.openxmlformats.org/drawingml/2006/main">
            <a:pPr algn="l">
              <a:buNone/>
              <a:defRPr sz="1875" b="1" i="0">
                <a:solidFill>
                  <a:srgbClr val="17365D"/>
                </a:solidFill>
                <a:latin typeface="Arial"/>
                <a:ea typeface="Arial"/>
                <a:cs typeface="Arial"/>
              </a:defRPr>
            </a:pPr>
            <a:r>
              <a:rPr sz="1875" b="1" i="0">
                <a:solidFill>
                  <a:srgbClr val="17365D"/>
                </a:solidFill>
                <a:latin typeface="Arial"/>
                <a:ea typeface="Arial"/>
                <a:cs typeface="Arial"/>
              </a:rPr>
              <a:t>Clinical generalization</a:t>
            </a:r>
          </a:p>
        </p:txBody>
      </p:sp>
      <p:sp>
        <p:nvSpPr>
          <p:cNvPr id="230" name="future-body-3">
            <a:extLst xmlns:a="http://schemas.openxmlformats.org/drawingml/2006/main">
              <a:ext uri="{FF2B5EF4-FFF2-40B4-BE49-F238E27FC236}">
                <a16:creationId xmlns:a16="http://schemas.microsoft.com/office/drawing/2014/main" id="{03245E0B-7FD7-4653-B3E8-DADF827963BB}"/>
              </a:ext>
            </a:extLst>
          </p:cNvPr>
          <p:cNvSpPr>
            <a:spLocks xmlns:a="http://schemas.openxmlformats.org/drawingml/2006/main" noGrp="1"/>
          </p:cNvSpPr>
          <p:nvPr/>
        </p:nvSpPr>
        <p:spPr>
          <a:xfrm xmlns:a="http://schemas.openxmlformats.org/drawingml/2006/main">
            <a:off x="3714750" y="403860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lnSpcReduction="1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Evaluate additional institutions, diseases, model families, fairness endpoints, and prospective workflows.</a:t>
            </a:r>
          </a:p>
        </p:txBody>
      </p:sp>
      <p:sp>
        <p:nvSpPr>
          <p:cNvPr id="231" name="rule-100-496">
            <a:extLst xmlns:a="http://schemas.openxmlformats.org/drawingml/2006/main">
              <a:ext uri="{FF2B5EF4-FFF2-40B4-BE49-F238E27FC236}">
                <a16:creationId xmlns:a16="http://schemas.microsoft.com/office/drawing/2014/main" id="{52FB6D97-7A77-4E9E-9850-066828288E2F}"/>
              </a:ext>
            </a:extLst>
          </p:cNvPr>
          <p:cNvSpPr>
            <a:spLocks xmlns:a="http://schemas.openxmlformats.org/drawingml/2006/main" noGrp="1"/>
          </p:cNvSpPr>
          <p:nvPr/>
        </p:nvSpPr>
        <p:spPr>
          <a:xfrm xmlns:a="http://schemas.openxmlformats.org/drawingml/2006/main">
            <a:off x="952500" y="472440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32" name="future-heading-4">
            <a:extLst xmlns:a="http://schemas.openxmlformats.org/drawingml/2006/main">
              <a:ext uri="{FF2B5EF4-FFF2-40B4-BE49-F238E27FC236}">
                <a16:creationId xmlns:a16="http://schemas.microsoft.com/office/drawing/2014/main" id="{E998B5CE-32BD-4323-8567-B6FA18FAE274}"/>
              </a:ext>
            </a:extLst>
          </p:cNvPr>
          <p:cNvSpPr>
            <a:spLocks xmlns:a="http://schemas.openxmlformats.org/drawingml/2006/main" noGrp="1"/>
          </p:cNvSpPr>
          <p:nvPr/>
        </p:nvSpPr>
        <p:spPr>
          <a:xfrm xmlns:a="http://schemas.openxmlformats.org/drawingml/2006/main">
            <a:off x="952500" y="497205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910" lnSpcReduction="20000"/>
          </a:bodyPr>
          <a:lstStyle xmlns:a="http://schemas.openxmlformats.org/drawingml/2006/main"/>
          <a:p xmlns:a="http://schemas.openxmlformats.org/drawingml/2006/main">
            <a:pPr algn="l">
              <a:buNone/>
              <a:defRPr sz="1875" b="1" i="0">
                <a:solidFill>
                  <a:srgbClr val="00843D"/>
                </a:solidFill>
                <a:latin typeface="Arial"/>
                <a:ea typeface="Arial"/>
                <a:cs typeface="Arial"/>
              </a:defRPr>
            </a:pPr>
            <a:r>
              <a:rPr sz="1875" b="1" i="0">
                <a:solidFill>
                  <a:srgbClr val="00843D"/>
                </a:solidFill>
                <a:latin typeface="Arial"/>
                <a:ea typeface="Arial"/>
                <a:cs typeface="Arial"/>
              </a:rPr>
              <a:t>Independent assurance</a:t>
            </a:r>
          </a:p>
        </p:txBody>
      </p:sp>
      <p:sp>
        <p:nvSpPr>
          <p:cNvPr id="233" name="future-body-4">
            <a:extLst xmlns:a="http://schemas.openxmlformats.org/drawingml/2006/main">
              <a:ext uri="{FF2B5EF4-FFF2-40B4-BE49-F238E27FC236}">
                <a16:creationId xmlns:a16="http://schemas.microsoft.com/office/drawing/2014/main" id="{9483DACB-F39A-44B7-BC69-6391486F16C4}"/>
              </a:ext>
            </a:extLst>
          </p:cNvPr>
          <p:cNvSpPr>
            <a:spLocks xmlns:a="http://schemas.openxmlformats.org/drawingml/2006/main" noGrp="1"/>
          </p:cNvSpPr>
          <p:nvPr/>
        </p:nvSpPr>
        <p:spPr>
          <a:xfrm xmlns:a="http://schemas.openxmlformats.org/drawingml/2006/main">
            <a:off x="3714750" y="497205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lnSpcReduction="1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Audit secure randomness, cryptographic configuration, governance logic, and threat-control evidence.</a:t>
            </a:r>
          </a:p>
        </p:txBody>
      </p:sp>
      <p:sp>
        <p:nvSpPr>
          <p:cNvPr id="236" name="visible-footer-date-27">
            <a:extLst xmlns:a="http://schemas.openxmlformats.org/drawingml/2006/main">
              <a:ext uri="{FF2B5EF4-FFF2-40B4-BE49-F238E27FC236}">
                <a16:creationId xmlns:a16="http://schemas.microsoft.com/office/drawing/2014/main" id="{A06A22BD-BF09-481E-8BEA-555507DFCF21}"/>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557563943"/>
      </p:ext>
    </p:extLst>
  </p:cSld>
</p:sld>
</file>

<file path=ppt/slides/slide34.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8EE1420B-D505-7F3F-F820-A0568A0EF77B}"/>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Conclusion</a:t>
            </a:r>
            <a:endParaRPr/>
          </a:p>
        </p:txBody>
      </p:sp>
      <p:sp>
        <p:nvSpPr>
          <p:cNvPr id="212" name="Google Shape;212;p28">
            <a:extLst xmlns:a="http://schemas.openxmlformats.org/drawingml/2006/main">
              <a:ext uri="{FF2B5EF4-FFF2-40B4-BE49-F238E27FC236}">
                <a16:creationId xmlns:a16="http://schemas.microsoft.com/office/drawing/2014/main" id="{DEFBA6C7-8677-BA99-896A-D45BF6267A33}"/>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34</a:t>
            </a:r>
            <a:endParaRPr sz="2800"/>
          </a:p>
        </p:txBody>
      </p:sp>
      <p:pic>
        <p:nvPicPr>
          <p:cNvPr id="256"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bb94c5a9155f4a69">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57"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e23144bac2104b22">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BE7B3C8F-E948-A1D6-7FC6-3DFC5D716250}"/>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future-heading-0">
            <a:extLst xmlns:a="http://schemas.openxmlformats.org/drawingml/2006/main">
              <a:ext uri="{FF2B5EF4-FFF2-40B4-BE49-F238E27FC236}">
                <a16:creationId xmlns:a16="http://schemas.microsoft.com/office/drawing/2014/main" id="{F2ECD84B-E76C-4495-B9CA-4D1D6AFB6122}"/>
              </a:ext>
            </a:extLst>
          </p:cNvPr>
          <p:cNvSpPr>
            <a:spLocks xmlns:a="http://schemas.openxmlformats.org/drawingml/2006/main" noGrp="1"/>
          </p:cNvSpPr>
          <p:nvPr/>
        </p:nvSpPr>
        <p:spPr>
          <a:xfrm xmlns:a="http://schemas.openxmlformats.org/drawingml/2006/main">
            <a:off x="952500" y="123825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875" b="1" i="0">
                <a:solidFill>
                  <a:srgbClr val="00843D"/>
                </a:solidFill>
                <a:latin typeface="Arial"/>
                <a:ea typeface="Arial"/>
                <a:cs typeface="Arial"/>
              </a:defRPr>
            </a:pPr>
            <a:r>
              <a:rPr sz="1875" b="1" i="0">
                <a:solidFill>
                  <a:srgbClr val="00843D"/>
                </a:solidFill>
                <a:latin typeface="Arial"/>
                <a:ea typeface="Arial"/>
                <a:cs typeface="Arial"/>
              </a:rPr>
              <a:t>Threshold custody</a:t>
            </a:r>
          </a:p>
        </p:txBody>
      </p:sp>
      <p:sp>
        <p:nvSpPr>
          <p:cNvPr id="221" name="future-body-0">
            <a:extLst xmlns:a="http://schemas.openxmlformats.org/drawingml/2006/main">
              <a:ext uri="{FF2B5EF4-FFF2-40B4-BE49-F238E27FC236}">
                <a16:creationId xmlns:a16="http://schemas.microsoft.com/office/drawing/2014/main" id="{1765C348-CDF5-4D16-952C-9760DDF9ECBE}"/>
              </a:ext>
            </a:extLst>
          </p:cNvPr>
          <p:cNvSpPr>
            <a:spLocks xmlns:a="http://schemas.openxmlformats.org/drawingml/2006/main" noGrp="1"/>
          </p:cNvSpPr>
          <p:nvPr/>
        </p:nvSpPr>
        <p:spPr>
          <a:xfrm xmlns:a="http://schemas.openxmlformats.org/drawingml/2006/main">
            <a:off x="3714750" y="123825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lnSpcReduction="1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Integrate dropout-tolerant t-of-n decryption with networked independent custodians.</a:t>
            </a:r>
          </a:p>
        </p:txBody>
      </p:sp>
      <p:sp>
        <p:nvSpPr>
          <p:cNvPr id="222" name="rule-100-202">
            <a:extLst xmlns:a="http://schemas.openxmlformats.org/drawingml/2006/main">
              <a:ext uri="{FF2B5EF4-FFF2-40B4-BE49-F238E27FC236}">
                <a16:creationId xmlns:a16="http://schemas.microsoft.com/office/drawing/2014/main" id="{D1B4CE68-A843-47DE-A326-0F8CD92B6A5F}"/>
              </a:ext>
            </a:extLst>
          </p:cNvPr>
          <p:cNvSpPr>
            <a:spLocks xmlns:a="http://schemas.openxmlformats.org/drawingml/2006/main" noGrp="1"/>
          </p:cNvSpPr>
          <p:nvPr/>
        </p:nvSpPr>
        <p:spPr>
          <a:xfrm xmlns:a="http://schemas.openxmlformats.org/drawingml/2006/main">
            <a:off x="952500" y="192405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3" name="future-heading-1">
            <a:extLst xmlns:a="http://schemas.openxmlformats.org/drawingml/2006/main">
              <a:ext uri="{FF2B5EF4-FFF2-40B4-BE49-F238E27FC236}">
                <a16:creationId xmlns:a16="http://schemas.microsoft.com/office/drawing/2014/main" id="{568495B0-C246-4E92-A3A4-897C78E24B8B}"/>
              </a:ext>
            </a:extLst>
          </p:cNvPr>
          <p:cNvSpPr>
            <a:spLocks xmlns:a="http://schemas.openxmlformats.org/drawingml/2006/main" noGrp="1"/>
          </p:cNvSpPr>
          <p:nvPr/>
        </p:nvSpPr>
        <p:spPr>
          <a:xfrm xmlns:a="http://schemas.openxmlformats.org/drawingml/2006/main">
            <a:off x="952500" y="217170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7626"/>
          </a:bodyPr>
          <a:lstStyle xmlns:a="http://schemas.openxmlformats.org/drawingml/2006/main"/>
          <a:p xmlns:a="http://schemas.openxmlformats.org/drawingml/2006/main">
            <a:pPr algn="l">
              <a:buNone/>
              <a:defRPr sz="1875" b="1" i="0">
                <a:solidFill>
                  <a:srgbClr val="17365D"/>
                </a:solidFill>
                <a:latin typeface="Arial"/>
                <a:ea typeface="Arial"/>
                <a:cs typeface="Arial"/>
              </a:defRPr>
            </a:pPr>
            <a:r>
              <a:rPr sz="1875" b="1" i="0">
                <a:solidFill>
                  <a:srgbClr val="17365D"/>
                </a:solidFill>
                <a:latin typeface="Arial"/>
                <a:ea typeface="Arial"/>
                <a:cs typeface="Arial"/>
              </a:rPr>
              <a:t>Encrypted robustness</a:t>
            </a:r>
          </a:p>
        </p:txBody>
      </p:sp>
      <p:sp>
        <p:nvSpPr>
          <p:cNvPr id="224" name="future-body-1">
            <a:extLst xmlns:a="http://schemas.openxmlformats.org/drawingml/2006/main">
              <a:ext uri="{FF2B5EF4-FFF2-40B4-BE49-F238E27FC236}">
                <a16:creationId xmlns:a16="http://schemas.microsoft.com/office/drawing/2014/main" id="{79E69313-3063-41C9-97D9-3260C1BA5A1D}"/>
              </a:ext>
            </a:extLst>
          </p:cNvPr>
          <p:cNvSpPr>
            <a:spLocks xmlns:a="http://schemas.openxmlformats.org/drawingml/2006/main" noGrp="1"/>
          </p:cNvSpPr>
          <p:nvPr/>
        </p:nvSpPr>
        <p:spPr>
          <a:xfrm xmlns:a="http://schemas.openxmlformats.org/drawingml/2006/main">
            <a:off x="3714750" y="217170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lnSpcReduction="1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Develop secure robust statistics that do not require exposing individual plaintext updates.</a:t>
            </a:r>
          </a:p>
        </p:txBody>
      </p:sp>
      <p:sp>
        <p:nvSpPr>
          <p:cNvPr id="225" name="rule-100-300">
            <a:extLst xmlns:a="http://schemas.openxmlformats.org/drawingml/2006/main">
              <a:ext uri="{FF2B5EF4-FFF2-40B4-BE49-F238E27FC236}">
                <a16:creationId xmlns:a16="http://schemas.microsoft.com/office/drawing/2014/main" id="{ED8913E1-5FCF-43AE-AF34-B1BE0DC35E50}"/>
              </a:ext>
            </a:extLst>
          </p:cNvPr>
          <p:cNvSpPr>
            <a:spLocks xmlns:a="http://schemas.openxmlformats.org/drawingml/2006/main" noGrp="1"/>
          </p:cNvSpPr>
          <p:nvPr/>
        </p:nvSpPr>
        <p:spPr>
          <a:xfrm xmlns:a="http://schemas.openxmlformats.org/drawingml/2006/main">
            <a:off x="952500" y="285750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6" name="future-heading-2">
            <a:extLst xmlns:a="http://schemas.openxmlformats.org/drawingml/2006/main">
              <a:ext uri="{FF2B5EF4-FFF2-40B4-BE49-F238E27FC236}">
                <a16:creationId xmlns:a16="http://schemas.microsoft.com/office/drawing/2014/main" id="{78D8A5C4-F2F6-4295-9470-8454CA08421A}"/>
              </a:ext>
            </a:extLst>
          </p:cNvPr>
          <p:cNvSpPr>
            <a:spLocks xmlns:a="http://schemas.openxmlformats.org/drawingml/2006/main" noGrp="1"/>
          </p:cNvSpPr>
          <p:nvPr/>
        </p:nvSpPr>
        <p:spPr>
          <a:xfrm xmlns:a="http://schemas.openxmlformats.org/drawingml/2006/main">
            <a:off x="952500" y="310515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910" lnSpcReduction="20000"/>
          </a:bodyPr>
          <a:lstStyle xmlns:a="http://schemas.openxmlformats.org/drawingml/2006/main"/>
          <a:p xmlns:a="http://schemas.openxmlformats.org/drawingml/2006/main">
            <a:pPr algn="l">
              <a:buNone/>
              <a:defRPr sz="1875" b="1" i="0">
                <a:solidFill>
                  <a:srgbClr val="00843D"/>
                </a:solidFill>
                <a:latin typeface="Arial"/>
                <a:ea typeface="Arial"/>
                <a:cs typeface="Arial"/>
              </a:defRPr>
            </a:pPr>
            <a:r>
              <a:rPr sz="1875" b="1" i="0">
                <a:solidFill>
                  <a:srgbClr val="00843D"/>
                </a:solidFill>
                <a:latin typeface="Arial"/>
                <a:ea typeface="Arial"/>
                <a:cs typeface="Arial"/>
              </a:rPr>
              <a:t>Production deployment</a:t>
            </a:r>
          </a:p>
        </p:txBody>
      </p:sp>
      <p:sp>
        <p:nvSpPr>
          <p:cNvPr id="227" name="future-body-2">
            <a:extLst xmlns:a="http://schemas.openxmlformats.org/drawingml/2006/main">
              <a:ext uri="{FF2B5EF4-FFF2-40B4-BE49-F238E27FC236}">
                <a16:creationId xmlns:a16="http://schemas.microsoft.com/office/drawing/2014/main" id="{E9104F83-5B73-4D84-9A61-93FFD3BDFBE0}"/>
              </a:ext>
            </a:extLst>
          </p:cNvPr>
          <p:cNvSpPr>
            <a:spLocks xmlns:a="http://schemas.openxmlformats.org/drawingml/2006/main" noGrp="1"/>
          </p:cNvSpPr>
          <p:nvPr/>
        </p:nvSpPr>
        <p:spPr>
          <a:xfrm xmlns:a="http://schemas.openxmlformats.org/drawingml/2006/main">
            <a:off x="3714750" y="310515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lnSpcReduction="1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Run concurrent multi-host WAN experiments and physical TDX or SEV-SNP attestation.</a:t>
            </a:r>
          </a:p>
        </p:txBody>
      </p:sp>
      <p:sp>
        <p:nvSpPr>
          <p:cNvPr id="228" name="rule-100-398">
            <a:extLst xmlns:a="http://schemas.openxmlformats.org/drawingml/2006/main">
              <a:ext uri="{FF2B5EF4-FFF2-40B4-BE49-F238E27FC236}">
                <a16:creationId xmlns:a16="http://schemas.microsoft.com/office/drawing/2014/main" id="{CD4C655C-3676-4349-9C17-A269F31B71C9}"/>
              </a:ext>
            </a:extLst>
          </p:cNvPr>
          <p:cNvSpPr>
            <a:spLocks xmlns:a="http://schemas.openxmlformats.org/drawingml/2006/main" noGrp="1"/>
          </p:cNvSpPr>
          <p:nvPr/>
        </p:nvSpPr>
        <p:spPr>
          <a:xfrm xmlns:a="http://schemas.openxmlformats.org/drawingml/2006/main">
            <a:off x="952500" y="379095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9" name="future-heading-3">
            <a:extLst xmlns:a="http://schemas.openxmlformats.org/drawingml/2006/main">
              <a:ext uri="{FF2B5EF4-FFF2-40B4-BE49-F238E27FC236}">
                <a16:creationId xmlns:a16="http://schemas.microsoft.com/office/drawing/2014/main" id="{B534CBAC-79B1-4870-8F32-30613F27B2DA}"/>
              </a:ext>
            </a:extLst>
          </p:cNvPr>
          <p:cNvSpPr>
            <a:spLocks xmlns:a="http://schemas.openxmlformats.org/drawingml/2006/main" noGrp="1"/>
          </p:cNvSpPr>
          <p:nvPr/>
        </p:nvSpPr>
        <p:spPr>
          <a:xfrm xmlns:a="http://schemas.openxmlformats.org/drawingml/2006/main">
            <a:off x="952500" y="403860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7362"/>
          </a:bodyPr>
          <a:lstStyle xmlns:a="http://schemas.openxmlformats.org/drawingml/2006/main"/>
          <a:p xmlns:a="http://schemas.openxmlformats.org/drawingml/2006/main">
            <a:pPr algn="l">
              <a:buNone/>
              <a:defRPr sz="1875" b="1" i="0">
                <a:solidFill>
                  <a:srgbClr val="17365D"/>
                </a:solidFill>
                <a:latin typeface="Arial"/>
                <a:ea typeface="Arial"/>
                <a:cs typeface="Arial"/>
              </a:defRPr>
            </a:pPr>
            <a:r>
              <a:rPr sz="1875" b="1" i="0">
                <a:solidFill>
                  <a:srgbClr val="17365D"/>
                </a:solidFill>
                <a:latin typeface="Arial"/>
                <a:ea typeface="Arial"/>
                <a:cs typeface="Arial"/>
              </a:rPr>
              <a:t>Clinical generalization</a:t>
            </a:r>
          </a:p>
        </p:txBody>
      </p:sp>
      <p:sp>
        <p:nvSpPr>
          <p:cNvPr id="230" name="future-body-3">
            <a:extLst xmlns:a="http://schemas.openxmlformats.org/drawingml/2006/main">
              <a:ext uri="{FF2B5EF4-FFF2-40B4-BE49-F238E27FC236}">
                <a16:creationId xmlns:a16="http://schemas.microsoft.com/office/drawing/2014/main" id="{03245E0B-7FD7-4653-B3E8-DADF827963BB}"/>
              </a:ext>
            </a:extLst>
          </p:cNvPr>
          <p:cNvSpPr>
            <a:spLocks xmlns:a="http://schemas.openxmlformats.org/drawingml/2006/main" noGrp="1"/>
          </p:cNvSpPr>
          <p:nvPr/>
        </p:nvSpPr>
        <p:spPr>
          <a:xfrm xmlns:a="http://schemas.openxmlformats.org/drawingml/2006/main">
            <a:off x="3714750" y="403860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lnSpcReduction="1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Evaluate additional institutions, diseases, model families, fairness endpoints, and prospective workflows.</a:t>
            </a:r>
          </a:p>
        </p:txBody>
      </p:sp>
      <p:sp>
        <p:nvSpPr>
          <p:cNvPr id="231" name="rule-100-496">
            <a:extLst xmlns:a="http://schemas.openxmlformats.org/drawingml/2006/main">
              <a:ext uri="{FF2B5EF4-FFF2-40B4-BE49-F238E27FC236}">
                <a16:creationId xmlns:a16="http://schemas.microsoft.com/office/drawing/2014/main" id="{52FB6D97-7A77-4E9E-9850-066828288E2F}"/>
              </a:ext>
            </a:extLst>
          </p:cNvPr>
          <p:cNvSpPr>
            <a:spLocks xmlns:a="http://schemas.openxmlformats.org/drawingml/2006/main" noGrp="1"/>
          </p:cNvSpPr>
          <p:nvPr/>
        </p:nvSpPr>
        <p:spPr>
          <a:xfrm xmlns:a="http://schemas.openxmlformats.org/drawingml/2006/main">
            <a:off x="952500" y="472440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32" name="future-heading-4">
            <a:extLst xmlns:a="http://schemas.openxmlformats.org/drawingml/2006/main">
              <a:ext uri="{FF2B5EF4-FFF2-40B4-BE49-F238E27FC236}">
                <a16:creationId xmlns:a16="http://schemas.microsoft.com/office/drawing/2014/main" id="{E998B5CE-32BD-4323-8567-B6FA18FAE274}"/>
              </a:ext>
            </a:extLst>
          </p:cNvPr>
          <p:cNvSpPr>
            <a:spLocks xmlns:a="http://schemas.openxmlformats.org/drawingml/2006/main" noGrp="1"/>
          </p:cNvSpPr>
          <p:nvPr/>
        </p:nvSpPr>
        <p:spPr>
          <a:xfrm xmlns:a="http://schemas.openxmlformats.org/drawingml/2006/main">
            <a:off x="952500" y="497205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910" lnSpcReduction="20000"/>
          </a:bodyPr>
          <a:lstStyle xmlns:a="http://schemas.openxmlformats.org/drawingml/2006/main"/>
          <a:p xmlns:a="http://schemas.openxmlformats.org/drawingml/2006/main">
            <a:pPr algn="l">
              <a:buNone/>
              <a:defRPr sz="1875" b="1" i="0">
                <a:solidFill>
                  <a:srgbClr val="00843D"/>
                </a:solidFill>
                <a:latin typeface="Arial"/>
                <a:ea typeface="Arial"/>
                <a:cs typeface="Arial"/>
              </a:defRPr>
            </a:pPr>
            <a:r>
              <a:rPr sz="1875" b="1" i="0">
                <a:solidFill>
                  <a:srgbClr val="00843D"/>
                </a:solidFill>
                <a:latin typeface="Arial"/>
                <a:ea typeface="Arial"/>
                <a:cs typeface="Arial"/>
              </a:rPr>
              <a:t>Independent assurance</a:t>
            </a:r>
          </a:p>
        </p:txBody>
      </p:sp>
      <p:sp>
        <p:nvSpPr>
          <p:cNvPr id="233" name="future-body-4">
            <a:extLst xmlns:a="http://schemas.openxmlformats.org/drawingml/2006/main">
              <a:ext uri="{FF2B5EF4-FFF2-40B4-BE49-F238E27FC236}">
                <a16:creationId xmlns:a16="http://schemas.microsoft.com/office/drawing/2014/main" id="{9483DACB-F39A-44B7-BC69-6391486F16C4}"/>
              </a:ext>
            </a:extLst>
          </p:cNvPr>
          <p:cNvSpPr>
            <a:spLocks xmlns:a="http://schemas.openxmlformats.org/drawingml/2006/main" noGrp="1"/>
          </p:cNvSpPr>
          <p:nvPr/>
        </p:nvSpPr>
        <p:spPr>
          <a:xfrm xmlns:a="http://schemas.openxmlformats.org/drawingml/2006/main">
            <a:off x="3714750" y="497205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lnSpcReduction="1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Audit secure randomness, cryptographic configuration, governance logic, and threat-control evidence.</a:t>
            </a:r>
          </a:p>
        </p:txBody>
      </p:sp>
      <p:sp>
        <p:nvSpPr>
          <p:cNvPr id="236" name="visible-footer-date-27">
            <a:extLst xmlns:a="http://schemas.openxmlformats.org/drawingml/2006/main">
              <a:ext uri="{FF2B5EF4-FFF2-40B4-BE49-F238E27FC236}">
                <a16:creationId xmlns:a16="http://schemas.microsoft.com/office/drawing/2014/main" id="{A06A22BD-BF09-481E-8BEA-555507DFCF21}"/>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39" name="final-conclusion-content-cover">
            <a:extLst xmlns:a="http://schemas.openxmlformats.org/drawingml/2006/main">
              <a:ext uri="{FF2B5EF4-FFF2-40B4-BE49-F238E27FC236}">
                <a16:creationId xmlns:a16="http://schemas.microsoft.com/office/drawing/2014/main" id="{50E68349-A6A5-4612-9F21-F3E7A4C4D983}"/>
              </a:ext>
            </a:extLst>
          </p:cNvPr>
          <p:cNvSpPr>
            <a:spLocks xmlns:a="http://schemas.openxmlformats.org/drawingml/2006/main" noGrp="1"/>
          </p:cNvSpPr>
          <p:nvPr/>
        </p:nvSpPr>
        <p:spPr>
          <a:xfrm xmlns:a="http://schemas.openxmlformats.org/drawingml/2006/main">
            <a:off x="619125" y="1190625"/>
            <a:ext cx="10953750" cy="49053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40" name="final-conclusion-subtitle">
            <a:extLst xmlns:a="http://schemas.openxmlformats.org/drawingml/2006/main">
              <a:ext uri="{FF2B5EF4-FFF2-40B4-BE49-F238E27FC236}">
                <a16:creationId xmlns:a16="http://schemas.microsoft.com/office/drawing/2014/main" id="{2BC6AE6C-64EB-41C7-9D00-661205D21167}"/>
              </a:ext>
            </a:extLst>
          </p:cNvPr>
          <p:cNvSpPr>
            <a:spLocks xmlns:a="http://schemas.openxmlformats.org/drawingml/2006/main" noGrp="1"/>
          </p:cNvSpPr>
          <p:nvPr/>
        </p:nvSpPr>
        <p:spPr>
          <a:xfrm xmlns:a="http://schemas.openxmlformats.org/drawingml/2006/main">
            <a:off x="1428750" y="1219200"/>
            <a:ext cx="9334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i="1">
                <a:solidFill>
                  <a:srgbClr val="5B677A"/>
                </a:solidFill>
                <a:latin typeface="Arial"/>
                <a:ea typeface="Arial"/>
                <a:cs typeface="Arial"/>
              </a:defRPr>
            </a:pPr>
            <a:r>
              <a:rPr sz="1275" i="1">
                <a:solidFill>
                  <a:srgbClr val="5B677A"/>
                </a:solidFill>
                <a:latin typeface="Arial"/>
                <a:ea typeface="Arial"/>
                <a:cs typeface="Arial"/>
              </a:rPr>
              <a:t>The study demonstrates an integrated and empirically evaluated approach to secure multi-institutional federated learning.</a:t>
            </a:r>
          </a:p>
        </p:txBody>
      </p:sp>
      <p:sp>
        <p:nvSpPr>
          <p:cNvPr id="241" name="conclusion-label-1">
            <a:extLst xmlns:a="http://schemas.openxmlformats.org/drawingml/2006/main">
              <a:ext uri="{FF2B5EF4-FFF2-40B4-BE49-F238E27FC236}">
                <a16:creationId xmlns:a16="http://schemas.microsoft.com/office/drawing/2014/main" id="{55301C9E-74C9-48F0-B8EB-051138288CE2}"/>
              </a:ext>
            </a:extLst>
          </p:cNvPr>
          <p:cNvSpPr>
            <a:spLocks xmlns:a="http://schemas.openxmlformats.org/drawingml/2006/main" noGrp="1"/>
          </p:cNvSpPr>
          <p:nvPr/>
        </p:nvSpPr>
        <p:spPr>
          <a:xfrm xmlns:a="http://schemas.openxmlformats.org/drawingml/2006/main">
            <a:off x="1000125" y="1762125"/>
            <a:ext cx="2619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650" b="1">
                <a:solidFill>
                  <a:srgbClr val="008A46"/>
                </a:solidFill>
                <a:latin typeface="Arial"/>
                <a:ea typeface="Arial"/>
                <a:cs typeface="Arial"/>
              </a:defRPr>
            </a:pPr>
            <a:r>
              <a:rPr sz="1650" b="1">
                <a:solidFill>
                  <a:srgbClr val="008A46"/>
                </a:solidFill>
                <a:latin typeface="Arial"/>
                <a:ea typeface="Arial"/>
                <a:cs typeface="Arial"/>
              </a:rPr>
              <a:t>Integrated framework</a:t>
            </a:r>
          </a:p>
        </p:txBody>
      </p:sp>
      <p:sp>
        <p:nvSpPr>
          <p:cNvPr id="242" name="conclusion-text-1">
            <a:extLst xmlns:a="http://schemas.openxmlformats.org/drawingml/2006/main">
              <a:ext uri="{FF2B5EF4-FFF2-40B4-BE49-F238E27FC236}">
                <a16:creationId xmlns:a16="http://schemas.microsoft.com/office/drawing/2014/main" id="{9203BA06-2C18-44F9-AF9A-8926F3C28993}"/>
              </a:ext>
            </a:extLst>
          </p:cNvPr>
          <p:cNvSpPr>
            <a:spLocks xmlns:a="http://schemas.openxmlformats.org/drawingml/2006/main" noGrp="1"/>
          </p:cNvSpPr>
          <p:nvPr/>
        </p:nvSpPr>
        <p:spPr>
          <a:xfrm xmlns:a="http://schemas.openxmlformats.org/drawingml/2006/main">
            <a:off x="3810000" y="1762125"/>
            <a:ext cx="74771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a:solidFill>
                  <a:srgbClr val="263244"/>
                </a:solidFill>
                <a:latin typeface="Arial"/>
                <a:ea typeface="Arial"/>
                <a:cs typeface="Arial"/>
              </a:defRPr>
            </a:pPr>
            <a:r>
              <a:rPr sz="1350">
                <a:solidFill>
                  <a:srgbClr val="263244"/>
                </a:solidFill>
                <a:latin typeface="Arial"/>
                <a:ea typeface="Arial"/>
                <a:cs typeface="Arial"/>
              </a:rPr>
              <a:t>CAABC-FL combines record-level privacy, ciphertext-aligned compression, CKKS-protected aggregation, controlled model release and auditable governance in one workflow.</a:t>
            </a:r>
          </a:p>
        </p:txBody>
      </p:sp>
      <p:sp>
        <p:nvSpPr>
          <p:cNvPr id="243" name="conclusion-rule-1">
            <a:extLst xmlns:a="http://schemas.openxmlformats.org/drawingml/2006/main">
              <a:ext uri="{FF2B5EF4-FFF2-40B4-BE49-F238E27FC236}">
                <a16:creationId xmlns:a16="http://schemas.microsoft.com/office/drawing/2014/main" id="{4EEC5555-25D0-4A7B-9555-631907CE1AA9}"/>
              </a:ext>
            </a:extLst>
          </p:cNvPr>
          <p:cNvSpPr>
            <a:spLocks xmlns:a="http://schemas.openxmlformats.org/drawingml/2006/main" noGrp="1"/>
          </p:cNvSpPr>
          <p:nvPr/>
        </p:nvSpPr>
        <p:spPr>
          <a:xfrm xmlns:a="http://schemas.openxmlformats.org/drawingml/2006/main">
            <a:off x="904875" y="2486025"/>
            <a:ext cx="10382250" cy="11430"/>
          </a:xfrm>
          <a:prstGeom xmlns:a="http://schemas.openxmlformats.org/drawingml/2006/main" prst="rect">
            <a:avLst/>
          </a:prstGeom>
          <a:solidFill xmlns:a="http://schemas.openxmlformats.org/drawingml/2006/main">
            <a:srgbClr val="C8D3DF"/>
          </a:solidFill>
          <a:ln xmlns:a="http://schemas.openxmlformats.org/drawingml/2006/main" w="0">
            <a:noFill/>
          </a:ln>
        </p:spPr>
      </p:sp>
      <p:sp>
        <p:nvSpPr>
          <p:cNvPr id="244" name="conclusion-label-2">
            <a:extLst xmlns:a="http://schemas.openxmlformats.org/drawingml/2006/main">
              <a:ext uri="{FF2B5EF4-FFF2-40B4-BE49-F238E27FC236}">
                <a16:creationId xmlns:a16="http://schemas.microsoft.com/office/drawing/2014/main" id="{0F568816-CA8C-4564-9B39-0858575AA86D}"/>
              </a:ext>
            </a:extLst>
          </p:cNvPr>
          <p:cNvSpPr>
            <a:spLocks xmlns:a="http://schemas.openxmlformats.org/drawingml/2006/main" noGrp="1"/>
          </p:cNvSpPr>
          <p:nvPr/>
        </p:nvSpPr>
        <p:spPr>
          <a:xfrm xmlns:a="http://schemas.openxmlformats.org/drawingml/2006/main">
            <a:off x="1000125" y="2667000"/>
            <a:ext cx="2619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650" b="1">
                <a:solidFill>
                  <a:srgbClr val="17365D"/>
                </a:solidFill>
                <a:latin typeface="Arial"/>
                <a:ea typeface="Arial"/>
                <a:cs typeface="Arial"/>
              </a:defRPr>
            </a:pPr>
            <a:r>
              <a:rPr sz="1650" b="1">
                <a:solidFill>
                  <a:srgbClr val="17365D"/>
                </a:solidFill>
                <a:latin typeface="Arial"/>
                <a:ea typeface="Arial"/>
                <a:cs typeface="Arial"/>
              </a:rPr>
              <a:t>Experimental evidence</a:t>
            </a:r>
          </a:p>
        </p:txBody>
      </p:sp>
      <p:sp>
        <p:nvSpPr>
          <p:cNvPr id="245" name="conclusion-text-2">
            <a:extLst xmlns:a="http://schemas.openxmlformats.org/drawingml/2006/main">
              <a:ext uri="{FF2B5EF4-FFF2-40B4-BE49-F238E27FC236}">
                <a16:creationId xmlns:a16="http://schemas.microsoft.com/office/drawing/2014/main" id="{E768B45E-A1C0-4488-B9DD-6E0B2F66E259}"/>
              </a:ext>
            </a:extLst>
          </p:cNvPr>
          <p:cNvSpPr>
            <a:spLocks xmlns:a="http://schemas.openxmlformats.org/drawingml/2006/main" noGrp="1"/>
          </p:cNvSpPr>
          <p:nvPr/>
        </p:nvSpPr>
        <p:spPr>
          <a:xfrm xmlns:a="http://schemas.openxmlformats.org/drawingml/2006/main">
            <a:off x="3810000" y="2667000"/>
            <a:ext cx="74771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a:solidFill>
                  <a:srgbClr val="263244"/>
                </a:solidFill>
                <a:latin typeface="Arial"/>
                <a:ea typeface="Arial"/>
                <a:cs typeface="Arial"/>
              </a:defRPr>
            </a:pPr>
            <a:r>
              <a:rPr sz="1350">
                <a:solidFill>
                  <a:srgbClr val="263244"/>
                </a:solidFill>
                <a:latin typeface="Arial"/>
                <a:ea typeface="Arial"/>
                <a:cs typeface="Arial"/>
              </a:rPr>
              <a:t>The registered experiments retained comparable predictive utility, reduced serialized encrypted upload, and limited membership and reconstruction exposure under the tested settings.</a:t>
            </a:r>
          </a:p>
        </p:txBody>
      </p:sp>
      <p:sp>
        <p:nvSpPr>
          <p:cNvPr id="246" name="conclusion-rule-2">
            <a:extLst xmlns:a="http://schemas.openxmlformats.org/drawingml/2006/main">
              <a:ext uri="{FF2B5EF4-FFF2-40B4-BE49-F238E27FC236}">
                <a16:creationId xmlns:a16="http://schemas.microsoft.com/office/drawing/2014/main" id="{27686754-AAB5-4C53-A24A-891ECCEC6F40}"/>
              </a:ext>
            </a:extLst>
          </p:cNvPr>
          <p:cNvSpPr>
            <a:spLocks xmlns:a="http://schemas.openxmlformats.org/drawingml/2006/main" noGrp="1"/>
          </p:cNvSpPr>
          <p:nvPr/>
        </p:nvSpPr>
        <p:spPr>
          <a:xfrm xmlns:a="http://schemas.openxmlformats.org/drawingml/2006/main">
            <a:off x="904875" y="3390900"/>
            <a:ext cx="10382250" cy="11430"/>
          </a:xfrm>
          <a:prstGeom xmlns:a="http://schemas.openxmlformats.org/drawingml/2006/main" prst="rect">
            <a:avLst/>
          </a:prstGeom>
          <a:solidFill xmlns:a="http://schemas.openxmlformats.org/drawingml/2006/main">
            <a:srgbClr val="C8D3DF"/>
          </a:solidFill>
          <a:ln xmlns:a="http://schemas.openxmlformats.org/drawingml/2006/main" w="0">
            <a:noFill/>
          </a:ln>
        </p:spPr>
      </p:sp>
      <p:sp>
        <p:nvSpPr>
          <p:cNvPr id="247" name="conclusion-label-3">
            <a:extLst xmlns:a="http://schemas.openxmlformats.org/drawingml/2006/main">
              <a:ext uri="{FF2B5EF4-FFF2-40B4-BE49-F238E27FC236}">
                <a16:creationId xmlns:a16="http://schemas.microsoft.com/office/drawing/2014/main" id="{9C9379D0-AC92-4052-B686-80553A665FAB}"/>
              </a:ext>
            </a:extLst>
          </p:cNvPr>
          <p:cNvSpPr>
            <a:spLocks xmlns:a="http://schemas.openxmlformats.org/drawingml/2006/main" noGrp="1"/>
          </p:cNvSpPr>
          <p:nvPr/>
        </p:nvSpPr>
        <p:spPr>
          <a:xfrm xmlns:a="http://schemas.openxmlformats.org/drawingml/2006/main">
            <a:off x="1000125" y="3571875"/>
            <a:ext cx="2619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650" b="1">
                <a:solidFill>
                  <a:srgbClr val="008A46"/>
                </a:solidFill>
                <a:latin typeface="Arial"/>
                <a:ea typeface="Arial"/>
                <a:cs typeface="Arial"/>
              </a:defRPr>
            </a:pPr>
            <a:r>
              <a:rPr sz="1650" b="1">
                <a:solidFill>
                  <a:srgbClr val="008A46"/>
                </a:solidFill>
                <a:latin typeface="Arial"/>
                <a:ea typeface="Arial"/>
                <a:cs typeface="Arial"/>
              </a:rPr>
              <a:t>Robust collaboration</a:t>
            </a:r>
          </a:p>
        </p:txBody>
      </p:sp>
      <p:sp>
        <p:nvSpPr>
          <p:cNvPr id="248" name="conclusion-text-3">
            <a:extLst xmlns:a="http://schemas.openxmlformats.org/drawingml/2006/main">
              <a:ext uri="{FF2B5EF4-FFF2-40B4-BE49-F238E27FC236}">
                <a16:creationId xmlns:a16="http://schemas.microsoft.com/office/drawing/2014/main" id="{0524D455-E99B-4935-991A-AABA968123A2}"/>
              </a:ext>
            </a:extLst>
          </p:cNvPr>
          <p:cNvSpPr>
            <a:spLocks xmlns:a="http://schemas.openxmlformats.org/drawingml/2006/main" noGrp="1"/>
          </p:cNvSpPr>
          <p:nvPr/>
        </p:nvSpPr>
        <p:spPr>
          <a:xfrm xmlns:a="http://schemas.openxmlformats.org/drawingml/2006/main">
            <a:off x="3810000" y="3571875"/>
            <a:ext cx="74771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a:solidFill>
                  <a:srgbClr val="263244"/>
                </a:solidFill>
                <a:latin typeface="Arial"/>
                <a:ea typeface="Arial"/>
                <a:cs typeface="Arial"/>
              </a:defRPr>
            </a:pPr>
            <a:r>
              <a:rPr sz="1350">
                <a:solidFill>
                  <a:srgbClr val="263244"/>
                </a:solidFill>
                <a:latin typeface="Arial"/>
                <a:ea typeface="Arial"/>
                <a:cs typeface="Arial"/>
              </a:rPr>
              <a:t>Validation, reputation, rollback and audit controls improved resilience under the evaluated poisoning scenarios while preserving the protected aggregation path.</a:t>
            </a:r>
          </a:p>
        </p:txBody>
      </p:sp>
      <p:sp>
        <p:nvSpPr>
          <p:cNvPr id="249" name="conclusion-rule-3">
            <a:extLst xmlns:a="http://schemas.openxmlformats.org/drawingml/2006/main">
              <a:ext uri="{FF2B5EF4-FFF2-40B4-BE49-F238E27FC236}">
                <a16:creationId xmlns:a16="http://schemas.microsoft.com/office/drawing/2014/main" id="{466410C8-6CA1-4F80-B7C4-95089CAFD4E3}"/>
              </a:ext>
            </a:extLst>
          </p:cNvPr>
          <p:cNvSpPr>
            <a:spLocks xmlns:a="http://schemas.openxmlformats.org/drawingml/2006/main" noGrp="1"/>
          </p:cNvSpPr>
          <p:nvPr/>
        </p:nvSpPr>
        <p:spPr>
          <a:xfrm xmlns:a="http://schemas.openxmlformats.org/drawingml/2006/main">
            <a:off x="904875" y="4295775"/>
            <a:ext cx="10382250" cy="11430"/>
          </a:xfrm>
          <a:prstGeom xmlns:a="http://schemas.openxmlformats.org/drawingml/2006/main" prst="rect">
            <a:avLst/>
          </a:prstGeom>
          <a:solidFill xmlns:a="http://schemas.openxmlformats.org/drawingml/2006/main">
            <a:srgbClr val="C8D3DF"/>
          </a:solidFill>
          <a:ln xmlns:a="http://schemas.openxmlformats.org/drawingml/2006/main" w="0">
            <a:noFill/>
          </a:ln>
        </p:spPr>
      </p:sp>
      <p:sp>
        <p:nvSpPr>
          <p:cNvPr id="250" name="conclusion-label-4">
            <a:extLst xmlns:a="http://schemas.openxmlformats.org/drawingml/2006/main">
              <a:ext uri="{FF2B5EF4-FFF2-40B4-BE49-F238E27FC236}">
                <a16:creationId xmlns:a16="http://schemas.microsoft.com/office/drawing/2014/main" id="{12411998-3451-485E-AAB6-3E660EF5F96F}"/>
              </a:ext>
            </a:extLst>
          </p:cNvPr>
          <p:cNvSpPr>
            <a:spLocks xmlns:a="http://schemas.openxmlformats.org/drawingml/2006/main" noGrp="1"/>
          </p:cNvSpPr>
          <p:nvPr/>
        </p:nvSpPr>
        <p:spPr>
          <a:xfrm xmlns:a="http://schemas.openxmlformats.org/drawingml/2006/main">
            <a:off x="1000125" y="4476750"/>
            <a:ext cx="2619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650" b="1">
                <a:solidFill>
                  <a:srgbClr val="17365D"/>
                </a:solidFill>
                <a:latin typeface="Arial"/>
                <a:ea typeface="Arial"/>
                <a:cs typeface="Arial"/>
              </a:defRPr>
            </a:pPr>
            <a:r>
              <a:rPr sz="1650" b="1">
                <a:solidFill>
                  <a:srgbClr val="17365D"/>
                </a:solidFill>
                <a:latin typeface="Arial"/>
                <a:ea typeface="Arial"/>
                <a:cs typeface="Arial"/>
              </a:rPr>
              <a:t>Claim boundary</a:t>
            </a:r>
          </a:p>
        </p:txBody>
      </p:sp>
      <p:sp>
        <p:nvSpPr>
          <p:cNvPr id="251" name="conclusion-text-4">
            <a:extLst xmlns:a="http://schemas.openxmlformats.org/drawingml/2006/main">
              <a:ext uri="{FF2B5EF4-FFF2-40B4-BE49-F238E27FC236}">
                <a16:creationId xmlns:a16="http://schemas.microsoft.com/office/drawing/2014/main" id="{F34CFDE2-6AB9-4104-BC0D-718F99F35090}"/>
              </a:ext>
            </a:extLst>
          </p:cNvPr>
          <p:cNvSpPr>
            <a:spLocks xmlns:a="http://schemas.openxmlformats.org/drawingml/2006/main" noGrp="1"/>
          </p:cNvSpPr>
          <p:nvPr/>
        </p:nvSpPr>
        <p:spPr>
          <a:xfrm xmlns:a="http://schemas.openxmlformats.org/drawingml/2006/main">
            <a:off x="3810000" y="4476750"/>
            <a:ext cx="74771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a:solidFill>
                  <a:srgbClr val="263244"/>
                </a:solidFill>
                <a:latin typeface="Arial"/>
                <a:ea typeface="Arial"/>
                <a:cs typeface="Arial"/>
              </a:defRPr>
            </a:pPr>
            <a:r>
              <a:rPr sz="1350">
                <a:solidFill>
                  <a:srgbClr val="263244"/>
                </a:solidFill>
                <a:latin typeface="Arial"/>
                <a:ea typeface="Arial"/>
                <a:cs typeface="Arial"/>
              </a:rPr>
              <a:t>The results support a defensible research system rather than universal security or production readiness; broader clinical, threshold-custody and multi-host validation remains necessary.</a:t>
            </a:r>
          </a:p>
        </p:txBody>
      </p:sp>
      <p:sp>
        <p:nvSpPr>
          <p:cNvPr id="252" name="final-conclusion-takeaway-box">
            <a:extLst xmlns:a="http://schemas.openxmlformats.org/drawingml/2006/main">
              <a:ext uri="{FF2B5EF4-FFF2-40B4-BE49-F238E27FC236}">
                <a16:creationId xmlns:a16="http://schemas.microsoft.com/office/drawing/2014/main" id="{93A03521-FD85-4E02-BDBD-F814A62381B3}"/>
              </a:ext>
            </a:extLst>
          </p:cNvPr>
          <p:cNvSpPr>
            <a:spLocks xmlns:a="http://schemas.openxmlformats.org/drawingml/2006/main" noGrp="1"/>
          </p:cNvSpPr>
          <p:nvPr/>
        </p:nvSpPr>
        <p:spPr>
          <a:xfrm xmlns:a="http://schemas.openxmlformats.org/drawingml/2006/main">
            <a:off x="1476375" y="5391150"/>
            <a:ext cx="9239250" cy="619125"/>
          </a:xfrm>
          <a:prstGeom xmlns:a="http://schemas.openxmlformats.org/drawingml/2006/main" prst="roundRect">
            <a:avLst>
              <a:gd name="adj" fmla="val 12308"/>
            </a:avLst>
          </a:prstGeom>
          <a:solidFill xmlns:a="http://schemas.openxmlformats.org/drawingml/2006/main">
            <a:srgbClr val="E8F4EE"/>
          </a:solidFill>
          <a:ln xmlns:a="http://schemas.openxmlformats.org/drawingml/2006/main" w="15240">
            <a:solidFill>
              <a:srgbClr val="008A46"/>
            </a:solidFill>
          </a:ln>
        </p:spPr>
      </p:sp>
      <p:sp>
        <p:nvSpPr>
          <p:cNvPr id="253" name="final-conclusion-takeaway">
            <a:extLst xmlns:a="http://schemas.openxmlformats.org/drawingml/2006/main">
              <a:ext uri="{FF2B5EF4-FFF2-40B4-BE49-F238E27FC236}">
                <a16:creationId xmlns:a16="http://schemas.microsoft.com/office/drawing/2014/main" id="{FFBA74EA-F6D6-4A91-9CEB-D8D4A2E86B04}"/>
              </a:ext>
            </a:extLst>
          </p:cNvPr>
          <p:cNvSpPr>
            <a:spLocks xmlns:a="http://schemas.openxmlformats.org/drawingml/2006/main" noGrp="1"/>
          </p:cNvSpPr>
          <p:nvPr/>
        </p:nvSpPr>
        <p:spPr>
          <a:xfrm xmlns:a="http://schemas.openxmlformats.org/drawingml/2006/main">
            <a:off x="1762125" y="5467350"/>
            <a:ext cx="8667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889"/>
          </a:bodyPr>
          <a:lstStyle xmlns:a="http://schemas.openxmlformats.org/drawingml/2006/main"/>
          <a:p xmlns:a="http://schemas.openxmlformats.org/drawingml/2006/main">
            <a:pPr algn="ctr">
              <a:defRPr sz="1350" b="1">
                <a:solidFill>
                  <a:srgbClr val="17365D"/>
                </a:solidFill>
                <a:latin typeface="Arial"/>
                <a:ea typeface="Arial"/>
                <a:cs typeface="Arial"/>
              </a:defRPr>
            </a:pPr>
            <a:r>
              <a:rPr sz="1350" b="1">
                <a:solidFill>
                  <a:srgbClr val="17365D"/>
                </a:solidFill>
                <a:latin typeface="Arial"/>
                <a:ea typeface="Arial"/>
                <a:cs typeface="Arial"/>
              </a:rPr>
              <a:t>CAABC-FL shows that privacy, encrypted communication efficiency, poisoning resilience and accountability can be evaluated together within one multi-institutional learning protocol.</a:t>
            </a:r>
          </a:p>
        </p:txBody>
      </p:sp>
    </p:spTree>
    <p:extLst>
      <p:ext uri="{BB962C8B-B14F-4D97-AF65-F5344CB8AC3E}">
        <p14:creationId xmlns:p14="http://schemas.microsoft.com/office/powerpoint/2010/main" val="3557563943"/>
      </p:ext>
    </p:extLst>
  </p:cSld>
</p:sld>
</file>

<file path=ppt/slides/slide35.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E2344E4-1A22-60C2-AFF0-304AE3DCA42D}"/>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References (1/2)</a:t>
            </a:r>
            <a:endParaRPr/>
          </a:p>
        </p:txBody>
      </p:sp>
      <p:sp>
        <p:nvSpPr>
          <p:cNvPr id="212" name="Google Shape;212;p28">
            <a:extLst xmlns:a="http://schemas.openxmlformats.org/drawingml/2006/main">
              <a:ext uri="{FF2B5EF4-FFF2-40B4-BE49-F238E27FC236}">
                <a16:creationId xmlns:a16="http://schemas.microsoft.com/office/drawing/2014/main" id="{FFFFB3C5-9869-C9B2-9CA3-CEB218044FFE}"/>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35</a:t>
            </a:r>
            <a:endParaRPr sz="2800"/>
          </a:p>
        </p:txBody>
      </p:sp>
      <p:pic>
        <p:nvPicPr>
          <p:cNvPr id="235"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be1bff98cf844075">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6"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eed532848a644abc">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5D3DE624-6115-A665-B7B3-FA10FA71AE1B}"/>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reference-28-0">
            <a:extLst xmlns:a="http://schemas.openxmlformats.org/drawingml/2006/main">
              <a:ext uri="{FF2B5EF4-FFF2-40B4-BE49-F238E27FC236}">
                <a16:creationId xmlns:a16="http://schemas.microsoft.com/office/drawing/2014/main" id="{A0904099-BC47-48DD-9FC7-D316955AC3E0}"/>
              </a:ext>
            </a:extLst>
          </p:cNvPr>
          <p:cNvSpPr>
            <a:spLocks xmlns:a="http://schemas.openxmlformats.org/drawingml/2006/main" noGrp="1"/>
          </p:cNvSpPr>
          <p:nvPr/>
        </p:nvSpPr>
        <p:spPr>
          <a:xfrm xmlns:a="http://schemas.openxmlformats.org/drawingml/2006/main">
            <a:off x="809625" y="11430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 H. B. McMahan et al., 'Communication-Efficient Learning of Deep Networks from Decentralized Data,' AISTATS, 2017.</a:t>
            </a:r>
          </a:p>
        </p:txBody>
      </p:sp>
      <p:sp>
        <p:nvSpPr>
          <p:cNvPr id="221" name="reference-28-1">
            <a:extLst xmlns:a="http://schemas.openxmlformats.org/drawingml/2006/main">
              <a:ext uri="{FF2B5EF4-FFF2-40B4-BE49-F238E27FC236}">
                <a16:creationId xmlns:a16="http://schemas.microsoft.com/office/drawing/2014/main" id="{9AA22853-C5D3-4E4D-BEA1-5FB35A4D455D}"/>
              </a:ext>
            </a:extLst>
          </p:cNvPr>
          <p:cNvSpPr>
            <a:spLocks xmlns:a="http://schemas.openxmlformats.org/drawingml/2006/main" noGrp="1"/>
          </p:cNvSpPr>
          <p:nvPr/>
        </p:nvSpPr>
        <p:spPr>
          <a:xfrm xmlns:a="http://schemas.openxmlformats.org/drawingml/2006/main">
            <a:off x="809625" y="17430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[2] M. J. Sheller et al., 'Federated Learning in Medicine,' Scientific Reports, vol. 10, 2020.</a:t>
            </a:r>
          </a:p>
        </p:txBody>
      </p:sp>
      <p:sp>
        <p:nvSpPr>
          <p:cNvPr id="222" name="reference-28-2">
            <a:extLst xmlns:a="http://schemas.openxmlformats.org/drawingml/2006/main">
              <a:ext uri="{FF2B5EF4-FFF2-40B4-BE49-F238E27FC236}">
                <a16:creationId xmlns:a16="http://schemas.microsoft.com/office/drawing/2014/main" id="{E59A6721-22D0-4840-981D-9DB09BD0AB56}"/>
              </a:ext>
            </a:extLst>
          </p:cNvPr>
          <p:cNvSpPr>
            <a:spLocks xmlns:a="http://schemas.openxmlformats.org/drawingml/2006/main" noGrp="1"/>
          </p:cNvSpPr>
          <p:nvPr/>
        </p:nvSpPr>
        <p:spPr>
          <a:xfrm xmlns:a="http://schemas.openxmlformats.org/drawingml/2006/main">
            <a:off x="809625" y="23431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[3] I. Dayan et al., 'Federated Learning for Predicting Clinical Outcomes in Patients with COVID-19,' Nature Medicine, 2021.</a:t>
            </a:r>
          </a:p>
        </p:txBody>
      </p:sp>
      <p:sp>
        <p:nvSpPr>
          <p:cNvPr id="223" name="reference-28-3">
            <a:extLst xmlns:a="http://schemas.openxmlformats.org/drawingml/2006/main">
              <a:ext uri="{FF2B5EF4-FFF2-40B4-BE49-F238E27FC236}">
                <a16:creationId xmlns:a16="http://schemas.microsoft.com/office/drawing/2014/main" id="{C69B131B-3082-4FFA-B58A-55201112CC76}"/>
              </a:ext>
            </a:extLst>
          </p:cNvPr>
          <p:cNvSpPr>
            <a:spLocks xmlns:a="http://schemas.openxmlformats.org/drawingml/2006/main" noGrp="1"/>
          </p:cNvSpPr>
          <p:nvPr/>
        </p:nvSpPr>
        <p:spPr>
          <a:xfrm xmlns:a="http://schemas.openxmlformats.org/drawingml/2006/main">
            <a:off x="809625" y="29432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[4] R. Shokri et al., 'Membership Inference Attacks Against Machine Learning Models,' IEEE S&amp;P, 2017.</a:t>
            </a:r>
          </a:p>
        </p:txBody>
      </p:sp>
      <p:sp>
        <p:nvSpPr>
          <p:cNvPr id="224" name="reference-28-4">
            <a:extLst xmlns:a="http://schemas.openxmlformats.org/drawingml/2006/main">
              <a:ext uri="{FF2B5EF4-FFF2-40B4-BE49-F238E27FC236}">
                <a16:creationId xmlns:a16="http://schemas.microsoft.com/office/drawing/2014/main" id="{05EABF6C-6284-465D-AF53-D60D1CF7452B}"/>
              </a:ext>
            </a:extLst>
          </p:cNvPr>
          <p:cNvSpPr>
            <a:spLocks xmlns:a="http://schemas.openxmlformats.org/drawingml/2006/main" noGrp="1"/>
          </p:cNvSpPr>
          <p:nvPr/>
        </p:nvSpPr>
        <p:spPr>
          <a:xfrm xmlns:a="http://schemas.openxmlformats.org/drawingml/2006/main">
            <a:off x="809625" y="35433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[5] L. Zhu, Z. Liu, and S. Han, 'Deep Leakage from Gradients,' NeurIPS, 2019.</a:t>
            </a:r>
          </a:p>
        </p:txBody>
      </p:sp>
      <p:sp>
        <p:nvSpPr>
          <p:cNvPr id="225" name="reference-28-5">
            <a:extLst xmlns:a="http://schemas.openxmlformats.org/drawingml/2006/main">
              <a:ext uri="{FF2B5EF4-FFF2-40B4-BE49-F238E27FC236}">
                <a16:creationId xmlns:a16="http://schemas.microsoft.com/office/drawing/2014/main" id="{9D247F58-02B2-4B19-9361-1F69FAE13E2D}"/>
              </a:ext>
            </a:extLst>
          </p:cNvPr>
          <p:cNvSpPr>
            <a:spLocks xmlns:a="http://schemas.openxmlformats.org/drawingml/2006/main" noGrp="1"/>
          </p:cNvSpPr>
          <p:nvPr/>
        </p:nvSpPr>
        <p:spPr>
          <a:xfrm xmlns:a="http://schemas.openxmlformats.org/drawingml/2006/main">
            <a:off x="809625" y="41433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[6] J. Geiping et al., 'Inverting Gradients - How Easy Is It to Break Privacy in Federated Learning?' NeurIPS, 2020.</a:t>
            </a:r>
          </a:p>
        </p:txBody>
      </p:sp>
      <p:sp>
        <p:nvSpPr>
          <p:cNvPr id="226" name="reference-28-6">
            <a:extLst xmlns:a="http://schemas.openxmlformats.org/drawingml/2006/main">
              <a:ext uri="{FF2B5EF4-FFF2-40B4-BE49-F238E27FC236}">
                <a16:creationId xmlns:a16="http://schemas.microsoft.com/office/drawing/2014/main" id="{32590E15-6E4E-419E-A8E8-E5787E778FE6}"/>
              </a:ext>
            </a:extLst>
          </p:cNvPr>
          <p:cNvSpPr>
            <a:spLocks xmlns:a="http://schemas.openxmlformats.org/drawingml/2006/main" noGrp="1"/>
          </p:cNvSpPr>
          <p:nvPr/>
        </p:nvSpPr>
        <p:spPr>
          <a:xfrm xmlns:a="http://schemas.openxmlformats.org/drawingml/2006/main">
            <a:off x="809625" y="47434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[7] C. Dwork et al., 'Calibrating Noise to Sensitivity in Private Data Analysis,' TCC, 2006.</a:t>
            </a:r>
          </a:p>
        </p:txBody>
      </p:sp>
      <p:sp>
        <p:nvSpPr>
          <p:cNvPr id="227" name="reference-28-7">
            <a:extLst xmlns:a="http://schemas.openxmlformats.org/drawingml/2006/main">
              <a:ext uri="{FF2B5EF4-FFF2-40B4-BE49-F238E27FC236}">
                <a16:creationId xmlns:a16="http://schemas.microsoft.com/office/drawing/2014/main" id="{B323B6D2-81E3-4645-8F35-DD0FD8668298}"/>
              </a:ext>
            </a:extLst>
          </p:cNvPr>
          <p:cNvSpPr>
            <a:spLocks xmlns:a="http://schemas.openxmlformats.org/drawingml/2006/main" noGrp="1"/>
          </p:cNvSpPr>
          <p:nvPr/>
        </p:nvSpPr>
        <p:spPr>
          <a:xfrm xmlns:a="http://schemas.openxmlformats.org/drawingml/2006/main">
            <a:off x="809625" y="53435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[8] M. Abadi et al., 'Deep Learning with Differential Privacy,' ACM CCS, 2016.</a:t>
            </a:r>
          </a:p>
        </p:txBody>
      </p:sp>
      <p:sp>
        <p:nvSpPr>
          <p:cNvPr id="230" name="visible-footer-date-28">
            <a:extLst xmlns:a="http://schemas.openxmlformats.org/drawingml/2006/main">
              <a:ext uri="{FF2B5EF4-FFF2-40B4-BE49-F238E27FC236}">
                <a16:creationId xmlns:a16="http://schemas.microsoft.com/office/drawing/2014/main" id="{0F0451F1-6B73-4633-9F09-522DF5783B23}"/>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942205720"/>
      </p:ext>
    </p:extLst>
  </p:cSld>
</p:sld>
</file>

<file path=ppt/slides/slide36.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C2DD68F-AB1C-3D5D-DF80-8BB6117EDD7A}"/>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References (2/2)</a:t>
            </a:r>
            <a:endParaRPr/>
          </a:p>
        </p:txBody>
      </p:sp>
      <p:sp>
        <p:nvSpPr>
          <p:cNvPr id="212" name="Google Shape;212;p28">
            <a:extLst xmlns:a="http://schemas.openxmlformats.org/drawingml/2006/main">
              <a:ext uri="{FF2B5EF4-FFF2-40B4-BE49-F238E27FC236}">
                <a16:creationId xmlns:a16="http://schemas.microsoft.com/office/drawing/2014/main" id="{393189EB-7FA1-8916-432D-45E7E59377BC}"/>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36</a:t>
            </a:r>
            <a:endParaRPr sz="2800"/>
          </a:p>
        </p:txBody>
      </p:sp>
      <p:pic>
        <p:nvPicPr>
          <p:cNvPr id="235"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cfe36b507442489a">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6"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daabb62c2e494ec7">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A2DBA02-EB63-E4A9-87A4-4B734A102E12}"/>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reference-29-0">
            <a:extLst xmlns:a="http://schemas.openxmlformats.org/drawingml/2006/main">
              <a:ext uri="{FF2B5EF4-FFF2-40B4-BE49-F238E27FC236}">
                <a16:creationId xmlns:a16="http://schemas.microsoft.com/office/drawing/2014/main" id="{A2142EB4-CEE1-41A8-9608-5F83BE112E7C}"/>
              </a:ext>
            </a:extLst>
          </p:cNvPr>
          <p:cNvSpPr>
            <a:spLocks xmlns:a="http://schemas.openxmlformats.org/drawingml/2006/main" noGrp="1"/>
          </p:cNvSpPr>
          <p:nvPr/>
        </p:nvSpPr>
        <p:spPr>
          <a:xfrm xmlns:a="http://schemas.openxmlformats.org/drawingml/2006/main">
            <a:off x="809625" y="11430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[9] K. Bonawitz et al., 'Practical Secure Aggregation for Privacy-Preserving Machine Learning,' ACM CCS, 2017.</a:t>
            </a:r>
          </a:p>
        </p:txBody>
      </p:sp>
      <p:sp>
        <p:nvSpPr>
          <p:cNvPr id="221" name="reference-29-1">
            <a:extLst xmlns:a="http://schemas.openxmlformats.org/drawingml/2006/main">
              <a:ext uri="{FF2B5EF4-FFF2-40B4-BE49-F238E27FC236}">
                <a16:creationId xmlns:a16="http://schemas.microsoft.com/office/drawing/2014/main" id="{8C0CE6AE-36A7-45F2-9DFC-7EED13DC9638}"/>
              </a:ext>
            </a:extLst>
          </p:cNvPr>
          <p:cNvSpPr>
            <a:spLocks xmlns:a="http://schemas.openxmlformats.org/drawingml/2006/main" noGrp="1"/>
          </p:cNvSpPr>
          <p:nvPr/>
        </p:nvSpPr>
        <p:spPr>
          <a:xfrm xmlns:a="http://schemas.openxmlformats.org/drawingml/2006/main">
            <a:off x="809625" y="17430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[10] J. H. Cheon et al., 'Homomorphic Encryption for Arithmetic of Approximate Numbers,' ASIACRYPT, 2017.</a:t>
            </a:r>
          </a:p>
        </p:txBody>
      </p:sp>
      <p:sp>
        <p:nvSpPr>
          <p:cNvPr id="222" name="reference-29-2">
            <a:extLst xmlns:a="http://schemas.openxmlformats.org/drawingml/2006/main">
              <a:ext uri="{FF2B5EF4-FFF2-40B4-BE49-F238E27FC236}">
                <a16:creationId xmlns:a16="http://schemas.microsoft.com/office/drawing/2014/main" id="{8EFA07C1-5F7E-4E6B-BF1D-2EF7DC637EB9}"/>
              </a:ext>
            </a:extLst>
          </p:cNvPr>
          <p:cNvSpPr>
            <a:spLocks xmlns:a="http://schemas.openxmlformats.org/drawingml/2006/main" noGrp="1"/>
          </p:cNvSpPr>
          <p:nvPr/>
        </p:nvSpPr>
        <p:spPr>
          <a:xfrm xmlns:a="http://schemas.openxmlformats.org/drawingml/2006/main">
            <a:off x="809625" y="23431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[11] T. Stevens et al., 'Efficient Differentially Private Secure Aggregation for Federated Learning,' USENIX Security, 2022.</a:t>
            </a:r>
          </a:p>
        </p:txBody>
      </p:sp>
      <p:sp>
        <p:nvSpPr>
          <p:cNvPr id="223" name="reference-29-3">
            <a:extLst xmlns:a="http://schemas.openxmlformats.org/drawingml/2006/main">
              <a:ext uri="{FF2B5EF4-FFF2-40B4-BE49-F238E27FC236}">
                <a16:creationId xmlns:a16="http://schemas.microsoft.com/office/drawing/2014/main" id="{AD8F6965-0F28-4E37-AEEE-0229DDC34CE9}"/>
              </a:ext>
            </a:extLst>
          </p:cNvPr>
          <p:cNvSpPr>
            <a:spLocks xmlns:a="http://schemas.openxmlformats.org/drawingml/2006/main" noGrp="1"/>
          </p:cNvSpPr>
          <p:nvPr/>
        </p:nvSpPr>
        <p:spPr>
          <a:xfrm xmlns:a="http://schemas.openxmlformats.org/drawingml/2006/main">
            <a:off x="809625" y="29432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[12] D. Froelicher et al., 'Truly Privacy-Preserving Federated Analytics for Precision Medicine,' Nature Communications, 2021.</a:t>
            </a:r>
          </a:p>
        </p:txBody>
      </p:sp>
      <p:sp>
        <p:nvSpPr>
          <p:cNvPr id="224" name="reference-29-4">
            <a:extLst xmlns:a="http://schemas.openxmlformats.org/drawingml/2006/main">
              <a:ext uri="{FF2B5EF4-FFF2-40B4-BE49-F238E27FC236}">
                <a16:creationId xmlns:a16="http://schemas.microsoft.com/office/drawing/2014/main" id="{AEEAED04-E5C3-4021-852E-D0AC7A2AF494}"/>
              </a:ext>
            </a:extLst>
          </p:cNvPr>
          <p:cNvSpPr>
            <a:spLocks xmlns:a="http://schemas.openxmlformats.org/drawingml/2006/main" noGrp="1"/>
          </p:cNvSpPr>
          <p:nvPr/>
        </p:nvSpPr>
        <p:spPr>
          <a:xfrm xmlns:a="http://schemas.openxmlformats.org/drawingml/2006/main">
            <a:off x="809625" y="35433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[13] Z. Li et al., 'SoteriaFL,' NeurIPS, 2022.   [14] X. Li and P. Li, 'Analysis and Enhancement of Federated Learning with Biased Compression,' ICML, 2023.</a:t>
            </a:r>
          </a:p>
        </p:txBody>
      </p:sp>
      <p:sp>
        <p:nvSpPr>
          <p:cNvPr id="225" name="reference-29-5">
            <a:extLst xmlns:a="http://schemas.openxmlformats.org/drawingml/2006/main">
              <a:ext uri="{FF2B5EF4-FFF2-40B4-BE49-F238E27FC236}">
                <a16:creationId xmlns:a16="http://schemas.microsoft.com/office/drawing/2014/main" id="{4F2574DD-0A40-48A4-854E-D03067D93C23}"/>
              </a:ext>
            </a:extLst>
          </p:cNvPr>
          <p:cNvSpPr>
            <a:spLocks xmlns:a="http://schemas.openxmlformats.org/drawingml/2006/main" noGrp="1"/>
          </p:cNvSpPr>
          <p:nvPr/>
        </p:nvSpPr>
        <p:spPr>
          <a:xfrm xmlns:a="http://schemas.openxmlformats.org/drawingml/2006/main">
            <a:off x="809625" y="41433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[15] X. Cao et al., 'FLTrust,' NDSS, 2021.   [16] R. Xu et al., 'Dual Defense,' NeurIPS, 2024.</a:t>
            </a:r>
          </a:p>
        </p:txBody>
      </p:sp>
      <p:sp>
        <p:nvSpPr>
          <p:cNvPr id="226" name="reference-29-6">
            <a:extLst xmlns:a="http://schemas.openxmlformats.org/drawingml/2006/main">
              <a:ext uri="{FF2B5EF4-FFF2-40B4-BE49-F238E27FC236}">
                <a16:creationId xmlns:a16="http://schemas.microsoft.com/office/drawing/2014/main" id="{9C630596-65E6-4BF9-91B1-AC65554EF9FD}"/>
              </a:ext>
            </a:extLst>
          </p:cNvPr>
          <p:cNvSpPr>
            <a:spLocks xmlns:a="http://schemas.openxmlformats.org/drawingml/2006/main" noGrp="1"/>
          </p:cNvSpPr>
          <p:nvPr/>
        </p:nvSpPr>
        <p:spPr>
          <a:xfrm xmlns:a="http://schemas.openxmlformats.org/drawingml/2006/main">
            <a:off x="809625" y="47434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[17] X. Gu, M. Li, and L. Xiong, 'DP-BREM,' USENIX Security, 2025.   [18] H. Asi et al., 'PREAMBLE,' NeurIPS, 2025.</a:t>
            </a:r>
          </a:p>
        </p:txBody>
      </p:sp>
      <p:sp>
        <p:nvSpPr>
          <p:cNvPr id="227" name="reference-29-7">
            <a:extLst xmlns:a="http://schemas.openxmlformats.org/drawingml/2006/main">
              <a:ext uri="{FF2B5EF4-FFF2-40B4-BE49-F238E27FC236}">
                <a16:creationId xmlns:a16="http://schemas.microsoft.com/office/drawing/2014/main" id="{F19B9063-46BF-4F12-8672-7E4DD622D342}"/>
              </a:ext>
            </a:extLst>
          </p:cNvPr>
          <p:cNvSpPr>
            <a:spLocks xmlns:a="http://schemas.openxmlformats.org/drawingml/2006/main" noGrp="1"/>
          </p:cNvSpPr>
          <p:nvPr/>
        </p:nvSpPr>
        <p:spPr>
          <a:xfrm xmlns:a="http://schemas.openxmlformats.org/drawingml/2006/main">
            <a:off x="809625" y="53435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[19] M. A. Reyna et al., 'Early Prediction of Sepsis from Clinical Data,' Critical Care Medicine, 2020.</a:t>
            </a:r>
          </a:p>
        </p:txBody>
      </p:sp>
      <p:sp>
        <p:nvSpPr>
          <p:cNvPr id="230" name="visible-footer-date-29">
            <a:extLst xmlns:a="http://schemas.openxmlformats.org/drawingml/2006/main">
              <a:ext uri="{FF2B5EF4-FFF2-40B4-BE49-F238E27FC236}">
                <a16:creationId xmlns:a16="http://schemas.microsoft.com/office/drawing/2014/main" id="{9EF3CE28-3C42-45BA-8462-0A5184EC31B4}"/>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243780179"/>
      </p:ext>
    </p:extLst>
  </p:cSld>
</p:sld>
</file>

<file path=ppt/slides/slide37.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241785"/>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Thesis</a:t>
            </a:r>
            <a:r>
              <a:rPr sz="4000" b="1">
                <a:solidFill>
                  <a:srgbClr val="002060"/>
                </a:solidFill>
                <a:latin typeface="Arial"/>
                <a:ea typeface="Arial"/>
                <a:cs typeface="Arial"/>
              </a:rPr>
              <a:t> Timeline</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37</a:t>
            </a:r>
            <a:endParaRPr sz="2800"/>
          </a:p>
        </p:txBody>
      </p:sp>
      <p:pic>
        <p:nvPicPr>
          <p:cNvPr id="233"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26e734da77cb427f">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4"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eba8c543192a4d51">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budget-summary">
            <a:extLst xmlns:a="http://schemas.openxmlformats.org/drawingml/2006/main">
              <a:ext uri="{FF2B5EF4-FFF2-40B4-BE49-F238E27FC236}">
                <a16:creationId xmlns:a16="http://schemas.microsoft.com/office/drawing/2014/main" id="{8137B54B-653C-4133-9587-F93E6F3F151F}"/>
              </a:ext>
            </a:extLst>
          </p:cNvPr>
          <p:cNvSpPr>
            <a:spLocks xmlns:a="http://schemas.openxmlformats.org/drawingml/2006/main" noGrp="1"/>
          </p:cNvSpPr>
          <p:nvPr/>
        </p:nvSpPr>
        <p:spPr>
          <a:xfrm xmlns:a="http://schemas.openxmlformats.org/drawingml/2006/main">
            <a:off x="1524000" y="1190625"/>
            <a:ext cx="914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2325" b="1" i="0">
                <a:solidFill>
                  <a:srgbClr val="00843D"/>
                </a:solidFill>
                <a:latin typeface="Arial"/>
                <a:ea typeface="Arial"/>
                <a:cs typeface="Arial"/>
              </a:defRPr>
            </a:pPr>
            <a:r>
              <a:rPr sz="2325" b="1" i="0">
                <a:solidFill>
                  <a:srgbClr val="00843D"/>
                </a:solidFill>
                <a:latin typeface="Arial"/>
                <a:ea typeface="Arial"/>
                <a:cs typeface="Arial"/>
              </a:rPr>
              <a:t>Research phases from proposal to final defense</a:t>
            </a:r>
          </a:p>
        </p:txBody>
      </p:sp>
      <p:sp>
        <p:nvSpPr>
          <p:cNvPr id="221" name="table-caption-budget">
            <a:extLst xmlns:a="http://schemas.openxmlformats.org/drawingml/2006/main">
              <a:ext uri="{FF2B5EF4-FFF2-40B4-BE49-F238E27FC236}">
                <a16:creationId xmlns:a16="http://schemas.microsoft.com/office/drawing/2014/main" id="{30FA90FD-4715-4D7B-80EA-6AD40A2657BE}"/>
              </a:ext>
            </a:extLst>
          </p:cNvPr>
          <p:cNvSpPr>
            <a:spLocks xmlns:a="http://schemas.openxmlformats.org/drawingml/2006/main" noGrp="1"/>
          </p:cNvSpPr>
          <p:nvPr/>
        </p:nvSpPr>
        <p:spPr>
          <a:xfrm xmlns:a="http://schemas.openxmlformats.org/drawingml/2006/main">
            <a:off x="1714500" y="1809750"/>
            <a:ext cx="876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GANTT SUMMARY. Completed project milestones</a:t>
            </a:r>
          </a:p>
        </p:txBody>
      </p:sp>
      <p:graphicFrame>
        <p:nvGraphicFramePr>
          <p:cNvPr id="238" name="Table 238"/>
          <p:cNvGraphicFramePr/>
          <p:nvPr/>
        </p:nvGraphicFramePr>
        <p:xfrm>
          <a:off xmlns:a="http://schemas.openxmlformats.org/drawingml/2006/main" x="1524000" y="2238375"/>
          <a:ext xmlns:a="http://schemas.openxmlformats.org/drawingml/2006/main" cx="9144000" cy="3143250"/>
        </p:xfrm>
        <a:graphic xmlns:a="http://schemas.openxmlformats.org/drawingml/2006/main">
          <a:graphicData uri="http://schemas.openxmlformats.org/drawingml/2006/table">
            <a:tbl>
              <a:tblPr firstRow="1" bandRow="1"/>
              <a:tblGrid>
                <a:gridCol w="2952750"/>
                <a:gridCol w="3714750"/>
                <a:gridCol w="2476500"/>
              </a:tblGrid>
              <a:tr h="628650">
                <a:tc>
                  <a:txBody>
                    <a:bodyPr/>
                    <a:lstStyle/>
                    <a:p>
                      <a:r>
                        <a:rPr sz="1425" b="1">
                          <a:solidFill>
                            <a:srgbClr val="FFFFFF"/>
                          </a:solidFill>
                          <a:latin typeface="Arial"/>
                          <a:ea typeface="Arial"/>
                          <a:cs typeface="Arial"/>
                        </a:rPr>
                        <a:t>Phase</a:t>
                      </a:r>
                    </a:p>
                  </a:txBody>
                  <a:tcPr marL="66675" marR="66675" marT="47625" marB="47625" anchor="ctr">
                    <a:solidFill>
                      <a:srgbClr val="17365D"/>
                    </a:solidFill>
                  </a:tcPr>
                </a:tc>
                <a:tc>
                  <a:txBody>
                    <a:bodyPr/>
                    <a:lstStyle/>
                    <a:p>
                      <a:r>
                        <a:rPr sz="1425" b="1">
                          <a:solidFill>
                            <a:srgbClr val="FFFFFF"/>
                          </a:solidFill>
                          <a:latin typeface="Arial"/>
                          <a:ea typeface="Arial"/>
                          <a:cs typeface="Arial"/>
                        </a:rPr>
                        <a:t>Period</a:t>
                      </a:r>
                    </a:p>
                  </a:txBody>
                  <a:tcPr marL="66675" marR="66675" marT="47625" marB="47625" anchor="ctr">
                    <a:solidFill>
                      <a:srgbClr val="17365D"/>
                    </a:solidFill>
                  </a:tcPr>
                </a:tc>
                <a:tc>
                  <a:txBody>
                    <a:bodyPr/>
                    <a:lstStyle/>
                    <a:p>
                      <a:r>
                        <a:rPr sz="1425" b="1">
                          <a:solidFill>
                            <a:srgbClr val="FFFFFF"/>
                          </a:solidFill>
                          <a:latin typeface="Arial"/>
                          <a:ea typeface="Arial"/>
                          <a:cs typeface="Arial"/>
                        </a:rPr>
                        <a:t>Status</a:t>
                      </a:r>
                    </a:p>
                  </a:txBody>
                  <a:tcPr marL="66675" marR="66675" marT="47625" marB="47625" anchor="ctr">
                    <a:solidFill>
                      <a:srgbClr val="17365D"/>
                    </a:solidFill>
                  </a:tcPr>
                </a:tc>
              </a:tr>
              <a:tr h="628650">
                <a:tc>
                  <a:txBody>
                    <a:bodyPr/>
                    <a:lstStyle/>
                    <a:p>
                      <a:r>
                        <a:rPr sz="1350">
                          <a:solidFill>
                            <a:srgbClr val="1F2937"/>
                          </a:solidFill>
                          <a:latin typeface="Arial"/>
                          <a:ea typeface="Arial"/>
                          <a:cs typeface="Arial"/>
                        </a:rPr>
                        <a:t>Proposal, literature review, and research design</a:t>
                      </a:r>
                    </a:p>
                  </a:txBody>
                  <a:tcPr marL="66675" marR="66675" marT="47625" marB="47625" anchor="ctr">
                    <a:solidFill>
                      <a:srgbClr val="FFFFFF"/>
                    </a:solidFill>
                  </a:tcPr>
                </a:tc>
                <a:tc>
                  <a:txBody>
                    <a:bodyPr/>
                    <a:lstStyle/>
                    <a:p>
                      <a:r>
                        <a:rPr sz="1350">
                          <a:solidFill>
                            <a:srgbClr val="1F2937"/>
                          </a:solidFill>
                          <a:latin typeface="Arial"/>
                          <a:ea typeface="Arial"/>
                          <a:cs typeface="Arial"/>
                        </a:rPr>
                        <a:t>Jun–Nov 2025</a:t>
                      </a:r>
                    </a:p>
                  </a:txBody>
                  <a:tcPr marL="66675" marR="66675" marT="47625" marB="47625" anchor="ctr">
                    <a:solidFill>
                      <a:srgbClr val="FFFFFF"/>
                    </a:solidFill>
                  </a:tcPr>
                </a:tc>
                <a:tc>
                  <a:txBody>
                    <a:bodyPr/>
                    <a:lstStyle/>
                    <a:p>
                      <a:r>
                        <a:rPr sz="1350" b="1">
                          <a:solidFill>
                            <a:srgbClr val="008A46"/>
                          </a:solidFill>
                          <a:latin typeface="Arial"/>
                          <a:ea typeface="Arial"/>
                          <a:cs typeface="Arial"/>
                        </a:rPr>
                        <a:t>Completed</a:t>
                      </a:r>
                    </a:p>
                  </a:txBody>
                  <a:tcPr marL="66675" marR="66675" marT="47625" marB="47625" anchor="ctr">
                    <a:solidFill>
                      <a:srgbClr val="E7F4EC"/>
                    </a:solidFill>
                  </a:tcPr>
                </a:tc>
              </a:tr>
              <a:tr h="628650">
                <a:tc>
                  <a:txBody>
                    <a:bodyPr/>
                    <a:lstStyle/>
                    <a:p>
                      <a:r>
                        <a:rPr sz="1350">
                          <a:solidFill>
                            <a:srgbClr val="1F2937"/>
                          </a:solidFill>
                          <a:latin typeface="Arial"/>
                          <a:ea typeface="Arial"/>
                          <a:cs typeface="Arial"/>
                        </a:rPr>
                        <a:t>Framework implementation</a:t>
                      </a:r>
                    </a:p>
                  </a:txBody>
                  <a:tcPr marL="66675" marR="66675" marT="47625" marB="47625" anchor="ctr">
                    <a:solidFill>
                      <a:srgbClr val="FFFFFF"/>
                    </a:solidFill>
                  </a:tcPr>
                </a:tc>
                <a:tc>
                  <a:txBody>
                    <a:bodyPr/>
                    <a:lstStyle/>
                    <a:p>
                      <a:r>
                        <a:rPr sz="1350">
                          <a:solidFill>
                            <a:srgbClr val="1F2937"/>
                          </a:solidFill>
                          <a:latin typeface="Arial"/>
                          <a:ea typeface="Arial"/>
                          <a:cs typeface="Arial"/>
                        </a:rPr>
                        <a:t>Dec 2025–Mar 2026</a:t>
                      </a:r>
                    </a:p>
                  </a:txBody>
                  <a:tcPr marL="66675" marR="66675" marT="47625" marB="47625" anchor="ctr">
                    <a:solidFill>
                      <a:srgbClr val="FFFFFF"/>
                    </a:solidFill>
                  </a:tcPr>
                </a:tc>
                <a:tc>
                  <a:txBody>
                    <a:bodyPr/>
                    <a:lstStyle/>
                    <a:p>
                      <a:r>
                        <a:rPr sz="1350" b="1">
                          <a:solidFill>
                            <a:srgbClr val="008A46"/>
                          </a:solidFill>
                          <a:latin typeface="Arial"/>
                          <a:ea typeface="Arial"/>
                          <a:cs typeface="Arial"/>
                        </a:rPr>
                        <a:t>Completed</a:t>
                      </a:r>
                    </a:p>
                  </a:txBody>
                  <a:tcPr marL="66675" marR="66675" marT="47625" marB="47625" anchor="ctr">
                    <a:solidFill>
                      <a:srgbClr val="E7F4EC"/>
                    </a:solidFill>
                  </a:tcPr>
                </a:tc>
              </a:tr>
              <a:tr h="628650">
                <a:tc>
                  <a:txBody>
                    <a:bodyPr/>
                    <a:lstStyle/>
                    <a:p>
                      <a:r>
                        <a:rPr sz="1350">
                          <a:solidFill>
                            <a:srgbClr val="1F2937"/>
                          </a:solidFill>
                          <a:latin typeface="Arial"/>
                          <a:ea typeface="Arial"/>
                          <a:cs typeface="Arial"/>
                        </a:rPr>
                        <a:t>Security, privacy, poisoning, and statistical evaluation</a:t>
                      </a:r>
                    </a:p>
                  </a:txBody>
                  <a:tcPr marL="66675" marR="66675" marT="47625" marB="47625" anchor="ctr">
                    <a:solidFill>
                      <a:srgbClr val="FFFFFF"/>
                    </a:solidFill>
                  </a:tcPr>
                </a:tc>
                <a:tc>
                  <a:txBody>
                    <a:bodyPr/>
                    <a:lstStyle/>
                    <a:p>
                      <a:r>
                        <a:rPr sz="1350">
                          <a:solidFill>
                            <a:srgbClr val="1F2937"/>
                          </a:solidFill>
                          <a:latin typeface="Arial"/>
                          <a:ea typeface="Arial"/>
                          <a:cs typeface="Arial"/>
                        </a:rPr>
                        <a:t>Apr–Jul 2026</a:t>
                      </a:r>
                    </a:p>
                  </a:txBody>
                  <a:tcPr marL="66675" marR="66675" marT="47625" marB="47625" anchor="ctr">
                    <a:solidFill>
                      <a:srgbClr val="FFFFFF"/>
                    </a:solidFill>
                  </a:tcPr>
                </a:tc>
                <a:tc>
                  <a:txBody>
                    <a:bodyPr/>
                    <a:lstStyle/>
                    <a:p>
                      <a:r>
                        <a:rPr sz="1350" b="1">
                          <a:solidFill>
                            <a:srgbClr val="008A46"/>
                          </a:solidFill>
                          <a:latin typeface="Arial"/>
                          <a:ea typeface="Arial"/>
                          <a:cs typeface="Arial"/>
                        </a:rPr>
                        <a:t>Completed</a:t>
                      </a:r>
                    </a:p>
                  </a:txBody>
                  <a:tcPr marL="66675" marR="66675" marT="47625" marB="47625" anchor="ctr">
                    <a:solidFill>
                      <a:srgbClr val="E7F4EC"/>
                    </a:solidFill>
                  </a:tcPr>
                </a:tc>
              </a:tr>
              <a:tr h="628650">
                <a:tc>
                  <a:txBody>
                    <a:bodyPr/>
                    <a:lstStyle/>
                    <a:p>
                      <a:r>
                        <a:rPr sz="1350">
                          <a:solidFill>
                            <a:srgbClr val="1F2937"/>
                          </a:solidFill>
                          <a:latin typeface="Arial"/>
                          <a:ea typeface="Arial"/>
                          <a:cs typeface="Arial"/>
                        </a:rPr>
                        <a:t>Report writing, revision, and defense preparation</a:t>
                      </a:r>
                    </a:p>
                  </a:txBody>
                  <a:tcPr marL="66675" marR="66675" marT="47625" marB="47625" anchor="ctr">
                    <a:solidFill>
                      <a:srgbClr val="FFFFFF"/>
                    </a:solidFill>
                  </a:tcPr>
                </a:tc>
                <a:tc>
                  <a:txBody>
                    <a:bodyPr/>
                    <a:lstStyle/>
                    <a:p>
                      <a:r>
                        <a:rPr sz="1350">
                          <a:solidFill>
                            <a:srgbClr val="1F2937"/>
                          </a:solidFill>
                          <a:latin typeface="Arial"/>
                          <a:ea typeface="Arial"/>
                          <a:cs typeface="Arial"/>
                        </a:rPr>
                        <a:t>Jul–Sep 2026</a:t>
                      </a:r>
                    </a:p>
                  </a:txBody>
                  <a:tcPr marL="66675" marR="66675" marT="47625" marB="47625" anchor="ctr">
                    <a:solidFill>
                      <a:srgbClr val="FFFFFF"/>
                    </a:solidFill>
                  </a:tcPr>
                </a:tc>
                <a:tc>
                  <a:txBody>
                    <a:bodyPr/>
                    <a:lstStyle/>
                    <a:p>
                      <a:r>
                        <a:rPr sz="1350" b="1">
                          <a:solidFill>
                            <a:srgbClr val="008A46"/>
                          </a:solidFill>
                          <a:latin typeface="Arial"/>
                          <a:ea typeface="Arial"/>
                          <a:cs typeface="Arial"/>
                        </a:rPr>
                        <a:t>Completed</a:t>
                      </a:r>
                    </a:p>
                  </a:txBody>
                  <a:tcPr marL="66675" marR="66675" marT="47625" marB="47625" anchor="ctr">
                    <a:solidFill>
                      <a:srgbClr val="E7F4EC"/>
                    </a:solidFill>
                  </a:tcPr>
                </a:tc>
              </a:tr>
            </a:tbl>
          </a:graphicData>
        </a:graphic>
      </p:graphicFrame>
      <p:sp>
        <p:nvSpPr>
          <p:cNvPr id="223" name="budget-note">
            <a:extLst xmlns:a="http://schemas.openxmlformats.org/drawingml/2006/main">
              <a:ext uri="{FF2B5EF4-FFF2-40B4-BE49-F238E27FC236}">
                <a16:creationId xmlns:a16="http://schemas.microsoft.com/office/drawing/2014/main" id="{0C7FFF23-BDBF-4879-ACBD-CC6DCB51F554}"/>
              </a:ext>
            </a:extLst>
          </p:cNvPr>
          <p:cNvSpPr>
            <a:spLocks xmlns:a="http://schemas.openxmlformats.org/drawingml/2006/main" noGrp="1"/>
          </p:cNvSpPr>
          <p:nvPr/>
        </p:nvSpPr>
        <p:spPr>
          <a:xfrm xmlns:a="http://schemas.openxmlformats.org/drawingml/2006/main">
            <a:off x="1619250" y="5572125"/>
            <a:ext cx="895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575" b="0" i="1">
                <a:solidFill>
                  <a:srgbClr val="5B6573"/>
                </a:solidFill>
                <a:latin typeface="Arial"/>
                <a:ea typeface="Arial"/>
                <a:cs typeface="Arial"/>
              </a:defRPr>
            </a:pPr>
            <a:r>
              <a:rPr sz="1575" b="0" i="1">
                <a:solidFill>
                  <a:srgbClr val="5B6573"/>
                </a:solidFill>
                <a:latin typeface="Arial"/>
                <a:ea typeface="Arial"/>
                <a:cs typeface="Arial"/>
              </a:rPr>
              <a:t>Final defense: 25 September 2026</a:t>
            </a:r>
          </a:p>
        </p:txBody>
      </p:sp>
      <p:sp>
        <p:nvSpPr>
          <p:cNvPr id="227" name="visible-footer-date-18">
            <a:extLst xmlns:a="http://schemas.openxmlformats.org/drawingml/2006/main">
              <a:ext uri="{FF2B5EF4-FFF2-40B4-BE49-F238E27FC236}">
                <a16:creationId xmlns:a16="http://schemas.microsoft.com/office/drawing/2014/main" id="{019C4209-3297-4541-91A5-92028810CB27}"/>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38.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24960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Abbreviations</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38</a:t>
            </a:r>
            <a:endParaRPr sz="2800"/>
          </a:p>
        </p:txBody>
      </p:sp>
      <p:pic>
        <p:nvPicPr>
          <p:cNvPr id="23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b7b3bb06899e419b">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56b24de68e2445cd">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analysis-heading-0">
            <a:extLst xmlns:a="http://schemas.openxmlformats.org/drawingml/2006/main">
              <a:ext uri="{FF2B5EF4-FFF2-40B4-BE49-F238E27FC236}">
                <a16:creationId xmlns:a16="http://schemas.microsoft.com/office/drawing/2014/main" id="{3ECCB687-E844-4C46-8D87-97DED2082525}"/>
              </a:ext>
            </a:extLst>
          </p:cNvPr>
          <p:cNvSpPr>
            <a:spLocks xmlns:a="http://schemas.openxmlformats.org/drawingml/2006/main" noGrp="1"/>
          </p:cNvSpPr>
          <p:nvPr/>
        </p:nvSpPr>
        <p:spPr>
          <a:xfrm xmlns:a="http://schemas.openxmlformats.org/drawingml/2006/main">
            <a:off x="904875"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Framework and privacy</a:t>
            </a:r>
          </a:p>
        </p:txBody>
      </p:sp>
      <p:sp>
        <p:nvSpPr>
          <p:cNvPr id="221" name="rule-95-205">
            <a:extLst xmlns:a="http://schemas.openxmlformats.org/drawingml/2006/main">
              <a:ext uri="{FF2B5EF4-FFF2-40B4-BE49-F238E27FC236}">
                <a16:creationId xmlns:a16="http://schemas.microsoft.com/office/drawing/2014/main" id="{352B6B40-0702-4168-8048-430375DFED3B}"/>
              </a:ext>
            </a:extLst>
          </p:cNvPr>
          <p:cNvSpPr>
            <a:spLocks xmlns:a="http://schemas.openxmlformats.org/drawingml/2006/main" noGrp="1"/>
          </p:cNvSpPr>
          <p:nvPr/>
        </p:nvSpPr>
        <p:spPr>
          <a:xfrm xmlns:a="http://schemas.openxmlformats.org/drawingml/2006/main">
            <a:off x="904875" y="1952625"/>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analysis-body-0">
            <a:extLst xmlns:a="http://schemas.openxmlformats.org/drawingml/2006/main">
              <a:ext uri="{FF2B5EF4-FFF2-40B4-BE49-F238E27FC236}">
                <a16:creationId xmlns:a16="http://schemas.microsoft.com/office/drawing/2014/main" id="{E1145757-13C9-434A-9AA9-83512B8A0F01}"/>
              </a:ext>
            </a:extLst>
          </p:cNvPr>
          <p:cNvSpPr>
            <a:spLocks xmlns:a="http://schemas.openxmlformats.org/drawingml/2006/main" noGrp="1"/>
          </p:cNvSpPr>
          <p:nvPr/>
        </p:nvSpPr>
        <p:spPr>
          <a:xfrm xmlns:a="http://schemas.openxmlformats.org/drawingml/2006/main">
            <a:off x="904875"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CAABC-FL: Ciphertext-Aligned Adaptive Block Compression for Federated Learning</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FL: Federated Learning</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DP: Differential Privacy</a:t>
            </a:r>
          </a:p>
        </p:txBody>
      </p:sp>
      <p:sp>
        <p:nvSpPr>
          <p:cNvPr id="223" name="analysis-heading-1">
            <a:extLst xmlns:a="http://schemas.openxmlformats.org/drawingml/2006/main">
              <a:ext uri="{FF2B5EF4-FFF2-40B4-BE49-F238E27FC236}">
                <a16:creationId xmlns:a16="http://schemas.microsoft.com/office/drawing/2014/main" id="{67D7186D-BE3C-4FC7-BC15-C60486E3FADA}"/>
              </a:ext>
            </a:extLst>
          </p:cNvPr>
          <p:cNvSpPr>
            <a:spLocks xmlns:a="http://schemas.openxmlformats.org/drawingml/2006/main" noGrp="1"/>
          </p:cNvSpPr>
          <p:nvPr/>
        </p:nvSpPr>
        <p:spPr>
          <a:xfrm xmlns:a="http://schemas.openxmlformats.org/drawingml/2006/main">
            <a:off x="6381750"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Cryptography and systems</a:t>
            </a:r>
          </a:p>
        </p:txBody>
      </p:sp>
      <p:sp>
        <p:nvSpPr>
          <p:cNvPr id="224" name="rule-670-205">
            <a:extLst xmlns:a="http://schemas.openxmlformats.org/drawingml/2006/main">
              <a:ext uri="{FF2B5EF4-FFF2-40B4-BE49-F238E27FC236}">
                <a16:creationId xmlns:a16="http://schemas.microsoft.com/office/drawing/2014/main" id="{D6C87596-8434-4BD7-9CCB-4FE6EA7D1472}"/>
              </a:ext>
            </a:extLst>
          </p:cNvPr>
          <p:cNvSpPr>
            <a:spLocks xmlns:a="http://schemas.openxmlformats.org/drawingml/2006/main" noGrp="1"/>
          </p:cNvSpPr>
          <p:nvPr/>
        </p:nvSpPr>
        <p:spPr>
          <a:xfrm xmlns:a="http://schemas.openxmlformats.org/drawingml/2006/main">
            <a:off x="6381750" y="1952625"/>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analysis-body-1">
            <a:extLst xmlns:a="http://schemas.openxmlformats.org/drawingml/2006/main">
              <a:ext uri="{FF2B5EF4-FFF2-40B4-BE49-F238E27FC236}">
                <a16:creationId xmlns:a16="http://schemas.microsoft.com/office/drawing/2014/main" id="{F7809C9B-0102-4004-9388-E586B6FE72E6}"/>
              </a:ext>
            </a:extLst>
          </p:cNvPr>
          <p:cNvSpPr>
            <a:spLocks xmlns:a="http://schemas.openxmlformats.org/drawingml/2006/main" noGrp="1"/>
          </p:cNvSpPr>
          <p:nvPr/>
        </p:nvSpPr>
        <p:spPr>
          <a:xfrm xmlns:a="http://schemas.openxmlformats.org/drawingml/2006/main">
            <a:off x="6381750"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CKKS: Approximate homomorphic encryption</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HE: Homomorphic Encryption</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TEE: Trusted Execution Environment</a:t>
            </a:r>
          </a:p>
        </p:txBody>
      </p:sp>
      <p:sp>
        <p:nvSpPr>
          <p:cNvPr id="226" name="analysis-heading-2">
            <a:extLst xmlns:a="http://schemas.openxmlformats.org/drawingml/2006/main">
              <a:ext uri="{FF2B5EF4-FFF2-40B4-BE49-F238E27FC236}">
                <a16:creationId xmlns:a16="http://schemas.microsoft.com/office/drawing/2014/main" id="{963F3648-552A-4F3B-B427-1B855DDDFDCD}"/>
              </a:ext>
            </a:extLst>
          </p:cNvPr>
          <p:cNvSpPr>
            <a:spLocks xmlns:a="http://schemas.openxmlformats.org/drawingml/2006/main" noGrp="1"/>
          </p:cNvSpPr>
          <p:nvPr/>
        </p:nvSpPr>
        <p:spPr>
          <a:xfrm xmlns:a="http://schemas.openxmlformats.org/drawingml/2006/main">
            <a:off x="904875"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Evaluation</a:t>
            </a:r>
          </a:p>
        </p:txBody>
      </p:sp>
      <p:sp>
        <p:nvSpPr>
          <p:cNvPr id="227" name="rule-95-430">
            <a:extLst xmlns:a="http://schemas.openxmlformats.org/drawingml/2006/main">
              <a:ext uri="{FF2B5EF4-FFF2-40B4-BE49-F238E27FC236}">
                <a16:creationId xmlns:a16="http://schemas.microsoft.com/office/drawing/2014/main" id="{C2B4816D-3834-4F9F-9806-0BAF559D77AA}"/>
              </a:ext>
            </a:extLst>
          </p:cNvPr>
          <p:cNvSpPr>
            <a:spLocks xmlns:a="http://schemas.openxmlformats.org/drawingml/2006/main" noGrp="1"/>
          </p:cNvSpPr>
          <p:nvPr/>
        </p:nvSpPr>
        <p:spPr>
          <a:xfrm xmlns:a="http://schemas.openxmlformats.org/drawingml/2006/main">
            <a:off x="904875" y="4095750"/>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analysis-body-2">
            <a:extLst xmlns:a="http://schemas.openxmlformats.org/drawingml/2006/main">
              <a:ext uri="{FF2B5EF4-FFF2-40B4-BE49-F238E27FC236}">
                <a16:creationId xmlns:a16="http://schemas.microsoft.com/office/drawing/2014/main" id="{C30C5366-B15D-42D8-84BE-05EB22CCA644}"/>
              </a:ext>
            </a:extLst>
          </p:cNvPr>
          <p:cNvSpPr>
            <a:spLocks xmlns:a="http://schemas.openxmlformats.org/drawingml/2006/main" noGrp="1"/>
          </p:cNvSpPr>
          <p:nvPr/>
        </p:nvSpPr>
        <p:spPr>
          <a:xfrm xmlns:a="http://schemas.openxmlformats.org/drawingml/2006/main">
            <a:off x="904875"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AUROC: Area Under the ROC Curve</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AUPRC: Area Under the Precision-Recall Curve</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MCC: Matthews Correlation Coefficient</a:t>
            </a:r>
          </a:p>
        </p:txBody>
      </p:sp>
      <p:sp>
        <p:nvSpPr>
          <p:cNvPr id="229" name="analysis-heading-3">
            <a:extLst xmlns:a="http://schemas.openxmlformats.org/drawingml/2006/main">
              <a:ext uri="{FF2B5EF4-FFF2-40B4-BE49-F238E27FC236}">
                <a16:creationId xmlns:a16="http://schemas.microsoft.com/office/drawing/2014/main" id="{8579A858-5086-44ED-9B76-162A3A49E573}"/>
              </a:ext>
            </a:extLst>
          </p:cNvPr>
          <p:cNvSpPr>
            <a:spLocks xmlns:a="http://schemas.openxmlformats.org/drawingml/2006/main" noGrp="1"/>
          </p:cNvSpPr>
          <p:nvPr/>
        </p:nvSpPr>
        <p:spPr>
          <a:xfrm xmlns:a="http://schemas.openxmlformats.org/drawingml/2006/main">
            <a:off x="6381750"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Attacks and deployment</a:t>
            </a:r>
          </a:p>
        </p:txBody>
      </p:sp>
      <p:sp>
        <p:nvSpPr>
          <p:cNvPr id="230" name="rule-670-430">
            <a:extLst xmlns:a="http://schemas.openxmlformats.org/drawingml/2006/main">
              <a:ext uri="{FF2B5EF4-FFF2-40B4-BE49-F238E27FC236}">
                <a16:creationId xmlns:a16="http://schemas.microsoft.com/office/drawing/2014/main" id="{36A2713B-9577-45B2-BDBB-D5A09125D637}"/>
              </a:ext>
            </a:extLst>
          </p:cNvPr>
          <p:cNvSpPr>
            <a:spLocks xmlns:a="http://schemas.openxmlformats.org/drawingml/2006/main" noGrp="1"/>
          </p:cNvSpPr>
          <p:nvPr/>
        </p:nvSpPr>
        <p:spPr>
          <a:xfrm xmlns:a="http://schemas.openxmlformats.org/drawingml/2006/main">
            <a:off x="6381750" y="4095750"/>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analysis-body-3">
            <a:extLst xmlns:a="http://schemas.openxmlformats.org/drawingml/2006/main">
              <a:ext uri="{FF2B5EF4-FFF2-40B4-BE49-F238E27FC236}">
                <a16:creationId xmlns:a16="http://schemas.microsoft.com/office/drawing/2014/main" id="{3C4AA0AE-85F2-42F7-AEAD-380C38D88CF9}"/>
              </a:ext>
            </a:extLst>
          </p:cNvPr>
          <p:cNvSpPr>
            <a:spLocks xmlns:a="http://schemas.openxmlformats.org/drawingml/2006/main" noGrp="1"/>
          </p:cNvSpPr>
          <p:nvPr/>
        </p:nvSpPr>
        <p:spPr>
          <a:xfrm xmlns:a="http://schemas.openxmlformats.org/drawingml/2006/main">
            <a:off x="6381750"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350" b="0" i="0">
                <a:solidFill>
                  <a:srgbClr val="1F2937"/>
                </a:solidFill>
                <a:latin typeface="Arial"/>
                <a:ea typeface="Arial"/>
                <a:cs typeface="Arial"/>
              </a:defRPr>
            </a:pPr>
            <a:r>
              <a:rPr sz="1350" b="0" i="0">
                <a:solidFill>
                  <a:srgbClr val="1F2937"/>
                </a:solidFill>
                <a:latin typeface="Arial"/>
                <a:ea typeface="Arial"/>
                <a:cs typeface="Arial"/>
              </a:rPr>
              <a:t>MIA: Membership Inference Attack</a:t>
            </a:r>
          </a:p>
          <a:p xmlns:a="http://schemas.openxmlformats.org/drawingml/2006/main">
            <a:pPr algn="l">
              <a:buNone/>
              <a:defRPr sz="1350" b="0" i="0">
                <a:solidFill>
                  <a:srgbClr val="1F2937"/>
                </a:solidFill>
                <a:latin typeface="Arial"/>
                <a:ea typeface="Arial"/>
                <a:cs typeface="Arial"/>
              </a:defRPr>
            </a:pPr>
            <a:r>
              <a:rPr sz="1350" b="0" i="0">
                <a:solidFill>
                  <a:srgbClr val="1F2937"/>
                </a:solidFill>
                <a:latin typeface="Arial"/>
                <a:ea typeface="Arial"/>
                <a:cs typeface="Arial"/>
              </a:rPr>
              <a:t>LiRA/RMIA: Membership inference tests</a:t>
            </a:r>
          </a:p>
          <a:p xmlns:a="http://schemas.openxmlformats.org/drawingml/2006/main">
            <a:pPr algn="l">
              <a:buNone/>
              <a:defRPr sz="1350" b="0" i="0">
                <a:solidFill>
                  <a:srgbClr val="1F2937"/>
                </a:solidFill>
                <a:latin typeface="Arial"/>
                <a:ea typeface="Arial"/>
                <a:cs typeface="Arial"/>
              </a:defRPr>
            </a:pPr>
            <a:r>
              <a:rPr sz="1350" b="0" i="0">
                <a:solidFill>
                  <a:srgbClr val="1F2937"/>
                </a:solidFill>
                <a:latin typeface="Arial"/>
                <a:ea typeface="Arial"/>
                <a:cs typeface="Arial"/>
              </a:rPr>
              <a:t>ASR: Attack Success Rate</a:t>
            </a:r>
          </a:p>
          <a:p xmlns:a="http://schemas.openxmlformats.org/drawingml/2006/main">
            <a:pPr algn="l">
              <a:buNone/>
              <a:defRPr sz="1350" b="0" i="0">
                <a:solidFill>
                  <a:srgbClr val="1F2937"/>
                </a:solidFill>
                <a:latin typeface="Arial"/>
                <a:ea typeface="Arial"/>
                <a:cs typeface="Arial"/>
              </a:defRPr>
            </a:pPr>
            <a:r>
              <a:rPr sz="1350" b="0" i="0">
                <a:solidFill>
                  <a:srgbClr val="1F2937"/>
                </a:solidFill>
                <a:latin typeface="Arial"/>
                <a:ea typeface="Arial"/>
                <a:cs typeface="Arial"/>
              </a:rPr>
              <a:t>TPR/FPR: True-/False-Positive Rate</a:t>
            </a:r>
          </a:p>
          <a:p xmlns:a="http://schemas.openxmlformats.org/drawingml/2006/main">
            <a:pPr algn="l">
              <a:buNone/>
              <a:defRPr sz="1350" b="0" i="0">
                <a:solidFill>
                  <a:srgbClr val="1F2937"/>
                </a:solidFill>
                <a:latin typeface="Arial"/>
                <a:ea typeface="Arial"/>
                <a:cs typeface="Arial"/>
              </a:defRPr>
            </a:pPr>
            <a:r>
              <a:rPr sz="1350" b="0" i="0">
                <a:solidFill>
                  <a:srgbClr val="1F2937"/>
                </a:solidFill>
                <a:latin typeface="Arial"/>
                <a:ea typeface="Arial"/>
                <a:cs typeface="Arial"/>
              </a:rPr>
              <a:t>WAN: Wide-Area Network</a:t>
            </a:r>
          </a:p>
        </p:txBody>
      </p:sp>
      <p:sp>
        <p:nvSpPr>
          <p:cNvPr id="234" name="visible-footer-date-17">
            <a:extLst xmlns:a="http://schemas.openxmlformats.org/drawingml/2006/main">
              <a:ext uri="{FF2B5EF4-FFF2-40B4-BE49-F238E27FC236}">
                <a16:creationId xmlns:a16="http://schemas.microsoft.com/office/drawing/2014/main" id="{4AC84D05-C535-4C09-A644-6BEFDB21436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39.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8F2F3A18-3D4A-89E9-DF3C-2CD6AD919AEA}"/>
              </a:ext>
            </a:extLst>
          </p:cNvPr>
          <p:cNvSpPr>
            <a:spLocks xmlns:a="http://schemas.openxmlformats.org/drawingml/2006/main" noGrp="1"/>
          </p:cNvSpPr>
          <p:nvPr>
            <p:ph type="title" idx="0"/>
          </p:nvPr>
        </p:nvSpPr>
        <p:spPr>
          <a:xfrm xmlns:a="http://schemas.openxmlformats.org/drawingml/2006/main">
            <a:off x="1892046" y="241785"/>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Q&amp;A Session</a:t>
            </a:r>
            <a:endParaRPr/>
          </a:p>
        </p:txBody>
      </p:sp>
      <p:sp>
        <p:nvSpPr>
          <p:cNvPr id="212" name="Google Shape;212;p28">
            <a:extLst xmlns:a="http://schemas.openxmlformats.org/drawingml/2006/main">
              <a:ext uri="{FF2B5EF4-FFF2-40B4-BE49-F238E27FC236}">
                <a16:creationId xmlns:a16="http://schemas.microsoft.com/office/drawing/2014/main" id="{9E209038-E0AD-56EF-CCF5-260B133795FA}"/>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39</a:t>
            </a:r>
            <a:endParaRPr sz="2800"/>
          </a:p>
        </p:txBody>
      </p:sp>
      <p:pic>
        <p:nvPicPr>
          <p:cNvPr id="227"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44b62a43733c45ec">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28"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5a064972469243be">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30135F10-9448-D0E1-E18F-F2F3234362E9}"/>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pic>
        <p:nvPicPr>
          <p:cNvPr id="230" name="Google Shape;614;p60"/>
          <p:cNvPicPr>
            <a:picLocks xmlns:a="http://schemas.openxmlformats.org/drawingml/2006/main" noChangeAspect="1"/>
          </p:cNvPicPr>
          <p:nvPr/>
        </p:nvPicPr>
        <p:blipFill rotWithShape="1">
          <a:blip xmlns:r="http://schemas.openxmlformats.org/officeDocument/2006/relationships" xmlns:a="http://schemas.openxmlformats.org/drawingml/2006/main" r:embed="Rd3cbf2015e79486f">
            <a:alphaModFix/>
          </a:blip>
          <a:srcRect xmlns:a="http://schemas.openxmlformats.org/drawingml/2006/main" l="0" t="0" r="0" b="0"/>
          <a:stretch xmlns:a="http://schemas.openxmlformats.org/drawingml/2006/main"/>
        </p:blipFill>
        <p:spPr>
          <a:xfrm xmlns:a="http://schemas.openxmlformats.org/drawingml/2006/main">
            <a:off x="4754485" y="1899759"/>
            <a:ext cx="2683029" cy="2543938"/>
          </a:xfrm>
          <a:prstGeom xmlns:a="http://schemas.openxmlformats.org/drawingml/2006/main" prst="rect">
            <a:avLst/>
          </a:prstGeom>
          <a:ln xmlns:a="http://schemas.openxmlformats.org/drawingml/2006/main">
            <a:noFill/>
          </a:ln>
        </p:spPr>
      </p:pic>
      <p:sp>
        <p:nvSpPr>
          <p:cNvPr id="3" name="Google Shape;615;p60">
            <a:extLst xmlns:a="http://schemas.openxmlformats.org/drawingml/2006/main">
              <a:ext uri="{FF2B5EF4-FFF2-40B4-BE49-F238E27FC236}">
                <a16:creationId xmlns:a16="http://schemas.microsoft.com/office/drawing/2014/main" id="{84610837-AC87-0B4A-F256-6FFB0ABA363C}"/>
              </a:ext>
            </a:extLst>
          </p:cNvPr>
          <p:cNvSpPr>
            <a:spLocks xmlns:a="http://schemas.openxmlformats.org/drawingml/2006/main" noGrp="1"/>
          </p:cNvSpPr>
          <p:nvPr/>
        </p:nvSpPr>
        <p:spPr>
          <a:xfrm xmlns:a="http://schemas.openxmlformats.org/drawingml/2006/main">
            <a:off x="1047746" y="4443697"/>
            <a:ext cx="10675917" cy="10156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2900"/>
              <a:buFont typeface="Arial"/>
              <a:buNone/>
            </a:pPr>
            <a:r>
              <a:rPr sz="5400" b="1" i="0" u="none" cap="none">
                <a:solidFill>
                  <a:srgbClr val="00B0F0"/>
                </a:solidFill>
                <a:latin typeface="Arial"/>
                <a:ea typeface="Arial"/>
                <a:cs typeface="Arial"/>
              </a:rPr>
              <a:t>Questions and Discussion</a:t>
            </a:r>
          </a:p>
        </p:txBody>
      </p:sp>
      <p:sp>
        <p:nvSpPr>
          <p:cNvPr id="221" name="visible-footer-date-30">
            <a:extLst xmlns:a="http://schemas.openxmlformats.org/drawingml/2006/main">
              <a:ext uri="{FF2B5EF4-FFF2-40B4-BE49-F238E27FC236}">
                <a16:creationId xmlns:a16="http://schemas.microsoft.com/office/drawing/2014/main" id="{121E6093-7387-46A2-A79C-636EB6C0933C}"/>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909310205"/>
      </p:ext>
    </p:extLst>
  </p:cSld>
</p:sld>
</file>

<file path=ppt/slides/slide40.xml><?xml version="1.0" encoding="utf-8"?>
<p:sld xmlns:p="http://schemas.openxmlformats.org/presentationml/2006/main">
  <p:cSld>
    <p:spTree>
      <p:nvGrpSpPr>
        <p:cNvPr id="1" name=""/>
        <p:cNvGrpSpPr/>
        <p:nvPr/>
      </p:nvGrpSpPr>
      <p:grpSpPr>
        <a:xfrm xmlns:a="http://schemas.openxmlformats.org/drawingml/2006/main"/>
      </p:grpSpPr>
      <p:pic>
        <p:nvPicPr>
          <p:cNvPr id="612" name="Google Shape;599;p59"/>
          <p:cNvPicPr>
            <a:picLocks xmlns:a="http://schemas.openxmlformats.org/drawingml/2006/main" noChangeAspect="1"/>
          </p:cNvPicPr>
          <p:nvPr/>
        </p:nvPicPr>
        <p:blipFill rotWithShape="1">
          <a:blip xmlns:r="http://schemas.openxmlformats.org/officeDocument/2006/relationships" xmlns:a="http://schemas.openxmlformats.org/drawingml/2006/main" r:embed="R8f25bfff4ec94abe">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613" name="Google Shape;157;p13"/>
          <p:cNvPicPr>
            <a:picLocks xmlns:a="http://schemas.openxmlformats.org/drawingml/2006/main" noChangeAspect="1"/>
          </p:cNvPicPr>
          <p:nvPr/>
        </p:nvPicPr>
        <p:blipFill rotWithShape="1">
          <a:blip xmlns:r="http://schemas.openxmlformats.org/officeDocument/2006/relationships" xmlns:a="http://schemas.openxmlformats.org/drawingml/2006/main" r:embed="R520bf6361c564366">
            <a:alphaModFix/>
          </a:blip>
          <a:srcRect xmlns:a="http://schemas.openxmlformats.org/drawingml/2006/main" l="0" t="0" r="0" b="0"/>
          <a:stretch xmlns:a="http://schemas.openxmlformats.org/drawingml/2006/main"/>
        </p:blipFill>
        <p:spPr>
          <a:xfrm xmlns:a="http://schemas.openxmlformats.org/drawingml/2006/main">
            <a:off x="3763389" y="610325"/>
            <a:ext cx="4597090" cy="3186975"/>
          </a:xfrm>
          <a:prstGeom xmlns:a="http://schemas.openxmlformats.org/drawingml/2006/main" prst="rect">
            <a:avLst/>
          </a:prstGeom>
          <a:ln xmlns:a="http://schemas.openxmlformats.org/drawingml/2006/main">
            <a:noFill/>
          </a:ln>
        </p:spPr>
      </p:pic>
      <p:sp>
        <p:nvSpPr>
          <p:cNvPr id="9" name="Google Shape;158;p13">
            <a:extLst xmlns:a="http://schemas.openxmlformats.org/drawingml/2006/main">
              <a:ext uri="{FF2B5EF4-FFF2-40B4-BE49-F238E27FC236}">
                <a16:creationId xmlns:a16="http://schemas.microsoft.com/office/drawing/2014/main" id="{2D8B1C7A-65C6-C8DC-AC78-9534DDE706B0}"/>
              </a:ext>
            </a:extLst>
          </p:cNvPr>
          <p:cNvSpPr>
            <a:spLocks xmlns:a="http://schemas.openxmlformats.org/drawingml/2006/main" noGrp="1"/>
          </p:cNvSpPr>
          <p:nvPr>
            <p:ph type="title" idx="0"/>
          </p:nvPr>
        </p:nvSpPr>
        <p:spPr>
          <a:xfrm xmlns:a="http://schemas.openxmlformats.org/drawingml/2006/main">
            <a:off x="2520012" y="3849079"/>
            <a:ext cx="7340600" cy="114202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vert="horz" wrap="square" lIns="137150" tIns="68550" rIns="137150" bIns="68550" anchor="ctr">
            <a:normAutofit/>
          </a:bodyPr>
          <a:lstStyle xmlns:a="http://schemas.openxmlformats.org/drawingml/2006/main"/>
          <a:p xmlns:a="http://schemas.openxmlformats.org/drawingml/2006/main">
            <a:pPr algn="ctr">
              <a:lnSpc>
                <a:spcPct val="90000"/>
              </a:lnSpc>
              <a:spcBef>
                <a:spcPts val="0"/>
              </a:spcBef>
              <a:buClr>
                <a:schemeClr val="dk1"/>
              </a:buClr>
              <a:buSzPts val="4200"/>
              <a:buNone/>
              <a:defRPr sz="3600" b="1">
                <a:solidFill>
                  <a:srgbClr val="17365D"/>
                </a:solidFill>
                <a:latin typeface="Arial"/>
                <a:ea typeface="Arial"/>
                <a:cs typeface="Arial"/>
              </a:defRPr>
            </a:pPr>
            <a:r>
              <a:rPr sz="3600" b="1">
                <a:solidFill>
                  <a:srgbClr val="17365D"/>
                </a:solidFill>
                <a:latin typeface="Arial"/>
                <a:ea typeface="Arial"/>
                <a:cs typeface="Arial"/>
              </a:rPr>
              <a:t>Thank You</a:t>
            </a:r>
            <a:endParaRPr sz="6000" b="1">
              <a:latin typeface="Bookman Old Style"/>
              <a:ea typeface="Bookman Old Style"/>
              <a:cs typeface="Bookman Old Style"/>
            </a:endParaRPr>
          </a:p>
        </p:txBody>
      </p:sp>
      <p:sp>
        <p:nvSpPr>
          <p:cNvPr id="10" name="Google Shape;160;p13">
            <a:extLst xmlns:a="http://schemas.openxmlformats.org/drawingml/2006/main">
              <a:ext uri="{FF2B5EF4-FFF2-40B4-BE49-F238E27FC236}">
                <a16:creationId xmlns:a16="http://schemas.microsoft.com/office/drawing/2014/main" id="{92C7E31B-48F1-10E0-622E-5B5B1647541E}"/>
              </a:ext>
            </a:extLst>
          </p:cNvPr>
          <p:cNvSpPr>
            <a:spLocks xmlns:a="http://schemas.openxmlformats.org/drawingml/2006/main" noGrp="1"/>
          </p:cNvSpPr>
          <p:nvPr/>
        </p:nvSpPr>
        <p:spPr>
          <a:xfrm xmlns:a="http://schemas.openxmlformats.org/drawingml/2006/main">
            <a:off x="2865500" y="5042879"/>
            <a:ext cx="7340600" cy="74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37150" tIns="68550" rIns="137150" bIns="68550" anchor="ctr">
            <a:normAutofit/>
          </a:bodyPr>
          <a:lstStyle xmlns:a="http://schemas.openxmlformats.org/drawingml/2006/main"/>
          <a:p xmlns:a="http://schemas.openxmlformats.org/drawingml/2006/main">
            <a:pPr algn="ctr">
              <a:lnSpc>
                <a:spcPct val="90000"/>
              </a:lnSpc>
              <a:buClr>
                <a:schemeClr val="dk1"/>
              </a:buClr>
              <a:buSzPts val="1400"/>
              <a:buNone/>
              <a:defRPr sz="1800" b="1">
                <a:solidFill>
                  <a:srgbClr val="1F2937"/>
                </a:solidFill>
                <a:latin typeface="Arial"/>
                <a:ea typeface="Arial"/>
                <a:cs typeface="Arial"/>
              </a:defRPr>
            </a:pPr>
            <a:r>
              <a:rPr sz="1800" b="1">
                <a:solidFill>
                  <a:srgbClr val="1F2937"/>
                </a:solidFill>
                <a:latin typeface="Arial"/>
                <a:ea typeface="Arial"/>
                <a:cs typeface="Arial"/>
              </a:rPr>
              <a:t>CAABC-FL: Secure collaboration with explicit trust boundaries</a:t>
            </a:r>
            <a:endParaRPr sz="2800" b="1">
              <a:solidFill>
                <a:schemeClr val="dk1"/>
              </a:solidFill>
              <a:latin typeface="Bookman Old Style"/>
              <a:ea typeface="Bookman Old Style"/>
              <a:cs typeface="Bookman Old Style"/>
            </a:endParaRPr>
          </a:p>
        </p:txBody>
      </p:sp>
      <p:pic>
        <p:nvPicPr>
          <p:cNvPr id="616"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547a55e998e946ce">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12" name="Google Shape;216;p28">
            <a:extLst xmlns:a="http://schemas.openxmlformats.org/drawingml/2006/main">
              <a:ext uri="{FF2B5EF4-FFF2-40B4-BE49-F238E27FC236}">
                <a16:creationId xmlns:a16="http://schemas.microsoft.com/office/drawing/2014/main" id="{BAE9B701-0B71-3DF7-9134-3C31531BBDE1}"/>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13" name="Google Shape;212;p28">
            <a:extLst xmlns:a="http://schemas.openxmlformats.org/drawingml/2006/main">
              <a:ext uri="{FF2B5EF4-FFF2-40B4-BE49-F238E27FC236}">
                <a16:creationId xmlns:a16="http://schemas.microsoft.com/office/drawing/2014/main" id="{C48B2691-E39A-6C8C-B995-3D935B990D5A}"/>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40</a:t>
            </a:r>
            <a:endParaRPr sz="2800"/>
          </a:p>
        </p:txBody>
      </p:sp>
      <p:sp>
        <p:nvSpPr>
          <p:cNvPr id="608" name="visible-footer-date-31">
            <a:extLst xmlns:a="http://schemas.openxmlformats.org/drawingml/2006/main">
              <a:ext uri="{FF2B5EF4-FFF2-40B4-BE49-F238E27FC236}">
                <a16:creationId xmlns:a16="http://schemas.microsoft.com/office/drawing/2014/main" id="{84DACE26-F993-4C93-AA06-D9765FE9F8ED}"/>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718927550"/>
      </p:ext>
    </p:extLst>
  </p:cSld>
</p:sld>
</file>

<file path=ppt/theme/theme1.xml><?xml version="1.0" encoding="utf-8"?>
<a:theme xmlns:a="http://schemas.openxmlformats.org/drawingml/2006/main" name="Basis">
  <a:themeElements>
    <a:clrScheme name="Basis">
      <a:dk1>
        <a:srgbClr val="000000"/>
      </a:dk1>
      <a:lt1>
        <a:srgbClr val="FFFFFF"/>
      </a:lt1>
      <a:dk2>
        <a:srgbClr val="565349"/>
      </a:dk2>
      <a:lt2>
        <a:srgbClr val="DDDDDD"/>
      </a:lt2>
      <a:accent1>
        <a:srgbClr val="A6B727"/>
      </a:accent1>
      <a:accent2>
        <a:srgbClr val="DF5327"/>
      </a:accent2>
      <a:accent3>
        <a:srgbClr val="FE9E00"/>
      </a:accent3>
      <a:accent4>
        <a:srgbClr val="418AB3"/>
      </a:accent4>
      <a:accent5>
        <a:srgbClr val="D7D447"/>
      </a:accent5>
      <a:accent6>
        <a:srgbClr val="818183"/>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as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2026-09-24T05:10:49.5180000Z</dcterms:created>
  <dcterms:modified xsi:type="dcterms:W3CDTF">2026-09-24T05:10:49.5180000Z</dcterms:modified>
</coreProperties>
</file>