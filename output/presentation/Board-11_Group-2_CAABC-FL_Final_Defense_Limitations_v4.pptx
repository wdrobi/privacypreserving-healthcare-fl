
<file path=[Content_Types].xml><?xml version="1.0" encoding="utf-8"?>
<Types xmlns="http://schemas.openxmlformats.org/package/2006/content-types">
  <Default Extension="xml" ContentType="application/vnd.openxmlformats-package.core-properties+xml"/>
  <Default Extension="png" ContentType="image/png"/>
  <Default Extension="gif" ContentType="image/gi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slides/charts/chart2.xml" ContentType="application/vnd.openxmlformats-officedocument.drawingml.chart+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0b74194292a45b1" /><Relationship Type="http://schemas.openxmlformats.org/officeDocument/2006/relationships/extended-properties" Target="/docProps/app.xml" Id="R38010227e7994b56" /><Relationship Type="http://schemas.openxmlformats.org/officeDocument/2006/relationships/officeDocument" Target="/ppt/presentation.xml" Id="R4435e7586cf2452f" /></Relationships>
</file>

<file path=ppt/presentation.xml><?xml version="1.0" encoding="utf-8"?>
<p:presentation xmlns:p="http://schemas.openxmlformats.org/presentationml/2006/main">
  <p:sldMasterIdLst>
    <p:sldMasterId xmlns:r="http://schemas.openxmlformats.org/officeDocument/2006/relationships" id="2147483648" r:id="R7dc9450c97374977"/>
  </p:sldMasterIdLst>
  <p:notesMasterIdLst>
    <p:notesMasterId xmlns:r="http://schemas.openxmlformats.org/officeDocument/2006/relationships" r:id="R14023d62b2cd4049"/>
  </p:notesMasterIdLst>
  <p:sldIdLst>
    <p:sldId xmlns:r="http://schemas.openxmlformats.org/officeDocument/2006/relationships" id="256" r:id="R4d4a20e9484340a5"/>
    <p:sldId xmlns:r="http://schemas.openxmlformats.org/officeDocument/2006/relationships" id="257" r:id="Redd318a836024735"/>
    <p:sldId xmlns:r="http://schemas.openxmlformats.org/officeDocument/2006/relationships" id="258" r:id="Rd773de57640d4c73"/>
    <p:sldId xmlns:r="http://schemas.openxmlformats.org/officeDocument/2006/relationships" id="259" r:id="Rb51e000e85f04e50"/>
    <p:sldId xmlns:r="http://schemas.openxmlformats.org/officeDocument/2006/relationships" id="260" r:id="R6e24ec42c51a4d2c"/>
    <p:sldId xmlns:r="http://schemas.openxmlformats.org/officeDocument/2006/relationships" id="261" r:id="R7ed161088d264f81"/>
    <p:sldId xmlns:r="http://schemas.openxmlformats.org/officeDocument/2006/relationships" id="262" r:id="R38bba6bf95a14bb6"/>
    <p:sldId xmlns:r="http://schemas.openxmlformats.org/officeDocument/2006/relationships" id="263" r:id="R38bb376219694def"/>
    <p:sldId xmlns:r="http://schemas.openxmlformats.org/officeDocument/2006/relationships" id="264" r:id="R671bdde2a7444ec7"/>
    <p:sldId xmlns:r="http://schemas.openxmlformats.org/officeDocument/2006/relationships" id="265" r:id="Reeb0cb70d56e49c9"/>
    <p:sldId xmlns:r="http://schemas.openxmlformats.org/officeDocument/2006/relationships" id="266" r:id="R26bea0ad15a24504"/>
    <p:sldId xmlns:r="http://schemas.openxmlformats.org/officeDocument/2006/relationships" id="267" r:id="R2f82ad2a94504d32"/>
    <p:sldId xmlns:r="http://schemas.openxmlformats.org/officeDocument/2006/relationships" id="268" r:id="R5b17f9648453495c"/>
    <p:sldId xmlns:r="http://schemas.openxmlformats.org/officeDocument/2006/relationships" id="269" r:id="R84b147bb66b54bd1"/>
    <p:sldId xmlns:r="http://schemas.openxmlformats.org/officeDocument/2006/relationships" id="270" r:id="R1cd15c0077664c7b"/>
    <p:sldId xmlns:r="http://schemas.openxmlformats.org/officeDocument/2006/relationships" id="271" r:id="Refc6af59e71d4255"/>
    <p:sldId xmlns:r="http://schemas.openxmlformats.org/officeDocument/2006/relationships" id="272" r:id="R58f98ba5f8bf45e5"/>
    <p:sldId xmlns:r="http://schemas.openxmlformats.org/officeDocument/2006/relationships" id="273" r:id="R5fd09ef7731440b8"/>
    <p:sldId xmlns:r="http://schemas.openxmlformats.org/officeDocument/2006/relationships" id="274" r:id="R2659706809334413"/>
    <p:sldId xmlns:r="http://schemas.openxmlformats.org/officeDocument/2006/relationships" id="275" r:id="R00396aa07afb4c36"/>
    <p:sldId xmlns:r="http://schemas.openxmlformats.org/officeDocument/2006/relationships" id="276" r:id="R3e2fe856380347d9"/>
    <p:sldId xmlns:r="http://schemas.openxmlformats.org/officeDocument/2006/relationships" id="277" r:id="R34483860541f42ac"/>
    <p:sldId xmlns:r="http://schemas.openxmlformats.org/officeDocument/2006/relationships" id="278" r:id="Rf293b58e88b84af1"/>
    <p:sldId xmlns:r="http://schemas.openxmlformats.org/officeDocument/2006/relationships" id="279" r:id="R5e1d61e2b2f84027"/>
    <p:sldId xmlns:r="http://schemas.openxmlformats.org/officeDocument/2006/relationships" id="280" r:id="R7525e359625c47ca"/>
    <p:sldId xmlns:r="http://schemas.openxmlformats.org/officeDocument/2006/relationships" id="281" r:id="R0ce5b15787364768"/>
    <p:sldId xmlns:r="http://schemas.openxmlformats.org/officeDocument/2006/relationships" id="282" r:id="Rf003d319e132410c"/>
    <p:sldId xmlns:r="http://schemas.openxmlformats.org/officeDocument/2006/relationships" id="283" r:id="Ref35120ca3a94c9a"/>
    <p:sldId xmlns:r="http://schemas.openxmlformats.org/officeDocument/2006/relationships" id="284" r:id="R60a15fa7ef944506"/>
    <p:sldId xmlns:r="http://schemas.openxmlformats.org/officeDocument/2006/relationships" id="285" r:id="R4e4c915061314f51"/>
    <p:sldId xmlns:r="http://schemas.openxmlformats.org/officeDocument/2006/relationships" id="286" r:id="R65ed6dc6f3994877"/>
    <p:sldId xmlns:r="http://schemas.openxmlformats.org/officeDocument/2006/relationships" id="287" r:id="Rdfbe6ef3de274670"/>
    <p:sldId xmlns:r="http://schemas.openxmlformats.org/officeDocument/2006/relationships" id="288" r:id="Rc169391835b34a85"/>
    <p:sldId xmlns:r="http://schemas.openxmlformats.org/officeDocument/2006/relationships" id="289" r:id="R0795e4fd71b04c0f"/>
    <p:sldId xmlns:r="http://schemas.openxmlformats.org/officeDocument/2006/relationships" id="290" r:id="Refb7ba1394db4a36"/>
    <p:sldId xmlns:r="http://schemas.openxmlformats.org/officeDocument/2006/relationships" id="291" r:id="R659d76a7eed246ae"/>
    <p:sldId xmlns:r="http://schemas.openxmlformats.org/officeDocument/2006/relationships" id="292" r:id="R929153f3bfde4377"/>
    <p:sldId xmlns:r="http://schemas.openxmlformats.org/officeDocument/2006/relationships" id="293" r:id="R26541864f9584b9a"/>
    <p:sldId xmlns:r="http://schemas.openxmlformats.org/officeDocument/2006/relationships" id="294" r:id="Rde288f7414c84a52"/>
    <p:sldId xmlns:r="http://schemas.openxmlformats.org/officeDocument/2006/relationships" id="295" r:id="R05a76586284a47b5"/>
    <p:sldId xmlns:r="http://schemas.openxmlformats.org/officeDocument/2006/relationships" id="296" r:id="R1e1690d84a1a432b"/>
    <p:sldId xmlns:r="http://schemas.openxmlformats.org/officeDocument/2006/relationships" id="297" r:id="R8818767fcf95449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4c160b64a8ad47f6" /><Relationship Type="http://schemas.openxmlformats.org/officeDocument/2006/relationships/slideMaster" Target="/ppt/slideMasters/slideMaster1.xml" Id="R7dc9450c97374977" /><Relationship Type="http://schemas.openxmlformats.org/officeDocument/2006/relationships/notesMaster" Target="/ppt/notesMasters/notesMaster1.xml" Id="R14023d62b2cd4049" /><Relationship Type="http://schemas.openxmlformats.org/officeDocument/2006/relationships/presProps" Target="/ppt/presProps.xml" Id="R65e121f3359b4e12" /><Relationship Type="http://schemas.openxmlformats.org/officeDocument/2006/relationships/viewProps" Target="/ppt/viewProps.xml" Id="R67ca2ab341de4630" /><Relationship Type="http://schemas.openxmlformats.org/officeDocument/2006/relationships/tableStyles" Target="/ppt/tableStyles.xml" Id="R8e8641871a104591" /><Relationship Type="http://schemas.openxmlformats.org/officeDocument/2006/relationships/slide" Target="/ppt/slides/slide1.xml" Id="R4d4a20e9484340a5" /><Relationship Type="http://schemas.openxmlformats.org/officeDocument/2006/relationships/slide" Target="/ppt/slides/slide2.xml" Id="Redd318a836024735" /><Relationship Type="http://schemas.openxmlformats.org/officeDocument/2006/relationships/slide" Target="/ppt/slides/slide3.xml" Id="Rd773de57640d4c73" /><Relationship Type="http://schemas.openxmlformats.org/officeDocument/2006/relationships/slide" Target="/ppt/slides/slide4.xml" Id="Rb51e000e85f04e50" /><Relationship Type="http://schemas.openxmlformats.org/officeDocument/2006/relationships/slide" Target="/ppt/slides/slide5.xml" Id="R6e24ec42c51a4d2c" /><Relationship Type="http://schemas.openxmlformats.org/officeDocument/2006/relationships/slide" Target="/ppt/slides/slide6.xml" Id="R7ed161088d264f81" /><Relationship Type="http://schemas.openxmlformats.org/officeDocument/2006/relationships/slide" Target="/ppt/slides/slide7.xml" Id="R38bba6bf95a14bb6" /><Relationship Type="http://schemas.openxmlformats.org/officeDocument/2006/relationships/slide" Target="/ppt/slides/slide8.xml" Id="R38bb376219694def" /><Relationship Type="http://schemas.openxmlformats.org/officeDocument/2006/relationships/slide" Target="/ppt/slides/slide9.xml" Id="R671bdde2a7444ec7" /><Relationship Type="http://schemas.openxmlformats.org/officeDocument/2006/relationships/slide" Target="/ppt/slides/slide10.xml" Id="Reeb0cb70d56e49c9" /><Relationship Type="http://schemas.openxmlformats.org/officeDocument/2006/relationships/slide" Target="/ppt/slides/slide11.xml" Id="R26bea0ad15a24504" /><Relationship Type="http://schemas.openxmlformats.org/officeDocument/2006/relationships/slide" Target="/ppt/slides/slide12.xml" Id="R2f82ad2a94504d32" /><Relationship Type="http://schemas.openxmlformats.org/officeDocument/2006/relationships/slide" Target="/ppt/slides/slide13.xml" Id="R5b17f9648453495c" /><Relationship Type="http://schemas.openxmlformats.org/officeDocument/2006/relationships/slide" Target="/ppt/slides/slide14.xml" Id="R84b147bb66b54bd1" /><Relationship Type="http://schemas.openxmlformats.org/officeDocument/2006/relationships/slide" Target="/ppt/slides/slide15.xml" Id="R1cd15c0077664c7b" /><Relationship Type="http://schemas.openxmlformats.org/officeDocument/2006/relationships/slide" Target="/ppt/slides/slide16.xml" Id="Refc6af59e71d4255" /><Relationship Type="http://schemas.openxmlformats.org/officeDocument/2006/relationships/slide" Target="/ppt/slides/slide17.xml" Id="R58f98ba5f8bf45e5" /><Relationship Type="http://schemas.openxmlformats.org/officeDocument/2006/relationships/slide" Target="/ppt/slides/slide18.xml" Id="R5fd09ef7731440b8" /><Relationship Type="http://schemas.openxmlformats.org/officeDocument/2006/relationships/slide" Target="/ppt/slides/slide19.xml" Id="R2659706809334413" /><Relationship Type="http://schemas.openxmlformats.org/officeDocument/2006/relationships/slide" Target="/ppt/slides/slide20.xml" Id="R00396aa07afb4c36" /><Relationship Type="http://schemas.openxmlformats.org/officeDocument/2006/relationships/slide" Target="/ppt/slides/slide21.xml" Id="R3e2fe856380347d9" /><Relationship Type="http://schemas.openxmlformats.org/officeDocument/2006/relationships/slide" Target="/ppt/slides/slide22.xml" Id="R34483860541f42ac" /><Relationship Type="http://schemas.openxmlformats.org/officeDocument/2006/relationships/slide" Target="/ppt/slides/slide23.xml" Id="Rf293b58e88b84af1" /><Relationship Type="http://schemas.openxmlformats.org/officeDocument/2006/relationships/slide" Target="/ppt/slides/slide24.xml" Id="R5e1d61e2b2f84027" /><Relationship Type="http://schemas.openxmlformats.org/officeDocument/2006/relationships/slide" Target="/ppt/slides/slide25.xml" Id="R7525e359625c47ca" /><Relationship Type="http://schemas.openxmlformats.org/officeDocument/2006/relationships/slide" Target="/ppt/slides/slide26.xml" Id="R0ce5b15787364768" /><Relationship Type="http://schemas.openxmlformats.org/officeDocument/2006/relationships/slide" Target="/ppt/slides/slide27.xml" Id="Rf003d319e132410c" /><Relationship Type="http://schemas.openxmlformats.org/officeDocument/2006/relationships/slide" Target="/ppt/slides/slide28.xml" Id="Ref35120ca3a94c9a" /><Relationship Type="http://schemas.openxmlformats.org/officeDocument/2006/relationships/slide" Target="/ppt/slides/slide29.xml" Id="R60a15fa7ef944506" /><Relationship Type="http://schemas.openxmlformats.org/officeDocument/2006/relationships/slide" Target="/ppt/slides/slide30.xml" Id="R4e4c915061314f51" /><Relationship Type="http://schemas.openxmlformats.org/officeDocument/2006/relationships/slide" Target="/ppt/slides/slide31.xml" Id="R65ed6dc6f3994877" /><Relationship Type="http://schemas.openxmlformats.org/officeDocument/2006/relationships/slide" Target="/ppt/slides/slide32.xml" Id="Rdfbe6ef3de274670" /><Relationship Type="http://schemas.openxmlformats.org/officeDocument/2006/relationships/slide" Target="/ppt/slides/slide33.xml" Id="Rc169391835b34a85" /><Relationship Type="http://schemas.openxmlformats.org/officeDocument/2006/relationships/slide" Target="/ppt/slides/slide34.xml" Id="R0795e4fd71b04c0f" /><Relationship Type="http://schemas.openxmlformats.org/officeDocument/2006/relationships/slide" Target="/ppt/slides/slide35.xml" Id="Refb7ba1394db4a36" /><Relationship Type="http://schemas.openxmlformats.org/officeDocument/2006/relationships/slide" Target="/ppt/slides/slide36.xml" Id="R659d76a7eed246ae" /><Relationship Type="http://schemas.openxmlformats.org/officeDocument/2006/relationships/slide" Target="/ppt/slides/slide37.xml" Id="R929153f3bfde4377" /><Relationship Type="http://schemas.openxmlformats.org/officeDocument/2006/relationships/slide" Target="/ppt/slides/slide38.xml" Id="R26541864f9584b9a" /><Relationship Type="http://schemas.openxmlformats.org/officeDocument/2006/relationships/slide" Target="/ppt/slides/slide39.xml" Id="Rde288f7414c84a52" /><Relationship Type="http://schemas.openxmlformats.org/officeDocument/2006/relationships/slide" Target="/ppt/slides/slide40.xml" Id="R05a76586284a47b5" /><Relationship Type="http://schemas.openxmlformats.org/officeDocument/2006/relationships/slide" Target="/ppt/slides/slide41.xml" Id="R1e1690d84a1a432b" /><Relationship Type="http://schemas.openxmlformats.org/officeDocument/2006/relationships/slide" Target="/ppt/slides/slide42.xml" Id="R8818767fcf95449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a3e989270df431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899c1fe0d164392" /><Relationship Type="http://schemas.openxmlformats.org/officeDocument/2006/relationships/notesMaster" Target="/ppt/notesMasters/notesMaster1.xml" Id="Rf87def7a3cff45e5" /></Relationships>
</file>

<file path=ppt/notesSlides/_rels/notesSlide2.xml.rels>&#65279;<?xml version="1.0" encoding="utf-8"?><Relationships xmlns="http://schemas.openxmlformats.org/package/2006/relationships"><Relationship Type="http://schemas.openxmlformats.org/officeDocument/2006/relationships/slide" Target="/ppt/slides/slide2.xml" Id="Rcc348a57cadf4d24" /><Relationship Type="http://schemas.openxmlformats.org/officeDocument/2006/relationships/notesMaster" Target="/ppt/notesMasters/notesMaster1.xml" Id="Rb784d73e11c64d8e" /></Relationships>
</file>

<file path=ppt/notesSlides/_rels/notesSlide3.xml.rels>&#65279;<?xml version="1.0" encoding="utf-8"?><Relationships xmlns="http://schemas.openxmlformats.org/package/2006/relationships"><Relationship Type="http://schemas.openxmlformats.org/officeDocument/2006/relationships/slide" Target="/ppt/slides/slide3.xml" Id="R6c125c65ccda4808" /><Relationship Type="http://schemas.openxmlformats.org/officeDocument/2006/relationships/notesMaster" Target="/ppt/notesMasters/notesMaster1.xml" Id="R9774644cd1a24c82" /></Relationships>
</file>

<file path=ppt/notesSlides/_rels/notesSlide4.xml.rels>&#65279;<?xml version="1.0" encoding="utf-8"?><Relationships xmlns="http://schemas.openxmlformats.org/package/2006/relationships"><Relationship Type="http://schemas.openxmlformats.org/officeDocument/2006/relationships/slide" Target="/ppt/slides/slide4.xml" Id="R955058485bf54242" /><Relationship Type="http://schemas.openxmlformats.org/officeDocument/2006/relationships/notesMaster" Target="/ppt/notesMasters/notesMaster1.xml" Id="R89d2ab56f8b342fe" /></Relationships>
</file>

<file path=ppt/notesSlides/_rels/notesSlide5.xml.rels>&#65279;<?xml version="1.0" encoding="utf-8"?><Relationships xmlns="http://schemas.openxmlformats.org/package/2006/relationships"><Relationship Type="http://schemas.openxmlformats.org/officeDocument/2006/relationships/slide" Target="/ppt/slides/slide5.xml" Id="R9e57f815088c4fe0" /><Relationship Type="http://schemas.openxmlformats.org/officeDocument/2006/relationships/notesMaster" Target="/ppt/notesMasters/notesMaster1.xml" Id="R49b3df71a6c94945" /></Relationships>
</file>

<file path=ppt/notesSlides/_rels/notesSlide6.xml.rels>&#65279;<?xml version="1.0" encoding="utf-8"?><Relationships xmlns="http://schemas.openxmlformats.org/package/2006/relationships"><Relationship Type="http://schemas.openxmlformats.org/officeDocument/2006/relationships/slide" Target="/ppt/slides/slide6.xml" Id="R30be54ae812f46a7" /><Relationship Type="http://schemas.openxmlformats.org/officeDocument/2006/relationships/notesMaster" Target="/ppt/notesMasters/notesMaster1.xml" Id="Re636e3ddf3cc44e8" /></Relationships>
</file>

<file path=ppt/notesSlides/_rels/notesSlide7.xml.rels>&#65279;<?xml version="1.0" encoding="utf-8"?><Relationships xmlns="http://schemas.openxmlformats.org/package/2006/relationships"><Relationship Type="http://schemas.openxmlformats.org/officeDocument/2006/relationships/slide" Target="/ppt/slides/slide7.xml" Id="R6edb32b4792c4ed0" /><Relationship Type="http://schemas.openxmlformats.org/officeDocument/2006/relationships/notesMaster" Target="/ppt/notesMasters/notesMaster1.xml" Id="R622fd7edab5b4c85" /></Relationships>
</file>

<file path=ppt/notesSlides/_rels/notesSlide8.xml.rels>&#65279;<?xml version="1.0" encoding="utf-8"?><Relationships xmlns="http://schemas.openxmlformats.org/package/2006/relationships"><Relationship Type="http://schemas.openxmlformats.org/officeDocument/2006/relationships/slide" Target="/ppt/slides/slide8.xml" Id="R771a9d156f5e49de" /><Relationship Type="http://schemas.openxmlformats.org/officeDocument/2006/relationships/notesMaster" Target="/ppt/notesMasters/notesMaster1.xml" Id="R1b9cfe64cf1f4e59" /></Relationships>
</file>

<file path=ppt/notesSlides/_rels/notesSlide9.xml.rels>&#65279;<?xml version="1.0" encoding="utf-8"?><Relationships xmlns="http://schemas.openxmlformats.org/package/2006/relationships"><Relationship Type="http://schemas.openxmlformats.org/officeDocument/2006/relationships/slide" Target="/ppt/slides/slide9.xml" Id="R24e808277db743b2" /><Relationship Type="http://schemas.openxmlformats.org/officeDocument/2006/relationships/notesMaster" Target="/ppt/notesMasters/notesMaster1.xml" Id="R145aa906bf0e42e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10b8987aa0444cf" /><Relationship Type="http://schemas.openxmlformats.org/officeDocument/2006/relationships/notesMaster" Target="/ppt/notesMasters/notesMaster1.xml" Id="Ra0b3828870884e7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7234cb4e5a34fd4" /><Relationship Type="http://schemas.openxmlformats.org/officeDocument/2006/relationships/notesMaster" Target="/ppt/notesMasters/notesMaster1.xml" Id="Rf407c0001a9c4cc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376a8bb66f94e5b" /><Relationship Type="http://schemas.openxmlformats.org/officeDocument/2006/relationships/notesMaster" Target="/ppt/notesMasters/notesMaster1.xml" Id="Re8bece17ccca4d9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8ee84be252b479b" /><Relationship Type="http://schemas.openxmlformats.org/officeDocument/2006/relationships/notesMaster" Target="/ppt/notesMasters/notesMaster1.xml" Id="R6f348d0e8fda492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262a381eb2949cc" /><Relationship Type="http://schemas.openxmlformats.org/officeDocument/2006/relationships/notesMaster" Target="/ppt/notesMasters/notesMaster1.xml" Id="R154c369698ca4e8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49fe3ea11bf4d38" /><Relationship Type="http://schemas.openxmlformats.org/officeDocument/2006/relationships/notesMaster" Target="/ppt/notesMasters/notesMaster1.xml" Id="R55256c0450fa463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9977f32516244b4" /><Relationship Type="http://schemas.openxmlformats.org/officeDocument/2006/relationships/notesMaster" Target="/ppt/notesMasters/notesMaster1.xml" Id="R57c777182dbc4f2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33b0ee711654815" /><Relationship Type="http://schemas.openxmlformats.org/officeDocument/2006/relationships/notesMaster" Target="/ppt/notesMasters/notesMaster1.xml" Id="R93d2d3791d624a1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ac3935d60e14c18" /><Relationship Type="http://schemas.openxmlformats.org/officeDocument/2006/relationships/notesMaster" Target="/ppt/notesMasters/notesMaster1.xml" Id="R01c72a16c3b04e4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de0df92d8c24dd5" /><Relationship Type="http://schemas.openxmlformats.org/officeDocument/2006/relationships/notesMaster" Target="/ppt/notesMasters/notesMaster1.xml" Id="R34461d38a12a414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b79f9d30c1f4b65" /><Relationship Type="http://schemas.openxmlformats.org/officeDocument/2006/relationships/notesMaster" Target="/ppt/notesMasters/notesMaster1.xml" Id="Ra1ed8537a2554d9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cc76d1918994592" /><Relationship Type="http://schemas.openxmlformats.org/officeDocument/2006/relationships/notesMaster" Target="/ppt/notesMasters/notesMaster1.xml" Id="Re42edcb21295452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f9c97f5816e4471" /><Relationship Type="http://schemas.openxmlformats.org/officeDocument/2006/relationships/notesMaster" Target="/ppt/notesMasters/notesMaster1.xml" Id="R9a70acbdf6dc486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023a32c6e514dff" /><Relationship Type="http://schemas.openxmlformats.org/officeDocument/2006/relationships/notesMaster" Target="/ppt/notesMasters/notesMaster1.xml" Id="R33cfe23889fe45f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aa45757b5cac4a75" /><Relationship Type="http://schemas.openxmlformats.org/officeDocument/2006/relationships/notesMaster" Target="/ppt/notesMasters/notesMaster1.xml" Id="Rde866ee8a680403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a53765b94bcc4ce5" /><Relationship Type="http://schemas.openxmlformats.org/officeDocument/2006/relationships/notesMaster" Target="/ppt/notesMasters/notesMaster1.xml" Id="R31a8584dad64478d"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a50bcb433fc048d4" /><Relationship Type="http://schemas.openxmlformats.org/officeDocument/2006/relationships/notesMaster" Target="/ppt/notesMasters/notesMaster1.xml" Id="R00d2a6d9bdb7490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bb73d367a6d4a39" /><Relationship Type="http://schemas.openxmlformats.org/officeDocument/2006/relationships/notesMaster" Target="/ppt/notesMasters/notesMaster1.xml" Id="R64b41d023249488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c0b808d8b9e84c50" /><Relationship Type="http://schemas.openxmlformats.org/officeDocument/2006/relationships/notesMaster" Target="/ppt/notesMasters/notesMaster1.xml" Id="R7546a5e6d0e8487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afa355b945b45a9" /><Relationship Type="http://schemas.openxmlformats.org/officeDocument/2006/relationships/notesMaster" Target="/ppt/notesMasters/notesMaster1.xml" Id="R63fe6b403f8b4e6f"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4b6f0df683dc40ea" /><Relationship Type="http://schemas.openxmlformats.org/officeDocument/2006/relationships/notesMaster" Target="/ppt/notesMasters/notesMaster1.xml" Id="Rdd2a96464b264b1d"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603c5bb1d3254783" /><Relationship Type="http://schemas.openxmlformats.org/officeDocument/2006/relationships/notesMaster" Target="/ppt/notesMasters/notesMaster1.xml" Id="R18ef89b8af8f4ee4"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2156346d434f4fe6" /><Relationship Type="http://schemas.openxmlformats.org/officeDocument/2006/relationships/notesMaster" Target="/ppt/notesMasters/notesMaster1.xml" Id="R4e9196269ad94fe0"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cd00b1645598487d" /><Relationship Type="http://schemas.openxmlformats.org/officeDocument/2006/relationships/notesMaster" Target="/ppt/notesMasters/notesMaster1.xml" Id="Rb06fb55adab047ae"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ee49b59b50b54cfd" /><Relationship Type="http://schemas.openxmlformats.org/officeDocument/2006/relationships/notesMaster" Target="/ppt/notesMasters/notesMaster1.xml" Id="R529dfcee93814d46"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68414bb7b5d943f1" /><Relationship Type="http://schemas.openxmlformats.org/officeDocument/2006/relationships/notesMaster" Target="/ppt/notesMasters/notesMaster1.xml" Id="R4ba9331db0bc4535"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6b76fa16b3ab4910" /><Relationship Type="http://schemas.openxmlformats.org/officeDocument/2006/relationships/notesMaster" Target="/ppt/notesMasters/notesMaster1.xml" Id="Rc614bdf6dcf445f5"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4f2b91c9de184db5" /><Relationship Type="http://schemas.openxmlformats.org/officeDocument/2006/relationships/notesMaster" Target="/ppt/notesMasters/notesMaster1.xml" Id="Re0abea966ae54bfc"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d069db9e382e4198" /><Relationship Type="http://schemas.openxmlformats.org/officeDocument/2006/relationships/notesMaster" Target="/ppt/notesMasters/notesMaster1.xml" Id="Rd0e8f1b680674430"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11c74726018c425d" /><Relationship Type="http://schemas.openxmlformats.org/officeDocument/2006/relationships/notesMaster" Target="/ppt/notesMasters/notesMaster1.xml" Id="R8ca04361a02843c0"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b7ce53d875cd4f2e" /><Relationship Type="http://schemas.openxmlformats.org/officeDocument/2006/relationships/notesMaster" Target="/ppt/notesMasters/notesMaster1.xml" Id="Rafc1936fa85f4525"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4b1466c73bde467d" /><Relationship Type="http://schemas.openxmlformats.org/officeDocument/2006/relationships/notesMaster" Target="/ppt/notesMasters/notesMaster1.xml" Id="Rab2e54bbb2634786"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d62bd15f6f37428f" /><Relationship Type="http://schemas.openxmlformats.org/officeDocument/2006/relationships/notesMaster" Target="/ppt/notesMasters/notesMaster1.xml" Id="R3661ec8f831b4bc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Good morning. We are presenting CAABC-FL, a hybrid privacy-preserving framework for secure collaboration among healthcare institutions. Our work focuses on privacy, communication cost, poisoning resilience, and accountable model release.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presentation begins with the research context, problem statement, research questions, and objectives. It then reviews related studies and the identified gap before presenting the conceptual framework and proposed methodology. The final part reports utility, privacy, robustness, communication, and system results, followed by the conclusion, references, and the question-and-answer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section introduces the setting, the unresolved engineering problem, our motivation, and the three research objectives.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reduces the need to exchange raw patient records, but it does not solve every privacy and integrity problem. The illustration summarizes the setting: hospitals retain their data, protected model updates support collaborative learning, and the system produces a shared model. This thesis studies update protection, encrypted transport, poisoning response, and release governance. Sources: McMahan et al. [1], Sheller et al. [2], Dayan et al. [3], Shokri et al. [4], Zhu et al. [5], and Geiping et al. [6]. The illustration is conceptual and does not represent an experimental result.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keeps source records local, but exchanged updates can still leak information. CKKS improves confidentiality while increasing communication cost and hiding the update geometry used by many poisoning defenses. Centralized decryption, unverified aggregation, and limited audit evidence create additional trust concerns. The thesis therefore treats privacy, efficiency, adversarial resilience, and release governance as one engineering problem.</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selected this topic because healthcare institutions need collaboration without unrestricted data sharing. The work also addresses a practical systems question: a compressor is valuable only when encrypted network bytes decrease and the model remains useful.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Published healthcare studies motivate multi-institutional learning. Sheller et al. reported that federated training across 10 institutions reached 99% of the model quality achieved with centralized data. The EXAM study trained on 16,148 cases from 20 clinical sites across four continents and reported an average local-test AUC increase from 0.795 for local models to 0.920 for the federated model. These results establish the value of collaboration, while this thesis addresses the remaining privacy, encrypted communication, poisoning, and governance challenges. Sources: Sheller et al., Scientific Reports 10, 12598 (2020), doi:10.1038/s41598-020-69250-1; Dayan et al., Nature Medicine 27, 1735–1743 (2021), doi:10.1038/s41591-021-01506-3.</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supervisor requested three concise objectives. The first covers the integrated architecture, the second covers the communication contribution, and the third covers comparative evaluation under normal and adversarial operation.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RQ1 addresses the integrated privacy and trust architecture. RQ2 tests whether ciphertext-aligned compression produces real serialized communication savings without material utility loss. RQ3 evaluates the resulting system under benign and adversarial conditions using the registered protocol.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literature review groups prior work by healthcare collaboration, privacy and cryptography, communication reduction, and poisoning resilience.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DDFed is one of the closest integrated studies because it addresses both privacy and poisoning. It uses fully homomorphic encryption and a two-phase anomaly detector based on secure similarity computation and feedback-driven collaborative selection. Its experiments cover model-poisoning attacks in cross-device and cross-silo federated learning. Relative to this thesis, DDFed does not provide record-level differential privacy, ciphertext-aligned adaptive compression, threshold-governed release, or an external permissioned audit trail. Source: https://proceedings.neurips.cc/paper_files/paper/2024/hash/824f98c4e9bb301b0b96fa2ae071360b-Abstract-Conference.html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DP-BREM and DP-BREM+ jointly address differential privacy and Byzantine robustness in cross-silo federated learning. Client momentum averages each client's updates over time, reducing honest-client variance and making accumulated malicious perturbations easier to detect. DP-BREM assumes a trusted server; DP-BREM+ removes that assumption with secure aggregation and client-generated distributed noise. Relative to this thesis, it does not address ciphertext-aware adaptive compression, healthcare deployment evidence, independently verified aggregation, or external audit logging. Source: https://www.usenix.org/conference/usenixsecurity25/presentation/gu-xiaolan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PREAMBLE addresses private aggregation of high-dimensional vectors in a two-server architecture. It uses block-sparse distributed point functions, random sampling, and privacy amplification so that communication and computation depend more strongly on active blocks than on the full vector dimension. Its formal analysis is a strong example of co-designing representation and privacy transport. Relative to this thesis, PREAMBLE assumes two non-colluding servers, targets private vector aggregation rather than iterative CKKS healthcare training, and does not study poisoning or release governance. Source: https://proceedings.neurips.cc/paper_files/paper/2025/hash/1d3c1c0bade7b2b1974d3120ab6232b0-Abstract-Conference.html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table compares five anchor studies that contribute directly to the design space of this thesis. FLDP and FAMHE establish protected aggregation and biomedical multiparty computation. DDFed and DP-BREM+ integrate privacy with poisoning or Byzantine robustness. PREAMBLE aligns block sparsity with private transport. The table reports scope rather than a numerical ranking because the studies use different datasets, cryptographic assumptions, and threat models. Sources: Stevens et al., USENIX Security 2022; Froelicher et al., Nature Communications 2021; Xu et al., NeurIPS 2024; Gu et al., USENIX Security 2025; Asi et al., NeurIPS 2025.</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gap defines our contribution boundary. We do not claim to solve every privacy or Byzantine problem. We implement and test a specific integrated design that converts compression into serialized ciphertext savings and adds release-time controls compatible with encrypted sums.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framework moves from research inputs to bounded evidence. The inputs are the natural hospital partitions, the threat and trust model, and our research objectives. The protection pipeline combines patient-level differential privacy, CAABC-FL, CKKS-protected and authenticated updates, poisoning-aware validation, and governed release. We then measure utility, privacy exposure, encrypted communication, poisoning response, and system correctness. The final stage defines the claim boundary: our evidence applies to the evaluated data, attacks, seeds, and deployment environment, rather than universal or production security.</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methodology section explains the end-to-end system, the experimental design, the dataset, and the registered analysis methods.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slide shows how each institution constructs a protected model update. Governance establishes identity, consent, and policy. Patient records remain inside each hospital during preprocessing and training. The consortium creates a collective CKKS public key while independent custodians protect threshold shares. Each hospital clips per-record gradients, adds calibrated differential-privacy noise, applies CAABC-FL block compression, encrypts the result, and signs the submission.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slide shows how the framework transports, aggregates, validates, and releases a model. Mutual TLS and signed round metadata authenticate every submission. The permissioned ledger stores hashes and status, while model ciphertexts remain off-chain. The coordinator performs reputation-weighted homomorphic aggregation and custodians decrypt only the aggregate. Validation either accepts the candidate model or triggers rollback and quarantine. Hospitals verify the signed model hash before starting the next round. Clinical inference follows the same authorization and controlled-decryption policy.</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slide explains our main algorithmic contribution, CAABC-FL. Each hospital first adds the previous compression residual to its patient-level differentially private update. The method divides that effective update into contiguous 256-coordinate blocks and scores block energy only after privatization. Every fifth round, the hospitals derive one common support from aggregate block scores, subject to a two-ciphertext packing budget. Each hospital projects onto the same support and retains omitted information as the next residual. The selected blocks occupy aligned CKKS slots, so the coordinator can add ciphertexts without learning client-specific sparse indices. This shared support is the central novelty because it converts logical sparsity into measured encrypted-wire reduction. Formal privacy still comes from the differential privacy accountant, not from compression.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formulation has four parts. First, the global objective is the sample-weighted average of hospital losses, where n_k is the number of records at hospital k and N is the total across participating hospitals. Second, each gradient is clipped to norm C, Gaussian noise z_k^t provides record-level differential privacy, and the residual e_k^t preserves information lost by CAABC-FL compression Q_s_t. Third, the accepted client set A_t contributes encrypted updates to the CKKS sum c_t. Threshold custodians decrypt only this aggregate, and eta_t is the global learning rate. Finally, the design must reduce predictive loss and serialized communication while satisfying privacy, integrity, threshold-release, and audit requirements.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a paired confirmatory design. Each method receives the same cohort, split, model, privacy configuration, training budget, and random seed. This controls many nuisance differences and supports paired confidence intervals and tests.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40,336 patient records from the public PhysioNet 2019 sepsis challenge. We preserve the two source hospital partitions because cross-institutional heterogeneity is part of the research question. Source: Reyna et al. [19].</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analysis covers more than predictive accuracy. We measure ranking and threshold metrics, probability error, privacy attacks, poisoning effects, encrypted network bytes, cryptographic error, and service latency. Five paired seeds form the confirmatory unit, and Holm correction controls multiplicity within registered endpoint families.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slide summarizes the frozen experimental protocol. We used the full 40,336-patient PhysioNet 2019 sepsis cohort and preserved its two natural hospital partitions. Every paired method used the same patient split, initialization seed, model, and 20-round training budget. The private path used patient-level clipping, Gaussian noise, RDP accounting, and real TenSEAL CKKS. The security evaluation included powered membership inference, 300-step gradient reconstruction, and poisoning experiments with up to 40 percent malicious clients. The model seed is the statistical unit. Core protected methods used ten paired seeds, while secondary and security comparisons used five paired seeds. The test partition remained locked until the protocol and decision rules were frozen.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research used an open dataset, open-source tools, and existing hardware. We therefore report no major direct cost. Production-grade cloud infrastructure, hardware confidential computing, and clinical deployment remain future work rather than hidden project expenses.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results section presents the main utility and communication outcome, the same-protocol comparison, and the privacy, poisoning, and systems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Gradient-reconstruction evidence: under the registered 300-step attack, RMSE increased from 0.684 for plaintext-exact exposure to 2.763 for DP plus CAABC-FL. Higher RMSE means the attacker recovered the input features less accurately. This result is attack-specific empirical evidence; the differential privacy accountant provides the formal privacy guarantee.</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five methods use the same data, model, privacy, and CKKS conditions. Their AUROC values overlap. CAABC-FL alone reduces the serialized encrypted payload materially. Logical sparsity in the other compressed baselines disappears after dense CKKS encoding. Source: results/q1-sota-reproduction-v1/analysis/sota_method_summary.csv.</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Membership-inference AUC remains near chance for the two private methods, but empirical attacks do not prove privacy. Mean aggregation fails under model replacement and sign flip. FLTrust and Multi-Krum perform well in plaintext but conflict with the implemented sum-only CKKS path. The service timing is single-host and sequential.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final section summarizes what the study established, identifies the contributions and limitations, and outlines the next engineering steps.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three objectives were achieved within the stated scope. The implementation and evaluation support a bounded systems claim. We deliberately avoid claiming universal predictive superiority, formal Byzantine robustness, or a fully decentralized production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Our thesis makes five contributions. First, the theoretical model treats privacy, confidentiality, communication efficiency, and integrity as interacting properties, which exposes conflicts between controls. Second, CAABC-FL aligns adaptive common-block selection with CKKS packing and residual feedback. Third, we implemented a governed multi-service system with independent verification and external audit witnesses. Fourth, the frozen paired protocol evaluates utility, privacy, poisoning, and system cost under the same conditions. Finally, CAABC-FL reduced encrypted upload by 56 percent while meeting the registered AUROC non-inferiority criterion. We also report the weaker AUPRC and operating-point results, so the claim remains within the evidence.</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Our limitations define the boundary of the evidence. First, we used one retrospective sepsis cohort, two source hospitals, and one MLP, without prospective or external clinical validation. Second, the main TenSEAL path still uses central key custody, while threshold decryption was tested only as an isolated 3-of-3 experiment without dropout tolerance. Third, system timing came from sequential single-host runs rather than a real wide-area deployment or physical confidential-computing cluster. Finally, privacy and poisoning conclusions remain limited to the registered attacks and five seeds. These constraints support bounded protocol-level claims. Clinical and production-security validation remain future work.</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next phase should strengthen decentralization and external validity. The highest priority is service-integrated threshold custody, followed by privacy-compatible robust aggregation and real multi-host confidential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CAABC-FL brings privacy protection, encrypted aggregation, communication reduction, poisoning-aware controls, and accountable governance into one multi-institutional learning workflow. The experiments support comparable predictive utility, lower serialized encrypted upload, limited exposure under the evaluated privacy attacks, and stronger resilience under the tested poisoning scenarios. The conclusion remains bounded to the registered datasets, attacks, seeds, and deployment environment. Production use requires broader clinical validation, a real multi-host deployment, and dropout-tolerant threshold custody.</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the foundations of federated learning, healthcare collaboration, differential privacy, membership inference, and gradient reconstruction.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secure aggregation, CKKS, privacy-aware communication, poisoning defence, recent integrated methods, and the PhysioNet sepsis dataset.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backup slide summarizes the principal project phases. The periods consolidate the detailed working timeline used during the proposal, implementation, evaluation, writing, and defense stages.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Backup glossary for acronyms used throughout the defense presentation.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Thank you for listening. We welcome questions about the architecture, CAABC-FL, the evaluation protocol, the claim boundaries, and the next deployment steps.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final slide remains on screen after the question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72bb7aa9bbc4e5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65e82fa9408403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956277d58aa489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525013f86564ee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bcd8b4c8aa34f5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cc0e1fd74b64230"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bed9b3cfaea04c99"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cd4eff2e49844734"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2ed1718e4f2d4e54"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bd60e98586d24acf"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4ae25298916a452c" /></Relationships>
</file>

<file path=ppt/slideLayouts/slideLayout1.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17" name="Google Shape;17;p2">
            <a:extLst xmlns:a="http://schemas.openxmlformats.org/drawingml/2006/main">
              <a:ext uri="{FF2B5EF4-FFF2-40B4-BE49-F238E27FC236}">
                <a16:creationId xmlns:a16="http://schemas.microsoft.com/office/drawing/2014/main" id="{FBD9D4DC-615E-4579-BBC9-8CBFCB08133F}"/>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18" name="Google Shape;18;p2">
            <a:extLst xmlns:a="http://schemas.openxmlformats.org/drawingml/2006/main">
              <a:ext uri="{FF2B5EF4-FFF2-40B4-BE49-F238E27FC236}">
                <a16:creationId xmlns:a16="http://schemas.microsoft.com/office/drawing/2014/main" id="{FD13C867-1391-4001-B1B6-38E3BA9EF7E0}"/>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19" name="Google Shape;19;p2">
            <a:extLst xmlns:a="http://schemas.openxmlformats.org/drawingml/2006/main">
              <a:ext uri="{FF2B5EF4-FFF2-40B4-BE49-F238E27FC236}">
                <a16:creationId xmlns:a16="http://schemas.microsoft.com/office/drawing/2014/main" id="{CD5AA07B-2DA5-41C7-B0E4-519BF84C41AF}"/>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0" name="Google Shape;20;p2">
            <a:extLst xmlns:a="http://schemas.openxmlformats.org/drawingml/2006/main">
              <a:ext uri="{FF2B5EF4-FFF2-40B4-BE49-F238E27FC236}">
                <a16:creationId xmlns:a16="http://schemas.microsoft.com/office/drawing/2014/main" id="{267BBE3B-F2FF-4C52-B4D0-FEC01A0E74B5}"/>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1" name="Google Shape;21;p2">
            <a:extLst xmlns:a="http://schemas.openxmlformats.org/drawingml/2006/main">
              <a:ext uri="{FF2B5EF4-FFF2-40B4-BE49-F238E27FC236}">
                <a16:creationId xmlns:a16="http://schemas.microsoft.com/office/drawing/2014/main" id="{D96D0613-8628-46C3-B74D-2A8C33DC4A81}"/>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3" name="Google Shape;23;p3">
            <a:extLst xmlns:a="http://schemas.openxmlformats.org/drawingml/2006/main">
              <a:ext uri="{FF2B5EF4-FFF2-40B4-BE49-F238E27FC236}">
                <a16:creationId xmlns:a16="http://schemas.microsoft.com/office/drawing/2014/main" id="{11980058-D5AA-4C82-BB63-69445D34ED5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4" name="Google Shape;24;p3">
            <a:extLst xmlns:a="http://schemas.openxmlformats.org/drawingml/2006/main">
              <a:ext uri="{FF2B5EF4-FFF2-40B4-BE49-F238E27FC236}">
                <a16:creationId xmlns:a16="http://schemas.microsoft.com/office/drawing/2014/main" id="{92807988-BCBE-44FD-A818-68CE119A8AC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5" name="Google Shape;25;p3">
            <a:extLst xmlns:a="http://schemas.openxmlformats.org/drawingml/2006/main">
              <a:ext uri="{FF2B5EF4-FFF2-40B4-BE49-F238E27FC236}">
                <a16:creationId xmlns:a16="http://schemas.microsoft.com/office/drawing/2014/main" id="{5F20EE75-38EF-4CF0-9364-B07D76F2654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6" name="Google Shape;26;p3">
            <a:extLst xmlns:a="http://schemas.openxmlformats.org/drawingml/2006/main">
              <a:ext uri="{FF2B5EF4-FFF2-40B4-BE49-F238E27FC236}">
                <a16:creationId xmlns:a16="http://schemas.microsoft.com/office/drawing/2014/main" id="{F33A1CB9-A997-4B02-B958-48500A659ADB}"/>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28" name="Google Shape;28;p4">
            <a:extLst xmlns:a="http://schemas.openxmlformats.org/drawingml/2006/main">
              <a:ext uri="{FF2B5EF4-FFF2-40B4-BE49-F238E27FC236}">
                <a16:creationId xmlns:a16="http://schemas.microsoft.com/office/drawing/2014/main" id="{3AC89456-F5AD-45EE-B497-E08EC1A3346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9" name="Google Shape;29;p4">
            <a:extLst xmlns:a="http://schemas.openxmlformats.org/drawingml/2006/main">
              <a:ext uri="{FF2B5EF4-FFF2-40B4-BE49-F238E27FC236}">
                <a16:creationId xmlns:a16="http://schemas.microsoft.com/office/drawing/2014/main" id="{C1A08420-6584-4F02-BD54-C1BAB821757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0" name="Google Shape;30;p4">
            <a:extLst xmlns:a="http://schemas.openxmlformats.org/drawingml/2006/main">
              <a:ext uri="{FF2B5EF4-FFF2-40B4-BE49-F238E27FC236}">
                <a16:creationId xmlns:a16="http://schemas.microsoft.com/office/drawing/2014/main" id="{1BF89608-A441-4B76-BD18-4491870EF196}"/>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32" name="Google Shape;32;p5">
            <a:extLst xmlns:a="http://schemas.openxmlformats.org/drawingml/2006/main">
              <a:ext uri="{FF2B5EF4-FFF2-40B4-BE49-F238E27FC236}">
                <a16:creationId xmlns:a16="http://schemas.microsoft.com/office/drawing/2014/main" id="{1BD92A20-51B2-4DA3-A5EB-176B2FCE31C4}"/>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33" name="Google Shape;33;p5">
            <a:extLst xmlns:a="http://schemas.openxmlformats.org/drawingml/2006/main">
              <a:ext uri="{FF2B5EF4-FFF2-40B4-BE49-F238E27FC236}">
                <a16:creationId xmlns:a16="http://schemas.microsoft.com/office/drawing/2014/main" id="{6D908E5A-BA33-4585-B9BE-345DBA5109EC}"/>
              </a:ext>
            </a:extLst>
          </p:cNvPr>
          <p:cNvSpPr>
            <a:spLocks xmlns:a="http://schemas.openxmlformats.org/drawingml/2006/main" noGrp="1"/>
          </p:cNvSpPr>
          <p:nvPr>
            <p:ph type="ctrTitle" idx="0"/>
          </p:nvPr>
        </p:nvSpPr>
        <p:spPr>
          <a:xfrm xmlns:a="http://schemas.openxmlformats.org/drawingml/2006/main">
            <a:off x="1109980" y="882376"/>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1" cap="none">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4" name="Google Shape;34;p5">
            <a:extLst xmlns:a="http://schemas.openxmlformats.org/drawingml/2006/main">
              <a:ext uri="{FF2B5EF4-FFF2-40B4-BE49-F238E27FC236}">
                <a16:creationId xmlns:a16="http://schemas.microsoft.com/office/drawing/2014/main" id="{0121C429-AD11-45DE-A6E4-9CB28B8910DC}"/>
              </a:ext>
            </a:extLst>
          </p:cNvPr>
          <p:cNvSpPr>
            <a:spLocks xmlns:a="http://schemas.openxmlformats.org/drawingml/2006/main" noGrp="1"/>
          </p:cNvSpPr>
          <p:nvPr>
            <p:ph type="subTitle" idx="1"/>
          </p:nvPr>
        </p:nvSpPr>
        <p:spPr>
          <a:xfrm xmlns:a="http://schemas.openxmlformats.org/drawingml/2006/main">
            <a:off x="1709530" y="3869634"/>
            <a:ext cx="8767860" cy="138816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ctr">
              <a:lnSpc>
                <a:spcPct val="90000"/>
              </a:lnSpc>
              <a:spcBef>
                <a:spcPts val="1400"/>
              </a:spcBef>
              <a:spcAft>
                <a:spcPts val="0"/>
              </a:spcAft>
              <a:buSzPts val="1760"/>
              <a:buNone/>
              <a:defRPr sz="2200">
                <a:solidFill>
                  <a:schemeClr val="dk1"/>
                </a:solidFill>
              </a:defRPr>
            </a:lvl1pPr>
            <a:lvl2pPr algn="ctr">
              <a:lnSpc>
                <a:spcPct val="90000"/>
              </a:lnSpc>
              <a:spcBef>
                <a:spcPts val="200"/>
              </a:spcBef>
              <a:spcAft>
                <a:spcPts val="0"/>
              </a:spcAft>
              <a:buSzPts val="1760"/>
              <a:buNone/>
              <a:defRPr sz="2200"/>
            </a:lvl2pPr>
            <a:lvl3pPr algn="ctr">
              <a:lnSpc>
                <a:spcPct val="90000"/>
              </a:lnSpc>
              <a:spcBef>
                <a:spcPts val="400"/>
              </a:spcBef>
              <a:spcAft>
                <a:spcPts val="0"/>
              </a:spcAft>
              <a:buSzPts val="1760"/>
              <a:buNone/>
              <a:defRPr sz="2200"/>
            </a:lvl3pPr>
            <a:lvl4pPr algn="ctr">
              <a:lnSpc>
                <a:spcPct val="90000"/>
              </a:lnSpc>
              <a:spcBef>
                <a:spcPts val="400"/>
              </a:spcBef>
              <a:spcAft>
                <a:spcPts val="0"/>
              </a:spcAft>
              <a:buSzPts val="1600"/>
              <a:buNone/>
              <a:defRPr sz="2000"/>
            </a:lvl4pPr>
            <a:lvl5pPr algn="ctr">
              <a:lnSpc>
                <a:spcPct val="90000"/>
              </a:lnSpc>
              <a:spcBef>
                <a:spcPts val="400"/>
              </a:spcBef>
              <a:spcAft>
                <a:spcPts val="0"/>
              </a:spcAft>
              <a:buSzPts val="1600"/>
              <a:buNone/>
              <a:defRPr sz="2000"/>
            </a:lvl5pPr>
            <a:lvl6pPr algn="ctr">
              <a:lnSpc>
                <a:spcPct val="90000"/>
              </a:lnSpc>
              <a:spcBef>
                <a:spcPts val="400"/>
              </a:spcBef>
              <a:spcAft>
                <a:spcPts val="0"/>
              </a:spcAft>
              <a:buSzPts val="1600"/>
              <a:buNone/>
              <a:defRPr sz="2000"/>
            </a:lvl6pPr>
            <a:lvl7pPr algn="ctr">
              <a:lnSpc>
                <a:spcPct val="90000"/>
              </a:lnSpc>
              <a:spcBef>
                <a:spcPts val="400"/>
              </a:spcBef>
              <a:spcAft>
                <a:spcPts val="0"/>
              </a:spcAft>
              <a:buSzPts val="1600"/>
              <a:buNone/>
              <a:defRPr sz="2000"/>
            </a:lvl7pPr>
            <a:lvl8pPr algn="ctr">
              <a:lnSpc>
                <a:spcPct val="90000"/>
              </a:lnSpc>
              <a:spcBef>
                <a:spcPts val="400"/>
              </a:spcBef>
              <a:spcAft>
                <a:spcPts val="0"/>
              </a:spcAft>
              <a:buSzPts val="1600"/>
              <a:buNone/>
              <a:defRPr sz="2000"/>
            </a:lvl8pPr>
            <a:lvl9pPr algn="ctr">
              <a:lnSpc>
                <a:spcPct val="90000"/>
              </a:lnSpc>
              <a:spcBef>
                <a:spcPts val="400"/>
              </a:spcBef>
              <a:spcAft>
                <a:spcPts val="400"/>
              </a:spcAft>
              <a:buSzPts val="1600"/>
              <a:buNone/>
              <a:defRPr sz="2000"/>
            </a:lvl9pPr>
          </a:lstStyle>
          <a:p xmlns:a="http://schemas.openxmlformats.org/drawingml/2006/main">
            <a:endParaRPr/>
          </a:p>
        </p:txBody>
      </p:sp>
      <p:sp>
        <p:nvSpPr>
          <p:cNvPr id="35" name="Google Shape;35;p5">
            <a:extLst xmlns:a="http://schemas.openxmlformats.org/drawingml/2006/main">
              <a:ext uri="{FF2B5EF4-FFF2-40B4-BE49-F238E27FC236}">
                <a16:creationId xmlns:a16="http://schemas.microsoft.com/office/drawing/2014/main" id="{7C88B229-BE9C-48AB-BCDD-6B522818270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6" name="Google Shape;36;p5">
            <a:extLst xmlns:a="http://schemas.openxmlformats.org/drawingml/2006/main">
              <a:ext uri="{FF2B5EF4-FFF2-40B4-BE49-F238E27FC236}">
                <a16:creationId xmlns:a16="http://schemas.microsoft.com/office/drawing/2014/main" id="{B80F305A-AF4C-4C9E-B79F-75703659BCB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7" name="Google Shape;37;p5">
            <a:extLst xmlns:a="http://schemas.openxmlformats.org/drawingml/2006/main">
              <a:ext uri="{FF2B5EF4-FFF2-40B4-BE49-F238E27FC236}">
                <a16:creationId xmlns:a16="http://schemas.microsoft.com/office/drawing/2014/main" id="{54D6FE42-6084-452E-9DB2-A2AF11A4A17F}"/>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199" name="Google Shape;38;p5"/>
          <p:cNvCxnSpPr/>
          <p:nvPr/>
        </p:nvCxnSpPr>
        <p:spPr>
          <a:xfrm xmlns:a="http://schemas.openxmlformats.org/drawingml/2006/main">
            <a:off x="1978660" y="3733800"/>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5.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40" name="Google Shape;40;p6">
            <a:extLst xmlns:a="http://schemas.openxmlformats.org/drawingml/2006/main">
              <a:ext uri="{FF2B5EF4-FFF2-40B4-BE49-F238E27FC236}">
                <a16:creationId xmlns:a16="http://schemas.microsoft.com/office/drawing/2014/main" id="{0486CAB3-85CC-4608-925E-E0CAC0AEFB2C}"/>
              </a:ext>
            </a:extLst>
          </p:cNvPr>
          <p:cNvSpPr>
            <a:spLocks xmlns:a="http://schemas.openxmlformats.org/drawingml/2006/main" noGrp="1"/>
          </p:cNvSpPr>
          <p:nvPr>
            <p:ph type="title" idx="0"/>
          </p:nvPr>
        </p:nvSpPr>
        <p:spPr>
          <a:xfrm xmlns:a="http://schemas.openxmlformats.org/drawingml/2006/main">
            <a:off x="1106424" y="1173575"/>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0" cap="none"/>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1" name="Google Shape;41;p6">
            <a:extLst xmlns:a="http://schemas.openxmlformats.org/drawingml/2006/main">
              <a:ext uri="{FF2B5EF4-FFF2-40B4-BE49-F238E27FC236}">
                <a16:creationId xmlns:a16="http://schemas.microsoft.com/office/drawing/2014/main" id="{F642E5A3-678F-4051-8AC6-7090B1AB4DC2}"/>
              </a:ext>
            </a:extLst>
          </p:cNvPr>
          <p:cNvSpPr>
            <a:spLocks xmlns:a="http://schemas.openxmlformats.org/drawingml/2006/main" noGrp="1"/>
          </p:cNvSpPr>
          <p:nvPr>
            <p:ph type="body" idx="1"/>
          </p:nvPr>
        </p:nvSpPr>
        <p:spPr>
          <a:xfrm xmlns:a="http://schemas.openxmlformats.org/drawingml/2006/main">
            <a:off x="1709928" y="4154520"/>
            <a:ext cx="8769096" cy="136380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ctr">
              <a:lnSpc>
                <a:spcPct val="90000"/>
              </a:lnSpc>
              <a:spcBef>
                <a:spcPts val="1400"/>
              </a:spcBef>
              <a:spcAft>
                <a:spcPts val="0"/>
              </a:spcAft>
              <a:buSzPts val="1760"/>
              <a:buNone/>
              <a:defRPr sz="2200">
                <a:solidFill>
                  <a:schemeClr val="dk1"/>
                </a:solidFill>
              </a:defRPr>
            </a:lvl1pPr>
            <a:lvl2pPr marL="914400" indent="-228600" algn="l">
              <a:lnSpc>
                <a:spcPct val="90000"/>
              </a:lnSpc>
              <a:spcBef>
                <a:spcPts val="200"/>
              </a:spcBef>
              <a:spcAft>
                <a:spcPts val="0"/>
              </a:spcAft>
              <a:buSzPts val="1440"/>
              <a:buNone/>
              <a:defRPr sz="1800">
                <a:solidFill>
                  <a:srgbClr val="888888"/>
                </a:solidFill>
              </a:defRPr>
            </a:lvl2pPr>
            <a:lvl3pPr marL="1371600" indent="-228600" algn="l">
              <a:lnSpc>
                <a:spcPct val="90000"/>
              </a:lnSpc>
              <a:spcBef>
                <a:spcPts val="400"/>
              </a:spcBef>
              <a:spcAft>
                <a:spcPts val="0"/>
              </a:spcAft>
              <a:buSzPts val="1280"/>
              <a:buNone/>
              <a:defRPr sz="1600">
                <a:solidFill>
                  <a:srgbClr val="888888"/>
                </a:solidFill>
              </a:defRPr>
            </a:lvl3pPr>
            <a:lvl4pPr marL="1828800" indent="-228600" algn="l">
              <a:lnSpc>
                <a:spcPct val="90000"/>
              </a:lnSpc>
              <a:spcBef>
                <a:spcPts val="400"/>
              </a:spcBef>
              <a:spcAft>
                <a:spcPts val="0"/>
              </a:spcAft>
              <a:buSzPts val="1120"/>
              <a:buNone/>
              <a:defRPr sz="1400">
                <a:solidFill>
                  <a:srgbClr val="888888"/>
                </a:solidFill>
              </a:defRPr>
            </a:lvl4pPr>
            <a:lvl5pPr marL="2286000" indent="-228600" algn="l">
              <a:lnSpc>
                <a:spcPct val="90000"/>
              </a:lnSpc>
              <a:spcBef>
                <a:spcPts val="400"/>
              </a:spcBef>
              <a:spcAft>
                <a:spcPts val="0"/>
              </a:spcAft>
              <a:buSzPts val="1120"/>
              <a:buNone/>
              <a:defRPr sz="1400">
                <a:solidFill>
                  <a:srgbClr val="888888"/>
                </a:solidFill>
              </a:defRPr>
            </a:lvl5pPr>
            <a:lvl6pPr marL="2743200" indent="-228600" algn="l">
              <a:lnSpc>
                <a:spcPct val="90000"/>
              </a:lnSpc>
              <a:spcBef>
                <a:spcPts val="400"/>
              </a:spcBef>
              <a:spcAft>
                <a:spcPts val="0"/>
              </a:spcAft>
              <a:buSzPts val="1120"/>
              <a:buNone/>
              <a:defRPr sz="1400">
                <a:solidFill>
                  <a:srgbClr val="888888"/>
                </a:solidFill>
              </a:defRPr>
            </a:lvl6pPr>
            <a:lvl7pPr marL="3200400" indent="-228600" algn="l">
              <a:lnSpc>
                <a:spcPct val="90000"/>
              </a:lnSpc>
              <a:spcBef>
                <a:spcPts val="400"/>
              </a:spcBef>
              <a:spcAft>
                <a:spcPts val="0"/>
              </a:spcAft>
              <a:buSzPts val="1120"/>
              <a:buNone/>
              <a:defRPr sz="1400">
                <a:solidFill>
                  <a:srgbClr val="888888"/>
                </a:solidFill>
              </a:defRPr>
            </a:lvl7pPr>
            <a:lvl8pPr marL="3657600" indent="-228600" algn="l">
              <a:lnSpc>
                <a:spcPct val="90000"/>
              </a:lnSpc>
              <a:spcBef>
                <a:spcPts val="400"/>
              </a:spcBef>
              <a:spcAft>
                <a:spcPts val="0"/>
              </a:spcAft>
              <a:buSzPts val="1120"/>
              <a:buNone/>
              <a:defRPr sz="1400">
                <a:solidFill>
                  <a:srgbClr val="888888"/>
                </a:solidFill>
              </a:defRPr>
            </a:lvl8pPr>
            <a:lvl9pPr marL="4114800" indent="-228600" algn="l">
              <a:lnSpc>
                <a:spcPct val="90000"/>
              </a:lnSpc>
              <a:spcBef>
                <a:spcPts val="400"/>
              </a:spcBef>
              <a:spcAft>
                <a:spcPts val="400"/>
              </a:spcAft>
              <a:buSzPts val="1120"/>
              <a:buNone/>
              <a:defRPr sz="1400">
                <a:solidFill>
                  <a:srgbClr val="888888"/>
                </a:solidFill>
              </a:defRPr>
            </a:lvl9pPr>
          </a:lstStyle>
          <a:p xmlns:a="http://schemas.openxmlformats.org/drawingml/2006/main">
            <a:endParaRPr/>
          </a:p>
        </p:txBody>
      </p:sp>
      <p:sp>
        <p:nvSpPr>
          <p:cNvPr id="42" name="Google Shape;42;p6">
            <a:extLst xmlns:a="http://schemas.openxmlformats.org/drawingml/2006/main">
              <a:ext uri="{FF2B5EF4-FFF2-40B4-BE49-F238E27FC236}">
                <a16:creationId xmlns:a16="http://schemas.microsoft.com/office/drawing/2014/main" id="{88F17270-9B6D-4C62-99CE-0ECD19DFCE3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3" name="Google Shape;43;p6">
            <a:extLst xmlns:a="http://schemas.openxmlformats.org/drawingml/2006/main">
              <a:ext uri="{FF2B5EF4-FFF2-40B4-BE49-F238E27FC236}">
                <a16:creationId xmlns:a16="http://schemas.microsoft.com/office/drawing/2014/main" id="{ABDEB05D-E590-4230-A65A-231F0064D7AF}"/>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4" name="Google Shape;44;p6">
            <a:extLst xmlns:a="http://schemas.openxmlformats.org/drawingml/2006/main">
              <a:ext uri="{FF2B5EF4-FFF2-40B4-BE49-F238E27FC236}">
                <a16:creationId xmlns:a16="http://schemas.microsoft.com/office/drawing/2014/main" id="{9C599CAB-D224-4627-A936-C90F5A61ABA8}"/>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183" name="Google Shape;45;p6"/>
          <p:cNvCxnSpPr/>
          <p:nvPr/>
        </p:nvCxnSpPr>
        <p:spPr>
          <a:xfrm xmlns:a="http://schemas.openxmlformats.org/drawingml/2006/main">
            <a:off x="1981200" y="4020408"/>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6.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47" name="Google Shape;47;p7">
            <a:extLst xmlns:a="http://schemas.openxmlformats.org/drawingml/2006/main">
              <a:ext uri="{FF2B5EF4-FFF2-40B4-BE49-F238E27FC236}">
                <a16:creationId xmlns:a16="http://schemas.microsoft.com/office/drawing/2014/main" id="{A88F6224-4C19-45BC-8E4C-4EDB510ABFB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8" name="Google Shape;48;p7">
            <a:extLst xmlns:a="http://schemas.openxmlformats.org/drawingml/2006/main">
              <a:ext uri="{FF2B5EF4-FFF2-40B4-BE49-F238E27FC236}">
                <a16:creationId xmlns:a16="http://schemas.microsoft.com/office/drawing/2014/main" id="{B66352A3-57DB-43E0-8F63-BDDCAF161A6F}"/>
              </a:ext>
            </a:extLst>
          </p:cNvPr>
          <p:cNvSpPr>
            <a:spLocks xmlns:a="http://schemas.openxmlformats.org/drawingml/2006/main" noGrp="1"/>
          </p:cNvSpPr>
          <p:nvPr>
            <p:ph type="body" idx="1"/>
          </p:nvPr>
        </p:nvSpPr>
        <p:spPr>
          <a:xfrm xmlns:a="http://schemas.openxmlformats.org/drawingml/2006/main">
            <a:off x="1143000" y="2057399"/>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49" name="Google Shape;49;p7">
            <a:extLst xmlns:a="http://schemas.openxmlformats.org/drawingml/2006/main">
              <a:ext uri="{FF2B5EF4-FFF2-40B4-BE49-F238E27FC236}">
                <a16:creationId xmlns:a16="http://schemas.microsoft.com/office/drawing/2014/main" id="{62E06904-5961-46D1-80C9-DC9F8DC11279}"/>
              </a:ext>
            </a:extLst>
          </p:cNvPr>
          <p:cNvSpPr>
            <a:spLocks xmlns:a="http://schemas.openxmlformats.org/drawingml/2006/main" noGrp="1"/>
          </p:cNvSpPr>
          <p:nvPr>
            <p:ph type="body" idx="2"/>
          </p:nvPr>
        </p:nvSpPr>
        <p:spPr>
          <a:xfrm xmlns:a="http://schemas.openxmlformats.org/drawingml/2006/main">
            <a:off x="6267612" y="2057400"/>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0" name="Google Shape;50;p7">
            <a:extLst xmlns:a="http://schemas.openxmlformats.org/drawingml/2006/main">
              <a:ext uri="{FF2B5EF4-FFF2-40B4-BE49-F238E27FC236}">
                <a16:creationId xmlns:a16="http://schemas.microsoft.com/office/drawing/2014/main" id="{8080A104-8AA5-4585-9E75-4CD0E830DFE7}"/>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1" name="Google Shape;51;p7">
            <a:extLst xmlns:a="http://schemas.openxmlformats.org/drawingml/2006/main">
              <a:ext uri="{FF2B5EF4-FFF2-40B4-BE49-F238E27FC236}">
                <a16:creationId xmlns:a16="http://schemas.microsoft.com/office/drawing/2014/main" id="{4886F767-AA98-4549-9764-82804112AF63}"/>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2" name="Google Shape;52;p7">
            <a:extLst xmlns:a="http://schemas.openxmlformats.org/drawingml/2006/main">
              <a:ext uri="{FF2B5EF4-FFF2-40B4-BE49-F238E27FC236}">
                <a16:creationId xmlns:a16="http://schemas.microsoft.com/office/drawing/2014/main" id="{A8C7AF50-1422-48D4-9D6B-46886AE3CAC4}"/>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54" name="Google Shape;54;p8">
            <a:extLst xmlns:a="http://schemas.openxmlformats.org/drawingml/2006/main">
              <a:ext uri="{FF2B5EF4-FFF2-40B4-BE49-F238E27FC236}">
                <a16:creationId xmlns:a16="http://schemas.microsoft.com/office/drawing/2014/main" id="{FEE9B523-B5E0-4692-948F-F69BDE9C424E}"/>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5" name="Google Shape;55;p8">
            <a:extLst xmlns:a="http://schemas.openxmlformats.org/drawingml/2006/main">
              <a:ext uri="{FF2B5EF4-FFF2-40B4-BE49-F238E27FC236}">
                <a16:creationId xmlns:a16="http://schemas.microsoft.com/office/drawing/2014/main" id="{C8138D25-7461-4766-90D9-38E29D1B539F}"/>
              </a:ext>
            </a:extLst>
          </p:cNvPr>
          <p:cNvSpPr>
            <a:spLocks xmlns:a="http://schemas.openxmlformats.org/drawingml/2006/main" noGrp="1"/>
          </p:cNvSpPr>
          <p:nvPr>
            <p:ph type="body" idx="1"/>
          </p:nvPr>
        </p:nvSpPr>
        <p:spPr>
          <a:xfrm xmlns:a="http://schemas.openxmlformats.org/drawingml/2006/main">
            <a:off x="1143000" y="2001511"/>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6" name="Google Shape;56;p8">
            <a:extLst xmlns:a="http://schemas.openxmlformats.org/drawingml/2006/main">
              <a:ext uri="{FF2B5EF4-FFF2-40B4-BE49-F238E27FC236}">
                <a16:creationId xmlns:a16="http://schemas.microsoft.com/office/drawing/2014/main" id="{13A65957-C47B-426F-A86E-AC08896857BE}"/>
              </a:ext>
            </a:extLst>
          </p:cNvPr>
          <p:cNvSpPr>
            <a:spLocks xmlns:a="http://schemas.openxmlformats.org/drawingml/2006/main" noGrp="1"/>
          </p:cNvSpPr>
          <p:nvPr>
            <p:ph type="body" idx="2"/>
          </p:nvPr>
        </p:nvSpPr>
        <p:spPr>
          <a:xfrm xmlns:a="http://schemas.openxmlformats.org/drawingml/2006/main">
            <a:off x="1143000" y="2721483"/>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7" name="Google Shape;57;p8">
            <a:extLst xmlns:a="http://schemas.openxmlformats.org/drawingml/2006/main">
              <a:ext uri="{FF2B5EF4-FFF2-40B4-BE49-F238E27FC236}">
                <a16:creationId xmlns:a16="http://schemas.microsoft.com/office/drawing/2014/main" id="{023220B7-0BB2-4319-9A57-9402BBFD7762}"/>
              </a:ext>
            </a:extLst>
          </p:cNvPr>
          <p:cNvSpPr>
            <a:spLocks xmlns:a="http://schemas.openxmlformats.org/drawingml/2006/main" noGrp="1"/>
          </p:cNvSpPr>
          <p:nvPr>
            <p:ph type="body" idx="3"/>
          </p:nvPr>
        </p:nvSpPr>
        <p:spPr>
          <a:xfrm xmlns:a="http://schemas.openxmlformats.org/drawingml/2006/main">
            <a:off x="6269173" y="1999032"/>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8" name="Google Shape;58;p8">
            <a:extLst xmlns:a="http://schemas.openxmlformats.org/drawingml/2006/main">
              <a:ext uri="{FF2B5EF4-FFF2-40B4-BE49-F238E27FC236}">
                <a16:creationId xmlns:a16="http://schemas.microsoft.com/office/drawing/2014/main" id="{BABC99F3-8810-4EE2-BE04-B8458006A308}"/>
              </a:ext>
            </a:extLst>
          </p:cNvPr>
          <p:cNvSpPr>
            <a:spLocks xmlns:a="http://schemas.openxmlformats.org/drawingml/2006/main" noGrp="1"/>
          </p:cNvSpPr>
          <p:nvPr>
            <p:ph type="body" idx="4"/>
          </p:nvPr>
        </p:nvSpPr>
        <p:spPr>
          <a:xfrm xmlns:a="http://schemas.openxmlformats.org/drawingml/2006/main">
            <a:off x="6269173" y="2719322"/>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9" name="Google Shape;59;p8">
            <a:extLst xmlns:a="http://schemas.openxmlformats.org/drawingml/2006/main">
              <a:ext uri="{FF2B5EF4-FFF2-40B4-BE49-F238E27FC236}">
                <a16:creationId xmlns:a16="http://schemas.microsoft.com/office/drawing/2014/main" id="{638707D7-23B9-45C1-A8F2-598B2AE38F5B}"/>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0" name="Google Shape;60;p8">
            <a:extLst xmlns:a="http://schemas.openxmlformats.org/drawingml/2006/main">
              <a:ext uri="{FF2B5EF4-FFF2-40B4-BE49-F238E27FC236}">
                <a16:creationId xmlns:a16="http://schemas.microsoft.com/office/drawing/2014/main" id="{CDE3DF0F-A9E3-450B-ABD1-1F5396CAD3D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1" name="Google Shape;61;p8">
            <a:extLst xmlns:a="http://schemas.openxmlformats.org/drawingml/2006/main">
              <a:ext uri="{FF2B5EF4-FFF2-40B4-BE49-F238E27FC236}">
                <a16:creationId xmlns:a16="http://schemas.microsoft.com/office/drawing/2014/main" id="{70B19D17-8237-4B08-A8B2-1648F42350E0}"/>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Content with Caption" type="objTx">
  <p:cSld name="OBJECT_WITH_CAPTION_TEXT">
    <p:spTree>
      <p:nvGrpSpPr>
        <p:cNvPr id="1" name=""/>
        <p:cNvGrpSpPr/>
        <p:nvPr/>
      </p:nvGrpSpPr>
      <p:grpSpPr>
        <a:xfrm xmlns:a="http://schemas.openxmlformats.org/drawingml/2006/main"/>
      </p:grpSpPr>
      <p:sp>
        <p:nvSpPr>
          <p:cNvPr id="63" name="Google Shape;63;p9">
            <a:extLst xmlns:a="http://schemas.openxmlformats.org/drawingml/2006/main">
              <a:ext uri="{FF2B5EF4-FFF2-40B4-BE49-F238E27FC236}">
                <a16:creationId xmlns:a16="http://schemas.microsoft.com/office/drawing/2014/main" id="{D08F7266-7985-4AC9-B2A3-F0E202E2E4E7}"/>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4" name="Google Shape;64;p9">
            <a:extLst xmlns:a="http://schemas.openxmlformats.org/drawingml/2006/main">
              <a:ext uri="{FF2B5EF4-FFF2-40B4-BE49-F238E27FC236}">
                <a16:creationId xmlns:a16="http://schemas.microsoft.com/office/drawing/2014/main" id="{6CB2082C-D06C-482C-B967-E3492112D839}"/>
              </a:ext>
            </a:extLst>
          </p:cNvPr>
          <p:cNvSpPr>
            <a:spLocks xmlns:a="http://schemas.openxmlformats.org/drawingml/2006/main" noGrp="1"/>
          </p:cNvSpPr>
          <p:nvPr>
            <p:ph type="body" idx="1"/>
          </p:nvPr>
        </p:nvSpPr>
        <p:spPr>
          <a:xfrm xmlns:a="http://schemas.openxmlformats.org/drawingml/2006/main">
            <a:off x="5852159" y="1097280"/>
            <a:ext cx="5212080" cy="4663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91160" algn="l">
              <a:lnSpc>
                <a:spcPct val="90000"/>
              </a:lnSpc>
              <a:spcBef>
                <a:spcPts val="1400"/>
              </a:spcBef>
              <a:spcAft>
                <a:spcPts val="0"/>
              </a:spcAft>
              <a:buSzPts val="2560"/>
              <a:buChar char="•"/>
              <a:defRPr sz="3200"/>
            </a:lvl1pPr>
            <a:lvl2pPr marL="914400" indent="-370840" algn="l">
              <a:lnSpc>
                <a:spcPct val="90000"/>
              </a:lnSpc>
              <a:spcBef>
                <a:spcPts val="200"/>
              </a:spcBef>
              <a:spcAft>
                <a:spcPts val="0"/>
              </a:spcAft>
              <a:buSzPts val="2240"/>
              <a:buChar char="•"/>
              <a:defRPr sz="2800"/>
            </a:lvl2pPr>
            <a:lvl3pPr marL="1371600" indent="-350519" algn="l">
              <a:lnSpc>
                <a:spcPct val="90000"/>
              </a:lnSpc>
              <a:spcBef>
                <a:spcPts val="400"/>
              </a:spcBef>
              <a:spcAft>
                <a:spcPts val="0"/>
              </a:spcAft>
              <a:buSzPts val="1920"/>
              <a:buChar char="•"/>
              <a:defRPr sz="2400"/>
            </a:lvl3pPr>
            <a:lvl4pPr marL="1828800" indent="-330200" algn="l">
              <a:lnSpc>
                <a:spcPct val="90000"/>
              </a:lnSpc>
              <a:spcBef>
                <a:spcPts val="400"/>
              </a:spcBef>
              <a:spcAft>
                <a:spcPts val="0"/>
              </a:spcAft>
              <a:buSzPts val="1600"/>
              <a:buChar char="•"/>
              <a:defRPr sz="2000"/>
            </a:lvl4pPr>
            <a:lvl5pPr marL="2286000" indent="-330200" algn="l">
              <a:lnSpc>
                <a:spcPct val="90000"/>
              </a:lnSpc>
              <a:spcBef>
                <a:spcPts val="400"/>
              </a:spcBef>
              <a:spcAft>
                <a:spcPts val="0"/>
              </a:spcAft>
              <a:buSzPts val="1600"/>
              <a:buChar char="•"/>
              <a:defRPr sz="2000"/>
            </a:lvl5pPr>
            <a:lvl6pPr marL="2743200" indent="-330200" algn="l">
              <a:lnSpc>
                <a:spcPct val="90000"/>
              </a:lnSpc>
              <a:spcBef>
                <a:spcPts val="400"/>
              </a:spcBef>
              <a:spcAft>
                <a:spcPts val="0"/>
              </a:spcAft>
              <a:buSzPts val="1600"/>
              <a:buChar char="•"/>
              <a:defRPr sz="2000"/>
            </a:lvl6pPr>
            <a:lvl7pPr marL="3200400" indent="-330200" algn="l">
              <a:lnSpc>
                <a:spcPct val="90000"/>
              </a:lnSpc>
              <a:spcBef>
                <a:spcPts val="400"/>
              </a:spcBef>
              <a:spcAft>
                <a:spcPts val="0"/>
              </a:spcAft>
              <a:buSzPts val="1600"/>
              <a:buChar char="•"/>
              <a:defRPr sz="2000"/>
            </a:lvl7pPr>
            <a:lvl8pPr marL="3657600" indent="-330200" algn="l">
              <a:lnSpc>
                <a:spcPct val="90000"/>
              </a:lnSpc>
              <a:spcBef>
                <a:spcPts val="400"/>
              </a:spcBef>
              <a:spcAft>
                <a:spcPts val="0"/>
              </a:spcAft>
              <a:buSzPts val="1600"/>
              <a:buChar char="•"/>
              <a:defRPr sz="2000"/>
            </a:lvl8pPr>
            <a:lvl9pPr marL="4114800" indent="-330200" algn="l">
              <a:lnSpc>
                <a:spcPct val="90000"/>
              </a:lnSpc>
              <a:spcBef>
                <a:spcPts val="400"/>
              </a:spcBef>
              <a:spcAft>
                <a:spcPts val="400"/>
              </a:spcAft>
              <a:buSzPts val="1600"/>
              <a:buChar char="•"/>
              <a:defRPr sz="2000"/>
            </a:lvl9pPr>
          </a:lstStyle>
          <a:p xmlns:a="http://schemas.openxmlformats.org/drawingml/2006/main">
            <a:endParaRPr/>
          </a:p>
        </p:txBody>
      </p:sp>
      <p:sp>
        <p:nvSpPr>
          <p:cNvPr id="65" name="Google Shape;65;p9">
            <a:extLst xmlns:a="http://schemas.openxmlformats.org/drawingml/2006/main">
              <a:ext uri="{FF2B5EF4-FFF2-40B4-BE49-F238E27FC236}">
                <a16:creationId xmlns:a16="http://schemas.microsoft.com/office/drawing/2014/main" id="{F199FB3C-DA4D-43F4-BD3F-8C530DA0CFE1}"/>
              </a:ext>
            </a:extLst>
          </p:cNvPr>
          <p:cNvSpPr>
            <a:spLocks xmlns:a="http://schemas.openxmlformats.org/drawingml/2006/main" noGrp="1"/>
          </p:cNvSpPr>
          <p:nvPr>
            <p:ph type="body" idx="2"/>
          </p:nvPr>
        </p:nvSpPr>
        <p:spPr>
          <a:xfrm xmlns:a="http://schemas.openxmlformats.org/drawingml/2006/main">
            <a:off x="1143000" y="2834640"/>
            <a:ext cx="3931920" cy="3017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66" name="Google Shape;66;p9">
            <a:extLst xmlns:a="http://schemas.openxmlformats.org/drawingml/2006/main">
              <a:ext uri="{FF2B5EF4-FFF2-40B4-BE49-F238E27FC236}">
                <a16:creationId xmlns:a16="http://schemas.microsoft.com/office/drawing/2014/main" id="{CE00638A-17BC-4D96-93ED-FF7C773CD5F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7" name="Google Shape;67;p9">
            <a:extLst xmlns:a="http://schemas.openxmlformats.org/drawingml/2006/main">
              <a:ext uri="{FF2B5EF4-FFF2-40B4-BE49-F238E27FC236}">
                <a16:creationId xmlns:a16="http://schemas.microsoft.com/office/drawing/2014/main" id="{5E9F3C43-ADB4-4110-89BC-B62B8721AAD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8" name="Google Shape;68;p9">
            <a:extLst xmlns:a="http://schemas.openxmlformats.org/drawingml/2006/main">
              <a:ext uri="{FF2B5EF4-FFF2-40B4-BE49-F238E27FC236}">
                <a16:creationId xmlns:a16="http://schemas.microsoft.com/office/drawing/2014/main" id="{A8AF8AD0-C3A8-4519-8B75-95A8A3BBE3C5}"/>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Picture with Caption" type="picTx">
  <p:cSld name="PICTURE_WITH_CAPTION_TEXT">
    <p:spTree>
      <p:nvGrpSpPr>
        <p:cNvPr id="1" name=""/>
        <p:cNvGrpSpPr/>
        <p:nvPr/>
      </p:nvGrpSpPr>
      <p:grpSpPr>
        <a:xfrm xmlns:a="http://schemas.openxmlformats.org/drawingml/2006/main"/>
      </p:grpSpPr>
      <p:sp>
        <p:nvSpPr>
          <p:cNvPr id="70" name="Google Shape;70;p10">
            <a:extLst xmlns:a="http://schemas.openxmlformats.org/drawingml/2006/main">
              <a:ext uri="{FF2B5EF4-FFF2-40B4-BE49-F238E27FC236}">
                <a16:creationId xmlns:a16="http://schemas.microsoft.com/office/drawing/2014/main" id="{04E68BC8-DDD5-4D61-B55C-32052B491239}"/>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1" name="Google Shape;71;p10">
            <a:extLst xmlns:a="http://schemas.openxmlformats.org/drawingml/2006/main">
              <a:ext uri="{FF2B5EF4-FFF2-40B4-BE49-F238E27FC236}">
                <a16:creationId xmlns:a16="http://schemas.microsoft.com/office/drawing/2014/main" id="{1F80EB45-7B7E-4817-8DAB-3697C87ABEAB}"/>
              </a:ext>
            </a:extLst>
          </p:cNvPr>
          <p:cNvSpPr>
            <a:spLocks xmlns:a="http://schemas.openxmlformats.org/drawingml/2006/main" noGrp="1"/>
          </p:cNvSpPr>
          <p:nvPr>
            <p:ph type="pic" idx="2"/>
          </p:nvPr>
        </p:nvSpPr>
        <p:spPr>
          <a:xfrm xmlns:a="http://schemas.openxmlformats.org/drawingml/2006/main">
            <a:off x="5413248" y="1069847"/>
            <a:ext cx="6099048" cy="4800600"/>
          </a:xfrm>
          <a:prstGeom xmlns:a="http://schemas.openxmlformats.org/drawingml/2006/main" prst="rect">
            <a:avLst/>
          </a:prstGeom>
          <a:noFill xmlns:a="http://schemas.openxmlformats.org/drawingml/2006/main"/>
          <a:ln xmlns:a="http://schemas.openxmlformats.org/drawingml/2006/main">
            <a:noFill/>
          </a:ln>
        </p:spPr>
      </p:sp>
      <p:sp>
        <p:nvSpPr>
          <p:cNvPr id="72" name="Google Shape;72;p10">
            <a:extLst xmlns:a="http://schemas.openxmlformats.org/drawingml/2006/main">
              <a:ext uri="{FF2B5EF4-FFF2-40B4-BE49-F238E27FC236}">
                <a16:creationId xmlns:a16="http://schemas.microsoft.com/office/drawing/2014/main" id="{35BF28FC-2A92-4CFA-8FED-1362F12E5430}"/>
              </a:ext>
            </a:extLst>
          </p:cNvPr>
          <p:cNvSpPr>
            <a:spLocks xmlns:a="http://schemas.openxmlformats.org/drawingml/2006/main" noGrp="1"/>
          </p:cNvSpPr>
          <p:nvPr>
            <p:ph type="body" idx="1"/>
          </p:nvPr>
        </p:nvSpPr>
        <p:spPr>
          <a:xfrm xmlns:a="http://schemas.openxmlformats.org/drawingml/2006/main">
            <a:off x="1143000" y="2834640"/>
            <a:ext cx="3931920" cy="2880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73" name="Google Shape;73;p10">
            <a:extLst xmlns:a="http://schemas.openxmlformats.org/drawingml/2006/main">
              <a:ext uri="{FF2B5EF4-FFF2-40B4-BE49-F238E27FC236}">
                <a16:creationId xmlns:a16="http://schemas.microsoft.com/office/drawing/2014/main" id="{FEC253A5-2192-4CD0-9899-8C0FDCE80D70}"/>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4" name="Google Shape;74;p10">
            <a:extLst xmlns:a="http://schemas.openxmlformats.org/drawingml/2006/main">
              <a:ext uri="{FF2B5EF4-FFF2-40B4-BE49-F238E27FC236}">
                <a16:creationId xmlns:a16="http://schemas.microsoft.com/office/drawing/2014/main" id="{1057E711-2A97-48B1-8C57-A5736F4E9A0A}"/>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5" name="Google Shape;75;p10">
            <a:extLst xmlns:a="http://schemas.openxmlformats.org/drawingml/2006/main">
              <a:ext uri="{FF2B5EF4-FFF2-40B4-BE49-F238E27FC236}">
                <a16:creationId xmlns:a16="http://schemas.microsoft.com/office/drawing/2014/main" id="{F1AEB198-0E92-4630-B285-6E52913A1B7A}"/>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77" name="Google Shape;77;p11">
            <a:extLst xmlns:a="http://schemas.openxmlformats.org/drawingml/2006/main">
              <a:ext uri="{FF2B5EF4-FFF2-40B4-BE49-F238E27FC236}">
                <a16:creationId xmlns:a16="http://schemas.microsoft.com/office/drawing/2014/main" id="{AB4897EE-16CB-46B7-9ED3-6A5D929B02D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8" name="Google Shape;78;p11">
            <a:extLst xmlns:a="http://schemas.openxmlformats.org/drawingml/2006/main">
              <a:ext uri="{FF2B5EF4-FFF2-40B4-BE49-F238E27FC236}">
                <a16:creationId xmlns:a16="http://schemas.microsoft.com/office/drawing/2014/main" id="{C49A1845-162D-4FA8-9AD9-9E0EE8995BE6}"/>
              </a:ext>
            </a:extLst>
          </p:cNvPr>
          <p:cNvSpPr>
            <a:spLocks xmlns:a="http://schemas.openxmlformats.org/drawingml/2006/main" noGrp="1"/>
          </p:cNvSpPr>
          <p:nvPr>
            <p:ph type="body" idx="1"/>
          </p:nvPr>
        </p:nvSpPr>
        <p:spPr>
          <a:xfrm xmlns:a="http://schemas.openxmlformats.org/drawingml/2006/main" rot="5400000">
            <a:off x="4060136" y="-859736"/>
            <a:ext cx="4038600" cy="987287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79" name="Google Shape;79;p11">
            <a:extLst xmlns:a="http://schemas.openxmlformats.org/drawingml/2006/main">
              <a:ext uri="{FF2B5EF4-FFF2-40B4-BE49-F238E27FC236}">
                <a16:creationId xmlns:a16="http://schemas.microsoft.com/office/drawing/2014/main" id="{9FE3742A-2E3C-4839-90CB-774EC859D703}"/>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0" name="Google Shape;80;p11">
            <a:extLst xmlns:a="http://schemas.openxmlformats.org/drawingml/2006/main">
              <a:ext uri="{FF2B5EF4-FFF2-40B4-BE49-F238E27FC236}">
                <a16:creationId xmlns:a16="http://schemas.microsoft.com/office/drawing/2014/main" id="{DCCFEB6D-F9E1-4B34-B38C-7A37DC179179}"/>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1" name="Google Shape;81;p11">
            <a:extLst xmlns:a="http://schemas.openxmlformats.org/drawingml/2006/main">
              <a:ext uri="{FF2B5EF4-FFF2-40B4-BE49-F238E27FC236}">
                <a16:creationId xmlns:a16="http://schemas.microsoft.com/office/drawing/2014/main" id="{61BFBD49-C078-43B3-9C44-D5E6840250C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Vertical Title and Text" type="vertTitleAndTx">
  <p:cSld name="VERTICAL_TITLE_AND_VERTICAL_TEXT">
    <p:spTree>
      <p:nvGrpSpPr>
        <p:cNvPr id="1" name=""/>
        <p:cNvGrpSpPr/>
        <p:nvPr/>
      </p:nvGrpSpPr>
      <p:grpSpPr>
        <a:xfrm xmlns:a="http://schemas.openxmlformats.org/drawingml/2006/main"/>
      </p:grpSpPr>
      <p:sp>
        <p:nvSpPr>
          <p:cNvPr id="83" name="Google Shape;83;p12">
            <a:extLst xmlns:a="http://schemas.openxmlformats.org/drawingml/2006/main">
              <a:ext uri="{FF2B5EF4-FFF2-40B4-BE49-F238E27FC236}">
                <a16:creationId xmlns:a16="http://schemas.microsoft.com/office/drawing/2014/main" id="{17D57E8B-F927-4A0C-9496-52D5CE46C6D2}"/>
              </a:ext>
            </a:extLst>
          </p:cNvPr>
          <p:cNvSpPr>
            <a:spLocks xmlns:a="http://schemas.openxmlformats.org/drawingml/2006/main" noGrp="1"/>
          </p:cNvSpPr>
          <p:nvPr>
            <p:ph type="title" idx="0"/>
          </p:nvPr>
        </p:nvSpPr>
        <p:spPr>
          <a:xfrm xmlns:a="http://schemas.openxmlformats.org/drawingml/2006/main" rot="5400000">
            <a:off x="7181850" y="2305050"/>
            <a:ext cx="5410200" cy="232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4" name="Google Shape;84;p12">
            <a:extLst xmlns:a="http://schemas.openxmlformats.org/drawingml/2006/main">
              <a:ext uri="{FF2B5EF4-FFF2-40B4-BE49-F238E27FC236}">
                <a16:creationId xmlns:a16="http://schemas.microsoft.com/office/drawing/2014/main" id="{97B2F746-CE3C-4721-8D29-FF03CDFB1BD3}"/>
              </a:ext>
            </a:extLst>
          </p:cNvPr>
          <p:cNvSpPr>
            <a:spLocks xmlns:a="http://schemas.openxmlformats.org/drawingml/2006/main" noGrp="1"/>
          </p:cNvSpPr>
          <p:nvPr>
            <p:ph type="body" idx="1"/>
          </p:nvPr>
        </p:nvSpPr>
        <p:spPr>
          <a:xfrm xmlns:a="http://schemas.openxmlformats.org/drawingml/2006/main" rot="5400000">
            <a:off x="2152650" y="-247650"/>
            <a:ext cx="5410200" cy="7429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85" name="Google Shape;85;p12">
            <a:extLst xmlns:a="http://schemas.openxmlformats.org/drawingml/2006/main">
              <a:ext uri="{FF2B5EF4-FFF2-40B4-BE49-F238E27FC236}">
                <a16:creationId xmlns:a16="http://schemas.microsoft.com/office/drawing/2014/main" id="{C5B234B9-E110-4BA3-937C-DCF7DDB12F9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6" name="Google Shape;86;p12">
            <a:extLst xmlns:a="http://schemas.openxmlformats.org/drawingml/2006/main">
              <a:ext uri="{FF2B5EF4-FFF2-40B4-BE49-F238E27FC236}">
                <a16:creationId xmlns:a16="http://schemas.microsoft.com/office/drawing/2014/main" id="{936C881C-947F-49E4-916B-70D53C631E6D}"/>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7" name="Google Shape;87;p12">
            <a:extLst xmlns:a="http://schemas.openxmlformats.org/drawingml/2006/main">
              <a:ext uri="{FF2B5EF4-FFF2-40B4-BE49-F238E27FC236}">
                <a16:creationId xmlns:a16="http://schemas.microsoft.com/office/drawing/2014/main" id="{97C09B98-C1AD-4688-94AB-81DBD1FF230E}"/>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7f03eb4c8004620" /><Relationship Type="http://schemas.openxmlformats.org/officeDocument/2006/relationships/slideLayout" Target="/ppt/slideLayouts/slideLayout1.xml" Id="Rab6afc4524f341ab" /><Relationship Type="http://schemas.openxmlformats.org/officeDocument/2006/relationships/slideLayout" Target="/ppt/slideLayouts/slideLayout2.xml" Id="Ra14c3071bba44832" /><Relationship Type="http://schemas.openxmlformats.org/officeDocument/2006/relationships/slideLayout" Target="/ppt/slideLayouts/slideLayout3.xml" Id="Rc9b54589238a4b81" /><Relationship Type="http://schemas.openxmlformats.org/officeDocument/2006/relationships/slideLayout" Target="/ppt/slideLayouts/slideLayout4.xml" Id="R172b42bd0cb14e0b" /><Relationship Type="http://schemas.openxmlformats.org/officeDocument/2006/relationships/slideLayout" Target="/ppt/slideLayouts/slideLayout5.xml" Id="R30331058870b4bb9" /><Relationship Type="http://schemas.openxmlformats.org/officeDocument/2006/relationships/slideLayout" Target="/ppt/slideLayouts/slideLayout6.xml" Id="R571bbfa280ea4878" /><Relationship Type="http://schemas.openxmlformats.org/officeDocument/2006/relationships/slideLayout" Target="/ppt/slideLayouts/slideLayout7.xml" Id="R05ad78aa6fef4559" /><Relationship Type="http://schemas.openxmlformats.org/officeDocument/2006/relationships/slideLayout" Target="/ppt/slideLayouts/slideLayout8.xml" Id="Rf8022fc821fb49ca" /><Relationship Type="http://schemas.openxmlformats.org/officeDocument/2006/relationships/slideLayout" Target="/ppt/slideLayouts/slideLayout9.xml" Id="R7d854b42243749fa" /><Relationship Type="http://schemas.openxmlformats.org/officeDocument/2006/relationships/slideLayout" Target="/ppt/slideLayouts/slideLayout10.xml" Id="Ra4786a2a04404cbf" /><Relationship Type="http://schemas.openxmlformats.org/officeDocument/2006/relationships/slideLayout" Target="/ppt/slideLayouts/slideLayout11.xml" Id="R3609bbfa087349a4"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10" name="Google Shape;10;p1">
            <a:extLst xmlns:a="http://schemas.openxmlformats.org/drawingml/2006/main">
              <a:ext uri="{FF2B5EF4-FFF2-40B4-BE49-F238E27FC236}">
                <a16:creationId xmlns:a16="http://schemas.microsoft.com/office/drawing/2014/main" id="{4A910320-64AF-41C6-B724-6D533C7C6A5B}"/>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11" name="Google Shape;11;p1">
            <a:extLst xmlns:a="http://schemas.openxmlformats.org/drawingml/2006/main">
              <a:ext uri="{FF2B5EF4-FFF2-40B4-BE49-F238E27FC236}">
                <a16:creationId xmlns:a16="http://schemas.microsoft.com/office/drawing/2014/main" id="{A45123B7-A767-42E9-9BA9-6A84E1CD867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R="0" algn="l">
              <a:lnSpc>
                <a:spcPct val="90000"/>
              </a:lnSpc>
              <a:spcBef>
                <a:spcPts val="0"/>
              </a:spcBef>
              <a:spcAft>
                <a:spcPts val="0"/>
              </a:spcAft>
              <a:buClr>
                <a:schemeClr val="dk1"/>
              </a:buClr>
              <a:buSzPts val="4400"/>
              <a:buFont typeface="Corbel"/>
              <a:buNone/>
              <a:defRPr sz="44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9pPr>
          </a:lstStyle>
          <a:p xmlns:a="http://schemas.openxmlformats.org/drawingml/2006/main">
            <a:endParaRPr/>
          </a:p>
        </p:txBody>
      </p:sp>
      <p:sp>
        <p:nvSpPr>
          <p:cNvPr id="12" name="Google Shape;12;p1">
            <a:extLst xmlns:a="http://schemas.openxmlformats.org/drawingml/2006/main">
              <a:ext uri="{FF2B5EF4-FFF2-40B4-BE49-F238E27FC236}">
                <a16:creationId xmlns:a16="http://schemas.microsoft.com/office/drawing/2014/main" id="{FEFC9674-3380-4A29-B556-22D7F8C1635F}"/>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marR="0" indent="-340360" algn="l">
              <a:lnSpc>
                <a:spcPct val="90000"/>
              </a:lnSpc>
              <a:spcBef>
                <a:spcPts val="1400"/>
              </a:spcBef>
              <a:spcAft>
                <a:spcPts val="0"/>
              </a:spcAft>
              <a:buClr>
                <a:schemeClr val="dk1"/>
              </a:buClr>
              <a:buSzPts val="1760"/>
              <a:buFont typeface="Corbel"/>
              <a:buChar char="•"/>
              <a:defRPr sz="2200" b="0" i="0" u="none" cap="none">
                <a:solidFill>
                  <a:schemeClr val="dk1"/>
                </a:solidFill>
                <a:latin typeface="Corbel"/>
                <a:ea typeface="Corbel"/>
                <a:cs typeface="Corbel"/>
              </a:defRPr>
            </a:lvl1pPr>
            <a:lvl2pPr marL="914400" marR="0" indent="-330200" algn="l">
              <a:lnSpc>
                <a:spcPct val="90000"/>
              </a:lnSpc>
              <a:spcBef>
                <a:spcPts val="200"/>
              </a:spcBef>
              <a:spcAft>
                <a:spcPts val="0"/>
              </a:spcAft>
              <a:buClr>
                <a:schemeClr val="dk1"/>
              </a:buClr>
              <a:buSzPts val="1600"/>
              <a:buFont typeface="Corbel"/>
              <a:buChar char="•"/>
              <a:defRPr sz="2000" b="0" i="0" u="none" cap="none">
                <a:solidFill>
                  <a:schemeClr val="dk1"/>
                </a:solidFill>
                <a:latin typeface="Corbel"/>
                <a:ea typeface="Corbel"/>
                <a:cs typeface="Corbel"/>
              </a:defRPr>
            </a:lvl2pPr>
            <a:lvl3pPr marL="1371600" marR="0" indent="-320039" algn="l">
              <a:lnSpc>
                <a:spcPct val="90000"/>
              </a:lnSpc>
              <a:spcBef>
                <a:spcPts val="400"/>
              </a:spcBef>
              <a:spcAft>
                <a:spcPts val="0"/>
              </a:spcAft>
              <a:buClr>
                <a:schemeClr val="dk1"/>
              </a:buClr>
              <a:buSzPts val="1440"/>
              <a:buFont typeface="Corbel"/>
              <a:buChar char="•"/>
              <a:defRPr sz="1800" b="0" i="0" u="none" cap="none">
                <a:solidFill>
                  <a:schemeClr val="dk1"/>
                </a:solidFill>
                <a:latin typeface="Corbel"/>
                <a:ea typeface="Corbel"/>
                <a:cs typeface="Corbel"/>
              </a:defRPr>
            </a:lvl3pPr>
            <a:lvl4pPr marL="1828800" marR="0" indent="-309880"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4pPr>
            <a:lvl5pPr marL="22860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5pPr>
            <a:lvl6pPr marL="27432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6pPr>
            <a:lvl7pPr marL="32004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7pPr>
            <a:lvl8pPr marL="36576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8pPr>
            <a:lvl9pPr marL="4114800" marR="0" indent="-309879" algn="l">
              <a:lnSpc>
                <a:spcPct val="90000"/>
              </a:lnSpc>
              <a:spcBef>
                <a:spcPts val="400"/>
              </a:spcBef>
              <a:spcAft>
                <a:spcPts val="400"/>
              </a:spcAft>
              <a:buClr>
                <a:schemeClr val="dk1"/>
              </a:buClr>
              <a:buSzPts val="1280"/>
              <a:buFont typeface="Corbel"/>
              <a:buChar char="•"/>
              <a:defRPr sz="1600" b="0" i="0" u="none" cap="none">
                <a:solidFill>
                  <a:schemeClr val="dk1"/>
                </a:solidFill>
                <a:latin typeface="Corbel"/>
                <a:ea typeface="Corbel"/>
                <a:cs typeface="Corbel"/>
              </a:defRPr>
            </a:lvl9pPr>
          </a:lstStyle>
          <a:p xmlns:a="http://schemas.openxmlformats.org/drawingml/2006/main">
            <a:endParaRPr/>
          </a:p>
        </p:txBody>
      </p:sp>
      <p:sp>
        <p:nvSpPr>
          <p:cNvPr id="13" name="Google Shape;13;p1">
            <a:extLst xmlns:a="http://schemas.openxmlformats.org/drawingml/2006/main">
              <a:ext uri="{FF2B5EF4-FFF2-40B4-BE49-F238E27FC236}">
                <a16:creationId xmlns:a16="http://schemas.microsoft.com/office/drawing/2014/main" id="{10E6EE13-9D4C-486C-8058-3BA2696D9AE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4" name="Google Shape;14;p1">
            <a:extLst xmlns:a="http://schemas.openxmlformats.org/drawingml/2006/main">
              <a:ext uri="{FF2B5EF4-FFF2-40B4-BE49-F238E27FC236}">
                <a16:creationId xmlns:a16="http://schemas.microsoft.com/office/drawing/2014/main" id="{CAF8DEDC-38CB-4BB0-92BD-088BD67C6DE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5" name="Google Shape;15;p1">
            <a:extLst xmlns:a="http://schemas.openxmlformats.org/drawingml/2006/main">
              <a:ext uri="{FF2B5EF4-FFF2-40B4-BE49-F238E27FC236}">
                <a16:creationId xmlns:a16="http://schemas.microsoft.com/office/drawing/2014/main" id="{3D188BE8-38E8-4AFD-868E-F034EB79064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ab6afc4524f341ab"/>
    <p:sldLayoutId xmlns:r="http://schemas.openxmlformats.org/officeDocument/2006/relationships" id="2147483650" r:id="Ra14c3071bba44832"/>
    <p:sldLayoutId xmlns:r="http://schemas.openxmlformats.org/officeDocument/2006/relationships" id="2147483651" r:id="Rc9b54589238a4b81"/>
    <p:sldLayoutId xmlns:r="http://schemas.openxmlformats.org/officeDocument/2006/relationships" id="2147483652" r:id="R172b42bd0cb14e0b"/>
    <p:sldLayoutId xmlns:r="http://schemas.openxmlformats.org/officeDocument/2006/relationships" id="2147483653" r:id="R30331058870b4bb9"/>
    <p:sldLayoutId xmlns:r="http://schemas.openxmlformats.org/officeDocument/2006/relationships" id="2147483654" r:id="R571bbfa280ea4878"/>
    <p:sldLayoutId xmlns:r="http://schemas.openxmlformats.org/officeDocument/2006/relationships" id="2147483655" r:id="R05ad78aa6fef4559"/>
    <p:sldLayoutId xmlns:r="http://schemas.openxmlformats.org/officeDocument/2006/relationships" id="2147483656" r:id="Rf8022fc821fb49ca"/>
    <p:sldLayoutId xmlns:r="http://schemas.openxmlformats.org/officeDocument/2006/relationships" id="2147483657" r:id="R7d854b42243749fa"/>
    <p:sldLayoutId xmlns:r="http://schemas.openxmlformats.org/officeDocument/2006/relationships" id="2147483658" r:id="Ra4786a2a04404cbf"/>
    <p:sldLayoutId xmlns:r="http://schemas.openxmlformats.org/officeDocument/2006/relationships" id="2147483659" r:id="R3609bbfa087349a4"/>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8ba0f3f639e45e4" /><Relationship Type="http://schemas.openxmlformats.org/officeDocument/2006/relationships/image" Target="/ppt/media/image.png" Id="Rf44d2ac0f6714f8e" /><Relationship Type="http://schemas.openxmlformats.org/officeDocument/2006/relationships/image" Target="/ppt/media/image2.png" Id="R8a9d83546acf4b57" /><Relationship Type="http://schemas.openxmlformats.org/officeDocument/2006/relationships/notesSlide" Target="/ppt/notesSlides/notesSlide1.xml" Id="R962991b10f444ba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cc9642cc21d4e0a" /><Relationship Type="http://schemas.openxmlformats.org/officeDocument/2006/relationships/image" Target="/ppt/media/image2.png" Id="R6e7adb2fa27f4b6c" /><Relationship Type="http://schemas.openxmlformats.org/officeDocument/2006/relationships/image" Target="/ppt/media/image3.png" Id="R6940ef6f77034bda" /><Relationship Type="http://schemas.openxmlformats.org/officeDocument/2006/relationships/notesSlide" Target="/ppt/notesSlides/notesSlide2.xml" Id="R570eddd977df4421"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1f197da394014202" /><Relationship Type="http://schemas.openxmlformats.org/officeDocument/2006/relationships/image" Target="/ppt/media/image2.png" Id="R789e206bc72c4256" /><Relationship Type="http://schemas.openxmlformats.org/officeDocument/2006/relationships/image" Target="/ppt/media/image4.png" Id="R233d2079a06a4196" /><Relationship Type="http://schemas.openxmlformats.org/officeDocument/2006/relationships/image" Target="/ppt/media/image5.png" Id="R2fdb868eee164809" /><Relationship Type="http://schemas.openxmlformats.org/officeDocument/2006/relationships/image" Target="/ppt/media/image3.png" Id="R72750d5b09c94dc2" /><Relationship Type="http://schemas.openxmlformats.org/officeDocument/2006/relationships/notesSlide" Target="/ppt/notesSlides/notesSlide3.xml" Id="Rcc7bc8db8f03424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a62280ebbdd4123" /><Relationship Type="http://schemas.openxmlformats.org/officeDocument/2006/relationships/image" Target="/ppt/media/image2.png" Id="Reb3b473435cb461f" /><Relationship Type="http://schemas.openxmlformats.org/officeDocument/2006/relationships/image" Target="/ppt/media/image6.png" Id="Rb58541e48ee64f57" /><Relationship Type="http://schemas.openxmlformats.org/officeDocument/2006/relationships/image" Target="/ppt/media/image3.png" Id="Rcf23c2db0bd7421b" /><Relationship Type="http://schemas.openxmlformats.org/officeDocument/2006/relationships/notesSlide" Target="/ppt/notesSlides/notesSlide4.xml" Id="R409bfc990eb84ff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9b6946167034331" /><Relationship Type="http://schemas.openxmlformats.org/officeDocument/2006/relationships/image" Target="/ppt/media/image2.png" Id="R42b0bb1348a74e6d" /><Relationship Type="http://schemas.openxmlformats.org/officeDocument/2006/relationships/image" Target="/ppt/media/image3.png" Id="R4127f0908559403b" /><Relationship Type="http://schemas.openxmlformats.org/officeDocument/2006/relationships/notesSlide" Target="/ppt/notesSlides/notesSlide5.xml" Id="Rf5ccdcee73e3460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511d63dba404262" /><Relationship Type="http://schemas.openxmlformats.org/officeDocument/2006/relationships/image" Target="/ppt/media/image2.png" Id="R59fac12d245b4feb" /><Relationship Type="http://schemas.openxmlformats.org/officeDocument/2006/relationships/image" Target="/ppt/media/image3.png" Id="R70d1cad6494b4332" /><Relationship Type="http://schemas.openxmlformats.org/officeDocument/2006/relationships/notesSlide" Target="/ppt/notesSlides/notesSlide6.xml" Id="R9ee696c8537e4e6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59940e8eda5495d" /><Relationship Type="http://schemas.openxmlformats.org/officeDocument/2006/relationships/image" Target="/ppt/media/image2.png" Id="R5b3d41a2644e4ad5" /><Relationship Type="http://schemas.openxmlformats.org/officeDocument/2006/relationships/chart" Target="/ppt/slides/charts/chart1.xml" Id="Ra6f49183b7f34079" /><Relationship Type="http://schemas.openxmlformats.org/officeDocument/2006/relationships/image" Target="/ppt/media/image3.png" Id="R1436097f590649f2" /><Relationship Type="http://schemas.openxmlformats.org/officeDocument/2006/relationships/notesSlide" Target="/ppt/notesSlides/notesSlide7.xml" Id="Rf09ed805a257403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a5701af2e624709" /><Relationship Type="http://schemas.openxmlformats.org/officeDocument/2006/relationships/image" Target="/ppt/media/image2.png" Id="R80ee5c18ac274913" /><Relationship Type="http://schemas.openxmlformats.org/officeDocument/2006/relationships/image" Target="/ppt/media/image3.png" Id="Raae098f3ee114a5c" /><Relationship Type="http://schemas.openxmlformats.org/officeDocument/2006/relationships/notesSlide" Target="/ppt/notesSlides/notesSlide8.xml" Id="R9441c22282ca402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3592549115f47f8" /><Relationship Type="http://schemas.openxmlformats.org/officeDocument/2006/relationships/image" Target="/ppt/media/image2.png" Id="R453b5afe91724089" /><Relationship Type="http://schemas.openxmlformats.org/officeDocument/2006/relationships/image" Target="/ppt/media/image3.png" Id="Rd74fe4fb268f4a28" /><Relationship Type="http://schemas.openxmlformats.org/officeDocument/2006/relationships/notesSlide" Target="/ppt/notesSlides/notesSlide9.xml" Id="R14a13aa5528c4ed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30c6c7c93794460e" /><Relationship Type="http://schemas.openxmlformats.org/officeDocument/2006/relationships/image" Target="/ppt/media/image2.png" Id="R8ac8e03e7d4f4bed" /><Relationship Type="http://schemas.openxmlformats.org/officeDocument/2006/relationships/image" Target="/ppt/media/image4.png" Id="R815f1c97cb6f40ba" /><Relationship Type="http://schemas.openxmlformats.org/officeDocument/2006/relationships/image" Target="/ppt/media/image7.png" Id="Ra1a3d4805f8646aa" /><Relationship Type="http://schemas.openxmlformats.org/officeDocument/2006/relationships/image" Target="/ppt/media/image3.png" Id="R24b767b763a04a6e" /><Relationship Type="http://schemas.openxmlformats.org/officeDocument/2006/relationships/notesSlide" Target="/ppt/notesSlides/notesSlide10.xml" Id="R67162ab59fcd440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57b7cd4af3c43a9" /><Relationship Type="http://schemas.openxmlformats.org/officeDocument/2006/relationships/image" Target="/ppt/media/image2.png" Id="Ra8963bdbb945461d" /><Relationship Type="http://schemas.openxmlformats.org/officeDocument/2006/relationships/image" Target="/ppt/media/image3.png" Id="R8b38948c537b4d46" /><Relationship Type="http://schemas.openxmlformats.org/officeDocument/2006/relationships/notesSlide" Target="/ppt/notesSlides/notesSlide11.xml" Id="Rbc11bda944214d0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7d0250f69a4478a" /><Relationship Type="http://schemas.openxmlformats.org/officeDocument/2006/relationships/image" Target="/ppt/media/image2.png" Id="Re882b45f746f4352" /><Relationship Type="http://schemas.openxmlformats.org/officeDocument/2006/relationships/image" Target="/ppt/media/image3.png" Id="R50a10d10575e45a2" /><Relationship Type="http://schemas.openxmlformats.org/officeDocument/2006/relationships/notesSlide" Target="/ppt/notesSlides/notesSlide12.xml" Id="R78f6f44b2c3e486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5703e90ba6647c1" /><Relationship Type="http://schemas.openxmlformats.org/officeDocument/2006/relationships/image" Target="/ppt/media/image2.png" Id="Rdf50b7359ec34c2b" /><Relationship Type="http://schemas.openxmlformats.org/officeDocument/2006/relationships/image" Target="/ppt/media/image3.png" Id="R20c5a35b16974bdf" /><Relationship Type="http://schemas.openxmlformats.org/officeDocument/2006/relationships/notesSlide" Target="/ppt/notesSlides/notesSlide13.xml" Id="Re8fdb99f3930431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665860d36ff4f3f" /><Relationship Type="http://schemas.openxmlformats.org/officeDocument/2006/relationships/image" Target="/ppt/media/image2.png" Id="R1e8709a18e674973" /><Relationship Type="http://schemas.openxmlformats.org/officeDocument/2006/relationships/image" Target="/ppt/media/image3.png" Id="R667908bcfd5e4db4" /><Relationship Type="http://schemas.openxmlformats.org/officeDocument/2006/relationships/notesSlide" Target="/ppt/notesSlides/notesSlide14.xml" Id="R7d510f1c26a44fa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eb6b27bbf41442a" /><Relationship Type="http://schemas.openxmlformats.org/officeDocument/2006/relationships/image" Target="/ppt/media/image2.png" Id="Rdfd3fc5a0dbc40f5" /><Relationship Type="http://schemas.openxmlformats.org/officeDocument/2006/relationships/image" Target="/ppt/media/image3.png" Id="R1bfe82b5b50846fc" /><Relationship Type="http://schemas.openxmlformats.org/officeDocument/2006/relationships/notesSlide" Target="/ppt/notesSlides/notesSlide15.xml" Id="R0e93269824fe4ad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67f74c30a5a460d" /><Relationship Type="http://schemas.openxmlformats.org/officeDocument/2006/relationships/image" Target="/ppt/media/image2.png" Id="Rfcae634afa5b4608" /><Relationship Type="http://schemas.openxmlformats.org/officeDocument/2006/relationships/image" Target="/ppt/media/image3.png" Id="R3ea9863bfe644655" /><Relationship Type="http://schemas.openxmlformats.org/officeDocument/2006/relationships/notesSlide" Target="/ppt/notesSlides/notesSlide16.xml" Id="Rcf6d0bd78f3641b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460cd70060ca43bc" /><Relationship Type="http://schemas.openxmlformats.org/officeDocument/2006/relationships/image" Target="/ppt/media/image2.png" Id="R4385fcd80e534ad2" /><Relationship Type="http://schemas.openxmlformats.org/officeDocument/2006/relationships/image" Target="/ppt/media/image4.png" Id="R3e6b6af99d124713" /><Relationship Type="http://schemas.openxmlformats.org/officeDocument/2006/relationships/image" Target="/ppt/media/image8.png" Id="R3239b0e64a964403" /><Relationship Type="http://schemas.openxmlformats.org/officeDocument/2006/relationships/image" Target="/ppt/media/image3.png" Id="R1fd4f3f83ab34e99" /><Relationship Type="http://schemas.openxmlformats.org/officeDocument/2006/relationships/notesSlide" Target="/ppt/notesSlides/notesSlide17.xml" Id="Re7b33ac12def4b1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63098fa73ae34ed9" /><Relationship Type="http://schemas.openxmlformats.org/officeDocument/2006/relationships/image" Target="/ppt/media/image2.png" Id="Re5838639c6f54f74" /><Relationship Type="http://schemas.openxmlformats.org/officeDocument/2006/relationships/image" Target="/ppt/media/image9.png" Id="R4c04003db99c478c" /><Relationship Type="http://schemas.openxmlformats.org/officeDocument/2006/relationships/image" Target="/ppt/media/image10.png" Id="R163a57b654524a7a" /><Relationship Type="http://schemas.openxmlformats.org/officeDocument/2006/relationships/image" Target="/ppt/media/image3.png" Id="R61645f78f44a489e" /><Relationship Type="http://schemas.openxmlformats.org/officeDocument/2006/relationships/notesSlide" Target="/ppt/notesSlides/notesSlide18.xml" Id="R526ed08995bb49b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383e9b19740647c0" /><Relationship Type="http://schemas.openxmlformats.org/officeDocument/2006/relationships/image" Target="/ppt/media/image2.png" Id="R2252721e6ed54247" /><Relationship Type="http://schemas.openxmlformats.org/officeDocument/2006/relationships/image" Target="/ppt/media/image9.png" Id="R9831594cb459401b" /><Relationship Type="http://schemas.openxmlformats.org/officeDocument/2006/relationships/image" Target="/ppt/media/image11.png" Id="Re1f041ef8baa4315" /><Relationship Type="http://schemas.openxmlformats.org/officeDocument/2006/relationships/image" Target="/ppt/media/image3.png" Id="R9211b27ff3cd4881" /><Relationship Type="http://schemas.openxmlformats.org/officeDocument/2006/relationships/notesSlide" Target="/ppt/notesSlides/notesSlide19.xml" Id="R39857a74a16c420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5fd7bb83475448ca" /><Relationship Type="http://schemas.openxmlformats.org/officeDocument/2006/relationships/image" Target="/ppt/media/image2.png" Id="R1ad63c0befe1451b" /><Relationship Type="http://schemas.openxmlformats.org/officeDocument/2006/relationships/image" Target="/ppt/media/image9.png" Id="Rb6fa67cae50f4a58" /><Relationship Type="http://schemas.openxmlformats.org/officeDocument/2006/relationships/image" Target="/ppt/media/image10.png" Id="Rf293546b28724900" /><Relationship Type="http://schemas.openxmlformats.org/officeDocument/2006/relationships/image" Target="/ppt/media/image3.png" Id="Raa260f175b09485f" /><Relationship Type="http://schemas.openxmlformats.org/officeDocument/2006/relationships/notesSlide" Target="/ppt/notesSlides/notesSlide20.xml" Id="R27666e7ec50c43c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ef6e1da6fb2d4b26" /><Relationship Type="http://schemas.openxmlformats.org/officeDocument/2006/relationships/image" Target="/ppt/media/image2.png" Id="R463f07d06b264de2" /><Relationship Type="http://schemas.openxmlformats.org/officeDocument/2006/relationships/image" Target="/ppt/media/image3.png" Id="Rca19b386b85442fe" /><Relationship Type="http://schemas.openxmlformats.org/officeDocument/2006/relationships/notesSlide" Target="/ppt/notesSlides/notesSlide21.xml" Id="Rac046226f39c4d0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5a226fef4aaa430b" /><Relationship Type="http://schemas.openxmlformats.org/officeDocument/2006/relationships/image" Target="/ppt/media/image2.png" Id="R23586023d2204fe4" /><Relationship Type="http://schemas.openxmlformats.org/officeDocument/2006/relationships/image" Target="/ppt/media/image3.png" Id="Rdca3b3f2a609470b" /><Relationship Type="http://schemas.openxmlformats.org/officeDocument/2006/relationships/notesSlide" Target="/ppt/notesSlides/notesSlide22.xml" Id="R2b8ba0f21c7343b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71c82d857b674892" /><Relationship Type="http://schemas.openxmlformats.org/officeDocument/2006/relationships/image" Target="/ppt/media/image2.png" Id="R43b0cf23c3ce4730" /><Relationship Type="http://schemas.openxmlformats.org/officeDocument/2006/relationships/image" Target="/ppt/media/image3.png" Id="R777e8bcba861479d" /><Relationship Type="http://schemas.openxmlformats.org/officeDocument/2006/relationships/notesSlide" Target="/ppt/notesSlides/notesSlide23.xml" Id="R097497f3b4ef4d7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e5ce7dde1d474d00" /><Relationship Type="http://schemas.openxmlformats.org/officeDocument/2006/relationships/image" Target="/ppt/media/image2.png" Id="R68b103f38f0942fa" /><Relationship Type="http://schemas.openxmlformats.org/officeDocument/2006/relationships/image" Target="/ppt/media/image3.png" Id="R886504f3a2274ca7" /><Relationship Type="http://schemas.openxmlformats.org/officeDocument/2006/relationships/notesSlide" Target="/ppt/notesSlides/notesSlide24.xml" Id="R329da4c291d341d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94374a0870e640f7" /><Relationship Type="http://schemas.openxmlformats.org/officeDocument/2006/relationships/image" Target="/ppt/media/image2.png" Id="Ra80e672af9c24b9d" /><Relationship Type="http://schemas.openxmlformats.org/officeDocument/2006/relationships/image" Target="/ppt/media/image3.png" Id="R544c482902d94a55" /><Relationship Type="http://schemas.openxmlformats.org/officeDocument/2006/relationships/notesSlide" Target="/ppt/notesSlides/notesSlide25.xml" Id="Rb0c26d7f2bfe468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f361954ccf4c449c" /><Relationship Type="http://schemas.openxmlformats.org/officeDocument/2006/relationships/image" Target="/ppt/media/image2.png" Id="Rc8e5ef4e68a640c5" /><Relationship Type="http://schemas.openxmlformats.org/officeDocument/2006/relationships/image" Target="/ppt/media/image3.png" Id="R8b2d600170a94b8f" /><Relationship Type="http://schemas.openxmlformats.org/officeDocument/2006/relationships/notesSlide" Target="/ppt/notesSlides/notesSlide26.xml" Id="R06d4bd88d7b9424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18f25872a3f84dcf" /><Relationship Type="http://schemas.openxmlformats.org/officeDocument/2006/relationships/image" Target="/ppt/media/image2.png" Id="Rc4e2007eebc64808" /><Relationship Type="http://schemas.openxmlformats.org/officeDocument/2006/relationships/image" Target="/ppt/media/image4.png" Id="R7e9f01154527435a" /><Relationship Type="http://schemas.openxmlformats.org/officeDocument/2006/relationships/image" Target="/ppt/media/image12.png" Id="Rea4fd8788dd44701" /><Relationship Type="http://schemas.openxmlformats.org/officeDocument/2006/relationships/image" Target="/ppt/media/image3.png" Id="Rf6a86dc5f0e04e4f" /><Relationship Type="http://schemas.openxmlformats.org/officeDocument/2006/relationships/notesSlide" Target="/ppt/notesSlides/notesSlide27.xml" Id="R46ce500f0abc4b1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13507ccac7e64cc9" /><Relationship Type="http://schemas.openxmlformats.org/officeDocument/2006/relationships/image" Target="/ppt/media/image2.png" Id="R7686f468b96f4a0c" /><Relationship Type="http://schemas.openxmlformats.org/officeDocument/2006/relationships/image" Target="/ppt/media/image3.png" Id="R9286a93660434060" /><Relationship Type="http://schemas.openxmlformats.org/officeDocument/2006/relationships/notesSlide" Target="/ppt/notesSlides/notesSlide28.xml" Id="R1e304a74200a446f"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bb9ed33c03d44f43" /><Relationship Type="http://schemas.openxmlformats.org/officeDocument/2006/relationships/image" Target="/ppt/media/image2.png" Id="R3951cbe7c42a4e57" /><Relationship Type="http://schemas.openxmlformats.org/officeDocument/2006/relationships/chart" Target="/ppt/slides/charts/chart2.xml" Id="R652e2562f9c84cf9" /><Relationship Type="http://schemas.openxmlformats.org/officeDocument/2006/relationships/image" Target="/ppt/media/image3.png" Id="R20ad8f81e5c7414d" /><Relationship Type="http://schemas.openxmlformats.org/officeDocument/2006/relationships/notesSlide" Target="/ppt/notesSlides/notesSlide29.xml" Id="R88d4110d3e8f4ca8"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c96eb4b5d59a4eb5" /><Relationship Type="http://schemas.openxmlformats.org/officeDocument/2006/relationships/image" Target="/ppt/media/image2.png" Id="R910784829db649b9" /><Relationship Type="http://schemas.openxmlformats.org/officeDocument/2006/relationships/image" Target="/ppt/media/image13.png" Id="R61cb52274df44a18" /><Relationship Type="http://schemas.openxmlformats.org/officeDocument/2006/relationships/image" Target="/ppt/media/image14.png" Id="R6ed8ec2cfc7e480f" /><Relationship Type="http://schemas.openxmlformats.org/officeDocument/2006/relationships/image" Target="/ppt/media/image3.png" Id="R594817496ec141b5" /><Relationship Type="http://schemas.openxmlformats.org/officeDocument/2006/relationships/notesSlide" Target="/ppt/notesSlides/notesSlide30.xml" Id="R12a40e53a83f43d0"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0b0bab83af734348" /><Relationship Type="http://schemas.openxmlformats.org/officeDocument/2006/relationships/image" Target="/ppt/media/image2.png" Id="R1549d1ecf1e24cf6" /><Relationship Type="http://schemas.openxmlformats.org/officeDocument/2006/relationships/image" Target="/ppt/media/image4.png" Id="Rb3e028e1824b4a35" /><Relationship Type="http://schemas.openxmlformats.org/officeDocument/2006/relationships/image" Target="/ppt/media/image15.png" Id="Re65da5c1272345f0" /><Relationship Type="http://schemas.openxmlformats.org/officeDocument/2006/relationships/image" Target="/ppt/media/image3.png" Id="Rcbf614a736d4462e" /><Relationship Type="http://schemas.openxmlformats.org/officeDocument/2006/relationships/notesSlide" Target="/ppt/notesSlides/notesSlide31.xml" Id="R0b680a0870b74dc1"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8a94342dac2749cd" /><Relationship Type="http://schemas.openxmlformats.org/officeDocument/2006/relationships/image" Target="/ppt/media/image2.png" Id="R3f0e0de5204d4a10" /><Relationship Type="http://schemas.openxmlformats.org/officeDocument/2006/relationships/image" Target="/ppt/media/image3.png" Id="Rb99fd3bf9e1b4abd" /><Relationship Type="http://schemas.openxmlformats.org/officeDocument/2006/relationships/notesSlide" Target="/ppt/notesSlides/notesSlide32.xml" Id="R81e9ec50159a4d84"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0ed5005fa6ed4b67" /><Relationship Type="http://schemas.openxmlformats.org/officeDocument/2006/relationships/image" Target="/ppt/media/image2.png" Id="R0b720793b71546e3" /><Relationship Type="http://schemas.openxmlformats.org/officeDocument/2006/relationships/image" Target="/ppt/media/image3.png" Id="Rda45ff7b3a334f4b" /><Relationship Type="http://schemas.openxmlformats.org/officeDocument/2006/relationships/notesSlide" Target="/ppt/notesSlides/notesSlide33.xml" Id="R7fd8b73a0a3c4883"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34c219bad74b46fc" /><Relationship Type="http://schemas.openxmlformats.org/officeDocument/2006/relationships/image" Target="/ppt/media/image2.png" Id="Rec3efa8e5c9843de" /><Relationship Type="http://schemas.openxmlformats.org/officeDocument/2006/relationships/image" Target="/ppt/media/image3.png" Id="Rdfe95d5aa9974eb7" /><Relationship Type="http://schemas.openxmlformats.org/officeDocument/2006/relationships/notesSlide" Target="/ppt/notesSlides/notesSlide34.xml" Id="R64892306e2464ffb"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3f1ad3c93eba4541" /><Relationship Type="http://schemas.openxmlformats.org/officeDocument/2006/relationships/image" Target="/ppt/media/image2.png" Id="R2ddf8df408ad4158" /><Relationship Type="http://schemas.openxmlformats.org/officeDocument/2006/relationships/image" Target="/ppt/media/image3.png" Id="R524e218bf4944255" /><Relationship Type="http://schemas.openxmlformats.org/officeDocument/2006/relationships/notesSlide" Target="/ppt/notesSlides/notesSlide35.xml" Id="R9ebe5b241d544177"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08d46ecb36bf42ee" /><Relationship Type="http://schemas.openxmlformats.org/officeDocument/2006/relationships/image" Target="/ppt/media/image2.png" Id="Rac11c0f0859d4c48" /><Relationship Type="http://schemas.openxmlformats.org/officeDocument/2006/relationships/image" Target="/ppt/media/image3.png" Id="R5b5a1a68b8384b20" /><Relationship Type="http://schemas.openxmlformats.org/officeDocument/2006/relationships/notesSlide" Target="/ppt/notesSlides/notesSlide36.xml" Id="Re8add446ae5d4fa0"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e92e99d3a9ea4112" /><Relationship Type="http://schemas.openxmlformats.org/officeDocument/2006/relationships/image" Target="/ppt/media/image2.png" Id="R37a8fd0619b84e26" /><Relationship Type="http://schemas.openxmlformats.org/officeDocument/2006/relationships/image" Target="/ppt/media/image3.png" Id="R85dc079ea04f4967" /><Relationship Type="http://schemas.openxmlformats.org/officeDocument/2006/relationships/notesSlide" Target="/ppt/notesSlides/notesSlide37.xml" Id="Re316ab04643343c1"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5f5bc26385e24cde" /><Relationship Type="http://schemas.openxmlformats.org/officeDocument/2006/relationships/image" Target="/ppt/media/image2.png" Id="R73882785712d4ae6" /><Relationship Type="http://schemas.openxmlformats.org/officeDocument/2006/relationships/image" Target="/ppt/media/image3.png" Id="R55b7c4b95694446b" /><Relationship Type="http://schemas.openxmlformats.org/officeDocument/2006/relationships/notesSlide" Target="/ppt/notesSlides/notesSlide38.xml" Id="R37043ae280a64f31"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83235e1ac3a14c68" /><Relationship Type="http://schemas.openxmlformats.org/officeDocument/2006/relationships/image" Target="/ppt/media/image2.png" Id="Rb0dfa071df8845c1" /><Relationship Type="http://schemas.openxmlformats.org/officeDocument/2006/relationships/image" Target="/ppt/media/image3.png" Id="R1aa92e3b7eba4c87" /><Relationship Type="http://schemas.openxmlformats.org/officeDocument/2006/relationships/notesSlide" Target="/ppt/notesSlides/notesSlide39.xml" Id="R9720294eac404a1e"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1928026f0eec471d" /><Relationship Type="http://schemas.openxmlformats.org/officeDocument/2006/relationships/image" Target="/ppt/media/image2.png" Id="R1516f2cb934c4694" /><Relationship Type="http://schemas.openxmlformats.org/officeDocument/2006/relationships/image" Target="/ppt/media/image3.png" Id="Re48a7d2b532f49e8" /><Relationship Type="http://schemas.openxmlformats.org/officeDocument/2006/relationships/notesSlide" Target="/ppt/notesSlides/notesSlide40.xml" Id="Rdae4436bc73d475f"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2d04caa0ad414596" /><Relationship Type="http://schemas.openxmlformats.org/officeDocument/2006/relationships/image" Target="/ppt/media/image2.png" Id="R6384fa39f5ad4272" /><Relationship Type="http://schemas.openxmlformats.org/officeDocument/2006/relationships/image" Target="/ppt/media/image16.png" Id="R29455b1388b34856" /><Relationship Type="http://schemas.openxmlformats.org/officeDocument/2006/relationships/image" Target="/ppt/media/image3.png" Id="Rc7ee7553cc47497e" /><Relationship Type="http://schemas.openxmlformats.org/officeDocument/2006/relationships/notesSlide" Target="/ppt/notesSlides/notesSlide41.xml" Id="R26c2b2172bf14edd" /></Relationships>
</file>

<file path=ppt/slides/_rels/slide42.xml.rels>&#65279;<?xml version="1.0" encoding="utf-8"?><Relationships xmlns="http://schemas.openxmlformats.org/package/2006/relationships"><Relationship Type="http://schemas.openxmlformats.org/officeDocument/2006/relationships/slideLayout" Target="/ppt/slideLayouts/slideLayout2.xml" Id="R3c0cf6ccfbe54905" /><Relationship Type="http://schemas.openxmlformats.org/officeDocument/2006/relationships/image" Target="/ppt/media/image.gif" Id="Rd2e9c669930f440b" /><Relationship Type="http://schemas.openxmlformats.org/officeDocument/2006/relationships/image" Target="/ppt/media/image2.png" Id="Rd6a4b8150b974081" /><Relationship Type="http://schemas.openxmlformats.org/officeDocument/2006/relationships/image" Target="/ppt/media/image3.png" Id="R02500a5c82f6428f" /><Relationship Type="http://schemas.openxmlformats.org/officeDocument/2006/relationships/notesSlide" Target="/ppt/notesSlides/notesSlide42.xml" Id="Rba8d486387aa43f7" /></Relationships>
</file>

<file path=ppt/slides/charts/chart1.xml><?xml version="1.0" encoding="utf-8"?>
<c:chartSpace xmlns:c="http://schemas.openxmlformats.org/drawingml/2006/chart">
  <c:lang val="en-US"/>
  <c:roundedCorners val="1"/>
  <c:style val="2"/>
  <c:chart>
    <c:title>
      <c:tx>
        <c:rich>
          <a:bodyPr xmlns:a="http://schemas.openxmlformats.org/drawingml/2006/main"/>
          <a:lstStyle xmlns:a="http://schemas.openxmlformats.org/drawingml/2006/main"/>
          <a:p xmlns:a="http://schemas.openxmlformats.org/drawingml/2006/main">
            <a:r>
              <a:rPr sz="1875" b="1">
                <a:solidFill>
                  <a:srgbClr val="1E3A5F"/>
                </a:solidFill>
                <a:latin typeface="Arial"/>
                <a:ea typeface="Arial"/>
                <a:cs typeface="Arial"/>
              </a:rPr>
              <a:t>Average AUC on participating sites</a:t>
            </a:r>
          </a:p>
        </c:rich>
      </c:tx>
      <c:overlay val="0"/>
      <c:txPr>
        <a:bodyPr xmlns:a="http://schemas.openxmlformats.org/drawingml/2006/main" anchorCtr="1"/>
        <a:lstStyle xmlns:a="http://schemas.openxmlformats.org/drawingml/2006/main"/>
        <a:p xmlns:a="http://schemas.openxmlformats.org/drawingml/2006/main">
          <a:pPr>
            <a:defRPr sz="1875" b="1">
              <a:solidFill>
                <a:srgbClr val="1E3A5F"/>
              </a:solidFill>
              <a:latin typeface="Arial"/>
              <a:ea typeface="Arial"/>
              <a:cs typeface="Arial"/>
            </a:defRPr>
          </a:pPr>
        </a:p>
      </c:txPr>
    </c:title>
    <c:autoTitleDeleted val="0"/>
    <c:plotArea>
      <c:barChart>
        <c:barDir val="col"/>
        <c:grouping val="clustered"/>
        <c:varyColors val="1"/>
        <c:ser>
          <c:idx val="0"/>
          <c:order val="0"/>
          <c:tx>
            <c:v>AUC</c:v>
          </c:tx>
          <c:spPr>
            <a:solidFill xmlns:a="http://schemas.openxmlformats.org/drawingml/2006/main">
              <a:srgbClr val="1E3A5F"/>
            </a:solidFill>
          </c:spPr>
          <c:dPt>
            <c:idx val="1"/>
            <c:invertIfNegative val="0"/>
            <c:spPr>
              <a:solidFill xmlns:a="http://schemas.openxmlformats.org/drawingml/2006/main">
                <a:srgbClr val="008A46"/>
              </a:solidFill>
            </c:spPr>
          </c:dPt>
          <c:dLbls>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1500"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cat>
            <c:strLit>
              <c:ptCount val="2"/>
              <c:pt idx="0">
                <c:v>Local models</c:v>
              </c:pt>
              <c:pt idx="1">
                <c:v>EXAM federated model</c:v>
              </c:pt>
            </c:strLit>
          </c:cat>
          <c:val>
            <c:numLit>
              <c:formatCode>0.000</c:formatCode>
              <c:ptCount val="2"/>
              <c:pt idx="0">
                <c:v>0.795</c:v>
              </c:pt>
              <c:pt idx="1">
                <c:v>0.92</c:v>
              </c:pt>
            </c:numLit>
          </c:val>
        </c:ser>
        <c:dLbls>
          <c:dLblPos val="outEnd"/>
          <c:showLegendKey val="0"/>
          <c:showVal val="1"/>
          <c:showCatName val="0"/>
          <c:showSerName val="0"/>
          <c:showPercent val="0"/>
          <c:showBubbleSize val="0"/>
        </c:dLbls>
        <c:gapWidth val="70"/>
        <c:axId val="48650112"/>
        <c:axId val="48672768"/>
      </c:barChart>
      <c:catAx>
        <c:axId val="48650112"/>
        <c:scaling>
          <c:orientation val="minMax"/>
        </c:scaling>
        <c:delete val="0"/>
        <c:axPos val="b"/>
        <c:numFmt formatCode="General" sourceLinked="1"/>
        <c:majorTickMark val="none"/>
        <c:minorTickMark val="none"/>
        <c:tickLblPos val="nextTo"/>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1425">
                <a:solidFill>
                  <a:srgbClr val="1F2937"/>
                </a:solidFill>
                <a:latin typeface="Arial"/>
                <a:ea typeface="Arial"/>
                <a:cs typeface="Arial"/>
              </a:defRPr>
            </a:pPr>
          </a:p>
        </c:txPr>
        <c:crossAx val="48672768"/>
        <c:crosses val="autoZero"/>
        <c:lblOffset val="100"/>
      </c:catAx>
      <c:valAx>
        <c:axId val="48672768"/>
        <c:scaling>
          <c:orientation val="minMax"/>
          <c:max val="1"/>
          <c:min val="0.7"/>
        </c:scaling>
        <c:delete val="0"/>
        <c:axPos val="l"/>
        <c:majorGridlines>
          <c:spPr>
            <a:ln xmlns:a="http://schemas.openxmlformats.org/drawingml/2006/main" w="9525">
              <a:solidFill>
                <a:srgbClr val="E2E8F0"/>
              </a:solidFill>
              <a:prstDash val="solid"/>
            </a:ln>
          </c:spPr>
        </c:majorGridlines>
        <c:title>
          <c:tx>
            <c:rich>
              <a:bodyPr xmlns:a="http://schemas.openxmlformats.org/drawingml/2006/main"/>
              <a:lstStyle xmlns:a="http://schemas.openxmlformats.org/drawingml/2006/main"/>
              <a:p xmlns:a="http://schemas.openxmlformats.org/drawingml/2006/main">
                <a:r>
                  <a:rPr sz="1350">
                    <a:solidFill>
                      <a:srgbClr val="475569"/>
                    </a:solidFill>
                    <a:latin typeface="Arial"/>
                    <a:ea typeface="Arial"/>
                    <a:cs typeface="Arial"/>
                  </a:rPr>
                  <a:t>AUC</a:t>
                </a:r>
              </a:p>
            </c:rich>
          </c:tx>
          <c:overlay val="0"/>
          <c:txPr>
            <a:bodyPr xmlns:a="http://schemas.openxmlformats.org/drawingml/2006/main" anchorCtr="1"/>
            <a:lstStyle xmlns:a="http://schemas.openxmlformats.org/drawingml/2006/main"/>
            <a:p xmlns:a="http://schemas.openxmlformats.org/drawingml/2006/main">
              <a:pPr>
                <a:defRPr sz="1350">
                  <a:solidFill>
                    <a:srgbClr val="475569"/>
                  </a:solidFill>
                  <a:latin typeface="Arial"/>
                  <a:ea typeface="Arial"/>
                  <a:cs typeface="Arial"/>
                </a:defRPr>
              </a:pPr>
            </a:p>
          </c:txPr>
        </c:title>
        <c:numFmt formatCode="0.000" sourceLinked="1"/>
        <c:majorTickMark val="none"/>
        <c:minorTickMark val="none"/>
        <c:tickLblPos val="nextTo"/>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1200">
                <a:solidFill>
                  <a:srgbClr val="475569"/>
                </a:solidFill>
                <a:latin typeface="Arial"/>
                <a:ea typeface="Arial"/>
                <a:cs typeface="Arial"/>
              </a:defRPr>
            </a:pPr>
          </a:p>
        </c:txPr>
        <c:crossAx val="48650112"/>
        <c:crosses val="autoZero"/>
        <c:crossBetween val="between"/>
        <c:majorUnit val="0.0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roundedCorners val="1"/>
  <c:style val="2"/>
  <c:chart>
    <c:title>
      <c:tx>
        <c:rich>
          <a:bodyPr xmlns:a="http://schemas.openxmlformats.org/drawingml/2006/main"/>
          <a:lstStyle xmlns:a="http://schemas.openxmlformats.org/drawingml/2006/main"/>
          <a:p xmlns:a="http://schemas.openxmlformats.org/drawingml/2006/main">
            <a:r>
              <a:rPr sz="1350" b="1">
                <a:solidFill>
                  <a:srgbClr val="17365D"/>
                </a:solidFill>
                <a:latin typeface="Arial"/>
                <a:ea typeface="Arial"/>
                <a:cs typeface="Arial"/>
              </a:rPr>
              <a:t>Actual encrypted upload reduction (%)</a:t>
            </a:r>
          </a:p>
        </c:rich>
      </c:tx>
      <c:overlay val="0"/>
      <c:txPr>
        <a:bodyPr xmlns:a="http://schemas.openxmlformats.org/drawingml/2006/main" anchorCtr="1"/>
        <a:lstStyle xmlns:a="http://schemas.openxmlformats.org/drawingml/2006/main"/>
        <a:p xmlns:a="http://schemas.openxmlformats.org/drawingml/2006/main">
          <a:pPr>
            <a:defRPr sz="1350" b="1">
              <a:solidFill>
                <a:srgbClr val="17365D"/>
              </a:solidFill>
              <a:latin typeface="Arial"/>
              <a:ea typeface="Arial"/>
              <a:cs typeface="Arial"/>
            </a:defRPr>
          </a:pPr>
        </a:p>
      </c:txPr>
    </c:title>
    <c:autoTitleDeleted val="0"/>
    <c:plotArea>
      <c:barChart>
        <c:barDir val="bar"/>
        <c:grouping val="clustered"/>
        <c:varyColors val="0"/>
        <c:ser>
          <c:idx val="0"/>
          <c:order val="0"/>
          <c:tx>
            <c:v>Reduction</c:v>
          </c:tx>
          <c:spPr>
            <a:solidFill xmlns:a="http://schemas.openxmlformats.org/drawingml/2006/main">
              <a:srgbClr val="00843D"/>
            </a:solidFill>
          </c:spPr>
          <c:dLbls>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975"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cat>
            <c:strLit>
              <c:ptCount val="5"/>
              <c:pt idx="0">
                <c:v>DP-FedAvg</c:v>
              </c:pt>
              <c:pt idx="1">
                <c:v>CAABC-FL</c:v>
              </c:pt>
              <c:pt idx="2">
                <c:v>Fed-EF-SGD</c:v>
              </c:pt>
              <c:pt idx="3">
                <c:v>Fed-EF-AMS</c:v>
              </c:pt>
              <c:pt idx="4">
                <c:v>SoteriaFL</c:v>
              </c:pt>
            </c:strLit>
          </c:cat>
          <c:val>
            <c:numLit>
              <c:formatCode>0.0</c:formatCode>
              <c:ptCount val="5"/>
              <c:pt idx="0">
                <c:v>0</c:v>
              </c:pt>
              <c:pt idx="1">
                <c:v>55.999</c:v>
              </c:pt>
              <c:pt idx="2">
                <c:v>0.0067</c:v>
              </c:pt>
              <c:pt idx="3">
                <c:v>0.0033</c:v>
              </c:pt>
              <c:pt idx="4">
                <c:v>0.0004</c:v>
              </c:pt>
            </c:numLit>
          </c:val>
        </c:ser>
        <c:dLbls>
          <c:dLblPos val="outEnd"/>
          <c:showLegendKey val="0"/>
          <c:showVal val="1"/>
          <c:showCatName val="0"/>
          <c:showSerName val="0"/>
          <c:showPercent val="0"/>
          <c:showBubbleSize val="0"/>
        </c:dLbls>
        <c:gapWidth val="45"/>
        <c:axId val="48650112"/>
        <c:axId val="48672768"/>
      </c:barChart>
      <c:catAx>
        <c:axId val="48650112"/>
        <c:scaling>
          <c:orientation val="minMax"/>
        </c:scaling>
        <c:delete val="0"/>
        <c:axPos val="l"/>
        <c:majorGridlines>
          <c:spPr>
            <a:ln xmlns:a="http://schemas.openxmlformats.org/drawingml/2006/main" w="9525">
              <a:solidFill>
                <a:srgbClr val="E2E8F0"/>
              </a:solidFill>
              <a:prstDash val="solid"/>
            </a:ln>
          </c:spPr>
        </c:majorGridlines>
        <c:numFmt formatCode="General" sourceLinked="1"/>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72768"/>
        <c:crosses val="autoZero"/>
        <c:lblOffset val="100"/>
      </c:catAx>
      <c:valAx>
        <c:axId val="48672768"/>
        <c:scaling>
          <c:orientation val="minMax"/>
        </c:scaling>
        <c:delete val="0"/>
        <c:axPos val="b"/>
        <c:numFmt formatCode="0.0" sourceLinked="1"/>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50112"/>
        <c:crosses val="autoZero"/>
        <c:crossBetween val="between"/>
      </c:valAx>
    </c:plotArea>
    <c:plotVisOnly val="1"/>
  </c:chart>
  <c:spPr>
    <a:solidFill xmlns:a="http://schemas.openxmlformats.org/drawingml/2006/main">
      <a:srgbClr val="FFFFFF"/>
    </a:solidFill>
    <a:ln xmlns:a="http://schemas.openxmlformats.org/drawingml/2006/main" w="9525">
      <a:solidFill>
        <a:srgbClr val="B8C4CE"/>
      </a:solidFill>
      <a:prstDash val="solid"/>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85" name="Google Shape;173;p25"/>
          <p:cNvPicPr>
            <a:picLocks xmlns:a="http://schemas.openxmlformats.org/drawingml/2006/main" noChangeAspect="1"/>
          </p:cNvPicPr>
          <p:nvPr/>
        </p:nvPicPr>
        <p:blipFill rotWithShape="1">
          <a:blip xmlns:r="http://schemas.openxmlformats.org/officeDocument/2006/relationships" xmlns:a="http://schemas.openxmlformats.org/drawingml/2006/main" r:embed="Rf44d2ac0f6714f8e">
            <a:alphaModFix amt="25000"/>
          </a:blip>
          <a:srcRect xmlns:a="http://schemas.openxmlformats.org/drawingml/2006/main" l="0" t="0" r="0" b="0"/>
          <a:stretch xmlns:a="http://schemas.openxmlformats.org/drawingml/2006/main"/>
        </p:blipFill>
        <p:spPr>
          <a:xfrm xmlns:a="http://schemas.openxmlformats.org/drawingml/2006/main">
            <a:off x="249382" y="251522"/>
            <a:ext cx="11684000" cy="6354956"/>
          </a:xfrm>
          <a:prstGeom xmlns:a="http://schemas.openxmlformats.org/drawingml/2006/main" prst="rect">
            <a:avLst/>
          </a:prstGeom>
          <a:ln xmlns:a="http://schemas.openxmlformats.org/drawingml/2006/main">
            <a:noFill/>
          </a:ln>
          <a:effectLst xmlns:a="http://schemas.openxmlformats.org/drawingml/2006/main">
            <a:outerShdw blurRad="1003300" sx="89000" sy="89000" algn="ctr" rotWithShape="0">
              <a:schemeClr val="lt1">
                <a:alpha val="3921"/>
              </a:schemeClr>
            </a:outerShdw>
          </a:effectLst>
        </p:spPr>
      </p:pic>
      <p:sp>
        <p:nvSpPr>
          <p:cNvPr id="175" name="Google Shape;175;p25">
            <a:extLst xmlns:a="http://schemas.openxmlformats.org/drawingml/2006/main">
              <a:ext uri="{FF2B5EF4-FFF2-40B4-BE49-F238E27FC236}">
                <a16:creationId xmlns:a16="http://schemas.microsoft.com/office/drawing/2014/main" id="{D25FF023-60FE-468B-940A-B4DA65D2FC5E}"/>
              </a:ext>
            </a:extLst>
          </p:cNvPr>
          <p:cNvSpPr>
            <a:spLocks xmlns:a="http://schemas.openxmlformats.org/drawingml/2006/main" noGrp="1"/>
          </p:cNvSpPr>
          <p:nvPr/>
        </p:nvSpPr>
        <p:spPr>
          <a:xfrm xmlns:a="http://schemas.openxmlformats.org/drawingml/2006/main">
            <a:off x="815671" y="1419007"/>
            <a:ext cx="10668000" cy="1226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4800"/>
              <a:buFont typeface="Arial"/>
              <a:buNone/>
              <a:defRPr sz="2925" b="1">
                <a:solidFill>
                  <a:srgbClr val="17365D"/>
                </a:solidFill>
                <a:latin typeface="Arial"/>
                <a:ea typeface="Arial"/>
                <a:cs typeface="Arial"/>
              </a:defRPr>
            </a:pPr>
            <a:r>
              <a:rPr sz="2925" b="1" i="0" u="none" cap="none">
                <a:solidFill>
                  <a:srgbClr val="17365D"/>
                </a:solidFill>
                <a:latin typeface="Arial"/>
                <a:ea typeface="Arial"/>
                <a:cs typeface="Arial"/>
              </a:rPr>
              <a:t>CAABC-FL: A Hybrid Privacy-Preserving Framework for Secure Multi-Institutional Collaboration</a:t>
            </a:r>
            <a:endParaRPr sz="4400" b="0" i="0" u="none" cap="none">
              <a:solidFill>
                <a:srgbClr val="000000"/>
              </a:solidFill>
              <a:latin typeface="Arial"/>
              <a:ea typeface="Arial"/>
              <a:cs typeface="Arial"/>
            </a:endParaRPr>
          </a:p>
        </p:txBody>
      </p:sp>
      <p:sp>
        <p:nvSpPr>
          <p:cNvPr id="178" name="Google Shape;178;p25">
            <a:extLst xmlns:a="http://schemas.openxmlformats.org/drawingml/2006/main">
              <a:ext uri="{FF2B5EF4-FFF2-40B4-BE49-F238E27FC236}">
                <a16:creationId xmlns:a16="http://schemas.microsoft.com/office/drawing/2014/main" id="{EC7E38E7-131A-4955-84CA-2ACE593A8C3D}"/>
              </a:ext>
            </a:extLst>
          </p:cNvPr>
          <p:cNvSpPr>
            <a:spLocks xmlns:a="http://schemas.openxmlformats.org/drawingml/2006/main" noGrp="1"/>
          </p:cNvSpPr>
          <p:nvPr/>
        </p:nvSpPr>
        <p:spPr>
          <a:xfrm xmlns:a="http://schemas.openxmlformats.org/drawingml/2006/main">
            <a:off x="2498421" y="2536488"/>
            <a:ext cx="7302500" cy="892512"/>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50800" dist="50800" dir="5400000" algn="ctr" rotWithShape="0">
              <a:schemeClr val="lt1"/>
            </a:outerShdw>
          </a:effectLst>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800" b="1" i="0" u="none" cap="none">
                <a:solidFill>
                  <a:srgbClr val="6E6E6E"/>
                </a:solidFill>
                <a:latin typeface="Arial"/>
                <a:ea typeface="Arial"/>
                <a:cs typeface="Arial"/>
              </a:rPr>
              <a:t>Thesis Final Defense</a:t>
            </a:r>
            <a:endParaRPr sz="2800"/>
          </a:p>
          <a:p xmlns:a="http://schemas.openxmlformats.org/drawingml/2006/main">
            <a:pPr marL="0" marR="0" lvl="0" indent="0" algn="ctr">
              <a:lnSpc>
                <a:spcPct val="100000"/>
              </a:lnSpc>
              <a:spcBef>
                <a:spcPts val="0"/>
              </a:spcBef>
              <a:spcAft>
                <a:spcPts val="0"/>
              </a:spcAft>
              <a:buNone/>
            </a:pPr>
            <a:r>
              <a:rPr sz="2400" b="1" i="0" u="none" cap="none">
                <a:solidFill>
                  <a:srgbClr val="000000"/>
                </a:solidFill>
                <a:latin typeface="Arial"/>
                <a:ea typeface="Arial"/>
                <a:cs typeface="Arial"/>
              </a:rPr>
              <a:t>Fall 2025</a:t>
            </a:r>
          </a:p>
        </p:txBody>
      </p:sp>
      <p:sp>
        <p:nvSpPr>
          <p:cNvPr id="179" name="Google Shape;179;p25">
            <a:extLst xmlns:a="http://schemas.openxmlformats.org/drawingml/2006/main">
              <a:ext uri="{FF2B5EF4-FFF2-40B4-BE49-F238E27FC236}">
                <a16:creationId xmlns:a16="http://schemas.microsoft.com/office/drawing/2014/main" id="{CC827AB5-2338-4A5C-8992-FA8BBB93B06C}"/>
              </a:ext>
            </a:extLst>
          </p:cNvPr>
          <p:cNvSpPr>
            <a:spLocks xmlns:a="http://schemas.openxmlformats.org/drawingml/2006/main" noGrp="1"/>
          </p:cNvSpPr>
          <p:nvPr/>
        </p:nvSpPr>
        <p:spPr>
          <a:xfrm xmlns:a="http://schemas.openxmlformats.org/drawingml/2006/main">
            <a:off x="1235210" y="5643678"/>
            <a:ext cx="9676661" cy="10156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600" b="1" i="0" u="none" cap="none">
                <a:solidFill>
                  <a:srgbClr val="000000"/>
                </a:solidFill>
                <a:latin typeface="Arial"/>
                <a:ea typeface="Arial"/>
                <a:cs typeface="Arial"/>
              </a:rPr>
              <a:t>Department of Computer Science and Engineering</a:t>
            </a:r>
            <a:endParaRPr/>
          </a:p>
          <a:p xmlns:a="http://schemas.openxmlformats.org/drawingml/2006/main">
            <a:pPr marL="0" marR="0" lvl="0" indent="0" algn="ctr">
              <a:lnSpc>
                <a:spcPct val="100000"/>
              </a:lnSpc>
              <a:spcBef>
                <a:spcPts val="0"/>
              </a:spcBef>
              <a:spcAft>
                <a:spcPts val="0"/>
              </a:spcAft>
              <a:buNone/>
            </a:pPr>
            <a:r>
              <a:rPr sz="3200" b="1" i="0" u="none" cap="none">
                <a:solidFill>
                  <a:srgbClr val="000000"/>
                </a:solidFill>
                <a:latin typeface="Arial"/>
                <a:ea typeface="Arial"/>
                <a:cs typeface="Arial"/>
              </a:rPr>
              <a:t>Green University of Bangladesh </a:t>
            </a:r>
            <a:endParaRPr/>
          </a:p>
        </p:txBody>
      </p:sp>
      <p:pic>
        <p:nvPicPr>
          <p:cNvPr id="189" name="Google Shape;180;p25"/>
          <p:cNvPicPr>
            <a:picLocks xmlns:a="http://schemas.openxmlformats.org/drawingml/2006/main" noChangeAspect="1"/>
          </p:cNvPicPr>
          <p:nvPr/>
        </p:nvPicPr>
        <p:blipFill rotWithShape="1">
          <a:blip xmlns:r="http://schemas.openxmlformats.org/officeDocument/2006/relationships" xmlns:a="http://schemas.openxmlformats.org/drawingml/2006/main" r:embed="R8a9d83546acf4b57">
            <a:alphaModFix/>
          </a:blip>
          <a:srcRect xmlns:a="http://schemas.openxmlformats.org/drawingml/2006/main" l="0" t="0" r="0" b="0"/>
          <a:stretch xmlns:a="http://schemas.openxmlformats.org/drawingml/2006/main"/>
        </p:blipFill>
        <p:spPr>
          <a:xfrm xmlns:a="http://schemas.openxmlformats.org/drawingml/2006/main">
            <a:off x="4624251" y="250163"/>
            <a:ext cx="2773947" cy="1154019"/>
          </a:xfrm>
          <a:prstGeom xmlns:a="http://schemas.openxmlformats.org/drawingml/2006/main" prst="rect">
            <a:avLst/>
          </a:prstGeom>
          <a:ln xmlns:a="http://schemas.openxmlformats.org/drawingml/2006/main">
            <a:noFill/>
          </a:ln>
        </p:spPr>
      </p:pic>
      <p:sp>
        <p:nvSpPr>
          <p:cNvPr id="3" name="Google Shape;176;p25">
            <a:extLst xmlns:a="http://schemas.openxmlformats.org/drawingml/2006/main">
              <a:ext uri="{FF2B5EF4-FFF2-40B4-BE49-F238E27FC236}">
                <a16:creationId xmlns:a16="http://schemas.microsoft.com/office/drawing/2014/main" id="{0A0AC8FA-28A6-AAC3-1B13-5F28531E7A18}"/>
              </a:ext>
            </a:extLst>
          </p:cNvPr>
          <p:cNvSpPr>
            <a:spLocks xmlns:a="http://schemas.openxmlformats.org/drawingml/2006/main" noGrp="1"/>
          </p:cNvSpPr>
          <p:nvPr/>
        </p:nvSpPr>
        <p:spPr>
          <a:xfrm xmlns:a="http://schemas.openxmlformats.org/drawingml/2006/main">
            <a:off x="3450333" y="3620754"/>
            <a:ext cx="5121781" cy="17542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2800"/>
              <a:buFont typeface="Arial"/>
              <a:buNone/>
            </a:pPr>
            <a:r>
              <a:rPr sz="2400" b="1" i="0" u="none" cap="none">
                <a:solidFill>
                  <a:srgbClr val="0070C0"/>
                </a:solidFill>
                <a:latin typeface="Arial"/>
                <a:ea typeface="Arial"/>
                <a:cs typeface="Arial"/>
              </a:rPr>
              <a:t>Presented by</a:t>
            </a:r>
          </a:p>
          <a:p xmlns:a="http://schemas.openxmlformats.org/drawingml/2006/main">
            <a:pPr marL="0" marR="0" lvl="0" indent="0" algn="ctr">
              <a:lnSpc>
                <a:spcPct val="100000"/>
              </a:lnSpc>
              <a:spcBef>
                <a:spcPts val="800"/>
              </a:spcBef>
              <a:spcAft>
                <a:spcPts val="0"/>
              </a:spcAft>
              <a:buClr>
                <a:srgbClr val="000000"/>
              </a:buClr>
              <a:buSzPts val="2400"/>
              <a:buFont typeface="Arial"/>
              <a:buNone/>
            </a:pPr>
            <a:r>
              <a:rPr sz="2000">
                <a:solidFill>
                  <a:srgbClr val="00B0F0"/>
                </a:solidFill>
              </a:rPr>
              <a:t>Md. Robiul Islam - 222002068</a:t>
            </a:r>
            <a:endParaRPr sz="2000" b="0" i="0" u="none" cap="none">
              <a:solidFill>
                <a:srgbClr val="00B0F0"/>
              </a:solidFill>
              <a:latin typeface="Arial"/>
              <a:ea typeface="Arial"/>
              <a:cs typeface="Arial"/>
            </a:endParaRPr>
          </a:p>
          <a:p xmlns:a="http://schemas.openxmlformats.org/drawingml/2006/main">
            <a:pPr lvl="0" algn="ctr">
              <a:spcBef>
                <a:spcPts val="800"/>
              </a:spcBef>
              <a:buSzPts val="2400"/>
              <a:buNone/>
            </a:pPr>
            <a:r>
              <a:rPr sz="2000">
                <a:solidFill>
                  <a:srgbClr val="00B0F0"/>
                </a:solidFill>
              </a:rPr>
              <a:t>Ashrafun Nahar Arifa - 222002066</a:t>
            </a:r>
          </a:p>
          <a:p xmlns:a="http://schemas.openxmlformats.org/drawingml/2006/main">
            <a:pPr algn="ctr">
              <a:spcBef>
                <a:spcPts val="800"/>
              </a:spcBef>
              <a:buSzPts val="2400"/>
              <a:buNone/>
            </a:pPr>
            <a:r>
              <a:rPr sz="2000">
                <a:solidFill>
                  <a:srgbClr val="00B0F0"/>
                </a:solidFill>
              </a:rPr>
              <a:t>Md. Atikur Rahman - 221902166</a:t>
            </a:r>
          </a:p>
        </p:txBody>
      </p:sp>
      <p:sp>
        <p:nvSpPr>
          <p:cNvPr id="182" name="visible-footer-date-1">
            <a:extLst xmlns:a="http://schemas.openxmlformats.org/drawingml/2006/main">
              <a:ext uri="{FF2B5EF4-FFF2-40B4-BE49-F238E27FC236}">
                <a16:creationId xmlns:a16="http://schemas.microsoft.com/office/drawing/2014/main" id="{A331825A-019A-4D52-BDFB-671BA143512D}"/>
              </a:ext>
            </a:extLst>
          </p:cNvPr>
          <p:cNvSpPr>
            <a:spLocks xmlns:a="http://schemas.openxmlformats.org/drawingml/2006/main" noGrp="1"/>
          </p:cNvSpPr>
          <p:nvPr/>
        </p:nvSpPr>
        <p:spPr>
          <a:xfrm xmlns:a="http://schemas.openxmlformats.org/drawingml/2006/main">
            <a:off x="375254" y="6396928"/>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49186476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1" name="Picture 68"/>
          <p:cNvPicPr>
            <a:picLocks xmlns:a="http://schemas.openxmlformats.org/drawingml/2006/main" noChangeAspect="1"/>
          </p:cNvPicPr>
          <p:nvPr/>
        </p:nvPicPr>
        <p:blipFill>
          <a:blip xmlns:r="http://schemas.openxmlformats.org/officeDocument/2006/relationships" xmlns:a="http://schemas.openxmlformats.org/drawingml/2006/main" r:embed="R6e7adb2fa27f4b6c"/>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3" name="chrome-title-2">
            <a:extLst xmlns:a="http://schemas.openxmlformats.org/drawingml/2006/main">
              <a:ext uri="{FF2B5EF4-FFF2-40B4-BE49-F238E27FC236}">
                <a16:creationId xmlns:a16="http://schemas.microsoft.com/office/drawing/2014/main" id="{F6C4A783-6CA1-4234-BF2F-58C8FDF86203}"/>
              </a:ext>
            </a:extLst>
          </p:cNvPr>
          <p:cNvSpPr>
            <a:spLocks xmlns:a="http://schemas.openxmlformats.org/drawingml/2006/main" noGrp="1"/>
          </p:cNvSpPr>
          <p:nvPr/>
        </p:nvSpPr>
        <p:spPr>
          <a:xfrm xmlns:a="http://schemas.openxmlformats.org/drawingml/2006/main">
            <a:off x="1885950" y="257175"/>
            <a:ext cx="80295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2925" b="1" i="0">
                <a:solidFill>
                  <a:srgbClr val="17365D"/>
                </a:solidFill>
                <a:latin typeface="Arial"/>
                <a:ea typeface="Arial"/>
                <a:cs typeface="Arial"/>
              </a:defRPr>
            </a:pPr>
            <a:r>
              <a:rPr sz="2925" b="1" i="0">
                <a:solidFill>
                  <a:srgbClr val="17365D"/>
                </a:solidFill>
                <a:latin typeface="Arial"/>
                <a:ea typeface="Arial"/>
                <a:cs typeface="Arial"/>
              </a:rPr>
              <a:t>Table of Contents</a:t>
            </a:r>
          </a:p>
        </p:txBody>
      </p:sp>
      <p:sp>
        <p:nvSpPr>
          <p:cNvPr id="4" name="rule-45-665">
            <a:extLst xmlns:a="http://schemas.openxmlformats.org/drawingml/2006/main">
              <a:ext uri="{FF2B5EF4-FFF2-40B4-BE49-F238E27FC236}">
                <a16:creationId xmlns:a16="http://schemas.microsoft.com/office/drawing/2014/main" id="{5D12E25B-FFA4-49DA-8BDE-DEA98565E2D0}"/>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sp>
        <p:nvSpPr>
          <p:cNvPr id="5" name="chrome-date-2">
            <a:extLst xmlns:a="http://schemas.openxmlformats.org/drawingml/2006/main">
              <a:ext uri="{FF2B5EF4-FFF2-40B4-BE49-F238E27FC236}">
                <a16:creationId xmlns:a16="http://schemas.microsoft.com/office/drawing/2014/main" id="{5F63C4D7-EA98-4A2A-AC2B-F552F36B0142}"/>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endParaRPr/>
          </a:p>
        </p:txBody>
      </p:sp>
      <p:sp>
        <p:nvSpPr>
          <p:cNvPr id="6" name="chrome-footer-2">
            <a:extLst xmlns:a="http://schemas.openxmlformats.org/drawingml/2006/main">
              <a:ext uri="{FF2B5EF4-FFF2-40B4-BE49-F238E27FC236}">
                <a16:creationId xmlns:a16="http://schemas.microsoft.com/office/drawing/2014/main" id="{D3DD6AD1-30EB-442B-9FB7-6E3415E9A1A8}"/>
              </a:ext>
            </a:extLst>
          </p:cNvPr>
          <p:cNvSpPr>
            <a:spLocks xmlns:a="http://schemas.openxmlformats.org/drawingml/2006/main" noGrp="1"/>
          </p:cNvSpPr>
          <p:nvPr/>
        </p:nvSpPr>
        <p:spPr>
          <a:xfrm xmlns:a="http://schemas.openxmlformats.org/drawingml/2006/main">
            <a:off x="2657475" y="6629400"/>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1200" i="0">
                <a:latin typeface="Arial"/>
                <a:ea typeface="Arial"/>
                <a:cs typeface="Arial"/>
              </a:rPr>
              <a:t>CAABC-FL: A Hybrid Privacy-Preserving Framework for Secure Multi-Institutional Collaboration</a:t>
            </a:r>
          </a:p>
        </p:txBody>
      </p:sp>
      <p:sp>
        <p:nvSpPr>
          <p:cNvPr id="7" name="chrome-page-2">
            <a:extLst xmlns:a="http://schemas.openxmlformats.org/drawingml/2006/main">
              <a:ext uri="{FF2B5EF4-FFF2-40B4-BE49-F238E27FC236}">
                <a16:creationId xmlns:a16="http://schemas.microsoft.com/office/drawing/2014/main" id="{B090BECB-4C48-47F7-85E9-2310EFE0B0E3}"/>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2250" b="1" i="0">
                <a:solidFill>
                  <a:srgbClr val="062B6F"/>
                </a:solidFill>
                <a:latin typeface="Arial"/>
                <a:ea typeface="Arial"/>
                <a:cs typeface="Arial"/>
              </a:defRPr>
            </a:pPr>
            <a:r>
              <a:rPr sz="2250" b="1" i="0">
                <a:solidFill>
                  <a:srgbClr val="062B6F"/>
                </a:solidFill>
                <a:latin typeface="Arial"/>
                <a:ea typeface="Arial"/>
                <a:cs typeface="Arial"/>
              </a:rPr>
              <a:t>2</a:t>
            </a:r>
          </a:p>
        </p:txBody>
      </p:sp>
      <p:sp>
        <p:nvSpPr>
          <p:cNvPr id="8" name="toc-left">
            <a:extLst xmlns:a="http://schemas.openxmlformats.org/drawingml/2006/main">
              <a:ext uri="{FF2B5EF4-FFF2-40B4-BE49-F238E27FC236}">
                <a16:creationId xmlns:a16="http://schemas.microsoft.com/office/drawing/2014/main" id="{E64BE7FF-2629-4A0E-9774-DCE8509C9B56}"/>
              </a:ext>
            </a:extLst>
          </p:cNvPr>
          <p:cNvSpPr>
            <a:spLocks xmlns:a="http://schemas.openxmlformats.org/drawingml/2006/main" noGrp="1"/>
          </p:cNvSpPr>
          <p:nvPr/>
        </p:nvSpPr>
        <p:spPr>
          <a:xfrm xmlns:a="http://schemas.openxmlformats.org/drawingml/2006/main">
            <a:off x="14287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1  Introduction</a:t>
            </a:r>
          </a:p>
          <a:p xmlns:a="http://schemas.openxmlformats.org/drawingml/2006/main">
            <a:endParaRPr sz="2250" b="1" i="0">
              <a:solidFill>
                <a:srgbClr val="17365D"/>
              </a:solidFill>
              <a:latin typeface="Arial"/>
              <a:ea typeface="Arial"/>
              <a:cs typeface="Arial"/>
            </a:endParaRP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2  Literature Review</a:t>
            </a:r>
          </a:p>
          <a:p xmlns:a="http://schemas.openxmlformats.org/drawingml/2006/main">
            <a:endParaRPr sz="2250" b="1" i="0">
              <a:solidFill>
                <a:srgbClr val="17365D"/>
              </a:solidFill>
              <a:latin typeface="Arial"/>
              <a:ea typeface="Arial"/>
              <a:cs typeface="Arial"/>
            </a:endParaRP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3  Proposed Methodology</a:t>
            </a:r>
          </a:p>
        </p:txBody>
      </p:sp>
      <p:sp>
        <p:nvSpPr>
          <p:cNvPr id="9" name="rule-630-150">
            <a:extLst xmlns:a="http://schemas.openxmlformats.org/drawingml/2006/main">
              <a:ext uri="{FF2B5EF4-FFF2-40B4-BE49-F238E27FC236}">
                <a16:creationId xmlns:a16="http://schemas.microsoft.com/office/drawing/2014/main" id="{205F7E81-2495-4748-8738-FCD3AA9CDD6B}"/>
              </a:ext>
            </a:extLst>
          </p:cNvPr>
          <p:cNvSpPr>
            <a:spLocks xmlns:a="http://schemas.openxmlformats.org/drawingml/2006/main" noGrp="1"/>
          </p:cNvSpPr>
          <p:nvPr/>
        </p:nvSpPr>
        <p:spPr>
          <a:xfrm xmlns:a="http://schemas.openxmlformats.org/drawingml/2006/main">
            <a:off x="6000750" y="1428750"/>
            <a:ext cx="28575" cy="38100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10" name="toc-right">
            <a:extLst xmlns:a="http://schemas.openxmlformats.org/drawingml/2006/main">
              <a:ext uri="{FF2B5EF4-FFF2-40B4-BE49-F238E27FC236}">
                <a16:creationId xmlns:a16="http://schemas.microsoft.com/office/drawing/2014/main" id="{9E244E5D-05B7-4052-B9B8-DFA1E983C134}"/>
              </a:ext>
            </a:extLst>
          </p:cNvPr>
          <p:cNvSpPr>
            <a:spLocks xmlns:a="http://schemas.openxmlformats.org/drawingml/2006/main" noGrp="1"/>
          </p:cNvSpPr>
          <p:nvPr/>
        </p:nvSpPr>
        <p:spPr>
          <a:xfrm xmlns:a="http://schemas.openxmlformats.org/drawingml/2006/main">
            <a:off x="65722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4  Results and Discussion</a:t>
            </a:r>
          </a:p>
          <a:p xmlns:a="http://schemas.openxmlformats.org/drawingml/2006/main">
            <a:endParaRPr sz="2250" b="1" i="0">
              <a:solidFill>
                <a:srgbClr val="17365D"/>
              </a:solidFill>
              <a:latin typeface="Arial"/>
              <a:ea typeface="Arial"/>
              <a:cs typeface="Arial"/>
            </a:endParaRP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5  Conclusion</a:t>
            </a:r>
          </a:p>
          <a:p xmlns:a="http://schemas.openxmlformats.org/drawingml/2006/main">
            <a:endParaRPr sz="2250" b="1" i="0">
              <a:solidFill>
                <a:srgbClr val="17365D"/>
              </a:solidFill>
              <a:latin typeface="Arial"/>
              <a:ea typeface="Arial"/>
              <a:cs typeface="Arial"/>
            </a:endParaRP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6  References, Backup and Q&amp;A</a:t>
            </a:r>
          </a:p>
        </p:txBody>
      </p:sp>
      <p:sp>
        <p:nvSpPr>
          <p:cNvPr id="13" name="visible-footer-date-2">
            <a:extLst xmlns:a="http://schemas.openxmlformats.org/drawingml/2006/main">
              <a:ext uri="{FF2B5EF4-FFF2-40B4-BE49-F238E27FC236}">
                <a16:creationId xmlns:a16="http://schemas.microsoft.com/office/drawing/2014/main" id="{1A3CE9A8-5845-45E2-91F0-A01D971DE4F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16" name="toc-layout-cover">
            <a:extLst xmlns:a="http://schemas.openxmlformats.org/drawingml/2006/main">
              <a:ext uri="{FF2B5EF4-FFF2-40B4-BE49-F238E27FC236}">
                <a16:creationId xmlns:a16="http://schemas.microsoft.com/office/drawing/2014/main" id="{EB85D7A0-B89B-4FC5-AE09-E11CB4F7A0E2}"/>
              </a:ext>
            </a:extLst>
          </p:cNvPr>
          <p:cNvSpPr>
            <a:spLocks xmlns:a="http://schemas.openxmlformats.org/drawingml/2006/main" noGrp="1"/>
          </p:cNvSpPr>
          <p:nvPr/>
        </p:nvSpPr>
        <p:spPr>
          <a:xfrm xmlns:a="http://schemas.openxmlformats.org/drawingml/2006/main">
            <a:off x="428625" y="1143000"/>
            <a:ext cx="11430000" cy="50958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7" name="toc-center-divider">
            <a:extLst xmlns:a="http://schemas.openxmlformats.org/drawingml/2006/main">
              <a:ext uri="{FF2B5EF4-FFF2-40B4-BE49-F238E27FC236}">
                <a16:creationId xmlns:a16="http://schemas.microsoft.com/office/drawing/2014/main" id="{8DB92A33-CCD2-422E-8493-D154849ECFDC}"/>
              </a:ext>
            </a:extLst>
          </p:cNvPr>
          <p:cNvSpPr>
            <a:spLocks xmlns:a="http://schemas.openxmlformats.org/drawingml/2006/main" noGrp="1"/>
          </p:cNvSpPr>
          <p:nvPr/>
        </p:nvSpPr>
        <p:spPr>
          <a:xfrm xmlns:a="http://schemas.openxmlformats.org/drawingml/2006/main">
            <a:off x="6076950" y="1428750"/>
            <a:ext cx="19050" cy="4476750"/>
          </a:xfrm>
          <a:prstGeom xmlns:a="http://schemas.openxmlformats.org/drawingml/2006/main" prst="rect">
            <a:avLst/>
          </a:prstGeom>
          <a:solidFill xmlns:a="http://schemas.openxmlformats.org/drawingml/2006/main">
            <a:srgbClr val="DDE8E1"/>
          </a:solidFill>
          <a:ln xmlns:a="http://schemas.openxmlformats.org/drawingml/2006/main" w="0">
            <a:noFill/>
          </a:ln>
        </p:spPr>
      </p:sp>
      <p:sp>
        <p:nvSpPr>
          <p:cNvPr id="18" name="toc-center-divider-accent">
            <a:extLst xmlns:a="http://schemas.openxmlformats.org/drawingml/2006/main">
              <a:ext uri="{FF2B5EF4-FFF2-40B4-BE49-F238E27FC236}">
                <a16:creationId xmlns:a16="http://schemas.microsoft.com/office/drawing/2014/main" id="{B7AE5AE8-CF65-4B0B-B076-13FF885AA7DA}"/>
              </a:ext>
            </a:extLst>
          </p:cNvPr>
          <p:cNvSpPr>
            <a:spLocks xmlns:a="http://schemas.openxmlformats.org/drawingml/2006/main" noGrp="1"/>
          </p:cNvSpPr>
          <p:nvPr/>
        </p:nvSpPr>
        <p:spPr>
          <a:xfrm xmlns:a="http://schemas.openxmlformats.org/drawingml/2006/main">
            <a:off x="6076950" y="2190750"/>
            <a:ext cx="19050" cy="2905125"/>
          </a:xfrm>
          <a:prstGeom xmlns:a="http://schemas.openxmlformats.org/drawingml/2006/main" prst="rect">
            <a:avLst/>
          </a:prstGeom>
          <a:solidFill xmlns:a="http://schemas.openxmlformats.org/drawingml/2006/main">
            <a:srgbClr val="008A46"/>
          </a:solidFill>
          <a:ln xmlns:a="http://schemas.openxmlformats.org/drawingml/2006/main" w="0">
            <a:noFill/>
          </a:ln>
        </p:spPr>
      </p:sp>
      <p:sp>
        <p:nvSpPr>
          <p:cNvPr id="19" name="toc-introduction-marker">
            <a:extLst xmlns:a="http://schemas.openxmlformats.org/drawingml/2006/main">
              <a:ext uri="{FF2B5EF4-FFF2-40B4-BE49-F238E27FC236}">
                <a16:creationId xmlns:a16="http://schemas.microsoft.com/office/drawing/2014/main" id="{20AFD810-0237-4509-A6EB-39DDD85DE7C5}"/>
              </a:ext>
            </a:extLst>
          </p:cNvPr>
          <p:cNvSpPr>
            <a:spLocks xmlns:a="http://schemas.openxmlformats.org/drawingml/2006/main" noGrp="1"/>
          </p:cNvSpPr>
          <p:nvPr/>
        </p:nvSpPr>
        <p:spPr>
          <a:xfrm xmlns:a="http://schemas.openxmlformats.org/drawingml/2006/main">
            <a:off x="781050" y="1447800"/>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20" name="toc-introduction-title">
            <a:extLst xmlns:a="http://schemas.openxmlformats.org/drawingml/2006/main">
              <a:ext uri="{FF2B5EF4-FFF2-40B4-BE49-F238E27FC236}">
                <a16:creationId xmlns:a16="http://schemas.microsoft.com/office/drawing/2014/main" id="{C6A1879B-2B24-461C-9404-8457990A0544}"/>
              </a:ext>
            </a:extLst>
          </p:cNvPr>
          <p:cNvSpPr>
            <a:spLocks xmlns:a="http://schemas.openxmlformats.org/drawingml/2006/main" noGrp="1"/>
          </p:cNvSpPr>
          <p:nvPr/>
        </p:nvSpPr>
        <p:spPr>
          <a:xfrm xmlns:a="http://schemas.openxmlformats.org/drawingml/2006/main">
            <a:off x="1047750" y="1381125"/>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806" lnSpcReduction="20000"/>
          </a:bodyPr>
          <a:lstStyle xmlns:a="http://schemas.openxmlformats.org/drawingml/2006/main"/>
          <a:p xmlns:a="http://schemas.openxmlformats.org/drawingml/2006/main">
            <a:pPr>
              <a:buNone/>
              <a:defRPr sz="1800" b="1">
                <a:solidFill>
                  <a:srgbClr val="111111"/>
                </a:solidFill>
                <a:latin typeface="Arial"/>
                <a:ea typeface="Arial"/>
                <a:cs typeface="Arial"/>
              </a:defRPr>
            </a:pPr>
            <a:r>
              <a:rPr sz="1800" b="1">
                <a:solidFill>
                  <a:srgbClr val="111111"/>
                </a:solidFill>
                <a:latin typeface="Arial"/>
                <a:ea typeface="Arial"/>
                <a:cs typeface="Arial"/>
              </a:rPr>
              <a:t>Introduction</a:t>
            </a:r>
          </a:p>
        </p:txBody>
      </p:sp>
      <p:sp>
        <p:nvSpPr>
          <p:cNvPr id="21" name="toc-introduction-chevron-1">
            <a:extLst xmlns:a="http://schemas.openxmlformats.org/drawingml/2006/main">
              <a:ext uri="{FF2B5EF4-FFF2-40B4-BE49-F238E27FC236}">
                <a16:creationId xmlns:a16="http://schemas.microsoft.com/office/drawing/2014/main" id="{ED46F73D-DEEE-4AD4-8C83-7A6B27775D16}"/>
              </a:ext>
            </a:extLst>
          </p:cNvPr>
          <p:cNvSpPr>
            <a:spLocks xmlns:a="http://schemas.openxmlformats.org/drawingml/2006/main" noGrp="1"/>
          </p:cNvSpPr>
          <p:nvPr/>
        </p:nvSpPr>
        <p:spPr>
          <a:xfrm xmlns:a="http://schemas.openxmlformats.org/drawingml/2006/main">
            <a:off x="1181100" y="172402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22" name="toc-introduction-item-1">
            <a:extLst xmlns:a="http://schemas.openxmlformats.org/drawingml/2006/main">
              <a:ext uri="{FF2B5EF4-FFF2-40B4-BE49-F238E27FC236}">
                <a16:creationId xmlns:a16="http://schemas.microsoft.com/office/drawing/2014/main" id="{5B518010-3BC3-43DB-B63D-A1BB68F41DA9}"/>
              </a:ext>
            </a:extLst>
          </p:cNvPr>
          <p:cNvSpPr>
            <a:spLocks xmlns:a="http://schemas.openxmlformats.org/drawingml/2006/main" noGrp="1"/>
          </p:cNvSpPr>
          <p:nvPr/>
        </p:nvSpPr>
        <p:spPr>
          <a:xfrm xmlns:a="http://schemas.openxmlformats.org/drawingml/2006/main">
            <a:off x="1466850" y="172402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Background and motivation</a:t>
            </a:r>
          </a:p>
        </p:txBody>
      </p:sp>
      <p:sp>
        <p:nvSpPr>
          <p:cNvPr id="23" name="toc-introduction-chevron-2">
            <a:extLst xmlns:a="http://schemas.openxmlformats.org/drawingml/2006/main">
              <a:ext uri="{FF2B5EF4-FFF2-40B4-BE49-F238E27FC236}">
                <a16:creationId xmlns:a16="http://schemas.microsoft.com/office/drawing/2014/main" id="{CDD3684C-4BC1-4792-B7ED-E18200CF7B2A}"/>
              </a:ext>
            </a:extLst>
          </p:cNvPr>
          <p:cNvSpPr>
            <a:spLocks xmlns:a="http://schemas.openxmlformats.org/drawingml/2006/main" noGrp="1"/>
          </p:cNvSpPr>
          <p:nvPr/>
        </p:nvSpPr>
        <p:spPr>
          <a:xfrm xmlns:a="http://schemas.openxmlformats.org/drawingml/2006/main">
            <a:off x="1181100" y="1981200"/>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24" name="toc-introduction-item-2">
            <a:extLst xmlns:a="http://schemas.openxmlformats.org/drawingml/2006/main">
              <a:ext uri="{FF2B5EF4-FFF2-40B4-BE49-F238E27FC236}">
                <a16:creationId xmlns:a16="http://schemas.microsoft.com/office/drawing/2014/main" id="{CBC16602-1DCD-4A1A-AC3A-726BDBAD88BF}"/>
              </a:ext>
            </a:extLst>
          </p:cNvPr>
          <p:cNvSpPr>
            <a:spLocks xmlns:a="http://schemas.openxmlformats.org/drawingml/2006/main" noGrp="1"/>
          </p:cNvSpPr>
          <p:nvPr/>
        </p:nvSpPr>
        <p:spPr>
          <a:xfrm xmlns:a="http://schemas.openxmlformats.org/drawingml/2006/main">
            <a:off x="1466850" y="1981200"/>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Problem statement</a:t>
            </a:r>
          </a:p>
        </p:txBody>
      </p:sp>
      <p:sp>
        <p:nvSpPr>
          <p:cNvPr id="25" name="toc-introduction-chevron-3">
            <a:extLst xmlns:a="http://schemas.openxmlformats.org/drawingml/2006/main">
              <a:ext uri="{FF2B5EF4-FFF2-40B4-BE49-F238E27FC236}">
                <a16:creationId xmlns:a16="http://schemas.microsoft.com/office/drawing/2014/main" id="{590FA40F-1F68-46F6-B7AF-2CC09442BC4C}"/>
              </a:ext>
            </a:extLst>
          </p:cNvPr>
          <p:cNvSpPr>
            <a:spLocks xmlns:a="http://schemas.openxmlformats.org/drawingml/2006/main" noGrp="1"/>
          </p:cNvSpPr>
          <p:nvPr/>
        </p:nvSpPr>
        <p:spPr>
          <a:xfrm xmlns:a="http://schemas.openxmlformats.org/drawingml/2006/main">
            <a:off x="1181100" y="223837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26" name="toc-introduction-item-3">
            <a:extLst xmlns:a="http://schemas.openxmlformats.org/drawingml/2006/main">
              <a:ext uri="{FF2B5EF4-FFF2-40B4-BE49-F238E27FC236}">
                <a16:creationId xmlns:a16="http://schemas.microsoft.com/office/drawing/2014/main" id="{299ED237-5381-4798-9870-64C2CFB74A21}"/>
              </a:ext>
            </a:extLst>
          </p:cNvPr>
          <p:cNvSpPr>
            <a:spLocks xmlns:a="http://schemas.openxmlformats.org/drawingml/2006/main" noGrp="1"/>
          </p:cNvSpPr>
          <p:nvPr/>
        </p:nvSpPr>
        <p:spPr>
          <a:xfrm xmlns:a="http://schemas.openxmlformats.org/drawingml/2006/main">
            <a:off x="1466850" y="223837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Research questions and objectives</a:t>
            </a:r>
          </a:p>
        </p:txBody>
      </p:sp>
      <p:sp>
        <p:nvSpPr>
          <p:cNvPr id="27" name="toc-literature-marker">
            <a:extLst xmlns:a="http://schemas.openxmlformats.org/drawingml/2006/main">
              <a:ext uri="{FF2B5EF4-FFF2-40B4-BE49-F238E27FC236}">
                <a16:creationId xmlns:a16="http://schemas.microsoft.com/office/drawing/2014/main" id="{B4EDC459-3AC7-4E59-8671-97041EC83181}"/>
              </a:ext>
            </a:extLst>
          </p:cNvPr>
          <p:cNvSpPr>
            <a:spLocks xmlns:a="http://schemas.openxmlformats.org/drawingml/2006/main" noGrp="1"/>
          </p:cNvSpPr>
          <p:nvPr/>
        </p:nvSpPr>
        <p:spPr>
          <a:xfrm xmlns:a="http://schemas.openxmlformats.org/drawingml/2006/main">
            <a:off x="781050" y="2828925"/>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28" name="toc-literature-title">
            <a:extLst xmlns:a="http://schemas.openxmlformats.org/drawingml/2006/main">
              <a:ext uri="{FF2B5EF4-FFF2-40B4-BE49-F238E27FC236}">
                <a16:creationId xmlns:a16="http://schemas.microsoft.com/office/drawing/2014/main" id="{E7394B6E-47C3-4AF2-90B0-522DAB160513}"/>
              </a:ext>
            </a:extLst>
          </p:cNvPr>
          <p:cNvSpPr>
            <a:spLocks xmlns:a="http://schemas.openxmlformats.org/drawingml/2006/main" noGrp="1"/>
          </p:cNvSpPr>
          <p:nvPr/>
        </p:nvSpPr>
        <p:spPr>
          <a:xfrm xmlns:a="http://schemas.openxmlformats.org/drawingml/2006/main">
            <a:off x="1047750" y="2762250"/>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806" lnSpcReduction="20000"/>
          </a:bodyPr>
          <a:lstStyle xmlns:a="http://schemas.openxmlformats.org/drawingml/2006/main"/>
          <a:p xmlns:a="http://schemas.openxmlformats.org/drawingml/2006/main">
            <a:pPr>
              <a:buNone/>
              <a:defRPr sz="1800" b="1">
                <a:solidFill>
                  <a:srgbClr val="111111"/>
                </a:solidFill>
                <a:latin typeface="Arial"/>
                <a:ea typeface="Arial"/>
                <a:cs typeface="Arial"/>
              </a:defRPr>
            </a:pPr>
            <a:r>
              <a:rPr sz="1800" b="1">
                <a:solidFill>
                  <a:srgbClr val="111111"/>
                </a:solidFill>
                <a:latin typeface="Arial"/>
                <a:ea typeface="Arial"/>
                <a:cs typeface="Arial"/>
              </a:rPr>
              <a:t>Literature Review</a:t>
            </a:r>
          </a:p>
        </p:txBody>
      </p:sp>
      <p:sp>
        <p:nvSpPr>
          <p:cNvPr id="29" name="toc-literature-chevron-1">
            <a:extLst xmlns:a="http://schemas.openxmlformats.org/drawingml/2006/main">
              <a:ext uri="{FF2B5EF4-FFF2-40B4-BE49-F238E27FC236}">
                <a16:creationId xmlns:a16="http://schemas.microsoft.com/office/drawing/2014/main" id="{E4C5ABD3-54F1-4BC4-B308-386E8F69A498}"/>
              </a:ext>
            </a:extLst>
          </p:cNvPr>
          <p:cNvSpPr>
            <a:spLocks xmlns:a="http://schemas.openxmlformats.org/drawingml/2006/main" noGrp="1"/>
          </p:cNvSpPr>
          <p:nvPr/>
        </p:nvSpPr>
        <p:spPr>
          <a:xfrm xmlns:a="http://schemas.openxmlformats.org/drawingml/2006/main">
            <a:off x="1181100" y="3105150"/>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30" name="toc-literature-item-1">
            <a:extLst xmlns:a="http://schemas.openxmlformats.org/drawingml/2006/main">
              <a:ext uri="{FF2B5EF4-FFF2-40B4-BE49-F238E27FC236}">
                <a16:creationId xmlns:a16="http://schemas.microsoft.com/office/drawing/2014/main" id="{896A1579-0C62-4F0D-955B-2B7F7F9C5DA3}"/>
              </a:ext>
            </a:extLst>
          </p:cNvPr>
          <p:cNvSpPr>
            <a:spLocks xmlns:a="http://schemas.openxmlformats.org/drawingml/2006/main" noGrp="1"/>
          </p:cNvSpPr>
          <p:nvPr/>
        </p:nvSpPr>
        <p:spPr>
          <a:xfrm xmlns:a="http://schemas.openxmlformats.org/drawingml/2006/main">
            <a:off x="1466850" y="3105150"/>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Related studies</a:t>
            </a:r>
          </a:p>
        </p:txBody>
      </p:sp>
      <p:sp>
        <p:nvSpPr>
          <p:cNvPr id="31" name="toc-literature-chevron-2">
            <a:extLst xmlns:a="http://schemas.openxmlformats.org/drawingml/2006/main">
              <a:ext uri="{FF2B5EF4-FFF2-40B4-BE49-F238E27FC236}">
                <a16:creationId xmlns:a16="http://schemas.microsoft.com/office/drawing/2014/main" id="{41B4E2B3-6349-45F6-AF64-EDE8B9C36B3A}"/>
              </a:ext>
            </a:extLst>
          </p:cNvPr>
          <p:cNvSpPr>
            <a:spLocks xmlns:a="http://schemas.openxmlformats.org/drawingml/2006/main" noGrp="1"/>
          </p:cNvSpPr>
          <p:nvPr/>
        </p:nvSpPr>
        <p:spPr>
          <a:xfrm xmlns:a="http://schemas.openxmlformats.org/drawingml/2006/main">
            <a:off x="1181100" y="336232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32" name="toc-literature-item-2">
            <a:extLst xmlns:a="http://schemas.openxmlformats.org/drawingml/2006/main">
              <a:ext uri="{FF2B5EF4-FFF2-40B4-BE49-F238E27FC236}">
                <a16:creationId xmlns:a16="http://schemas.microsoft.com/office/drawing/2014/main" id="{73660351-7D0D-4CBF-BA91-51537F803DD0}"/>
              </a:ext>
            </a:extLst>
          </p:cNvPr>
          <p:cNvSpPr>
            <a:spLocks xmlns:a="http://schemas.openxmlformats.org/drawingml/2006/main" noGrp="1"/>
          </p:cNvSpPr>
          <p:nvPr/>
        </p:nvSpPr>
        <p:spPr>
          <a:xfrm xmlns:a="http://schemas.openxmlformats.org/drawingml/2006/main">
            <a:off x="1466850" y="336232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Comparative analysis and research gap</a:t>
            </a:r>
          </a:p>
        </p:txBody>
      </p:sp>
      <p:sp>
        <p:nvSpPr>
          <p:cNvPr id="33" name="toc-framework-marker">
            <a:extLst xmlns:a="http://schemas.openxmlformats.org/drawingml/2006/main">
              <a:ext uri="{FF2B5EF4-FFF2-40B4-BE49-F238E27FC236}">
                <a16:creationId xmlns:a16="http://schemas.microsoft.com/office/drawing/2014/main" id="{9E45591D-DBA9-4DFF-B49C-96CED4E389A3}"/>
              </a:ext>
            </a:extLst>
          </p:cNvPr>
          <p:cNvSpPr>
            <a:spLocks xmlns:a="http://schemas.openxmlformats.org/drawingml/2006/main" noGrp="1"/>
          </p:cNvSpPr>
          <p:nvPr/>
        </p:nvSpPr>
        <p:spPr>
          <a:xfrm xmlns:a="http://schemas.openxmlformats.org/drawingml/2006/main">
            <a:off x="781050" y="3924300"/>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34" name="toc-framework-title">
            <a:extLst xmlns:a="http://schemas.openxmlformats.org/drawingml/2006/main">
              <a:ext uri="{FF2B5EF4-FFF2-40B4-BE49-F238E27FC236}">
                <a16:creationId xmlns:a16="http://schemas.microsoft.com/office/drawing/2014/main" id="{C0CF9239-0025-45BA-8295-AB7670CE8FF0}"/>
              </a:ext>
            </a:extLst>
          </p:cNvPr>
          <p:cNvSpPr>
            <a:spLocks xmlns:a="http://schemas.openxmlformats.org/drawingml/2006/main" noGrp="1"/>
          </p:cNvSpPr>
          <p:nvPr/>
        </p:nvSpPr>
        <p:spPr>
          <a:xfrm xmlns:a="http://schemas.openxmlformats.org/drawingml/2006/main">
            <a:off x="1047750" y="3857625"/>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806" lnSpcReduction="20000"/>
          </a:bodyPr>
          <a:lstStyle xmlns:a="http://schemas.openxmlformats.org/drawingml/2006/main"/>
          <a:p xmlns:a="http://schemas.openxmlformats.org/drawingml/2006/main">
            <a:pPr>
              <a:buNone/>
              <a:defRPr sz="1800" b="1">
                <a:solidFill>
                  <a:srgbClr val="111111"/>
                </a:solidFill>
                <a:latin typeface="Arial"/>
                <a:ea typeface="Arial"/>
                <a:cs typeface="Arial"/>
              </a:defRPr>
            </a:pPr>
            <a:r>
              <a:rPr sz="1800" b="1">
                <a:solidFill>
                  <a:srgbClr val="111111"/>
                </a:solidFill>
                <a:latin typeface="Arial"/>
                <a:ea typeface="Arial"/>
                <a:cs typeface="Arial"/>
              </a:rPr>
              <a:t>Conceptual Framework</a:t>
            </a:r>
          </a:p>
        </p:txBody>
      </p:sp>
      <p:sp>
        <p:nvSpPr>
          <p:cNvPr id="35" name="toc-framework-chevron-1">
            <a:extLst xmlns:a="http://schemas.openxmlformats.org/drawingml/2006/main">
              <a:ext uri="{FF2B5EF4-FFF2-40B4-BE49-F238E27FC236}">
                <a16:creationId xmlns:a16="http://schemas.microsoft.com/office/drawing/2014/main" id="{D0FFF833-C244-4FFB-BDB4-FC5B51B2B08C}"/>
              </a:ext>
            </a:extLst>
          </p:cNvPr>
          <p:cNvSpPr>
            <a:spLocks xmlns:a="http://schemas.openxmlformats.org/drawingml/2006/main" noGrp="1"/>
          </p:cNvSpPr>
          <p:nvPr/>
        </p:nvSpPr>
        <p:spPr>
          <a:xfrm xmlns:a="http://schemas.openxmlformats.org/drawingml/2006/main">
            <a:off x="1181100" y="420052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36" name="toc-framework-item-1">
            <a:extLst xmlns:a="http://schemas.openxmlformats.org/drawingml/2006/main">
              <a:ext uri="{FF2B5EF4-FFF2-40B4-BE49-F238E27FC236}">
                <a16:creationId xmlns:a16="http://schemas.microsoft.com/office/drawing/2014/main" id="{9D73A5DB-6464-41A2-ABB6-869DC835F3DE}"/>
              </a:ext>
            </a:extLst>
          </p:cNvPr>
          <p:cNvSpPr>
            <a:spLocks xmlns:a="http://schemas.openxmlformats.org/drawingml/2006/main" noGrp="1"/>
          </p:cNvSpPr>
          <p:nvPr/>
        </p:nvSpPr>
        <p:spPr>
          <a:xfrm xmlns:a="http://schemas.openxmlformats.org/drawingml/2006/main">
            <a:off x="1466850" y="420052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Security goals and system components</a:t>
            </a:r>
          </a:p>
        </p:txBody>
      </p:sp>
      <p:sp>
        <p:nvSpPr>
          <p:cNvPr id="37" name="toc-framework-chevron-2">
            <a:extLst xmlns:a="http://schemas.openxmlformats.org/drawingml/2006/main">
              <a:ext uri="{FF2B5EF4-FFF2-40B4-BE49-F238E27FC236}">
                <a16:creationId xmlns:a16="http://schemas.microsoft.com/office/drawing/2014/main" id="{5BB24590-6216-4280-98FE-C18B441BC7F4}"/>
              </a:ext>
            </a:extLst>
          </p:cNvPr>
          <p:cNvSpPr>
            <a:spLocks xmlns:a="http://schemas.openxmlformats.org/drawingml/2006/main" noGrp="1"/>
          </p:cNvSpPr>
          <p:nvPr/>
        </p:nvSpPr>
        <p:spPr>
          <a:xfrm xmlns:a="http://schemas.openxmlformats.org/drawingml/2006/main">
            <a:off x="1181100" y="4457700"/>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38" name="toc-framework-item-2">
            <a:extLst xmlns:a="http://schemas.openxmlformats.org/drawingml/2006/main">
              <a:ext uri="{FF2B5EF4-FFF2-40B4-BE49-F238E27FC236}">
                <a16:creationId xmlns:a16="http://schemas.microsoft.com/office/drawing/2014/main" id="{F3066673-B4A1-4684-8DBC-4C576160F543}"/>
              </a:ext>
            </a:extLst>
          </p:cNvPr>
          <p:cNvSpPr>
            <a:spLocks xmlns:a="http://schemas.openxmlformats.org/drawingml/2006/main" noGrp="1"/>
          </p:cNvSpPr>
          <p:nvPr/>
        </p:nvSpPr>
        <p:spPr>
          <a:xfrm xmlns:a="http://schemas.openxmlformats.org/drawingml/2006/main">
            <a:off x="1466850" y="4457700"/>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Threat model and trust assumptions</a:t>
            </a:r>
          </a:p>
        </p:txBody>
      </p:sp>
      <p:sp>
        <p:nvSpPr>
          <p:cNvPr id="39" name="toc-methodology-marker">
            <a:extLst xmlns:a="http://schemas.openxmlformats.org/drawingml/2006/main">
              <a:ext uri="{FF2B5EF4-FFF2-40B4-BE49-F238E27FC236}">
                <a16:creationId xmlns:a16="http://schemas.microsoft.com/office/drawing/2014/main" id="{C4BCB746-101E-49D2-8084-E8C997B2C69F}"/>
              </a:ext>
            </a:extLst>
          </p:cNvPr>
          <p:cNvSpPr>
            <a:spLocks xmlns:a="http://schemas.openxmlformats.org/drawingml/2006/main" noGrp="1"/>
          </p:cNvSpPr>
          <p:nvPr/>
        </p:nvSpPr>
        <p:spPr>
          <a:xfrm xmlns:a="http://schemas.openxmlformats.org/drawingml/2006/main">
            <a:off x="6524625" y="1447800"/>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40" name="toc-methodology-title">
            <a:extLst xmlns:a="http://schemas.openxmlformats.org/drawingml/2006/main">
              <a:ext uri="{FF2B5EF4-FFF2-40B4-BE49-F238E27FC236}">
                <a16:creationId xmlns:a16="http://schemas.microsoft.com/office/drawing/2014/main" id="{EC150210-A53B-4565-8800-36B55907378A}"/>
              </a:ext>
            </a:extLst>
          </p:cNvPr>
          <p:cNvSpPr>
            <a:spLocks xmlns:a="http://schemas.openxmlformats.org/drawingml/2006/main" noGrp="1"/>
          </p:cNvSpPr>
          <p:nvPr/>
        </p:nvSpPr>
        <p:spPr>
          <a:xfrm xmlns:a="http://schemas.openxmlformats.org/drawingml/2006/main">
            <a:off x="6791325" y="1381125"/>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806" lnSpcReduction="20000"/>
          </a:bodyPr>
          <a:lstStyle xmlns:a="http://schemas.openxmlformats.org/drawingml/2006/main"/>
          <a:p xmlns:a="http://schemas.openxmlformats.org/drawingml/2006/main">
            <a:pPr>
              <a:buNone/>
              <a:defRPr sz="1800" b="1">
                <a:solidFill>
                  <a:srgbClr val="111111"/>
                </a:solidFill>
                <a:latin typeface="Arial"/>
                <a:ea typeface="Arial"/>
                <a:cs typeface="Arial"/>
              </a:defRPr>
            </a:pPr>
            <a:r>
              <a:rPr sz="1800" b="1">
                <a:solidFill>
                  <a:srgbClr val="111111"/>
                </a:solidFill>
                <a:latin typeface="Arial"/>
                <a:ea typeface="Arial"/>
                <a:cs typeface="Arial"/>
              </a:rPr>
              <a:t>Proposed Methodology</a:t>
            </a:r>
          </a:p>
        </p:txBody>
      </p:sp>
      <p:sp>
        <p:nvSpPr>
          <p:cNvPr id="41" name="toc-methodology-chevron-1">
            <a:extLst xmlns:a="http://schemas.openxmlformats.org/drawingml/2006/main">
              <a:ext uri="{FF2B5EF4-FFF2-40B4-BE49-F238E27FC236}">
                <a16:creationId xmlns:a16="http://schemas.microsoft.com/office/drawing/2014/main" id="{898D85A8-87C8-4B49-8783-4EE9E608ED37}"/>
              </a:ext>
            </a:extLst>
          </p:cNvPr>
          <p:cNvSpPr>
            <a:spLocks xmlns:a="http://schemas.openxmlformats.org/drawingml/2006/main" noGrp="1"/>
          </p:cNvSpPr>
          <p:nvPr/>
        </p:nvSpPr>
        <p:spPr>
          <a:xfrm xmlns:a="http://schemas.openxmlformats.org/drawingml/2006/main">
            <a:off x="6924675" y="172402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42" name="toc-methodology-item-1">
            <a:extLst xmlns:a="http://schemas.openxmlformats.org/drawingml/2006/main">
              <a:ext uri="{FF2B5EF4-FFF2-40B4-BE49-F238E27FC236}">
                <a16:creationId xmlns:a16="http://schemas.microsoft.com/office/drawing/2014/main" id="{A4CFF20D-157F-454F-B635-EECE68EEF869}"/>
              </a:ext>
            </a:extLst>
          </p:cNvPr>
          <p:cNvSpPr>
            <a:spLocks xmlns:a="http://schemas.openxmlformats.org/drawingml/2006/main" noGrp="1"/>
          </p:cNvSpPr>
          <p:nvPr/>
        </p:nvSpPr>
        <p:spPr>
          <a:xfrm xmlns:a="http://schemas.openxmlformats.org/drawingml/2006/main">
            <a:off x="7210425" y="172402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System architecture</a:t>
            </a:r>
          </a:p>
        </p:txBody>
      </p:sp>
      <p:sp>
        <p:nvSpPr>
          <p:cNvPr id="43" name="toc-methodology-chevron-2">
            <a:extLst xmlns:a="http://schemas.openxmlformats.org/drawingml/2006/main">
              <a:ext uri="{FF2B5EF4-FFF2-40B4-BE49-F238E27FC236}">
                <a16:creationId xmlns:a16="http://schemas.microsoft.com/office/drawing/2014/main" id="{F61EACBB-1BD7-4BA3-A3C2-0179FCD97A8A}"/>
              </a:ext>
            </a:extLst>
          </p:cNvPr>
          <p:cNvSpPr>
            <a:spLocks xmlns:a="http://schemas.openxmlformats.org/drawingml/2006/main" noGrp="1"/>
          </p:cNvSpPr>
          <p:nvPr/>
        </p:nvSpPr>
        <p:spPr>
          <a:xfrm xmlns:a="http://schemas.openxmlformats.org/drawingml/2006/main">
            <a:off x="6924675" y="1981200"/>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44" name="toc-methodology-item-2">
            <a:extLst xmlns:a="http://schemas.openxmlformats.org/drawingml/2006/main">
              <a:ext uri="{FF2B5EF4-FFF2-40B4-BE49-F238E27FC236}">
                <a16:creationId xmlns:a16="http://schemas.microsoft.com/office/drawing/2014/main" id="{0AB78B8E-96B5-4C39-8107-F8733EE99738}"/>
              </a:ext>
            </a:extLst>
          </p:cNvPr>
          <p:cNvSpPr>
            <a:spLocks xmlns:a="http://schemas.openxmlformats.org/drawingml/2006/main" noGrp="1"/>
          </p:cNvSpPr>
          <p:nvPr/>
        </p:nvSpPr>
        <p:spPr>
          <a:xfrm xmlns:a="http://schemas.openxmlformats.org/drawingml/2006/main">
            <a:off x="7210425" y="1981200"/>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CAABC-FL compression workflow</a:t>
            </a:r>
          </a:p>
        </p:txBody>
      </p:sp>
      <p:sp>
        <p:nvSpPr>
          <p:cNvPr id="45" name="toc-methodology-chevron-3">
            <a:extLst xmlns:a="http://schemas.openxmlformats.org/drawingml/2006/main">
              <a:ext uri="{FF2B5EF4-FFF2-40B4-BE49-F238E27FC236}">
                <a16:creationId xmlns:a16="http://schemas.microsoft.com/office/drawing/2014/main" id="{4ED3A77D-BA0C-47C6-83DA-B54E214538E2}"/>
              </a:ext>
            </a:extLst>
          </p:cNvPr>
          <p:cNvSpPr>
            <a:spLocks xmlns:a="http://schemas.openxmlformats.org/drawingml/2006/main" noGrp="1"/>
          </p:cNvSpPr>
          <p:nvPr/>
        </p:nvSpPr>
        <p:spPr>
          <a:xfrm xmlns:a="http://schemas.openxmlformats.org/drawingml/2006/main">
            <a:off x="6924675" y="223837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46" name="toc-methodology-item-3">
            <a:extLst xmlns:a="http://schemas.openxmlformats.org/drawingml/2006/main">
              <a:ext uri="{FF2B5EF4-FFF2-40B4-BE49-F238E27FC236}">
                <a16:creationId xmlns:a16="http://schemas.microsoft.com/office/drawing/2014/main" id="{D52C2A79-AA2D-463E-BBAE-36212F64B884}"/>
              </a:ext>
            </a:extLst>
          </p:cNvPr>
          <p:cNvSpPr>
            <a:spLocks xmlns:a="http://schemas.openxmlformats.org/drawingml/2006/main" noGrp="1"/>
          </p:cNvSpPr>
          <p:nvPr/>
        </p:nvSpPr>
        <p:spPr>
          <a:xfrm xmlns:a="http://schemas.openxmlformats.org/drawingml/2006/main">
            <a:off x="7210425" y="223837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Secure aggregation and governance</a:t>
            </a:r>
          </a:p>
        </p:txBody>
      </p:sp>
      <p:sp>
        <p:nvSpPr>
          <p:cNvPr id="47" name="toc-results-marker">
            <a:extLst xmlns:a="http://schemas.openxmlformats.org/drawingml/2006/main">
              <a:ext uri="{FF2B5EF4-FFF2-40B4-BE49-F238E27FC236}">
                <a16:creationId xmlns:a16="http://schemas.microsoft.com/office/drawing/2014/main" id="{10C2522C-44D0-4082-AF42-04C34462661A}"/>
              </a:ext>
            </a:extLst>
          </p:cNvPr>
          <p:cNvSpPr>
            <a:spLocks xmlns:a="http://schemas.openxmlformats.org/drawingml/2006/main" noGrp="1"/>
          </p:cNvSpPr>
          <p:nvPr/>
        </p:nvSpPr>
        <p:spPr>
          <a:xfrm xmlns:a="http://schemas.openxmlformats.org/drawingml/2006/main">
            <a:off x="6524625" y="2828925"/>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48" name="toc-results-title">
            <a:extLst xmlns:a="http://schemas.openxmlformats.org/drawingml/2006/main">
              <a:ext uri="{FF2B5EF4-FFF2-40B4-BE49-F238E27FC236}">
                <a16:creationId xmlns:a16="http://schemas.microsoft.com/office/drawing/2014/main" id="{2FC1BAEF-4BA9-41A4-8397-2D1A99E7B213}"/>
              </a:ext>
            </a:extLst>
          </p:cNvPr>
          <p:cNvSpPr>
            <a:spLocks xmlns:a="http://schemas.openxmlformats.org/drawingml/2006/main" noGrp="1"/>
          </p:cNvSpPr>
          <p:nvPr/>
        </p:nvSpPr>
        <p:spPr>
          <a:xfrm xmlns:a="http://schemas.openxmlformats.org/drawingml/2006/main">
            <a:off x="6791325" y="2762250"/>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561" lnSpcReduction="20000"/>
          </a:bodyPr>
          <a:lstStyle xmlns:a="http://schemas.openxmlformats.org/drawingml/2006/main"/>
          <a:p xmlns:a="http://schemas.openxmlformats.org/drawingml/2006/main">
            <a:pPr>
              <a:buNone/>
              <a:defRPr sz="1650" b="1">
                <a:solidFill>
                  <a:srgbClr val="111111"/>
                </a:solidFill>
                <a:latin typeface="Arial"/>
                <a:ea typeface="Arial"/>
                <a:cs typeface="Arial"/>
              </a:defRPr>
            </a:pPr>
            <a:r>
              <a:rPr sz="1650" b="1">
                <a:solidFill>
                  <a:srgbClr val="111111"/>
                </a:solidFill>
                <a:latin typeface="Arial"/>
                <a:ea typeface="Arial"/>
                <a:cs typeface="Arial"/>
              </a:rPr>
              <a:t>Results and Discussion</a:t>
            </a:r>
          </a:p>
        </p:txBody>
      </p:sp>
      <p:sp>
        <p:nvSpPr>
          <p:cNvPr id="49" name="toc-results-chevron-1">
            <a:extLst xmlns:a="http://schemas.openxmlformats.org/drawingml/2006/main">
              <a:ext uri="{FF2B5EF4-FFF2-40B4-BE49-F238E27FC236}">
                <a16:creationId xmlns:a16="http://schemas.microsoft.com/office/drawing/2014/main" id="{BFE3A178-048D-45B4-895A-B74FDA4A9D96}"/>
              </a:ext>
            </a:extLst>
          </p:cNvPr>
          <p:cNvSpPr>
            <a:spLocks xmlns:a="http://schemas.openxmlformats.org/drawingml/2006/main" noGrp="1"/>
          </p:cNvSpPr>
          <p:nvPr/>
        </p:nvSpPr>
        <p:spPr>
          <a:xfrm xmlns:a="http://schemas.openxmlformats.org/drawingml/2006/main">
            <a:off x="6924675" y="3105150"/>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5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50" name="toc-results-item-1">
            <a:extLst xmlns:a="http://schemas.openxmlformats.org/drawingml/2006/main">
              <a:ext uri="{FF2B5EF4-FFF2-40B4-BE49-F238E27FC236}">
                <a16:creationId xmlns:a16="http://schemas.microsoft.com/office/drawing/2014/main" id="{59FB2C84-3D9F-4C7A-8EE0-3CCC7A9763D0}"/>
              </a:ext>
            </a:extLst>
          </p:cNvPr>
          <p:cNvSpPr>
            <a:spLocks xmlns:a="http://schemas.openxmlformats.org/drawingml/2006/main" noGrp="1"/>
          </p:cNvSpPr>
          <p:nvPr/>
        </p:nvSpPr>
        <p:spPr>
          <a:xfrm xmlns:a="http://schemas.openxmlformats.org/drawingml/2006/main">
            <a:off x="7210425" y="3105150"/>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00">
                <a:solidFill>
                  <a:srgbClr val="163F7A"/>
                </a:solidFill>
                <a:latin typeface="Arial"/>
                <a:ea typeface="Arial"/>
                <a:cs typeface="Arial"/>
              </a:defRPr>
            </a:pPr>
            <a:r>
              <a:rPr sz="1100">
                <a:solidFill>
                  <a:srgbClr val="163F7A"/>
                </a:solidFill>
                <a:latin typeface="Arial"/>
                <a:ea typeface="Arial"/>
                <a:cs typeface="Arial"/>
              </a:rPr>
              <a:t>Utility and SOTA comparison</a:t>
            </a:r>
          </a:p>
        </p:txBody>
      </p:sp>
      <p:sp>
        <p:nvSpPr>
          <p:cNvPr id="51" name="toc-results-chevron-2">
            <a:extLst xmlns:a="http://schemas.openxmlformats.org/drawingml/2006/main">
              <a:ext uri="{FF2B5EF4-FFF2-40B4-BE49-F238E27FC236}">
                <a16:creationId xmlns:a16="http://schemas.microsoft.com/office/drawing/2014/main" id="{693A6055-41BE-4002-867C-2A2D93478222}"/>
              </a:ext>
            </a:extLst>
          </p:cNvPr>
          <p:cNvSpPr>
            <a:spLocks xmlns:a="http://schemas.openxmlformats.org/drawingml/2006/main" noGrp="1"/>
          </p:cNvSpPr>
          <p:nvPr/>
        </p:nvSpPr>
        <p:spPr>
          <a:xfrm xmlns:a="http://schemas.openxmlformats.org/drawingml/2006/main">
            <a:off x="6924675" y="3324225"/>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5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52" name="toc-results-item-2">
            <a:extLst xmlns:a="http://schemas.openxmlformats.org/drawingml/2006/main">
              <a:ext uri="{FF2B5EF4-FFF2-40B4-BE49-F238E27FC236}">
                <a16:creationId xmlns:a16="http://schemas.microsoft.com/office/drawing/2014/main" id="{A9C286A5-3429-4610-BB13-5B91C42F687F}"/>
              </a:ext>
            </a:extLst>
          </p:cNvPr>
          <p:cNvSpPr>
            <a:spLocks xmlns:a="http://schemas.openxmlformats.org/drawingml/2006/main" noGrp="1"/>
          </p:cNvSpPr>
          <p:nvPr/>
        </p:nvSpPr>
        <p:spPr>
          <a:xfrm xmlns:a="http://schemas.openxmlformats.org/drawingml/2006/main">
            <a:off x="7210425" y="3324225"/>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00">
                <a:solidFill>
                  <a:srgbClr val="163F7A"/>
                </a:solidFill>
                <a:latin typeface="Arial"/>
                <a:ea typeface="Arial"/>
                <a:cs typeface="Arial"/>
              </a:defRPr>
            </a:pPr>
            <a:r>
              <a:rPr sz="1100">
                <a:solidFill>
                  <a:srgbClr val="163F7A"/>
                </a:solidFill>
                <a:latin typeface="Arial"/>
                <a:ea typeface="Arial"/>
                <a:cs typeface="Arial"/>
              </a:rPr>
              <a:t>Privacy and poisoning evaluation</a:t>
            </a:r>
          </a:p>
        </p:txBody>
      </p:sp>
      <p:sp>
        <p:nvSpPr>
          <p:cNvPr id="53" name="toc-results-chevron-3">
            <a:extLst xmlns:a="http://schemas.openxmlformats.org/drawingml/2006/main">
              <a:ext uri="{FF2B5EF4-FFF2-40B4-BE49-F238E27FC236}">
                <a16:creationId xmlns:a16="http://schemas.microsoft.com/office/drawing/2014/main" id="{965104E0-9FAC-4234-A276-285EB9B8EC51}"/>
              </a:ext>
            </a:extLst>
          </p:cNvPr>
          <p:cNvSpPr>
            <a:spLocks xmlns:a="http://schemas.openxmlformats.org/drawingml/2006/main" noGrp="1"/>
          </p:cNvSpPr>
          <p:nvPr/>
        </p:nvSpPr>
        <p:spPr>
          <a:xfrm xmlns:a="http://schemas.openxmlformats.org/drawingml/2006/main">
            <a:off x="6924675" y="3543300"/>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5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54" name="toc-results-item-3">
            <a:extLst xmlns:a="http://schemas.openxmlformats.org/drawingml/2006/main">
              <a:ext uri="{FF2B5EF4-FFF2-40B4-BE49-F238E27FC236}">
                <a16:creationId xmlns:a16="http://schemas.microsoft.com/office/drawing/2014/main" id="{C80C7BED-AA16-4BD3-8F0C-27F907CEC263}"/>
              </a:ext>
            </a:extLst>
          </p:cNvPr>
          <p:cNvSpPr>
            <a:spLocks xmlns:a="http://schemas.openxmlformats.org/drawingml/2006/main" noGrp="1"/>
          </p:cNvSpPr>
          <p:nvPr/>
        </p:nvSpPr>
        <p:spPr>
          <a:xfrm xmlns:a="http://schemas.openxmlformats.org/drawingml/2006/main">
            <a:off x="7210425" y="3543300"/>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00">
                <a:solidFill>
                  <a:srgbClr val="163F7A"/>
                </a:solidFill>
                <a:latin typeface="Arial"/>
                <a:ea typeface="Arial"/>
                <a:cs typeface="Arial"/>
              </a:defRPr>
            </a:pPr>
            <a:r>
              <a:rPr sz="1100">
                <a:solidFill>
                  <a:srgbClr val="163F7A"/>
                </a:solidFill>
                <a:latin typeface="Arial"/>
                <a:ea typeface="Arial"/>
                <a:cs typeface="Arial"/>
              </a:rPr>
              <a:t>Communication and system overhead</a:t>
            </a:r>
          </a:p>
        </p:txBody>
      </p:sp>
      <p:sp>
        <p:nvSpPr>
          <p:cNvPr id="55" name="toc-conclusion-marker">
            <a:extLst xmlns:a="http://schemas.openxmlformats.org/drawingml/2006/main">
              <a:ext uri="{FF2B5EF4-FFF2-40B4-BE49-F238E27FC236}">
                <a16:creationId xmlns:a16="http://schemas.microsoft.com/office/drawing/2014/main" id="{69B61DB8-2141-478A-BD1C-8BA90B396F02}"/>
              </a:ext>
            </a:extLst>
          </p:cNvPr>
          <p:cNvSpPr>
            <a:spLocks xmlns:a="http://schemas.openxmlformats.org/drawingml/2006/main" noGrp="1"/>
          </p:cNvSpPr>
          <p:nvPr/>
        </p:nvSpPr>
        <p:spPr>
          <a:xfrm xmlns:a="http://schemas.openxmlformats.org/drawingml/2006/main">
            <a:off x="6524625" y="4162425"/>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56" name="toc-conclusion-title">
            <a:extLst xmlns:a="http://schemas.openxmlformats.org/drawingml/2006/main">
              <a:ext uri="{FF2B5EF4-FFF2-40B4-BE49-F238E27FC236}">
                <a16:creationId xmlns:a16="http://schemas.microsoft.com/office/drawing/2014/main" id="{72296C49-88E0-4107-B8EA-B34F6D405042}"/>
              </a:ext>
            </a:extLst>
          </p:cNvPr>
          <p:cNvSpPr>
            <a:spLocks xmlns:a="http://schemas.openxmlformats.org/drawingml/2006/main" noGrp="1"/>
          </p:cNvSpPr>
          <p:nvPr/>
        </p:nvSpPr>
        <p:spPr>
          <a:xfrm xmlns:a="http://schemas.openxmlformats.org/drawingml/2006/main">
            <a:off x="6791325" y="4095750"/>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561" lnSpcReduction="20000"/>
          </a:bodyPr>
          <a:lstStyle xmlns:a="http://schemas.openxmlformats.org/drawingml/2006/main"/>
          <a:p xmlns:a="http://schemas.openxmlformats.org/drawingml/2006/main">
            <a:pPr>
              <a:buNone/>
              <a:defRPr sz="1650" b="1">
                <a:solidFill>
                  <a:srgbClr val="111111"/>
                </a:solidFill>
                <a:latin typeface="Arial"/>
                <a:ea typeface="Arial"/>
                <a:cs typeface="Arial"/>
              </a:defRPr>
            </a:pPr>
            <a:r>
              <a:rPr sz="1650" b="1">
                <a:solidFill>
                  <a:srgbClr val="111111"/>
                </a:solidFill>
                <a:latin typeface="Arial"/>
                <a:ea typeface="Arial"/>
                <a:cs typeface="Arial"/>
              </a:rPr>
              <a:t>Conclusion</a:t>
            </a:r>
          </a:p>
        </p:txBody>
      </p:sp>
      <p:sp>
        <p:nvSpPr>
          <p:cNvPr id="57" name="toc-conclusion-chevron-1">
            <a:extLst xmlns:a="http://schemas.openxmlformats.org/drawingml/2006/main">
              <a:ext uri="{FF2B5EF4-FFF2-40B4-BE49-F238E27FC236}">
                <a16:creationId xmlns:a16="http://schemas.microsoft.com/office/drawing/2014/main" id="{4A76E59A-9CB9-4AF6-ADB7-E14E5A9DC204}"/>
              </a:ext>
            </a:extLst>
          </p:cNvPr>
          <p:cNvSpPr>
            <a:spLocks xmlns:a="http://schemas.openxmlformats.org/drawingml/2006/main" noGrp="1"/>
          </p:cNvSpPr>
          <p:nvPr/>
        </p:nvSpPr>
        <p:spPr>
          <a:xfrm xmlns:a="http://schemas.openxmlformats.org/drawingml/2006/main">
            <a:off x="6924675" y="4438650"/>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5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58" name="toc-conclusion-item-1">
            <a:extLst xmlns:a="http://schemas.openxmlformats.org/drawingml/2006/main">
              <a:ext uri="{FF2B5EF4-FFF2-40B4-BE49-F238E27FC236}">
                <a16:creationId xmlns:a16="http://schemas.microsoft.com/office/drawing/2014/main" id="{B1322131-542A-43F3-BA4B-C08C786C5051}"/>
              </a:ext>
            </a:extLst>
          </p:cNvPr>
          <p:cNvSpPr>
            <a:spLocks xmlns:a="http://schemas.openxmlformats.org/drawingml/2006/main" noGrp="1"/>
          </p:cNvSpPr>
          <p:nvPr/>
        </p:nvSpPr>
        <p:spPr>
          <a:xfrm xmlns:a="http://schemas.openxmlformats.org/drawingml/2006/main">
            <a:off x="7210425" y="4438650"/>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00">
                <a:solidFill>
                  <a:srgbClr val="163F7A"/>
                </a:solidFill>
                <a:latin typeface="Arial"/>
                <a:ea typeface="Arial"/>
                <a:cs typeface="Arial"/>
              </a:defRPr>
            </a:pPr>
            <a:r>
              <a:rPr sz="1100">
                <a:solidFill>
                  <a:srgbClr val="163F7A"/>
                </a:solidFill>
                <a:latin typeface="Arial"/>
                <a:ea typeface="Arial"/>
                <a:cs typeface="Arial"/>
              </a:rPr>
              <a:t>Key findings</a:t>
            </a:r>
          </a:p>
        </p:txBody>
      </p:sp>
      <p:sp>
        <p:nvSpPr>
          <p:cNvPr id="59" name="toc-conclusion-chevron-2">
            <a:extLst xmlns:a="http://schemas.openxmlformats.org/drawingml/2006/main">
              <a:ext uri="{FF2B5EF4-FFF2-40B4-BE49-F238E27FC236}">
                <a16:creationId xmlns:a16="http://schemas.microsoft.com/office/drawing/2014/main" id="{28B5A2B1-4640-4306-A03B-C5F7A291ECC1}"/>
              </a:ext>
            </a:extLst>
          </p:cNvPr>
          <p:cNvSpPr>
            <a:spLocks xmlns:a="http://schemas.openxmlformats.org/drawingml/2006/main" noGrp="1"/>
          </p:cNvSpPr>
          <p:nvPr/>
        </p:nvSpPr>
        <p:spPr>
          <a:xfrm xmlns:a="http://schemas.openxmlformats.org/drawingml/2006/main">
            <a:off x="6924675" y="4657725"/>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5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60" name="toc-conclusion-item-2">
            <a:extLst xmlns:a="http://schemas.openxmlformats.org/drawingml/2006/main">
              <a:ext uri="{FF2B5EF4-FFF2-40B4-BE49-F238E27FC236}">
                <a16:creationId xmlns:a16="http://schemas.microsoft.com/office/drawing/2014/main" id="{6AA1D49E-53B4-4560-9562-067B62F7742C}"/>
              </a:ext>
            </a:extLst>
          </p:cNvPr>
          <p:cNvSpPr>
            <a:spLocks xmlns:a="http://schemas.openxmlformats.org/drawingml/2006/main" noGrp="1"/>
          </p:cNvSpPr>
          <p:nvPr/>
        </p:nvSpPr>
        <p:spPr>
          <a:xfrm xmlns:a="http://schemas.openxmlformats.org/drawingml/2006/main">
            <a:off x="7210425" y="4657725"/>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00">
                <a:solidFill>
                  <a:srgbClr val="163F7A"/>
                </a:solidFill>
                <a:latin typeface="Arial"/>
                <a:ea typeface="Arial"/>
                <a:cs typeface="Arial"/>
              </a:defRPr>
            </a:pPr>
            <a:r>
              <a:rPr sz="1100">
                <a:solidFill>
                  <a:srgbClr val="163F7A"/>
                </a:solidFill>
                <a:latin typeface="Arial"/>
                <a:ea typeface="Arial"/>
                <a:cs typeface="Arial"/>
              </a:rPr>
              <a:t>Limitations and future work</a:t>
            </a:r>
          </a:p>
        </p:txBody>
      </p:sp>
      <p:sp>
        <p:nvSpPr>
          <p:cNvPr id="61" name="toc-references-marker">
            <a:extLst xmlns:a="http://schemas.openxmlformats.org/drawingml/2006/main">
              <a:ext uri="{FF2B5EF4-FFF2-40B4-BE49-F238E27FC236}">
                <a16:creationId xmlns:a16="http://schemas.microsoft.com/office/drawing/2014/main" id="{56E7E56D-00A8-47B6-8CB6-E2520A4A7ABC}"/>
              </a:ext>
            </a:extLst>
          </p:cNvPr>
          <p:cNvSpPr>
            <a:spLocks xmlns:a="http://schemas.openxmlformats.org/drawingml/2006/main" noGrp="1"/>
          </p:cNvSpPr>
          <p:nvPr/>
        </p:nvSpPr>
        <p:spPr>
          <a:xfrm xmlns:a="http://schemas.openxmlformats.org/drawingml/2006/main">
            <a:off x="6524625" y="5305425"/>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62" name="toc-references-title">
            <a:extLst xmlns:a="http://schemas.openxmlformats.org/drawingml/2006/main">
              <a:ext uri="{FF2B5EF4-FFF2-40B4-BE49-F238E27FC236}">
                <a16:creationId xmlns:a16="http://schemas.microsoft.com/office/drawing/2014/main" id="{053741A0-E53F-4F38-9194-182EC15568D1}"/>
              </a:ext>
            </a:extLst>
          </p:cNvPr>
          <p:cNvSpPr>
            <a:spLocks xmlns:a="http://schemas.openxmlformats.org/drawingml/2006/main" noGrp="1"/>
          </p:cNvSpPr>
          <p:nvPr/>
        </p:nvSpPr>
        <p:spPr>
          <a:xfrm xmlns:a="http://schemas.openxmlformats.org/drawingml/2006/main">
            <a:off x="6791325" y="5238750"/>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561" lnSpcReduction="20000"/>
          </a:bodyPr>
          <a:lstStyle xmlns:a="http://schemas.openxmlformats.org/drawingml/2006/main"/>
          <a:p xmlns:a="http://schemas.openxmlformats.org/drawingml/2006/main">
            <a:pPr>
              <a:buNone/>
              <a:defRPr sz="1650" b="1">
                <a:solidFill>
                  <a:srgbClr val="111111"/>
                </a:solidFill>
                <a:latin typeface="Arial"/>
                <a:ea typeface="Arial"/>
                <a:cs typeface="Arial"/>
              </a:defRPr>
            </a:pPr>
            <a:r>
              <a:rPr sz="1650" b="1">
                <a:solidFill>
                  <a:srgbClr val="111111"/>
                </a:solidFill>
                <a:latin typeface="Arial"/>
                <a:ea typeface="Arial"/>
                <a:cs typeface="Arial"/>
              </a:rPr>
              <a:t>References</a:t>
            </a:r>
          </a:p>
        </p:txBody>
      </p:sp>
      <p:sp>
        <p:nvSpPr>
          <p:cNvPr id="63" name="toc-qa-marker">
            <a:extLst xmlns:a="http://schemas.openxmlformats.org/drawingml/2006/main">
              <a:ext uri="{FF2B5EF4-FFF2-40B4-BE49-F238E27FC236}">
                <a16:creationId xmlns:a16="http://schemas.microsoft.com/office/drawing/2014/main" id="{50E564AC-0AD9-43EF-9688-9300AF44AA2E}"/>
              </a:ext>
            </a:extLst>
          </p:cNvPr>
          <p:cNvSpPr>
            <a:spLocks xmlns:a="http://schemas.openxmlformats.org/drawingml/2006/main" noGrp="1"/>
          </p:cNvSpPr>
          <p:nvPr/>
        </p:nvSpPr>
        <p:spPr>
          <a:xfrm xmlns:a="http://schemas.openxmlformats.org/drawingml/2006/main">
            <a:off x="6524625" y="5705475"/>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64" name="toc-qa-title">
            <a:extLst xmlns:a="http://schemas.openxmlformats.org/drawingml/2006/main">
              <a:ext uri="{FF2B5EF4-FFF2-40B4-BE49-F238E27FC236}">
                <a16:creationId xmlns:a16="http://schemas.microsoft.com/office/drawing/2014/main" id="{13AECCC3-356B-4082-B658-74DDFEF6FB2B}"/>
              </a:ext>
            </a:extLst>
          </p:cNvPr>
          <p:cNvSpPr>
            <a:spLocks xmlns:a="http://schemas.openxmlformats.org/drawingml/2006/main" noGrp="1"/>
          </p:cNvSpPr>
          <p:nvPr/>
        </p:nvSpPr>
        <p:spPr>
          <a:xfrm xmlns:a="http://schemas.openxmlformats.org/drawingml/2006/main">
            <a:off x="6791325" y="5638800"/>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561" lnSpcReduction="20000"/>
          </a:bodyPr>
          <a:lstStyle xmlns:a="http://schemas.openxmlformats.org/drawingml/2006/main"/>
          <a:p xmlns:a="http://schemas.openxmlformats.org/drawingml/2006/main">
            <a:pPr>
              <a:buNone/>
              <a:defRPr sz="1650" b="1">
                <a:solidFill>
                  <a:srgbClr val="111111"/>
                </a:solidFill>
                <a:latin typeface="Arial"/>
                <a:ea typeface="Arial"/>
                <a:cs typeface="Arial"/>
              </a:defRPr>
            </a:pPr>
            <a:r>
              <a:rPr sz="1650" b="1">
                <a:solidFill>
                  <a:srgbClr val="111111"/>
                </a:solidFill>
                <a:latin typeface="Arial"/>
                <a:ea typeface="Arial"/>
                <a:cs typeface="Arial"/>
              </a:rPr>
              <a:t>Question and Answer Session</a:t>
            </a:r>
          </a:p>
        </p:txBody>
      </p:sp>
      <p:sp>
        <p:nvSpPr>
          <p:cNvPr id="67" name="toc-methodology-chevron-4">
            <a:extLst xmlns:a="http://schemas.openxmlformats.org/drawingml/2006/main">
              <a:ext uri="{FF2B5EF4-FFF2-40B4-BE49-F238E27FC236}">
                <a16:creationId xmlns:a16="http://schemas.microsoft.com/office/drawing/2014/main" id="{C2E9D660-0BA0-4C17-A6BF-4720A13BED54}"/>
              </a:ext>
            </a:extLst>
          </p:cNvPr>
          <p:cNvSpPr>
            <a:spLocks xmlns:a="http://schemas.openxmlformats.org/drawingml/2006/main" noGrp="1"/>
          </p:cNvSpPr>
          <p:nvPr/>
        </p:nvSpPr>
        <p:spPr>
          <a:xfrm xmlns:a="http://schemas.openxmlformats.org/drawingml/2006/main">
            <a:off x="6924675" y="2495550"/>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717" lnSpcReduction="20000"/>
          </a:bodyPr>
          <a:lstStyle xmlns:a="http://schemas.openxmlformats.org/drawingml/2006/main"/>
          <a:p xmlns:a="http://schemas.openxmlformats.org/drawingml/2006/main">
            <a:pPr>
              <a:buNone/>
              <a:defRPr sz="1500">
                <a:solidFill>
                  <a:srgbClr val="062B6F"/>
                </a:solidFill>
                <a:latin typeface="Arial"/>
                <a:ea typeface="Arial"/>
                <a:cs typeface="Arial"/>
              </a:defRPr>
            </a:pPr>
            <a:r>
              <a:rPr sz="1500">
                <a:solidFill>
                  <a:srgbClr val="062B6F"/>
                </a:solidFill>
                <a:latin typeface="Arial"/>
                <a:ea typeface="Arial"/>
                <a:cs typeface="Arial"/>
              </a:rPr>
              <a:t>›</a:t>
            </a:r>
          </a:p>
        </p:txBody>
      </p:sp>
      <p:sp>
        <p:nvSpPr>
          <p:cNvPr id="68" name="toc-methodology-item-4">
            <a:extLst xmlns:a="http://schemas.openxmlformats.org/drawingml/2006/main">
              <a:ext uri="{FF2B5EF4-FFF2-40B4-BE49-F238E27FC236}">
                <a16:creationId xmlns:a16="http://schemas.microsoft.com/office/drawing/2014/main" id="{3EEF4DBE-7521-41BB-B778-0D9CA8F443FD}"/>
              </a:ext>
            </a:extLst>
          </p:cNvPr>
          <p:cNvSpPr>
            <a:spLocks xmlns:a="http://schemas.openxmlformats.org/drawingml/2006/main" noGrp="1"/>
          </p:cNvSpPr>
          <p:nvPr/>
        </p:nvSpPr>
        <p:spPr>
          <a:xfrm xmlns:a="http://schemas.openxmlformats.org/drawingml/2006/main">
            <a:off x="7210425" y="2495550"/>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75">
                <a:solidFill>
                  <a:srgbClr val="062B6F"/>
                </a:solidFill>
                <a:latin typeface="Arial"/>
                <a:ea typeface="Arial"/>
                <a:cs typeface="Arial"/>
              </a:defRPr>
            </a:pPr>
            <a:r>
              <a:rPr sz="1100">
                <a:solidFill>
                  <a:srgbClr val="062B6F"/>
                </a:solidFill>
                <a:latin typeface="Arial"/>
                <a:ea typeface="Arial"/>
                <a:cs typeface="Arial"/>
              </a:rPr>
              <a:t>Experimental setup</a:t>
            </a:r>
          </a:p>
        </p:txBody>
      </p:sp>
      <p:pic>
        <p:nvPicPr>
          <p:cNvPr id="132" name="Picture 1"/>
          <p:cNvPicPr>
            <a:picLocks xmlns:a="http://schemas.openxmlformats.org/drawingml/2006/main" noChangeAspect="1"/>
          </p:cNvPicPr>
          <p:nvPr/>
        </p:nvPicPr>
        <p:blipFill>
          <a:blip xmlns:r="http://schemas.openxmlformats.org/officeDocument/2006/relationships" xmlns:a="http://schemas.openxmlformats.org/drawingml/2006/main" r:embed="R6940ef6f77034bda"/>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172329875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427" name="Google Shape;199;p27"/>
          <p:cNvPicPr>
            <a:picLocks xmlns:a="http://schemas.openxmlformats.org/drawingml/2006/main" noChangeAspect="1"/>
          </p:cNvPicPr>
          <p:nvPr/>
        </p:nvPicPr>
        <p:blipFill rotWithShape="1">
          <a:blip xmlns:r="http://schemas.openxmlformats.org/officeDocument/2006/relationships" xmlns:a="http://schemas.openxmlformats.org/drawingml/2006/main" r:embed="R789e206bc72c425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428" name="Google Shape;200;p27"/>
          <p:cNvPicPr>
            <a:picLocks xmlns:a="http://schemas.openxmlformats.org/drawingml/2006/main" noChangeAspect="1"/>
          </p:cNvPicPr>
          <p:nvPr/>
        </p:nvPicPr>
        <p:blipFill rotWithShape="1">
          <a:blip xmlns:r="http://schemas.openxmlformats.org/officeDocument/2006/relationships" xmlns:a="http://schemas.openxmlformats.org/drawingml/2006/main" r:embed="R233d2079a06a4196">
            <a:alphaModFix/>
          </a:blip>
          <a:srcRect xmlns:a="http://schemas.openxmlformats.org/drawingml/2006/main" l="1187" t="2321" r="3422" b="0"/>
          <a:stretch xmlns:a="http://schemas.openxmlformats.org/drawingml/2006/main"/>
        </p:blipFill>
        <p:spPr>
          <a:xfrm xmlns:a="http://schemas.openxmlformats.org/drawingml/2006/main">
            <a:off x="2210143" y="387774"/>
            <a:ext cx="7565366" cy="5537780"/>
          </a:xfrm>
          <a:prstGeom xmlns:a="http://schemas.openxmlformats.org/drawingml/2006/main" prst="rect">
            <a:avLst/>
          </a:prstGeom>
          <a:ln xmlns:a="http://schemas.openxmlformats.org/drawingml/2006/main">
            <a:noFill/>
          </a:ln>
        </p:spPr>
      </p:pic>
      <p:sp>
        <p:nvSpPr>
          <p:cNvPr id="201" name="Google Shape;201;p27">
            <a:extLst xmlns:a="http://schemas.openxmlformats.org/drawingml/2006/main">
              <a:ext uri="{FF2B5EF4-FFF2-40B4-BE49-F238E27FC236}">
                <a16:creationId xmlns:a16="http://schemas.microsoft.com/office/drawing/2014/main" id="{93E0F582-6E51-4162-8A2F-EFB74E6438E3}"/>
              </a:ext>
            </a:extLst>
          </p:cNvPr>
          <p:cNvSpPr>
            <a:spLocks xmlns:a="http://schemas.openxmlformats.org/drawingml/2006/main" noGrp="1"/>
          </p:cNvSpPr>
          <p:nvPr>
            <p:ph type="title" idx="0"/>
          </p:nvPr>
        </p:nvSpPr>
        <p:spPr>
          <a:xfrm xmlns:a="http://schemas.openxmlformats.org/drawingml/2006/main">
            <a:off x="3812946" y="4409776"/>
            <a:ext cx="4607154"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Introduction</a:t>
            </a:r>
            <a:endParaRPr/>
          </a:p>
        </p:txBody>
      </p:sp>
      <p:pic>
        <p:nvPicPr>
          <p:cNvPr id="430" name="Google Shape;202;p27"/>
          <p:cNvPicPr>
            <a:picLocks xmlns:a="http://schemas.openxmlformats.org/drawingml/2006/main" noChangeAspect="1"/>
          </p:cNvPicPr>
          <p:nvPr/>
        </p:nvPicPr>
        <p:blipFill rotWithShape="1">
          <a:blip xmlns:r="http://schemas.openxmlformats.org/officeDocument/2006/relationships" xmlns:a="http://schemas.openxmlformats.org/drawingml/2006/main" r:embed="R2fdb868eee164809">
            <a:alphaModFix/>
          </a:blip>
          <a:srcRect xmlns:a="http://schemas.openxmlformats.org/drawingml/2006/main" l="0" t="0" r="4230" b="13909"/>
          <a:stretch xmlns:a="http://schemas.openxmlformats.org/drawingml/2006/main"/>
        </p:blipFill>
        <p:spPr>
          <a:xfrm xmlns:a="http://schemas.openxmlformats.org/drawingml/2006/main">
            <a:off x="3842633" y="1651423"/>
            <a:ext cx="4300387" cy="2571491"/>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cxnSp>
        <p:nvCxnSpPr>
          <p:cNvPr id="431" name="Google Shape;203;p27"/>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5" name="Google Shape;212;p28">
            <a:extLst xmlns:a="http://schemas.openxmlformats.org/drawingml/2006/main">
              <a:ext uri="{FF2B5EF4-FFF2-40B4-BE49-F238E27FC236}">
                <a16:creationId xmlns:a16="http://schemas.microsoft.com/office/drawing/2014/main" id="{56147DD4-9B84-A1BE-89BE-879B8166E80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a:t>
            </a:r>
            <a:endParaRPr sz="2800"/>
          </a:p>
        </p:txBody>
      </p:sp>
      <p:sp>
        <p:nvSpPr>
          <p:cNvPr id="6" name="Google Shape;216;p28">
            <a:extLst xmlns:a="http://schemas.openxmlformats.org/drawingml/2006/main">
              <a:ext uri="{FF2B5EF4-FFF2-40B4-BE49-F238E27FC236}">
                <a16:creationId xmlns:a16="http://schemas.microsoft.com/office/drawing/2014/main" id="{1980D1FA-5005-7E4D-C30C-9433C3A7A1F4}"/>
              </a:ext>
            </a:extLst>
          </p:cNvPr>
          <p:cNvSpPr>
            <a:spLocks xmlns:a="http://schemas.openxmlformats.org/drawingml/2006/main" noGrp="1"/>
          </p:cNvSpPr>
          <p:nvPr>
            <p:ph type="ftr" idx="11"/>
          </p:nvPr>
        </p:nvSpPr>
        <p:spPr>
          <a:xfrm xmlns:a="http://schemas.openxmlformats.org/drawingml/2006/main">
            <a:off x="2671629" y="6628374"/>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8" name="visible-footer-date-3">
            <a:extLst xmlns:a="http://schemas.openxmlformats.org/drawingml/2006/main">
              <a:ext uri="{FF2B5EF4-FFF2-40B4-BE49-F238E27FC236}">
                <a16:creationId xmlns:a16="http://schemas.microsoft.com/office/drawing/2014/main" id="{0D974343-99E9-4287-BF9D-988FF4ED080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435" name="Picture 1"/>
          <p:cNvPicPr>
            <a:picLocks xmlns:a="http://schemas.openxmlformats.org/drawingml/2006/main" noChangeAspect="1"/>
          </p:cNvPicPr>
          <p:nvPr/>
        </p:nvPicPr>
        <p:blipFill>
          <a:blip xmlns:r="http://schemas.openxmlformats.org/officeDocument/2006/relationships" xmlns:a="http://schemas.openxmlformats.org/drawingml/2006/main" r:embed="R72750d5b09c94dc2"/>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26555850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8060B94-F0A7-BBB7-7486-80C8EB40E694}"/>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Background</a:t>
            </a:r>
            <a:endParaRPr/>
          </a:p>
        </p:txBody>
      </p:sp>
      <p:sp>
        <p:nvSpPr>
          <p:cNvPr id="212" name="Google Shape;212;p28">
            <a:extLst xmlns:a="http://schemas.openxmlformats.org/drawingml/2006/main">
              <a:ext uri="{FF2B5EF4-FFF2-40B4-BE49-F238E27FC236}">
                <a16:creationId xmlns:a16="http://schemas.microsoft.com/office/drawing/2014/main" id="{094C318A-19D8-5521-E2E0-1C2CFE74D475}"/>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4</a:t>
            </a:r>
            <a:endParaRPr sz="2800"/>
          </a:p>
        </p:txBody>
      </p:sp>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b3b473435cb461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A258BE3-D874-B47F-982B-9CAFDD5EE44E}"/>
              </a:ext>
            </a:extLst>
          </p:cNvPr>
          <p:cNvSpPr>
            <a:spLocks xmlns:a="http://schemas.openxmlformats.org/drawingml/2006/main" noGrp="1"/>
          </p:cNvSpPr>
          <p:nvPr>
            <p:ph type="ftr" idx="11"/>
          </p:nvPr>
        </p:nvSpPr>
        <p:spPr>
          <a:xfrm xmlns:a="http://schemas.openxmlformats.org/drawingml/2006/main">
            <a:off x="2671629" y="6628374"/>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background-bullets">
            <a:extLst xmlns:a="http://schemas.openxmlformats.org/drawingml/2006/main">
              <a:ext uri="{FF2B5EF4-FFF2-40B4-BE49-F238E27FC236}">
                <a16:creationId xmlns:a16="http://schemas.microsoft.com/office/drawing/2014/main" id="{7A35AAE5-73D3-4501-9C42-D8BB41FFAE7D}"/>
              </a:ext>
            </a:extLst>
          </p:cNvPr>
          <p:cNvSpPr>
            <a:spLocks xmlns:a="http://schemas.openxmlformats.org/drawingml/2006/main" noGrp="1"/>
          </p:cNvSpPr>
          <p:nvPr/>
        </p:nvSpPr>
        <p:spPr>
          <a:xfrm xmlns:a="http://schemas.openxmlformats.org/drawingml/2006/main">
            <a:off x="955813" y="2077900"/>
            <a:ext cx="476250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marL="254000" indent="-127000" algn="just">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Hospitals hold complementary clinical data, but direct pooling raises privacy, ownership, and breach risks.</a:t>
            </a:r>
          </a:p>
          <a:p xmlns:a="http://schemas.openxmlformats.org/drawingml/2006/main">
            <a:pPr marL="254000" indent="-127000" algn="just">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Federated learning keeps patient records local, yet model updates may still expose membership or training features [1]–[6].</a:t>
            </a:r>
          </a:p>
          <a:p xmlns:a="http://schemas.openxmlformats.org/drawingml/2006/main">
            <a:pPr marL="254000" indent="-127000" algn="just">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Encryption protects update values, but it increases communication cost and limits plaintext poisoning defenses.</a:t>
            </a:r>
          </a:p>
        </p:txBody>
      </p:sp>
      <p:sp>
        <p:nvSpPr>
          <p:cNvPr id="224" name="visible-footer-date-4">
            <a:extLst xmlns:a="http://schemas.openxmlformats.org/drawingml/2006/main">
              <a:ext uri="{FF2B5EF4-FFF2-40B4-BE49-F238E27FC236}">
                <a16:creationId xmlns:a16="http://schemas.microsoft.com/office/drawing/2014/main" id="{F0E64F9B-250A-466D-8D13-72D9F2A8EE9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34" name="Picture 236"/>
          <p:cNvPicPr>
            <a:picLocks xmlns:a="http://schemas.openxmlformats.org/drawingml/2006/main" noChangeAspect="1"/>
          </p:cNvPicPr>
          <p:nvPr/>
        </p:nvPicPr>
        <p:blipFill>
          <a:blip xmlns:r="http://schemas.openxmlformats.org/officeDocument/2006/relationships" xmlns:a="http://schemas.openxmlformats.org/drawingml/2006/main" r:embed="Rb58541e48ee64f57"/>
          <a:stretch xmlns:a="http://schemas.openxmlformats.org/drawingml/2006/main"/>
        </p:blipFill>
        <p:spPr>
          <a:xfrm xmlns:a="http://schemas.openxmlformats.org/drawingml/2006/main">
            <a:off x="5905500" y="1568450"/>
            <a:ext cx="5667375" cy="3778250"/>
          </a:xfrm>
          <a:prstGeom xmlns:a="http://schemas.openxmlformats.org/drawingml/2006/main" prst="rect">
            <a:avLst/>
          </a:prstGeom>
        </p:spPr>
      </p:pic>
      <p:pic>
        <p:nvPicPr>
          <p:cNvPr id="235" name="Picture 1"/>
          <p:cNvPicPr>
            <a:picLocks xmlns:a="http://schemas.openxmlformats.org/drawingml/2006/main" noChangeAspect="1"/>
          </p:cNvPicPr>
          <p:nvPr/>
        </p:nvPicPr>
        <p:blipFill>
          <a:blip xmlns:r="http://schemas.openxmlformats.org/officeDocument/2006/relationships" xmlns:a="http://schemas.openxmlformats.org/drawingml/2006/main" r:embed="Rcf23c2db0bd7421b"/>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406152535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6008738-B2C1-0318-4913-BD8F65E3BEEB}"/>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Statement</a:t>
            </a:r>
            <a:endParaRPr/>
          </a:p>
        </p:txBody>
      </p:sp>
      <p:sp>
        <p:nvSpPr>
          <p:cNvPr id="212" name="Google Shape;212;p28">
            <a:extLst xmlns:a="http://schemas.openxmlformats.org/drawingml/2006/main">
              <a:ext uri="{FF2B5EF4-FFF2-40B4-BE49-F238E27FC236}">
                <a16:creationId xmlns:a16="http://schemas.microsoft.com/office/drawing/2014/main" id="{BEDC7090-C035-9865-94B8-1E35B6B2D2E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5</a:t>
            </a:r>
            <a:endParaRPr sz="2800"/>
          </a:p>
        </p:txBody>
      </p:sp>
      <p:pic>
        <p:nvPicPr>
          <p:cNvPr id="23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2b0bb1348a74e6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206E9E3C-2F4C-B1FD-95E0-AACB117CFB97}"/>
              </a:ext>
            </a:extLst>
          </p:cNvPr>
          <p:cNvSpPr>
            <a:spLocks xmlns:a="http://schemas.openxmlformats.org/drawingml/2006/main" noGrp="1"/>
          </p:cNvSpPr>
          <p:nvPr>
            <p:ph type="ftr" idx="11"/>
          </p:nvPr>
        </p:nvSpPr>
        <p:spPr>
          <a:xfrm xmlns:a="http://schemas.openxmlformats.org/drawingml/2006/main">
            <a:off x="2671629" y="6628374"/>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4" name="visible-footer-date-5">
            <a:extLst xmlns:a="http://schemas.openxmlformats.org/drawingml/2006/main">
              <a:ext uri="{FF2B5EF4-FFF2-40B4-BE49-F238E27FC236}">
                <a16:creationId xmlns:a16="http://schemas.microsoft.com/office/drawing/2014/main" id="{AD61C2BA-765E-42A0-B4FD-3AD8841EC0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7" name="problem-paragraph">
            <a:extLst xmlns:a="http://schemas.openxmlformats.org/drawingml/2006/main">
              <a:ext uri="{FF2B5EF4-FFF2-40B4-BE49-F238E27FC236}">
                <a16:creationId xmlns:a16="http://schemas.microsoft.com/office/drawing/2014/main" id="{948838D7-D613-4BEB-8C00-F91DA90BFDC9}"/>
              </a:ext>
            </a:extLst>
          </p:cNvPr>
          <p:cNvSpPr>
            <a:spLocks xmlns:a="http://schemas.openxmlformats.org/drawingml/2006/main" noGrp="1"/>
          </p:cNvSpPr>
          <p:nvPr/>
        </p:nvSpPr>
        <p:spPr>
          <a:xfrm xmlns:a="http://schemas.openxmlformats.org/drawingml/2006/main">
            <a:off x="1047746" y="1952625"/>
            <a:ext cx="101917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just">
              <a:buNone/>
              <a:defRPr sz="1800">
                <a:solidFill>
                  <a:srgbClr val="1F2937"/>
                </a:solidFill>
                <a:latin typeface="Arial"/>
                <a:ea typeface="Arial"/>
                <a:cs typeface="Arial"/>
              </a:defRPr>
            </a:pPr>
            <a:r>
              <a:rPr sz="1800">
                <a:solidFill>
                  <a:srgbClr val="1F2937"/>
                </a:solidFill>
                <a:latin typeface="Arial"/>
                <a:ea typeface="Arial"/>
                <a:cs typeface="Arial"/>
              </a:rPr>
              <a:t>Although federated learning keeps patient records within each institution, the gradients and model updates exchanged during training may still expose sensitive information through membership inference or reconstruction attacks. Applying CKKS encryption protects update values, but it increases the serialized communication payload and prevents many poisoning defenses from examining individual plaintext updates. Existing systems may also depend on centralized decryption, unverifiable aggregation, or limited audit evidence, which concentrates trust and reduces accountability. Current approaches therefore seldom provide record-level privacy, practical encrypted communication, poisoning resilience, and independently verifiable governance within one evaluated multi-institutional healthcare framework.</a:t>
            </a:r>
          </a:p>
        </p:txBody>
      </p:sp>
      <p:pic>
        <p:nvPicPr>
          <p:cNvPr id="236" name="Picture 1"/>
          <p:cNvPicPr>
            <a:picLocks xmlns:a="http://schemas.openxmlformats.org/drawingml/2006/main" noChangeAspect="1"/>
          </p:cNvPicPr>
          <p:nvPr/>
        </p:nvPicPr>
        <p:blipFill>
          <a:blip xmlns:r="http://schemas.openxmlformats.org/officeDocument/2006/relationships" xmlns:a="http://schemas.openxmlformats.org/drawingml/2006/main" r:embed="R4127f0908559403b"/>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280351465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Motivation (1/2)</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6</a:t>
            </a:r>
            <a:endParaRPr sz="2800"/>
          </a:p>
        </p:txBody>
      </p:sp>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9fac12d245b4fe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8374"/>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motivation-heading-0">
            <a:extLst xmlns:a="http://schemas.openxmlformats.org/drawingml/2006/main">
              <a:ext uri="{FF2B5EF4-FFF2-40B4-BE49-F238E27FC236}">
                <a16:creationId xmlns:a16="http://schemas.microsoft.com/office/drawing/2014/main" id="{14A171B0-83C8-4934-A272-DC1FE3A12919}"/>
              </a:ext>
            </a:extLst>
          </p:cNvPr>
          <p:cNvSpPr>
            <a:spLocks xmlns:a="http://schemas.openxmlformats.org/drawingml/2006/main" noGrp="1"/>
          </p:cNvSpPr>
          <p:nvPr/>
        </p:nvSpPr>
        <p:spPr>
          <a:xfrm xmlns:a="http://schemas.openxmlformats.org/drawingml/2006/main">
            <a:off x="8096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lnSpcReduction="10000"/>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Clinical collaboration</a:t>
            </a:r>
          </a:p>
        </p:txBody>
      </p:sp>
      <p:sp>
        <p:nvSpPr>
          <p:cNvPr id="221" name="rule-105-255">
            <a:extLst xmlns:a="http://schemas.openxmlformats.org/drawingml/2006/main">
              <a:ext uri="{FF2B5EF4-FFF2-40B4-BE49-F238E27FC236}">
                <a16:creationId xmlns:a16="http://schemas.microsoft.com/office/drawing/2014/main" id="{E5090A77-5EBC-49F7-AA49-0C779200C562}"/>
              </a:ext>
            </a:extLst>
          </p:cNvPr>
          <p:cNvSpPr>
            <a:spLocks xmlns:a="http://schemas.openxmlformats.org/drawingml/2006/main" noGrp="1"/>
          </p:cNvSpPr>
          <p:nvPr/>
        </p:nvSpPr>
        <p:spPr>
          <a:xfrm xmlns:a="http://schemas.openxmlformats.org/drawingml/2006/main">
            <a:off x="10001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motivation-body-0">
            <a:extLst xmlns:a="http://schemas.openxmlformats.org/drawingml/2006/main">
              <a:ext uri="{FF2B5EF4-FFF2-40B4-BE49-F238E27FC236}">
                <a16:creationId xmlns:a16="http://schemas.microsoft.com/office/drawing/2014/main" id="{3754FDFD-4FD5-4944-A570-00B5E343FF7B}"/>
              </a:ext>
            </a:extLst>
          </p:cNvPr>
          <p:cNvSpPr>
            <a:spLocks xmlns:a="http://schemas.openxmlformats.org/drawingml/2006/main" noGrp="1"/>
          </p:cNvSpPr>
          <p:nvPr/>
        </p:nvSpPr>
        <p:spPr>
          <a:xfrm xmlns:a="http://schemas.openxmlformats.org/drawingml/2006/main">
            <a:off x="8096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Use diverse hospital data without transferring source records.</a:t>
            </a:r>
          </a:p>
        </p:txBody>
      </p:sp>
      <p:sp>
        <p:nvSpPr>
          <p:cNvPr id="223" name="motivation-heading-1">
            <a:extLst xmlns:a="http://schemas.openxmlformats.org/drawingml/2006/main">
              <a:ext uri="{FF2B5EF4-FFF2-40B4-BE49-F238E27FC236}">
                <a16:creationId xmlns:a16="http://schemas.microsoft.com/office/drawing/2014/main" id="{8BD53C23-3158-4388-922E-A2955C2B72C8}"/>
              </a:ext>
            </a:extLst>
          </p:cNvPr>
          <p:cNvSpPr>
            <a:spLocks xmlns:a="http://schemas.openxmlformats.org/drawingml/2006/main" noGrp="1"/>
          </p:cNvSpPr>
          <p:nvPr/>
        </p:nvSpPr>
        <p:spPr>
          <a:xfrm xmlns:a="http://schemas.openxmlformats.org/drawingml/2006/main">
            <a:off x="35909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lnSpcReduction="10000"/>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Measurable privacy</a:t>
            </a:r>
          </a:p>
        </p:txBody>
      </p:sp>
      <p:sp>
        <p:nvSpPr>
          <p:cNvPr id="224" name="rule-397-255">
            <a:extLst xmlns:a="http://schemas.openxmlformats.org/drawingml/2006/main">
              <a:ext uri="{FF2B5EF4-FFF2-40B4-BE49-F238E27FC236}">
                <a16:creationId xmlns:a16="http://schemas.microsoft.com/office/drawing/2014/main" id="{C11FE3ED-7396-42C9-A9AF-60BA17EA4AF5}"/>
              </a:ext>
            </a:extLst>
          </p:cNvPr>
          <p:cNvSpPr>
            <a:spLocks xmlns:a="http://schemas.openxmlformats.org/drawingml/2006/main" noGrp="1"/>
          </p:cNvSpPr>
          <p:nvPr/>
        </p:nvSpPr>
        <p:spPr>
          <a:xfrm xmlns:a="http://schemas.openxmlformats.org/drawingml/2006/main">
            <a:off x="37814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motivation-body-1">
            <a:extLst xmlns:a="http://schemas.openxmlformats.org/drawingml/2006/main">
              <a:ext uri="{FF2B5EF4-FFF2-40B4-BE49-F238E27FC236}">
                <a16:creationId xmlns:a16="http://schemas.microsoft.com/office/drawing/2014/main" id="{423A7667-0058-4E83-8599-24DD016E4200}"/>
              </a:ext>
            </a:extLst>
          </p:cNvPr>
          <p:cNvSpPr>
            <a:spLocks xmlns:a="http://schemas.openxmlformats.org/drawingml/2006/main" noGrp="1"/>
          </p:cNvSpPr>
          <p:nvPr/>
        </p:nvSpPr>
        <p:spPr>
          <a:xfrm xmlns:a="http://schemas.openxmlformats.org/drawingml/2006/main">
            <a:off x="35909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Combine formal differential privacy with empirical attack evaluation.</a:t>
            </a:r>
          </a:p>
        </p:txBody>
      </p:sp>
      <p:sp>
        <p:nvSpPr>
          <p:cNvPr id="226" name="motivation-heading-2">
            <a:extLst xmlns:a="http://schemas.openxmlformats.org/drawingml/2006/main">
              <a:ext uri="{FF2B5EF4-FFF2-40B4-BE49-F238E27FC236}">
                <a16:creationId xmlns:a16="http://schemas.microsoft.com/office/drawing/2014/main" id="{2E7B4BD8-ADFE-48CC-B302-794592BF9FB2}"/>
              </a:ext>
            </a:extLst>
          </p:cNvPr>
          <p:cNvSpPr>
            <a:spLocks xmlns:a="http://schemas.openxmlformats.org/drawingml/2006/main" noGrp="1"/>
          </p:cNvSpPr>
          <p:nvPr/>
        </p:nvSpPr>
        <p:spPr>
          <a:xfrm xmlns:a="http://schemas.openxmlformats.org/drawingml/2006/main">
            <a:off x="63722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lnSpcReduction="10000"/>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Encrypted efficiency</a:t>
            </a:r>
          </a:p>
        </p:txBody>
      </p:sp>
      <p:sp>
        <p:nvSpPr>
          <p:cNvPr id="227" name="rule-689-255">
            <a:extLst xmlns:a="http://schemas.openxmlformats.org/drawingml/2006/main">
              <a:ext uri="{FF2B5EF4-FFF2-40B4-BE49-F238E27FC236}">
                <a16:creationId xmlns:a16="http://schemas.microsoft.com/office/drawing/2014/main" id="{2789D004-EE09-4233-BEAE-C409C37985E8}"/>
              </a:ext>
            </a:extLst>
          </p:cNvPr>
          <p:cNvSpPr>
            <a:spLocks xmlns:a="http://schemas.openxmlformats.org/drawingml/2006/main" noGrp="1"/>
          </p:cNvSpPr>
          <p:nvPr/>
        </p:nvSpPr>
        <p:spPr>
          <a:xfrm xmlns:a="http://schemas.openxmlformats.org/drawingml/2006/main">
            <a:off x="65627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motivation-body-2">
            <a:extLst xmlns:a="http://schemas.openxmlformats.org/drawingml/2006/main">
              <a:ext uri="{FF2B5EF4-FFF2-40B4-BE49-F238E27FC236}">
                <a16:creationId xmlns:a16="http://schemas.microsoft.com/office/drawing/2014/main" id="{0AB54D3B-1C6B-4B72-B52C-1D85664316AC}"/>
              </a:ext>
            </a:extLst>
          </p:cNvPr>
          <p:cNvSpPr>
            <a:spLocks xmlns:a="http://schemas.openxmlformats.org/drawingml/2006/main" noGrp="1"/>
          </p:cNvSpPr>
          <p:nvPr/>
        </p:nvSpPr>
        <p:spPr>
          <a:xfrm xmlns:a="http://schemas.openxmlformats.org/drawingml/2006/main">
            <a:off x="63722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Reduce real serialized ciphertext bytes, not only logical coordinates.</a:t>
            </a:r>
          </a:p>
        </p:txBody>
      </p:sp>
      <p:sp>
        <p:nvSpPr>
          <p:cNvPr id="229" name="motivation-heading-3">
            <a:extLst xmlns:a="http://schemas.openxmlformats.org/drawingml/2006/main">
              <a:ext uri="{FF2B5EF4-FFF2-40B4-BE49-F238E27FC236}">
                <a16:creationId xmlns:a16="http://schemas.microsoft.com/office/drawing/2014/main" id="{C57D8F51-B74C-4F60-82AA-2FFC42884BD2}"/>
              </a:ext>
            </a:extLst>
          </p:cNvPr>
          <p:cNvSpPr>
            <a:spLocks xmlns:a="http://schemas.openxmlformats.org/drawingml/2006/main" noGrp="1"/>
          </p:cNvSpPr>
          <p:nvPr/>
        </p:nvSpPr>
        <p:spPr>
          <a:xfrm xmlns:a="http://schemas.openxmlformats.org/drawingml/2006/main">
            <a:off x="91535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lnSpcReduction="10000"/>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Accountable release</a:t>
            </a:r>
          </a:p>
        </p:txBody>
      </p:sp>
      <p:sp>
        <p:nvSpPr>
          <p:cNvPr id="230" name="rule-981-255">
            <a:extLst xmlns:a="http://schemas.openxmlformats.org/drawingml/2006/main">
              <a:ext uri="{FF2B5EF4-FFF2-40B4-BE49-F238E27FC236}">
                <a16:creationId xmlns:a16="http://schemas.microsoft.com/office/drawing/2014/main" id="{DC981718-FDBA-440E-8D3D-7CE191FB1268}"/>
              </a:ext>
            </a:extLst>
          </p:cNvPr>
          <p:cNvSpPr>
            <a:spLocks xmlns:a="http://schemas.openxmlformats.org/drawingml/2006/main" noGrp="1"/>
          </p:cNvSpPr>
          <p:nvPr/>
        </p:nvSpPr>
        <p:spPr>
          <a:xfrm xmlns:a="http://schemas.openxmlformats.org/drawingml/2006/main">
            <a:off x="93440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motivation-body-3">
            <a:extLst xmlns:a="http://schemas.openxmlformats.org/drawingml/2006/main">
              <a:ext uri="{FF2B5EF4-FFF2-40B4-BE49-F238E27FC236}">
                <a16:creationId xmlns:a16="http://schemas.microsoft.com/office/drawing/2014/main" id="{CAA93CDD-05C3-4AC1-8211-2B0AE4B52DA9}"/>
              </a:ext>
            </a:extLst>
          </p:cNvPr>
          <p:cNvSpPr>
            <a:spLocks xmlns:a="http://schemas.openxmlformats.org/drawingml/2006/main" noGrp="1"/>
          </p:cNvSpPr>
          <p:nvPr/>
        </p:nvSpPr>
        <p:spPr>
          <a:xfrm xmlns:a="http://schemas.openxmlformats.org/drawingml/2006/main">
            <a:off x="91535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Verify aggregation and record rollback, reputation, and audit evidence.</a:t>
            </a:r>
          </a:p>
        </p:txBody>
      </p:sp>
      <p:sp>
        <p:nvSpPr>
          <p:cNvPr id="232" name="motivation-close">
            <a:extLst xmlns:a="http://schemas.openxmlformats.org/drawingml/2006/main">
              <a:ext uri="{FF2B5EF4-FFF2-40B4-BE49-F238E27FC236}">
                <a16:creationId xmlns:a16="http://schemas.microsoft.com/office/drawing/2014/main" id="{9EBE3E1D-C266-4EFE-B091-4D7FF55EA7E1}"/>
              </a:ext>
            </a:extLst>
          </p:cNvPr>
          <p:cNvSpPr>
            <a:spLocks xmlns:a="http://schemas.openxmlformats.org/drawingml/2006/main" noGrp="1"/>
          </p:cNvSpPr>
          <p:nvPr/>
        </p:nvSpPr>
        <p:spPr>
          <a:xfrm xmlns:a="http://schemas.openxmlformats.org/drawingml/2006/main">
            <a:off x="1666875" y="5143500"/>
            <a:ext cx="885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833" lnSpcReduction="10000"/>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The thesis treats privacy, systems cost, adversarial resilience, and trust as one engineering problem.</a:t>
            </a:r>
          </a:p>
        </p:txBody>
      </p:sp>
      <p:sp>
        <p:nvSpPr>
          <p:cNvPr id="235" name="visible-footer-date-6">
            <a:extLst xmlns:a="http://schemas.openxmlformats.org/drawingml/2006/main">
              <a:ext uri="{FF2B5EF4-FFF2-40B4-BE49-F238E27FC236}">
                <a16:creationId xmlns:a16="http://schemas.microsoft.com/office/drawing/2014/main" id="{84D29736-8B5D-4B2B-A79E-01AA1A8FBA2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56" name="Picture 1"/>
          <p:cNvPicPr>
            <a:picLocks xmlns:a="http://schemas.openxmlformats.org/drawingml/2006/main" noChangeAspect="1"/>
          </p:cNvPicPr>
          <p:nvPr/>
        </p:nvPicPr>
        <p:blipFill>
          <a:blip xmlns:r="http://schemas.openxmlformats.org/officeDocument/2006/relationships" xmlns:a="http://schemas.openxmlformats.org/drawingml/2006/main" r:embed="R70d1cad6494b4332"/>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354845371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Motivation (2/2)</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7</a:t>
            </a:r>
            <a:endParaRPr sz="2800"/>
          </a:p>
        </p:txBody>
      </p:sp>
      <p:pic>
        <p:nvPicPr>
          <p:cNvPr id="25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b3d41a2644e4ad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35" name="visible-footer-date-6">
            <a:extLst xmlns:a="http://schemas.openxmlformats.org/drawingml/2006/main">
              <a:ext uri="{FF2B5EF4-FFF2-40B4-BE49-F238E27FC236}">
                <a16:creationId xmlns:a16="http://schemas.microsoft.com/office/drawing/2014/main" id="{84D29736-8B5D-4B2B-A79E-01AA1A8FBA2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8" name="evidence-sites-number">
            <a:extLst xmlns:a="http://schemas.openxmlformats.org/drawingml/2006/main">
              <a:ext uri="{FF2B5EF4-FFF2-40B4-BE49-F238E27FC236}">
                <a16:creationId xmlns:a16="http://schemas.microsoft.com/office/drawing/2014/main" id="{F80BD4C4-9B17-4656-B580-1C5E24E17728}"/>
              </a:ext>
            </a:extLst>
          </p:cNvPr>
          <p:cNvSpPr>
            <a:spLocks xmlns:a="http://schemas.openxmlformats.org/drawingml/2006/main" noGrp="1"/>
          </p:cNvSpPr>
          <p:nvPr/>
        </p:nvSpPr>
        <p:spPr>
          <a:xfrm xmlns:a="http://schemas.openxmlformats.org/drawingml/2006/main">
            <a:off x="904875" y="1428750"/>
            <a:ext cx="22383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5400" b="1">
                <a:solidFill>
                  <a:srgbClr val="008A46"/>
                </a:solidFill>
                <a:latin typeface="Arial"/>
                <a:ea typeface="Arial"/>
                <a:cs typeface="Arial"/>
              </a:defRPr>
            </a:pPr>
            <a:r>
              <a:rPr sz="5400" b="1">
                <a:solidFill>
                  <a:srgbClr val="008A46"/>
                </a:solidFill>
                <a:latin typeface="Arial"/>
                <a:ea typeface="Arial"/>
                <a:cs typeface="Arial"/>
              </a:rPr>
              <a:t>20</a:t>
            </a:r>
          </a:p>
        </p:txBody>
      </p:sp>
      <p:sp>
        <p:nvSpPr>
          <p:cNvPr id="239" name="evidence-sites-label">
            <a:extLst xmlns:a="http://schemas.openxmlformats.org/drawingml/2006/main">
              <a:ext uri="{FF2B5EF4-FFF2-40B4-BE49-F238E27FC236}">
                <a16:creationId xmlns:a16="http://schemas.microsoft.com/office/drawing/2014/main" id="{D525C1F9-E8B8-42D8-ADFA-C90C85B7882E}"/>
              </a:ext>
            </a:extLst>
          </p:cNvPr>
          <p:cNvSpPr>
            <a:spLocks xmlns:a="http://schemas.openxmlformats.org/drawingml/2006/main" noGrp="1"/>
          </p:cNvSpPr>
          <p:nvPr/>
        </p:nvSpPr>
        <p:spPr>
          <a:xfrm xmlns:a="http://schemas.openxmlformats.org/drawingml/2006/main">
            <a:off x="762000" y="2476500"/>
            <a:ext cx="2571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800" b="1">
                <a:solidFill>
                  <a:srgbClr val="1E3A5F"/>
                </a:solidFill>
                <a:latin typeface="Arial"/>
                <a:ea typeface="Arial"/>
                <a:cs typeface="Arial"/>
              </a:defRPr>
            </a:pPr>
            <a:r>
              <a:rPr sz="1800" b="1">
                <a:solidFill>
                  <a:srgbClr val="1E3A5F"/>
                </a:solidFill>
                <a:latin typeface="Arial"/>
                <a:ea typeface="Arial"/>
                <a:cs typeface="Arial"/>
              </a:rPr>
              <a:t>clinical sites across four continents</a:t>
            </a:r>
          </a:p>
        </p:txBody>
      </p:sp>
      <p:sp>
        <p:nvSpPr>
          <p:cNvPr id="240" name="evidence-cases-number">
            <a:extLst xmlns:a="http://schemas.openxmlformats.org/drawingml/2006/main">
              <a:ext uri="{FF2B5EF4-FFF2-40B4-BE49-F238E27FC236}">
                <a16:creationId xmlns:a16="http://schemas.microsoft.com/office/drawing/2014/main" id="{5BDE55EC-8B7A-4BD4-B392-42A1B22514F1}"/>
              </a:ext>
            </a:extLst>
          </p:cNvPr>
          <p:cNvSpPr>
            <a:spLocks xmlns:a="http://schemas.openxmlformats.org/drawingml/2006/main" noGrp="1"/>
          </p:cNvSpPr>
          <p:nvPr/>
        </p:nvSpPr>
        <p:spPr>
          <a:xfrm xmlns:a="http://schemas.openxmlformats.org/drawingml/2006/main">
            <a:off x="666750" y="3333750"/>
            <a:ext cx="2762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4050" b="1">
                <a:solidFill>
                  <a:srgbClr val="1E3A5F"/>
                </a:solidFill>
                <a:latin typeface="Arial"/>
                <a:ea typeface="Arial"/>
                <a:cs typeface="Arial"/>
              </a:defRPr>
            </a:pPr>
            <a:r>
              <a:rPr sz="4050" b="1">
                <a:solidFill>
                  <a:srgbClr val="1E3A5F"/>
                </a:solidFill>
                <a:latin typeface="Arial"/>
                <a:ea typeface="Arial"/>
                <a:cs typeface="Arial"/>
              </a:rPr>
              <a:t>16,148</a:t>
            </a:r>
          </a:p>
        </p:txBody>
      </p:sp>
      <p:sp>
        <p:nvSpPr>
          <p:cNvPr id="241" name="evidence-cases-label">
            <a:extLst xmlns:a="http://schemas.openxmlformats.org/drawingml/2006/main">
              <a:ext uri="{FF2B5EF4-FFF2-40B4-BE49-F238E27FC236}">
                <a16:creationId xmlns:a16="http://schemas.microsoft.com/office/drawing/2014/main" id="{4C297428-7B2C-4AFF-AC11-EBA045220558}"/>
              </a:ext>
            </a:extLst>
          </p:cNvPr>
          <p:cNvSpPr>
            <a:spLocks xmlns:a="http://schemas.openxmlformats.org/drawingml/2006/main" noGrp="1"/>
          </p:cNvSpPr>
          <p:nvPr/>
        </p:nvSpPr>
        <p:spPr>
          <a:xfrm xmlns:a="http://schemas.openxmlformats.org/drawingml/2006/main">
            <a:off x="762000" y="4191000"/>
            <a:ext cx="257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650">
                <a:solidFill>
                  <a:srgbClr val="1F2937"/>
                </a:solidFill>
                <a:latin typeface="Arial"/>
                <a:ea typeface="Arial"/>
                <a:cs typeface="Arial"/>
              </a:defRPr>
            </a:pPr>
            <a:r>
              <a:rPr sz="1650">
                <a:solidFill>
                  <a:srgbClr val="1F2937"/>
                </a:solidFill>
                <a:latin typeface="Arial"/>
                <a:ea typeface="Arial"/>
                <a:cs typeface="Arial"/>
              </a:rPr>
              <a:t>cases in the EXAM federated cohort [3]</a:t>
            </a:r>
          </a:p>
        </p:txBody>
      </p:sp>
      <p:sp>
        <p:nvSpPr>
          <p:cNvPr id="242" name="evidence-separator">
            <a:extLst xmlns:a="http://schemas.openxmlformats.org/drawingml/2006/main">
              <a:ext uri="{FF2B5EF4-FFF2-40B4-BE49-F238E27FC236}">
                <a16:creationId xmlns:a16="http://schemas.microsoft.com/office/drawing/2014/main" id="{D276F0AC-9520-4A08-A98D-BA7EB40375B9}"/>
              </a:ext>
            </a:extLst>
          </p:cNvPr>
          <p:cNvSpPr>
            <a:spLocks xmlns:a="http://schemas.openxmlformats.org/drawingml/2006/main" noGrp="1"/>
          </p:cNvSpPr>
          <p:nvPr/>
        </p:nvSpPr>
        <p:spPr>
          <a:xfrm xmlns:a="http://schemas.openxmlformats.org/drawingml/2006/main">
            <a:off x="3857625" y="1428750"/>
            <a:ext cx="28575" cy="3476625"/>
          </a:xfrm>
          <a:prstGeom xmlns:a="http://schemas.openxmlformats.org/drawingml/2006/main" prst="rect">
            <a:avLst/>
          </a:prstGeom>
          <a:solidFill xmlns:a="http://schemas.openxmlformats.org/drawingml/2006/main">
            <a:srgbClr val="008A46"/>
          </a:solidFill>
          <a:ln xmlns:a="http://schemas.openxmlformats.org/drawingml/2006/main" w="0">
            <a:noFill/>
          </a:ln>
        </p:spPr>
      </p:sp>
      <p:graphicFrame>
        <p:nvGraphicFramePr>
          <p:cNvPr id="259" name="Chart"/>
          <p:cNvGraphicFramePr/>
          <p:nvPr/>
        </p:nvGraphicFramePr>
        <p:xfrm>
          <a:off xmlns:a="http://schemas.openxmlformats.org/drawingml/2006/main" x="4429125" y="1333500"/>
          <a:ext xmlns:a="http://schemas.openxmlformats.org/drawingml/2006/main" cx="6953250" cy="3524250"/>
        </p:xfrm>
        <a:graphic xmlns:a="http://schemas.openxmlformats.org/drawingml/2006/main">
          <a:graphicData uri="http://schemas.openxmlformats.org/drawingml/2006/chart">
            <c:chart xmlns:r="http://schemas.openxmlformats.org/officeDocument/2006/relationships" xmlns:c="http://schemas.openxmlformats.org/drawingml/2006/chart" r:id="Ra6f49183b7f34079"/>
          </a:graphicData>
        </a:graphic>
      </p:graphicFrame>
      <p:sp>
        <p:nvSpPr>
          <p:cNvPr id="244" name="evidence-chart-caption">
            <a:extLst xmlns:a="http://schemas.openxmlformats.org/drawingml/2006/main">
              <a:ext uri="{FF2B5EF4-FFF2-40B4-BE49-F238E27FC236}">
                <a16:creationId xmlns:a16="http://schemas.microsoft.com/office/drawing/2014/main" id="{36ABC351-6F5A-4A46-AAD3-22A27C9B53B0}"/>
              </a:ext>
            </a:extLst>
          </p:cNvPr>
          <p:cNvSpPr>
            <a:spLocks xmlns:a="http://schemas.openxmlformats.org/drawingml/2006/main" noGrp="1"/>
          </p:cNvSpPr>
          <p:nvPr/>
        </p:nvSpPr>
        <p:spPr>
          <a:xfrm xmlns:a="http://schemas.openxmlformats.org/drawingml/2006/main">
            <a:off x="4762500" y="4762500"/>
            <a:ext cx="628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350" i="1">
                <a:solidFill>
                  <a:srgbClr val="475569"/>
                </a:solidFill>
                <a:latin typeface="Arial"/>
                <a:ea typeface="Arial"/>
                <a:cs typeface="Arial"/>
              </a:defRPr>
            </a:pPr>
            <a:r>
              <a:rPr sz="1350" i="1">
                <a:solidFill>
                  <a:srgbClr val="475569"/>
                </a:solidFill>
                <a:latin typeface="Arial"/>
                <a:ea typeface="Arial"/>
                <a:cs typeface="Arial"/>
              </a:rPr>
              <a:t>EXAM improved the mean site-level AUC from 0.795 to 0.920 [3].</a:t>
            </a:r>
          </a:p>
        </p:txBody>
      </p:sp>
      <p:sp>
        <p:nvSpPr>
          <p:cNvPr id="245" name="evidence-sheller">
            <a:extLst xmlns:a="http://schemas.openxmlformats.org/drawingml/2006/main">
              <a:ext uri="{FF2B5EF4-FFF2-40B4-BE49-F238E27FC236}">
                <a16:creationId xmlns:a16="http://schemas.microsoft.com/office/drawing/2014/main" id="{16CD3232-E527-451F-A197-B3ED178E6510}"/>
              </a:ext>
            </a:extLst>
          </p:cNvPr>
          <p:cNvSpPr>
            <a:spLocks xmlns:a="http://schemas.openxmlformats.org/drawingml/2006/main" noGrp="1"/>
          </p:cNvSpPr>
          <p:nvPr/>
        </p:nvSpPr>
        <p:spPr>
          <a:xfrm xmlns:a="http://schemas.openxmlformats.org/drawingml/2006/main">
            <a:off x="952500" y="5381625"/>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725" b="1">
                <a:solidFill>
                  <a:srgbClr val="008A46"/>
                </a:solidFill>
                <a:latin typeface="Arial"/>
                <a:ea typeface="Arial"/>
                <a:cs typeface="Arial"/>
              </a:defRPr>
            </a:pPr>
            <a:r>
              <a:rPr sz="1725" b="1">
                <a:solidFill>
                  <a:srgbClr val="008A46"/>
                </a:solidFill>
                <a:latin typeface="Arial"/>
                <a:ea typeface="Arial"/>
                <a:cs typeface="Arial"/>
              </a:rPr>
              <a:t>Federated training across 10 institutions reached 99% of centralized model quality [2].</a:t>
            </a:r>
          </a:p>
        </p:txBody>
      </p:sp>
      <p:pic>
        <p:nvPicPr>
          <p:cNvPr id="262" name="Picture 1"/>
          <p:cNvPicPr>
            <a:picLocks xmlns:a="http://schemas.openxmlformats.org/drawingml/2006/main" noChangeAspect="1"/>
          </p:cNvPicPr>
          <p:nvPr/>
        </p:nvPicPr>
        <p:blipFill>
          <a:blip xmlns:r="http://schemas.openxmlformats.org/officeDocument/2006/relationships" xmlns:a="http://schemas.openxmlformats.org/drawingml/2006/main" r:embed="R1436097f590649f2"/>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354845371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Objectives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8</a:t>
            </a:r>
            <a:endParaRPr sz="2800"/>
          </a:p>
        </p:txBody>
      </p:sp>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0ee5c18ac27491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4763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4287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just">
              <a:buNone/>
              <a:defRPr sz="2100" b="0" i="0">
                <a:solidFill>
                  <a:srgbClr val="1F2937"/>
                </a:solidFill>
                <a:latin typeface="Arial"/>
                <a:ea typeface="Arial"/>
                <a:cs typeface="Arial"/>
              </a:defRPr>
            </a:pPr>
            <a:r>
              <a:rPr sz="2100" b="0" i="0">
                <a:solidFill>
                  <a:srgbClr val="1F2937"/>
                </a:solidFill>
                <a:latin typeface="Arial"/>
                <a:ea typeface="Arial"/>
                <a:cs typeface="Arial"/>
              </a:rPr>
              <a:t>Design and implement a secure, privacy-preserving architecture for collaborative learning across institutions.</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85750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just">
              <a:buNone/>
              <a:defRPr sz="2100" b="0" i="0">
                <a:solidFill>
                  <a:srgbClr val="1F2937"/>
                </a:solidFill>
                <a:latin typeface="Arial"/>
                <a:ea typeface="Arial"/>
                <a:cs typeface="Arial"/>
              </a:defRPr>
            </a:pPr>
            <a:r>
              <a:rPr sz="2100" b="0" i="0">
                <a:solidFill>
                  <a:srgbClr val="1F2937"/>
                </a:solidFill>
                <a:latin typeface="Arial"/>
                <a:ea typeface="Arial"/>
                <a:cs typeface="Arial"/>
              </a:rPr>
              <a:t>Develop a communication-efficient method for protected model exchange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3338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just">
              <a:buNone/>
              <a:defRPr sz="2100" b="0" i="0">
                <a:solidFill>
                  <a:srgbClr val="1F2937"/>
                </a:solidFill>
                <a:latin typeface="Arial"/>
                <a:ea typeface="Arial"/>
                <a:cs typeface="Arial"/>
              </a:defRPr>
            </a:pPr>
            <a:r>
              <a:rPr sz="2100" b="0" i="0">
                <a:solidFill>
                  <a:srgbClr val="1F2937"/>
                </a:solidFill>
                <a:latin typeface="Arial"/>
                <a:ea typeface="Arial"/>
                <a:cs typeface="Arial"/>
              </a:rPr>
              <a:t>Evaluate the framework against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42" name="Picture 1"/>
          <p:cNvPicPr>
            <a:picLocks xmlns:a="http://schemas.openxmlformats.org/drawingml/2006/main" noChangeAspect="1"/>
          </p:cNvPicPr>
          <p:nvPr/>
        </p:nvPicPr>
        <p:blipFill>
          <a:blip xmlns:r="http://schemas.openxmlformats.org/officeDocument/2006/relationships" xmlns:a="http://schemas.openxmlformats.org/drawingml/2006/main" r:embed="Raae098f3ee114a5c"/>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191391608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Questions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9</a:t>
            </a:r>
            <a:endParaRPr sz="2800"/>
          </a:p>
        </p:txBody>
      </p:sp>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53b5afe9172408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38112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238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How can multi-institutional learning protect patient records, model updates, and release decisions without centralizing raw data?</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762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Can CAABC-FL reduce serialized encrypted communication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42912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How does the framework compare with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42" name="Picture 1"/>
          <p:cNvPicPr>
            <a:picLocks xmlns:a="http://schemas.openxmlformats.org/drawingml/2006/main" noChangeAspect="1"/>
          </p:cNvPicPr>
          <p:nvPr/>
        </p:nvPicPr>
        <p:blipFill>
          <a:blip xmlns:r="http://schemas.openxmlformats.org/officeDocument/2006/relationships" xmlns:a="http://schemas.openxmlformats.org/drawingml/2006/main" r:embed="Rd74fe4fb268f4a28"/>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191391608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497" name="Google Shape;267;p32"/>
          <p:cNvPicPr>
            <a:picLocks xmlns:a="http://schemas.openxmlformats.org/drawingml/2006/main" noChangeAspect="1"/>
          </p:cNvPicPr>
          <p:nvPr/>
        </p:nvPicPr>
        <p:blipFill rotWithShape="1">
          <a:blip xmlns:r="http://schemas.openxmlformats.org/officeDocument/2006/relationships" xmlns:a="http://schemas.openxmlformats.org/drawingml/2006/main" r:embed="R8ac8e03e7d4f4be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498" name="Google Shape;268;p32"/>
          <p:cNvPicPr>
            <a:picLocks xmlns:a="http://schemas.openxmlformats.org/drawingml/2006/main" noChangeAspect="1"/>
          </p:cNvPicPr>
          <p:nvPr/>
        </p:nvPicPr>
        <p:blipFill rotWithShape="1">
          <a:blip xmlns:r="http://schemas.openxmlformats.org/officeDocument/2006/relationships" xmlns:a="http://schemas.openxmlformats.org/drawingml/2006/main" r:embed="R815f1c97cb6f40ba">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269" name="Google Shape;269;p32">
            <a:extLst xmlns:a="http://schemas.openxmlformats.org/drawingml/2006/main">
              <a:ext uri="{FF2B5EF4-FFF2-40B4-BE49-F238E27FC236}">
                <a16:creationId xmlns:a16="http://schemas.microsoft.com/office/drawing/2014/main" id="{EFA1EBEB-4757-4D2D-A4CA-B29E9E716CB0}"/>
              </a:ext>
            </a:extLst>
          </p:cNvPr>
          <p:cNvSpPr>
            <a:spLocks xmlns:a="http://schemas.openxmlformats.org/drawingml/2006/main" noGrp="1"/>
          </p:cNvSpPr>
          <p:nvPr>
            <p:ph type="title" idx="0"/>
          </p:nvPr>
        </p:nvSpPr>
        <p:spPr>
          <a:xfrm xmlns:a="http://schemas.openxmlformats.org/drawingml/2006/main">
            <a:off x="4235570" y="4439737"/>
            <a:ext cx="4390845"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90000"/>
              </a:lnSpc>
              <a:spcBef>
                <a:spcPts val="0"/>
              </a:spcBef>
              <a:spcAft>
                <a:spcPts val="0"/>
              </a:spcAft>
              <a:buClr>
                <a:schemeClr val="dk1"/>
              </a:buClr>
              <a:buSzPts val="4000"/>
              <a:buFont typeface="Arial"/>
              <a:buNone/>
            </a:pPr>
            <a:r>
              <a:rPr sz="4000">
                <a:latin typeface="Arial"/>
                <a:ea typeface="Arial"/>
                <a:cs typeface="Arial"/>
              </a:rPr>
              <a:t>Literature Review</a:t>
            </a:r>
            <a:endParaRPr/>
          </a:p>
        </p:txBody>
      </p:sp>
      <p:pic>
        <p:nvPicPr>
          <p:cNvPr id="500" name="Google Shape;270;p32"/>
          <p:cNvPicPr>
            <a:picLocks xmlns:a="http://schemas.openxmlformats.org/drawingml/2006/main" noChangeAspect="1"/>
          </p:cNvPicPr>
          <p:nvPr/>
        </p:nvPicPr>
        <p:blipFill rotWithShape="1">
          <a:blip xmlns:r="http://schemas.openxmlformats.org/officeDocument/2006/relationships" xmlns:a="http://schemas.openxmlformats.org/drawingml/2006/main" r:embed="Ra1a3d4805f8646aa">
            <a:alphaModFix/>
          </a:blip>
          <a:srcRect xmlns:a="http://schemas.openxmlformats.org/drawingml/2006/main" l="0" t="0" r="0" b="0"/>
          <a:stretch xmlns:a="http://schemas.openxmlformats.org/drawingml/2006/main"/>
        </p:blipFill>
        <p:spPr>
          <a:xfrm xmlns:a="http://schemas.openxmlformats.org/drawingml/2006/main">
            <a:off x="5218502" y="2234977"/>
            <a:ext cx="1754993" cy="1754993"/>
          </a:xfrm>
          <a:prstGeom xmlns:a="http://schemas.openxmlformats.org/drawingml/2006/main" prst="rect">
            <a:avLst/>
          </a:prstGeom>
          <a:ln xmlns:a="http://schemas.openxmlformats.org/drawingml/2006/main">
            <a:noFill/>
          </a:ln>
        </p:spPr>
      </p:pic>
      <p:cxnSp>
        <p:nvCxnSpPr>
          <p:cNvPr id="501"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2" name="Google Shape;216;p28">
            <a:extLst xmlns:a="http://schemas.openxmlformats.org/drawingml/2006/main">
              <a:ext uri="{FF2B5EF4-FFF2-40B4-BE49-F238E27FC236}">
                <a16:creationId xmlns:a16="http://schemas.microsoft.com/office/drawing/2014/main" id="{5B36D3E7-D169-B467-758A-64E9328C77F7}"/>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0EBF0282-AEFF-01E7-BA7D-5A1333B214B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10</a:t>
            </a:r>
            <a:endParaRPr sz="2800"/>
          </a:p>
        </p:txBody>
      </p:sp>
      <p:sp>
        <p:nvSpPr>
          <p:cNvPr id="288" name="visible-footer-date-8">
            <a:extLst xmlns:a="http://schemas.openxmlformats.org/drawingml/2006/main">
              <a:ext uri="{FF2B5EF4-FFF2-40B4-BE49-F238E27FC236}">
                <a16:creationId xmlns:a16="http://schemas.microsoft.com/office/drawing/2014/main" id="{E3832783-4ED4-44A9-876A-64C9E9ED3DC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505" name="Picture 3"/>
          <p:cNvPicPr>
            <a:picLocks xmlns:a="http://schemas.openxmlformats.org/drawingml/2006/main" noChangeAspect="1"/>
          </p:cNvPicPr>
          <p:nvPr/>
        </p:nvPicPr>
        <p:blipFill>
          <a:blip xmlns:r="http://schemas.openxmlformats.org/officeDocument/2006/relationships" xmlns:a="http://schemas.openxmlformats.org/drawingml/2006/main" r:embed="R24b767b763a04a6e"/>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14320198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(1/3)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11</a:t>
            </a:r>
            <a:endParaRPr sz="2800"/>
          </a:p>
        </p:txBody>
      </p:sp>
      <p:pic>
        <p:nvPicPr>
          <p:cNvPr id="25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8963bdbb945461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table-caption-rs1">
            <a:extLst xmlns:a="http://schemas.openxmlformats.org/drawingml/2006/main">
              <a:ext uri="{FF2B5EF4-FFF2-40B4-BE49-F238E27FC236}">
                <a16:creationId xmlns:a16="http://schemas.microsoft.com/office/drawing/2014/main" id="{1FF44775-1E87-4275-9D7B-EDEF5136F97D}"/>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 Representative foundations for collaborative and private learning</a:t>
            </a:r>
          </a:p>
        </p:txBody>
      </p:sp>
      <p:graphicFrame>
        <p:nvGraphicFramePr>
          <p:cNvPr id="255" name="Table 256"/>
          <p:cNvGraphicFramePr/>
          <p:nvPr/>
        </p:nvGraphicFramePr>
        <p:xfrm>
          <a:off xmlns:a="http://schemas.openxmlformats.org/drawingml/2006/main" x="762000" y="1619250"/>
          <a:ext xmlns:a="http://schemas.openxmlformats.org/drawingml/2006/main" cx="10668000" cy="3762375"/>
        </p:xfrm>
        <a:graphic xmlns:a="http://schemas.openxmlformats.org/drawingml/2006/main">
          <a:graphicData uri="http://schemas.openxmlformats.org/drawingml/2006/table">
            <a:tbl>
              <a:tblPr firstRow="1" bandRow="1"/>
              <a:tblGrid>
                <a:gridCol w="1809750"/>
                <a:gridCol w="2047875"/>
                <a:gridCol w="3286125"/>
                <a:gridCol w="3524250"/>
              </a:tblGrid>
              <a:tr h="752475">
                <a:tc>
                  <a:txBody>
                    <a:bodyPr/>
                    <a:lstStyle/>
                    <a:p>
                      <a:r>
                        <a:rPr sz="1350" b="1">
                          <a:solidFill>
                            <a:srgbClr val="FFFFFF"/>
                          </a:solidFill>
                          <a:latin typeface="Arial"/>
                          <a:ea typeface="Arial"/>
                          <a:cs typeface="Arial"/>
                        </a:rPr>
                        <a:t>Study</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Focus</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Main contribution</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Limitation for this thesis</a:t>
                      </a:r>
                    </a:p>
                  </a:txBody>
                  <a:tcPr marL="66675" marR="66675" marT="47625" marB="47625" anchor="ctr">
                    <a:solidFill>
                      <a:srgbClr val="17365D"/>
                    </a:solidFill>
                  </a:tcPr>
                </a:tc>
              </a:tr>
              <a:tr h="752475">
                <a:tc>
                  <a:txBody>
                    <a:bodyPr/>
                    <a:lstStyle/>
                    <a:p>
                      <a:r>
                        <a:rPr sz="1275">
                          <a:solidFill>
                            <a:srgbClr val="1F2937"/>
                          </a:solidFill>
                          <a:latin typeface="Arial"/>
                          <a:ea typeface="Arial"/>
                          <a:cs typeface="Arial"/>
                        </a:rPr>
                        <a:t>FedAvg [1]</a:t>
                      </a:r>
                    </a:p>
                  </a:txBody>
                  <a:tcPr marL="66675" marR="66675" marT="47625" marB="47625" anchor="ctr">
                    <a:solidFill>
                      <a:srgbClr val="FFFFFF"/>
                    </a:solidFill>
                  </a:tcPr>
                </a:tc>
                <a:tc>
                  <a:txBody>
                    <a:bodyPr/>
                    <a:lstStyle/>
                    <a:p>
                      <a:r>
                        <a:rPr sz="1275">
                          <a:solidFill>
                            <a:srgbClr val="1F2937"/>
                          </a:solidFill>
                          <a:latin typeface="Arial"/>
                          <a:ea typeface="Arial"/>
                          <a:cs typeface="Arial"/>
                        </a:rPr>
                        <a:t>Federated optimization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Iterative training without centralizing data</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privacy or poisoning control</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Sheller et al. [2]</a:t>
                      </a:r>
                    </a:p>
                  </a:txBody>
                  <a:tcPr marL="66675" marR="66675" marT="47625" marB="47625" anchor="ctr">
                    <a:solidFill>
                      <a:srgbClr val="FFFFFF"/>
                    </a:solidFill>
                  </a:tcPr>
                </a:tc>
                <a:tc>
                  <a:txBody>
                    <a:bodyPr/>
                    <a:lstStyle/>
                    <a:p>
                      <a:r>
                        <a:rPr sz="1275">
                          <a:solidFill>
                            <a:srgbClr val="1F2937"/>
                          </a:solidFill>
                          <a:latin typeface="Arial"/>
                          <a:ea typeface="Arial"/>
                          <a:cs typeface="Arial"/>
                        </a:rPr>
                        <a:t>Healthcare FL</a:t>
                      </a:r>
                    </a:p>
                  </a:txBody>
                  <a:tcPr marL="66675" marR="66675" marT="47625" marB="47625" anchor="ctr">
                    <a:solidFill>
                      <a:srgbClr val="FFFFFF"/>
                    </a:solidFill>
                  </a:tcPr>
                </a:tc>
                <a:tc>
                  <a:txBody>
                    <a:bodyPr/>
                    <a:lstStyle/>
                    <a:p>
                      <a:r>
                        <a:rPr sz="1275">
                          <a:solidFill>
                            <a:srgbClr val="1F2937"/>
                          </a:solidFill>
                          <a:latin typeface="Arial"/>
                          <a:ea typeface="Arial"/>
                          <a:cs typeface="Arial"/>
                        </a:rPr>
                        <a:t>Natural multi-institution collaboration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Limited integrated security evidence</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275">
                          <a:solidFill>
                            <a:srgbClr val="1F2937"/>
                          </a:solidFill>
                          <a:latin typeface="Arial"/>
                          <a:ea typeface="Arial"/>
                          <a:cs typeface="Arial"/>
                        </a:rPr>
                        <a:t>Private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Efficient malicious-secure DP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poisoning layer</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FAMHE [12]</a:t>
                      </a:r>
                    </a:p>
                  </a:txBody>
                  <a:tcPr marL="66675" marR="66675" marT="47625" marB="47625" anchor="ctr">
                    <a:solidFill>
                      <a:srgbClr val="FFFFFF"/>
                    </a:solidFill>
                  </a:tcPr>
                </a:tc>
                <a:tc>
                  <a:txBody>
                    <a:bodyPr/>
                    <a:lstStyle/>
                    <a:p>
                      <a:r>
                        <a:rPr sz="1275">
                          <a:solidFill>
                            <a:srgbClr val="1F2937"/>
                          </a:solidFill>
                          <a:latin typeface="Arial"/>
                          <a:ea typeface="Arial"/>
                          <a:cs typeface="Arial"/>
                        </a:rPr>
                        <a:t>Multiparty HE</a:t>
                      </a:r>
                    </a:p>
                  </a:txBody>
                  <a:tcPr marL="66675" marR="66675" marT="47625" marB="47625" anchor="ctr">
                    <a:solidFill>
                      <a:srgbClr val="FFFFFF"/>
                    </a:solidFill>
                  </a:tcPr>
                </a:tc>
                <a:tc>
                  <a:txBody>
                    <a:bodyPr/>
                    <a:lstStyle/>
                    <a:p>
                      <a:r>
                        <a:rPr sz="1275">
                          <a:solidFill>
                            <a:srgbClr val="1F2937"/>
                          </a:solidFill>
                          <a:latin typeface="Arial"/>
                          <a:ea typeface="Arial"/>
                          <a:cs typeface="Arial"/>
                        </a:rPr>
                        <a:t>Protected biomedical analytics</a:t>
                      </a:r>
                    </a:p>
                  </a:txBody>
                  <a:tcPr marL="66675" marR="66675" marT="47625" marB="47625" anchor="ctr">
                    <a:solidFill>
                      <a:srgbClr val="FFFFFF"/>
                    </a:solidFill>
                  </a:tcPr>
                </a:tc>
                <a:tc>
                  <a:txBody>
                    <a:bodyPr/>
                    <a:lstStyle/>
                    <a:p>
                      <a:r>
                        <a:rPr sz="1275">
                          <a:solidFill>
                            <a:srgbClr val="1F2937"/>
                          </a:solidFill>
                          <a:latin typeface="Arial"/>
                          <a:ea typeface="Arial"/>
                          <a:cs typeface="Arial"/>
                        </a:rPr>
                        <a:t>Communication and trust assumptions differ</a:t>
                      </a:r>
                    </a:p>
                  </a:txBody>
                  <a:tcPr marL="66675" marR="66675" marT="47625" marB="47625" anchor="ctr">
                    <a:solidFill>
                      <a:srgbClr val="FFFFFF"/>
                    </a:solidFill>
                  </a:tcPr>
                </a:tc>
              </a:tr>
            </a:tbl>
          </a:graphicData>
        </a:graphic>
      </p:graphicFrame>
      <p:sp>
        <p:nvSpPr>
          <p:cNvPr id="222" name="rs1-note">
            <a:extLst xmlns:a="http://schemas.openxmlformats.org/drawingml/2006/main">
              <a:ext uri="{FF2B5EF4-FFF2-40B4-BE49-F238E27FC236}">
                <a16:creationId xmlns:a16="http://schemas.microsoft.com/office/drawing/2014/main" id="{CF9C0F2B-DC4D-44E3-BF88-F17429951DE9}"/>
              </a:ext>
            </a:extLst>
          </p:cNvPr>
          <p:cNvSpPr>
            <a:spLocks xmlns:a="http://schemas.openxmlformats.org/drawingml/2006/main" noGrp="1"/>
          </p:cNvSpPr>
          <p:nvPr/>
        </p:nvSpPr>
        <p:spPr>
          <a:xfrm xmlns:a="http://schemas.openxmlformats.org/drawingml/2006/main">
            <a:off x="1428750" y="5572125"/>
            <a:ext cx="933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Prior work established feasibility, but each stream optimized a different part of the problem.</a:t>
            </a:r>
          </a:p>
        </p:txBody>
      </p:sp>
      <p:sp>
        <p:nvSpPr>
          <p:cNvPr id="226" name="visible-footer-date-9">
            <a:extLst xmlns:a="http://schemas.openxmlformats.org/drawingml/2006/main">
              <a:ext uri="{FF2B5EF4-FFF2-40B4-BE49-F238E27FC236}">
                <a16:creationId xmlns:a16="http://schemas.microsoft.com/office/drawing/2014/main" id="{EC8BF6F9-FF7D-45BB-9A54-4FA81A2ACF4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cover-1">
            <a:extLst xmlns:a="http://schemas.openxmlformats.org/drawingml/2006/main">
              <a:ext uri="{FF2B5EF4-FFF2-40B4-BE49-F238E27FC236}">
                <a16:creationId xmlns:a16="http://schemas.microsoft.com/office/drawing/2014/main" id="{028A2637-CAE4-4BC8-942E-3B3342A75586}"/>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paper-title-1">
            <a:extLst xmlns:a="http://schemas.openxmlformats.org/drawingml/2006/main">
              <a:ext uri="{FF2B5EF4-FFF2-40B4-BE49-F238E27FC236}">
                <a16:creationId xmlns:a16="http://schemas.microsoft.com/office/drawing/2014/main" id="{7E77261A-536E-44B7-9BCC-4BDEFE972951}"/>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Dual Defense: Enhancing Privacy and Mitigating Poisoning Attacks in Federated Learning [16]</a:t>
            </a:r>
          </a:p>
        </p:txBody>
      </p:sp>
      <p:sp>
        <p:nvSpPr>
          <p:cNvPr id="232" name="paper-summary-1">
            <a:extLst xmlns:a="http://schemas.openxmlformats.org/drawingml/2006/main">
              <a:ext uri="{FF2B5EF4-FFF2-40B4-BE49-F238E27FC236}">
                <a16:creationId xmlns:a16="http://schemas.microsoft.com/office/drawing/2014/main" id="{19A3D53A-677F-49AE-ACF6-213B173FE6BA}"/>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DDFed combines fully homomorphic encryption with a two-phase anomaly detector so that protected updates can be screened before aggregation under both cross-device and cross-silo settings.</a:t>
            </a:r>
          </a:p>
        </p:txBody>
      </p:sp>
      <p:sp>
        <p:nvSpPr>
          <p:cNvPr id="233" name="paper-source-1">
            <a:extLst xmlns:a="http://schemas.openxmlformats.org/drawingml/2006/main">
              <a:ext uri="{FF2B5EF4-FFF2-40B4-BE49-F238E27FC236}">
                <a16:creationId xmlns:a16="http://schemas.microsoft.com/office/drawing/2014/main" id="{D1A5B505-0A97-4F1A-8BB0-56FED1DEF0CF}"/>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Xu et al., NeurIPS 2024 [16].</a:t>
            </a:r>
          </a:p>
        </p:txBody>
      </p:sp>
      <p:sp>
        <p:nvSpPr>
          <p:cNvPr id="234" name="ddfed-strengths-heading">
            <a:extLst xmlns:a="http://schemas.openxmlformats.org/drawingml/2006/main">
              <a:ext uri="{FF2B5EF4-FFF2-40B4-BE49-F238E27FC236}">
                <a16:creationId xmlns:a16="http://schemas.microsoft.com/office/drawing/2014/main" id="{E444180A-DAAF-414F-BB31-6E24807F0BE2}"/>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5" name="ddfed-strengths-bullets">
            <a:extLst xmlns:a="http://schemas.openxmlformats.org/drawingml/2006/main">
              <a:ext uri="{FF2B5EF4-FFF2-40B4-BE49-F238E27FC236}">
                <a16:creationId xmlns:a16="http://schemas.microsoft.com/office/drawing/2014/main" id="{8BF2E617-C52C-4931-A79E-3C6D68E00E8C}"/>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Addresses update confidentiality and model poisoning in one framework.</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Uses secure similarity analysis and collaborative anomaly selection.</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Evaluates multiple poisoning attacks across two FL settings.</a:t>
            </a:r>
          </a:p>
        </p:txBody>
      </p:sp>
      <p:sp>
        <p:nvSpPr>
          <p:cNvPr id="236" name="ddfed-limits-heading">
            <a:extLst xmlns:a="http://schemas.openxmlformats.org/drawingml/2006/main">
              <a:ext uri="{FF2B5EF4-FFF2-40B4-BE49-F238E27FC236}">
                <a16:creationId xmlns:a16="http://schemas.microsoft.com/office/drawing/2014/main" id="{01A067EE-5B88-4E40-9AD7-3AE02617BB33}"/>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37" name="ddfed-limits-bullets">
            <a:extLst xmlns:a="http://schemas.openxmlformats.org/drawingml/2006/main">
              <a:ext uri="{FF2B5EF4-FFF2-40B4-BE49-F238E27FC236}">
                <a16:creationId xmlns:a16="http://schemas.microsoft.com/office/drawing/2014/main" id="{B42EC1C5-77B9-4D6C-ABEC-C66DD3E9BCCF}"/>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Does not provide a formal record-level differential-privacy guarantee.</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Its FHE and anomaly pipeline differs from a sum-only CKKS workflow.</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No ciphertext-aligned adaptive compression or external audit layer.</a:t>
            </a:r>
          </a:p>
        </p:txBody>
      </p:sp>
      <p:sp>
        <p:nvSpPr>
          <p:cNvPr id="238" name="ddfed-flow-title">
            <a:extLst xmlns:a="http://schemas.openxmlformats.org/drawingml/2006/main">
              <a:ext uri="{FF2B5EF4-FFF2-40B4-BE49-F238E27FC236}">
                <a16:creationId xmlns:a16="http://schemas.microsoft.com/office/drawing/2014/main" id="{8CB8BE2E-0ED9-45FA-B725-4AF686E5772A}"/>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DDFed</a:t>
            </a:r>
            <a:r>
              <a:rPr sz="1500" b="1">
                <a:solidFill>
                  <a:srgbClr val="1E3A5F"/>
                </a:solidFill>
                <a:latin typeface="Arial"/>
                <a:ea typeface="Arial"/>
                <a:cs typeface="Arial"/>
              </a:rPr>
              <a:t> conceptual workflow</a:t>
            </a:r>
          </a:p>
        </p:txBody>
      </p:sp>
      <p:sp>
        <p:nvSpPr>
          <p:cNvPr id="239" name="ddfed-box-1">
            <a:extLst xmlns:a="http://schemas.openxmlformats.org/drawingml/2006/main">
              <a:ext uri="{FF2B5EF4-FFF2-40B4-BE49-F238E27FC236}">
                <a16:creationId xmlns:a16="http://schemas.microsoft.com/office/drawing/2014/main" id="{6963A159-2939-4A1B-90B6-627A21FBD7E2}"/>
              </a:ext>
            </a:extLst>
          </p:cNvPr>
          <p:cNvSpPr>
            <a:spLocks xmlns:a="http://schemas.openxmlformats.org/drawingml/2006/main" noGrp="1"/>
          </p:cNvSpPr>
          <p:nvPr/>
        </p:nvSpPr>
        <p:spPr>
          <a:xfrm xmlns:a="http://schemas.openxmlformats.org/drawingml/2006/main">
            <a:off x="8143875" y="2190750"/>
            <a:ext cx="2809875" cy="47625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Hospitals train locally</a:t>
            </a:r>
          </a:p>
        </p:txBody>
      </p:sp>
      <p:sp>
        <p:nvSpPr>
          <p:cNvPr id="240" name="ddfed-arrow-1">
            <a:extLst xmlns:a="http://schemas.openxmlformats.org/drawingml/2006/main">
              <a:ext uri="{FF2B5EF4-FFF2-40B4-BE49-F238E27FC236}">
                <a16:creationId xmlns:a16="http://schemas.microsoft.com/office/drawing/2014/main" id="{4C0890BD-7D76-4D38-B647-32B578D171D0}"/>
              </a:ext>
            </a:extLst>
          </p:cNvPr>
          <p:cNvSpPr>
            <a:spLocks xmlns:a="http://schemas.openxmlformats.org/drawingml/2006/main" noGrp="1"/>
          </p:cNvSpPr>
          <p:nvPr/>
        </p:nvSpPr>
        <p:spPr>
          <a:xfrm xmlns:a="http://schemas.openxmlformats.org/drawingml/2006/main">
            <a:off x="9096375" y="26670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889" lnSpcReduction="2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1" name="ddfed-box-2">
            <a:extLst xmlns:a="http://schemas.openxmlformats.org/drawingml/2006/main">
              <a:ext uri="{FF2B5EF4-FFF2-40B4-BE49-F238E27FC236}">
                <a16:creationId xmlns:a16="http://schemas.microsoft.com/office/drawing/2014/main" id="{C4AFBC31-DAE7-4E40-85D7-AACF96A0ACC2}"/>
              </a:ext>
            </a:extLst>
          </p:cNvPr>
          <p:cNvSpPr>
            <a:spLocks xmlns:a="http://schemas.openxmlformats.org/drawingml/2006/main" noGrp="1"/>
          </p:cNvSpPr>
          <p:nvPr/>
        </p:nvSpPr>
        <p:spPr>
          <a:xfrm xmlns:a="http://schemas.openxmlformats.org/drawingml/2006/main">
            <a:off x="8143875" y="2933700"/>
            <a:ext cx="2809875" cy="4762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FHE-encrypted updates</a:t>
            </a:r>
          </a:p>
        </p:txBody>
      </p:sp>
      <p:sp>
        <p:nvSpPr>
          <p:cNvPr id="242" name="ddfed-arrow-2">
            <a:extLst xmlns:a="http://schemas.openxmlformats.org/drawingml/2006/main">
              <a:ext uri="{FF2B5EF4-FFF2-40B4-BE49-F238E27FC236}">
                <a16:creationId xmlns:a16="http://schemas.microsoft.com/office/drawing/2014/main" id="{6F51285A-95D1-4F0F-98CA-779F521FA531}"/>
              </a:ext>
            </a:extLst>
          </p:cNvPr>
          <p:cNvSpPr>
            <a:spLocks xmlns:a="http://schemas.openxmlformats.org/drawingml/2006/main" noGrp="1"/>
          </p:cNvSpPr>
          <p:nvPr/>
        </p:nvSpPr>
        <p:spPr>
          <a:xfrm xmlns:a="http://schemas.openxmlformats.org/drawingml/2006/main">
            <a:off x="9096375" y="340995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889" lnSpcReduction="2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3" name="ddfed-box-3">
            <a:extLst xmlns:a="http://schemas.openxmlformats.org/drawingml/2006/main">
              <a:ext uri="{FF2B5EF4-FFF2-40B4-BE49-F238E27FC236}">
                <a16:creationId xmlns:a16="http://schemas.microsoft.com/office/drawing/2014/main" id="{449AEF2C-F6D7-4466-9BC2-451E0B3A47B4}"/>
              </a:ext>
            </a:extLst>
          </p:cNvPr>
          <p:cNvSpPr>
            <a:spLocks xmlns:a="http://schemas.openxmlformats.org/drawingml/2006/main" noGrp="1"/>
          </p:cNvSpPr>
          <p:nvPr/>
        </p:nvSpPr>
        <p:spPr>
          <a:xfrm xmlns:a="http://schemas.openxmlformats.org/drawingml/2006/main">
            <a:off x="8143875" y="36766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D97706"/>
                </a:solidFill>
                <a:latin typeface="Arial"/>
                <a:ea typeface="Arial"/>
                <a:cs typeface="Arial"/>
              </a:defRPr>
            </a:pPr>
            <a:r>
              <a:rPr sz="1200" b="1">
                <a:solidFill>
                  <a:srgbClr val="D97706"/>
                </a:solidFill>
                <a:latin typeface="Arial"/>
                <a:ea typeface="Arial"/>
                <a:cs typeface="Arial"/>
              </a:rPr>
              <a:t>Secure similarity + anomaly selection</a:t>
            </a:r>
          </a:p>
        </p:txBody>
      </p:sp>
      <p:sp>
        <p:nvSpPr>
          <p:cNvPr id="244" name="ddfed-arrow-3">
            <a:extLst xmlns:a="http://schemas.openxmlformats.org/drawingml/2006/main">
              <a:ext uri="{FF2B5EF4-FFF2-40B4-BE49-F238E27FC236}">
                <a16:creationId xmlns:a16="http://schemas.microsoft.com/office/drawing/2014/main" id="{A4D045CB-845D-498B-98E0-16B67FCEE9B7}"/>
              </a:ext>
            </a:extLst>
          </p:cNvPr>
          <p:cNvSpPr>
            <a:spLocks xmlns:a="http://schemas.openxmlformats.org/drawingml/2006/main" noGrp="1"/>
          </p:cNvSpPr>
          <p:nvPr/>
        </p:nvSpPr>
        <p:spPr>
          <a:xfrm xmlns:a="http://schemas.openxmlformats.org/drawingml/2006/main">
            <a:off x="9096375" y="42672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889" lnSpcReduction="2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5" name="ddfed-box-4">
            <a:extLst xmlns:a="http://schemas.openxmlformats.org/drawingml/2006/main">
              <a:ext uri="{FF2B5EF4-FFF2-40B4-BE49-F238E27FC236}">
                <a16:creationId xmlns:a16="http://schemas.microsoft.com/office/drawing/2014/main" id="{093C5A3E-4826-4DE4-85FA-FC1CDCE16914}"/>
              </a:ext>
            </a:extLst>
          </p:cNvPr>
          <p:cNvSpPr>
            <a:spLocks xmlns:a="http://schemas.openxmlformats.org/drawingml/2006/main" noGrp="1"/>
          </p:cNvSpPr>
          <p:nvPr/>
        </p:nvSpPr>
        <p:spPr>
          <a:xfrm xmlns:a="http://schemas.openxmlformats.org/drawingml/2006/main">
            <a:off x="8143875" y="4533900"/>
            <a:ext cx="2809875" cy="49530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Accepted global update</a:t>
            </a:r>
          </a:p>
        </p:txBody>
      </p:sp>
      <p:sp>
        <p:nvSpPr>
          <p:cNvPr id="246" name="ddfed-diagram-caption">
            <a:extLst xmlns:a="http://schemas.openxmlformats.org/drawingml/2006/main">
              <a:ext uri="{FF2B5EF4-FFF2-40B4-BE49-F238E27FC236}">
                <a16:creationId xmlns:a16="http://schemas.microsoft.com/office/drawing/2014/main" id="{939B91A4-0599-47E4-8778-2AA81A2BFC90}"/>
              </a:ext>
            </a:extLst>
          </p:cNvPr>
          <p:cNvSpPr>
            <a:spLocks xmlns:a="http://schemas.openxmlformats.org/drawingml/2006/main" noGrp="1"/>
          </p:cNvSpPr>
          <p:nvPr/>
        </p:nvSpPr>
        <p:spPr>
          <a:xfrm xmlns:a="http://schemas.openxmlformats.org/drawingml/2006/main">
            <a:off x="7810500" y="516255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837"/>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Privacy and anomaly detection are co-designed [16].</a:t>
            </a:r>
          </a:p>
        </p:txBody>
      </p:sp>
      <p:pic>
        <p:nvPicPr>
          <p:cNvPr id="275" name="Picture 1"/>
          <p:cNvPicPr>
            <a:picLocks xmlns:a="http://schemas.openxmlformats.org/drawingml/2006/main" noChangeAspect="1"/>
          </p:cNvPicPr>
          <p:nvPr/>
        </p:nvPicPr>
        <p:blipFill>
          <a:blip xmlns:r="http://schemas.openxmlformats.org/officeDocument/2006/relationships" xmlns:a="http://schemas.openxmlformats.org/drawingml/2006/main" r:embed="R8b38948c537b4d46"/>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97028649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1" name="Picture 41"/>
          <p:cNvPicPr>
            <a:picLocks xmlns:a="http://schemas.openxmlformats.org/drawingml/2006/main" noChangeAspect="1"/>
          </p:cNvPicPr>
          <p:nvPr/>
        </p:nvPicPr>
        <p:blipFill>
          <a:blip xmlns:r="http://schemas.openxmlformats.org/officeDocument/2006/relationships" xmlns:a="http://schemas.openxmlformats.org/drawingml/2006/main" r:embed="Re882b45f746f4352"/>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5" name="chrome-date-10">
            <a:extLst xmlns:a="http://schemas.openxmlformats.org/drawingml/2006/main">
              <a:ext uri="{FF2B5EF4-FFF2-40B4-BE49-F238E27FC236}">
                <a16:creationId xmlns:a16="http://schemas.microsoft.com/office/drawing/2014/main" id="{41926EB2-1F02-4343-97A9-E20CB53A474C}"/>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endParaRPr/>
          </a:p>
        </p:txBody>
      </p:sp>
      <p:sp>
        <p:nvSpPr>
          <p:cNvPr id="6" name="chrome-footer-10">
            <a:extLst xmlns:a="http://schemas.openxmlformats.org/drawingml/2006/main">
              <a:ext uri="{FF2B5EF4-FFF2-40B4-BE49-F238E27FC236}">
                <a16:creationId xmlns:a16="http://schemas.microsoft.com/office/drawing/2014/main" id="{0BF3CB06-8452-4282-91A8-E926925581F3}"/>
              </a:ext>
            </a:extLst>
          </p:cNvPr>
          <p:cNvSpPr>
            <a:spLocks xmlns:a="http://schemas.openxmlformats.org/drawingml/2006/main" noGrp="1"/>
          </p:cNvSpPr>
          <p:nvPr/>
        </p:nvSpPr>
        <p:spPr>
          <a:xfrm xmlns:a="http://schemas.openxmlformats.org/drawingml/2006/main">
            <a:off x="2627923" y="6637215"/>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1200" b="0" i="0">
                <a:latin typeface="Arial"/>
                <a:ea typeface="Arial"/>
                <a:cs typeface="Arial"/>
              </a:rPr>
              <a:t>CAABC-FL: A Hybrid Privacy-Preserving Framework for Secure Multi-Institutional Collaboration</a:t>
            </a:r>
          </a:p>
        </p:txBody>
      </p:sp>
      <p:sp>
        <p:nvSpPr>
          <p:cNvPr id="7" name="chrome-page-10">
            <a:extLst xmlns:a="http://schemas.openxmlformats.org/drawingml/2006/main">
              <a:ext uri="{FF2B5EF4-FFF2-40B4-BE49-F238E27FC236}">
                <a16:creationId xmlns:a16="http://schemas.microsoft.com/office/drawing/2014/main" id="{5AF2CF82-A8D8-4B89-A2FF-9F3CFF9D4BD8}"/>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2250" b="1" i="0">
                <a:solidFill>
                  <a:srgbClr val="062B6F"/>
                </a:solidFill>
                <a:latin typeface="Arial"/>
                <a:ea typeface="Arial"/>
                <a:cs typeface="Arial"/>
              </a:defRPr>
            </a:pPr>
            <a:r>
              <a:rPr sz="2250" b="1" i="0">
                <a:solidFill>
                  <a:srgbClr val="062B6F"/>
                </a:solidFill>
                <a:latin typeface="Arial"/>
                <a:ea typeface="Arial"/>
                <a:cs typeface="Arial"/>
              </a:rPr>
              <a:t>12</a:t>
            </a:r>
          </a:p>
        </p:txBody>
      </p:sp>
      <p:sp>
        <p:nvSpPr>
          <p:cNvPr id="8" name="table-caption-rs2">
            <a:extLst xmlns:a="http://schemas.openxmlformats.org/drawingml/2006/main">
              <a:ext uri="{FF2B5EF4-FFF2-40B4-BE49-F238E27FC236}">
                <a16:creationId xmlns:a16="http://schemas.microsoft.com/office/drawing/2014/main" id="{B183B579-7D91-4042-B92A-4DE6C7672D84}"/>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 Communication and robustness methods</a:t>
            </a:r>
          </a:p>
        </p:txBody>
      </p:sp>
      <p:graphicFrame>
        <p:nvGraphicFramePr>
          <p:cNvPr id="46" name="Table 47"/>
          <p:cNvGraphicFramePr/>
          <p:nvPr/>
        </p:nvGraphicFramePr>
        <p:xfrm>
          <a:off xmlns:a="http://schemas.openxmlformats.org/drawingml/2006/main" x="523875" y="1619250"/>
          <a:ext xmlns:a="http://schemas.openxmlformats.org/drawingml/2006/main" cx="11144250" cy="3762375"/>
        </p:xfrm>
        <a:graphic xmlns:a="http://schemas.openxmlformats.org/drawingml/2006/main">
          <a:graphicData uri="http://schemas.openxmlformats.org/drawingml/2006/table">
            <a:tbl>
              <a:tblPr firstRow="1" bandRow="1"/>
              <a:tblGrid>
                <a:gridCol w="1762125"/>
                <a:gridCol w="1714500"/>
                <a:gridCol w="1952625"/>
                <a:gridCol w="2524125"/>
                <a:gridCol w="3190875"/>
              </a:tblGrid>
              <a:tr h="752475">
                <a:tc>
                  <a:txBody>
                    <a:bodyPr/>
                    <a:lstStyle/>
                    <a:p>
                      <a:r>
                        <a:rPr sz="1275" b="1">
                          <a:solidFill>
                            <a:srgbClr val="FFFFFF"/>
                          </a:solidFill>
                          <a:latin typeface="Arial"/>
                          <a:ea typeface="Arial"/>
                          <a:cs typeface="Arial"/>
                        </a:rPr>
                        <a:t>Approach</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Privacy</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Communication</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Poisoning response</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Main assumption</a:t>
                      </a:r>
                    </a:p>
                  </a:txBody>
                  <a:tcPr marL="66675" marR="66675" marT="47625" marB="47625" anchor="ctr">
                    <a:solidFill>
                      <a:srgbClr val="17365D"/>
                    </a:solidFill>
                  </a:tcPr>
                </a:tc>
              </a:tr>
              <a:tr h="752475">
                <a:tc>
                  <a:txBody>
                    <a:bodyPr/>
                    <a:lstStyle/>
                    <a:p>
                      <a:r>
                        <a:rPr sz="1200">
                          <a:solidFill>
                            <a:srgbClr val="1F2937"/>
                          </a:solidFill>
                          <a:latin typeface="Arial"/>
                          <a:ea typeface="Arial"/>
                          <a:cs typeface="Arial"/>
                        </a:rPr>
                        <a:t>SoteriaFL [13]</a:t>
                      </a:r>
                    </a:p>
                  </a:txBody>
                  <a:tcPr marL="66675" marR="66675" marT="47625" marB="47625" anchor="ctr">
                    <a:solidFill>
                      <a:srgbClr val="FFFFFF"/>
                    </a:solidFill>
                  </a:tcPr>
                </a:tc>
                <a:tc>
                  <a:txBody>
                    <a:bodyPr/>
                    <a:lstStyle/>
                    <a:p>
                      <a:r>
                        <a:rPr sz="1200">
                          <a:solidFill>
                            <a:srgbClr val="1F2937"/>
                          </a:solidFill>
                          <a:latin typeface="Arial"/>
                          <a:ea typeface="Arial"/>
                          <a:cs typeface="Arial"/>
                        </a:rPr>
                        <a:t>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Logical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Dense encryption can remove wire savings</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Fed-EF [14]</a:t>
                      </a:r>
                    </a:p>
                  </a:txBody>
                  <a:tcPr marL="66675" marR="66675" marT="47625" marB="47625" anchor="ctr">
                    <a:solidFill>
                      <a:srgbClr val="FFFFFF"/>
                    </a:solidFill>
                  </a:tcPr>
                </a:tc>
                <a:tc>
                  <a:txBody>
                    <a:bodyPr/>
                    <a:lstStyle/>
                    <a:p>
                      <a:r>
                        <a:rPr sz="1200">
                          <a:solidFill>
                            <a:srgbClr val="1F2937"/>
                          </a:solidFill>
                          <a:latin typeface="Arial"/>
                          <a:ea typeface="Arial"/>
                          <a:cs typeface="Arial"/>
                        </a:rPr>
                        <a:t>No 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Error-feedback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Individual updates remain visible</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FLTrust [15]</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Trust-weighted aggregation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Clean representative root data</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updates</a:t>
                      </a:r>
                    </a:p>
                  </a:txBody>
                  <a:tcPr marL="66675" marR="66675" marT="47625" marB="47625" anchor="ctr">
                    <a:solidFill>
                      <a:srgbClr val="FFFFFF"/>
                    </a:solidFill>
                  </a:tcPr>
                </a:tc>
                <a:tc>
                  <a:txBody>
                    <a:bodyPr/>
                    <a:lstStyle/>
                    <a:p>
                      <a:r>
                        <a:rPr sz="1200">
                          <a:solidFill>
                            <a:srgbClr val="1F2937"/>
                          </a:solidFill>
                          <a:latin typeface="Arial"/>
                          <a:ea typeface="Arial"/>
                          <a:cs typeface="Arial"/>
                        </a:rPr>
                        <a:t>Secondary</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anomaly detection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FHE and anomaly model</a:t>
                      </a:r>
                    </a:p>
                  </a:txBody>
                  <a:tcPr marL="66675" marR="66675" marT="47625" marB="47625" anchor="ctr">
                    <a:solidFill>
                      <a:srgbClr val="FFFFFF"/>
                    </a:solidFill>
                  </a:tcPr>
                </a:tc>
              </a:tr>
            </a:tbl>
          </a:graphicData>
        </a:graphic>
      </p:graphicFrame>
      <p:sp>
        <p:nvSpPr>
          <p:cNvPr id="10" name="rs2-note">
            <a:extLst xmlns:a="http://schemas.openxmlformats.org/drawingml/2006/main">
              <a:ext uri="{FF2B5EF4-FFF2-40B4-BE49-F238E27FC236}">
                <a16:creationId xmlns:a16="http://schemas.microsoft.com/office/drawing/2014/main" id="{D5A34EEF-6719-4EBF-BAF3-B1EEA9E8F519}"/>
              </a:ext>
            </a:extLst>
          </p:cNvPr>
          <p:cNvSpPr>
            <a:spLocks xmlns:a="http://schemas.openxmlformats.org/drawingml/2006/main" noGrp="1"/>
          </p:cNvSpPr>
          <p:nvPr/>
        </p:nvSpPr>
        <p:spPr>
          <a:xfrm xmlns:a="http://schemas.openxmlformats.org/drawingml/2006/main">
            <a:off x="1285875" y="5572125"/>
            <a:ext cx="962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148" lnSpcReduction="10000"/>
          </a:bodyPr>
          <a:lstStyle xmlns:a="http://schemas.openxmlformats.org/drawingml/2006/main"/>
          <a:p xmlns:a="http://schemas.openxmlformats.org/drawingml/2006/main">
            <a:pPr algn="ctr">
              <a:buNone/>
              <a:defRPr sz="1650" b="1" i="0">
                <a:solidFill>
                  <a:srgbClr val="17365D"/>
                </a:solidFill>
                <a:latin typeface="Arial"/>
                <a:ea typeface="Arial"/>
                <a:cs typeface="Arial"/>
              </a:defRPr>
            </a:pPr>
            <a:r>
              <a:rPr sz="1650" b="1" i="0">
                <a:solidFill>
                  <a:srgbClr val="17365D"/>
                </a:solidFill>
                <a:latin typeface="Arial"/>
                <a:ea typeface="Arial"/>
                <a:cs typeface="Arial"/>
              </a:rPr>
              <a:t>Plaintext robust aggregation often conflicts with the update hiding provided by homomorphic aggregation.</a:t>
            </a:r>
          </a:p>
        </p:txBody>
      </p:sp>
      <p:sp>
        <p:nvSpPr>
          <p:cNvPr id="14" name="visible-footer-date-10">
            <a:extLst xmlns:a="http://schemas.openxmlformats.org/drawingml/2006/main">
              <a:ext uri="{FF2B5EF4-FFF2-40B4-BE49-F238E27FC236}">
                <a16:creationId xmlns:a16="http://schemas.microsoft.com/office/drawing/2014/main" id="{21FF7D5C-3264-4359-8EC6-14D1C8ECC20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18" name="related-study-title-cover-2">
            <a:extLst xmlns:a="http://schemas.openxmlformats.org/drawingml/2006/main">
              <a:ext uri="{FF2B5EF4-FFF2-40B4-BE49-F238E27FC236}">
                <a16:creationId xmlns:a16="http://schemas.microsoft.com/office/drawing/2014/main" id="{1ADE9605-CB6F-4717-B1C7-DA8274CFBD20}"/>
              </a:ext>
            </a:extLst>
          </p:cNvPr>
          <p:cNvSpPr>
            <a:spLocks xmlns:a="http://schemas.openxmlformats.org/drawingml/2006/main" noGrp="1"/>
          </p:cNvSpPr>
          <p:nvPr/>
        </p:nvSpPr>
        <p:spPr>
          <a:xfrm xmlns:a="http://schemas.openxmlformats.org/drawingml/2006/main">
            <a:off x="1524000" y="323850"/>
            <a:ext cx="8382000" cy="7429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0" name="related-study-title-2">
            <a:extLst xmlns:a="http://schemas.openxmlformats.org/drawingml/2006/main">
              <a:ext uri="{FF2B5EF4-FFF2-40B4-BE49-F238E27FC236}">
                <a16:creationId xmlns:a16="http://schemas.microsoft.com/office/drawing/2014/main" id="{6EBA2491-6518-4087-ABCA-04604C76317A}"/>
              </a:ext>
            </a:extLst>
          </p:cNvPr>
          <p:cNvSpPr>
            <a:spLocks xmlns:a="http://schemas.openxmlformats.org/drawingml/2006/main" noGrp="1"/>
          </p:cNvSpPr>
          <p:nvPr/>
        </p:nvSpPr>
        <p:spPr>
          <a:xfrm xmlns:a="http://schemas.openxmlformats.org/drawingml/2006/main">
            <a:off x="2000250" y="311640"/>
            <a:ext cx="7810500" cy="6286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3300" b="1">
                <a:solidFill>
                  <a:srgbClr val="062B6F"/>
                </a:solidFill>
                <a:latin typeface="Arial"/>
                <a:ea typeface="Arial"/>
                <a:cs typeface="Arial"/>
              </a:defRPr>
            </a:pPr>
            <a:r>
              <a:rPr sz="3300" b="1">
                <a:solidFill>
                  <a:srgbClr val="062B6F"/>
                </a:solidFill>
                <a:latin typeface="Arial"/>
                <a:ea typeface="Arial"/>
                <a:cs typeface="Arial"/>
              </a:rPr>
              <a:t>Related Studies (2/3)</a:t>
            </a:r>
          </a:p>
        </p:txBody>
      </p:sp>
      <p:sp>
        <p:nvSpPr>
          <p:cNvPr id="21" name="related-study-cover-2">
            <a:extLst xmlns:a="http://schemas.openxmlformats.org/drawingml/2006/main">
              <a:ext uri="{FF2B5EF4-FFF2-40B4-BE49-F238E27FC236}">
                <a16:creationId xmlns:a16="http://schemas.microsoft.com/office/drawing/2014/main" id="{9A41AA70-677B-46BE-BBAD-CBA4B067A8D9}"/>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2" name="paper-title-2">
            <a:extLst xmlns:a="http://schemas.openxmlformats.org/drawingml/2006/main">
              <a:ext uri="{FF2B5EF4-FFF2-40B4-BE49-F238E27FC236}">
                <a16:creationId xmlns:a16="http://schemas.microsoft.com/office/drawing/2014/main" id="{8A306287-C155-419A-850A-F6841720E23F}"/>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598"/>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DP-BREM: Differentially-Private and Byzantine-Robust Federated Learning with Client Momentum [17]</a:t>
            </a:r>
          </a:p>
        </p:txBody>
      </p:sp>
      <p:sp>
        <p:nvSpPr>
          <p:cNvPr id="23" name="paper-summary-2">
            <a:extLst xmlns:a="http://schemas.openxmlformats.org/drawingml/2006/main">
              <a:ext uri="{FF2B5EF4-FFF2-40B4-BE49-F238E27FC236}">
                <a16:creationId xmlns:a16="http://schemas.microsoft.com/office/drawing/2014/main" id="{9504971E-646A-48CF-BE67-BA1AC23CA447}"/>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734"/>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DP-BREM learns from client history: momentum reduces honest-update variance and exposes small malicious perturbations. DP-BREM+ removes the trusted-server assumption through secure aggregation and jointly generated noise.</a:t>
            </a:r>
          </a:p>
        </p:txBody>
      </p:sp>
      <p:sp>
        <p:nvSpPr>
          <p:cNvPr id="24" name="paper-source-2">
            <a:extLst xmlns:a="http://schemas.openxmlformats.org/drawingml/2006/main">
              <a:ext uri="{FF2B5EF4-FFF2-40B4-BE49-F238E27FC236}">
                <a16:creationId xmlns:a16="http://schemas.microsoft.com/office/drawing/2014/main" id="{9C9690AD-BFC7-42AE-8171-3AB172CB9F5B}"/>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Gu, Li, and Xiong, USENIX Security 2025 [17].</a:t>
            </a:r>
          </a:p>
        </p:txBody>
      </p:sp>
      <p:sp>
        <p:nvSpPr>
          <p:cNvPr id="25" name="dpbrem-strengths-heading">
            <a:extLst xmlns:a="http://schemas.openxmlformats.org/drawingml/2006/main">
              <a:ext uri="{FF2B5EF4-FFF2-40B4-BE49-F238E27FC236}">
                <a16:creationId xmlns:a16="http://schemas.microsoft.com/office/drawing/2014/main" id="{3226CF28-E297-4854-9F27-F0ADFC6CE885}"/>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6" name="dpbrem-strengths-bullets">
            <a:extLst xmlns:a="http://schemas.openxmlformats.org/drawingml/2006/main">
              <a:ext uri="{FF2B5EF4-FFF2-40B4-BE49-F238E27FC236}">
                <a16:creationId xmlns:a16="http://schemas.microsoft.com/office/drawing/2014/main" id="{2BEC5F65-9039-4C51-8D75-DCE5257BC6DA}"/>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Combines formal differential privacy with Byzantine robustness.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Uses longitudinal client momentum rather than one-round evidence only.</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DP-BREM+ protects updates and distributes DP-noise generation.</a:t>
            </a:r>
          </a:p>
        </p:txBody>
      </p:sp>
      <p:sp>
        <p:nvSpPr>
          <p:cNvPr id="27" name="dpbrem-limits-heading">
            <a:extLst xmlns:a="http://schemas.openxmlformats.org/drawingml/2006/main">
              <a:ext uri="{FF2B5EF4-FFF2-40B4-BE49-F238E27FC236}">
                <a16:creationId xmlns:a16="http://schemas.microsoft.com/office/drawing/2014/main" id="{7F5ADE2B-7DAA-40E7-A26B-881AE9713F3D}"/>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8" name="dpbrem-limits-bullets">
            <a:extLst xmlns:a="http://schemas.openxmlformats.org/drawingml/2006/main">
              <a:ext uri="{FF2B5EF4-FFF2-40B4-BE49-F238E27FC236}">
                <a16:creationId xmlns:a16="http://schemas.microsoft.com/office/drawing/2014/main" id="{D70AFC31-2F3B-4376-9C4B-77CADBBA7201}"/>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No cryptography-aware method for reducing encrypted wire payload.</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Robustness depends on client history and the stated Byzantine model.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No clinical cohort, independent verifier, or external audit ledger.</a:t>
            </a:r>
          </a:p>
        </p:txBody>
      </p:sp>
      <p:sp>
        <p:nvSpPr>
          <p:cNvPr id="29" name="dpbrem-flow-title">
            <a:extLst xmlns:a="http://schemas.openxmlformats.org/drawingml/2006/main">
              <a:ext uri="{FF2B5EF4-FFF2-40B4-BE49-F238E27FC236}">
                <a16:creationId xmlns:a16="http://schemas.microsoft.com/office/drawing/2014/main" id="{B6A98EC0-9903-4A7D-A1D4-EE3552F6E2F8}"/>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DP-BREM+ conceptual workflow</a:t>
            </a:r>
          </a:p>
        </p:txBody>
      </p:sp>
      <p:sp>
        <p:nvSpPr>
          <p:cNvPr id="30" name="dpbrem-box-1">
            <a:extLst xmlns:a="http://schemas.openxmlformats.org/drawingml/2006/main">
              <a:ext uri="{FF2B5EF4-FFF2-40B4-BE49-F238E27FC236}">
                <a16:creationId xmlns:a16="http://schemas.microsoft.com/office/drawing/2014/main" id="{85AD0CC3-6582-47EC-AFD5-193500F7E74A}"/>
              </a:ext>
            </a:extLst>
          </p:cNvPr>
          <p:cNvSpPr>
            <a:spLocks xmlns:a="http://schemas.openxmlformats.org/drawingml/2006/main" noGrp="1"/>
          </p:cNvSpPr>
          <p:nvPr/>
        </p:nvSpPr>
        <p:spPr>
          <a:xfrm xmlns:a="http://schemas.openxmlformats.org/drawingml/2006/main">
            <a:off x="8143875" y="2190750"/>
            <a:ext cx="2809875" cy="47625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Current client update</a:t>
            </a:r>
          </a:p>
        </p:txBody>
      </p:sp>
      <p:sp>
        <p:nvSpPr>
          <p:cNvPr id="31" name="dpbrem-arrow-1">
            <a:extLst xmlns:a="http://schemas.openxmlformats.org/drawingml/2006/main">
              <a:ext uri="{FF2B5EF4-FFF2-40B4-BE49-F238E27FC236}">
                <a16:creationId xmlns:a16="http://schemas.microsoft.com/office/drawing/2014/main" id="{FAC0B191-6093-4CC0-B157-6C9D9FBD46AF}"/>
              </a:ext>
            </a:extLst>
          </p:cNvPr>
          <p:cNvSpPr>
            <a:spLocks xmlns:a="http://schemas.openxmlformats.org/drawingml/2006/main" noGrp="1"/>
          </p:cNvSpPr>
          <p:nvPr/>
        </p:nvSpPr>
        <p:spPr>
          <a:xfrm xmlns:a="http://schemas.openxmlformats.org/drawingml/2006/main">
            <a:off x="8858250" y="2667000"/>
            <a:ext cx="1381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202" lnSpcReduction="20000"/>
          </a:bodyPr>
          <a:lstStyle xmlns:a="http://schemas.openxmlformats.org/drawingml/2006/main"/>
          <a:p xmlns:a="http://schemas.openxmlformats.org/drawingml/2006/main">
            <a:pPr algn="ctr">
              <a:buNone/>
              <a:defRPr sz="1425" b="1">
                <a:solidFill>
                  <a:srgbClr val="008A46"/>
                </a:solidFill>
                <a:latin typeface="Arial"/>
                <a:ea typeface="Arial"/>
                <a:cs typeface="Arial"/>
              </a:defRPr>
            </a:pPr>
            <a:r>
              <a:rPr sz="1425" b="1">
                <a:solidFill>
                  <a:srgbClr val="008A46"/>
                </a:solidFill>
                <a:latin typeface="Arial"/>
                <a:ea typeface="Arial"/>
                <a:cs typeface="Arial"/>
              </a:rPr>
              <a:t>+ history ↓</a:t>
            </a:r>
          </a:p>
        </p:txBody>
      </p:sp>
      <p:sp>
        <p:nvSpPr>
          <p:cNvPr id="32" name="dpbrem-box-2">
            <a:extLst xmlns:a="http://schemas.openxmlformats.org/drawingml/2006/main">
              <a:ext uri="{FF2B5EF4-FFF2-40B4-BE49-F238E27FC236}">
                <a16:creationId xmlns:a16="http://schemas.microsoft.com/office/drawing/2014/main" id="{489914B5-E8C6-46A0-894A-1B6B972621A9}"/>
              </a:ext>
            </a:extLst>
          </p:cNvPr>
          <p:cNvSpPr>
            <a:spLocks xmlns:a="http://schemas.openxmlformats.org/drawingml/2006/main" noGrp="1"/>
          </p:cNvSpPr>
          <p:nvPr/>
        </p:nvSpPr>
        <p:spPr>
          <a:xfrm xmlns:a="http://schemas.openxmlformats.org/drawingml/2006/main">
            <a:off x="8143875" y="2933700"/>
            <a:ext cx="2809875" cy="4762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D97706"/>
                </a:solidFill>
                <a:latin typeface="Arial"/>
                <a:ea typeface="Arial"/>
                <a:cs typeface="Arial"/>
              </a:defRPr>
            </a:pPr>
            <a:r>
              <a:rPr sz="1275" b="1">
                <a:solidFill>
                  <a:srgbClr val="D97706"/>
                </a:solidFill>
                <a:latin typeface="Arial"/>
                <a:ea typeface="Arial"/>
                <a:cs typeface="Arial"/>
              </a:rPr>
              <a:t>Client momentum</a:t>
            </a:r>
          </a:p>
        </p:txBody>
      </p:sp>
      <p:sp>
        <p:nvSpPr>
          <p:cNvPr id="33" name="dpbrem-arrow-2">
            <a:extLst xmlns:a="http://schemas.openxmlformats.org/drawingml/2006/main">
              <a:ext uri="{FF2B5EF4-FFF2-40B4-BE49-F238E27FC236}">
                <a16:creationId xmlns:a16="http://schemas.microsoft.com/office/drawing/2014/main" id="{DBFF3B59-114D-4424-855D-3E8FC3254FA2}"/>
              </a:ext>
            </a:extLst>
          </p:cNvPr>
          <p:cNvSpPr>
            <a:spLocks xmlns:a="http://schemas.openxmlformats.org/drawingml/2006/main" noGrp="1"/>
          </p:cNvSpPr>
          <p:nvPr/>
        </p:nvSpPr>
        <p:spPr>
          <a:xfrm xmlns:a="http://schemas.openxmlformats.org/drawingml/2006/main">
            <a:off x="9096375" y="340995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889" lnSpcReduction="2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34" name="dpbrem-box-3">
            <a:extLst xmlns:a="http://schemas.openxmlformats.org/drawingml/2006/main">
              <a:ext uri="{FF2B5EF4-FFF2-40B4-BE49-F238E27FC236}">
                <a16:creationId xmlns:a16="http://schemas.microsoft.com/office/drawing/2014/main" id="{76EFEE9B-8AD6-49EB-A7CD-54177B73592C}"/>
              </a:ext>
            </a:extLst>
          </p:cNvPr>
          <p:cNvSpPr>
            <a:spLocks xmlns:a="http://schemas.openxmlformats.org/drawingml/2006/main" noGrp="1"/>
          </p:cNvSpPr>
          <p:nvPr/>
        </p:nvSpPr>
        <p:spPr>
          <a:xfrm xmlns:a="http://schemas.openxmlformats.org/drawingml/2006/main">
            <a:off x="8143875" y="3676650"/>
            <a:ext cx="2809875" cy="5905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008A46"/>
                </a:solidFill>
                <a:latin typeface="Arial"/>
                <a:ea typeface="Arial"/>
                <a:cs typeface="Arial"/>
              </a:defRPr>
            </a:pPr>
            <a:r>
              <a:rPr sz="1200" b="1">
                <a:solidFill>
                  <a:srgbClr val="008A46"/>
                </a:solidFill>
                <a:latin typeface="Arial"/>
                <a:ea typeface="Arial"/>
                <a:cs typeface="Arial"/>
              </a:rPr>
              <a:t>Secure aggregation + jointly generated DP noise</a:t>
            </a:r>
          </a:p>
        </p:txBody>
      </p:sp>
      <p:sp>
        <p:nvSpPr>
          <p:cNvPr id="35" name="dpbrem-arrow-3">
            <a:extLst xmlns:a="http://schemas.openxmlformats.org/drawingml/2006/main">
              <a:ext uri="{FF2B5EF4-FFF2-40B4-BE49-F238E27FC236}">
                <a16:creationId xmlns:a16="http://schemas.microsoft.com/office/drawing/2014/main" id="{57140725-AD0A-4D8B-9323-4116EDEABB38}"/>
              </a:ext>
            </a:extLst>
          </p:cNvPr>
          <p:cNvSpPr>
            <a:spLocks xmlns:a="http://schemas.openxmlformats.org/drawingml/2006/main" noGrp="1"/>
          </p:cNvSpPr>
          <p:nvPr/>
        </p:nvSpPr>
        <p:spPr>
          <a:xfrm xmlns:a="http://schemas.openxmlformats.org/drawingml/2006/main">
            <a:off x="9096375" y="42672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889" lnSpcReduction="2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36" name="dpbrem-box-4">
            <a:extLst xmlns:a="http://schemas.openxmlformats.org/drawingml/2006/main">
              <a:ext uri="{FF2B5EF4-FFF2-40B4-BE49-F238E27FC236}">
                <a16:creationId xmlns:a16="http://schemas.microsoft.com/office/drawing/2014/main" id="{9D79AF4E-D1A8-429E-8E4C-A777FAA393AA}"/>
              </a:ext>
            </a:extLst>
          </p:cNvPr>
          <p:cNvSpPr>
            <a:spLocks xmlns:a="http://schemas.openxmlformats.org/drawingml/2006/main" noGrp="1"/>
          </p:cNvSpPr>
          <p:nvPr/>
        </p:nvSpPr>
        <p:spPr>
          <a:xfrm xmlns:a="http://schemas.openxmlformats.org/drawingml/2006/main">
            <a:off x="8143875" y="4533900"/>
            <a:ext cx="2809875" cy="49530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Private, robust global model</a:t>
            </a:r>
          </a:p>
        </p:txBody>
      </p:sp>
      <p:sp>
        <p:nvSpPr>
          <p:cNvPr id="37" name="dpbrem-diagram-caption">
            <a:extLst xmlns:a="http://schemas.openxmlformats.org/drawingml/2006/main">
              <a:ext uri="{FF2B5EF4-FFF2-40B4-BE49-F238E27FC236}">
                <a16:creationId xmlns:a16="http://schemas.microsoft.com/office/drawing/2014/main" id="{B65D6B49-D9FB-4BB7-8903-DA30D5465A73}"/>
              </a:ext>
            </a:extLst>
          </p:cNvPr>
          <p:cNvSpPr>
            <a:spLocks xmlns:a="http://schemas.openxmlformats.org/drawingml/2006/main" noGrp="1"/>
          </p:cNvSpPr>
          <p:nvPr/>
        </p:nvSpPr>
        <p:spPr>
          <a:xfrm xmlns:a="http://schemas.openxmlformats.org/drawingml/2006/main">
            <a:off x="7810500" y="516255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History, privacy, and robustness are linked [17].</a:t>
            </a:r>
          </a:p>
        </p:txBody>
      </p:sp>
      <p:pic>
        <p:nvPicPr>
          <p:cNvPr id="68" name="Picture 1"/>
          <p:cNvPicPr>
            <a:picLocks xmlns:a="http://schemas.openxmlformats.org/drawingml/2006/main" noChangeAspect="1"/>
          </p:cNvPicPr>
          <p:nvPr/>
        </p:nvPicPr>
        <p:blipFill>
          <a:blip xmlns:r="http://schemas.openxmlformats.org/officeDocument/2006/relationships" xmlns:a="http://schemas.openxmlformats.org/drawingml/2006/main" r:embed="R50a10d10575e45a2"/>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97028649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(3/3)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13</a:t>
            </a:r>
            <a:endParaRPr sz="2800"/>
          </a:p>
        </p:txBody>
      </p:sp>
      <p:pic>
        <p:nvPicPr>
          <p:cNvPr id="25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df50b7359ec34c2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table-caption-rs3">
            <a:extLst xmlns:a="http://schemas.openxmlformats.org/drawingml/2006/main">
              <a:ext uri="{FF2B5EF4-FFF2-40B4-BE49-F238E27FC236}">
                <a16:creationId xmlns:a16="http://schemas.microsoft.com/office/drawing/2014/main" id="{D5FB49E3-377F-4081-9952-52800B850D3C}"/>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III. Capability map of recent integrated methods</a:t>
            </a:r>
          </a:p>
        </p:txBody>
      </p:sp>
      <p:graphicFrame>
        <p:nvGraphicFramePr>
          <p:cNvPr id="254" name="Table 255"/>
          <p:cNvGraphicFramePr/>
          <p:nvPr/>
        </p:nvGraphicFramePr>
        <p:xfrm>
          <a:off xmlns:a="http://schemas.openxmlformats.org/drawingml/2006/main" x="428625" y="1571625"/>
          <a:ext xmlns:a="http://schemas.openxmlformats.org/drawingml/2006/main" cx="11334750" cy="4000500"/>
        </p:xfrm>
        <a:graphic xmlns:a="http://schemas.openxmlformats.org/drawingml/2006/main">
          <a:graphicData uri="http://schemas.openxmlformats.org/drawingml/2006/table">
            <a:tbl>
              <a:tblPr firstRow="1" bandRow="1"/>
              <a:tblGrid>
                <a:gridCol w="1524000"/>
                <a:gridCol w="1809750"/>
                <a:gridCol w="1285875"/>
                <a:gridCol w="2190750"/>
                <a:gridCol w="2143125"/>
                <a:gridCol w="2381250"/>
              </a:tblGrid>
              <a:tr h="666750">
                <a:tc>
                  <a:txBody>
                    <a:bodyPr/>
                    <a:lstStyle/>
                    <a:p>
                      <a:r>
                        <a:rPr sz="1163"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Healthcare evidence</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Formal DP</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Protected aggregation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Wire-aware compression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Poisoning defence</a:t>
                      </a:r>
                    </a:p>
                  </a:txBody>
                  <a:tcPr marL="66675" marR="66675" marT="47625" marB="47625" anchor="ctr">
                    <a:solidFill>
                      <a:srgbClr val="17365D"/>
                    </a:solidFill>
                  </a:tcPr>
                </a:tc>
              </a:tr>
              <a:tr h="666750">
                <a:tc>
                  <a:txBody>
                    <a:bodyPr/>
                    <a:lstStyle/>
                    <a:p>
                      <a:r>
                        <a:rPr sz="112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Protocol-level</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DP-BREM+ [17]</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PREAMBLE [18]</a:t>
                      </a:r>
                    </a:p>
                  </a:txBody>
                  <a:tcPr marL="66675" marR="66675" marT="47625" marB="47625" anchor="ctr">
                    <a:solidFill>
                      <a:srgbClr val="FFFFFF"/>
                    </a:solidFill>
                  </a:tcPr>
                </a:tc>
                <a:tc>
                  <a:txBody>
                    <a:bodyPr/>
                    <a:lstStyle/>
                    <a:p>
                      <a:r>
                        <a:rPr sz="1125">
                          <a:solidFill>
                            <a:srgbClr val="1F2937"/>
                          </a:solidFill>
                          <a:latin typeface="Arial"/>
                          <a:ea typeface="Arial"/>
                          <a:cs typeface="Arial"/>
                        </a:rPr>
                        <a:t>Different task</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125">
                          <a:solidFill>
                            <a:srgbClr val="1F2937"/>
                          </a:solidFill>
                          <a:latin typeface="Arial"/>
                          <a:ea typeface="Arial"/>
                          <a:cs typeface="Arial"/>
                        </a:rPr>
                        <a:t>PhysioNet 2019</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CKKS sum path</a:t>
                      </a:r>
                    </a:p>
                  </a:txBody>
                  <a:tcPr marL="66675" marR="66675" marT="47625" marB="47625" anchor="ctr">
                    <a:solidFill>
                      <a:srgbClr val="FFFFFF"/>
                    </a:solidFill>
                  </a:tcPr>
                </a:tc>
                <a:tc>
                  <a:txBody>
                    <a:bodyPr/>
                    <a:lstStyle/>
                    <a:p>
                      <a:r>
                        <a:rPr sz="1125">
                          <a:solidFill>
                            <a:srgbClr val="1F2937"/>
                          </a:solidFill>
                          <a:latin typeface="Arial"/>
                          <a:ea typeface="Arial"/>
                          <a:cs typeface="Arial"/>
                        </a:rPr>
                        <a:t>Measured bytes</a:t>
                      </a:r>
                    </a:p>
                  </a:txBody>
                  <a:tcPr marL="66675" marR="66675" marT="47625" marB="47625" anchor="ctr">
                    <a:solidFill>
                      <a:srgbClr val="FFFFFF"/>
                    </a:solidFill>
                  </a:tcPr>
                </a:tc>
                <a:tc>
                  <a:txBody>
                    <a:bodyPr/>
                    <a:lstStyle/>
                    <a:p>
                      <a:r>
                        <a:rPr sz="1125">
                          <a:solidFill>
                            <a:srgbClr val="1F2937"/>
                          </a:solidFill>
                          <a:latin typeface="Arial"/>
                          <a:ea typeface="Arial"/>
                          <a:cs typeface="Arial"/>
                        </a:rPr>
                        <a:t>Release control</a:t>
                      </a:r>
                    </a:p>
                  </a:txBody>
                  <a:tcPr marL="66675" marR="66675" marT="47625" marB="47625" anchor="ctr">
                    <a:solidFill>
                      <a:srgbClr val="FFFFFF"/>
                    </a:solidFill>
                  </a:tcPr>
                </a:tc>
              </a:tr>
            </a:tbl>
          </a:graphicData>
        </a:graphic>
      </p:graphicFrame>
      <p:sp>
        <p:nvSpPr>
          <p:cNvPr id="222" name="rs3-note">
            <a:extLst xmlns:a="http://schemas.openxmlformats.org/drawingml/2006/main">
              <a:ext uri="{FF2B5EF4-FFF2-40B4-BE49-F238E27FC236}">
                <a16:creationId xmlns:a16="http://schemas.microsoft.com/office/drawing/2014/main" id="{3CBE3883-65EE-4FF6-905B-D06FF17E7E80}"/>
              </a:ext>
            </a:extLst>
          </p:cNvPr>
          <p:cNvSpPr>
            <a:spLocks xmlns:a="http://schemas.openxmlformats.org/drawingml/2006/main" noGrp="1"/>
          </p:cNvSpPr>
          <p:nvPr/>
        </p:nvSpPr>
        <p:spPr>
          <a:xfrm xmlns:a="http://schemas.openxmlformats.org/drawingml/2006/main">
            <a:off x="1428750" y="5715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500" b="0" i="1">
                <a:solidFill>
                  <a:srgbClr val="5B6573"/>
                </a:solidFill>
                <a:latin typeface="Arial"/>
                <a:ea typeface="Arial"/>
                <a:cs typeface="Arial"/>
              </a:defRPr>
            </a:pPr>
            <a:r>
              <a:rPr sz="1500" b="0" i="1">
                <a:solidFill>
                  <a:srgbClr val="5B6573"/>
                </a:solidFill>
                <a:latin typeface="Arial"/>
                <a:ea typeface="Arial"/>
                <a:cs typeface="Arial"/>
              </a:rPr>
              <a:t>The rows use different datasets and threat models, so this map describes scope rather than rank.</a:t>
            </a:r>
          </a:p>
        </p:txBody>
      </p:sp>
      <p:sp>
        <p:nvSpPr>
          <p:cNvPr id="226" name="visible-footer-date-11">
            <a:extLst xmlns:a="http://schemas.openxmlformats.org/drawingml/2006/main">
              <a:ext uri="{FF2B5EF4-FFF2-40B4-BE49-F238E27FC236}">
                <a16:creationId xmlns:a16="http://schemas.microsoft.com/office/drawing/2014/main" id="{AC6EAD33-26BD-47B1-84B2-8A6BC3518A8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cover-3">
            <a:extLst xmlns:a="http://schemas.openxmlformats.org/drawingml/2006/main">
              <a:ext uri="{FF2B5EF4-FFF2-40B4-BE49-F238E27FC236}">
                <a16:creationId xmlns:a16="http://schemas.microsoft.com/office/drawing/2014/main" id="{D497C4B0-9EA7-4670-A3B0-930037AA052F}"/>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paper-title-3">
            <a:extLst xmlns:a="http://schemas.openxmlformats.org/drawingml/2006/main">
              <a:ext uri="{FF2B5EF4-FFF2-40B4-BE49-F238E27FC236}">
                <a16:creationId xmlns:a16="http://schemas.microsoft.com/office/drawing/2014/main" id="{5ED14AEF-C3C5-4B85-8F43-F00DDB2BF860}"/>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PREAMBLE: Private and Efficient Aggregation via Block Sparse Vectors [18]</a:t>
            </a:r>
          </a:p>
        </p:txBody>
      </p:sp>
      <p:sp>
        <p:nvSpPr>
          <p:cNvPr id="232" name="paper-summary-3">
            <a:extLst xmlns:a="http://schemas.openxmlformats.org/drawingml/2006/main">
              <a:ext uri="{FF2B5EF4-FFF2-40B4-BE49-F238E27FC236}">
                <a16:creationId xmlns:a16="http://schemas.microsoft.com/office/drawing/2014/main" id="{63420EE7-E716-40DE-912F-1D4814E18315}"/>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PREAMBLE co-designs a two-server private-aggregation protocol with block-sparse vectors, distributed point functions, sampling, and privacy amplification to reduce high-dimensional communication.</a:t>
            </a:r>
          </a:p>
        </p:txBody>
      </p:sp>
      <p:sp>
        <p:nvSpPr>
          <p:cNvPr id="233" name="paper-source-3">
            <a:extLst xmlns:a="http://schemas.openxmlformats.org/drawingml/2006/main">
              <a:ext uri="{FF2B5EF4-FFF2-40B4-BE49-F238E27FC236}">
                <a16:creationId xmlns:a16="http://schemas.microsoft.com/office/drawing/2014/main" id="{6ECDB239-EFD8-48A5-8284-10E99DFADF9C}"/>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Asi et al., NeurIPS 2025 [18].</a:t>
            </a:r>
          </a:p>
        </p:txBody>
      </p:sp>
      <p:sp>
        <p:nvSpPr>
          <p:cNvPr id="234" name="preamble-strengths-heading">
            <a:extLst xmlns:a="http://schemas.openxmlformats.org/drawingml/2006/main">
              <a:ext uri="{FF2B5EF4-FFF2-40B4-BE49-F238E27FC236}">
                <a16:creationId xmlns:a16="http://schemas.microsoft.com/office/drawing/2014/main" id="{4A5652FD-A1B3-4E80-8D03-0F9199010238}"/>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5" name="preamble-strengths-bullets">
            <a:extLst xmlns:a="http://schemas.openxmlformats.org/drawingml/2006/main">
              <a:ext uri="{FF2B5EF4-FFF2-40B4-BE49-F238E27FC236}">
                <a16:creationId xmlns:a16="http://schemas.microsoft.com/office/drawing/2014/main" id="{F391703E-3566-48C2-927F-F2AEA5369EA1}"/>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Aligns the sparse representation with its protected transport protocol.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Reduces communication and computation for block-sparse vectors.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Provides formal privacy–utility analysis with low added noise overhead.</a:t>
            </a:r>
          </a:p>
        </p:txBody>
      </p:sp>
      <p:sp>
        <p:nvSpPr>
          <p:cNvPr id="236" name="preamble-limits-heading">
            <a:extLst xmlns:a="http://schemas.openxmlformats.org/drawingml/2006/main">
              <a:ext uri="{FF2B5EF4-FFF2-40B4-BE49-F238E27FC236}">
                <a16:creationId xmlns:a16="http://schemas.microsoft.com/office/drawing/2014/main" id="{4B8A7FFE-404D-41FC-99EE-43E4C50CAC78}"/>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37" name="preamble-limits-bullets">
            <a:extLst xmlns:a="http://schemas.openxmlformats.org/drawingml/2006/main">
              <a:ext uri="{FF2B5EF4-FFF2-40B4-BE49-F238E27FC236}">
                <a16:creationId xmlns:a16="http://schemas.microsoft.com/office/drawing/2014/main" id="{7243B988-B459-4C0B-80B6-9984718F584B}"/>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Requires two non-colluding aggregation servers.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Targets vector aggregation rather than iterative CKKS clinical FL.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Does not evaluate poisoning, release governance, or healthcare utility.</a:t>
            </a:r>
          </a:p>
        </p:txBody>
      </p:sp>
      <p:sp>
        <p:nvSpPr>
          <p:cNvPr id="238" name="preamble-flow-title">
            <a:extLst xmlns:a="http://schemas.openxmlformats.org/drawingml/2006/main">
              <a:ext uri="{FF2B5EF4-FFF2-40B4-BE49-F238E27FC236}">
                <a16:creationId xmlns:a16="http://schemas.microsoft.com/office/drawing/2014/main" id="{D73159F9-3ED5-44AA-8396-BFC2D15520CB}"/>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PREAMBLE conceptual workflow</a:t>
            </a:r>
          </a:p>
        </p:txBody>
      </p:sp>
      <p:sp>
        <p:nvSpPr>
          <p:cNvPr id="239" name="preamble-box-1">
            <a:extLst xmlns:a="http://schemas.openxmlformats.org/drawingml/2006/main">
              <a:ext uri="{FF2B5EF4-FFF2-40B4-BE49-F238E27FC236}">
                <a16:creationId xmlns:a16="http://schemas.microsoft.com/office/drawing/2014/main" id="{7AE7E345-6275-4DDE-B112-20A1C4E5EE2C}"/>
              </a:ext>
            </a:extLst>
          </p:cNvPr>
          <p:cNvSpPr>
            <a:spLocks xmlns:a="http://schemas.openxmlformats.org/drawingml/2006/main" noGrp="1"/>
          </p:cNvSpPr>
          <p:nvPr/>
        </p:nvSpPr>
        <p:spPr>
          <a:xfrm xmlns:a="http://schemas.openxmlformats.org/drawingml/2006/main">
            <a:off x="8143875" y="2190750"/>
            <a:ext cx="2809875" cy="49530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Block-sparse client vector</a:t>
            </a:r>
          </a:p>
        </p:txBody>
      </p:sp>
      <p:sp>
        <p:nvSpPr>
          <p:cNvPr id="240" name="preamble-arrow-split">
            <a:extLst xmlns:a="http://schemas.openxmlformats.org/drawingml/2006/main">
              <a:ext uri="{FF2B5EF4-FFF2-40B4-BE49-F238E27FC236}">
                <a16:creationId xmlns:a16="http://schemas.microsoft.com/office/drawing/2014/main" id="{62DA6507-6552-4E74-B474-DC3158F16F8B}"/>
              </a:ext>
            </a:extLst>
          </p:cNvPr>
          <p:cNvSpPr>
            <a:spLocks xmlns:a="http://schemas.openxmlformats.org/drawingml/2006/main" noGrp="1"/>
          </p:cNvSpPr>
          <p:nvPr/>
        </p:nvSpPr>
        <p:spPr>
          <a:xfrm xmlns:a="http://schemas.openxmlformats.org/drawingml/2006/main">
            <a:off x="8239125" y="2686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33"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1" name="preamble-box-2a">
            <a:extLst xmlns:a="http://schemas.openxmlformats.org/drawingml/2006/main">
              <a:ext uri="{FF2B5EF4-FFF2-40B4-BE49-F238E27FC236}">
                <a16:creationId xmlns:a16="http://schemas.microsoft.com/office/drawing/2014/main" id="{03A81E5E-2B15-4CC5-A311-935D6D1EE146}"/>
              </a:ext>
            </a:extLst>
          </p:cNvPr>
          <p:cNvSpPr>
            <a:spLocks xmlns:a="http://schemas.openxmlformats.org/drawingml/2006/main" noGrp="1"/>
          </p:cNvSpPr>
          <p:nvPr/>
        </p:nvSpPr>
        <p:spPr>
          <a:xfrm xmlns:a="http://schemas.openxmlformats.org/drawingml/2006/main">
            <a:off x="785812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A</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2" name="preamble-box-2b">
            <a:extLst xmlns:a="http://schemas.openxmlformats.org/drawingml/2006/main">
              <a:ext uri="{FF2B5EF4-FFF2-40B4-BE49-F238E27FC236}">
                <a16:creationId xmlns:a16="http://schemas.microsoft.com/office/drawing/2014/main" id="{DEF78BC3-25C5-43C6-BBB5-3872DA823F18}"/>
              </a:ext>
            </a:extLst>
          </p:cNvPr>
          <p:cNvSpPr>
            <a:spLocks xmlns:a="http://schemas.openxmlformats.org/drawingml/2006/main" noGrp="1"/>
          </p:cNvSpPr>
          <p:nvPr/>
        </p:nvSpPr>
        <p:spPr>
          <a:xfrm xmlns:a="http://schemas.openxmlformats.org/drawingml/2006/main">
            <a:off x="966787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B</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3" name="preamble-arrow-merge">
            <a:extLst xmlns:a="http://schemas.openxmlformats.org/drawingml/2006/main">
              <a:ext uri="{FF2B5EF4-FFF2-40B4-BE49-F238E27FC236}">
                <a16:creationId xmlns:a16="http://schemas.microsoft.com/office/drawing/2014/main" id="{03DA5FE3-5395-4C45-9B7C-E980A0E09B62}"/>
              </a:ext>
            </a:extLst>
          </p:cNvPr>
          <p:cNvSpPr>
            <a:spLocks xmlns:a="http://schemas.openxmlformats.org/drawingml/2006/main" noGrp="1"/>
          </p:cNvSpPr>
          <p:nvPr/>
        </p:nvSpPr>
        <p:spPr>
          <a:xfrm xmlns:a="http://schemas.openxmlformats.org/drawingml/2006/main">
            <a:off x="8239125" y="3829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33"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4" name="preamble-box-3">
            <a:extLst xmlns:a="http://schemas.openxmlformats.org/drawingml/2006/main">
              <a:ext uri="{FF2B5EF4-FFF2-40B4-BE49-F238E27FC236}">
                <a16:creationId xmlns:a16="http://schemas.microsoft.com/office/drawing/2014/main" id="{B1EB8236-E9B0-4813-B69C-33061CE128C8}"/>
              </a:ext>
            </a:extLst>
          </p:cNvPr>
          <p:cNvSpPr>
            <a:spLocks xmlns:a="http://schemas.openxmlformats.org/drawingml/2006/main" noGrp="1"/>
          </p:cNvSpPr>
          <p:nvPr/>
        </p:nvSpPr>
        <p:spPr>
          <a:xfrm xmlns:a="http://schemas.openxmlformats.org/drawingml/2006/main">
            <a:off x="8143875" y="42481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D97706"/>
                </a:solidFill>
                <a:latin typeface="Arial"/>
                <a:ea typeface="Arial"/>
                <a:cs typeface="Arial"/>
              </a:defRPr>
            </a:pPr>
            <a:r>
              <a:rPr sz="1200" b="1">
                <a:solidFill>
                  <a:srgbClr val="D97706"/>
                </a:solidFill>
                <a:latin typeface="Arial"/>
                <a:ea typeface="Arial"/>
                <a:cs typeface="Arial"/>
              </a:rPr>
              <a:t>Private block-sparse aggregate</a:t>
            </a:r>
          </a:p>
        </p:txBody>
      </p:sp>
      <p:sp>
        <p:nvSpPr>
          <p:cNvPr id="245" name="preamble-diagram-caption">
            <a:extLst xmlns:a="http://schemas.openxmlformats.org/drawingml/2006/main">
              <a:ext uri="{FF2B5EF4-FFF2-40B4-BE49-F238E27FC236}">
                <a16:creationId xmlns:a16="http://schemas.microsoft.com/office/drawing/2014/main" id="{E103B243-C93A-4A36-8D33-AB0AB78BC5BB}"/>
              </a:ext>
            </a:extLst>
          </p:cNvPr>
          <p:cNvSpPr>
            <a:spLocks xmlns:a="http://schemas.openxmlformats.org/drawingml/2006/main" noGrp="1"/>
          </p:cNvSpPr>
          <p:nvPr/>
        </p:nvSpPr>
        <p:spPr>
          <a:xfrm xmlns:a="http://schemas.openxmlformats.org/drawingml/2006/main">
            <a:off x="7762875" y="5048250"/>
            <a:ext cx="3571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Efficiency relies on a two-server non-collusion model [18].</a:t>
            </a:r>
          </a:p>
        </p:txBody>
      </p:sp>
      <p:pic>
        <p:nvPicPr>
          <p:cNvPr id="273" name="Picture 1"/>
          <p:cNvPicPr>
            <a:picLocks xmlns:a="http://schemas.openxmlformats.org/drawingml/2006/main" noChangeAspect="1"/>
          </p:cNvPicPr>
          <p:nvPr/>
        </p:nvPicPr>
        <p:blipFill>
          <a:blip xmlns:r="http://schemas.openxmlformats.org/officeDocument/2006/relationships" xmlns:a="http://schemas.openxmlformats.org/drawingml/2006/main" r:embed="R20c5a35b16974bdf"/>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97028649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defRPr sz="3150" b="1">
                <a:solidFill>
                  <a:srgbClr val="062B6F"/>
                </a:solidFill>
                <a:latin typeface="Arial"/>
                <a:ea typeface="Arial"/>
                <a:cs typeface="Arial"/>
              </a:defRPr>
            </a:pPr>
            <a:r>
              <a:rPr sz="3150" b="1">
                <a:solidFill>
                  <a:srgbClr val="062B6F"/>
                </a:solidFill>
                <a:latin typeface="Arial"/>
                <a:ea typeface="Arial"/>
                <a:cs typeface="Arial"/>
              </a:rPr>
              <a:t>Comparison of Related Studies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14</a:t>
            </a:r>
            <a:endParaRPr sz="2800"/>
          </a:p>
        </p:txBody>
      </p:sp>
      <p:pic>
        <p:nvPicPr>
          <p:cNvPr id="265"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1e8709a18e67497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table-caption-rs3">
            <a:extLst xmlns:a="http://schemas.openxmlformats.org/drawingml/2006/main">
              <a:ext uri="{FF2B5EF4-FFF2-40B4-BE49-F238E27FC236}">
                <a16:creationId xmlns:a16="http://schemas.microsoft.com/office/drawing/2014/main" id="{D5FB49E3-377F-4081-9952-52800B850D3C}"/>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III. Capability map of recent integrated methods</a:t>
            </a:r>
          </a:p>
        </p:txBody>
      </p:sp>
      <p:graphicFrame>
        <p:nvGraphicFramePr>
          <p:cNvPr id="268" name="Table 270"/>
          <p:cNvGraphicFramePr/>
          <p:nvPr/>
        </p:nvGraphicFramePr>
        <p:xfrm>
          <a:off xmlns:a="http://schemas.openxmlformats.org/drawingml/2006/main" x="428625" y="1571625"/>
          <a:ext xmlns:a="http://schemas.openxmlformats.org/drawingml/2006/main" cx="11334750" cy="4000500"/>
        </p:xfrm>
        <a:graphic xmlns:a="http://schemas.openxmlformats.org/drawingml/2006/main">
          <a:graphicData uri="http://schemas.openxmlformats.org/drawingml/2006/table">
            <a:tbl>
              <a:tblPr firstRow="1" bandRow="1"/>
              <a:tblGrid>
                <a:gridCol w="1524000"/>
                <a:gridCol w="1809750"/>
                <a:gridCol w="1285875"/>
                <a:gridCol w="2190750"/>
                <a:gridCol w="2143125"/>
                <a:gridCol w="2381250"/>
              </a:tblGrid>
              <a:tr h="666750">
                <a:tc>
                  <a:txBody>
                    <a:bodyPr/>
                    <a:lstStyle/>
                    <a:p>
                      <a:r>
                        <a:rPr sz="1163"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Healthcare evidence</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Formal DP</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Protected aggregation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Wire-aware compression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Poisoning defence</a:t>
                      </a:r>
                    </a:p>
                  </a:txBody>
                  <a:tcPr marL="66675" marR="66675" marT="47625" marB="47625" anchor="ctr">
                    <a:solidFill>
                      <a:srgbClr val="17365D"/>
                    </a:solidFill>
                  </a:tcPr>
                </a:tc>
              </a:tr>
              <a:tr h="666750">
                <a:tc>
                  <a:txBody>
                    <a:bodyPr/>
                    <a:lstStyle/>
                    <a:p>
                      <a:r>
                        <a:rPr sz="112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Protocol-level</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DP-BREM+ [17]</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PREAMBLE [18]</a:t>
                      </a:r>
                    </a:p>
                  </a:txBody>
                  <a:tcPr marL="66675" marR="66675" marT="47625" marB="47625" anchor="ctr">
                    <a:solidFill>
                      <a:srgbClr val="FFFFFF"/>
                    </a:solidFill>
                  </a:tcPr>
                </a:tc>
                <a:tc>
                  <a:txBody>
                    <a:bodyPr/>
                    <a:lstStyle/>
                    <a:p>
                      <a:r>
                        <a:rPr sz="1125">
                          <a:solidFill>
                            <a:srgbClr val="1F2937"/>
                          </a:solidFill>
                          <a:latin typeface="Arial"/>
                          <a:ea typeface="Arial"/>
                          <a:cs typeface="Arial"/>
                        </a:rPr>
                        <a:t>Different task</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125">
                          <a:solidFill>
                            <a:srgbClr val="1F2937"/>
                          </a:solidFill>
                          <a:latin typeface="Arial"/>
                          <a:ea typeface="Arial"/>
                          <a:cs typeface="Arial"/>
                        </a:rPr>
                        <a:t>PhysioNet 2019</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CKKS sum path</a:t>
                      </a:r>
                    </a:p>
                  </a:txBody>
                  <a:tcPr marL="66675" marR="66675" marT="47625" marB="47625" anchor="ctr">
                    <a:solidFill>
                      <a:srgbClr val="FFFFFF"/>
                    </a:solidFill>
                  </a:tcPr>
                </a:tc>
                <a:tc>
                  <a:txBody>
                    <a:bodyPr/>
                    <a:lstStyle/>
                    <a:p>
                      <a:r>
                        <a:rPr sz="1125">
                          <a:solidFill>
                            <a:srgbClr val="1F2937"/>
                          </a:solidFill>
                          <a:latin typeface="Arial"/>
                          <a:ea typeface="Arial"/>
                          <a:cs typeface="Arial"/>
                        </a:rPr>
                        <a:t>Measured bytes</a:t>
                      </a:r>
                    </a:p>
                  </a:txBody>
                  <a:tcPr marL="66675" marR="66675" marT="47625" marB="47625" anchor="ctr">
                    <a:solidFill>
                      <a:srgbClr val="FFFFFF"/>
                    </a:solidFill>
                  </a:tcPr>
                </a:tc>
                <a:tc>
                  <a:txBody>
                    <a:bodyPr/>
                    <a:lstStyle/>
                    <a:p>
                      <a:r>
                        <a:rPr sz="1125">
                          <a:solidFill>
                            <a:srgbClr val="1F2937"/>
                          </a:solidFill>
                          <a:latin typeface="Arial"/>
                          <a:ea typeface="Arial"/>
                          <a:cs typeface="Arial"/>
                        </a:rPr>
                        <a:t>Release control</a:t>
                      </a:r>
                    </a:p>
                  </a:txBody>
                  <a:tcPr marL="66675" marR="66675" marT="47625" marB="47625" anchor="ctr">
                    <a:solidFill>
                      <a:srgbClr val="FFFFFF"/>
                    </a:solidFill>
                  </a:tcPr>
                </a:tc>
              </a:tr>
            </a:tbl>
          </a:graphicData>
        </a:graphic>
      </p:graphicFrame>
      <p:sp>
        <p:nvSpPr>
          <p:cNvPr id="222" name="rs3-note">
            <a:extLst xmlns:a="http://schemas.openxmlformats.org/drawingml/2006/main">
              <a:ext uri="{FF2B5EF4-FFF2-40B4-BE49-F238E27FC236}">
                <a16:creationId xmlns:a16="http://schemas.microsoft.com/office/drawing/2014/main" id="{3CBE3883-65EE-4FF6-905B-D06FF17E7E80}"/>
              </a:ext>
            </a:extLst>
          </p:cNvPr>
          <p:cNvSpPr>
            <a:spLocks xmlns:a="http://schemas.openxmlformats.org/drawingml/2006/main" noGrp="1"/>
          </p:cNvSpPr>
          <p:nvPr/>
        </p:nvSpPr>
        <p:spPr>
          <a:xfrm xmlns:a="http://schemas.openxmlformats.org/drawingml/2006/main">
            <a:off x="1428750" y="5715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500" b="0" i="1">
                <a:solidFill>
                  <a:srgbClr val="5B6573"/>
                </a:solidFill>
                <a:latin typeface="Arial"/>
                <a:ea typeface="Arial"/>
                <a:cs typeface="Arial"/>
              </a:defRPr>
            </a:pPr>
            <a:r>
              <a:rPr sz="1500" b="0" i="1">
                <a:solidFill>
                  <a:srgbClr val="5B6573"/>
                </a:solidFill>
                <a:latin typeface="Arial"/>
                <a:ea typeface="Arial"/>
                <a:cs typeface="Arial"/>
              </a:rPr>
              <a:t>The rows use different datasets and threat models, so this map describes scope rather than rank.</a:t>
            </a:r>
          </a:p>
        </p:txBody>
      </p:sp>
      <p:sp>
        <p:nvSpPr>
          <p:cNvPr id="226" name="visible-footer-date-11">
            <a:extLst xmlns:a="http://schemas.openxmlformats.org/drawingml/2006/main">
              <a:ext uri="{FF2B5EF4-FFF2-40B4-BE49-F238E27FC236}">
                <a16:creationId xmlns:a16="http://schemas.microsoft.com/office/drawing/2014/main" id="{AC6EAD33-26BD-47B1-84B2-8A6BC3518A8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cover-3">
            <a:extLst xmlns:a="http://schemas.openxmlformats.org/drawingml/2006/main">
              <a:ext uri="{FF2B5EF4-FFF2-40B4-BE49-F238E27FC236}">
                <a16:creationId xmlns:a16="http://schemas.microsoft.com/office/drawing/2014/main" id="{D497C4B0-9EA7-4670-A3B0-930037AA052F}"/>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paper-title-3">
            <a:extLst xmlns:a="http://schemas.openxmlformats.org/drawingml/2006/main">
              <a:ext uri="{FF2B5EF4-FFF2-40B4-BE49-F238E27FC236}">
                <a16:creationId xmlns:a16="http://schemas.microsoft.com/office/drawing/2014/main" id="{5ED14AEF-C3C5-4B85-8F43-F00DDB2BF860}"/>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PREAMBLE: Private and Efficient Aggregation via Block Sparse Vectors [18]</a:t>
            </a:r>
          </a:p>
        </p:txBody>
      </p:sp>
      <p:sp>
        <p:nvSpPr>
          <p:cNvPr id="232" name="paper-summary-3">
            <a:extLst xmlns:a="http://schemas.openxmlformats.org/drawingml/2006/main">
              <a:ext uri="{FF2B5EF4-FFF2-40B4-BE49-F238E27FC236}">
                <a16:creationId xmlns:a16="http://schemas.microsoft.com/office/drawing/2014/main" id="{63420EE7-E716-40DE-912F-1D4814E18315}"/>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PREAMBLE co-designs a two-server private-aggregation protocol with block-sparse vectors, distributed point functions, sampling, and privacy amplification to reduce high-dimensional communication.</a:t>
            </a:r>
          </a:p>
        </p:txBody>
      </p:sp>
      <p:sp>
        <p:nvSpPr>
          <p:cNvPr id="233" name="paper-source-3">
            <a:extLst xmlns:a="http://schemas.openxmlformats.org/drawingml/2006/main">
              <a:ext uri="{FF2B5EF4-FFF2-40B4-BE49-F238E27FC236}">
                <a16:creationId xmlns:a16="http://schemas.microsoft.com/office/drawing/2014/main" id="{6ECDB239-EFD8-48A5-8284-10E99DFADF9C}"/>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Asi et al., NeurIPS 2025 [18].</a:t>
            </a:r>
          </a:p>
        </p:txBody>
      </p:sp>
      <p:sp>
        <p:nvSpPr>
          <p:cNvPr id="234" name="preamble-strengths-heading">
            <a:extLst xmlns:a="http://schemas.openxmlformats.org/drawingml/2006/main">
              <a:ext uri="{FF2B5EF4-FFF2-40B4-BE49-F238E27FC236}">
                <a16:creationId xmlns:a16="http://schemas.microsoft.com/office/drawing/2014/main" id="{4A5652FD-A1B3-4E80-8D03-0F9199010238}"/>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5" name="preamble-strengths-bullets">
            <a:extLst xmlns:a="http://schemas.openxmlformats.org/drawingml/2006/main">
              <a:ext uri="{FF2B5EF4-FFF2-40B4-BE49-F238E27FC236}">
                <a16:creationId xmlns:a16="http://schemas.microsoft.com/office/drawing/2014/main" id="{F391703E-3566-48C2-927F-F2AEA5369EA1}"/>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Aligns the sparse representation with its protected transport protocol.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Reduces communication and computation for block-sparse vectors.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Provides formal privacy–utility analysis with low added noise overhead.</a:t>
            </a:r>
          </a:p>
        </p:txBody>
      </p:sp>
      <p:sp>
        <p:nvSpPr>
          <p:cNvPr id="236" name="preamble-limits-heading">
            <a:extLst xmlns:a="http://schemas.openxmlformats.org/drawingml/2006/main">
              <a:ext uri="{FF2B5EF4-FFF2-40B4-BE49-F238E27FC236}">
                <a16:creationId xmlns:a16="http://schemas.microsoft.com/office/drawing/2014/main" id="{4B8A7FFE-404D-41FC-99EE-43E4C50CAC78}"/>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37" name="preamble-limits-bullets">
            <a:extLst xmlns:a="http://schemas.openxmlformats.org/drawingml/2006/main">
              <a:ext uri="{FF2B5EF4-FFF2-40B4-BE49-F238E27FC236}">
                <a16:creationId xmlns:a16="http://schemas.microsoft.com/office/drawing/2014/main" id="{7243B988-B459-4C0B-80B6-9984718F584B}"/>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Requires two non-colluding aggregation servers.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Targets vector aggregation rather than iterative CKKS clinical FL.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Does not evaluate poisoning, release governance, or healthcare utility.</a:t>
            </a:r>
          </a:p>
        </p:txBody>
      </p:sp>
      <p:sp>
        <p:nvSpPr>
          <p:cNvPr id="238" name="preamble-flow-title">
            <a:extLst xmlns:a="http://schemas.openxmlformats.org/drawingml/2006/main">
              <a:ext uri="{FF2B5EF4-FFF2-40B4-BE49-F238E27FC236}">
                <a16:creationId xmlns:a16="http://schemas.microsoft.com/office/drawing/2014/main" id="{D73159F9-3ED5-44AA-8396-BFC2D15520CB}"/>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PREAMBLE conceptual workflow</a:t>
            </a:r>
          </a:p>
        </p:txBody>
      </p:sp>
      <p:sp>
        <p:nvSpPr>
          <p:cNvPr id="239" name="preamble-box-1">
            <a:extLst xmlns:a="http://schemas.openxmlformats.org/drawingml/2006/main">
              <a:ext uri="{FF2B5EF4-FFF2-40B4-BE49-F238E27FC236}">
                <a16:creationId xmlns:a16="http://schemas.microsoft.com/office/drawing/2014/main" id="{7AE7E345-6275-4DDE-B112-20A1C4E5EE2C}"/>
              </a:ext>
            </a:extLst>
          </p:cNvPr>
          <p:cNvSpPr>
            <a:spLocks xmlns:a="http://schemas.openxmlformats.org/drawingml/2006/main" noGrp="1"/>
          </p:cNvSpPr>
          <p:nvPr/>
        </p:nvSpPr>
        <p:spPr>
          <a:xfrm xmlns:a="http://schemas.openxmlformats.org/drawingml/2006/main">
            <a:off x="8143875" y="2190750"/>
            <a:ext cx="2809875" cy="49530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Block-sparse client vector</a:t>
            </a:r>
          </a:p>
        </p:txBody>
      </p:sp>
      <p:sp>
        <p:nvSpPr>
          <p:cNvPr id="240" name="preamble-arrow-split">
            <a:extLst xmlns:a="http://schemas.openxmlformats.org/drawingml/2006/main">
              <a:ext uri="{FF2B5EF4-FFF2-40B4-BE49-F238E27FC236}">
                <a16:creationId xmlns:a16="http://schemas.microsoft.com/office/drawing/2014/main" id="{62DA6507-6552-4E74-B474-DC3158F16F8B}"/>
              </a:ext>
            </a:extLst>
          </p:cNvPr>
          <p:cNvSpPr>
            <a:spLocks xmlns:a="http://schemas.openxmlformats.org/drawingml/2006/main" noGrp="1"/>
          </p:cNvSpPr>
          <p:nvPr/>
        </p:nvSpPr>
        <p:spPr>
          <a:xfrm xmlns:a="http://schemas.openxmlformats.org/drawingml/2006/main">
            <a:off x="8239125" y="2686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33"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1" name="preamble-box-2a">
            <a:extLst xmlns:a="http://schemas.openxmlformats.org/drawingml/2006/main">
              <a:ext uri="{FF2B5EF4-FFF2-40B4-BE49-F238E27FC236}">
                <a16:creationId xmlns:a16="http://schemas.microsoft.com/office/drawing/2014/main" id="{03A81E5E-2B15-4CC5-A311-935D6D1EE146}"/>
              </a:ext>
            </a:extLst>
          </p:cNvPr>
          <p:cNvSpPr>
            <a:spLocks xmlns:a="http://schemas.openxmlformats.org/drawingml/2006/main" noGrp="1"/>
          </p:cNvSpPr>
          <p:nvPr/>
        </p:nvSpPr>
        <p:spPr>
          <a:xfrm xmlns:a="http://schemas.openxmlformats.org/drawingml/2006/main">
            <a:off x="785812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A</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2" name="preamble-box-2b">
            <a:extLst xmlns:a="http://schemas.openxmlformats.org/drawingml/2006/main">
              <a:ext uri="{FF2B5EF4-FFF2-40B4-BE49-F238E27FC236}">
                <a16:creationId xmlns:a16="http://schemas.microsoft.com/office/drawing/2014/main" id="{DEF78BC3-25C5-43C6-BBB5-3872DA823F18}"/>
              </a:ext>
            </a:extLst>
          </p:cNvPr>
          <p:cNvSpPr>
            <a:spLocks xmlns:a="http://schemas.openxmlformats.org/drawingml/2006/main" noGrp="1"/>
          </p:cNvSpPr>
          <p:nvPr/>
        </p:nvSpPr>
        <p:spPr>
          <a:xfrm xmlns:a="http://schemas.openxmlformats.org/drawingml/2006/main">
            <a:off x="966787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B</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3" name="preamble-arrow-merge">
            <a:extLst xmlns:a="http://schemas.openxmlformats.org/drawingml/2006/main">
              <a:ext uri="{FF2B5EF4-FFF2-40B4-BE49-F238E27FC236}">
                <a16:creationId xmlns:a16="http://schemas.microsoft.com/office/drawing/2014/main" id="{03DA5FE3-5395-4C45-9B7C-E980A0E09B62}"/>
              </a:ext>
            </a:extLst>
          </p:cNvPr>
          <p:cNvSpPr>
            <a:spLocks xmlns:a="http://schemas.openxmlformats.org/drawingml/2006/main" noGrp="1"/>
          </p:cNvSpPr>
          <p:nvPr/>
        </p:nvSpPr>
        <p:spPr>
          <a:xfrm xmlns:a="http://schemas.openxmlformats.org/drawingml/2006/main">
            <a:off x="8239125" y="3829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33"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4" name="preamble-box-3">
            <a:extLst xmlns:a="http://schemas.openxmlformats.org/drawingml/2006/main">
              <a:ext uri="{FF2B5EF4-FFF2-40B4-BE49-F238E27FC236}">
                <a16:creationId xmlns:a16="http://schemas.microsoft.com/office/drawing/2014/main" id="{B1EB8236-E9B0-4813-B69C-33061CE128C8}"/>
              </a:ext>
            </a:extLst>
          </p:cNvPr>
          <p:cNvSpPr>
            <a:spLocks xmlns:a="http://schemas.openxmlformats.org/drawingml/2006/main" noGrp="1"/>
          </p:cNvSpPr>
          <p:nvPr/>
        </p:nvSpPr>
        <p:spPr>
          <a:xfrm xmlns:a="http://schemas.openxmlformats.org/drawingml/2006/main">
            <a:off x="8143875" y="42481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D97706"/>
                </a:solidFill>
                <a:latin typeface="Arial"/>
                <a:ea typeface="Arial"/>
                <a:cs typeface="Arial"/>
              </a:defRPr>
            </a:pPr>
            <a:r>
              <a:rPr sz="1200" b="1">
                <a:solidFill>
                  <a:srgbClr val="D97706"/>
                </a:solidFill>
                <a:latin typeface="Arial"/>
                <a:ea typeface="Arial"/>
                <a:cs typeface="Arial"/>
              </a:rPr>
              <a:t>Private block-sparse aggregate</a:t>
            </a:r>
          </a:p>
        </p:txBody>
      </p:sp>
      <p:sp>
        <p:nvSpPr>
          <p:cNvPr id="245" name="preamble-diagram-caption">
            <a:extLst xmlns:a="http://schemas.openxmlformats.org/drawingml/2006/main">
              <a:ext uri="{FF2B5EF4-FFF2-40B4-BE49-F238E27FC236}">
                <a16:creationId xmlns:a16="http://schemas.microsoft.com/office/drawing/2014/main" id="{E103B243-C93A-4A36-8D33-AB0AB78BC5BB}"/>
              </a:ext>
            </a:extLst>
          </p:cNvPr>
          <p:cNvSpPr>
            <a:spLocks xmlns:a="http://schemas.openxmlformats.org/drawingml/2006/main" noGrp="1"/>
          </p:cNvSpPr>
          <p:nvPr/>
        </p:nvSpPr>
        <p:spPr>
          <a:xfrm xmlns:a="http://schemas.openxmlformats.org/drawingml/2006/main">
            <a:off x="7762875" y="5048250"/>
            <a:ext cx="3571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Efficiency relies on a two-server non-collusion model [18].</a:t>
            </a:r>
          </a:p>
        </p:txBody>
      </p:sp>
      <p:sp>
        <p:nvSpPr>
          <p:cNvPr id="249" name="related-comparison-cover">
            <a:extLst xmlns:a="http://schemas.openxmlformats.org/drawingml/2006/main">
              <a:ext uri="{FF2B5EF4-FFF2-40B4-BE49-F238E27FC236}">
                <a16:creationId xmlns:a16="http://schemas.microsoft.com/office/drawing/2014/main" id="{E3799B93-7326-4544-B17C-639EED2DC534}"/>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50" name="related-comparison-caption">
            <a:extLst xmlns:a="http://schemas.openxmlformats.org/drawingml/2006/main">
              <a:ext uri="{FF2B5EF4-FFF2-40B4-BE49-F238E27FC236}">
                <a16:creationId xmlns:a16="http://schemas.microsoft.com/office/drawing/2014/main" id="{D5E7070B-AA26-4FD4-82E8-7DFB674D4BD6}"/>
              </a:ext>
            </a:extLst>
          </p:cNvPr>
          <p:cNvSpPr>
            <a:spLocks xmlns:a="http://schemas.openxmlformats.org/drawingml/2006/main" noGrp="1"/>
          </p:cNvSpPr>
          <p:nvPr/>
        </p:nvSpPr>
        <p:spPr>
          <a:xfrm xmlns:a="http://schemas.openxmlformats.org/drawingml/2006/main">
            <a:off x="904875" y="11430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350" i="1">
                <a:solidFill>
                  <a:srgbClr val="1E3A5F"/>
                </a:solidFill>
                <a:latin typeface="Arial"/>
                <a:ea typeface="Arial"/>
                <a:cs typeface="Arial"/>
              </a:defRPr>
            </a:pPr>
            <a:r>
              <a:rPr sz="1350" i="1">
                <a:solidFill>
                  <a:srgbClr val="1E3A5F"/>
                </a:solidFill>
                <a:latin typeface="Arial"/>
                <a:ea typeface="Arial"/>
                <a:cs typeface="Arial"/>
              </a:rPr>
              <a:t>TABLE I. Comparison of the closest privacy-preserving federated-learning studies</a:t>
            </a:r>
          </a:p>
        </p:txBody>
      </p:sp>
      <p:graphicFrame>
        <p:nvGraphicFramePr>
          <p:cNvPr id="289" name="Table 291"/>
          <p:cNvGraphicFramePr/>
          <p:nvPr/>
        </p:nvGraphicFramePr>
        <p:xfrm>
          <a:off xmlns:a="http://schemas.openxmlformats.org/drawingml/2006/main" x="523875" y="1524000"/>
          <a:ext xmlns:a="http://schemas.openxmlformats.org/drawingml/2006/main" cx="11144250" cy="4000500"/>
        </p:xfrm>
        <a:graphic xmlns:a="http://schemas.openxmlformats.org/drawingml/2006/main">
          <a:graphicData uri="http://schemas.openxmlformats.org/drawingml/2006/table">
            <a:tbl>
              <a:tblPr firstRow="1" bandRow="1"/>
              <a:tblGrid>
                <a:gridCol w="1666875"/>
                <a:gridCol w="742950"/>
                <a:gridCol w="2143125"/>
                <a:gridCol w="3190875"/>
                <a:gridCol w="3400425"/>
              </a:tblGrid>
              <a:tr h="666750">
                <a:tc>
                  <a:txBody>
                    <a:bodyPr/>
                    <a:lstStyle/>
                    <a:p>
                      <a:r>
                        <a:rPr sz="1163" b="1">
                          <a:solidFill>
                            <a:srgbClr val="FFFFFF"/>
                          </a:solidFill>
                          <a:latin typeface="Arial"/>
                          <a:ea typeface="Arial"/>
                          <a:cs typeface="Arial"/>
                        </a:rPr>
                        <a:t>Study</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Year</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Method</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Main contribution</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Limitation relative to this thesis</a:t>
                      </a:r>
                    </a:p>
                  </a:txBody>
                  <a:tcPr marL="57150" marR="57150" marT="38100" marB="38100" anchor="ctr">
                    <a:solidFill>
                      <a:srgbClr val="1E3A5F"/>
                    </a:solidFill>
                  </a:tcPr>
                </a:tc>
              </a:tr>
              <a:tr h="666750">
                <a:tc>
                  <a:txBody>
                    <a:bodyPr/>
                    <a:lstStyle/>
                    <a:p>
                      <a:r>
                        <a:rPr sz="1110" b="1">
                          <a:solidFill>
                            <a:srgbClr val="1E3A5F"/>
                          </a:solidFill>
                          <a:latin typeface="Arial"/>
                          <a:ea typeface="Arial"/>
                          <a:cs typeface="Arial"/>
                        </a:rPr>
                        <a:t>Stevens et al.</a:t>
                      </a:r>
                    </a:p>
                    <a:p>
                      <a:r>
                        <a:rPr sz="1110" b="1">
                          <a:solidFill>
                            <a:srgbClr val="1E3A5F"/>
                          </a:solidFill>
                          <a:latin typeface="Arial"/>
                          <a:ea typeface="Arial"/>
                          <a:cs typeface="Arial"/>
                        </a:rPr>
                        <a:t>FLDP [11]</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2022</a:t>
                      </a:r>
                    </a:p>
                  </a:txBody>
                  <a:tcPr marL="57150" marR="57150" marT="38100" marB="38100" anchor="ctr">
                    <a:solidFill>
                      <a:srgbClr val="F2F5F7"/>
                    </a:solidFill>
                  </a:tcPr>
                </a:tc>
                <a:tc>
                  <a:txBody>
                    <a:bodyPr/>
                    <a:lstStyle/>
                    <a:p>
                      <a:r>
                        <a:rPr sz="1110">
                          <a:solidFill>
                            <a:srgbClr val="1F2937"/>
                          </a:solidFill>
                          <a:latin typeface="Arial"/>
                          <a:ea typeface="Arial"/>
                          <a:cs typeface="Arial"/>
                        </a:rPr>
                        <a:t>LWE secure aggregation with distributed DP</a:t>
                      </a:r>
                    </a:p>
                  </a:txBody>
                  <a:tcPr marL="57150" marR="57150" marT="38100" marB="38100" anchor="ctr">
                    <a:solidFill>
                      <a:srgbClr val="FFFFFF"/>
                    </a:solidFill>
                  </a:tcPr>
                </a:tc>
                <a:tc>
                  <a:txBody>
                    <a:bodyPr/>
                    <a:lstStyle/>
                    <a:p>
                      <a:r>
                        <a:rPr sz="1110">
                          <a:solidFill>
                            <a:srgbClr val="1F2937"/>
                          </a:solidFill>
                          <a:latin typeface="Arial"/>
                          <a:ea typeface="Arial"/>
                          <a:cs typeface="Arial"/>
                        </a:rPr>
                        <a:t>Malicious-secure private aggregation with measured communication and server cost</a:t>
                      </a:r>
                    </a:p>
                  </a:txBody>
                  <a:tcPr marL="57150" marR="57150" marT="38100" marB="38100" anchor="ctr">
                    <a:solidFill>
                      <a:srgbClr val="FFFFFF"/>
                    </a:solidFill>
                  </a:tcPr>
                </a:tc>
                <a:tc>
                  <a:txBody>
                    <a:bodyPr/>
                    <a:lstStyle/>
                    <a:p>
                      <a:r>
                        <a:rPr sz="1110">
                          <a:solidFill>
                            <a:srgbClr val="1F2937"/>
                          </a:solidFill>
                          <a:latin typeface="Arial"/>
                          <a:ea typeface="Arial"/>
                          <a:cs typeface="Arial"/>
                        </a:rPr>
                        <a:t>No poisoning defence; non-clinical benchmarks and a different cryptographic path</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Froelicher et al.</a:t>
                      </a:r>
                    </a:p>
                    <a:p>
                      <a:r>
                        <a:rPr sz="1110" b="1">
                          <a:solidFill>
                            <a:srgbClr val="1E3A5F"/>
                          </a:solidFill>
                          <a:latin typeface="Arial"/>
                          <a:ea typeface="Arial"/>
                          <a:cs typeface="Arial"/>
                        </a:rPr>
                        <a:t>FAMHE [12]</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2021</a:t>
                      </a:r>
                    </a:p>
                  </a:txBody>
                  <a:tcPr marL="57150" marR="57150" marT="38100" marB="38100" anchor="ctr">
                    <a:solidFill>
                      <a:srgbClr val="F2F5F7"/>
                    </a:solidFill>
                  </a:tcPr>
                </a:tc>
                <a:tc>
                  <a:txBody>
                    <a:bodyPr/>
                    <a:lstStyle/>
                    <a:p>
                      <a:r>
                        <a:rPr sz="1110">
                          <a:solidFill>
                            <a:srgbClr val="1F2937"/>
                          </a:solidFill>
                          <a:latin typeface="Arial"/>
                          <a:ea typeface="Arial"/>
                          <a:cs typeface="Arial"/>
                        </a:rPr>
                        <a:t>Multiparty homomorphic encryption</a:t>
                      </a:r>
                    </a:p>
                  </a:txBody>
                  <a:tcPr marL="57150" marR="57150" marT="38100" marB="38100" anchor="ctr">
                    <a:solidFill>
                      <a:srgbClr val="FFFFFF"/>
                    </a:solidFill>
                  </a:tcPr>
                </a:tc>
                <a:tc>
                  <a:txBody>
                    <a:bodyPr/>
                    <a:lstStyle/>
                    <a:p>
                      <a:r>
                        <a:rPr sz="1110">
                          <a:solidFill>
                            <a:srgbClr val="1F2937"/>
                          </a:solidFill>
                          <a:latin typeface="Arial"/>
                          <a:ea typeface="Arial"/>
                          <a:cs typeface="Arial"/>
                        </a:rPr>
                        <a:t>Protected biomedical survival and genomic analytics without a central decryptor</a:t>
                      </a:r>
                    </a:p>
                  </a:txBody>
                  <a:tcPr marL="57150" marR="57150" marT="38100" marB="38100" anchor="ctr">
                    <a:solidFill>
                      <a:srgbClr val="FFFFFF"/>
                    </a:solidFill>
                  </a:tcPr>
                </a:tc>
                <a:tc>
                  <a:txBody>
                    <a:bodyPr/>
                    <a:lstStyle/>
                    <a:p>
                      <a:r>
                        <a:rPr sz="1110">
                          <a:solidFill>
                            <a:srgbClr val="1F2937"/>
                          </a:solidFill>
                          <a:latin typeface="Arial"/>
                          <a:ea typeface="Arial"/>
                          <a:cs typeface="Arial"/>
                        </a:rPr>
                        <a:t>Not iterative neural FL; no adaptive compression or poisoning evaluation</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Xu et al.</a:t>
                      </a:r>
                    </a:p>
                    <a:p>
                      <a:r>
                        <a:rPr sz="1110" b="1">
                          <a:solidFill>
                            <a:srgbClr val="1E3A5F"/>
                          </a:solidFill>
                          <a:latin typeface="Arial"/>
                          <a:ea typeface="Arial"/>
                          <a:cs typeface="Arial"/>
                        </a:rPr>
                        <a:t>DDFed [16]</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2024</a:t>
                      </a:r>
                    </a:p>
                  </a:txBody>
                  <a:tcPr marL="57150" marR="57150" marT="38100" marB="38100" anchor="ctr">
                    <a:solidFill>
                      <a:srgbClr val="F2F5F7"/>
                    </a:solidFill>
                  </a:tcPr>
                </a:tc>
                <a:tc>
                  <a:txBody>
                    <a:bodyPr/>
                    <a:lstStyle/>
                    <a:p>
                      <a:r>
                        <a:rPr sz="1110">
                          <a:solidFill>
                            <a:srgbClr val="1F2937"/>
                          </a:solidFill>
                          <a:latin typeface="Arial"/>
                          <a:ea typeface="Arial"/>
                          <a:cs typeface="Arial"/>
                        </a:rPr>
                        <a:t>FHE with encrypted anomaly detection</a:t>
                      </a:r>
                    </a:p>
                  </a:txBody>
                  <a:tcPr marL="57150" marR="57150" marT="38100" marB="38100" anchor="ctr">
                    <a:solidFill>
                      <a:srgbClr val="FFFFFF"/>
                    </a:solidFill>
                  </a:tcPr>
                </a:tc>
                <a:tc>
                  <a:txBody>
                    <a:bodyPr/>
                    <a:lstStyle/>
                    <a:p>
                      <a:r>
                        <a:rPr sz="1110">
                          <a:solidFill>
                            <a:srgbClr val="1F2937"/>
                          </a:solidFill>
                          <a:latin typeface="Arial"/>
                          <a:ea typeface="Arial"/>
                          <a:cs typeface="Arial"/>
                        </a:rPr>
                        <a:t>Combines update confidentiality with poisoning detection in cross-device and cross-silo FL</a:t>
                      </a:r>
                    </a:p>
                  </a:txBody>
                  <a:tcPr marL="57150" marR="57150" marT="38100" marB="38100" anchor="ctr">
                    <a:solidFill>
                      <a:srgbClr val="FFFFFF"/>
                    </a:solidFill>
                  </a:tcPr>
                </a:tc>
                <a:tc>
                  <a:txBody>
                    <a:bodyPr/>
                    <a:lstStyle/>
                    <a:p>
                      <a:r>
                        <a:rPr sz="1110">
                          <a:solidFill>
                            <a:srgbClr val="1F2937"/>
                          </a:solidFill>
                          <a:latin typeface="Arial"/>
                          <a:ea typeface="Arial"/>
                          <a:cs typeface="Arial"/>
                        </a:rPr>
                        <a:t>No formal record-level DP, ciphertext-aware compression, or external governance</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Gu et al.</a:t>
                      </a:r>
                    </a:p>
                    <a:p>
                      <a:r>
                        <a:rPr sz="1110" b="1">
                          <a:solidFill>
                            <a:srgbClr val="1E3A5F"/>
                          </a:solidFill>
                          <a:latin typeface="Arial"/>
                          <a:ea typeface="Arial"/>
                          <a:cs typeface="Arial"/>
                        </a:rPr>
                        <a:t>DP-BREM+ [17]</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2025</a:t>
                      </a:r>
                    </a:p>
                  </a:txBody>
                  <a:tcPr marL="57150" marR="57150" marT="38100" marB="38100" anchor="ctr">
                    <a:solidFill>
                      <a:srgbClr val="F2F5F7"/>
                    </a:solidFill>
                  </a:tcPr>
                </a:tc>
                <a:tc>
                  <a:txBody>
                    <a:bodyPr/>
                    <a:lstStyle/>
                    <a:p>
                      <a:r>
                        <a:rPr sz="1110">
                          <a:solidFill>
                            <a:srgbClr val="1F2937"/>
                          </a:solidFill>
                          <a:latin typeface="Arial"/>
                          <a:ea typeface="Arial"/>
                          <a:cs typeface="Arial"/>
                        </a:rPr>
                        <a:t>Secure aggregation, client momentum, and DP</a:t>
                      </a:r>
                    </a:p>
                  </a:txBody>
                  <a:tcPr marL="57150" marR="57150" marT="38100" marB="38100" anchor="ctr">
                    <a:solidFill>
                      <a:srgbClr val="FFFFFF"/>
                    </a:solidFill>
                  </a:tcPr>
                </a:tc>
                <a:tc>
                  <a:txBody>
                    <a:bodyPr/>
                    <a:lstStyle/>
                    <a:p>
                      <a:r>
                        <a:rPr sz="1110">
                          <a:solidFill>
                            <a:srgbClr val="1F2937"/>
                          </a:solidFill>
                          <a:latin typeface="Arial"/>
                          <a:ea typeface="Arial"/>
                          <a:cs typeface="Arial"/>
                        </a:rPr>
                        <a:t>Combines formal privacy and Byzantine robustness without a trusted server</a:t>
                      </a:r>
                    </a:p>
                  </a:txBody>
                  <a:tcPr marL="57150" marR="57150" marT="38100" marB="38100" anchor="ctr">
                    <a:solidFill>
                      <a:srgbClr val="FFFFFF"/>
                    </a:solidFill>
                  </a:tcPr>
                </a:tc>
                <a:tc>
                  <a:txBody>
                    <a:bodyPr/>
                    <a:lstStyle/>
                    <a:p>
                      <a:r>
                        <a:rPr sz="1110">
                          <a:solidFill>
                            <a:srgbClr val="1F2937"/>
                          </a:solidFill>
                          <a:latin typeface="Arial"/>
                          <a:ea typeface="Arial"/>
                          <a:cs typeface="Arial"/>
                        </a:rPr>
                        <a:t>No encrypted wire-reduction method, clinical cohort, or external audit ledger</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Asi et al.</a:t>
                      </a:r>
                    </a:p>
                    <a:p>
                      <a:r>
                        <a:rPr sz="1110" b="1">
                          <a:solidFill>
                            <a:srgbClr val="1E3A5F"/>
                          </a:solidFill>
                          <a:latin typeface="Arial"/>
                          <a:ea typeface="Arial"/>
                          <a:cs typeface="Arial"/>
                        </a:rPr>
                        <a:t>PREAMBLE [18]</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2025</a:t>
                      </a:r>
                    </a:p>
                  </a:txBody>
                  <a:tcPr marL="57150" marR="57150" marT="38100" marB="38100" anchor="ctr">
                    <a:solidFill>
                      <a:srgbClr val="F2F5F7"/>
                    </a:solidFill>
                  </a:tcPr>
                </a:tc>
                <a:tc>
                  <a:txBody>
                    <a:bodyPr/>
                    <a:lstStyle/>
                    <a:p>
                      <a:r>
                        <a:rPr sz="1110">
                          <a:solidFill>
                            <a:srgbClr val="1F2937"/>
                          </a:solidFill>
                          <a:latin typeface="Arial"/>
                          <a:ea typeface="Arial"/>
                          <a:cs typeface="Arial"/>
                        </a:rPr>
                        <a:t>Two-server block-sparse private aggregation</a:t>
                      </a:r>
                    </a:p>
                  </a:txBody>
                  <a:tcPr marL="57150" marR="57150" marT="38100" marB="38100" anchor="ctr">
                    <a:solidFill>
                      <a:srgbClr val="FFFFFF"/>
                    </a:solidFill>
                  </a:tcPr>
                </a:tc>
                <a:tc>
                  <a:txBody>
                    <a:bodyPr/>
                    <a:lstStyle/>
                    <a:p>
                      <a:r>
                        <a:rPr sz="1110">
                          <a:solidFill>
                            <a:srgbClr val="1F2937"/>
                          </a:solidFill>
                          <a:latin typeface="Arial"/>
                          <a:ea typeface="Arial"/>
                          <a:cs typeface="Arial"/>
                        </a:rPr>
                        <a:t>Co-designs block sparsity and protected transport for high-dimensional vectors</a:t>
                      </a:r>
                    </a:p>
                  </a:txBody>
                  <a:tcPr marL="57150" marR="57150" marT="38100" marB="38100" anchor="ctr">
                    <a:solidFill>
                      <a:srgbClr val="FFFFFF"/>
                    </a:solidFill>
                  </a:tcPr>
                </a:tc>
                <a:tc>
                  <a:txBody>
                    <a:bodyPr/>
                    <a:lstStyle/>
                    <a:p>
                      <a:r>
                        <a:rPr sz="1110">
                          <a:solidFill>
                            <a:srgbClr val="1F2937"/>
                          </a:solidFill>
                          <a:latin typeface="Arial"/>
                          <a:ea typeface="Arial"/>
                          <a:cs typeface="Arial"/>
                        </a:rPr>
                        <a:t>Requires non-colluding servers; no poisoning or end-to-end clinical FL</a:t>
                      </a:r>
                    </a:p>
                  </a:txBody>
                  <a:tcPr marL="57150" marR="57150" marT="38100" marB="38100" anchor="ctr">
                    <a:solidFill>
                      <a:srgbClr val="FFFFFF"/>
                    </a:solidFill>
                  </a:tcPr>
                </a:tc>
              </a:tr>
            </a:tbl>
          </a:graphicData>
        </a:graphic>
      </p:graphicFrame>
      <p:sp>
        <p:nvSpPr>
          <p:cNvPr id="252" name="related-comparison-note">
            <a:extLst xmlns:a="http://schemas.openxmlformats.org/drawingml/2006/main">
              <a:ext uri="{FF2B5EF4-FFF2-40B4-BE49-F238E27FC236}">
                <a16:creationId xmlns:a16="http://schemas.microsoft.com/office/drawing/2014/main" id="{EEA77285-8E95-45D8-AA77-13B2B157C036}"/>
              </a:ext>
            </a:extLst>
          </p:cNvPr>
          <p:cNvSpPr>
            <a:spLocks xmlns:a="http://schemas.openxmlformats.org/drawingml/2006/main" noGrp="1"/>
          </p:cNvSpPr>
          <p:nvPr/>
        </p:nvSpPr>
        <p:spPr>
          <a:xfrm xmlns:a="http://schemas.openxmlformats.org/drawingml/2006/main">
            <a:off x="904875" y="5667375"/>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163" i="1">
                <a:solidFill>
                  <a:srgbClr val="52606D"/>
                </a:solidFill>
                <a:latin typeface="Arial"/>
                <a:ea typeface="Arial"/>
                <a:cs typeface="Arial"/>
              </a:defRPr>
            </a:pPr>
            <a:r>
              <a:rPr sz="1163" i="1">
                <a:solidFill>
                  <a:srgbClr val="52606D"/>
                </a:solidFill>
                <a:latin typeface="Arial"/>
                <a:ea typeface="Arial"/>
                <a:cs typeface="Arial"/>
              </a:rPr>
              <a:t>The studies use different datasets, privacy definitions, and threat models; the table compares scope rather than rank.</a:t>
            </a:r>
          </a:p>
        </p:txBody>
      </p:sp>
      <p:sp>
        <p:nvSpPr>
          <p:cNvPr id="254" name="related-comparison-footer-rule">
            <a:extLst xmlns:a="http://schemas.openxmlformats.org/drawingml/2006/main">
              <a:ext uri="{FF2B5EF4-FFF2-40B4-BE49-F238E27FC236}">
                <a16:creationId xmlns:a16="http://schemas.microsoft.com/office/drawing/2014/main" id="{509A58D0-ABF3-4437-85DF-C353E9E73395}"/>
              </a:ext>
            </a:extLst>
          </p:cNvPr>
          <p:cNvSpPr>
            <a:spLocks xmlns:a="http://schemas.openxmlformats.org/drawingml/2006/main" noGrp="1"/>
          </p:cNvSpPr>
          <p:nvPr/>
        </p:nvSpPr>
        <p:spPr>
          <a:xfrm xmlns:a="http://schemas.openxmlformats.org/drawingml/2006/main">
            <a:off x="343879" y="6015037"/>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pic>
        <p:nvPicPr>
          <p:cNvPr id="292" name="Picture 296"/>
          <p:cNvPicPr>
            <a:picLocks xmlns:a="http://schemas.openxmlformats.org/drawingml/2006/main" noChangeAspect="1"/>
          </p:cNvPicPr>
          <p:nvPr/>
        </p:nvPicPr>
        <p:blipFill>
          <a:blip xmlns:r="http://schemas.openxmlformats.org/officeDocument/2006/relationships" xmlns:a="http://schemas.openxmlformats.org/drawingml/2006/main" r:embed="R1e8709a18e674973"/>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257" name="related-comparison-date">
            <a:extLst xmlns:a="http://schemas.openxmlformats.org/drawingml/2006/main">
              <a:ext uri="{FF2B5EF4-FFF2-40B4-BE49-F238E27FC236}">
                <a16:creationId xmlns:a16="http://schemas.microsoft.com/office/drawing/2014/main" id="{11BFE405-CAC3-4071-8F9F-2AD1172221A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lnSpcReduction="10000"/>
          </a:bodyPr>
          <a:lstStyle xmlns:a="http://schemas.openxmlformats.org/drawingml/2006/main"/>
          <a:p xmlns:a="http://schemas.openxmlformats.org/drawingml/2006/main">
            <a:pPr>
              <a:buNone/>
              <a:defRPr sz="900">
                <a:solidFill>
                  <a:srgbClr val="1E3A5F"/>
                </a:solidFill>
                <a:latin typeface="Arial"/>
                <a:ea typeface="Arial"/>
                <a:cs typeface="Arial"/>
              </a:defRPr>
            </a:pPr>
            <a:r>
              <a:rPr sz="900">
                <a:solidFill>
                  <a:srgbClr val="1E3A5F"/>
                </a:solidFill>
                <a:latin typeface="Arial"/>
                <a:ea typeface="Arial"/>
                <a:cs typeface="Arial"/>
              </a:rPr>
              <a:t>25 September 2026</a:t>
            </a:r>
          </a:p>
        </p:txBody>
      </p:sp>
      <p:pic>
        <p:nvPicPr>
          <p:cNvPr id="294" name="Picture 1"/>
          <p:cNvPicPr>
            <a:picLocks xmlns:a="http://schemas.openxmlformats.org/drawingml/2006/main" noChangeAspect="1"/>
          </p:cNvPicPr>
          <p:nvPr/>
        </p:nvPicPr>
        <p:blipFill>
          <a:blip xmlns:r="http://schemas.openxmlformats.org/officeDocument/2006/relationships" xmlns:a="http://schemas.openxmlformats.org/drawingml/2006/main" r:embed="R667908bcfd5e4db4"/>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97028649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4F441C9C-DB24-BC90-E1A8-06BB78A42B4B}"/>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Gap</a:t>
            </a:r>
            <a:endParaRPr/>
          </a:p>
        </p:txBody>
      </p:sp>
      <p:sp>
        <p:nvSpPr>
          <p:cNvPr id="212" name="Google Shape;212;p28">
            <a:extLst xmlns:a="http://schemas.openxmlformats.org/drawingml/2006/main">
              <a:ext uri="{FF2B5EF4-FFF2-40B4-BE49-F238E27FC236}">
                <a16:creationId xmlns:a16="http://schemas.microsoft.com/office/drawing/2014/main" id="{04AC4499-7181-9004-D4F7-FF8D445EA12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15</a:t>
            </a:r>
            <a:endParaRPr sz="2800"/>
          </a:p>
        </p:txBody>
      </p:sp>
      <p:pic>
        <p:nvPicPr>
          <p:cNvPr id="229"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dfd3fc5a0dbc40f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4B3C55C-04DC-095A-55DA-789E59E8DFB1}"/>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gap-bullets">
            <a:extLst xmlns:a="http://schemas.openxmlformats.org/drawingml/2006/main">
              <a:ext uri="{FF2B5EF4-FFF2-40B4-BE49-F238E27FC236}">
                <a16:creationId xmlns:a16="http://schemas.microsoft.com/office/drawing/2014/main" id="{2DFEB144-76F9-43F8-87E2-D826FFA3D6E8}"/>
              </a:ext>
            </a:extLst>
          </p:cNvPr>
          <p:cNvSpPr>
            <a:spLocks xmlns:a="http://schemas.openxmlformats.org/drawingml/2006/main" noGrp="1"/>
          </p:cNvSpPr>
          <p:nvPr/>
        </p:nvSpPr>
        <p:spPr>
          <a:xfrm xmlns:a="http://schemas.openxmlformats.org/drawingml/2006/main">
            <a:off x="904875" y="1381125"/>
            <a:ext cx="103822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No reviewed study evaluates patient-level DP, real CKKS serialization, adaptive common-block compression, poisoning-aware release, and external audit evidence under one protocol.</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Many compressors reduce plaintext coordinates but recover little or no encrypted network bandwidth.</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Robust plaintext aggregators require individual update distances that a sum-only encrypted path intentionally hides.</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Prior evaluations seldom combine paired multi-seed utility, membership inference, gradient reconstruction, one-round poisoning, longitudinal poisoning, and service timing.</a:t>
            </a:r>
          </a:p>
        </p:txBody>
      </p:sp>
      <p:sp>
        <p:nvSpPr>
          <p:cNvPr id="221" name="gap-response">
            <a:extLst xmlns:a="http://schemas.openxmlformats.org/drawingml/2006/main">
              <a:ext uri="{FF2B5EF4-FFF2-40B4-BE49-F238E27FC236}">
                <a16:creationId xmlns:a16="http://schemas.microsoft.com/office/drawing/2014/main" id="{66E1C845-31B3-4F02-9C0E-56EF08B8DD0D}"/>
              </a:ext>
            </a:extLst>
          </p:cNvPr>
          <p:cNvSpPr>
            <a:spLocks xmlns:a="http://schemas.openxmlformats.org/drawingml/2006/main" noGrp="1"/>
          </p:cNvSpPr>
          <p:nvPr/>
        </p:nvSpPr>
        <p:spPr>
          <a:xfrm xmlns:a="http://schemas.openxmlformats.org/drawingml/2006/main">
            <a:off x="1095375" y="4905375"/>
            <a:ext cx="10001250" cy="952500"/>
          </a:xfrm>
          <a:prstGeom xmlns:a="http://schemas.openxmlformats.org/drawingml/2006/main" prst="roundRect">
            <a:avLst>
              <a:gd name="adj" fmla="val 8000"/>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Thesis response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 aligns adaptive compression with CKKS blocks and places verification, validation, rollback, threshold policy, and witnessed audit evidence around the encrypted training round.</a:t>
            </a:r>
          </a:p>
        </p:txBody>
      </p:sp>
      <p:sp>
        <p:nvSpPr>
          <p:cNvPr id="224" name="visible-footer-date-12">
            <a:extLst xmlns:a="http://schemas.openxmlformats.org/drawingml/2006/main">
              <a:ext uri="{FF2B5EF4-FFF2-40B4-BE49-F238E27FC236}">
                <a16:creationId xmlns:a16="http://schemas.microsoft.com/office/drawing/2014/main" id="{A85C2E33-42AD-4E2A-9450-64B07342485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34" name="Picture 1"/>
          <p:cNvPicPr>
            <a:picLocks xmlns:a="http://schemas.openxmlformats.org/drawingml/2006/main" noChangeAspect="1"/>
          </p:cNvPicPr>
          <p:nvPr/>
        </p:nvPicPr>
        <p:blipFill>
          <a:blip xmlns:r="http://schemas.openxmlformats.org/officeDocument/2006/relationships" xmlns:a="http://schemas.openxmlformats.org/drawingml/2006/main" r:embed="R1bfe82b5b50846fc"/>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1026661964"/>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11" name="chrome-title-16">
            <a:extLst xmlns:a="http://schemas.openxmlformats.org/drawingml/2006/main">
              <a:ext uri="{FF2B5EF4-FFF2-40B4-BE49-F238E27FC236}">
                <a16:creationId xmlns:a16="http://schemas.microsoft.com/office/drawing/2014/main" id="{4F441C9C-DB24-BC90-E1A8-06BB78A42B4B}"/>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Conceptual Framework</a:t>
            </a:r>
            <a:endParaRPr/>
          </a:p>
        </p:txBody>
      </p:sp>
      <p:sp>
        <p:nvSpPr>
          <p:cNvPr id="212" name="Google Shape;212;p28">
            <a:extLst xmlns:a="http://schemas.openxmlformats.org/drawingml/2006/main">
              <a:ext uri="{FF2B5EF4-FFF2-40B4-BE49-F238E27FC236}">
                <a16:creationId xmlns:a16="http://schemas.microsoft.com/office/drawing/2014/main" id="{04AC4499-7181-9004-D4F7-FF8D445EA12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16</a:t>
            </a:r>
            <a:endParaRPr sz="2800"/>
          </a:p>
        </p:txBody>
      </p:sp>
      <p:pic>
        <p:nvPicPr>
          <p:cNvPr id="54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cae634afa5b460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4B3C55C-04DC-095A-55DA-789E59E8DFB1}"/>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gap-bullets">
            <a:extLst xmlns:a="http://schemas.openxmlformats.org/drawingml/2006/main">
              <a:ext uri="{FF2B5EF4-FFF2-40B4-BE49-F238E27FC236}">
                <a16:creationId xmlns:a16="http://schemas.microsoft.com/office/drawing/2014/main" id="{2DFEB144-76F9-43F8-87E2-D826FFA3D6E8}"/>
              </a:ext>
            </a:extLst>
          </p:cNvPr>
          <p:cNvSpPr>
            <a:spLocks xmlns:a="http://schemas.openxmlformats.org/drawingml/2006/main" noGrp="1"/>
          </p:cNvSpPr>
          <p:nvPr/>
        </p:nvSpPr>
        <p:spPr>
          <a:xfrm xmlns:a="http://schemas.openxmlformats.org/drawingml/2006/main">
            <a:off x="904875" y="1381125"/>
            <a:ext cx="103822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No reviewed study evaluates patient-level DP, real CKKS serialization, adaptive common-block compression, poisoning-aware release, and external audit evidence under one protocol.</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Many compressors reduce plaintext coordinates but recover little or no encrypted network bandwidth.</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Robust plaintext aggregators require individual update distances that a sum-only encrypted path intentionally hides.</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Prior evaluations seldom combine paired multi-seed utility, membership inference, gradient reconstruction, one-round poisoning, longitudinal poisoning, and service timing.</a:t>
            </a:r>
          </a:p>
        </p:txBody>
      </p:sp>
      <p:sp>
        <p:nvSpPr>
          <p:cNvPr id="221" name="gap-response">
            <a:extLst xmlns:a="http://schemas.openxmlformats.org/drawingml/2006/main">
              <a:ext uri="{FF2B5EF4-FFF2-40B4-BE49-F238E27FC236}">
                <a16:creationId xmlns:a16="http://schemas.microsoft.com/office/drawing/2014/main" id="{66E1C845-31B3-4F02-9C0E-56EF08B8DD0D}"/>
              </a:ext>
            </a:extLst>
          </p:cNvPr>
          <p:cNvSpPr>
            <a:spLocks xmlns:a="http://schemas.openxmlformats.org/drawingml/2006/main" noGrp="1"/>
          </p:cNvSpPr>
          <p:nvPr/>
        </p:nvSpPr>
        <p:spPr>
          <a:xfrm xmlns:a="http://schemas.openxmlformats.org/drawingml/2006/main">
            <a:off x="1095375" y="4905375"/>
            <a:ext cx="10001250" cy="952500"/>
          </a:xfrm>
          <a:prstGeom xmlns:a="http://schemas.openxmlformats.org/drawingml/2006/main" prst="roundRect">
            <a:avLst>
              <a:gd name="adj" fmla="val 8000"/>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Thesis response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 aligns adaptive compression with CKKS blocks and places verification, validation, rollback, threshold policy, and witnessed audit evidence around the encrypted training round.</a:t>
            </a:r>
          </a:p>
        </p:txBody>
      </p:sp>
      <p:sp>
        <p:nvSpPr>
          <p:cNvPr id="224" name="visible-footer-date-12">
            <a:extLst xmlns:a="http://schemas.openxmlformats.org/drawingml/2006/main">
              <a:ext uri="{FF2B5EF4-FFF2-40B4-BE49-F238E27FC236}">
                <a16:creationId xmlns:a16="http://schemas.microsoft.com/office/drawing/2014/main" id="{A85C2E33-42AD-4E2A-9450-64B07342485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7" name="conceptual-framework-content-cover">
            <a:extLst xmlns:a="http://schemas.openxmlformats.org/drawingml/2006/main">
              <a:ext uri="{FF2B5EF4-FFF2-40B4-BE49-F238E27FC236}">
                <a16:creationId xmlns:a16="http://schemas.microsoft.com/office/drawing/2014/main" id="{96288690-7E6F-43DB-B354-2B1AEDCC0CAF}"/>
              </a:ext>
            </a:extLst>
          </p:cNvPr>
          <p:cNvSpPr>
            <a:spLocks xmlns:a="http://schemas.openxmlformats.org/drawingml/2006/main" noGrp="1"/>
          </p:cNvSpPr>
          <p:nvPr/>
        </p:nvSpPr>
        <p:spPr>
          <a:xfrm xmlns:a="http://schemas.openxmlformats.org/drawingml/2006/main">
            <a:off x="619125" y="1190625"/>
            <a:ext cx="10953750" cy="49053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28" name="conceptual-framework-subtitle">
            <a:extLst xmlns:a="http://schemas.openxmlformats.org/drawingml/2006/main">
              <a:ext uri="{FF2B5EF4-FFF2-40B4-BE49-F238E27FC236}">
                <a16:creationId xmlns:a16="http://schemas.microsoft.com/office/drawing/2014/main" id="{95AFBCF6-6857-4EBC-B361-C0A3164B5B85}"/>
              </a:ext>
            </a:extLst>
          </p:cNvPr>
          <p:cNvSpPr>
            <a:spLocks xmlns:a="http://schemas.openxmlformats.org/drawingml/2006/main" noGrp="1"/>
          </p:cNvSpPr>
          <p:nvPr/>
        </p:nvSpPr>
        <p:spPr>
          <a:xfrm xmlns:a="http://schemas.openxmlformats.org/drawingml/2006/main">
            <a:off x="1381125" y="1190625"/>
            <a:ext cx="942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200" i="1">
                <a:solidFill>
                  <a:srgbClr val="5B677A"/>
                </a:solidFill>
                <a:latin typeface="Arial"/>
                <a:ea typeface="Arial"/>
                <a:cs typeface="Arial"/>
              </a:defRPr>
            </a:pPr>
            <a:r>
              <a:rPr sz="1200" i="1">
                <a:solidFill>
                  <a:srgbClr val="5B677A"/>
                </a:solidFill>
                <a:latin typeface="Arial"/>
                <a:ea typeface="Arial"/>
                <a:cs typeface="Arial"/>
              </a:rPr>
              <a:t>Conceptual relationship between the research problem, integrated controls, collaboration process and evaluation outcomes</a:t>
            </a:r>
          </a:p>
        </p:txBody>
      </p:sp>
      <p:sp>
        <p:nvSpPr>
          <p:cNvPr id="229" name="framework-context-box">
            <a:extLst xmlns:a="http://schemas.openxmlformats.org/drawingml/2006/main">
              <a:ext uri="{FF2B5EF4-FFF2-40B4-BE49-F238E27FC236}">
                <a16:creationId xmlns:a16="http://schemas.microsoft.com/office/drawing/2014/main" id="{3B658E35-1310-4B15-8AFF-3E603B55CE5F}"/>
              </a:ext>
            </a:extLst>
          </p:cNvPr>
          <p:cNvSpPr>
            <a:spLocks xmlns:a="http://schemas.openxmlformats.org/drawingml/2006/main" noGrp="1"/>
          </p:cNvSpPr>
          <p:nvPr/>
        </p:nvSpPr>
        <p:spPr>
          <a:xfrm xmlns:a="http://schemas.openxmlformats.org/drawingml/2006/main">
            <a:off x="714375" y="1762125"/>
            <a:ext cx="2286000" cy="1885950"/>
          </a:xfrm>
          <a:prstGeom xmlns:a="http://schemas.openxmlformats.org/drawingml/2006/main" prst="roundRect">
            <a:avLst>
              <a:gd name="adj" fmla="val 4040"/>
            </a:avLst>
          </a:prstGeom>
          <a:solidFill xmlns:a="http://schemas.openxmlformats.org/drawingml/2006/main">
            <a:srgbClr val="EEF4FA"/>
          </a:solidFill>
          <a:ln xmlns:a="http://schemas.openxmlformats.org/drawingml/2006/main" w="16193">
            <a:solidFill>
              <a:srgbClr val="2E75B6"/>
            </a:solidFill>
          </a:ln>
        </p:spPr>
      </p:sp>
      <p:sp>
        <p:nvSpPr>
          <p:cNvPr id="230" name="framework-context-accent">
            <a:extLst xmlns:a="http://schemas.openxmlformats.org/drawingml/2006/main">
              <a:ext uri="{FF2B5EF4-FFF2-40B4-BE49-F238E27FC236}">
                <a16:creationId xmlns:a16="http://schemas.microsoft.com/office/drawing/2014/main" id="{D4A4FBCD-7904-4E90-B778-C061EAC28D10}"/>
              </a:ext>
            </a:extLst>
          </p:cNvPr>
          <p:cNvSpPr>
            <a:spLocks xmlns:a="http://schemas.openxmlformats.org/drawingml/2006/main" noGrp="1"/>
          </p:cNvSpPr>
          <p:nvPr/>
        </p:nvSpPr>
        <p:spPr>
          <a:xfrm xmlns:a="http://schemas.openxmlformats.org/drawingml/2006/main">
            <a:off x="714375" y="1762125"/>
            <a:ext cx="2286000" cy="409575"/>
          </a:xfrm>
          <a:prstGeom xmlns:a="http://schemas.openxmlformats.org/drawingml/2006/main" prst="rect">
            <a:avLst/>
          </a:prstGeom>
          <a:solidFill xmlns:a="http://schemas.openxmlformats.org/drawingml/2006/main">
            <a:srgbClr val="2E75B6"/>
          </a:solidFill>
          <a:ln xmlns:a="http://schemas.openxmlformats.org/drawingml/2006/main" w="0">
            <a:noFill/>
          </a:ln>
        </p:spPr>
      </p:sp>
      <p:sp>
        <p:nvSpPr>
          <p:cNvPr id="231" name="framework-context-title">
            <a:extLst xmlns:a="http://schemas.openxmlformats.org/drawingml/2006/main">
              <a:ext uri="{FF2B5EF4-FFF2-40B4-BE49-F238E27FC236}">
                <a16:creationId xmlns:a16="http://schemas.microsoft.com/office/drawing/2014/main" id="{E2C47E08-7616-4859-BCE8-E12FC18382B8}"/>
              </a:ext>
            </a:extLst>
          </p:cNvPr>
          <p:cNvSpPr>
            <a:spLocks xmlns:a="http://schemas.openxmlformats.org/drawingml/2006/main" noGrp="1"/>
          </p:cNvSpPr>
          <p:nvPr/>
        </p:nvSpPr>
        <p:spPr>
          <a:xfrm xmlns:a="http://schemas.openxmlformats.org/drawingml/2006/main">
            <a:off x="809625" y="179070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Research context</a:t>
            </a:r>
          </a:p>
        </p:txBody>
      </p:sp>
      <p:sp>
        <p:nvSpPr>
          <p:cNvPr id="232" name="framework-context-body">
            <a:extLst xmlns:a="http://schemas.openxmlformats.org/drawingml/2006/main">
              <a:ext uri="{FF2B5EF4-FFF2-40B4-BE49-F238E27FC236}">
                <a16:creationId xmlns:a16="http://schemas.microsoft.com/office/drawing/2014/main" id="{4C225EF8-BACD-402B-9AF5-AEB7E591762B}"/>
              </a:ext>
            </a:extLst>
          </p:cNvPr>
          <p:cNvSpPr>
            <a:spLocks xmlns:a="http://schemas.openxmlformats.org/drawingml/2006/main" noGrp="1"/>
          </p:cNvSpPr>
          <p:nvPr/>
        </p:nvSpPr>
        <p:spPr>
          <a:xfrm xmlns:a="http://schemas.openxmlformats.org/drawingml/2006/main">
            <a:off x="866775" y="2266950"/>
            <a:ext cx="1981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Distributed hospital data</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Non-IID client partitions</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Privacy and poisoning threats</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High encrypted communication cost</a:t>
            </a:r>
          </a:p>
        </p:txBody>
      </p:sp>
      <p:sp>
        <p:nvSpPr>
          <p:cNvPr id="233" name="framework-intervention-box">
            <a:extLst xmlns:a="http://schemas.openxmlformats.org/drawingml/2006/main">
              <a:ext uri="{FF2B5EF4-FFF2-40B4-BE49-F238E27FC236}">
                <a16:creationId xmlns:a16="http://schemas.microsoft.com/office/drawing/2014/main" id="{5F8C42AB-3F4F-4105-B15E-5AF572B806B6}"/>
              </a:ext>
            </a:extLst>
          </p:cNvPr>
          <p:cNvSpPr>
            <a:spLocks xmlns:a="http://schemas.openxmlformats.org/drawingml/2006/main" noGrp="1"/>
          </p:cNvSpPr>
          <p:nvPr/>
        </p:nvSpPr>
        <p:spPr>
          <a:xfrm xmlns:a="http://schemas.openxmlformats.org/drawingml/2006/main">
            <a:off x="3524250" y="1762125"/>
            <a:ext cx="2286000" cy="1885950"/>
          </a:xfrm>
          <a:prstGeom xmlns:a="http://schemas.openxmlformats.org/drawingml/2006/main" prst="roundRect">
            <a:avLst>
              <a:gd name="adj" fmla="val 4040"/>
            </a:avLst>
          </a:prstGeom>
          <a:solidFill xmlns:a="http://schemas.openxmlformats.org/drawingml/2006/main">
            <a:srgbClr val="EBF7F2"/>
          </a:solidFill>
          <a:ln xmlns:a="http://schemas.openxmlformats.org/drawingml/2006/main" w="16193">
            <a:solidFill>
              <a:srgbClr val="008A46"/>
            </a:solidFill>
          </a:ln>
        </p:spPr>
      </p:sp>
      <p:sp>
        <p:nvSpPr>
          <p:cNvPr id="234" name="framework-intervention-accent">
            <a:extLst xmlns:a="http://schemas.openxmlformats.org/drawingml/2006/main">
              <a:ext uri="{FF2B5EF4-FFF2-40B4-BE49-F238E27FC236}">
                <a16:creationId xmlns:a16="http://schemas.microsoft.com/office/drawing/2014/main" id="{779CD5EF-DFD1-422F-985C-3CBE83E6AB7E}"/>
              </a:ext>
            </a:extLst>
          </p:cNvPr>
          <p:cNvSpPr>
            <a:spLocks xmlns:a="http://schemas.openxmlformats.org/drawingml/2006/main" noGrp="1"/>
          </p:cNvSpPr>
          <p:nvPr/>
        </p:nvSpPr>
        <p:spPr>
          <a:xfrm xmlns:a="http://schemas.openxmlformats.org/drawingml/2006/main">
            <a:off x="3524250" y="1762125"/>
            <a:ext cx="2286000" cy="409575"/>
          </a:xfrm>
          <a:prstGeom xmlns:a="http://schemas.openxmlformats.org/drawingml/2006/main" prst="rect">
            <a:avLst/>
          </a:prstGeom>
          <a:solidFill xmlns:a="http://schemas.openxmlformats.org/drawingml/2006/main">
            <a:srgbClr val="008A46"/>
          </a:solidFill>
          <a:ln xmlns:a="http://schemas.openxmlformats.org/drawingml/2006/main" w="0">
            <a:noFill/>
          </a:ln>
        </p:spPr>
      </p:sp>
      <p:sp>
        <p:nvSpPr>
          <p:cNvPr id="235" name="framework-intervention-title">
            <a:extLst xmlns:a="http://schemas.openxmlformats.org/drawingml/2006/main">
              <a:ext uri="{FF2B5EF4-FFF2-40B4-BE49-F238E27FC236}">
                <a16:creationId xmlns:a16="http://schemas.microsoft.com/office/drawing/2014/main" id="{73EB110A-BAB9-49D9-ADFB-1358A9ECA51A}"/>
              </a:ext>
            </a:extLst>
          </p:cNvPr>
          <p:cNvSpPr>
            <a:spLocks xmlns:a="http://schemas.openxmlformats.org/drawingml/2006/main" noGrp="1"/>
          </p:cNvSpPr>
          <p:nvPr/>
        </p:nvSpPr>
        <p:spPr>
          <a:xfrm xmlns:a="http://schemas.openxmlformats.org/drawingml/2006/main">
            <a:off x="3619500" y="179070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Hybrid intervention</a:t>
            </a:r>
          </a:p>
        </p:txBody>
      </p:sp>
      <p:sp>
        <p:nvSpPr>
          <p:cNvPr id="236" name="framework-intervention-body">
            <a:extLst xmlns:a="http://schemas.openxmlformats.org/drawingml/2006/main">
              <a:ext uri="{FF2B5EF4-FFF2-40B4-BE49-F238E27FC236}">
                <a16:creationId xmlns:a16="http://schemas.microsoft.com/office/drawing/2014/main" id="{40C6F4B1-4BE5-4BE2-AC95-342C5A09A6F8}"/>
              </a:ext>
            </a:extLst>
          </p:cNvPr>
          <p:cNvSpPr>
            <a:spLocks xmlns:a="http://schemas.openxmlformats.org/drawingml/2006/main" noGrp="1"/>
          </p:cNvSpPr>
          <p:nvPr/>
        </p:nvSpPr>
        <p:spPr>
          <a:xfrm xmlns:a="http://schemas.openxmlformats.org/drawingml/2006/main">
            <a:off x="3676650" y="2266950"/>
            <a:ext cx="1981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lnSpcReduction="10000"/>
          </a:bodyPr>
          <a:lstStyle xmlns:a="http://schemas.openxmlformats.org/drawingml/2006/main"/>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Record-level differential privacy</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CAABC-FL block compression</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CKKS-protected updates</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Trust and audit governance</a:t>
            </a:r>
          </a:p>
        </p:txBody>
      </p:sp>
      <p:sp>
        <p:nvSpPr>
          <p:cNvPr id="237" name="framework-process-box">
            <a:extLst xmlns:a="http://schemas.openxmlformats.org/drawingml/2006/main">
              <a:ext uri="{FF2B5EF4-FFF2-40B4-BE49-F238E27FC236}">
                <a16:creationId xmlns:a16="http://schemas.microsoft.com/office/drawing/2014/main" id="{55EA8B73-4B99-4BB8-AD38-52D3C83A49D2}"/>
              </a:ext>
            </a:extLst>
          </p:cNvPr>
          <p:cNvSpPr>
            <a:spLocks xmlns:a="http://schemas.openxmlformats.org/drawingml/2006/main" noGrp="1"/>
          </p:cNvSpPr>
          <p:nvPr/>
        </p:nvSpPr>
        <p:spPr>
          <a:xfrm xmlns:a="http://schemas.openxmlformats.org/drawingml/2006/main">
            <a:off x="6334125" y="1762125"/>
            <a:ext cx="2286000" cy="1885950"/>
          </a:xfrm>
          <a:prstGeom xmlns:a="http://schemas.openxmlformats.org/drawingml/2006/main" prst="roundRect">
            <a:avLst>
              <a:gd name="adj" fmla="val 4040"/>
            </a:avLst>
          </a:prstGeom>
          <a:solidFill xmlns:a="http://schemas.openxmlformats.org/drawingml/2006/main">
            <a:srgbClr val="EFF8F7"/>
          </a:solidFill>
          <a:ln xmlns:a="http://schemas.openxmlformats.org/drawingml/2006/main" w="16193">
            <a:solidFill>
              <a:srgbClr val="2F807B"/>
            </a:solidFill>
          </a:ln>
        </p:spPr>
      </p:sp>
      <p:sp>
        <p:nvSpPr>
          <p:cNvPr id="238" name="framework-process-accent">
            <a:extLst xmlns:a="http://schemas.openxmlformats.org/drawingml/2006/main">
              <a:ext uri="{FF2B5EF4-FFF2-40B4-BE49-F238E27FC236}">
                <a16:creationId xmlns:a16="http://schemas.microsoft.com/office/drawing/2014/main" id="{73085FC3-06C2-415B-BB13-957A3C463D6F}"/>
              </a:ext>
            </a:extLst>
          </p:cNvPr>
          <p:cNvSpPr>
            <a:spLocks xmlns:a="http://schemas.openxmlformats.org/drawingml/2006/main" noGrp="1"/>
          </p:cNvSpPr>
          <p:nvPr/>
        </p:nvSpPr>
        <p:spPr>
          <a:xfrm xmlns:a="http://schemas.openxmlformats.org/drawingml/2006/main">
            <a:off x="6334125" y="1762125"/>
            <a:ext cx="2286000" cy="409575"/>
          </a:xfrm>
          <a:prstGeom xmlns:a="http://schemas.openxmlformats.org/drawingml/2006/main" prst="rect">
            <a:avLst/>
          </a:prstGeom>
          <a:solidFill xmlns:a="http://schemas.openxmlformats.org/drawingml/2006/main">
            <a:srgbClr val="2F807B"/>
          </a:solidFill>
          <a:ln xmlns:a="http://schemas.openxmlformats.org/drawingml/2006/main" w="0">
            <a:noFill/>
          </a:ln>
        </p:spPr>
      </p:sp>
      <p:sp>
        <p:nvSpPr>
          <p:cNvPr id="239" name="framework-process-title">
            <a:extLst xmlns:a="http://schemas.openxmlformats.org/drawingml/2006/main">
              <a:ext uri="{FF2B5EF4-FFF2-40B4-BE49-F238E27FC236}">
                <a16:creationId xmlns:a16="http://schemas.microsoft.com/office/drawing/2014/main" id="{AA9562BE-DE76-43CC-BE42-00230C2F90AA}"/>
              </a:ext>
            </a:extLst>
          </p:cNvPr>
          <p:cNvSpPr>
            <a:spLocks xmlns:a="http://schemas.openxmlformats.org/drawingml/2006/main" noGrp="1"/>
          </p:cNvSpPr>
          <p:nvPr/>
        </p:nvSpPr>
        <p:spPr>
          <a:xfrm xmlns:a="http://schemas.openxmlformats.org/drawingml/2006/main">
            <a:off x="6429375" y="179070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142"/>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Collaboration process</a:t>
            </a:r>
          </a:p>
        </p:txBody>
      </p:sp>
      <p:sp>
        <p:nvSpPr>
          <p:cNvPr id="240" name="framework-process-body">
            <a:extLst xmlns:a="http://schemas.openxmlformats.org/drawingml/2006/main">
              <a:ext uri="{FF2B5EF4-FFF2-40B4-BE49-F238E27FC236}">
                <a16:creationId xmlns:a16="http://schemas.microsoft.com/office/drawing/2014/main" id="{EEE3B869-7708-4F8C-8BBE-DA23BAB5C6C2}"/>
              </a:ext>
            </a:extLst>
          </p:cNvPr>
          <p:cNvSpPr>
            <a:spLocks xmlns:a="http://schemas.openxmlformats.org/drawingml/2006/main" noGrp="1"/>
          </p:cNvSpPr>
          <p:nvPr/>
        </p:nvSpPr>
        <p:spPr>
          <a:xfrm xmlns:a="http://schemas.openxmlformats.org/drawingml/2006/main">
            <a:off x="6486525" y="2266950"/>
            <a:ext cx="1981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556" lnSpcReduction="10000"/>
          </a:bodyPr>
          <a:lstStyle xmlns:a="http://schemas.openxmlformats.org/drawingml/2006/main"/>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Protected local training</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Authenticated update exchange</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Verified homomorphic aggregation</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Threshold-governed model release</a:t>
            </a:r>
          </a:p>
        </p:txBody>
      </p:sp>
      <p:sp>
        <p:nvSpPr>
          <p:cNvPr id="241" name="framework-outcomes-box">
            <a:extLst xmlns:a="http://schemas.openxmlformats.org/drawingml/2006/main">
              <a:ext uri="{FF2B5EF4-FFF2-40B4-BE49-F238E27FC236}">
                <a16:creationId xmlns:a16="http://schemas.microsoft.com/office/drawing/2014/main" id="{3BB61328-13C4-495F-890D-578990787C92}"/>
              </a:ext>
            </a:extLst>
          </p:cNvPr>
          <p:cNvSpPr>
            <a:spLocks xmlns:a="http://schemas.openxmlformats.org/drawingml/2006/main" noGrp="1"/>
          </p:cNvSpPr>
          <p:nvPr/>
        </p:nvSpPr>
        <p:spPr>
          <a:xfrm xmlns:a="http://schemas.openxmlformats.org/drawingml/2006/main">
            <a:off x="9144000" y="1762125"/>
            <a:ext cx="2286000" cy="1885950"/>
          </a:xfrm>
          <a:prstGeom xmlns:a="http://schemas.openxmlformats.org/drawingml/2006/main" prst="roundRect">
            <a:avLst>
              <a:gd name="adj" fmla="val 4040"/>
            </a:avLst>
          </a:prstGeom>
          <a:solidFill xmlns:a="http://schemas.openxmlformats.org/drawingml/2006/main">
            <a:srgbClr val="F3EEF9"/>
          </a:solidFill>
          <a:ln xmlns:a="http://schemas.openxmlformats.org/drawingml/2006/main" w="16193">
            <a:solidFill>
              <a:srgbClr val="6B4BB5"/>
            </a:solidFill>
          </a:ln>
        </p:spPr>
      </p:sp>
      <p:sp>
        <p:nvSpPr>
          <p:cNvPr id="242" name="framework-outcomes-accent">
            <a:extLst xmlns:a="http://schemas.openxmlformats.org/drawingml/2006/main">
              <a:ext uri="{FF2B5EF4-FFF2-40B4-BE49-F238E27FC236}">
                <a16:creationId xmlns:a16="http://schemas.microsoft.com/office/drawing/2014/main" id="{162202BB-AC31-4299-AF61-D3604F5D5A72}"/>
              </a:ext>
            </a:extLst>
          </p:cNvPr>
          <p:cNvSpPr>
            <a:spLocks xmlns:a="http://schemas.openxmlformats.org/drawingml/2006/main" noGrp="1"/>
          </p:cNvSpPr>
          <p:nvPr/>
        </p:nvSpPr>
        <p:spPr>
          <a:xfrm xmlns:a="http://schemas.openxmlformats.org/drawingml/2006/main">
            <a:off x="9144000" y="1762125"/>
            <a:ext cx="2286000" cy="409575"/>
          </a:xfrm>
          <a:prstGeom xmlns:a="http://schemas.openxmlformats.org/drawingml/2006/main" prst="rect">
            <a:avLst/>
          </a:prstGeom>
          <a:solidFill xmlns:a="http://schemas.openxmlformats.org/drawingml/2006/main">
            <a:srgbClr val="6B4BB5"/>
          </a:solidFill>
          <a:ln xmlns:a="http://schemas.openxmlformats.org/drawingml/2006/main" w="0">
            <a:noFill/>
          </a:ln>
        </p:spPr>
      </p:sp>
      <p:sp>
        <p:nvSpPr>
          <p:cNvPr id="243" name="framework-outcomes-title">
            <a:extLst xmlns:a="http://schemas.openxmlformats.org/drawingml/2006/main">
              <a:ext uri="{FF2B5EF4-FFF2-40B4-BE49-F238E27FC236}">
                <a16:creationId xmlns:a16="http://schemas.microsoft.com/office/drawing/2014/main" id="{234DF05C-6027-417F-9176-9F268E97DD7D}"/>
              </a:ext>
            </a:extLst>
          </p:cNvPr>
          <p:cNvSpPr>
            <a:spLocks xmlns:a="http://schemas.openxmlformats.org/drawingml/2006/main" noGrp="1"/>
          </p:cNvSpPr>
          <p:nvPr/>
        </p:nvSpPr>
        <p:spPr>
          <a:xfrm xmlns:a="http://schemas.openxmlformats.org/drawingml/2006/main">
            <a:off x="9239250" y="179070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Measured outcomes</a:t>
            </a:r>
          </a:p>
        </p:txBody>
      </p:sp>
      <p:sp>
        <p:nvSpPr>
          <p:cNvPr id="244" name="framework-outcomes-body">
            <a:extLst xmlns:a="http://schemas.openxmlformats.org/drawingml/2006/main">
              <a:ext uri="{FF2B5EF4-FFF2-40B4-BE49-F238E27FC236}">
                <a16:creationId xmlns:a16="http://schemas.microsoft.com/office/drawing/2014/main" id="{B8F143C6-443F-4D3E-9EA9-1108E07B0BF5}"/>
              </a:ext>
            </a:extLst>
          </p:cNvPr>
          <p:cNvSpPr>
            <a:spLocks xmlns:a="http://schemas.openxmlformats.org/drawingml/2006/main" noGrp="1"/>
          </p:cNvSpPr>
          <p:nvPr/>
        </p:nvSpPr>
        <p:spPr>
          <a:xfrm xmlns:a="http://schemas.openxmlformats.org/drawingml/2006/main">
            <a:off x="9296400" y="2266950"/>
            <a:ext cx="1981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Predictive utility</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Privacy attack exposure</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Poisoning resilience</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Serialized upload and runtime cost</a:t>
            </a:r>
          </a:p>
        </p:txBody>
      </p:sp>
      <p:cxnSp>
        <p:nvCxnSpPr>
          <p:cNvPr id="567" name="Straight Arrow Connector 373"/>
          <p:cNvCxnSpPr>
            <a:stCxn xmlns:a="http://schemas.openxmlformats.org/drawingml/2006/main" id="229" idx="3"/>
            <a:endCxn xmlns:a="http://schemas.openxmlformats.org/drawingml/2006/main" id="233" idx="1"/>
          </p:cNvCxnSpPr>
          <p:nvPr/>
        </p:nvCxnSpPr>
        <p:spPr>
          <a:xfrm xmlns:a="http://schemas.openxmlformats.org/drawingml/2006/main">
            <a:off x="3000375" y="2705100"/>
            <a:ext cx="523875" cy="0"/>
          </a:xfrm>
          <a:prstGeom xmlns:a="http://schemas.openxmlformats.org/drawingml/2006/main" prst="straightConnector1">
            <a:avLst/>
          </a:prstGeom>
          <a:ln xmlns:a="http://schemas.openxmlformats.org/drawingml/2006/main" w="19050">
            <a:solidFill>
              <a:srgbClr val="17365D"/>
            </a:solidFill>
            <a:prstDash val="solid"/>
            <a:tailEnd type="triangle" w="med" len="med"/>
          </a:ln>
        </p:spPr>
      </p:cxnSp>
      <p:cxnSp>
        <p:nvCxnSpPr>
          <p:cNvPr id="568" name="Straight Arrow Connector 374"/>
          <p:cNvCxnSpPr>
            <a:stCxn xmlns:a="http://schemas.openxmlformats.org/drawingml/2006/main" id="233" idx="3"/>
            <a:endCxn xmlns:a="http://schemas.openxmlformats.org/drawingml/2006/main" id="237" idx="1"/>
          </p:cNvCxnSpPr>
          <p:nvPr/>
        </p:nvCxnSpPr>
        <p:spPr>
          <a:xfrm xmlns:a="http://schemas.openxmlformats.org/drawingml/2006/main">
            <a:off x="5810250" y="2705100"/>
            <a:ext cx="523875" cy="0"/>
          </a:xfrm>
          <a:prstGeom xmlns:a="http://schemas.openxmlformats.org/drawingml/2006/main" prst="straightConnector1">
            <a:avLst/>
          </a:prstGeom>
          <a:ln xmlns:a="http://schemas.openxmlformats.org/drawingml/2006/main" w="19050">
            <a:solidFill>
              <a:srgbClr val="17365D"/>
            </a:solidFill>
            <a:prstDash val="solid"/>
            <a:tailEnd type="triangle" w="med" len="med"/>
          </a:ln>
        </p:spPr>
      </p:cxnSp>
      <p:cxnSp>
        <p:nvCxnSpPr>
          <p:cNvPr id="569" name="Straight Arrow Connector 375"/>
          <p:cNvCxnSpPr>
            <a:stCxn xmlns:a="http://schemas.openxmlformats.org/drawingml/2006/main" id="237" idx="3"/>
            <a:endCxn xmlns:a="http://schemas.openxmlformats.org/drawingml/2006/main" id="241" idx="1"/>
          </p:cNvCxnSpPr>
          <p:nvPr/>
        </p:nvCxnSpPr>
        <p:spPr>
          <a:xfrm xmlns:a="http://schemas.openxmlformats.org/drawingml/2006/main">
            <a:off x="8620125" y="2705100"/>
            <a:ext cx="523875" cy="0"/>
          </a:xfrm>
          <a:prstGeom xmlns:a="http://schemas.openxmlformats.org/drawingml/2006/main" prst="straightConnector1">
            <a:avLst/>
          </a:prstGeom>
          <a:ln xmlns:a="http://schemas.openxmlformats.org/drawingml/2006/main" w="19050">
            <a:solidFill>
              <a:srgbClr val="17365D"/>
            </a:solidFill>
            <a:prstDash val="solid"/>
            <a:tailEnd type="triangle" w="med" len="med"/>
          </a:ln>
        </p:spPr>
      </p:cxnSp>
      <p:sp>
        <p:nvSpPr>
          <p:cNvPr id="248" name="framework-assumptions-band">
            <a:extLst xmlns:a="http://schemas.openxmlformats.org/drawingml/2006/main">
              <a:ext uri="{FF2B5EF4-FFF2-40B4-BE49-F238E27FC236}">
                <a16:creationId xmlns:a16="http://schemas.microsoft.com/office/drawing/2014/main" id="{C93DB946-639A-4F33-A4D7-DDC6014142FD}"/>
              </a:ext>
            </a:extLst>
          </p:cNvPr>
          <p:cNvSpPr>
            <a:spLocks xmlns:a="http://schemas.openxmlformats.org/drawingml/2006/main" noGrp="1"/>
          </p:cNvSpPr>
          <p:nvPr/>
        </p:nvSpPr>
        <p:spPr>
          <a:xfrm xmlns:a="http://schemas.openxmlformats.org/drawingml/2006/main">
            <a:off x="714375" y="4000500"/>
            <a:ext cx="10715625" cy="1123950"/>
          </a:xfrm>
          <a:prstGeom xmlns:a="http://schemas.openxmlformats.org/drawingml/2006/main" prst="roundRect">
            <a:avLst>
              <a:gd name="adj" fmla="val 6780"/>
            </a:avLst>
          </a:prstGeom>
          <a:solidFill xmlns:a="http://schemas.openxmlformats.org/drawingml/2006/main">
            <a:srgbClr val="F7F9FC"/>
          </a:solidFill>
          <a:ln xmlns:a="http://schemas.openxmlformats.org/drawingml/2006/main" w="11430">
            <a:solidFill>
              <a:srgbClr val="AAB6C5"/>
            </a:solidFill>
          </a:ln>
        </p:spPr>
      </p:sp>
      <p:sp>
        <p:nvSpPr>
          <p:cNvPr id="249" name="framework-assumptions-title">
            <a:extLst xmlns:a="http://schemas.openxmlformats.org/drawingml/2006/main">
              <a:ext uri="{FF2B5EF4-FFF2-40B4-BE49-F238E27FC236}">
                <a16:creationId xmlns:a16="http://schemas.microsoft.com/office/drawing/2014/main" id="{85376BA5-2184-4751-AE7A-2CFD958B1ED9}"/>
              </a:ext>
            </a:extLst>
          </p:cNvPr>
          <p:cNvSpPr>
            <a:spLocks xmlns:a="http://schemas.openxmlformats.org/drawingml/2006/main" noGrp="1"/>
          </p:cNvSpPr>
          <p:nvPr/>
        </p:nvSpPr>
        <p:spPr>
          <a:xfrm xmlns:a="http://schemas.openxmlformats.org/drawingml/2006/main">
            <a:off x="952500" y="4086225"/>
            <a:ext cx="10239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333" lnSpcReduction="10000"/>
          </a:bodyPr>
          <a:lstStyle xmlns:a="http://schemas.openxmlformats.org/drawingml/2006/main"/>
          <a:p xmlns:a="http://schemas.openxmlformats.org/drawingml/2006/main">
            <a:pPr algn="ctr">
              <a:buNone/>
              <a:defRPr sz="1500" b="1">
                <a:solidFill>
                  <a:srgbClr val="17365D"/>
                </a:solidFill>
                <a:latin typeface="Arial"/>
                <a:ea typeface="Arial"/>
                <a:cs typeface="Arial"/>
              </a:defRPr>
            </a:pPr>
            <a:r>
              <a:rPr sz="1500" b="1">
                <a:solidFill>
                  <a:srgbClr val="17365D"/>
                </a:solidFill>
                <a:latin typeface="Arial"/>
                <a:ea typeface="Arial"/>
                <a:cs typeface="Arial"/>
              </a:rPr>
              <a:t>Cross-cutting threats and trust assumptions</a:t>
            </a:r>
          </a:p>
        </p:txBody>
      </p:sp>
      <p:sp>
        <p:nvSpPr>
          <p:cNvPr id="250" name="framework-threats">
            <a:extLst xmlns:a="http://schemas.openxmlformats.org/drawingml/2006/main">
              <a:ext uri="{FF2B5EF4-FFF2-40B4-BE49-F238E27FC236}">
                <a16:creationId xmlns:a16="http://schemas.microsoft.com/office/drawing/2014/main" id="{DB226214-2B62-4B5C-AE44-CE6E6485DA48}"/>
              </a:ext>
            </a:extLst>
          </p:cNvPr>
          <p:cNvSpPr>
            <a:spLocks xmlns:a="http://schemas.openxmlformats.org/drawingml/2006/main" noGrp="1"/>
          </p:cNvSpPr>
          <p:nvPr/>
        </p:nvSpPr>
        <p:spPr>
          <a:xfrm xmlns:a="http://schemas.openxmlformats.org/drawingml/2006/main">
            <a:off x="1000125" y="4410075"/>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Threats considered</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Gradient leakage, membership inference, malicious updates, communication tampering and client dropout</a:t>
            </a:r>
          </a:p>
        </p:txBody>
      </p:sp>
      <p:sp>
        <p:nvSpPr>
          <p:cNvPr id="251" name="framework-trust-assumptions">
            <a:extLst xmlns:a="http://schemas.openxmlformats.org/drawingml/2006/main">
              <a:ext uri="{FF2B5EF4-FFF2-40B4-BE49-F238E27FC236}">
                <a16:creationId xmlns:a16="http://schemas.microsoft.com/office/drawing/2014/main" id="{179E13D1-434D-4FB5-8923-75DB417F8555}"/>
              </a:ext>
            </a:extLst>
          </p:cNvPr>
          <p:cNvSpPr>
            <a:spLocks xmlns:a="http://schemas.openxmlformats.org/drawingml/2006/main" noGrp="1"/>
          </p:cNvSpPr>
          <p:nvPr/>
        </p:nvSpPr>
        <p:spPr>
          <a:xfrm xmlns:a="http://schemas.openxmlformats.org/drawingml/2006/main">
            <a:off x="6429375" y="4410075"/>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Trust assumptions</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Authenticated institutions, honest-but-curious coordinator, threshold custodians and permissioned audit participants</a:t>
            </a:r>
          </a:p>
        </p:txBody>
      </p:sp>
      <p:sp>
        <p:nvSpPr>
          <p:cNvPr id="252" name="framework-assumptions-divider">
            <a:extLst xmlns:a="http://schemas.openxmlformats.org/drawingml/2006/main">
              <a:ext uri="{FF2B5EF4-FFF2-40B4-BE49-F238E27FC236}">
                <a16:creationId xmlns:a16="http://schemas.microsoft.com/office/drawing/2014/main" id="{DC368890-3967-4923-A964-AEA3CE138177}"/>
              </a:ext>
            </a:extLst>
          </p:cNvPr>
          <p:cNvSpPr>
            <a:spLocks xmlns:a="http://schemas.openxmlformats.org/drawingml/2006/main" noGrp="1"/>
          </p:cNvSpPr>
          <p:nvPr/>
        </p:nvSpPr>
        <p:spPr>
          <a:xfrm xmlns:a="http://schemas.openxmlformats.org/drawingml/2006/main">
            <a:off x="6076950" y="4410075"/>
            <a:ext cx="14288" cy="542925"/>
          </a:xfrm>
          <a:prstGeom xmlns:a="http://schemas.openxmlformats.org/drawingml/2006/main" prst="rect">
            <a:avLst/>
          </a:prstGeom>
          <a:solidFill xmlns:a="http://schemas.openxmlformats.org/drawingml/2006/main">
            <a:srgbClr val="CCD5DF"/>
          </a:solidFill>
          <a:ln xmlns:a="http://schemas.openxmlformats.org/drawingml/2006/main" w="0">
            <a:noFill/>
          </a:ln>
        </p:spPr>
      </p:sp>
      <p:sp>
        <p:nvSpPr>
          <p:cNvPr id="253" name="framework-principle-box">
            <a:extLst xmlns:a="http://schemas.openxmlformats.org/drawingml/2006/main">
              <a:ext uri="{FF2B5EF4-FFF2-40B4-BE49-F238E27FC236}">
                <a16:creationId xmlns:a16="http://schemas.microsoft.com/office/drawing/2014/main" id="{74EAE2CF-77CF-4F77-B3A3-ACB23B803CC4}"/>
              </a:ext>
            </a:extLst>
          </p:cNvPr>
          <p:cNvSpPr>
            <a:spLocks xmlns:a="http://schemas.openxmlformats.org/drawingml/2006/main" noGrp="1"/>
          </p:cNvSpPr>
          <p:nvPr/>
        </p:nvSpPr>
        <p:spPr>
          <a:xfrm xmlns:a="http://schemas.openxmlformats.org/drawingml/2006/main">
            <a:off x="1714500" y="5334000"/>
            <a:ext cx="8763000" cy="590550"/>
          </a:xfrm>
          <a:prstGeom xmlns:a="http://schemas.openxmlformats.org/drawingml/2006/main" prst="roundRect">
            <a:avLst>
              <a:gd name="adj" fmla="val 12903"/>
            </a:avLst>
          </a:prstGeom>
          <a:solidFill xmlns:a="http://schemas.openxmlformats.org/drawingml/2006/main">
            <a:srgbClr val="E8F4EE"/>
          </a:solidFill>
          <a:ln xmlns:a="http://schemas.openxmlformats.org/drawingml/2006/main" w="14288">
            <a:solidFill>
              <a:srgbClr val="008A46"/>
            </a:solidFill>
          </a:ln>
        </p:spPr>
      </p:sp>
      <p:sp>
        <p:nvSpPr>
          <p:cNvPr id="254" name="framework-principle">
            <a:extLst xmlns:a="http://schemas.openxmlformats.org/drawingml/2006/main">
              <a:ext uri="{FF2B5EF4-FFF2-40B4-BE49-F238E27FC236}">
                <a16:creationId xmlns:a16="http://schemas.microsoft.com/office/drawing/2014/main" id="{326D5A41-5020-45AA-BA2B-2715379B75A1}"/>
              </a:ext>
            </a:extLst>
          </p:cNvPr>
          <p:cNvSpPr>
            <a:spLocks xmlns:a="http://schemas.openxmlformats.org/drawingml/2006/main" noGrp="1"/>
          </p:cNvSpPr>
          <p:nvPr/>
        </p:nvSpPr>
        <p:spPr>
          <a:xfrm xmlns:a="http://schemas.openxmlformats.org/drawingml/2006/main">
            <a:off x="1952625" y="5410200"/>
            <a:ext cx="8286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716" lnSpcReduction="10000"/>
          </a:bodyPr>
          <a:lstStyle xmlns:a="http://schemas.openxmlformats.org/drawingml/2006/main"/>
          <a:p xmlns:a="http://schemas.openxmlformats.org/drawingml/2006/main">
            <a:pPr algn="ctr">
              <a:buNone/>
              <a:defRPr sz="1275" b="1">
                <a:solidFill>
                  <a:srgbClr val="17365D"/>
                </a:solidFill>
                <a:latin typeface="Arial"/>
                <a:ea typeface="Arial"/>
                <a:cs typeface="Arial"/>
              </a:defRPr>
            </a:pPr>
            <a:r>
              <a:rPr sz="1275" b="1">
                <a:solidFill>
                  <a:srgbClr val="17365D"/>
                </a:solidFill>
                <a:latin typeface="Arial"/>
                <a:ea typeface="Arial"/>
                <a:cs typeface="Arial"/>
              </a:rPr>
              <a:t>Core principle: patient records remain inside each institution; only protected updates enter the collaboration, and only a validated global model is released.</a:t>
            </a:r>
          </a:p>
        </p:txBody>
      </p:sp>
      <p:pic>
        <p:nvPicPr>
          <p:cNvPr id="577" name="Picture 1"/>
          <p:cNvPicPr>
            <a:picLocks xmlns:a="http://schemas.openxmlformats.org/drawingml/2006/main" noChangeAspect="1"/>
          </p:cNvPicPr>
          <p:nvPr/>
        </p:nvPicPr>
        <p:blipFill>
          <a:blip xmlns:r="http://schemas.openxmlformats.org/officeDocument/2006/relationships" xmlns:a="http://schemas.openxmlformats.org/drawingml/2006/main" r:embed="R3ea9863bfe644655"/>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
        <p:nvSpPr>
          <p:cNvPr id="441" name="conceptual-framework-replacement-cover">
            <a:extLst xmlns:a="http://schemas.openxmlformats.org/drawingml/2006/main">
              <a:ext uri="{FF2B5EF4-FFF2-40B4-BE49-F238E27FC236}">
                <a16:creationId xmlns:a16="http://schemas.microsoft.com/office/drawing/2014/main" id="{B9CA9847-B2ED-4B88-990E-07B592318C5C}"/>
              </a:ext>
            </a:extLst>
          </p:cNvPr>
          <p:cNvSpPr>
            <a:spLocks xmlns:a="http://schemas.openxmlformats.org/drawingml/2006/main" noGrp="1"/>
          </p:cNvSpPr>
          <p:nvPr/>
        </p:nvSpPr>
        <p:spPr>
          <a:xfrm xmlns:a="http://schemas.openxmlformats.org/drawingml/2006/main">
            <a:off x="523875" y="1095375"/>
            <a:ext cx="11144250" cy="50006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442" name="stage-1-inputs">
            <a:extLst xmlns:a="http://schemas.openxmlformats.org/drawingml/2006/main">
              <a:ext uri="{FF2B5EF4-FFF2-40B4-BE49-F238E27FC236}">
                <a16:creationId xmlns:a16="http://schemas.microsoft.com/office/drawing/2014/main" id="{8473B568-7251-4730-AAE9-4B52D0D678C3}"/>
              </a:ext>
            </a:extLst>
          </p:cNvPr>
          <p:cNvSpPr>
            <a:spLocks xmlns:a="http://schemas.openxmlformats.org/drawingml/2006/main" noGrp="1"/>
          </p:cNvSpPr>
          <p:nvPr/>
        </p:nvSpPr>
        <p:spPr>
          <a:xfrm xmlns:a="http://schemas.openxmlformats.org/drawingml/2006/main">
            <a:off x="1190625" y="1219200"/>
            <a:ext cx="9810750" cy="666750"/>
          </a:xfrm>
          <a:prstGeom xmlns:a="http://schemas.openxmlformats.org/drawingml/2006/main" prst="roundRect">
            <a:avLst>
              <a:gd name="adj" fmla="val 11429"/>
            </a:avLst>
          </a:prstGeom>
          <a:solidFill xmlns:a="http://schemas.openxmlformats.org/drawingml/2006/main">
            <a:srgbClr val="EEF2FF"/>
          </a:solidFill>
          <a:ln xmlns:a="http://schemas.openxmlformats.org/drawingml/2006/main" w="13335">
            <a:solidFill>
              <a:srgbClr val="748DB7"/>
            </a:solidFill>
            <a:prstDash val="solid"/>
          </a:ln>
        </p:spPr>
      </p:sp>
      <p:sp>
        <p:nvSpPr>
          <p:cNvPr id="443" name="stage-1-title">
            <a:extLst xmlns:a="http://schemas.openxmlformats.org/drawingml/2006/main">
              <a:ext uri="{FF2B5EF4-FFF2-40B4-BE49-F238E27FC236}">
                <a16:creationId xmlns:a16="http://schemas.microsoft.com/office/drawing/2014/main" id="{2110CCED-3DAA-4F49-B921-82F5EA921C59}"/>
              </a:ext>
            </a:extLst>
          </p:cNvPr>
          <p:cNvSpPr>
            <a:spLocks xmlns:a="http://schemas.openxmlformats.org/drawingml/2006/main" noGrp="1"/>
          </p:cNvSpPr>
          <p:nvPr/>
        </p:nvSpPr>
        <p:spPr>
          <a:xfrm xmlns:a="http://schemas.openxmlformats.org/drawingml/2006/main">
            <a:off x="4000500" y="1276350"/>
            <a:ext cx="419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6638"/>
          </a:bodyPr>
          <a:lstStyle xmlns:a="http://schemas.openxmlformats.org/drawingml/2006/main"/>
          <a:p xmlns:a="http://schemas.openxmlformats.org/drawingml/2006/main">
            <a:pPr algn="ctr">
              <a:buNone/>
              <a:defRPr sz="1163" b="1">
                <a:solidFill>
                  <a:srgbClr val="062B6F"/>
                </a:solidFill>
                <a:latin typeface="Arial"/>
                <a:ea typeface="Arial"/>
                <a:cs typeface="Arial"/>
              </a:defRPr>
            </a:pPr>
            <a:r>
              <a:rPr sz="1163" b="1">
                <a:solidFill>
                  <a:srgbClr val="062B6F"/>
                </a:solidFill>
                <a:latin typeface="Arial"/>
                <a:ea typeface="Arial"/>
                <a:cs typeface="Arial"/>
              </a:rPr>
              <a:t>STAGE 1  RESEARCH INPUTS</a:t>
            </a:r>
          </a:p>
        </p:txBody>
      </p:sp>
      <p:sp>
        <p:nvSpPr>
          <p:cNvPr id="444" name="stage-1-natural-hospital-partitions">
            <a:extLst xmlns:a="http://schemas.openxmlformats.org/drawingml/2006/main">
              <a:ext uri="{FF2B5EF4-FFF2-40B4-BE49-F238E27FC236}">
                <a16:creationId xmlns:a16="http://schemas.microsoft.com/office/drawing/2014/main" id="{1F571C31-B494-4CE7-877A-402EB75FBC1D}"/>
              </a:ext>
            </a:extLst>
          </p:cNvPr>
          <p:cNvSpPr>
            <a:spLocks xmlns:a="http://schemas.openxmlformats.org/drawingml/2006/main" noGrp="1"/>
          </p:cNvSpPr>
          <p:nvPr/>
        </p:nvSpPr>
        <p:spPr>
          <a:xfrm xmlns:a="http://schemas.openxmlformats.org/drawingml/2006/main">
            <a:off x="1428750" y="1543050"/>
            <a:ext cx="285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667"/>
          </a:bodyPr>
          <a:lstStyle xmlns:a="http://schemas.openxmlformats.org/drawingml/2006/main"/>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Natural hospital partitions</a:t>
            </a:r>
          </a:p>
        </p:txBody>
      </p:sp>
      <p:sp>
        <p:nvSpPr>
          <p:cNvPr id="445" name="stage-1-threat-and-trust-model">
            <a:extLst xmlns:a="http://schemas.openxmlformats.org/drawingml/2006/main">
              <a:ext uri="{FF2B5EF4-FFF2-40B4-BE49-F238E27FC236}">
                <a16:creationId xmlns:a16="http://schemas.microsoft.com/office/drawing/2014/main" id="{92870C00-FBC2-4A85-AA92-D4D5D5C7620D}"/>
              </a:ext>
            </a:extLst>
          </p:cNvPr>
          <p:cNvSpPr>
            <a:spLocks xmlns:a="http://schemas.openxmlformats.org/drawingml/2006/main" noGrp="1"/>
          </p:cNvSpPr>
          <p:nvPr/>
        </p:nvSpPr>
        <p:spPr>
          <a:xfrm xmlns:a="http://schemas.openxmlformats.org/drawingml/2006/main">
            <a:off x="4667250" y="1543050"/>
            <a:ext cx="285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667"/>
          </a:bodyPr>
          <a:lstStyle xmlns:a="http://schemas.openxmlformats.org/drawingml/2006/main"/>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Threat and trust model</a:t>
            </a:r>
          </a:p>
        </p:txBody>
      </p:sp>
      <p:sp>
        <p:nvSpPr>
          <p:cNvPr id="446" name="stage-1-research-objectives">
            <a:extLst xmlns:a="http://schemas.openxmlformats.org/drawingml/2006/main">
              <a:ext uri="{FF2B5EF4-FFF2-40B4-BE49-F238E27FC236}">
                <a16:creationId xmlns:a16="http://schemas.microsoft.com/office/drawing/2014/main" id="{7D534E35-EEC2-4619-AB6A-892F27541222}"/>
              </a:ext>
            </a:extLst>
          </p:cNvPr>
          <p:cNvSpPr>
            <a:spLocks xmlns:a="http://schemas.openxmlformats.org/drawingml/2006/main" noGrp="1"/>
          </p:cNvSpPr>
          <p:nvPr/>
        </p:nvSpPr>
        <p:spPr>
          <a:xfrm xmlns:a="http://schemas.openxmlformats.org/drawingml/2006/main">
            <a:off x="7905750" y="1543050"/>
            <a:ext cx="285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667"/>
          </a:bodyPr>
          <a:lstStyle xmlns:a="http://schemas.openxmlformats.org/drawingml/2006/main"/>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Research objectives</a:t>
            </a:r>
          </a:p>
        </p:txBody>
      </p:sp>
      <p:sp>
        <p:nvSpPr>
          <p:cNvPr id="447" name="stage-1-divider-1">
            <a:extLst xmlns:a="http://schemas.openxmlformats.org/drawingml/2006/main">
              <a:ext uri="{FF2B5EF4-FFF2-40B4-BE49-F238E27FC236}">
                <a16:creationId xmlns:a16="http://schemas.microsoft.com/office/drawing/2014/main" id="{9DA44D90-F6B6-4CC8-B1CD-0E7784AE2896}"/>
              </a:ext>
            </a:extLst>
          </p:cNvPr>
          <p:cNvSpPr>
            <a:spLocks xmlns:a="http://schemas.openxmlformats.org/drawingml/2006/main" noGrp="1"/>
          </p:cNvSpPr>
          <p:nvPr/>
        </p:nvSpPr>
        <p:spPr>
          <a:xfrm xmlns:a="http://schemas.openxmlformats.org/drawingml/2006/main">
            <a:off x="4429125" y="1562100"/>
            <a:ext cx="11430" cy="209550"/>
          </a:xfrm>
          <a:prstGeom xmlns:a="http://schemas.openxmlformats.org/drawingml/2006/main" prst="rect">
            <a:avLst/>
          </a:prstGeom>
          <a:solidFill xmlns:a="http://schemas.openxmlformats.org/drawingml/2006/main">
            <a:srgbClr val="B8C5D8"/>
          </a:solidFill>
          <a:ln xmlns:a="http://schemas.openxmlformats.org/drawingml/2006/main" w="0">
            <a:noFill/>
          </a:ln>
        </p:spPr>
      </p:sp>
      <p:sp>
        <p:nvSpPr>
          <p:cNvPr id="448" name="stage-1-divider-2">
            <a:extLst xmlns:a="http://schemas.openxmlformats.org/drawingml/2006/main">
              <a:ext uri="{FF2B5EF4-FFF2-40B4-BE49-F238E27FC236}">
                <a16:creationId xmlns:a16="http://schemas.microsoft.com/office/drawing/2014/main" id="{03B873AC-0977-487D-B4DE-4615F8A7BB01}"/>
              </a:ext>
            </a:extLst>
          </p:cNvPr>
          <p:cNvSpPr>
            <a:spLocks xmlns:a="http://schemas.openxmlformats.org/drawingml/2006/main" noGrp="1"/>
          </p:cNvSpPr>
          <p:nvPr/>
        </p:nvSpPr>
        <p:spPr>
          <a:xfrm xmlns:a="http://schemas.openxmlformats.org/drawingml/2006/main">
            <a:off x="7667625" y="1562100"/>
            <a:ext cx="11430" cy="209550"/>
          </a:xfrm>
          <a:prstGeom xmlns:a="http://schemas.openxmlformats.org/drawingml/2006/main" prst="rect">
            <a:avLst/>
          </a:prstGeom>
          <a:solidFill xmlns:a="http://schemas.openxmlformats.org/drawingml/2006/main">
            <a:srgbClr val="B8C5D8"/>
          </a:solidFill>
          <a:ln xmlns:a="http://schemas.openxmlformats.org/drawingml/2006/main" w="0">
            <a:noFill/>
          </a:ln>
        </p:spPr>
      </p:sp>
      <p:sp>
        <p:nvSpPr>
          <p:cNvPr id="449" name="stage-1-to-2">
            <a:extLst xmlns:a="http://schemas.openxmlformats.org/drawingml/2006/main">
              <a:ext uri="{FF2B5EF4-FFF2-40B4-BE49-F238E27FC236}">
                <a16:creationId xmlns:a16="http://schemas.microsoft.com/office/drawing/2014/main" id="{E0998222-21D2-43B5-90F1-849A60740C81}"/>
              </a:ext>
            </a:extLst>
          </p:cNvPr>
          <p:cNvSpPr>
            <a:spLocks xmlns:a="http://schemas.openxmlformats.org/drawingml/2006/main" noGrp="1"/>
          </p:cNvSpPr>
          <p:nvPr/>
        </p:nvSpPr>
        <p:spPr>
          <a:xfrm xmlns:a="http://schemas.openxmlformats.org/drawingml/2006/main">
            <a:off x="6010275" y="1895475"/>
            <a:ext cx="171450" cy="209550"/>
          </a:xfrm>
          <a:prstGeom xmlns:a="http://schemas.openxmlformats.org/drawingml/2006/main" prst="downArrow">
            <a:avLst/>
          </a:prstGeom>
          <a:solidFill xmlns:a="http://schemas.openxmlformats.org/drawingml/2006/main">
            <a:srgbClr val="062B6F"/>
          </a:solidFill>
          <a:ln xmlns:a="http://schemas.openxmlformats.org/drawingml/2006/main" w="4763">
            <a:solidFill>
              <a:srgbClr val="062B6F"/>
            </a:solidFill>
          </a:ln>
        </p:spPr>
      </p:sp>
      <p:sp>
        <p:nvSpPr>
          <p:cNvPr id="450" name="stage-2-title">
            <a:extLst xmlns:a="http://schemas.openxmlformats.org/drawingml/2006/main">
              <a:ext uri="{FF2B5EF4-FFF2-40B4-BE49-F238E27FC236}">
                <a16:creationId xmlns:a16="http://schemas.microsoft.com/office/drawing/2014/main" id="{72C835ED-CF72-4651-AE7A-CFEAF08B5A19}"/>
              </a:ext>
            </a:extLst>
          </p:cNvPr>
          <p:cNvSpPr>
            <a:spLocks xmlns:a="http://schemas.openxmlformats.org/drawingml/2006/main" noGrp="1"/>
          </p:cNvSpPr>
          <p:nvPr/>
        </p:nvSpPr>
        <p:spPr>
          <a:xfrm xmlns:a="http://schemas.openxmlformats.org/drawingml/2006/main">
            <a:off x="4095750" y="2000250"/>
            <a:ext cx="4000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89"/>
          </a:bodyPr>
          <a:lstStyle xmlns:a="http://schemas.openxmlformats.org/drawingml/2006/main"/>
          <a:p xmlns:a="http://schemas.openxmlformats.org/drawingml/2006/main">
            <a:pPr algn="ctr">
              <a:buNone/>
              <a:defRPr sz="1575" b="1">
                <a:solidFill>
                  <a:srgbClr val="062B6F"/>
                </a:solidFill>
                <a:latin typeface="Arial"/>
                <a:ea typeface="Arial"/>
                <a:cs typeface="Arial"/>
              </a:defRPr>
            </a:pPr>
            <a:r>
              <a:rPr sz="1575" b="1">
                <a:solidFill>
                  <a:srgbClr val="062B6F"/>
                </a:solidFill>
                <a:latin typeface="Arial"/>
                <a:ea typeface="Arial"/>
                <a:cs typeface="Arial"/>
              </a:rPr>
              <a:t>Stage 2  Protection pipeline</a:t>
            </a:r>
          </a:p>
        </p:txBody>
      </p:sp>
      <p:sp>
        <p:nvSpPr>
          <p:cNvPr id="451" name="stage-2-box-1">
            <a:extLst xmlns:a="http://schemas.openxmlformats.org/drawingml/2006/main">
              <a:ext uri="{FF2B5EF4-FFF2-40B4-BE49-F238E27FC236}">
                <a16:creationId xmlns:a16="http://schemas.microsoft.com/office/drawing/2014/main" id="{0796C5A3-8795-4189-A608-51BFC19FE898}"/>
              </a:ext>
            </a:extLst>
          </p:cNvPr>
          <p:cNvSpPr>
            <a:spLocks xmlns:a="http://schemas.openxmlformats.org/drawingml/2006/main" noGrp="1"/>
          </p:cNvSpPr>
          <p:nvPr/>
        </p:nvSpPr>
        <p:spPr>
          <a:xfrm xmlns:a="http://schemas.openxmlformats.org/drawingml/2006/main">
            <a:off x="714375" y="2381250"/>
            <a:ext cx="2000250" cy="1314450"/>
          </a:xfrm>
          <a:prstGeom xmlns:a="http://schemas.openxmlformats.org/drawingml/2006/main" prst="roundRect">
            <a:avLst>
              <a:gd name="adj" fmla="val 5797"/>
            </a:avLst>
          </a:prstGeom>
          <a:solidFill xmlns:a="http://schemas.openxmlformats.org/drawingml/2006/main">
            <a:srgbClr val="EEF8F0"/>
          </a:solidFill>
          <a:ln xmlns:a="http://schemas.openxmlformats.org/drawingml/2006/main" w="13335">
            <a:solidFill>
              <a:srgbClr val="3B8F5A"/>
            </a:solidFill>
            <a:prstDash val="solid"/>
          </a:ln>
        </p:spPr>
      </p:sp>
      <p:sp>
        <p:nvSpPr>
          <p:cNvPr id="452" name="stage-2-title-1">
            <a:extLst xmlns:a="http://schemas.openxmlformats.org/drawingml/2006/main">
              <a:ext uri="{FF2B5EF4-FFF2-40B4-BE49-F238E27FC236}">
                <a16:creationId xmlns:a16="http://schemas.microsoft.com/office/drawing/2014/main" id="{047262C1-A66A-4EA6-AE28-56E73362B8E8}"/>
              </a:ext>
            </a:extLst>
          </p:cNvPr>
          <p:cNvSpPr>
            <a:spLocks xmlns:a="http://schemas.openxmlformats.org/drawingml/2006/main" noGrp="1"/>
          </p:cNvSpPr>
          <p:nvPr/>
        </p:nvSpPr>
        <p:spPr>
          <a:xfrm xmlns:a="http://schemas.openxmlformats.org/drawingml/2006/main">
            <a:off x="809625" y="24955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174C2E"/>
                </a:solidFill>
                <a:latin typeface="Arial"/>
                <a:ea typeface="Arial"/>
                <a:cs typeface="Arial"/>
              </a:defRPr>
            </a:pPr>
            <a:r>
              <a:rPr sz="1275" b="1">
                <a:solidFill>
                  <a:srgbClr val="174C2E"/>
                </a:solidFill>
                <a:latin typeface="Arial"/>
                <a:ea typeface="Arial"/>
                <a:cs typeface="Arial"/>
              </a:rPr>
              <a:t>Local learning</a:t>
            </a:r>
          </a:p>
        </p:txBody>
      </p:sp>
      <p:sp>
        <p:nvSpPr>
          <p:cNvPr id="453" name="stage-2-body-1">
            <a:extLst xmlns:a="http://schemas.openxmlformats.org/drawingml/2006/main">
              <a:ext uri="{FF2B5EF4-FFF2-40B4-BE49-F238E27FC236}">
                <a16:creationId xmlns:a16="http://schemas.microsoft.com/office/drawing/2014/main" id="{DEE50389-700D-488C-AC65-4A739F0B451E}"/>
              </a:ext>
            </a:extLst>
          </p:cNvPr>
          <p:cNvSpPr>
            <a:spLocks xmlns:a="http://schemas.openxmlformats.org/drawingml/2006/main" noGrp="1"/>
          </p:cNvSpPr>
          <p:nvPr/>
        </p:nvSpPr>
        <p:spPr>
          <a:xfrm xmlns:a="http://schemas.openxmlformats.org/drawingml/2006/main">
            <a:off x="838200" y="2914650"/>
            <a:ext cx="1752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On-site preprocessing</a:t>
            </a:r>
          </a:p>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Patient-level DP</a:t>
            </a:r>
          </a:p>
        </p:txBody>
      </p:sp>
      <p:sp>
        <p:nvSpPr>
          <p:cNvPr id="454" name="stage-2-arrow-1">
            <a:extLst xmlns:a="http://schemas.openxmlformats.org/drawingml/2006/main">
              <a:ext uri="{FF2B5EF4-FFF2-40B4-BE49-F238E27FC236}">
                <a16:creationId xmlns:a16="http://schemas.microsoft.com/office/drawing/2014/main" id="{C860354C-DA28-424D-9744-9A760BFB82AB}"/>
              </a:ext>
            </a:extLst>
          </p:cNvPr>
          <p:cNvSpPr>
            <a:spLocks xmlns:a="http://schemas.openxmlformats.org/drawingml/2006/main" noGrp="1"/>
          </p:cNvSpPr>
          <p:nvPr/>
        </p:nvSpPr>
        <p:spPr>
          <a:xfrm xmlns:a="http://schemas.openxmlformats.org/drawingml/2006/main">
            <a:off x="2714625" y="2952750"/>
            <a:ext cx="171450" cy="171450"/>
          </a:xfrm>
          <a:prstGeom xmlns:a="http://schemas.openxmlformats.org/drawingml/2006/main" prst="rightArrow">
            <a:avLst/>
          </a:prstGeom>
          <a:solidFill xmlns:a="http://schemas.openxmlformats.org/drawingml/2006/main">
            <a:srgbClr val="062B6F"/>
          </a:solidFill>
          <a:ln xmlns:a="http://schemas.openxmlformats.org/drawingml/2006/main" w="4763">
            <a:solidFill>
              <a:srgbClr val="062B6F"/>
            </a:solidFill>
          </a:ln>
        </p:spPr>
      </p:sp>
      <p:sp>
        <p:nvSpPr>
          <p:cNvPr id="455" name="stage-2-box-2">
            <a:extLst xmlns:a="http://schemas.openxmlformats.org/drawingml/2006/main">
              <a:ext uri="{FF2B5EF4-FFF2-40B4-BE49-F238E27FC236}">
                <a16:creationId xmlns:a16="http://schemas.microsoft.com/office/drawing/2014/main" id="{3D253881-5732-4601-9226-5E475B488539}"/>
              </a:ext>
            </a:extLst>
          </p:cNvPr>
          <p:cNvSpPr>
            <a:spLocks xmlns:a="http://schemas.openxmlformats.org/drawingml/2006/main" noGrp="1"/>
          </p:cNvSpPr>
          <p:nvPr/>
        </p:nvSpPr>
        <p:spPr>
          <a:xfrm xmlns:a="http://schemas.openxmlformats.org/drawingml/2006/main">
            <a:off x="2886075" y="2381250"/>
            <a:ext cx="2000250" cy="1314450"/>
          </a:xfrm>
          <a:prstGeom xmlns:a="http://schemas.openxmlformats.org/drawingml/2006/main" prst="roundRect">
            <a:avLst>
              <a:gd name="adj" fmla="val 5797"/>
            </a:avLst>
          </a:prstGeom>
          <a:solidFill xmlns:a="http://schemas.openxmlformats.org/drawingml/2006/main">
            <a:srgbClr val="EEF8F0"/>
          </a:solidFill>
          <a:ln xmlns:a="http://schemas.openxmlformats.org/drawingml/2006/main" w="13335">
            <a:solidFill>
              <a:srgbClr val="3B8F5A"/>
            </a:solidFill>
            <a:prstDash val="solid"/>
          </a:ln>
        </p:spPr>
      </p:sp>
      <p:sp>
        <p:nvSpPr>
          <p:cNvPr id="456" name="stage-2-title-2">
            <a:extLst xmlns:a="http://schemas.openxmlformats.org/drawingml/2006/main">
              <a:ext uri="{FF2B5EF4-FFF2-40B4-BE49-F238E27FC236}">
                <a16:creationId xmlns:a16="http://schemas.microsoft.com/office/drawing/2014/main" id="{AE04C2EA-D83F-4346-90A2-9FC87E3D38B9}"/>
              </a:ext>
            </a:extLst>
          </p:cNvPr>
          <p:cNvSpPr>
            <a:spLocks xmlns:a="http://schemas.openxmlformats.org/drawingml/2006/main" noGrp="1"/>
          </p:cNvSpPr>
          <p:nvPr/>
        </p:nvSpPr>
        <p:spPr>
          <a:xfrm xmlns:a="http://schemas.openxmlformats.org/drawingml/2006/main">
            <a:off x="2981325" y="24955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385"/>
          </a:bodyPr>
          <a:lstStyle xmlns:a="http://schemas.openxmlformats.org/drawingml/2006/main"/>
          <a:p xmlns:a="http://schemas.openxmlformats.org/drawingml/2006/main">
            <a:pPr algn="ctr">
              <a:buNone/>
              <a:defRPr sz="1275" b="1">
                <a:solidFill>
                  <a:srgbClr val="174C2E"/>
                </a:solidFill>
                <a:latin typeface="Arial"/>
                <a:ea typeface="Arial"/>
                <a:cs typeface="Arial"/>
              </a:defRPr>
            </a:pPr>
            <a:r>
              <a:rPr sz="1275" b="1">
                <a:solidFill>
                  <a:srgbClr val="174C2E"/>
                </a:solidFill>
                <a:latin typeface="Arial"/>
                <a:ea typeface="Arial"/>
                <a:cs typeface="Arial"/>
              </a:rPr>
              <a:t>Communication control</a:t>
            </a:r>
          </a:p>
        </p:txBody>
      </p:sp>
      <p:sp>
        <p:nvSpPr>
          <p:cNvPr id="457" name="stage-2-body-2">
            <a:extLst xmlns:a="http://schemas.openxmlformats.org/drawingml/2006/main">
              <a:ext uri="{FF2B5EF4-FFF2-40B4-BE49-F238E27FC236}">
                <a16:creationId xmlns:a16="http://schemas.microsoft.com/office/drawing/2014/main" id="{BFCFC045-24F3-4A77-B492-A48F7E10C902}"/>
              </a:ext>
            </a:extLst>
          </p:cNvPr>
          <p:cNvSpPr>
            <a:spLocks xmlns:a="http://schemas.openxmlformats.org/drawingml/2006/main" noGrp="1"/>
          </p:cNvSpPr>
          <p:nvPr/>
        </p:nvSpPr>
        <p:spPr>
          <a:xfrm xmlns:a="http://schemas.openxmlformats.org/drawingml/2006/main">
            <a:off x="3009900" y="2914650"/>
            <a:ext cx="1752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CAABC-FL common support</a:t>
            </a:r>
          </a:p>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Residual feedback</a:t>
            </a:r>
          </a:p>
        </p:txBody>
      </p:sp>
      <p:sp>
        <p:nvSpPr>
          <p:cNvPr id="458" name="stage-2-arrow-2">
            <a:extLst xmlns:a="http://schemas.openxmlformats.org/drawingml/2006/main">
              <a:ext uri="{FF2B5EF4-FFF2-40B4-BE49-F238E27FC236}">
                <a16:creationId xmlns:a16="http://schemas.microsoft.com/office/drawing/2014/main" id="{F284C299-D663-4CFD-A3E0-BB5EEE982760}"/>
              </a:ext>
            </a:extLst>
          </p:cNvPr>
          <p:cNvSpPr>
            <a:spLocks xmlns:a="http://schemas.openxmlformats.org/drawingml/2006/main" noGrp="1"/>
          </p:cNvSpPr>
          <p:nvPr/>
        </p:nvSpPr>
        <p:spPr>
          <a:xfrm xmlns:a="http://schemas.openxmlformats.org/drawingml/2006/main">
            <a:off x="4886325" y="2952750"/>
            <a:ext cx="171450" cy="171450"/>
          </a:xfrm>
          <a:prstGeom xmlns:a="http://schemas.openxmlformats.org/drawingml/2006/main" prst="rightArrow">
            <a:avLst/>
          </a:prstGeom>
          <a:solidFill xmlns:a="http://schemas.openxmlformats.org/drawingml/2006/main">
            <a:srgbClr val="062B6F"/>
          </a:solidFill>
          <a:ln xmlns:a="http://schemas.openxmlformats.org/drawingml/2006/main" w="4763">
            <a:solidFill>
              <a:srgbClr val="062B6F"/>
            </a:solidFill>
          </a:ln>
        </p:spPr>
      </p:sp>
      <p:sp>
        <p:nvSpPr>
          <p:cNvPr id="459" name="stage-2-box-3">
            <a:extLst xmlns:a="http://schemas.openxmlformats.org/drawingml/2006/main">
              <a:ext uri="{FF2B5EF4-FFF2-40B4-BE49-F238E27FC236}">
                <a16:creationId xmlns:a16="http://schemas.microsoft.com/office/drawing/2014/main" id="{AB00D235-FF64-4EE1-A599-2F74427B81F4}"/>
              </a:ext>
            </a:extLst>
          </p:cNvPr>
          <p:cNvSpPr>
            <a:spLocks xmlns:a="http://schemas.openxmlformats.org/drawingml/2006/main" noGrp="1"/>
          </p:cNvSpPr>
          <p:nvPr/>
        </p:nvSpPr>
        <p:spPr>
          <a:xfrm xmlns:a="http://schemas.openxmlformats.org/drawingml/2006/main">
            <a:off x="5057775" y="2381250"/>
            <a:ext cx="2000250" cy="1314450"/>
          </a:xfrm>
          <a:prstGeom xmlns:a="http://schemas.openxmlformats.org/drawingml/2006/main" prst="roundRect">
            <a:avLst>
              <a:gd name="adj" fmla="val 5797"/>
            </a:avLst>
          </a:prstGeom>
          <a:solidFill xmlns:a="http://schemas.openxmlformats.org/drawingml/2006/main">
            <a:srgbClr val="EEF8F0"/>
          </a:solidFill>
          <a:ln xmlns:a="http://schemas.openxmlformats.org/drawingml/2006/main" w="13335">
            <a:solidFill>
              <a:srgbClr val="3B8F5A"/>
            </a:solidFill>
            <a:prstDash val="solid"/>
          </a:ln>
        </p:spPr>
      </p:sp>
      <p:sp>
        <p:nvSpPr>
          <p:cNvPr id="460" name="stage-2-title-3">
            <a:extLst xmlns:a="http://schemas.openxmlformats.org/drawingml/2006/main">
              <a:ext uri="{FF2B5EF4-FFF2-40B4-BE49-F238E27FC236}">
                <a16:creationId xmlns:a16="http://schemas.microsoft.com/office/drawing/2014/main" id="{AEE2147D-1CC6-4CFE-9DF6-C80E64ED30A3}"/>
              </a:ext>
            </a:extLst>
          </p:cNvPr>
          <p:cNvSpPr>
            <a:spLocks xmlns:a="http://schemas.openxmlformats.org/drawingml/2006/main" noGrp="1"/>
          </p:cNvSpPr>
          <p:nvPr/>
        </p:nvSpPr>
        <p:spPr>
          <a:xfrm xmlns:a="http://schemas.openxmlformats.org/drawingml/2006/main">
            <a:off x="5153025" y="24955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074"/>
          </a:bodyPr>
          <a:lstStyle xmlns:a="http://schemas.openxmlformats.org/drawingml/2006/main"/>
          <a:p xmlns:a="http://schemas.openxmlformats.org/drawingml/2006/main">
            <a:pPr algn="ctr">
              <a:buNone/>
              <a:defRPr sz="1275" b="1">
                <a:solidFill>
                  <a:srgbClr val="174C2E"/>
                </a:solidFill>
                <a:latin typeface="Arial"/>
                <a:ea typeface="Arial"/>
                <a:cs typeface="Arial"/>
              </a:defRPr>
            </a:pPr>
            <a:r>
              <a:rPr sz="1275" b="1">
                <a:solidFill>
                  <a:srgbClr val="174C2E"/>
                </a:solidFill>
                <a:latin typeface="Arial"/>
                <a:ea typeface="Arial"/>
                <a:cs typeface="Arial"/>
              </a:rPr>
              <a:t>Confidentiality and identity</a:t>
            </a:r>
          </a:p>
        </p:txBody>
      </p:sp>
      <p:sp>
        <p:nvSpPr>
          <p:cNvPr id="461" name="stage-2-body-3">
            <a:extLst xmlns:a="http://schemas.openxmlformats.org/drawingml/2006/main">
              <a:ext uri="{FF2B5EF4-FFF2-40B4-BE49-F238E27FC236}">
                <a16:creationId xmlns:a16="http://schemas.microsoft.com/office/drawing/2014/main" id="{B7DB1A89-9697-4383-AF2E-3EAF045BDEB5}"/>
              </a:ext>
            </a:extLst>
          </p:cNvPr>
          <p:cNvSpPr>
            <a:spLocks xmlns:a="http://schemas.openxmlformats.org/drawingml/2006/main" noGrp="1"/>
          </p:cNvSpPr>
          <p:nvPr/>
        </p:nvSpPr>
        <p:spPr>
          <a:xfrm xmlns:a="http://schemas.openxmlformats.org/drawingml/2006/main">
            <a:off x="5181600" y="2914650"/>
            <a:ext cx="1752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CKKS encryption</a:t>
            </a:r>
          </a:p>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Signatures and mTLS</a:t>
            </a:r>
          </a:p>
        </p:txBody>
      </p:sp>
      <p:sp>
        <p:nvSpPr>
          <p:cNvPr id="462" name="stage-2-arrow-3">
            <a:extLst xmlns:a="http://schemas.openxmlformats.org/drawingml/2006/main">
              <a:ext uri="{FF2B5EF4-FFF2-40B4-BE49-F238E27FC236}">
                <a16:creationId xmlns:a16="http://schemas.microsoft.com/office/drawing/2014/main" id="{03BFF5C7-E279-4004-8C1E-1F5D68ADC8AA}"/>
              </a:ext>
            </a:extLst>
          </p:cNvPr>
          <p:cNvSpPr>
            <a:spLocks xmlns:a="http://schemas.openxmlformats.org/drawingml/2006/main" noGrp="1"/>
          </p:cNvSpPr>
          <p:nvPr/>
        </p:nvSpPr>
        <p:spPr>
          <a:xfrm xmlns:a="http://schemas.openxmlformats.org/drawingml/2006/main">
            <a:off x="7058025" y="2952750"/>
            <a:ext cx="171450" cy="171450"/>
          </a:xfrm>
          <a:prstGeom xmlns:a="http://schemas.openxmlformats.org/drawingml/2006/main" prst="rightArrow">
            <a:avLst/>
          </a:prstGeom>
          <a:solidFill xmlns:a="http://schemas.openxmlformats.org/drawingml/2006/main">
            <a:srgbClr val="062B6F"/>
          </a:solidFill>
          <a:ln xmlns:a="http://schemas.openxmlformats.org/drawingml/2006/main" w="4763">
            <a:solidFill>
              <a:srgbClr val="062B6F"/>
            </a:solidFill>
          </a:ln>
        </p:spPr>
      </p:sp>
      <p:sp>
        <p:nvSpPr>
          <p:cNvPr id="463" name="stage-2-box-4">
            <a:extLst xmlns:a="http://schemas.openxmlformats.org/drawingml/2006/main">
              <a:ext uri="{FF2B5EF4-FFF2-40B4-BE49-F238E27FC236}">
                <a16:creationId xmlns:a16="http://schemas.microsoft.com/office/drawing/2014/main" id="{8434A86E-28DF-47B0-A314-CAB73E640FF4}"/>
              </a:ext>
            </a:extLst>
          </p:cNvPr>
          <p:cNvSpPr>
            <a:spLocks xmlns:a="http://schemas.openxmlformats.org/drawingml/2006/main" noGrp="1"/>
          </p:cNvSpPr>
          <p:nvPr/>
        </p:nvSpPr>
        <p:spPr>
          <a:xfrm xmlns:a="http://schemas.openxmlformats.org/drawingml/2006/main">
            <a:off x="7229475" y="2381250"/>
            <a:ext cx="2000250" cy="1314450"/>
          </a:xfrm>
          <a:prstGeom xmlns:a="http://schemas.openxmlformats.org/drawingml/2006/main" prst="roundRect">
            <a:avLst>
              <a:gd name="adj" fmla="val 5797"/>
            </a:avLst>
          </a:prstGeom>
          <a:solidFill xmlns:a="http://schemas.openxmlformats.org/drawingml/2006/main">
            <a:srgbClr val="EEF8F0"/>
          </a:solidFill>
          <a:ln xmlns:a="http://schemas.openxmlformats.org/drawingml/2006/main" w="13335">
            <a:solidFill>
              <a:srgbClr val="3B8F5A"/>
            </a:solidFill>
            <a:prstDash val="solid"/>
          </a:ln>
        </p:spPr>
      </p:sp>
      <p:sp>
        <p:nvSpPr>
          <p:cNvPr id="464" name="stage-2-title-4">
            <a:extLst xmlns:a="http://schemas.openxmlformats.org/drawingml/2006/main">
              <a:ext uri="{FF2B5EF4-FFF2-40B4-BE49-F238E27FC236}">
                <a16:creationId xmlns:a16="http://schemas.microsoft.com/office/drawing/2014/main" id="{A20480CA-7EDE-4665-AE99-0620FCF67925}"/>
              </a:ext>
            </a:extLst>
          </p:cNvPr>
          <p:cNvSpPr>
            <a:spLocks xmlns:a="http://schemas.openxmlformats.org/drawingml/2006/main" noGrp="1"/>
          </p:cNvSpPr>
          <p:nvPr/>
        </p:nvSpPr>
        <p:spPr>
          <a:xfrm xmlns:a="http://schemas.openxmlformats.org/drawingml/2006/main">
            <a:off x="7324725" y="24955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174C2E"/>
                </a:solidFill>
                <a:latin typeface="Arial"/>
                <a:ea typeface="Arial"/>
                <a:cs typeface="Arial"/>
              </a:defRPr>
            </a:pPr>
            <a:r>
              <a:rPr sz="1275" b="1">
                <a:solidFill>
                  <a:srgbClr val="174C2E"/>
                </a:solidFill>
                <a:latin typeface="Arial"/>
                <a:ea typeface="Arial"/>
                <a:cs typeface="Arial"/>
              </a:rPr>
              <a:t>Integrity control</a:t>
            </a:r>
          </a:p>
        </p:txBody>
      </p:sp>
      <p:sp>
        <p:nvSpPr>
          <p:cNvPr id="465" name="stage-2-body-4">
            <a:extLst xmlns:a="http://schemas.openxmlformats.org/drawingml/2006/main">
              <a:ext uri="{FF2B5EF4-FFF2-40B4-BE49-F238E27FC236}">
                <a16:creationId xmlns:a16="http://schemas.microsoft.com/office/drawing/2014/main" id="{8AC47D19-6A97-4164-89CD-0906DD5C4C78}"/>
              </a:ext>
            </a:extLst>
          </p:cNvPr>
          <p:cNvSpPr>
            <a:spLocks xmlns:a="http://schemas.openxmlformats.org/drawingml/2006/main" noGrp="1"/>
          </p:cNvSpPr>
          <p:nvPr/>
        </p:nvSpPr>
        <p:spPr>
          <a:xfrm xmlns:a="http://schemas.openxmlformats.org/drawingml/2006/main">
            <a:off x="7353300" y="2914650"/>
            <a:ext cx="1752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Validation and reputation</a:t>
            </a:r>
          </a:p>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Rollback and quarantine</a:t>
            </a:r>
          </a:p>
        </p:txBody>
      </p:sp>
      <p:sp>
        <p:nvSpPr>
          <p:cNvPr id="466" name="stage-2-arrow-4">
            <a:extLst xmlns:a="http://schemas.openxmlformats.org/drawingml/2006/main">
              <a:ext uri="{FF2B5EF4-FFF2-40B4-BE49-F238E27FC236}">
                <a16:creationId xmlns:a16="http://schemas.microsoft.com/office/drawing/2014/main" id="{75C6B995-5282-4DF1-BC4E-9B6C3E4FB3DB}"/>
              </a:ext>
            </a:extLst>
          </p:cNvPr>
          <p:cNvSpPr>
            <a:spLocks xmlns:a="http://schemas.openxmlformats.org/drawingml/2006/main" noGrp="1"/>
          </p:cNvSpPr>
          <p:nvPr/>
        </p:nvSpPr>
        <p:spPr>
          <a:xfrm xmlns:a="http://schemas.openxmlformats.org/drawingml/2006/main">
            <a:off x="9229725" y="2952750"/>
            <a:ext cx="171450" cy="171450"/>
          </a:xfrm>
          <a:prstGeom xmlns:a="http://schemas.openxmlformats.org/drawingml/2006/main" prst="rightArrow">
            <a:avLst/>
          </a:prstGeom>
          <a:solidFill xmlns:a="http://schemas.openxmlformats.org/drawingml/2006/main">
            <a:srgbClr val="062B6F"/>
          </a:solidFill>
          <a:ln xmlns:a="http://schemas.openxmlformats.org/drawingml/2006/main" w="4763">
            <a:solidFill>
              <a:srgbClr val="062B6F"/>
            </a:solidFill>
          </a:ln>
        </p:spPr>
      </p:sp>
      <p:sp>
        <p:nvSpPr>
          <p:cNvPr id="467" name="stage-2-box-5">
            <a:extLst xmlns:a="http://schemas.openxmlformats.org/drawingml/2006/main">
              <a:ext uri="{FF2B5EF4-FFF2-40B4-BE49-F238E27FC236}">
                <a16:creationId xmlns:a16="http://schemas.microsoft.com/office/drawing/2014/main" id="{6241E1E8-F7B5-4712-9F7F-0C47ADDDC355}"/>
              </a:ext>
            </a:extLst>
          </p:cNvPr>
          <p:cNvSpPr>
            <a:spLocks xmlns:a="http://schemas.openxmlformats.org/drawingml/2006/main" noGrp="1"/>
          </p:cNvSpPr>
          <p:nvPr/>
        </p:nvSpPr>
        <p:spPr>
          <a:xfrm xmlns:a="http://schemas.openxmlformats.org/drawingml/2006/main">
            <a:off x="9401175" y="2381250"/>
            <a:ext cx="2000250" cy="1314450"/>
          </a:xfrm>
          <a:prstGeom xmlns:a="http://schemas.openxmlformats.org/drawingml/2006/main" prst="roundRect">
            <a:avLst>
              <a:gd name="adj" fmla="val 5797"/>
            </a:avLst>
          </a:prstGeom>
          <a:solidFill xmlns:a="http://schemas.openxmlformats.org/drawingml/2006/main">
            <a:srgbClr val="EEF8F0"/>
          </a:solidFill>
          <a:ln xmlns:a="http://schemas.openxmlformats.org/drawingml/2006/main" w="13335">
            <a:solidFill>
              <a:srgbClr val="3B8F5A"/>
            </a:solidFill>
            <a:prstDash val="solid"/>
          </a:ln>
        </p:spPr>
      </p:sp>
      <p:sp>
        <p:nvSpPr>
          <p:cNvPr id="468" name="stage-2-title-5">
            <a:extLst xmlns:a="http://schemas.openxmlformats.org/drawingml/2006/main">
              <a:ext uri="{FF2B5EF4-FFF2-40B4-BE49-F238E27FC236}">
                <a16:creationId xmlns:a16="http://schemas.microsoft.com/office/drawing/2014/main" id="{3879F116-0900-4132-99B4-D920A7CE18DD}"/>
              </a:ext>
            </a:extLst>
          </p:cNvPr>
          <p:cNvSpPr>
            <a:spLocks xmlns:a="http://schemas.openxmlformats.org/drawingml/2006/main" noGrp="1"/>
          </p:cNvSpPr>
          <p:nvPr/>
        </p:nvSpPr>
        <p:spPr>
          <a:xfrm xmlns:a="http://schemas.openxmlformats.org/drawingml/2006/main">
            <a:off x="9496425" y="24955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174C2E"/>
                </a:solidFill>
                <a:latin typeface="Arial"/>
                <a:ea typeface="Arial"/>
                <a:cs typeface="Arial"/>
              </a:defRPr>
            </a:pPr>
            <a:r>
              <a:rPr sz="1275" b="1">
                <a:solidFill>
                  <a:srgbClr val="174C2E"/>
                </a:solidFill>
                <a:latin typeface="Arial"/>
                <a:ea typeface="Arial"/>
                <a:cs typeface="Arial"/>
              </a:rPr>
              <a:t>Governance</a:t>
            </a:r>
          </a:p>
        </p:txBody>
      </p:sp>
      <p:sp>
        <p:nvSpPr>
          <p:cNvPr id="469" name="stage-2-body-5">
            <a:extLst xmlns:a="http://schemas.openxmlformats.org/drawingml/2006/main">
              <a:ext uri="{FF2B5EF4-FFF2-40B4-BE49-F238E27FC236}">
                <a16:creationId xmlns:a16="http://schemas.microsoft.com/office/drawing/2014/main" id="{FA7DB5A6-D274-45AA-A342-A5860E77E627}"/>
              </a:ext>
            </a:extLst>
          </p:cNvPr>
          <p:cNvSpPr>
            <a:spLocks xmlns:a="http://schemas.openxmlformats.org/drawingml/2006/main" noGrp="1"/>
          </p:cNvSpPr>
          <p:nvPr/>
        </p:nvSpPr>
        <p:spPr>
          <a:xfrm xmlns:a="http://schemas.openxmlformats.org/drawingml/2006/main">
            <a:off x="9525000" y="2914650"/>
            <a:ext cx="1752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Aggregate verification</a:t>
            </a:r>
          </a:p>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Audit quorum and release policy</a:t>
            </a:r>
          </a:p>
        </p:txBody>
      </p:sp>
      <p:sp>
        <p:nvSpPr>
          <p:cNvPr id="470" name="stage-2-to-3">
            <a:extLst xmlns:a="http://schemas.openxmlformats.org/drawingml/2006/main">
              <a:ext uri="{FF2B5EF4-FFF2-40B4-BE49-F238E27FC236}">
                <a16:creationId xmlns:a16="http://schemas.microsoft.com/office/drawing/2014/main" id="{637A5CB7-3D54-423D-B673-FED4B9085C96}"/>
              </a:ext>
            </a:extLst>
          </p:cNvPr>
          <p:cNvSpPr>
            <a:spLocks xmlns:a="http://schemas.openxmlformats.org/drawingml/2006/main" noGrp="1"/>
          </p:cNvSpPr>
          <p:nvPr/>
        </p:nvSpPr>
        <p:spPr>
          <a:xfrm xmlns:a="http://schemas.openxmlformats.org/drawingml/2006/main">
            <a:off x="6010275" y="3752850"/>
            <a:ext cx="171450" cy="219075"/>
          </a:xfrm>
          <a:prstGeom xmlns:a="http://schemas.openxmlformats.org/drawingml/2006/main" prst="downArrow">
            <a:avLst/>
          </a:prstGeom>
          <a:solidFill xmlns:a="http://schemas.openxmlformats.org/drawingml/2006/main">
            <a:srgbClr val="062B6F"/>
          </a:solidFill>
          <a:ln xmlns:a="http://schemas.openxmlformats.org/drawingml/2006/main" w="4763">
            <a:solidFill>
              <a:srgbClr val="062B6F"/>
            </a:solidFill>
          </a:ln>
        </p:spPr>
      </p:sp>
      <p:sp>
        <p:nvSpPr>
          <p:cNvPr id="471" name="stage-3-outcomes">
            <a:extLst xmlns:a="http://schemas.openxmlformats.org/drawingml/2006/main">
              <a:ext uri="{FF2B5EF4-FFF2-40B4-BE49-F238E27FC236}">
                <a16:creationId xmlns:a16="http://schemas.microsoft.com/office/drawing/2014/main" id="{1C7CEA11-5C93-4A1A-994C-1CDDB6282532}"/>
              </a:ext>
            </a:extLst>
          </p:cNvPr>
          <p:cNvSpPr>
            <a:spLocks xmlns:a="http://schemas.openxmlformats.org/drawingml/2006/main" noGrp="1"/>
          </p:cNvSpPr>
          <p:nvPr/>
        </p:nvSpPr>
        <p:spPr>
          <a:xfrm xmlns:a="http://schemas.openxmlformats.org/drawingml/2006/main">
            <a:off x="1190625" y="4000500"/>
            <a:ext cx="9810750" cy="895350"/>
          </a:xfrm>
          <a:prstGeom xmlns:a="http://schemas.openxmlformats.org/drawingml/2006/main" prst="roundRect">
            <a:avLst>
              <a:gd name="adj" fmla="val 8511"/>
            </a:avLst>
          </a:prstGeom>
          <a:solidFill xmlns:a="http://schemas.openxmlformats.org/drawingml/2006/main">
            <a:srgbClr val="FFF3E6"/>
          </a:solidFill>
          <a:ln xmlns:a="http://schemas.openxmlformats.org/drawingml/2006/main" w="13335">
            <a:solidFill>
              <a:srgbClr val="C98234"/>
            </a:solidFill>
            <a:prstDash val="solid"/>
          </a:ln>
        </p:spPr>
      </p:sp>
      <p:sp>
        <p:nvSpPr>
          <p:cNvPr id="472" name="stage-3-title">
            <a:extLst xmlns:a="http://schemas.openxmlformats.org/drawingml/2006/main">
              <a:ext uri="{FF2B5EF4-FFF2-40B4-BE49-F238E27FC236}">
                <a16:creationId xmlns:a16="http://schemas.microsoft.com/office/drawing/2014/main" id="{7630318B-E5DE-4D7A-B9C6-8A74D0989975}"/>
              </a:ext>
            </a:extLst>
          </p:cNvPr>
          <p:cNvSpPr>
            <a:spLocks xmlns:a="http://schemas.openxmlformats.org/drawingml/2006/main" noGrp="1"/>
          </p:cNvSpPr>
          <p:nvPr/>
        </p:nvSpPr>
        <p:spPr>
          <a:xfrm xmlns:a="http://schemas.openxmlformats.org/drawingml/2006/main">
            <a:off x="4000500" y="4086225"/>
            <a:ext cx="419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6638"/>
          </a:bodyPr>
          <a:lstStyle xmlns:a="http://schemas.openxmlformats.org/drawingml/2006/main"/>
          <a:p xmlns:a="http://schemas.openxmlformats.org/drawingml/2006/main">
            <a:pPr algn="ctr">
              <a:buNone/>
              <a:defRPr sz="1163" b="1">
                <a:solidFill>
                  <a:srgbClr val="7A4616"/>
                </a:solidFill>
                <a:latin typeface="Arial"/>
                <a:ea typeface="Arial"/>
                <a:cs typeface="Arial"/>
              </a:defRPr>
            </a:pPr>
            <a:r>
              <a:rPr sz="1163" b="1">
                <a:solidFill>
                  <a:srgbClr val="7A4616"/>
                </a:solidFill>
                <a:latin typeface="Arial"/>
                <a:ea typeface="Arial"/>
                <a:cs typeface="Arial"/>
              </a:rPr>
              <a:t>STAGE 3  MEASURABLE OUTCOMES</a:t>
            </a:r>
          </a:p>
        </p:txBody>
      </p:sp>
      <p:sp>
        <p:nvSpPr>
          <p:cNvPr id="473" name="stage-3-outcome-1">
            <a:extLst xmlns:a="http://schemas.openxmlformats.org/drawingml/2006/main">
              <a:ext uri="{FF2B5EF4-FFF2-40B4-BE49-F238E27FC236}">
                <a16:creationId xmlns:a16="http://schemas.microsoft.com/office/drawing/2014/main" id="{415C5594-39E1-47DB-93B8-9252E4E855D8}"/>
              </a:ext>
            </a:extLst>
          </p:cNvPr>
          <p:cNvSpPr>
            <a:spLocks xmlns:a="http://schemas.openxmlformats.org/drawingml/2006/main" noGrp="1"/>
          </p:cNvSpPr>
          <p:nvPr/>
        </p:nvSpPr>
        <p:spPr>
          <a:xfrm xmlns:a="http://schemas.openxmlformats.org/drawingml/2006/main">
            <a:off x="1381125" y="4371975"/>
            <a:ext cx="1809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933"/>
          </a:bodyPr>
          <a:lstStyle xmlns:a="http://schemas.openxmlformats.org/drawingml/2006/main"/>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Utility and</a:t>
            </a:r>
          </a:p>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calibration</a:t>
            </a:r>
          </a:p>
        </p:txBody>
      </p:sp>
      <p:sp>
        <p:nvSpPr>
          <p:cNvPr id="474" name="stage-3-outcome-2">
            <a:extLst xmlns:a="http://schemas.openxmlformats.org/drawingml/2006/main">
              <a:ext uri="{FF2B5EF4-FFF2-40B4-BE49-F238E27FC236}">
                <a16:creationId xmlns:a16="http://schemas.microsoft.com/office/drawing/2014/main" id="{2F0D41AC-EDDC-4F34-9654-AACC3EA44AF6}"/>
              </a:ext>
            </a:extLst>
          </p:cNvPr>
          <p:cNvSpPr>
            <a:spLocks xmlns:a="http://schemas.openxmlformats.org/drawingml/2006/main" noGrp="1"/>
          </p:cNvSpPr>
          <p:nvPr/>
        </p:nvSpPr>
        <p:spPr>
          <a:xfrm xmlns:a="http://schemas.openxmlformats.org/drawingml/2006/main">
            <a:off x="3267075" y="4371975"/>
            <a:ext cx="1809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933"/>
          </a:bodyPr>
          <a:lstStyle xmlns:a="http://schemas.openxmlformats.org/drawingml/2006/main"/>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Formal and empirical</a:t>
            </a:r>
          </a:p>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privacy</a:t>
            </a:r>
          </a:p>
        </p:txBody>
      </p:sp>
      <p:sp>
        <p:nvSpPr>
          <p:cNvPr id="475" name="stage-3-outcome-3">
            <a:extLst xmlns:a="http://schemas.openxmlformats.org/drawingml/2006/main">
              <a:ext uri="{FF2B5EF4-FFF2-40B4-BE49-F238E27FC236}">
                <a16:creationId xmlns:a16="http://schemas.microsoft.com/office/drawing/2014/main" id="{7406F46F-9651-41C6-A96C-2E61DE1677C5}"/>
              </a:ext>
            </a:extLst>
          </p:cNvPr>
          <p:cNvSpPr>
            <a:spLocks xmlns:a="http://schemas.openxmlformats.org/drawingml/2006/main" noGrp="1"/>
          </p:cNvSpPr>
          <p:nvPr/>
        </p:nvSpPr>
        <p:spPr>
          <a:xfrm xmlns:a="http://schemas.openxmlformats.org/drawingml/2006/main">
            <a:off x="5153025" y="4371975"/>
            <a:ext cx="1809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933"/>
          </a:bodyPr>
          <a:lstStyle xmlns:a="http://schemas.openxmlformats.org/drawingml/2006/main"/>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Encrypted upload</a:t>
            </a:r>
          </a:p>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and latency</a:t>
            </a:r>
          </a:p>
        </p:txBody>
      </p:sp>
      <p:sp>
        <p:nvSpPr>
          <p:cNvPr id="476" name="stage-3-outcome-4">
            <a:extLst xmlns:a="http://schemas.openxmlformats.org/drawingml/2006/main">
              <a:ext uri="{FF2B5EF4-FFF2-40B4-BE49-F238E27FC236}">
                <a16:creationId xmlns:a16="http://schemas.microsoft.com/office/drawing/2014/main" id="{96CA2D40-D781-4F92-98C2-9C2134A98F9C}"/>
              </a:ext>
            </a:extLst>
          </p:cNvPr>
          <p:cNvSpPr>
            <a:spLocks xmlns:a="http://schemas.openxmlformats.org/drawingml/2006/main" noGrp="1"/>
          </p:cNvSpPr>
          <p:nvPr/>
        </p:nvSpPr>
        <p:spPr>
          <a:xfrm xmlns:a="http://schemas.openxmlformats.org/drawingml/2006/main">
            <a:off x="7038975" y="4371975"/>
            <a:ext cx="1809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933"/>
          </a:bodyPr>
          <a:lstStyle xmlns:a="http://schemas.openxmlformats.org/drawingml/2006/main"/>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Poisoning</a:t>
            </a:r>
          </a:p>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response</a:t>
            </a:r>
          </a:p>
        </p:txBody>
      </p:sp>
      <p:sp>
        <p:nvSpPr>
          <p:cNvPr id="477" name="stage-3-outcome-5">
            <a:extLst xmlns:a="http://schemas.openxmlformats.org/drawingml/2006/main">
              <a:ext uri="{FF2B5EF4-FFF2-40B4-BE49-F238E27FC236}">
                <a16:creationId xmlns:a16="http://schemas.microsoft.com/office/drawing/2014/main" id="{0C7DFF58-3436-43AB-9744-F500E067F267}"/>
              </a:ext>
            </a:extLst>
          </p:cNvPr>
          <p:cNvSpPr>
            <a:spLocks xmlns:a="http://schemas.openxmlformats.org/drawingml/2006/main" noGrp="1"/>
          </p:cNvSpPr>
          <p:nvPr/>
        </p:nvSpPr>
        <p:spPr>
          <a:xfrm xmlns:a="http://schemas.openxmlformats.org/drawingml/2006/main">
            <a:off x="8924925" y="4371975"/>
            <a:ext cx="1809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933"/>
          </a:bodyPr>
          <a:lstStyle xmlns:a="http://schemas.openxmlformats.org/drawingml/2006/main"/>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Correctness and</a:t>
            </a:r>
          </a:p>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availability</a:t>
            </a:r>
          </a:p>
        </p:txBody>
      </p:sp>
      <p:sp>
        <p:nvSpPr>
          <p:cNvPr id="478" name="stage-3-to-4">
            <a:extLst xmlns:a="http://schemas.openxmlformats.org/drawingml/2006/main">
              <a:ext uri="{FF2B5EF4-FFF2-40B4-BE49-F238E27FC236}">
                <a16:creationId xmlns:a16="http://schemas.microsoft.com/office/drawing/2014/main" id="{D63CE8A8-585E-4B62-B14B-B68F9796A4D9}"/>
              </a:ext>
            </a:extLst>
          </p:cNvPr>
          <p:cNvSpPr>
            <a:spLocks xmlns:a="http://schemas.openxmlformats.org/drawingml/2006/main" noGrp="1"/>
          </p:cNvSpPr>
          <p:nvPr/>
        </p:nvSpPr>
        <p:spPr>
          <a:xfrm xmlns:a="http://schemas.openxmlformats.org/drawingml/2006/main">
            <a:off x="6010275" y="4933950"/>
            <a:ext cx="171450" cy="209550"/>
          </a:xfrm>
          <a:prstGeom xmlns:a="http://schemas.openxmlformats.org/drawingml/2006/main" prst="downArrow">
            <a:avLst/>
          </a:prstGeom>
          <a:solidFill xmlns:a="http://schemas.openxmlformats.org/drawingml/2006/main">
            <a:srgbClr val="062B6F"/>
          </a:solidFill>
          <a:ln xmlns:a="http://schemas.openxmlformats.org/drawingml/2006/main" w="4763">
            <a:solidFill>
              <a:srgbClr val="062B6F"/>
            </a:solidFill>
          </a:ln>
        </p:spPr>
      </p:sp>
      <p:sp>
        <p:nvSpPr>
          <p:cNvPr id="479" name="stage-4-bounded-evidence">
            <a:extLst xmlns:a="http://schemas.openxmlformats.org/drawingml/2006/main">
              <a:ext uri="{FF2B5EF4-FFF2-40B4-BE49-F238E27FC236}">
                <a16:creationId xmlns:a16="http://schemas.microsoft.com/office/drawing/2014/main" id="{1761903C-E86E-4FC7-A262-57B044043DF0}"/>
              </a:ext>
            </a:extLst>
          </p:cNvPr>
          <p:cNvSpPr>
            <a:spLocks xmlns:a="http://schemas.openxmlformats.org/drawingml/2006/main" noGrp="1"/>
          </p:cNvSpPr>
          <p:nvPr/>
        </p:nvSpPr>
        <p:spPr>
          <a:xfrm xmlns:a="http://schemas.openxmlformats.org/drawingml/2006/main">
            <a:off x="2571750" y="5181600"/>
            <a:ext cx="7048500" cy="733425"/>
          </a:xfrm>
          <a:prstGeom xmlns:a="http://schemas.openxmlformats.org/drawingml/2006/main" prst="roundRect">
            <a:avLst>
              <a:gd name="adj" fmla="val 10390"/>
            </a:avLst>
          </a:prstGeom>
          <a:solidFill xmlns:a="http://schemas.openxmlformats.org/drawingml/2006/main">
            <a:srgbClr val="FFF2F2"/>
          </a:solidFill>
          <a:ln xmlns:a="http://schemas.openxmlformats.org/drawingml/2006/main" w="13335">
            <a:solidFill>
              <a:srgbClr val="B96A6A"/>
            </a:solidFill>
            <a:prstDash val="dash"/>
          </a:ln>
        </p:spPr>
      </p:sp>
      <p:sp>
        <p:nvSpPr>
          <p:cNvPr id="480" name="stage-4-title">
            <a:extLst xmlns:a="http://schemas.openxmlformats.org/drawingml/2006/main">
              <a:ext uri="{FF2B5EF4-FFF2-40B4-BE49-F238E27FC236}">
                <a16:creationId xmlns:a16="http://schemas.microsoft.com/office/drawing/2014/main" id="{08B3CC64-0302-41CE-98AA-EA75CAD93518}"/>
              </a:ext>
            </a:extLst>
          </p:cNvPr>
          <p:cNvSpPr>
            <a:spLocks xmlns:a="http://schemas.openxmlformats.org/drawingml/2006/main" noGrp="1"/>
          </p:cNvSpPr>
          <p:nvPr/>
        </p:nvSpPr>
        <p:spPr>
          <a:xfrm xmlns:a="http://schemas.openxmlformats.org/drawingml/2006/main">
            <a:off x="3905250" y="5238750"/>
            <a:ext cx="4381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012"/>
          </a:bodyPr>
          <a:lstStyle xmlns:a="http://schemas.openxmlformats.org/drawingml/2006/main"/>
          <a:p xmlns:a="http://schemas.openxmlformats.org/drawingml/2006/main">
            <a:pPr algn="ctr">
              <a:buNone/>
              <a:defRPr sz="1163" b="1">
                <a:solidFill>
                  <a:srgbClr val="813B3B"/>
                </a:solidFill>
                <a:latin typeface="Arial"/>
                <a:ea typeface="Arial"/>
                <a:cs typeface="Arial"/>
              </a:defRPr>
            </a:pPr>
            <a:r>
              <a:rPr sz="1163" b="1">
                <a:solidFill>
                  <a:srgbClr val="813B3B"/>
                </a:solidFill>
                <a:latin typeface="Arial"/>
                <a:ea typeface="Arial"/>
                <a:cs typeface="Arial"/>
              </a:rPr>
              <a:t>STAGE 4  BOUNDED RESEARCH EVIDENCE</a:t>
            </a:r>
          </a:p>
        </p:txBody>
      </p:sp>
      <p:sp>
        <p:nvSpPr>
          <p:cNvPr id="481" name="stage-4-body">
            <a:extLst xmlns:a="http://schemas.openxmlformats.org/drawingml/2006/main">
              <a:ext uri="{FF2B5EF4-FFF2-40B4-BE49-F238E27FC236}">
                <a16:creationId xmlns:a16="http://schemas.microsoft.com/office/drawing/2014/main" id="{29567269-EF8E-4DA2-8C04-94AF635B126B}"/>
              </a:ext>
            </a:extLst>
          </p:cNvPr>
          <p:cNvSpPr>
            <a:spLocks xmlns:a="http://schemas.openxmlformats.org/drawingml/2006/main" noGrp="1"/>
          </p:cNvSpPr>
          <p:nvPr/>
        </p:nvSpPr>
        <p:spPr>
          <a:xfrm xmlns:a="http://schemas.openxmlformats.org/drawingml/2006/main">
            <a:off x="2952750" y="5486400"/>
            <a:ext cx="628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7465"/>
          </a:bodyPr>
          <a:lstStyle xmlns:a="http://schemas.openxmlformats.org/drawingml/2006/main"/>
          <a:p xmlns:a="http://schemas.openxmlformats.org/drawingml/2006/main">
            <a:pPr algn="ctr">
              <a:buNone/>
              <a:defRPr sz="1065">
                <a:solidFill>
                  <a:srgbClr val="58667A"/>
                </a:solidFill>
                <a:latin typeface="Arial"/>
                <a:ea typeface="Arial"/>
                <a:cs typeface="Arial"/>
              </a:defRPr>
            </a:pPr>
            <a:r>
              <a:rPr sz="1065">
                <a:solidFill>
                  <a:srgbClr val="58667A"/>
                </a:solidFill>
                <a:latin typeface="Arial"/>
                <a:ea typeface="Arial"/>
                <a:cs typeface="Arial"/>
              </a:rPr>
              <a:t>Evidence is limited to the evaluated data, attacks, seeds and deployment environment.</a:t>
            </a:r>
          </a:p>
          <a:p xmlns:a="http://schemas.openxmlformats.org/drawingml/2006/main">
            <a:pPr algn="ctr">
              <a:buNone/>
              <a:defRPr sz="1065">
                <a:solidFill>
                  <a:srgbClr val="58667A"/>
                </a:solidFill>
                <a:latin typeface="Arial"/>
                <a:ea typeface="Arial"/>
                <a:cs typeface="Arial"/>
              </a:defRPr>
            </a:pPr>
            <a:r>
              <a:rPr sz="1065">
                <a:solidFill>
                  <a:srgbClr val="58667A"/>
                </a:solidFill>
                <a:latin typeface="Arial"/>
                <a:ea typeface="Arial"/>
                <a:cs typeface="Arial"/>
              </a:rPr>
              <a:t>No universal, clinical, regulatory or production-security claim.</a:t>
            </a:r>
          </a:p>
        </p:txBody>
      </p:sp>
    </p:spTree>
    <p:extLst>
      <p:ext uri="{BB962C8B-B14F-4D97-AF65-F5344CB8AC3E}">
        <p14:creationId xmlns:p14="http://schemas.microsoft.com/office/powerpoint/2010/main" val="1026661964"/>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pic>
        <p:nvPicPr>
          <p:cNvPr id="648" name="Google Shape;360;p39"/>
          <p:cNvPicPr>
            <a:picLocks xmlns:a="http://schemas.openxmlformats.org/drawingml/2006/main" noChangeAspect="1"/>
          </p:cNvPicPr>
          <p:nvPr/>
        </p:nvPicPr>
        <p:blipFill rotWithShape="1">
          <a:blip xmlns:r="http://schemas.openxmlformats.org/officeDocument/2006/relationships" xmlns:a="http://schemas.openxmlformats.org/drawingml/2006/main" r:embed="R4385fcd80e534ad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649" name="Google Shape;361;p39"/>
          <p:cNvPicPr>
            <a:picLocks xmlns:a="http://schemas.openxmlformats.org/drawingml/2006/main" noChangeAspect="1"/>
          </p:cNvPicPr>
          <p:nvPr/>
        </p:nvPicPr>
        <p:blipFill rotWithShape="1">
          <a:blip xmlns:r="http://schemas.openxmlformats.org/officeDocument/2006/relationships" xmlns:a="http://schemas.openxmlformats.org/drawingml/2006/main" r:embed="R3e6b6af99d124713">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362" name="Google Shape;362;p39">
            <a:extLst xmlns:a="http://schemas.openxmlformats.org/drawingml/2006/main">
              <a:ext uri="{FF2B5EF4-FFF2-40B4-BE49-F238E27FC236}">
                <a16:creationId xmlns:a16="http://schemas.microsoft.com/office/drawing/2014/main" id="{EEFF338C-48B1-8132-B969-54ACC4C332A7}"/>
              </a:ext>
            </a:extLst>
          </p:cNvPr>
          <p:cNvSpPr>
            <a:spLocks xmlns:a="http://schemas.openxmlformats.org/drawingml/2006/main" noGrp="1"/>
          </p:cNvSpPr>
          <p:nvPr>
            <p:ph type="title" idx="0"/>
          </p:nvPr>
        </p:nvSpPr>
        <p:spPr>
          <a:xfrm xmlns:a="http://schemas.openxmlformats.org/drawingml/2006/main">
            <a:off x="1664208" y="4207482"/>
            <a:ext cx="8613648"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algn="ctr">
              <a:buNone/>
            </a:pPr>
            <a:r>
              <a:rPr sz="4000"/>
              <a:t>Methodology</a:t>
            </a:r>
          </a:p>
        </p:txBody>
      </p:sp>
      <p:pic>
        <p:nvPicPr>
          <p:cNvPr id="651" name="Google Shape;363;p39"/>
          <p:cNvPicPr>
            <a:picLocks xmlns:a="http://schemas.openxmlformats.org/drawingml/2006/main" noChangeAspect="1"/>
          </p:cNvPicPr>
          <p:nvPr/>
        </p:nvPicPr>
        <p:blipFill rotWithShape="1">
          <a:blip xmlns:r="http://schemas.openxmlformats.org/officeDocument/2006/relationships" xmlns:a="http://schemas.openxmlformats.org/drawingml/2006/main" r:embed="R3239b0e64a964403">
            <a:alphaModFix/>
          </a:blip>
          <a:srcRect xmlns:a="http://schemas.openxmlformats.org/drawingml/2006/main" l="0" t="0" r="0" b="0"/>
          <a:stretch xmlns:a="http://schemas.openxmlformats.org/drawingml/2006/main"/>
        </p:blipFill>
        <p:spPr>
          <a:xfrm xmlns:a="http://schemas.openxmlformats.org/drawingml/2006/main">
            <a:off x="4785233" y="1949845"/>
            <a:ext cx="2056847" cy="2056847"/>
          </a:xfrm>
          <a:prstGeom xmlns:a="http://schemas.openxmlformats.org/drawingml/2006/main" prst="roundRect">
            <a:avLst>
              <a:gd name="adj" fmla="val 16667"/>
            </a:avLst>
          </a:prstGeom>
          <a:ln xmlns:a="http://schemas.openxmlformats.org/drawingml/2006/main">
            <a:noFill/>
          </a:ln>
          <a:effectLst xmlns:a="http://schemas.openxmlformats.org/drawingml/2006/main">
            <a:outerShdw blurRad="76200" dist="38100" dir="7800000" algn="tl" rotWithShape="0">
              <a:srgbClr val="000000">
                <a:alpha val="40000"/>
              </a:srgbClr>
            </a:outerShdw>
          </a:effectLst>
        </p:spPr>
      </p:pic>
      <p:sp>
        <p:nvSpPr>
          <p:cNvPr id="2" name="Google Shape;216;p28">
            <a:extLst xmlns:a="http://schemas.openxmlformats.org/drawingml/2006/main">
              <a:ext uri="{FF2B5EF4-FFF2-40B4-BE49-F238E27FC236}">
                <a16:creationId xmlns:a16="http://schemas.microsoft.com/office/drawing/2014/main" id="{4AC777A5-57EB-AFC4-A5F3-AC25B803C8B5}"/>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486602C0-C428-5611-E318-DE85074D6D16}"/>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17</a:t>
            </a:r>
            <a:endParaRPr sz="2800"/>
          </a:p>
        </p:txBody>
      </p:sp>
      <p:cxnSp>
        <p:nvCxnSpPr>
          <p:cNvPr id="654"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84" name="visible-footer-date-13">
            <a:extLst xmlns:a="http://schemas.openxmlformats.org/drawingml/2006/main">
              <a:ext uri="{FF2B5EF4-FFF2-40B4-BE49-F238E27FC236}">
                <a16:creationId xmlns:a16="http://schemas.microsoft.com/office/drawing/2014/main" id="{F0EB0EB9-746C-4502-95C1-397FF73DAD8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656" name="Picture 3"/>
          <p:cNvPicPr>
            <a:picLocks xmlns:a="http://schemas.openxmlformats.org/drawingml/2006/main" noChangeAspect="1"/>
          </p:cNvPicPr>
          <p:nvPr/>
        </p:nvPicPr>
        <p:blipFill>
          <a:blip xmlns:r="http://schemas.openxmlformats.org/officeDocument/2006/relationships" xmlns:a="http://schemas.openxmlformats.org/drawingml/2006/main" r:embed="R1fd4f3f83ab34e99"/>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3289875798"/>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D53C2C4-0238-2DF2-4E36-7218D813FEA6}"/>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defRPr sz="2700" b="1">
                <a:solidFill>
                  <a:srgbClr val="062B6F"/>
                </a:solidFill>
                <a:latin typeface="Arial"/>
                <a:ea typeface="Arial"/>
                <a:cs typeface="Arial"/>
              </a:defRPr>
            </a:pPr>
            <a:r>
              <a:rPr sz="2700" b="1">
                <a:solidFill>
                  <a:srgbClr val="062B6F"/>
                </a:solidFill>
                <a:latin typeface="Arial"/>
                <a:ea typeface="Arial"/>
                <a:cs typeface="Arial"/>
              </a:rPr>
              <a:t>System Approach: Local Privacy Pipeline</a:t>
            </a:r>
            <a:endParaRPr/>
          </a:p>
        </p:txBody>
      </p:sp>
      <p:sp>
        <p:nvSpPr>
          <p:cNvPr id="212" name="Google Shape;212;p28">
            <a:extLst xmlns:a="http://schemas.openxmlformats.org/drawingml/2006/main">
              <a:ext uri="{FF2B5EF4-FFF2-40B4-BE49-F238E27FC236}">
                <a16:creationId xmlns:a16="http://schemas.microsoft.com/office/drawing/2014/main" id="{7D7835C0-40C3-DEA8-DB7B-B74329928B9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18</a:t>
            </a:r>
            <a:endParaRPr sz="2800"/>
          </a:p>
        </p:txBody>
      </p:sp>
      <p:pic>
        <p:nvPicPr>
          <p:cNvPr id="96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5838639c6f54f7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9BA7BDD1-B401-9532-3A90-883A29A4D80C}"/>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pic>
        <p:nvPicPr>
          <p:cNvPr id="969" name="Picture 458"/>
          <p:cNvPicPr>
            <a:picLocks xmlns:a="http://schemas.openxmlformats.org/drawingml/2006/main" noChangeAspect="1"/>
          </p:cNvPicPr>
          <p:nvPr/>
        </p:nvPicPr>
        <p:blipFill>
          <a:blip xmlns:r="http://schemas.openxmlformats.org/officeDocument/2006/relationships" xmlns:a="http://schemas.openxmlformats.org/drawingml/2006/main" r:embed="R4c04003db99c478c"/>
          <a:stretch xmlns:a="http://schemas.openxmlformats.org/drawingml/2006/main"/>
        </p:blipFill>
        <p:spPr>
          <a:xfrm xmlns:a="http://schemas.openxmlformats.org/drawingml/2006/main">
            <a:off x="3111500" y="1143000"/>
            <a:ext cx="5969000" cy="4476750"/>
          </a:xfrm>
          <a:prstGeom xmlns:a="http://schemas.openxmlformats.org/drawingml/2006/main" prst="rect">
            <a:avLst/>
          </a:prstGeom>
        </p:spPr>
      </p:pic>
      <p:sp>
        <p:nvSpPr>
          <p:cNvPr id="221" name="architecture-caption">
            <a:extLst xmlns:a="http://schemas.openxmlformats.org/drawingml/2006/main">
              <a:ext uri="{FF2B5EF4-FFF2-40B4-BE49-F238E27FC236}">
                <a16:creationId xmlns:a16="http://schemas.microsoft.com/office/drawing/2014/main" id="{5F354A9E-A34D-443F-9641-0389D0C1B311}"/>
              </a:ext>
            </a:extLst>
          </p:cNvPr>
          <p:cNvSpPr>
            <a:spLocks xmlns:a="http://schemas.openxmlformats.org/drawingml/2006/main" noGrp="1"/>
          </p:cNvSpPr>
          <p:nvPr/>
        </p:nvSpPr>
        <p:spPr>
          <a:xfrm xmlns:a="http://schemas.openxmlformats.org/drawingml/2006/main">
            <a:off x="1095375" y="56197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425" b="0" i="1">
                <a:solidFill>
                  <a:srgbClr val="1F2937"/>
                </a:solidFill>
                <a:latin typeface="Arial"/>
                <a:ea typeface="Arial"/>
                <a:cs typeface="Arial"/>
              </a:defRPr>
            </a:pPr>
            <a:r>
              <a:rPr sz="1425" b="0" i="1">
                <a:solidFill>
                  <a:srgbClr val="1F2937"/>
                </a:solidFill>
                <a:latin typeface="Arial"/>
                <a:ea typeface="Arial"/>
                <a:cs typeface="Arial"/>
              </a:rPr>
              <a:t>Fig. 1. End-to-end CAABC-FL architecture with privacy, encrypted transport, verification, governance, and audit layers.</a:t>
            </a:r>
          </a:p>
        </p:txBody>
      </p:sp>
      <p:sp>
        <p:nvSpPr>
          <p:cNvPr id="225" name="visible-footer-date-14">
            <a:extLst xmlns:a="http://schemas.openxmlformats.org/drawingml/2006/main">
              <a:ext uri="{FF2B5EF4-FFF2-40B4-BE49-F238E27FC236}">
                <a16:creationId xmlns:a16="http://schemas.microsoft.com/office/drawing/2014/main" id="{814A7836-9876-42DA-930B-6EA53E85DC1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9" name="system-approach-top-cover">
            <a:extLst xmlns:a="http://schemas.openxmlformats.org/drawingml/2006/main">
              <a:ext uri="{FF2B5EF4-FFF2-40B4-BE49-F238E27FC236}">
                <a16:creationId xmlns:a16="http://schemas.microsoft.com/office/drawing/2014/main" id="{9DF7472F-2598-4AB1-8E9A-98E970C1D43C}"/>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973" name="Picture 462"/>
          <p:cNvPicPr>
            <a:picLocks xmlns:a="http://schemas.openxmlformats.org/drawingml/2006/main" noChangeAspect="1"/>
          </p:cNvPicPr>
          <p:nvPr/>
        </p:nvPicPr>
        <p:blipFill>
          <a:blip xmlns:r="http://schemas.openxmlformats.org/officeDocument/2006/relationships" xmlns:a="http://schemas.openxmlformats.org/drawingml/2006/main" r:embed="R163a57b654524a7a"/>
          <a:stretch xmlns:a="http://schemas.openxmlformats.org/drawingml/2006/main"/>
        </p:blipFill>
        <p:spPr>
          <a:xfrm xmlns:a="http://schemas.openxmlformats.org/drawingml/2006/main">
            <a:off x="671232" y="1238250"/>
            <a:ext cx="10849535" cy="3924300"/>
          </a:xfrm>
          <a:prstGeom xmlns:a="http://schemas.openxmlformats.org/drawingml/2006/main" prst="rect">
            <a:avLst/>
          </a:prstGeom>
        </p:spPr>
      </p:pic>
      <p:sp>
        <p:nvSpPr>
          <p:cNvPr id="231" name="system-approach-caption-part-1">
            <a:extLst xmlns:a="http://schemas.openxmlformats.org/drawingml/2006/main">
              <a:ext uri="{FF2B5EF4-FFF2-40B4-BE49-F238E27FC236}">
                <a16:creationId xmlns:a16="http://schemas.microsoft.com/office/drawing/2014/main" id="{2C738972-09F0-47FD-A1B0-410E3A3EA558}"/>
              </a:ext>
            </a:extLst>
          </p:cNvPr>
          <p:cNvSpPr>
            <a:spLocks xmlns:a="http://schemas.openxmlformats.org/drawingml/2006/main" noGrp="1"/>
          </p:cNvSpPr>
          <p:nvPr/>
        </p:nvSpPr>
        <p:spPr>
          <a:xfrm xmlns:a="http://schemas.openxmlformats.org/drawingml/2006/main">
            <a:off x="1095375" y="53149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425" i="1">
                <a:solidFill>
                  <a:srgbClr val="1F2937"/>
                </a:solidFill>
                <a:latin typeface="Arial"/>
                <a:ea typeface="Arial"/>
                <a:cs typeface="Arial"/>
              </a:defRPr>
            </a:pPr>
            <a:r>
              <a:rPr sz="1425" i="1">
                <a:solidFill>
                  <a:srgbClr val="1F2937"/>
                </a:solidFill>
                <a:latin typeface="Arial"/>
                <a:ea typeface="Arial"/>
                <a:cs typeface="Arial"/>
              </a:rPr>
              <a:t>Fig. 1(a). Governance, local data handling, distributed CKKS setup, DP training, CAABC-FL compression, encryption, and signed submission.</a:t>
            </a:r>
          </a:p>
        </p:txBody>
      </p:sp>
      <p:sp>
        <p:nvSpPr>
          <p:cNvPr id="236" name="native-local-pipeline-cover">
            <a:extLst xmlns:a="http://schemas.openxmlformats.org/drawingml/2006/main">
              <a:ext uri="{FF2B5EF4-FFF2-40B4-BE49-F238E27FC236}">
                <a16:creationId xmlns:a16="http://schemas.microsoft.com/office/drawing/2014/main" id="{63076E54-EF4F-4E7E-9F2D-BF83042568CD}"/>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7" name="local-system-header">
            <a:extLst xmlns:a="http://schemas.openxmlformats.org/drawingml/2006/main">
              <a:ext uri="{FF2B5EF4-FFF2-40B4-BE49-F238E27FC236}">
                <a16:creationId xmlns:a16="http://schemas.microsoft.com/office/drawing/2014/main" id="{706016C4-DA04-40BC-858F-5CF33415A322}"/>
              </a:ext>
            </a:extLst>
          </p:cNvPr>
          <p:cNvSpPr>
            <a:spLocks xmlns:a="http://schemas.openxmlformats.org/drawingml/2006/main" noGrp="1"/>
          </p:cNvSpPr>
          <p:nvPr/>
        </p:nvSpPr>
        <p:spPr>
          <a:xfrm xmlns:a="http://schemas.openxmlformats.org/drawingml/2006/main">
            <a:off x="3000375" y="1133475"/>
            <a:ext cx="6191250" cy="361950"/>
          </a:xfrm>
          <a:prstGeom xmlns:a="http://schemas.openxmlformats.org/drawingml/2006/main" prst="roundRect">
            <a:avLst>
              <a:gd name="adj" fmla="val 21053"/>
            </a:avLst>
          </a:prstGeom>
          <a:solidFill xmlns:a="http://schemas.openxmlformats.org/drawingml/2006/main">
            <a:srgbClr val="F4F7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350" b="1">
                <a:solidFill>
                  <a:srgbClr val="1F2937"/>
                </a:solidFill>
                <a:latin typeface="Arial"/>
                <a:ea typeface="Arial"/>
                <a:cs typeface="Arial"/>
              </a:defRPr>
            </a:pPr>
            <a:r>
              <a:rPr sz="1350" b="1">
                <a:solidFill>
                  <a:srgbClr val="1F2937"/>
                </a:solidFill>
                <a:latin typeface="Arial"/>
                <a:ea typeface="Arial"/>
                <a:cs typeface="Arial"/>
              </a:rPr>
              <a:t>Secure Multi-Institutional Healthcare Federated Learning</a:t>
            </a:r>
          </a:p>
        </p:txBody>
      </p:sp>
      <p:sp>
        <p:nvSpPr>
          <p:cNvPr id="238" name="L0-lane-background">
            <a:extLst xmlns:a="http://schemas.openxmlformats.org/drawingml/2006/main">
              <a:ext uri="{FF2B5EF4-FFF2-40B4-BE49-F238E27FC236}">
                <a16:creationId xmlns:a16="http://schemas.microsoft.com/office/drawing/2014/main" id="{73FB87CA-14E0-4603-9DDE-A364A0014D62}"/>
              </a:ext>
            </a:extLst>
          </p:cNvPr>
          <p:cNvSpPr>
            <a:spLocks xmlns:a="http://schemas.openxmlformats.org/drawingml/2006/main" noGrp="1"/>
          </p:cNvSpPr>
          <p:nvPr/>
        </p:nvSpPr>
        <p:spPr>
          <a:xfrm xmlns:a="http://schemas.openxmlformats.org/drawingml/2006/main">
            <a:off x="819150" y="1619250"/>
            <a:ext cx="10572750" cy="876300"/>
          </a:xfrm>
          <a:prstGeom xmlns:a="http://schemas.openxmlformats.org/drawingml/2006/main" prst="roundRect">
            <a:avLst>
              <a:gd name="adj" fmla="val 8696"/>
            </a:avLst>
          </a:prstGeom>
          <a:solidFill xmlns:a="http://schemas.openxmlformats.org/drawingml/2006/main">
            <a:srgbClr val="EEF4FB"/>
          </a:solidFill>
          <a:ln xmlns:a="http://schemas.openxmlformats.org/drawingml/2006/main" w="9525">
            <a:solidFill>
              <a:srgbClr val="D8E0E8"/>
            </a:solidFill>
          </a:ln>
        </p:spPr>
      </p:sp>
      <p:sp>
        <p:nvSpPr>
          <p:cNvPr id="239" name="L0-lane-label">
            <a:extLst xmlns:a="http://schemas.openxmlformats.org/drawingml/2006/main">
              <a:ext uri="{FF2B5EF4-FFF2-40B4-BE49-F238E27FC236}">
                <a16:creationId xmlns:a16="http://schemas.microsoft.com/office/drawing/2014/main" id="{5BB1BD96-5C24-4BE4-B530-145BE438678A}"/>
              </a:ext>
            </a:extLst>
          </p:cNvPr>
          <p:cNvSpPr>
            <a:spLocks xmlns:a="http://schemas.openxmlformats.org/drawingml/2006/main" noGrp="1"/>
          </p:cNvSpPr>
          <p:nvPr/>
        </p:nvSpPr>
        <p:spPr>
          <a:xfrm xmlns:a="http://schemas.openxmlformats.org/drawingml/2006/main">
            <a:off x="914400" y="1714500"/>
            <a:ext cx="1381125" cy="685800"/>
          </a:xfrm>
          <a:prstGeom xmlns:a="http://schemas.openxmlformats.org/drawingml/2006/main" prst="roundRect">
            <a:avLst>
              <a:gd name="adj" fmla="val 11111"/>
            </a:avLst>
          </a:prstGeom>
          <a:solidFill xmlns:a="http://schemas.openxmlformats.org/drawingml/2006/main">
            <a:srgbClr val="2F6690"/>
          </a:solidFill>
          <a:ln xmlns:a="http://schemas.openxmlformats.org/drawingml/2006/main" w="952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L0</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Governance</a:t>
            </a:r>
          </a:p>
        </p:txBody>
      </p:sp>
      <p:sp>
        <p:nvSpPr>
          <p:cNvPr id="240" name="L1-lane-background">
            <a:extLst xmlns:a="http://schemas.openxmlformats.org/drawingml/2006/main">
              <a:ext uri="{FF2B5EF4-FFF2-40B4-BE49-F238E27FC236}">
                <a16:creationId xmlns:a16="http://schemas.microsoft.com/office/drawing/2014/main" id="{4C3E122E-BFCA-4BAA-8878-DB569979C7E0}"/>
              </a:ext>
            </a:extLst>
          </p:cNvPr>
          <p:cNvSpPr>
            <a:spLocks xmlns:a="http://schemas.openxmlformats.org/drawingml/2006/main" noGrp="1"/>
          </p:cNvSpPr>
          <p:nvPr/>
        </p:nvSpPr>
        <p:spPr>
          <a:xfrm xmlns:a="http://schemas.openxmlformats.org/drawingml/2006/main">
            <a:off x="819150" y="2590800"/>
            <a:ext cx="10572750" cy="876300"/>
          </a:xfrm>
          <a:prstGeom xmlns:a="http://schemas.openxmlformats.org/drawingml/2006/main" prst="roundRect">
            <a:avLst>
              <a:gd name="adj" fmla="val 8696"/>
            </a:avLst>
          </a:prstGeom>
          <a:solidFill xmlns:a="http://schemas.openxmlformats.org/drawingml/2006/main">
            <a:srgbClr val="F1F6FB"/>
          </a:solidFill>
          <a:ln xmlns:a="http://schemas.openxmlformats.org/drawingml/2006/main" w="9525">
            <a:solidFill>
              <a:srgbClr val="D8E0E8"/>
            </a:solidFill>
          </a:ln>
        </p:spPr>
      </p:sp>
      <p:sp>
        <p:nvSpPr>
          <p:cNvPr id="241" name="L1-lane-label">
            <a:extLst xmlns:a="http://schemas.openxmlformats.org/drawingml/2006/main">
              <a:ext uri="{FF2B5EF4-FFF2-40B4-BE49-F238E27FC236}">
                <a16:creationId xmlns:a16="http://schemas.microsoft.com/office/drawing/2014/main" id="{C17F811D-0B4B-446F-8551-3A4BEE966D2C}"/>
              </a:ext>
            </a:extLst>
          </p:cNvPr>
          <p:cNvSpPr>
            <a:spLocks xmlns:a="http://schemas.openxmlformats.org/drawingml/2006/main" noGrp="1"/>
          </p:cNvSpPr>
          <p:nvPr/>
        </p:nvSpPr>
        <p:spPr>
          <a:xfrm xmlns:a="http://schemas.openxmlformats.org/drawingml/2006/main">
            <a:off x="914400" y="2686050"/>
            <a:ext cx="1381125" cy="685800"/>
          </a:xfrm>
          <a:prstGeom xmlns:a="http://schemas.openxmlformats.org/drawingml/2006/main" prst="roundRect">
            <a:avLst>
              <a:gd name="adj" fmla="val 11111"/>
            </a:avLst>
          </a:prstGeom>
          <a:solidFill xmlns:a="http://schemas.openxmlformats.org/drawingml/2006/main">
            <a:srgbClr val="3C78A8"/>
          </a:solidFill>
          <a:ln xmlns:a="http://schemas.openxmlformats.org/drawingml/2006/main" w="952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L1</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Local data</a:t>
            </a:r>
          </a:p>
        </p:txBody>
      </p:sp>
      <p:sp>
        <p:nvSpPr>
          <p:cNvPr id="242" name="L2-lane-background">
            <a:extLst xmlns:a="http://schemas.openxmlformats.org/drawingml/2006/main">
              <a:ext uri="{FF2B5EF4-FFF2-40B4-BE49-F238E27FC236}">
                <a16:creationId xmlns:a16="http://schemas.microsoft.com/office/drawing/2014/main" id="{11D9D8EC-208A-44C2-99D8-1BFA83FBBA10}"/>
              </a:ext>
            </a:extLst>
          </p:cNvPr>
          <p:cNvSpPr>
            <a:spLocks xmlns:a="http://schemas.openxmlformats.org/drawingml/2006/main" noGrp="1"/>
          </p:cNvSpPr>
          <p:nvPr/>
        </p:nvSpPr>
        <p:spPr>
          <a:xfrm xmlns:a="http://schemas.openxmlformats.org/drawingml/2006/main">
            <a:off x="819150" y="3562350"/>
            <a:ext cx="10572750" cy="876300"/>
          </a:xfrm>
          <a:prstGeom xmlns:a="http://schemas.openxmlformats.org/drawingml/2006/main" prst="roundRect">
            <a:avLst>
              <a:gd name="adj" fmla="val 8696"/>
            </a:avLst>
          </a:prstGeom>
          <a:solidFill xmlns:a="http://schemas.openxmlformats.org/drawingml/2006/main">
            <a:srgbClr val="ECF7F5"/>
          </a:solidFill>
          <a:ln xmlns:a="http://schemas.openxmlformats.org/drawingml/2006/main" w="9525">
            <a:solidFill>
              <a:srgbClr val="D8E0E8"/>
            </a:solidFill>
          </a:ln>
        </p:spPr>
      </p:sp>
      <p:sp>
        <p:nvSpPr>
          <p:cNvPr id="243" name="L2-lane-label">
            <a:extLst xmlns:a="http://schemas.openxmlformats.org/drawingml/2006/main">
              <a:ext uri="{FF2B5EF4-FFF2-40B4-BE49-F238E27FC236}">
                <a16:creationId xmlns:a16="http://schemas.microsoft.com/office/drawing/2014/main" id="{C47C850B-9B12-437C-B8D9-64382B989158}"/>
              </a:ext>
            </a:extLst>
          </p:cNvPr>
          <p:cNvSpPr>
            <a:spLocks xmlns:a="http://schemas.openxmlformats.org/drawingml/2006/main" noGrp="1"/>
          </p:cNvSpPr>
          <p:nvPr/>
        </p:nvSpPr>
        <p:spPr>
          <a:xfrm xmlns:a="http://schemas.openxmlformats.org/drawingml/2006/main">
            <a:off x="914400" y="3657600"/>
            <a:ext cx="1381125" cy="685800"/>
          </a:xfrm>
          <a:prstGeom xmlns:a="http://schemas.openxmlformats.org/drawingml/2006/main" prst="roundRect">
            <a:avLst>
              <a:gd name="adj" fmla="val 11111"/>
            </a:avLst>
          </a:prstGeom>
          <a:solidFill xmlns:a="http://schemas.openxmlformats.org/drawingml/2006/main">
            <a:srgbClr val="2F7F77"/>
          </a:solidFill>
          <a:ln xmlns:a="http://schemas.openxmlformats.org/drawingml/2006/main" w="952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L2</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Key setup</a:t>
            </a:r>
          </a:p>
        </p:txBody>
      </p:sp>
      <p:sp>
        <p:nvSpPr>
          <p:cNvPr id="244" name="L3-lane-background">
            <a:extLst xmlns:a="http://schemas.openxmlformats.org/drawingml/2006/main">
              <a:ext uri="{FF2B5EF4-FFF2-40B4-BE49-F238E27FC236}">
                <a16:creationId xmlns:a16="http://schemas.microsoft.com/office/drawing/2014/main" id="{94F6A69F-501C-48C1-8825-928751ADFFC1}"/>
              </a:ext>
            </a:extLst>
          </p:cNvPr>
          <p:cNvSpPr>
            <a:spLocks xmlns:a="http://schemas.openxmlformats.org/drawingml/2006/main" noGrp="1"/>
          </p:cNvSpPr>
          <p:nvPr/>
        </p:nvSpPr>
        <p:spPr>
          <a:xfrm xmlns:a="http://schemas.openxmlformats.org/drawingml/2006/main">
            <a:off x="819150" y="4533900"/>
            <a:ext cx="10572750" cy="1028700"/>
          </a:xfrm>
          <a:prstGeom xmlns:a="http://schemas.openxmlformats.org/drawingml/2006/main" prst="roundRect">
            <a:avLst>
              <a:gd name="adj" fmla="val 7407"/>
            </a:avLst>
          </a:prstGeom>
          <a:solidFill xmlns:a="http://schemas.openxmlformats.org/drawingml/2006/main">
            <a:srgbClr val="F3EFFB"/>
          </a:solidFill>
          <a:ln xmlns:a="http://schemas.openxmlformats.org/drawingml/2006/main" w="9525">
            <a:solidFill>
              <a:srgbClr val="D8E0E8"/>
            </a:solidFill>
          </a:ln>
        </p:spPr>
      </p:sp>
      <p:sp>
        <p:nvSpPr>
          <p:cNvPr id="245" name="L3-lane-label">
            <a:extLst xmlns:a="http://schemas.openxmlformats.org/drawingml/2006/main">
              <a:ext uri="{FF2B5EF4-FFF2-40B4-BE49-F238E27FC236}">
                <a16:creationId xmlns:a16="http://schemas.microsoft.com/office/drawing/2014/main" id="{2D5828D6-DB9F-45DB-BC22-4BD155E3FC98}"/>
              </a:ext>
            </a:extLst>
          </p:cNvPr>
          <p:cNvSpPr>
            <a:spLocks xmlns:a="http://schemas.openxmlformats.org/drawingml/2006/main" noGrp="1"/>
          </p:cNvSpPr>
          <p:nvPr/>
        </p:nvSpPr>
        <p:spPr>
          <a:xfrm xmlns:a="http://schemas.openxmlformats.org/drawingml/2006/main">
            <a:off x="914400" y="4629150"/>
            <a:ext cx="1381125" cy="838200"/>
          </a:xfrm>
          <a:prstGeom xmlns:a="http://schemas.openxmlformats.org/drawingml/2006/main" prst="roundRect">
            <a:avLst>
              <a:gd name="adj" fmla="val 9091"/>
            </a:avLst>
          </a:prstGeom>
          <a:solidFill xmlns:a="http://schemas.openxmlformats.org/drawingml/2006/main">
            <a:srgbClr val="6B4FB3"/>
          </a:solidFill>
          <a:ln xmlns:a="http://schemas.openxmlformats.org/drawingml/2006/main" w="952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L3</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Private training</a:t>
            </a:r>
          </a:p>
        </p:txBody>
      </p:sp>
      <p:sp>
        <p:nvSpPr>
          <p:cNvPr id="246" name="l0-ca">
            <a:extLst xmlns:a="http://schemas.openxmlformats.org/drawingml/2006/main">
              <a:ext uri="{FF2B5EF4-FFF2-40B4-BE49-F238E27FC236}">
                <a16:creationId xmlns:a16="http://schemas.microsoft.com/office/drawing/2014/main" id="{49D62A80-8525-4CEE-BC31-FE6B83B9645C}"/>
              </a:ext>
            </a:extLst>
          </p:cNvPr>
          <p:cNvSpPr>
            <a:spLocks xmlns:a="http://schemas.openxmlformats.org/drawingml/2006/main" noGrp="1"/>
          </p:cNvSpPr>
          <p:nvPr/>
        </p:nvSpPr>
        <p:spPr>
          <a:xfrm xmlns:a="http://schemas.openxmlformats.org/drawingml/2006/main">
            <a:off x="2714625" y="1809750"/>
            <a:ext cx="1952625" cy="504825"/>
          </a:xfrm>
          <a:prstGeom xmlns:a="http://schemas.openxmlformats.org/drawingml/2006/main" prst="roundRect">
            <a:avLst>
              <a:gd name="adj" fmla="val 15094"/>
            </a:avLst>
          </a:prstGeom>
          <a:solidFill xmlns:a="http://schemas.openxmlformats.org/drawingml/2006/main">
            <a:srgbClr val="EEF4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Consortium CA</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identity and roles</a:t>
            </a:r>
          </a:p>
        </p:txBody>
      </p:sp>
      <p:sp>
        <p:nvSpPr>
          <p:cNvPr id="247" name="l0-consent">
            <a:extLst xmlns:a="http://schemas.openxmlformats.org/drawingml/2006/main">
              <a:ext uri="{FF2B5EF4-FFF2-40B4-BE49-F238E27FC236}">
                <a16:creationId xmlns:a16="http://schemas.microsoft.com/office/drawing/2014/main" id="{93D5C538-A757-4153-B299-F28807A2E010}"/>
              </a:ext>
            </a:extLst>
          </p:cNvPr>
          <p:cNvSpPr>
            <a:spLocks xmlns:a="http://schemas.openxmlformats.org/drawingml/2006/main" noGrp="1"/>
          </p:cNvSpPr>
          <p:nvPr/>
        </p:nvSpPr>
        <p:spPr>
          <a:xfrm xmlns:a="http://schemas.openxmlformats.org/drawingml/2006/main">
            <a:off x="5238750" y="1809750"/>
            <a:ext cx="1952625" cy="504825"/>
          </a:xfrm>
          <a:prstGeom xmlns:a="http://schemas.openxmlformats.org/drawingml/2006/main" prst="roundRect">
            <a:avLst>
              <a:gd name="adj" fmla="val 15094"/>
            </a:avLst>
          </a:prstGeom>
          <a:solidFill xmlns:a="http://schemas.openxmlformats.org/drawingml/2006/main">
            <a:srgbClr val="EEF4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Consent registry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scope and revocation</a:t>
            </a:r>
          </a:p>
        </p:txBody>
      </p:sp>
      <p:sp>
        <p:nvSpPr>
          <p:cNvPr id="248" name="l0-policy">
            <a:extLst xmlns:a="http://schemas.openxmlformats.org/drawingml/2006/main">
              <a:ext uri="{FF2B5EF4-FFF2-40B4-BE49-F238E27FC236}">
                <a16:creationId xmlns:a16="http://schemas.microsoft.com/office/drawing/2014/main" id="{1D18C00B-88DB-46CA-9626-DC45E40B8562}"/>
              </a:ext>
            </a:extLst>
          </p:cNvPr>
          <p:cNvSpPr>
            <a:spLocks xmlns:a="http://schemas.openxmlformats.org/drawingml/2006/main" noGrp="1"/>
          </p:cNvSpPr>
          <p:nvPr/>
        </p:nvSpPr>
        <p:spPr>
          <a:xfrm xmlns:a="http://schemas.openxmlformats.org/drawingml/2006/main">
            <a:off x="7762875" y="1809750"/>
            <a:ext cx="2190750" cy="504825"/>
          </a:xfrm>
          <a:prstGeom xmlns:a="http://schemas.openxmlformats.org/drawingml/2006/main" prst="roundRect">
            <a:avLst>
              <a:gd name="adj" fmla="val 15094"/>
            </a:avLst>
          </a:prstGeom>
          <a:solidFill xmlns:a="http://schemas.openxmlformats.org/drawingml/2006/main">
            <a:srgbClr val="EEF4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Governance policy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access and incident rules</a:t>
            </a:r>
          </a:p>
        </p:txBody>
      </p:sp>
      <p:cxnSp>
        <p:nvCxnSpPr>
          <p:cNvPr id="988" name="Straight Arrow Connector 477"/>
          <p:cNvCxnSpPr>
            <a:stCxn xmlns:a="http://schemas.openxmlformats.org/drawingml/2006/main" id="246" idx="3"/>
            <a:endCxn xmlns:a="http://schemas.openxmlformats.org/drawingml/2006/main" id="247" idx="1"/>
          </p:cNvCxnSpPr>
          <p:nvPr/>
        </p:nvCxnSpPr>
        <p:spPr>
          <a:xfrm xmlns:a="http://schemas.openxmlformats.org/drawingml/2006/main">
            <a:off x="4667250" y="2062163"/>
            <a:ext cx="57150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989" name="Straight Arrow Connector 478"/>
          <p:cNvCxnSpPr>
            <a:stCxn xmlns:a="http://schemas.openxmlformats.org/drawingml/2006/main" id="247" idx="3"/>
            <a:endCxn xmlns:a="http://schemas.openxmlformats.org/drawingml/2006/main" id="248" idx="1"/>
          </p:cNvCxnSpPr>
          <p:nvPr/>
        </p:nvCxnSpPr>
        <p:spPr>
          <a:xfrm xmlns:a="http://schemas.openxmlformats.org/drawingml/2006/main">
            <a:off x="7191375" y="2062163"/>
            <a:ext cx="57150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51" name="l1-hospitals">
            <a:extLst xmlns:a="http://schemas.openxmlformats.org/drawingml/2006/main">
              <a:ext uri="{FF2B5EF4-FFF2-40B4-BE49-F238E27FC236}">
                <a16:creationId xmlns:a16="http://schemas.microsoft.com/office/drawing/2014/main" id="{20F84B98-B76E-47ED-A284-094A3FE6371F}"/>
              </a:ext>
            </a:extLst>
          </p:cNvPr>
          <p:cNvSpPr>
            <a:spLocks xmlns:a="http://schemas.openxmlformats.org/drawingml/2006/main" noGrp="1"/>
          </p:cNvSpPr>
          <p:nvPr/>
        </p:nvSpPr>
        <p:spPr>
          <a:xfrm xmlns:a="http://schemas.openxmlformats.org/drawingml/2006/main">
            <a:off x="2552700" y="2781300"/>
            <a:ext cx="1571625"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Hospitals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 B, C, ... N</a:t>
            </a:r>
          </a:p>
        </p:txBody>
      </p:sp>
      <p:sp>
        <p:nvSpPr>
          <p:cNvPr id="252" name="l1-check">
            <a:extLst xmlns:a="http://schemas.openxmlformats.org/drawingml/2006/main">
              <a:ext uri="{FF2B5EF4-FFF2-40B4-BE49-F238E27FC236}">
                <a16:creationId xmlns:a16="http://schemas.microsoft.com/office/drawing/2014/main" id="{F9F867D4-41EB-43F7-B63B-3DE5F01E2C51}"/>
              </a:ext>
            </a:extLst>
          </p:cNvPr>
          <p:cNvSpPr>
            <a:spLocks xmlns:a="http://schemas.openxmlformats.org/drawingml/2006/main" noGrp="1"/>
          </p:cNvSpPr>
          <p:nvPr/>
        </p:nvSpPr>
        <p:spPr>
          <a:xfrm xmlns:a="http://schemas.openxmlformats.org/drawingml/2006/main">
            <a:off x="4524375" y="2781300"/>
            <a:ext cx="1666875"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Consent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purpose check</a:t>
            </a:r>
          </a:p>
        </p:txBody>
      </p:sp>
      <p:sp>
        <p:nvSpPr>
          <p:cNvPr id="253" name="l1-preprocess">
            <a:extLst xmlns:a="http://schemas.openxmlformats.org/drawingml/2006/main">
              <a:ext uri="{FF2B5EF4-FFF2-40B4-BE49-F238E27FC236}">
                <a16:creationId xmlns:a16="http://schemas.microsoft.com/office/drawing/2014/main" id="{5BB3347D-AF57-44BC-BDED-8E79B69F46C4}"/>
              </a:ext>
            </a:extLst>
          </p:cNvPr>
          <p:cNvSpPr>
            <a:spLocks xmlns:a="http://schemas.openxmlformats.org/drawingml/2006/main" noGrp="1"/>
          </p:cNvSpPr>
          <p:nvPr/>
        </p:nvSpPr>
        <p:spPr>
          <a:xfrm xmlns:a="http://schemas.openxmlformats.org/drawingml/2006/main">
            <a:off x="6591300" y="2781300"/>
            <a:ext cx="1809750"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Preprocess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normalize features</a:t>
            </a:r>
          </a:p>
        </p:txBody>
      </p:sp>
      <p:sp>
        <p:nvSpPr>
          <p:cNvPr id="254" name="l1-onsite">
            <a:extLst xmlns:a="http://schemas.openxmlformats.org/drawingml/2006/main">
              <a:ext uri="{FF2B5EF4-FFF2-40B4-BE49-F238E27FC236}">
                <a16:creationId xmlns:a16="http://schemas.microsoft.com/office/drawing/2014/main" id="{0FB41C00-15F1-42F5-A268-172C7A2681BC}"/>
              </a:ext>
            </a:extLst>
          </p:cNvPr>
          <p:cNvSpPr>
            <a:spLocks xmlns:a="http://schemas.openxmlformats.org/drawingml/2006/main" noGrp="1"/>
          </p:cNvSpPr>
          <p:nvPr/>
        </p:nvSpPr>
        <p:spPr>
          <a:xfrm xmlns:a="http://schemas.openxmlformats.org/drawingml/2006/main">
            <a:off x="8801100" y="2781300"/>
            <a:ext cx="1809750"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Local dataset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remains at hospital</a:t>
            </a:r>
          </a:p>
        </p:txBody>
      </p:sp>
      <p:cxnSp>
        <p:nvCxnSpPr>
          <p:cNvPr id="994" name="Straight Arrow Connector 483"/>
          <p:cNvCxnSpPr>
            <a:stCxn xmlns:a="http://schemas.openxmlformats.org/drawingml/2006/main" id="251" idx="3"/>
            <a:endCxn xmlns:a="http://schemas.openxmlformats.org/drawingml/2006/main" id="252" idx="1"/>
          </p:cNvCxnSpPr>
          <p:nvPr/>
        </p:nvCxnSpPr>
        <p:spPr>
          <a:xfrm xmlns:a="http://schemas.openxmlformats.org/drawingml/2006/main">
            <a:off x="4124325" y="3033713"/>
            <a:ext cx="4000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995" name="Straight Arrow Connector 484"/>
          <p:cNvCxnSpPr>
            <a:stCxn xmlns:a="http://schemas.openxmlformats.org/drawingml/2006/main" id="252" idx="3"/>
            <a:endCxn xmlns:a="http://schemas.openxmlformats.org/drawingml/2006/main" id="253" idx="1"/>
          </p:cNvCxnSpPr>
          <p:nvPr/>
        </p:nvCxnSpPr>
        <p:spPr>
          <a:xfrm xmlns:a="http://schemas.openxmlformats.org/drawingml/2006/main">
            <a:off x="6191250" y="3033713"/>
            <a:ext cx="4000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996" name="Straight Arrow Connector 485"/>
          <p:cNvCxnSpPr>
            <a:stCxn xmlns:a="http://schemas.openxmlformats.org/drawingml/2006/main" id="253" idx="3"/>
            <a:endCxn xmlns:a="http://schemas.openxmlformats.org/drawingml/2006/main" id="254" idx="1"/>
          </p:cNvCxnSpPr>
          <p:nvPr/>
        </p:nvCxnSpPr>
        <p:spPr>
          <a:xfrm xmlns:a="http://schemas.openxmlformats.org/drawingml/2006/main">
            <a:off x="8401050" y="3033713"/>
            <a:ext cx="4000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58" name="l2-rotate">
            <a:extLst xmlns:a="http://schemas.openxmlformats.org/drawingml/2006/main">
              <a:ext uri="{FF2B5EF4-FFF2-40B4-BE49-F238E27FC236}">
                <a16:creationId xmlns:a16="http://schemas.microsoft.com/office/drawing/2014/main" id="{F9DC976F-7649-4EF9-8FF2-DD28B4D06F3B}"/>
              </a:ext>
            </a:extLst>
          </p:cNvPr>
          <p:cNvSpPr>
            <a:spLocks xmlns:a="http://schemas.openxmlformats.org/drawingml/2006/main" noGrp="1"/>
          </p:cNvSpPr>
          <p:nvPr/>
        </p:nvSpPr>
        <p:spPr>
          <a:xfrm xmlns:a="http://schemas.openxmlformats.org/drawingml/2006/main">
            <a:off x="2552700" y="3752850"/>
            <a:ext cx="1666875"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Key rotation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revocation</a:t>
            </a:r>
          </a:p>
        </p:txBody>
      </p:sp>
      <p:sp>
        <p:nvSpPr>
          <p:cNvPr id="259" name="l2-keygen">
            <a:extLst xmlns:a="http://schemas.openxmlformats.org/drawingml/2006/main">
              <a:ext uri="{FF2B5EF4-FFF2-40B4-BE49-F238E27FC236}">
                <a16:creationId xmlns:a16="http://schemas.microsoft.com/office/drawing/2014/main" id="{3582771A-D1DB-4D60-9C2B-E888F5770CA9}"/>
              </a:ext>
            </a:extLst>
          </p:cNvPr>
          <p:cNvSpPr>
            <a:spLocks xmlns:a="http://schemas.openxmlformats.org/drawingml/2006/main" noGrp="1"/>
          </p:cNvSpPr>
          <p:nvPr/>
        </p:nvSpPr>
        <p:spPr>
          <a:xfrm xmlns:a="http://schemas.openxmlformats.org/drawingml/2006/main">
            <a:off x="4629150" y="3752850"/>
            <a:ext cx="1666875"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Distributed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key generation</a:t>
            </a:r>
          </a:p>
        </p:txBody>
      </p:sp>
      <p:sp>
        <p:nvSpPr>
          <p:cNvPr id="260" name="l2-pubkey">
            <a:extLst xmlns:a="http://schemas.openxmlformats.org/drawingml/2006/main">
              <a:ext uri="{FF2B5EF4-FFF2-40B4-BE49-F238E27FC236}">
                <a16:creationId xmlns:a16="http://schemas.microsoft.com/office/drawing/2014/main" id="{13168765-EBBB-4719-985C-A7481E663919}"/>
              </a:ext>
            </a:extLst>
          </p:cNvPr>
          <p:cNvSpPr>
            <a:spLocks xmlns:a="http://schemas.openxmlformats.org/drawingml/2006/main" noGrp="1"/>
          </p:cNvSpPr>
          <p:nvPr/>
        </p:nvSpPr>
        <p:spPr>
          <a:xfrm xmlns:a="http://schemas.openxmlformats.org/drawingml/2006/main">
            <a:off x="6705600" y="3752850"/>
            <a:ext cx="1714500"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Collective CKKS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public key</a:t>
            </a:r>
          </a:p>
        </p:txBody>
      </p:sp>
      <p:sp>
        <p:nvSpPr>
          <p:cNvPr id="261" name="l2-shares">
            <a:extLst xmlns:a="http://schemas.openxmlformats.org/drawingml/2006/main">
              <a:ext uri="{FF2B5EF4-FFF2-40B4-BE49-F238E27FC236}">
                <a16:creationId xmlns:a16="http://schemas.microsoft.com/office/drawing/2014/main" id="{5C5432F7-54F8-4FD3-8D47-BB7CB95A332C}"/>
              </a:ext>
            </a:extLst>
          </p:cNvPr>
          <p:cNvSpPr>
            <a:spLocks xmlns:a="http://schemas.openxmlformats.org/drawingml/2006/main" noGrp="1"/>
          </p:cNvSpPr>
          <p:nvPr/>
        </p:nvSpPr>
        <p:spPr>
          <a:xfrm xmlns:a="http://schemas.openxmlformats.org/drawingml/2006/main">
            <a:off x="8829675" y="3752850"/>
            <a:ext cx="1952625"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Threshold shares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protected by custodians</a:t>
            </a:r>
          </a:p>
        </p:txBody>
      </p:sp>
      <p:cxnSp>
        <p:nvCxnSpPr>
          <p:cNvPr id="1001" name="Straight Arrow Connector 490"/>
          <p:cNvCxnSpPr>
            <a:stCxn xmlns:a="http://schemas.openxmlformats.org/drawingml/2006/main" id="258" idx="3"/>
            <a:endCxn xmlns:a="http://schemas.openxmlformats.org/drawingml/2006/main" id="259" idx="1"/>
          </p:cNvCxnSpPr>
          <p:nvPr/>
        </p:nvCxnSpPr>
        <p:spPr>
          <a:xfrm xmlns:a="http://schemas.openxmlformats.org/drawingml/2006/main">
            <a:off x="4219575" y="4005263"/>
            <a:ext cx="4095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002" name="Straight Arrow Connector 491"/>
          <p:cNvCxnSpPr>
            <a:stCxn xmlns:a="http://schemas.openxmlformats.org/drawingml/2006/main" id="259" idx="3"/>
            <a:endCxn xmlns:a="http://schemas.openxmlformats.org/drawingml/2006/main" id="260" idx="1"/>
          </p:cNvCxnSpPr>
          <p:nvPr/>
        </p:nvCxnSpPr>
        <p:spPr>
          <a:xfrm xmlns:a="http://schemas.openxmlformats.org/drawingml/2006/main">
            <a:off x="6296025" y="4005263"/>
            <a:ext cx="4095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003" name="Straight Arrow Connector 492"/>
          <p:cNvCxnSpPr>
            <a:stCxn xmlns:a="http://schemas.openxmlformats.org/drawingml/2006/main" id="260" idx="3"/>
            <a:endCxn xmlns:a="http://schemas.openxmlformats.org/drawingml/2006/main" id="261" idx="1"/>
          </p:cNvCxnSpPr>
          <p:nvPr/>
        </p:nvCxnSpPr>
        <p:spPr>
          <a:xfrm xmlns:a="http://schemas.openxmlformats.org/drawingml/2006/main">
            <a:off x="8420100" y="4005263"/>
            <a:ext cx="4095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65" name="l3-train">
            <a:extLst xmlns:a="http://schemas.openxmlformats.org/drawingml/2006/main">
              <a:ext uri="{FF2B5EF4-FFF2-40B4-BE49-F238E27FC236}">
                <a16:creationId xmlns:a16="http://schemas.microsoft.com/office/drawing/2014/main" id="{A7BAEA67-2B8B-45CA-83A3-0A0965124C38}"/>
              </a:ext>
            </a:extLst>
          </p:cNvPr>
          <p:cNvSpPr>
            <a:spLocks xmlns:a="http://schemas.openxmlformats.org/drawingml/2006/main" noGrp="1"/>
          </p:cNvSpPr>
          <p:nvPr/>
        </p:nvSpPr>
        <p:spPr>
          <a:xfrm xmlns:a="http://schemas.openxmlformats.org/drawingml/2006/main">
            <a:off x="2419350" y="4810125"/>
            <a:ext cx="138112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Local model</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training</a:t>
            </a:r>
          </a:p>
        </p:txBody>
      </p:sp>
      <p:sp>
        <p:nvSpPr>
          <p:cNvPr id="266" name="l3-clip">
            <a:extLst xmlns:a="http://schemas.openxmlformats.org/drawingml/2006/main">
              <a:ext uri="{FF2B5EF4-FFF2-40B4-BE49-F238E27FC236}">
                <a16:creationId xmlns:a16="http://schemas.microsoft.com/office/drawing/2014/main" id="{E17737D8-BFC8-4D94-98C6-4BD580CFF17F}"/>
              </a:ext>
            </a:extLst>
          </p:cNvPr>
          <p:cNvSpPr>
            <a:spLocks xmlns:a="http://schemas.openxmlformats.org/drawingml/2006/main" noGrp="1"/>
          </p:cNvSpPr>
          <p:nvPr/>
        </p:nvSpPr>
        <p:spPr>
          <a:xfrm xmlns:a="http://schemas.openxmlformats.org/drawingml/2006/main">
            <a:off x="4019550" y="4810125"/>
            <a:ext cx="138112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Clip per-record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gradients</a:t>
            </a:r>
          </a:p>
        </p:txBody>
      </p:sp>
      <p:sp>
        <p:nvSpPr>
          <p:cNvPr id="267" name="l3-noise">
            <a:extLst xmlns:a="http://schemas.openxmlformats.org/drawingml/2006/main">
              <a:ext uri="{FF2B5EF4-FFF2-40B4-BE49-F238E27FC236}">
                <a16:creationId xmlns:a16="http://schemas.microsoft.com/office/drawing/2014/main" id="{D6B0E17B-FE12-46B7-A038-B555D641EF95}"/>
              </a:ext>
            </a:extLst>
          </p:cNvPr>
          <p:cNvSpPr>
            <a:spLocks xmlns:a="http://schemas.openxmlformats.org/drawingml/2006/main" noGrp="1"/>
          </p:cNvSpPr>
          <p:nvPr/>
        </p:nvSpPr>
        <p:spPr>
          <a:xfrm xmlns:a="http://schemas.openxmlformats.org/drawingml/2006/main">
            <a:off x="5619750" y="4810125"/>
            <a:ext cx="138112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Add calibrated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DP noise</a:t>
            </a:r>
          </a:p>
        </p:txBody>
      </p:sp>
      <p:sp>
        <p:nvSpPr>
          <p:cNvPr id="268" name="l3-caabc">
            <a:extLst xmlns:a="http://schemas.openxmlformats.org/drawingml/2006/main">
              <a:ext uri="{FF2B5EF4-FFF2-40B4-BE49-F238E27FC236}">
                <a16:creationId xmlns:a16="http://schemas.microsoft.com/office/drawing/2014/main" id="{6FA4D302-A99A-4791-9FF6-6249DCDCDED1}"/>
              </a:ext>
            </a:extLst>
          </p:cNvPr>
          <p:cNvSpPr>
            <a:spLocks xmlns:a="http://schemas.openxmlformats.org/drawingml/2006/main" noGrp="1"/>
          </p:cNvSpPr>
          <p:nvPr/>
        </p:nvSpPr>
        <p:spPr>
          <a:xfrm xmlns:a="http://schemas.openxmlformats.org/drawingml/2006/main">
            <a:off x="7219950" y="4810125"/>
            <a:ext cx="147637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1F2937"/>
                </a:solidFill>
                <a:latin typeface="Arial"/>
                <a:ea typeface="Arial"/>
                <a:cs typeface="Arial"/>
              </a:defRPr>
            </a:pPr>
            <a:r>
              <a:rPr sz="1200" b="1">
                <a:solidFill>
                  <a:srgbClr val="1F2937"/>
                </a:solidFill>
                <a:latin typeface="Arial"/>
                <a:ea typeface="Arial"/>
                <a:cs typeface="Arial"/>
              </a:rPr>
              <a:t>CAABC-FL block</a:t>
            </a:r>
          </a:p>
          <a:p xmlns:a="http://schemas.openxmlformats.org/drawingml/2006/main">
            <a:pPr algn="ctr">
              <a:buNone/>
              <a:defRPr sz="1200" b="1">
                <a:solidFill>
                  <a:srgbClr val="1F2937"/>
                </a:solidFill>
                <a:latin typeface="Arial"/>
                <a:ea typeface="Arial"/>
                <a:cs typeface="Arial"/>
              </a:defRPr>
            </a:pPr>
            <a:r>
              <a:rPr sz="1200" b="1">
                <a:solidFill>
                  <a:srgbClr val="1F2937"/>
                </a:solidFill>
                <a:latin typeface="Arial"/>
                <a:ea typeface="Arial"/>
                <a:cs typeface="Arial"/>
              </a:rPr>
              <a:t>compression</a:t>
            </a:r>
          </a:p>
        </p:txBody>
      </p:sp>
      <p:sp>
        <p:nvSpPr>
          <p:cNvPr id="269" name="l3-encrypt">
            <a:extLst xmlns:a="http://schemas.openxmlformats.org/drawingml/2006/main">
              <a:ext uri="{FF2B5EF4-FFF2-40B4-BE49-F238E27FC236}">
                <a16:creationId xmlns:a16="http://schemas.microsoft.com/office/drawing/2014/main" id="{5E2B45AA-9696-4B00-BC33-367E23267FC6}"/>
              </a:ext>
            </a:extLst>
          </p:cNvPr>
          <p:cNvSpPr>
            <a:spLocks xmlns:a="http://schemas.openxmlformats.org/drawingml/2006/main" noGrp="1"/>
          </p:cNvSpPr>
          <p:nvPr/>
        </p:nvSpPr>
        <p:spPr>
          <a:xfrm xmlns:a="http://schemas.openxmlformats.org/drawingml/2006/main">
            <a:off x="8915400" y="4810125"/>
            <a:ext cx="1571625" cy="523875"/>
          </a:xfrm>
          <a:prstGeom xmlns:a="http://schemas.openxmlformats.org/drawingml/2006/main" prst="roundRect">
            <a:avLst>
              <a:gd name="adj" fmla="val 14545"/>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CKKS encrypt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sign update</a:t>
            </a:r>
          </a:p>
        </p:txBody>
      </p:sp>
      <p:cxnSp>
        <p:nvCxnSpPr>
          <p:cNvPr id="1009" name="Straight Arrow Connector 498"/>
          <p:cNvCxnSpPr>
            <a:stCxn xmlns:a="http://schemas.openxmlformats.org/drawingml/2006/main" id="265" idx="3"/>
            <a:endCxn xmlns:a="http://schemas.openxmlformats.org/drawingml/2006/main" id="266" idx="1"/>
          </p:cNvCxnSpPr>
          <p:nvPr/>
        </p:nvCxnSpPr>
        <p:spPr>
          <a:xfrm xmlns:a="http://schemas.openxmlformats.org/drawingml/2006/main">
            <a:off x="380047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010" name="Straight Arrow Connector 499"/>
          <p:cNvCxnSpPr>
            <a:stCxn xmlns:a="http://schemas.openxmlformats.org/drawingml/2006/main" id="266" idx="3"/>
            <a:endCxn xmlns:a="http://schemas.openxmlformats.org/drawingml/2006/main" id="267" idx="1"/>
          </p:cNvCxnSpPr>
          <p:nvPr/>
        </p:nvCxnSpPr>
        <p:spPr>
          <a:xfrm xmlns:a="http://schemas.openxmlformats.org/drawingml/2006/main">
            <a:off x="540067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011" name="Straight Arrow Connector 500"/>
          <p:cNvCxnSpPr>
            <a:stCxn xmlns:a="http://schemas.openxmlformats.org/drawingml/2006/main" id="267" idx="3"/>
            <a:endCxn xmlns:a="http://schemas.openxmlformats.org/drawingml/2006/main" id="268" idx="1"/>
          </p:cNvCxnSpPr>
          <p:nvPr/>
        </p:nvCxnSpPr>
        <p:spPr>
          <a:xfrm xmlns:a="http://schemas.openxmlformats.org/drawingml/2006/main">
            <a:off x="700087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012" name="Straight Arrow Connector 501"/>
          <p:cNvCxnSpPr>
            <a:stCxn xmlns:a="http://schemas.openxmlformats.org/drawingml/2006/main" id="268" idx="3"/>
            <a:endCxn xmlns:a="http://schemas.openxmlformats.org/drawingml/2006/main" id="269" idx="1"/>
          </p:cNvCxnSpPr>
          <p:nvPr/>
        </p:nvCxnSpPr>
        <p:spPr>
          <a:xfrm xmlns:a="http://schemas.openxmlformats.org/drawingml/2006/main">
            <a:off x="869632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013" name="Connector: Elbow 502"/>
          <p:cNvCxnSpPr>
            <a:stCxn xmlns:a="http://schemas.openxmlformats.org/drawingml/2006/main" id="237" idx="2"/>
            <a:endCxn xmlns:a="http://schemas.openxmlformats.org/drawingml/2006/main" id="247" idx="0"/>
          </p:cNvCxnSpPr>
          <p:nvPr/>
        </p:nvCxnSpPr>
        <p:spPr>
          <a:xfrm xmlns:a="http://schemas.openxmlformats.org/drawingml/2006/main">
            <a:off x="6096000" y="1495425"/>
            <a:ext cx="119063" cy="314325"/>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1014" name="Connector: Elbow 503"/>
          <p:cNvCxnSpPr>
            <a:stCxn xmlns:a="http://schemas.openxmlformats.org/drawingml/2006/main" id="247" idx="2"/>
            <a:endCxn xmlns:a="http://schemas.openxmlformats.org/drawingml/2006/main" id="252" idx="0"/>
          </p:cNvCxnSpPr>
          <p:nvPr/>
        </p:nvCxnSpPr>
        <p:spPr>
          <a:xfrm xmlns:a="http://schemas.openxmlformats.org/drawingml/2006/main" flipH="1">
            <a:off x="5357813" y="2314575"/>
            <a:ext cx="857250" cy="466725"/>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1015" name="Connector: Elbow 504"/>
          <p:cNvCxnSpPr>
            <a:stCxn xmlns:a="http://schemas.openxmlformats.org/drawingml/2006/main" id="254" idx="2"/>
            <a:endCxn xmlns:a="http://schemas.openxmlformats.org/drawingml/2006/main" id="260" idx="0"/>
          </p:cNvCxnSpPr>
          <p:nvPr/>
        </p:nvCxnSpPr>
        <p:spPr>
          <a:xfrm xmlns:a="http://schemas.openxmlformats.org/drawingml/2006/main" flipH="1">
            <a:off x="7562850" y="3286125"/>
            <a:ext cx="2143125" cy="466725"/>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1016" name="Connector: Elbow 505"/>
          <p:cNvCxnSpPr>
            <a:stCxn xmlns:a="http://schemas.openxmlformats.org/drawingml/2006/main" id="261" idx="2"/>
            <a:endCxn xmlns:a="http://schemas.openxmlformats.org/drawingml/2006/main" id="269" idx="0"/>
          </p:cNvCxnSpPr>
          <p:nvPr/>
        </p:nvCxnSpPr>
        <p:spPr>
          <a:xfrm xmlns:a="http://schemas.openxmlformats.org/drawingml/2006/main" flipH="1">
            <a:off x="9701213" y="4257675"/>
            <a:ext cx="104775" cy="552450"/>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sp>
        <p:nvSpPr>
          <p:cNvPr id="278" name="diagram-outcome-note">
            <a:extLst xmlns:a="http://schemas.openxmlformats.org/drawingml/2006/main">
              <a:ext uri="{FF2B5EF4-FFF2-40B4-BE49-F238E27FC236}">
                <a16:creationId xmlns:a16="http://schemas.microsoft.com/office/drawing/2014/main" id="{57242147-2845-48CD-8D35-0B7EFEC99455}"/>
              </a:ext>
            </a:extLst>
          </p:cNvPr>
          <p:cNvSpPr>
            <a:spLocks xmlns:a="http://schemas.openxmlformats.org/drawingml/2006/main" noGrp="1"/>
          </p:cNvSpPr>
          <p:nvPr/>
        </p:nvSpPr>
        <p:spPr>
          <a:xfrm xmlns:a="http://schemas.openxmlformats.org/drawingml/2006/main">
            <a:off x="3000375" y="5686425"/>
            <a:ext cx="6191250" cy="342900"/>
          </a:xfrm>
          <a:prstGeom xmlns:a="http://schemas.openxmlformats.org/drawingml/2006/main" prst="roundRect">
            <a:avLst>
              <a:gd name="adj" fmla="val 22222"/>
            </a:avLst>
          </a:prstGeom>
          <a:solidFill xmlns:a="http://schemas.openxmlformats.org/drawingml/2006/main">
            <a:srgbClr val="ECF7F5"/>
          </a:solidFill>
          <a:ln xmlns:a="http://schemas.openxmlformats.org/drawingml/2006/main" w="11430">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2F7F77"/>
                </a:solidFill>
                <a:latin typeface="Arial"/>
                <a:ea typeface="Arial"/>
                <a:cs typeface="Arial"/>
              </a:defRPr>
            </a:pPr>
            <a:r>
              <a:rPr sz="1275" b="1">
                <a:solidFill>
                  <a:srgbClr val="2F7F77"/>
                </a:solidFill>
                <a:latin typeface="Arial"/>
                <a:ea typeface="Arial"/>
                <a:cs typeface="Arial"/>
              </a:rPr>
              <a:t>Output: encrypted, compressed and signed client update</a:t>
            </a:r>
          </a:p>
        </p:txBody>
      </p:sp>
      <p:pic>
        <p:nvPicPr>
          <p:cNvPr id="1018" name="Picture 1"/>
          <p:cNvPicPr>
            <a:picLocks xmlns:a="http://schemas.openxmlformats.org/drawingml/2006/main" noChangeAspect="1"/>
          </p:cNvPicPr>
          <p:nvPr/>
        </p:nvPicPr>
        <p:blipFill>
          <a:blip xmlns:r="http://schemas.openxmlformats.org/officeDocument/2006/relationships" xmlns:a="http://schemas.openxmlformats.org/drawingml/2006/main" r:embed="R61645f78f44a489e"/>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224468282"/>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D53C2C4-0238-2DF2-4E36-7218D813FEA6}"/>
              </a:ext>
            </a:extLst>
          </p:cNvPr>
          <p:cNvSpPr>
            <a:spLocks xmlns:a="http://schemas.openxmlformats.org/drawingml/2006/main" noGrp="1"/>
          </p:cNvSpPr>
          <p:nvPr>
            <p:ph type="title" idx="0"/>
          </p:nvPr>
        </p:nvSpPr>
        <p:spPr>
          <a:xfrm xmlns:a="http://schemas.openxmlformats.org/drawingml/2006/main">
            <a:off x="1892046" y="24960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defRPr sz="2700" b="1">
                <a:solidFill>
                  <a:srgbClr val="062B6F"/>
                </a:solidFill>
                <a:latin typeface="Arial"/>
                <a:ea typeface="Arial"/>
                <a:cs typeface="Arial"/>
              </a:defRPr>
            </a:pPr>
            <a:r>
              <a:rPr sz="2700" b="1">
                <a:solidFill>
                  <a:srgbClr val="062B6F"/>
                </a:solidFill>
                <a:latin typeface="Arial"/>
                <a:ea typeface="Arial"/>
                <a:cs typeface="Arial"/>
              </a:rPr>
              <a:t>System Approach: Trust and Model Release</a:t>
            </a:r>
            <a:endParaRPr/>
          </a:p>
        </p:txBody>
      </p:sp>
      <p:sp>
        <p:nvSpPr>
          <p:cNvPr id="212" name="Google Shape;212;p28">
            <a:extLst xmlns:a="http://schemas.openxmlformats.org/drawingml/2006/main">
              <a:ext uri="{FF2B5EF4-FFF2-40B4-BE49-F238E27FC236}">
                <a16:creationId xmlns:a16="http://schemas.microsoft.com/office/drawing/2014/main" id="{7D7835C0-40C3-DEA8-DB7B-B74329928B9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19</a:t>
            </a:r>
            <a:endParaRPr sz="2800"/>
          </a:p>
        </p:txBody>
      </p:sp>
      <p:pic>
        <p:nvPicPr>
          <p:cNvPr id="1149"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252721e6ed5424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9BA7BDD1-B401-9532-3A90-883A29A4D80C}"/>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pic>
        <p:nvPicPr>
          <p:cNvPr id="1151" name="Picture 518"/>
          <p:cNvPicPr>
            <a:picLocks xmlns:a="http://schemas.openxmlformats.org/drawingml/2006/main" noChangeAspect="1"/>
          </p:cNvPicPr>
          <p:nvPr/>
        </p:nvPicPr>
        <p:blipFill>
          <a:blip xmlns:r="http://schemas.openxmlformats.org/officeDocument/2006/relationships" xmlns:a="http://schemas.openxmlformats.org/drawingml/2006/main" r:embed="R9831594cb459401b"/>
          <a:stretch xmlns:a="http://schemas.openxmlformats.org/drawingml/2006/main"/>
        </p:blipFill>
        <p:spPr>
          <a:xfrm xmlns:a="http://schemas.openxmlformats.org/drawingml/2006/main">
            <a:off x="3111500" y="1143000"/>
            <a:ext cx="5969000" cy="4476750"/>
          </a:xfrm>
          <a:prstGeom xmlns:a="http://schemas.openxmlformats.org/drawingml/2006/main" prst="rect">
            <a:avLst/>
          </a:prstGeom>
        </p:spPr>
      </p:pic>
      <p:sp>
        <p:nvSpPr>
          <p:cNvPr id="221" name="architecture-caption">
            <a:extLst xmlns:a="http://schemas.openxmlformats.org/drawingml/2006/main">
              <a:ext uri="{FF2B5EF4-FFF2-40B4-BE49-F238E27FC236}">
                <a16:creationId xmlns:a16="http://schemas.microsoft.com/office/drawing/2014/main" id="{5F354A9E-A34D-443F-9641-0389D0C1B311}"/>
              </a:ext>
            </a:extLst>
          </p:cNvPr>
          <p:cNvSpPr>
            <a:spLocks xmlns:a="http://schemas.openxmlformats.org/drawingml/2006/main" noGrp="1"/>
          </p:cNvSpPr>
          <p:nvPr/>
        </p:nvSpPr>
        <p:spPr>
          <a:xfrm xmlns:a="http://schemas.openxmlformats.org/drawingml/2006/main">
            <a:off x="1095375" y="56197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425" b="0" i="1">
                <a:solidFill>
                  <a:srgbClr val="1F2937"/>
                </a:solidFill>
                <a:latin typeface="Arial"/>
                <a:ea typeface="Arial"/>
                <a:cs typeface="Arial"/>
              </a:defRPr>
            </a:pPr>
            <a:r>
              <a:rPr sz="1425" b="0" i="1">
                <a:solidFill>
                  <a:srgbClr val="1F2937"/>
                </a:solidFill>
                <a:latin typeface="Arial"/>
                <a:ea typeface="Arial"/>
                <a:cs typeface="Arial"/>
              </a:rPr>
              <a:t>Fig. 1. End-to-end CAABC-FL architecture with privacy, encrypted transport, verification, governance, and audit layers.</a:t>
            </a:r>
          </a:p>
        </p:txBody>
      </p:sp>
      <p:sp>
        <p:nvSpPr>
          <p:cNvPr id="225" name="visible-footer-date-14">
            <a:extLst xmlns:a="http://schemas.openxmlformats.org/drawingml/2006/main">
              <a:ext uri="{FF2B5EF4-FFF2-40B4-BE49-F238E27FC236}">
                <a16:creationId xmlns:a16="http://schemas.microsoft.com/office/drawing/2014/main" id="{814A7836-9876-42DA-930B-6EA53E85DC1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9" name="system-approach-bottom-cover">
            <a:extLst xmlns:a="http://schemas.openxmlformats.org/drawingml/2006/main">
              <a:ext uri="{FF2B5EF4-FFF2-40B4-BE49-F238E27FC236}">
                <a16:creationId xmlns:a16="http://schemas.microsoft.com/office/drawing/2014/main" id="{E3A906FD-7BF6-484C-BDB4-58637173EB14}"/>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155" name="Picture 522"/>
          <p:cNvPicPr>
            <a:picLocks xmlns:a="http://schemas.openxmlformats.org/drawingml/2006/main" noChangeAspect="1"/>
          </p:cNvPicPr>
          <p:nvPr/>
        </p:nvPicPr>
        <p:blipFill>
          <a:blip xmlns:r="http://schemas.openxmlformats.org/officeDocument/2006/relationships" xmlns:a="http://schemas.openxmlformats.org/drawingml/2006/main" r:embed="Re1f041ef8baa4315"/>
          <a:stretch xmlns:a="http://schemas.openxmlformats.org/drawingml/2006/main"/>
        </p:blipFill>
        <p:spPr>
          <a:xfrm xmlns:a="http://schemas.openxmlformats.org/drawingml/2006/main">
            <a:off x="667606" y="1276350"/>
            <a:ext cx="10856789" cy="3857625"/>
          </a:xfrm>
          <a:prstGeom xmlns:a="http://schemas.openxmlformats.org/drawingml/2006/main" prst="rect">
            <a:avLst/>
          </a:prstGeom>
        </p:spPr>
      </p:pic>
      <p:sp>
        <p:nvSpPr>
          <p:cNvPr id="231" name="system-approach-caption-part-2">
            <a:extLst xmlns:a="http://schemas.openxmlformats.org/drawingml/2006/main">
              <a:ext uri="{FF2B5EF4-FFF2-40B4-BE49-F238E27FC236}">
                <a16:creationId xmlns:a16="http://schemas.microsoft.com/office/drawing/2014/main" id="{18971FE5-D80A-483E-A284-E1BB231D4782}"/>
              </a:ext>
            </a:extLst>
          </p:cNvPr>
          <p:cNvSpPr>
            <a:spLocks xmlns:a="http://schemas.openxmlformats.org/drawingml/2006/main" noGrp="1"/>
          </p:cNvSpPr>
          <p:nvPr/>
        </p:nvSpPr>
        <p:spPr>
          <a:xfrm xmlns:a="http://schemas.openxmlformats.org/drawingml/2006/main">
            <a:off x="1095375" y="5276850"/>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425" i="1">
                <a:solidFill>
                  <a:srgbClr val="1F2937"/>
                </a:solidFill>
                <a:latin typeface="Arial"/>
                <a:ea typeface="Arial"/>
                <a:cs typeface="Arial"/>
              </a:defRPr>
            </a:pPr>
            <a:r>
              <a:rPr sz="1425" i="1">
                <a:solidFill>
                  <a:srgbClr val="1F2937"/>
                </a:solidFill>
                <a:latin typeface="Arial"/>
                <a:ea typeface="Arial"/>
                <a:cs typeface="Arial"/>
              </a:rPr>
              <a:t>Fig. 1(b). Authenticated transport, trust policy, encrypted aggregation, validation, threshold release, verified distribution, and private inference.</a:t>
            </a:r>
          </a:p>
        </p:txBody>
      </p:sp>
      <p:sp>
        <p:nvSpPr>
          <p:cNvPr id="232" name="system-split-border">
            <a:extLst xmlns:a="http://schemas.openxmlformats.org/drawingml/2006/main">
              <a:ext uri="{FF2B5EF4-FFF2-40B4-BE49-F238E27FC236}">
                <a16:creationId xmlns:a16="http://schemas.microsoft.com/office/drawing/2014/main" id="{9F2CC37C-0250-40E7-86DF-B4885E0E33BB}"/>
              </a:ext>
            </a:extLst>
          </p:cNvPr>
          <p:cNvSpPr>
            <a:spLocks xmlns:a="http://schemas.openxmlformats.org/drawingml/2006/main" noGrp="1"/>
          </p:cNvSpPr>
          <p:nvPr/>
        </p:nvSpPr>
        <p:spPr>
          <a:xfrm xmlns:a="http://schemas.openxmlformats.org/drawingml/2006/main">
            <a:off x="285750" y="295275"/>
            <a:ext cx="11811000" cy="6324600"/>
          </a:xfrm>
          <a:prstGeom xmlns:a="http://schemas.openxmlformats.org/drawingml/2006/main" prst="rect">
            <a:avLst/>
          </a:prstGeom>
          <a:noFill xmlns:a="http://schemas.openxmlformats.org/drawingml/2006/main"/>
          <a:ln xmlns:a="http://schemas.openxmlformats.org/drawingml/2006/main" w="11430">
            <a:solidFill>
              <a:srgbClr val="222222"/>
            </a:solidFill>
          </a:ln>
        </p:spPr>
      </p:sp>
      <p:pic>
        <p:nvPicPr>
          <p:cNvPr id="1158" name="Picture 527"/>
          <p:cNvPicPr>
            <a:picLocks xmlns:a="http://schemas.openxmlformats.org/drawingml/2006/main" noChangeAspect="1"/>
          </p:cNvPicPr>
          <p:nvPr/>
        </p:nvPicPr>
        <p:blipFill>
          <a:blip xmlns:r="http://schemas.openxmlformats.org/officeDocument/2006/relationships" xmlns:a="http://schemas.openxmlformats.org/drawingml/2006/main" r:embed="R2252721e6ed54247"/>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236" name="system-split-visible-date">
            <a:extLst xmlns:a="http://schemas.openxmlformats.org/drawingml/2006/main">
              <a:ext uri="{FF2B5EF4-FFF2-40B4-BE49-F238E27FC236}">
                <a16:creationId xmlns:a16="http://schemas.microsoft.com/office/drawing/2014/main" id="{327A7C41-1D12-4BBD-90CE-548504B079D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lnSpcReduction="10000"/>
          </a:bodyPr>
          <a:lstStyle xmlns:a="http://schemas.openxmlformats.org/drawingml/2006/main"/>
          <a:p xmlns:a="http://schemas.openxmlformats.org/drawingml/2006/main">
            <a:pPr algn="l">
              <a:buNone/>
              <a:defRPr sz="900">
                <a:solidFill>
                  <a:srgbClr val="062B6F"/>
                </a:solidFill>
                <a:latin typeface="Arial"/>
                <a:ea typeface="Arial"/>
                <a:cs typeface="Arial"/>
              </a:defRPr>
            </a:pPr>
            <a:r>
              <a:rPr sz="900">
                <a:solidFill>
                  <a:srgbClr val="062B6F"/>
                </a:solidFill>
                <a:latin typeface="Arial"/>
                <a:ea typeface="Arial"/>
                <a:cs typeface="Arial"/>
              </a:rPr>
              <a:t>25 September 2026</a:t>
            </a:r>
          </a:p>
        </p:txBody>
      </p:sp>
      <p:sp>
        <p:nvSpPr>
          <p:cNvPr id="243" name="native-release-pipeline-cover">
            <a:extLst xmlns:a="http://schemas.openxmlformats.org/drawingml/2006/main">
              <a:ext uri="{FF2B5EF4-FFF2-40B4-BE49-F238E27FC236}">
                <a16:creationId xmlns:a16="http://schemas.microsoft.com/office/drawing/2014/main" id="{B1AC3206-E032-4B91-9184-F82DCF820FF1}"/>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44" name="L4-lane-background">
            <a:extLst xmlns:a="http://schemas.openxmlformats.org/drawingml/2006/main">
              <a:ext uri="{FF2B5EF4-FFF2-40B4-BE49-F238E27FC236}">
                <a16:creationId xmlns:a16="http://schemas.microsoft.com/office/drawing/2014/main" id="{09E3513A-5CB7-4816-AADC-B212D8729B78}"/>
              </a:ext>
            </a:extLst>
          </p:cNvPr>
          <p:cNvSpPr>
            <a:spLocks xmlns:a="http://schemas.openxmlformats.org/drawingml/2006/main" noGrp="1"/>
          </p:cNvSpPr>
          <p:nvPr/>
        </p:nvSpPr>
        <p:spPr>
          <a:xfrm xmlns:a="http://schemas.openxmlformats.org/drawingml/2006/main">
            <a:off x="819150" y="1333500"/>
            <a:ext cx="10572750" cy="895350"/>
          </a:xfrm>
          <a:prstGeom xmlns:a="http://schemas.openxmlformats.org/drawingml/2006/main" prst="roundRect">
            <a:avLst>
              <a:gd name="adj" fmla="val 8511"/>
            </a:avLst>
          </a:prstGeom>
          <a:solidFill xmlns:a="http://schemas.openxmlformats.org/drawingml/2006/main">
            <a:srgbClr val="FFF6E3"/>
          </a:solidFill>
          <a:ln xmlns:a="http://schemas.openxmlformats.org/drawingml/2006/main" w="9525">
            <a:solidFill>
              <a:srgbClr val="D8E0E8"/>
            </a:solidFill>
          </a:ln>
        </p:spPr>
      </p:sp>
      <p:sp>
        <p:nvSpPr>
          <p:cNvPr id="245" name="L4-lane-label">
            <a:extLst xmlns:a="http://schemas.openxmlformats.org/drawingml/2006/main">
              <a:ext uri="{FF2B5EF4-FFF2-40B4-BE49-F238E27FC236}">
                <a16:creationId xmlns:a16="http://schemas.microsoft.com/office/drawing/2014/main" id="{5674893F-4486-4B37-AABF-42C9CE8ABEFA}"/>
              </a:ext>
            </a:extLst>
          </p:cNvPr>
          <p:cNvSpPr>
            <a:spLocks xmlns:a="http://schemas.openxmlformats.org/drawingml/2006/main" noGrp="1"/>
          </p:cNvSpPr>
          <p:nvPr/>
        </p:nvSpPr>
        <p:spPr>
          <a:xfrm xmlns:a="http://schemas.openxmlformats.org/drawingml/2006/main">
            <a:off x="914400" y="1428750"/>
            <a:ext cx="1381125" cy="704850"/>
          </a:xfrm>
          <a:prstGeom xmlns:a="http://schemas.openxmlformats.org/drawingml/2006/main" prst="roundRect">
            <a:avLst>
              <a:gd name="adj" fmla="val 10811"/>
            </a:avLst>
          </a:prstGeom>
          <a:solidFill xmlns:a="http://schemas.openxmlformats.org/drawingml/2006/main">
            <a:srgbClr val="A66F0A"/>
          </a:solidFill>
          <a:ln xmlns:a="http://schemas.openxmlformats.org/drawingml/2006/main" w="9525">
            <a:solidFill>
              <a:srgbClr val="A66F0A"/>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L4</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Trust and transport</a:t>
            </a:r>
          </a:p>
        </p:txBody>
      </p:sp>
      <p:sp>
        <p:nvSpPr>
          <p:cNvPr id="246" name="L5-lane-background">
            <a:extLst xmlns:a="http://schemas.openxmlformats.org/drawingml/2006/main">
              <a:ext uri="{FF2B5EF4-FFF2-40B4-BE49-F238E27FC236}">
                <a16:creationId xmlns:a16="http://schemas.microsoft.com/office/drawing/2014/main" id="{35B580AB-35F2-4E62-8572-D443B5922050}"/>
              </a:ext>
            </a:extLst>
          </p:cNvPr>
          <p:cNvSpPr>
            <a:spLocks xmlns:a="http://schemas.openxmlformats.org/drawingml/2006/main" noGrp="1"/>
          </p:cNvSpPr>
          <p:nvPr/>
        </p:nvSpPr>
        <p:spPr>
          <a:xfrm xmlns:a="http://schemas.openxmlformats.org/drawingml/2006/main">
            <a:off x="819150" y="2324100"/>
            <a:ext cx="10572750" cy="1333500"/>
          </a:xfrm>
          <a:prstGeom xmlns:a="http://schemas.openxmlformats.org/drawingml/2006/main" prst="roundRect">
            <a:avLst>
              <a:gd name="adj" fmla="val 5714"/>
            </a:avLst>
          </a:prstGeom>
          <a:solidFill xmlns:a="http://schemas.openxmlformats.org/drawingml/2006/main">
            <a:srgbClr val="EDF7F0"/>
          </a:solidFill>
          <a:ln xmlns:a="http://schemas.openxmlformats.org/drawingml/2006/main" w="9525">
            <a:solidFill>
              <a:srgbClr val="D8E0E8"/>
            </a:solidFill>
          </a:ln>
        </p:spPr>
      </p:sp>
      <p:sp>
        <p:nvSpPr>
          <p:cNvPr id="247" name="L5-lane-label">
            <a:extLst xmlns:a="http://schemas.openxmlformats.org/drawingml/2006/main">
              <a:ext uri="{FF2B5EF4-FFF2-40B4-BE49-F238E27FC236}">
                <a16:creationId xmlns:a16="http://schemas.microsoft.com/office/drawing/2014/main" id="{DBBDB24D-534D-4864-B96F-CF722C78DAD3}"/>
              </a:ext>
            </a:extLst>
          </p:cNvPr>
          <p:cNvSpPr>
            <a:spLocks xmlns:a="http://schemas.openxmlformats.org/drawingml/2006/main" noGrp="1"/>
          </p:cNvSpPr>
          <p:nvPr/>
        </p:nvSpPr>
        <p:spPr>
          <a:xfrm xmlns:a="http://schemas.openxmlformats.org/drawingml/2006/main">
            <a:off x="914400" y="2419350"/>
            <a:ext cx="1381125" cy="1143000"/>
          </a:xfrm>
          <a:prstGeom xmlns:a="http://schemas.openxmlformats.org/drawingml/2006/main" prst="roundRect">
            <a:avLst>
              <a:gd name="adj" fmla="val 6667"/>
            </a:avLst>
          </a:prstGeom>
          <a:solidFill xmlns:a="http://schemas.openxmlformats.org/drawingml/2006/main">
            <a:srgbClr val="2E7D4F"/>
          </a:solidFill>
          <a:ln xmlns:a="http://schemas.openxmlformats.org/drawingml/2006/main" w="9525">
            <a:solidFill>
              <a:srgbClr val="2E7D4F"/>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L5</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Secure aggregation</a:t>
            </a:r>
          </a:p>
        </p:txBody>
      </p:sp>
      <p:sp>
        <p:nvSpPr>
          <p:cNvPr id="248" name="L6-lane-background">
            <a:extLst xmlns:a="http://schemas.openxmlformats.org/drawingml/2006/main">
              <a:ext uri="{FF2B5EF4-FFF2-40B4-BE49-F238E27FC236}">
                <a16:creationId xmlns:a16="http://schemas.microsoft.com/office/drawing/2014/main" id="{0C0B051A-D6CA-45B1-A268-E52798527E74}"/>
              </a:ext>
            </a:extLst>
          </p:cNvPr>
          <p:cNvSpPr>
            <a:spLocks xmlns:a="http://schemas.openxmlformats.org/drawingml/2006/main" noGrp="1"/>
          </p:cNvSpPr>
          <p:nvPr/>
        </p:nvSpPr>
        <p:spPr>
          <a:xfrm xmlns:a="http://schemas.openxmlformats.org/drawingml/2006/main">
            <a:off x="819150" y="3752850"/>
            <a:ext cx="10572750" cy="876300"/>
          </a:xfrm>
          <a:prstGeom xmlns:a="http://schemas.openxmlformats.org/drawingml/2006/main" prst="roundRect">
            <a:avLst>
              <a:gd name="adj" fmla="val 8696"/>
            </a:avLst>
          </a:prstGeom>
          <a:solidFill xmlns:a="http://schemas.openxmlformats.org/drawingml/2006/main">
            <a:srgbClr val="EDF7F0"/>
          </a:solidFill>
          <a:ln xmlns:a="http://schemas.openxmlformats.org/drawingml/2006/main" w="9525">
            <a:solidFill>
              <a:srgbClr val="D8E0E8"/>
            </a:solidFill>
          </a:ln>
        </p:spPr>
      </p:sp>
      <p:sp>
        <p:nvSpPr>
          <p:cNvPr id="249" name="L6-lane-label">
            <a:extLst xmlns:a="http://schemas.openxmlformats.org/drawingml/2006/main">
              <a:ext uri="{FF2B5EF4-FFF2-40B4-BE49-F238E27FC236}">
                <a16:creationId xmlns:a16="http://schemas.microsoft.com/office/drawing/2014/main" id="{E9543AEF-D764-406C-A3A0-010F4F0FD0FF}"/>
              </a:ext>
            </a:extLst>
          </p:cNvPr>
          <p:cNvSpPr>
            <a:spLocks xmlns:a="http://schemas.openxmlformats.org/drawingml/2006/main" noGrp="1"/>
          </p:cNvSpPr>
          <p:nvPr/>
        </p:nvSpPr>
        <p:spPr>
          <a:xfrm xmlns:a="http://schemas.openxmlformats.org/drawingml/2006/main">
            <a:off x="914400" y="3848100"/>
            <a:ext cx="1381125" cy="685800"/>
          </a:xfrm>
          <a:prstGeom xmlns:a="http://schemas.openxmlformats.org/drawingml/2006/main" prst="roundRect">
            <a:avLst>
              <a:gd name="adj" fmla="val 11111"/>
            </a:avLst>
          </a:prstGeom>
          <a:solidFill xmlns:a="http://schemas.openxmlformats.org/drawingml/2006/main">
            <a:srgbClr val="2E7D4F"/>
          </a:solidFill>
          <a:ln xmlns:a="http://schemas.openxmlformats.org/drawingml/2006/main" w="9525">
            <a:solidFill>
              <a:srgbClr val="2E7D4F"/>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L6</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Verified release</a:t>
            </a:r>
          </a:p>
        </p:txBody>
      </p:sp>
      <p:sp>
        <p:nvSpPr>
          <p:cNvPr id="250" name="L7-lane-background">
            <a:extLst xmlns:a="http://schemas.openxmlformats.org/drawingml/2006/main">
              <a:ext uri="{FF2B5EF4-FFF2-40B4-BE49-F238E27FC236}">
                <a16:creationId xmlns:a16="http://schemas.microsoft.com/office/drawing/2014/main" id="{D9321302-1A93-489F-BC90-BAB44DCB630C}"/>
              </a:ext>
            </a:extLst>
          </p:cNvPr>
          <p:cNvSpPr>
            <a:spLocks xmlns:a="http://schemas.openxmlformats.org/drawingml/2006/main" noGrp="1"/>
          </p:cNvSpPr>
          <p:nvPr/>
        </p:nvSpPr>
        <p:spPr>
          <a:xfrm xmlns:a="http://schemas.openxmlformats.org/drawingml/2006/main">
            <a:off x="819150" y="4724400"/>
            <a:ext cx="10572750" cy="876300"/>
          </a:xfrm>
          <a:prstGeom xmlns:a="http://schemas.openxmlformats.org/drawingml/2006/main" prst="roundRect">
            <a:avLst>
              <a:gd name="adj" fmla="val 8696"/>
            </a:avLst>
          </a:prstGeom>
          <a:solidFill xmlns:a="http://schemas.openxmlformats.org/drawingml/2006/main">
            <a:srgbClr val="ECF7F6"/>
          </a:solidFill>
          <a:ln xmlns:a="http://schemas.openxmlformats.org/drawingml/2006/main" w="9525">
            <a:solidFill>
              <a:srgbClr val="D8E0E8"/>
            </a:solidFill>
          </a:ln>
        </p:spPr>
      </p:sp>
      <p:sp>
        <p:nvSpPr>
          <p:cNvPr id="251" name="L7-lane-label">
            <a:extLst xmlns:a="http://schemas.openxmlformats.org/drawingml/2006/main">
              <a:ext uri="{FF2B5EF4-FFF2-40B4-BE49-F238E27FC236}">
                <a16:creationId xmlns:a16="http://schemas.microsoft.com/office/drawing/2014/main" id="{E2D74EF4-B0D2-4F6B-AAC3-912FAAE1EFF7}"/>
              </a:ext>
            </a:extLst>
          </p:cNvPr>
          <p:cNvSpPr>
            <a:spLocks xmlns:a="http://schemas.openxmlformats.org/drawingml/2006/main" noGrp="1"/>
          </p:cNvSpPr>
          <p:nvPr/>
        </p:nvSpPr>
        <p:spPr>
          <a:xfrm xmlns:a="http://schemas.openxmlformats.org/drawingml/2006/main">
            <a:off x="914400" y="4819650"/>
            <a:ext cx="1381125" cy="685800"/>
          </a:xfrm>
          <a:prstGeom xmlns:a="http://schemas.openxmlformats.org/drawingml/2006/main" prst="roundRect">
            <a:avLst>
              <a:gd name="adj" fmla="val 11111"/>
            </a:avLst>
          </a:prstGeom>
          <a:solidFill xmlns:a="http://schemas.openxmlformats.org/drawingml/2006/main">
            <a:srgbClr val="287D78"/>
          </a:solidFill>
          <a:ln xmlns:a="http://schemas.openxmlformats.org/drawingml/2006/main" w="9525">
            <a:solidFill>
              <a:srgbClr val="287D78"/>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L7</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Private inference</a:t>
            </a:r>
          </a:p>
        </p:txBody>
      </p:sp>
      <p:sp>
        <p:nvSpPr>
          <p:cNvPr id="252" name="l4-mtls">
            <a:extLst xmlns:a="http://schemas.openxmlformats.org/drawingml/2006/main">
              <a:ext uri="{FF2B5EF4-FFF2-40B4-BE49-F238E27FC236}">
                <a16:creationId xmlns:a16="http://schemas.microsoft.com/office/drawing/2014/main" id="{EB74CFD5-298D-495C-BD1C-035783E5DBCB}"/>
              </a:ext>
            </a:extLst>
          </p:cNvPr>
          <p:cNvSpPr>
            <a:spLocks xmlns:a="http://schemas.openxmlformats.org/drawingml/2006/main" noGrp="1"/>
          </p:cNvSpPr>
          <p:nvPr/>
        </p:nvSpPr>
        <p:spPr>
          <a:xfrm xmlns:a="http://schemas.openxmlformats.org/drawingml/2006/main">
            <a:off x="2476500" y="1524000"/>
            <a:ext cx="1619250" cy="514350"/>
          </a:xfrm>
          <a:prstGeom xmlns:a="http://schemas.openxmlformats.org/drawingml/2006/main" prst="roundRect">
            <a:avLst>
              <a:gd name="adj" fmla="val 14815"/>
            </a:avLst>
          </a:prstGeom>
          <a:solidFill xmlns:a="http://schemas.openxmlformats.org/drawingml/2006/main">
            <a:srgbClr val="FFF6E3"/>
          </a:solidFill>
          <a:ln xmlns:a="http://schemas.openxmlformats.org/drawingml/2006/main" w="13335">
            <a:solidFill>
              <a:srgbClr val="A66F0A"/>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Mutual TLS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secure channel</a:t>
            </a:r>
          </a:p>
        </p:txBody>
      </p:sp>
      <p:sp>
        <p:nvSpPr>
          <p:cNvPr id="253" name="l4-verify">
            <a:extLst xmlns:a="http://schemas.openxmlformats.org/drawingml/2006/main">
              <a:ext uri="{FF2B5EF4-FFF2-40B4-BE49-F238E27FC236}">
                <a16:creationId xmlns:a16="http://schemas.microsoft.com/office/drawing/2014/main" id="{5C443436-7287-45F4-BD19-8E4A19BAC0B2}"/>
              </a:ext>
            </a:extLst>
          </p:cNvPr>
          <p:cNvSpPr>
            <a:spLocks xmlns:a="http://schemas.openxmlformats.org/drawingml/2006/main" noGrp="1"/>
          </p:cNvSpPr>
          <p:nvPr/>
        </p:nvSpPr>
        <p:spPr>
          <a:xfrm xmlns:a="http://schemas.openxmlformats.org/drawingml/2006/main">
            <a:off x="4524375" y="1524000"/>
            <a:ext cx="1857375" cy="514350"/>
          </a:xfrm>
          <a:prstGeom xmlns:a="http://schemas.openxmlformats.org/drawingml/2006/main" prst="roundRect">
            <a:avLst>
              <a:gd name="adj" fmla="val 14815"/>
            </a:avLst>
          </a:prstGeom>
          <a:solidFill xmlns:a="http://schemas.openxmlformats.org/drawingml/2006/main">
            <a:srgbClr val="FFF6E3"/>
          </a:solidFill>
          <a:ln xmlns:a="http://schemas.openxmlformats.org/drawingml/2006/main" w="13335">
            <a:solidFill>
              <a:srgbClr val="A66F0A"/>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Verify identity, signature</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round freshness</a:t>
            </a:r>
          </a:p>
        </p:txBody>
      </p:sp>
      <p:sp>
        <p:nvSpPr>
          <p:cNvPr id="254" name="l4-admit">
            <a:extLst xmlns:a="http://schemas.openxmlformats.org/drawingml/2006/main">
              <a:ext uri="{FF2B5EF4-FFF2-40B4-BE49-F238E27FC236}">
                <a16:creationId xmlns:a16="http://schemas.microsoft.com/office/drawing/2014/main" id="{53CE035A-2A77-4748-955D-E940258CE5D1}"/>
              </a:ext>
            </a:extLst>
          </p:cNvPr>
          <p:cNvSpPr>
            <a:spLocks xmlns:a="http://schemas.openxmlformats.org/drawingml/2006/main" noGrp="1"/>
          </p:cNvSpPr>
          <p:nvPr/>
        </p:nvSpPr>
        <p:spPr>
          <a:xfrm xmlns:a="http://schemas.openxmlformats.org/drawingml/2006/main">
            <a:off x="6810375" y="1524000"/>
            <a:ext cx="1809750" cy="514350"/>
          </a:xfrm>
          <a:prstGeom xmlns:a="http://schemas.openxmlformats.org/drawingml/2006/main" prst="roundRect">
            <a:avLst>
              <a:gd name="adj" fmla="val 14815"/>
            </a:avLst>
          </a:prstGeom>
          <a:solidFill xmlns:a="http://schemas.openxmlformats.org/drawingml/2006/main">
            <a:srgbClr val="FFF6E3"/>
          </a:solidFill>
          <a:ln xmlns:a="http://schemas.openxmlformats.org/drawingml/2006/main" w="13335">
            <a:solidFill>
              <a:srgbClr val="A66F0A"/>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Admission policy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reputation check</a:t>
            </a:r>
          </a:p>
        </p:txBody>
      </p:sp>
      <p:sp>
        <p:nvSpPr>
          <p:cNvPr id="255" name="l4-ledger">
            <a:extLst xmlns:a="http://schemas.openxmlformats.org/drawingml/2006/main">
              <a:ext uri="{FF2B5EF4-FFF2-40B4-BE49-F238E27FC236}">
                <a16:creationId xmlns:a16="http://schemas.microsoft.com/office/drawing/2014/main" id="{CF8EC2A1-4D15-4565-9680-ED14178B4034}"/>
              </a:ext>
            </a:extLst>
          </p:cNvPr>
          <p:cNvSpPr>
            <a:spLocks xmlns:a="http://schemas.openxmlformats.org/drawingml/2006/main" noGrp="1"/>
          </p:cNvSpPr>
          <p:nvPr/>
        </p:nvSpPr>
        <p:spPr>
          <a:xfrm xmlns:a="http://schemas.openxmlformats.org/drawingml/2006/main">
            <a:off x="9048750" y="1524000"/>
            <a:ext cx="1952625" cy="514350"/>
          </a:xfrm>
          <a:prstGeom xmlns:a="http://schemas.openxmlformats.org/drawingml/2006/main" prst="roundRect">
            <a:avLst>
              <a:gd name="adj" fmla="val 14815"/>
            </a:avLst>
          </a:prstGeom>
          <a:solidFill xmlns:a="http://schemas.openxmlformats.org/drawingml/2006/main">
            <a:srgbClr val="FFF6E3"/>
          </a:solidFill>
          <a:ln xmlns:a="http://schemas.openxmlformats.org/drawingml/2006/main" w="13335">
            <a:solidFill>
              <a:srgbClr val="A66F0A"/>
            </a:solidFill>
          </a:ln>
        </p:spPr>
        <p:txBody>
          <a:bodyPr xmlns:a="http://schemas.openxmlformats.org/drawingml/2006/main" anchor="ctr">
            <a:normAutofit fontScale="90803"/>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Ciphertext off-chain</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hash and status on ledger</a:t>
            </a:r>
          </a:p>
        </p:txBody>
      </p:sp>
      <p:cxnSp>
        <p:nvCxnSpPr>
          <p:cNvPr id="1173" name="Straight Arrow Connector 542"/>
          <p:cNvCxnSpPr>
            <a:stCxn xmlns:a="http://schemas.openxmlformats.org/drawingml/2006/main" id="252" idx="3"/>
            <a:endCxn xmlns:a="http://schemas.openxmlformats.org/drawingml/2006/main" id="253" idx="1"/>
          </p:cNvCxnSpPr>
          <p:nvPr/>
        </p:nvCxnSpPr>
        <p:spPr>
          <a:xfrm xmlns:a="http://schemas.openxmlformats.org/drawingml/2006/main">
            <a:off x="4095750" y="1781175"/>
            <a:ext cx="4286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174" name="Straight Arrow Connector 543"/>
          <p:cNvCxnSpPr>
            <a:stCxn xmlns:a="http://schemas.openxmlformats.org/drawingml/2006/main" id="253" idx="3"/>
            <a:endCxn xmlns:a="http://schemas.openxmlformats.org/drawingml/2006/main" id="254" idx="1"/>
          </p:cNvCxnSpPr>
          <p:nvPr/>
        </p:nvCxnSpPr>
        <p:spPr>
          <a:xfrm xmlns:a="http://schemas.openxmlformats.org/drawingml/2006/main">
            <a:off x="6381750" y="1781175"/>
            <a:ext cx="4286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175" name="Straight Arrow Connector 544"/>
          <p:cNvCxnSpPr>
            <a:stCxn xmlns:a="http://schemas.openxmlformats.org/drawingml/2006/main" id="254" idx="3"/>
            <a:endCxn xmlns:a="http://schemas.openxmlformats.org/drawingml/2006/main" id="255" idx="1"/>
          </p:cNvCxnSpPr>
          <p:nvPr/>
        </p:nvCxnSpPr>
        <p:spPr>
          <a:xfrm xmlns:a="http://schemas.openxmlformats.org/drawingml/2006/main">
            <a:off x="8620125" y="1781175"/>
            <a:ext cx="4286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59" name="l5-quorum">
            <a:extLst xmlns:a="http://schemas.openxmlformats.org/drawingml/2006/main">
              <a:ext uri="{FF2B5EF4-FFF2-40B4-BE49-F238E27FC236}">
                <a16:creationId xmlns:a16="http://schemas.microsoft.com/office/drawing/2014/main" id="{6A773FF3-EE2F-493E-9D55-9E2EFF3A0419}"/>
              </a:ext>
            </a:extLst>
          </p:cNvPr>
          <p:cNvSpPr>
            <a:spLocks xmlns:a="http://schemas.openxmlformats.org/drawingml/2006/main" noGrp="1"/>
          </p:cNvSpPr>
          <p:nvPr/>
        </p:nvSpPr>
        <p:spPr>
          <a:xfrm xmlns:a="http://schemas.openxmlformats.org/drawingml/2006/main">
            <a:off x="2343150" y="2724150"/>
            <a:ext cx="1381125" cy="533400"/>
          </a:xfrm>
          <a:prstGeom xmlns:a="http://schemas.openxmlformats.org/drawingml/2006/main" prst="roundRect">
            <a:avLst>
              <a:gd name="adj" fmla="val 14286"/>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Quorum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dropout handling</a:t>
            </a:r>
          </a:p>
        </p:txBody>
      </p:sp>
      <p:sp>
        <p:nvSpPr>
          <p:cNvPr id="260" name="l5-fedavg">
            <a:extLst xmlns:a="http://schemas.openxmlformats.org/drawingml/2006/main">
              <a:ext uri="{FF2B5EF4-FFF2-40B4-BE49-F238E27FC236}">
                <a16:creationId xmlns:a16="http://schemas.microsoft.com/office/drawing/2014/main" id="{80102FEA-2126-4AE3-A615-5B3CD4D47D7A}"/>
              </a:ext>
            </a:extLst>
          </p:cNvPr>
          <p:cNvSpPr>
            <a:spLocks xmlns:a="http://schemas.openxmlformats.org/drawingml/2006/main" noGrp="1"/>
          </p:cNvSpPr>
          <p:nvPr/>
        </p:nvSpPr>
        <p:spPr>
          <a:xfrm xmlns:a="http://schemas.openxmlformats.org/drawingml/2006/main">
            <a:off x="4000500" y="2724150"/>
            <a:ext cx="1619250" cy="533400"/>
          </a:xfrm>
          <a:prstGeom xmlns:a="http://schemas.openxmlformats.org/drawingml/2006/main" prst="roundRect">
            <a:avLst>
              <a:gd name="adj" fmla="val 14286"/>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3147"/>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Reputation-weighted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homomorphic FedAvg</a:t>
            </a:r>
          </a:p>
        </p:txBody>
      </p:sp>
      <p:sp>
        <p:nvSpPr>
          <p:cNvPr id="261" name="l5-decrypt">
            <a:extLst xmlns:a="http://schemas.openxmlformats.org/drawingml/2006/main">
              <a:ext uri="{FF2B5EF4-FFF2-40B4-BE49-F238E27FC236}">
                <a16:creationId xmlns:a16="http://schemas.microsoft.com/office/drawing/2014/main" id="{ED1B2A6C-4649-4427-A1FE-873CB8B69D86}"/>
              </a:ext>
            </a:extLst>
          </p:cNvPr>
          <p:cNvSpPr>
            <a:spLocks xmlns:a="http://schemas.openxmlformats.org/drawingml/2006/main" noGrp="1"/>
          </p:cNvSpPr>
          <p:nvPr/>
        </p:nvSpPr>
        <p:spPr>
          <a:xfrm xmlns:a="http://schemas.openxmlformats.org/drawingml/2006/main">
            <a:off x="5895975" y="2724150"/>
            <a:ext cx="1476375" cy="533400"/>
          </a:xfrm>
          <a:prstGeom xmlns:a="http://schemas.openxmlformats.org/drawingml/2006/main" prst="roundRect">
            <a:avLst>
              <a:gd name="adj" fmla="val 14286"/>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Threshold decrypt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aggregate only</a:t>
            </a:r>
          </a:p>
        </p:txBody>
      </p:sp>
      <p:sp>
        <p:nvSpPr>
          <p:cNvPr id="262" name="l5-validate">
            <a:extLst xmlns:a="http://schemas.openxmlformats.org/drawingml/2006/main">
              <a:ext uri="{FF2B5EF4-FFF2-40B4-BE49-F238E27FC236}">
                <a16:creationId xmlns:a16="http://schemas.microsoft.com/office/drawing/2014/main" id="{EEB77686-D3D0-4666-8225-CCB147821891}"/>
              </a:ext>
            </a:extLst>
          </p:cNvPr>
          <p:cNvSpPr>
            <a:spLocks xmlns:a="http://schemas.openxmlformats.org/drawingml/2006/main" noGrp="1"/>
          </p:cNvSpPr>
          <p:nvPr/>
        </p:nvSpPr>
        <p:spPr>
          <a:xfrm xmlns:a="http://schemas.openxmlformats.org/drawingml/2006/main">
            <a:off x="7648575" y="2724150"/>
            <a:ext cx="1524000" cy="533400"/>
          </a:xfrm>
          <a:prstGeom xmlns:a="http://schemas.openxmlformats.org/drawingml/2006/main" prst="roundRect">
            <a:avLst>
              <a:gd name="adj" fmla="val 14286"/>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2703"/>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Validate utility, drift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anomaly checks</a:t>
            </a:r>
          </a:p>
        </p:txBody>
      </p:sp>
      <p:sp>
        <p:nvSpPr>
          <p:cNvPr id="263" name="l5-decision">
            <a:extLst xmlns:a="http://schemas.openxmlformats.org/drawingml/2006/main">
              <a:ext uri="{FF2B5EF4-FFF2-40B4-BE49-F238E27FC236}">
                <a16:creationId xmlns:a16="http://schemas.microsoft.com/office/drawing/2014/main" id="{BC3B00FA-F196-4BDF-9D42-CD87EEED5A18}"/>
              </a:ext>
            </a:extLst>
          </p:cNvPr>
          <p:cNvSpPr>
            <a:spLocks xmlns:a="http://schemas.openxmlformats.org/drawingml/2006/main" noGrp="1"/>
          </p:cNvSpPr>
          <p:nvPr/>
        </p:nvSpPr>
        <p:spPr>
          <a:xfrm xmlns:a="http://schemas.openxmlformats.org/drawingml/2006/main">
            <a:off x="9353550" y="2657475"/>
            <a:ext cx="838200" cy="666750"/>
          </a:xfrm>
          <a:prstGeom xmlns:a="http://schemas.openxmlformats.org/drawingml/2006/main" prst="diamond">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83095" lnSpcReduction="20000"/>
          </a:bodyPr>
          <a:lstStyle xmlns:a="http://schemas.openxmlformats.org/drawingml/2006/main"/>
          <a:p xmlns:a="http://schemas.openxmlformats.org/drawingml/2006/main">
            <a:pPr algn="ctr">
              <a:buNone/>
              <a:defRPr sz="1050" b="1">
                <a:solidFill>
                  <a:srgbClr val="1F2937"/>
                </a:solidFill>
                <a:latin typeface="Arial"/>
                <a:ea typeface="Arial"/>
                <a:cs typeface="Arial"/>
              </a:defRPr>
            </a:pPr>
            <a:r>
              <a:rPr sz="1050" b="1">
                <a:solidFill>
                  <a:srgbClr val="1F2937"/>
                </a:solidFill>
                <a:latin typeface="Arial"/>
                <a:ea typeface="Arial"/>
                <a:cs typeface="Arial"/>
              </a:rPr>
              <a:t>Pass?</a:t>
            </a:r>
          </a:p>
        </p:txBody>
      </p:sp>
      <p:cxnSp>
        <p:nvCxnSpPr>
          <p:cNvPr id="1181" name="Straight Arrow Connector 550"/>
          <p:cNvCxnSpPr>
            <a:stCxn xmlns:a="http://schemas.openxmlformats.org/drawingml/2006/main" id="259" idx="3"/>
            <a:endCxn xmlns:a="http://schemas.openxmlformats.org/drawingml/2006/main" id="260" idx="1"/>
          </p:cNvCxnSpPr>
          <p:nvPr/>
        </p:nvCxnSpPr>
        <p:spPr>
          <a:xfrm xmlns:a="http://schemas.openxmlformats.org/drawingml/2006/main">
            <a:off x="3724275" y="2990850"/>
            <a:ext cx="2762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182" name="Straight Arrow Connector 551"/>
          <p:cNvCxnSpPr>
            <a:stCxn xmlns:a="http://schemas.openxmlformats.org/drawingml/2006/main" id="260" idx="3"/>
            <a:endCxn xmlns:a="http://schemas.openxmlformats.org/drawingml/2006/main" id="261" idx="1"/>
          </p:cNvCxnSpPr>
          <p:nvPr/>
        </p:nvCxnSpPr>
        <p:spPr>
          <a:xfrm xmlns:a="http://schemas.openxmlformats.org/drawingml/2006/main">
            <a:off x="5619750" y="2990850"/>
            <a:ext cx="2762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183" name="Straight Arrow Connector 552"/>
          <p:cNvCxnSpPr>
            <a:stCxn xmlns:a="http://schemas.openxmlformats.org/drawingml/2006/main" id="261" idx="3"/>
            <a:endCxn xmlns:a="http://schemas.openxmlformats.org/drawingml/2006/main" id="262" idx="1"/>
          </p:cNvCxnSpPr>
          <p:nvPr/>
        </p:nvCxnSpPr>
        <p:spPr>
          <a:xfrm xmlns:a="http://schemas.openxmlformats.org/drawingml/2006/main">
            <a:off x="7372350" y="2990850"/>
            <a:ext cx="2762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184" name="Straight Arrow Connector 553"/>
          <p:cNvCxnSpPr>
            <a:stCxn xmlns:a="http://schemas.openxmlformats.org/drawingml/2006/main" id="262" idx="3"/>
            <a:endCxn xmlns:a="http://schemas.openxmlformats.org/drawingml/2006/main" id="263" idx="1"/>
          </p:cNvCxnSpPr>
          <p:nvPr/>
        </p:nvCxnSpPr>
        <p:spPr>
          <a:xfrm xmlns:a="http://schemas.openxmlformats.org/drawingml/2006/main">
            <a:off x="9172575" y="2990850"/>
            <a:ext cx="1809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68" name="l5-accept">
            <a:extLst xmlns:a="http://schemas.openxmlformats.org/drawingml/2006/main">
              <a:ext uri="{FF2B5EF4-FFF2-40B4-BE49-F238E27FC236}">
                <a16:creationId xmlns:a16="http://schemas.microsoft.com/office/drawing/2014/main" id="{B290B1B0-3FD4-4DF9-80AB-79B80DF555A6}"/>
              </a:ext>
            </a:extLst>
          </p:cNvPr>
          <p:cNvSpPr>
            <a:spLocks xmlns:a="http://schemas.openxmlformats.org/drawingml/2006/main" noGrp="1"/>
          </p:cNvSpPr>
          <p:nvPr/>
        </p:nvSpPr>
        <p:spPr>
          <a:xfrm xmlns:a="http://schemas.openxmlformats.org/drawingml/2006/main">
            <a:off x="10382250" y="2447925"/>
            <a:ext cx="904875" cy="400050"/>
          </a:xfrm>
          <a:prstGeom xmlns:a="http://schemas.openxmlformats.org/drawingml/2006/main" prst="roundRect">
            <a:avLst>
              <a:gd name="adj" fmla="val 19048"/>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89981" lnSpcReduction="10000"/>
          </a:bodyPr>
          <a:lstStyle xmlns:a="http://schemas.openxmlformats.org/drawingml/2006/main"/>
          <a:p xmlns:a="http://schemas.openxmlformats.org/drawingml/2006/main">
            <a:pPr algn="ctr">
              <a:buNone/>
              <a:defRPr sz="1050" b="1">
                <a:solidFill>
                  <a:srgbClr val="1F2937"/>
                </a:solidFill>
                <a:latin typeface="Arial"/>
                <a:ea typeface="Arial"/>
                <a:cs typeface="Arial"/>
              </a:defRPr>
            </a:pPr>
            <a:r>
              <a:rPr sz="1050" b="1">
                <a:solidFill>
                  <a:srgbClr val="1F2937"/>
                </a:solidFill>
                <a:latin typeface="Arial"/>
                <a:ea typeface="Arial"/>
                <a:cs typeface="Arial"/>
              </a:rPr>
              <a:t>Accept model</a:t>
            </a:r>
          </a:p>
        </p:txBody>
      </p:sp>
      <p:sp>
        <p:nvSpPr>
          <p:cNvPr id="269" name="l5-reject">
            <a:extLst xmlns:a="http://schemas.openxmlformats.org/drawingml/2006/main">
              <a:ext uri="{FF2B5EF4-FFF2-40B4-BE49-F238E27FC236}">
                <a16:creationId xmlns:a16="http://schemas.microsoft.com/office/drawing/2014/main" id="{4189A42B-F3E3-4595-BD80-16F3C5CF3BAD}"/>
              </a:ext>
            </a:extLst>
          </p:cNvPr>
          <p:cNvSpPr>
            <a:spLocks xmlns:a="http://schemas.openxmlformats.org/drawingml/2006/main" noGrp="1"/>
          </p:cNvSpPr>
          <p:nvPr/>
        </p:nvSpPr>
        <p:spPr>
          <a:xfrm xmlns:a="http://schemas.openxmlformats.org/drawingml/2006/main">
            <a:off x="10382250" y="3105150"/>
            <a:ext cx="904875" cy="419100"/>
          </a:xfrm>
          <a:prstGeom xmlns:a="http://schemas.openxmlformats.org/drawingml/2006/main" prst="roundRect">
            <a:avLst>
              <a:gd name="adj" fmla="val 18182"/>
            </a:avLst>
          </a:prstGeom>
          <a:solidFill xmlns:a="http://schemas.openxmlformats.org/drawingml/2006/main">
            <a:srgbClr val="FDEEEE"/>
          </a:solidFill>
          <a:ln xmlns:a="http://schemas.openxmlformats.org/drawingml/2006/main" w="13335">
            <a:solidFill>
              <a:srgbClr val="C94B4B"/>
            </a:solidFill>
          </a:ln>
        </p:spPr>
        <p:txBody>
          <a:bodyPr xmlns:a="http://schemas.openxmlformats.org/drawingml/2006/main" anchor="ctr">
            <a:normAutofit fontScale="74025" lnSpcReduction="20000"/>
          </a:bodyPr>
          <a:lstStyle xmlns:a="http://schemas.openxmlformats.org/drawingml/2006/main"/>
          <a:p xmlns:a="http://schemas.openxmlformats.org/drawingml/2006/main">
            <a:pPr algn="ctr">
              <a:buNone/>
              <a:defRPr sz="1050" b="1">
                <a:solidFill>
                  <a:srgbClr val="1F2937"/>
                </a:solidFill>
                <a:latin typeface="Arial"/>
                <a:ea typeface="Arial"/>
                <a:cs typeface="Arial"/>
              </a:defRPr>
            </a:pPr>
            <a:r>
              <a:rPr sz="1050" b="1">
                <a:solidFill>
                  <a:srgbClr val="1F2937"/>
                </a:solidFill>
                <a:latin typeface="Arial"/>
                <a:ea typeface="Arial"/>
                <a:cs typeface="Arial"/>
              </a:rPr>
              <a:t>Rollback and</a:t>
            </a:r>
          </a:p>
          <a:p xmlns:a="http://schemas.openxmlformats.org/drawingml/2006/main">
            <a:pPr algn="ctr">
              <a:buNone/>
              <a:defRPr sz="1050" b="1">
                <a:solidFill>
                  <a:srgbClr val="1F2937"/>
                </a:solidFill>
                <a:latin typeface="Arial"/>
                <a:ea typeface="Arial"/>
                <a:cs typeface="Arial"/>
              </a:defRPr>
            </a:pPr>
            <a:r>
              <a:rPr sz="1050" b="1">
                <a:solidFill>
                  <a:srgbClr val="1F2937"/>
                </a:solidFill>
                <a:latin typeface="Arial"/>
                <a:ea typeface="Arial"/>
                <a:cs typeface="Arial"/>
              </a:rPr>
              <a:t>quarantine</a:t>
            </a:r>
          </a:p>
        </p:txBody>
      </p:sp>
      <p:cxnSp>
        <p:nvCxnSpPr>
          <p:cNvPr id="1187" name="Connector: Elbow 556"/>
          <p:cNvCxnSpPr>
            <a:stCxn xmlns:a="http://schemas.openxmlformats.org/drawingml/2006/main" id="263" idx="3"/>
            <a:endCxn xmlns:a="http://schemas.openxmlformats.org/drawingml/2006/main" id="268" idx="1"/>
          </p:cNvCxnSpPr>
          <p:nvPr/>
        </p:nvCxnSpPr>
        <p:spPr>
          <a:xfrm xmlns:a="http://schemas.openxmlformats.org/drawingml/2006/main" flipV="1">
            <a:off x="10191750" y="2647950"/>
            <a:ext cx="190500" cy="342900"/>
          </a:xfrm>
          <a:prstGeom xmlns:a="http://schemas.openxmlformats.org/drawingml/2006/main" prst="bentConnector3">
            <a:avLst>
              <a:gd name="adj1" fmla="val 50000"/>
            </a:avLst>
          </a:prstGeom>
          <a:ln xmlns:a="http://schemas.openxmlformats.org/drawingml/2006/main" w="16193">
            <a:solidFill>
              <a:srgbClr val="2E7D4F"/>
            </a:solidFill>
            <a:prstDash val="solid"/>
            <a:headEnd type="none" w="med" len="med"/>
            <a:tailEnd type="triangle" w="sm" len="sm"/>
          </a:ln>
        </p:spPr>
      </p:cxnSp>
      <p:cxnSp>
        <p:nvCxnSpPr>
          <p:cNvPr id="1188" name="Connector: Elbow 557"/>
          <p:cNvCxnSpPr>
            <a:stCxn xmlns:a="http://schemas.openxmlformats.org/drawingml/2006/main" id="263" idx="2"/>
            <a:endCxn xmlns:a="http://schemas.openxmlformats.org/drawingml/2006/main" id="269" idx="1"/>
          </p:cNvCxnSpPr>
          <p:nvPr/>
        </p:nvCxnSpPr>
        <p:spPr>
          <a:xfrm xmlns:a="http://schemas.openxmlformats.org/drawingml/2006/main" flipV="1">
            <a:off x="9772650" y="3314700"/>
            <a:ext cx="609600" cy="9525"/>
          </a:xfrm>
          <a:prstGeom xmlns:a="http://schemas.openxmlformats.org/drawingml/2006/main" prst="bentConnector3">
            <a:avLst>
              <a:gd name="adj1" fmla="val 0"/>
            </a:avLst>
          </a:prstGeom>
          <a:ln xmlns:a="http://schemas.openxmlformats.org/drawingml/2006/main" w="16193">
            <a:solidFill>
              <a:srgbClr val="C94B4B"/>
            </a:solidFill>
            <a:prstDash val="solid"/>
            <a:headEnd type="none" w="med" len="med"/>
            <a:tailEnd type="triangle" w="sm" len="sm"/>
          </a:ln>
        </p:spPr>
      </p:cxnSp>
      <p:sp>
        <p:nvSpPr>
          <p:cNvPr id="272" name="accept-label">
            <a:extLst xmlns:a="http://schemas.openxmlformats.org/drawingml/2006/main">
              <a:ext uri="{FF2B5EF4-FFF2-40B4-BE49-F238E27FC236}">
                <a16:creationId xmlns:a16="http://schemas.microsoft.com/office/drawing/2014/main" id="{8E306D12-4090-4BF4-8EAA-7DABEB8CF822}"/>
              </a:ext>
            </a:extLst>
          </p:cNvPr>
          <p:cNvSpPr>
            <a:spLocks xmlns:a="http://schemas.openxmlformats.org/drawingml/2006/main" noGrp="1"/>
          </p:cNvSpPr>
          <p:nvPr/>
        </p:nvSpPr>
        <p:spPr>
          <a:xfrm xmlns:a="http://schemas.openxmlformats.org/drawingml/2006/main">
            <a:off x="10163175" y="24479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9523" lnSpcReduction="20000"/>
          </a:bodyPr>
          <a:lstStyle xmlns:a="http://schemas.openxmlformats.org/drawingml/2006/main"/>
          <a:p xmlns:a="http://schemas.openxmlformats.org/drawingml/2006/main">
            <a:pPr algn="ctr">
              <a:buNone/>
              <a:defRPr sz="825" b="1">
                <a:solidFill>
                  <a:srgbClr val="2E7D4F"/>
                </a:solidFill>
                <a:latin typeface="Arial"/>
                <a:ea typeface="Arial"/>
                <a:cs typeface="Arial"/>
              </a:defRPr>
            </a:pPr>
            <a:r>
              <a:rPr sz="825" b="1">
                <a:solidFill>
                  <a:srgbClr val="2E7D4F"/>
                </a:solidFill>
                <a:latin typeface="Arial"/>
                <a:ea typeface="Arial"/>
                <a:cs typeface="Arial"/>
              </a:rPr>
              <a:t>YES</a:t>
            </a:r>
          </a:p>
        </p:txBody>
      </p:sp>
      <p:sp>
        <p:nvSpPr>
          <p:cNvPr id="273" name="reject-label">
            <a:extLst xmlns:a="http://schemas.openxmlformats.org/drawingml/2006/main">
              <a:ext uri="{FF2B5EF4-FFF2-40B4-BE49-F238E27FC236}">
                <a16:creationId xmlns:a16="http://schemas.microsoft.com/office/drawing/2014/main" id="{2E444E79-6138-4BBB-86BD-6266C96D64E4}"/>
              </a:ext>
            </a:extLst>
          </p:cNvPr>
          <p:cNvSpPr>
            <a:spLocks xmlns:a="http://schemas.openxmlformats.org/drawingml/2006/main" noGrp="1"/>
          </p:cNvSpPr>
          <p:nvPr/>
        </p:nvSpPr>
        <p:spPr>
          <a:xfrm xmlns:a="http://schemas.openxmlformats.org/drawingml/2006/main">
            <a:off x="10086975" y="3257550"/>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5277" lnSpcReduction="20000"/>
          </a:bodyPr>
          <a:lstStyle xmlns:a="http://schemas.openxmlformats.org/drawingml/2006/main"/>
          <a:p xmlns:a="http://schemas.openxmlformats.org/drawingml/2006/main">
            <a:pPr algn="ctr">
              <a:buNone/>
              <a:defRPr sz="825" b="1">
                <a:solidFill>
                  <a:srgbClr val="C94B4B"/>
                </a:solidFill>
                <a:latin typeface="Arial"/>
                <a:ea typeface="Arial"/>
                <a:cs typeface="Arial"/>
              </a:defRPr>
            </a:pPr>
            <a:r>
              <a:rPr sz="825" b="1">
                <a:solidFill>
                  <a:srgbClr val="C94B4B"/>
                </a:solidFill>
                <a:latin typeface="Arial"/>
                <a:ea typeface="Arial"/>
                <a:cs typeface="Arial"/>
              </a:rPr>
              <a:t>NO</a:t>
            </a:r>
          </a:p>
        </p:txBody>
      </p:sp>
      <p:sp>
        <p:nvSpPr>
          <p:cNvPr id="274" name="l6-record">
            <a:extLst xmlns:a="http://schemas.openxmlformats.org/drawingml/2006/main">
              <a:ext uri="{FF2B5EF4-FFF2-40B4-BE49-F238E27FC236}">
                <a16:creationId xmlns:a16="http://schemas.microsoft.com/office/drawing/2014/main" id="{DDD347D4-BDDF-4091-B408-4538BFC7CC55}"/>
              </a:ext>
            </a:extLst>
          </p:cNvPr>
          <p:cNvSpPr>
            <a:spLocks xmlns:a="http://schemas.openxmlformats.org/drawingml/2006/main" noGrp="1"/>
          </p:cNvSpPr>
          <p:nvPr/>
        </p:nvSpPr>
        <p:spPr>
          <a:xfrm xmlns:a="http://schemas.openxmlformats.org/drawingml/2006/main">
            <a:off x="2638425" y="3943350"/>
            <a:ext cx="1666875" cy="495300"/>
          </a:xfrm>
          <a:prstGeom xmlns:a="http://schemas.openxmlformats.org/drawingml/2006/main" prst="roundRect">
            <a:avLst>
              <a:gd name="adj" fmla="val 15385"/>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Record global-model</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hash</a:t>
            </a:r>
          </a:p>
        </p:txBody>
      </p:sp>
      <p:sp>
        <p:nvSpPr>
          <p:cNvPr id="275" name="l6-broadcast">
            <a:extLst xmlns:a="http://schemas.openxmlformats.org/drawingml/2006/main">
              <a:ext uri="{FF2B5EF4-FFF2-40B4-BE49-F238E27FC236}">
                <a16:creationId xmlns:a16="http://schemas.microsoft.com/office/drawing/2014/main" id="{81870695-226F-4D05-8587-02783712BD68}"/>
              </a:ext>
            </a:extLst>
          </p:cNvPr>
          <p:cNvSpPr>
            <a:spLocks xmlns:a="http://schemas.openxmlformats.org/drawingml/2006/main" noGrp="1"/>
          </p:cNvSpPr>
          <p:nvPr/>
        </p:nvSpPr>
        <p:spPr>
          <a:xfrm xmlns:a="http://schemas.openxmlformats.org/drawingml/2006/main">
            <a:off x="4781550" y="3943350"/>
            <a:ext cx="1666875" cy="495300"/>
          </a:xfrm>
          <a:prstGeom xmlns:a="http://schemas.openxmlformats.org/drawingml/2006/main" prst="roundRect">
            <a:avLst>
              <a:gd name="adj" fmla="val 15385"/>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Signed secure</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broadcast</a:t>
            </a:r>
          </a:p>
        </p:txBody>
      </p:sp>
      <p:sp>
        <p:nvSpPr>
          <p:cNvPr id="276" name="l6-verify">
            <a:extLst xmlns:a="http://schemas.openxmlformats.org/drawingml/2006/main">
              <a:ext uri="{FF2B5EF4-FFF2-40B4-BE49-F238E27FC236}">
                <a16:creationId xmlns:a16="http://schemas.microsoft.com/office/drawing/2014/main" id="{603F78C0-586C-4CEC-8D06-A0742952D251}"/>
              </a:ext>
            </a:extLst>
          </p:cNvPr>
          <p:cNvSpPr>
            <a:spLocks xmlns:a="http://schemas.openxmlformats.org/drawingml/2006/main" noGrp="1"/>
          </p:cNvSpPr>
          <p:nvPr/>
        </p:nvSpPr>
        <p:spPr>
          <a:xfrm xmlns:a="http://schemas.openxmlformats.org/drawingml/2006/main">
            <a:off x="6924675" y="3943350"/>
            <a:ext cx="1666875" cy="495300"/>
          </a:xfrm>
          <a:prstGeom xmlns:a="http://schemas.openxmlformats.org/drawingml/2006/main" prst="roundRect">
            <a:avLst>
              <a:gd name="adj" fmla="val 15385"/>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Hospitals verify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version and hash</a:t>
            </a:r>
          </a:p>
        </p:txBody>
      </p:sp>
      <p:sp>
        <p:nvSpPr>
          <p:cNvPr id="277" name="l6-next">
            <a:extLst xmlns:a="http://schemas.openxmlformats.org/drawingml/2006/main">
              <a:ext uri="{FF2B5EF4-FFF2-40B4-BE49-F238E27FC236}">
                <a16:creationId xmlns:a16="http://schemas.microsoft.com/office/drawing/2014/main" id="{A68478F7-87A2-4FBC-B7FF-369AF12D4132}"/>
              </a:ext>
            </a:extLst>
          </p:cNvPr>
          <p:cNvSpPr>
            <a:spLocks xmlns:a="http://schemas.openxmlformats.org/drawingml/2006/main" noGrp="1"/>
          </p:cNvSpPr>
          <p:nvPr/>
        </p:nvSpPr>
        <p:spPr>
          <a:xfrm xmlns:a="http://schemas.openxmlformats.org/drawingml/2006/main">
            <a:off x="9067800" y="3943350"/>
            <a:ext cx="1476375" cy="495300"/>
          </a:xfrm>
          <a:prstGeom xmlns:a="http://schemas.openxmlformats.org/drawingml/2006/main" prst="roundRect">
            <a:avLst>
              <a:gd name="adj" fmla="val 15385"/>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Begin next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FL round</a:t>
            </a:r>
          </a:p>
        </p:txBody>
      </p:sp>
      <p:cxnSp>
        <p:nvCxnSpPr>
          <p:cNvPr id="1195" name="Straight Arrow Connector 564"/>
          <p:cNvCxnSpPr>
            <a:stCxn xmlns:a="http://schemas.openxmlformats.org/drawingml/2006/main" id="274" idx="3"/>
            <a:endCxn xmlns:a="http://schemas.openxmlformats.org/drawingml/2006/main" id="275" idx="1"/>
          </p:cNvCxnSpPr>
          <p:nvPr/>
        </p:nvCxnSpPr>
        <p:spPr>
          <a:xfrm xmlns:a="http://schemas.openxmlformats.org/drawingml/2006/main">
            <a:off x="4305300" y="4191000"/>
            <a:ext cx="4762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196" name="Straight Arrow Connector 565"/>
          <p:cNvCxnSpPr>
            <a:stCxn xmlns:a="http://schemas.openxmlformats.org/drawingml/2006/main" id="275" idx="3"/>
            <a:endCxn xmlns:a="http://schemas.openxmlformats.org/drawingml/2006/main" id="276" idx="1"/>
          </p:cNvCxnSpPr>
          <p:nvPr/>
        </p:nvCxnSpPr>
        <p:spPr>
          <a:xfrm xmlns:a="http://schemas.openxmlformats.org/drawingml/2006/main">
            <a:off x="6448425" y="4191000"/>
            <a:ext cx="4762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197" name="Straight Arrow Connector 566"/>
          <p:cNvCxnSpPr>
            <a:stCxn xmlns:a="http://schemas.openxmlformats.org/drawingml/2006/main" id="276" idx="3"/>
            <a:endCxn xmlns:a="http://schemas.openxmlformats.org/drawingml/2006/main" id="277" idx="1"/>
          </p:cNvCxnSpPr>
          <p:nvPr/>
        </p:nvCxnSpPr>
        <p:spPr>
          <a:xfrm xmlns:a="http://schemas.openxmlformats.org/drawingml/2006/main">
            <a:off x="8591550" y="4191000"/>
            <a:ext cx="4762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81" name="l7-auth">
            <a:extLst xmlns:a="http://schemas.openxmlformats.org/drawingml/2006/main">
              <a:ext uri="{FF2B5EF4-FFF2-40B4-BE49-F238E27FC236}">
                <a16:creationId xmlns:a16="http://schemas.microsoft.com/office/drawing/2014/main" id="{19409721-CEAB-43EC-B6AF-F948D7EFDB13}"/>
              </a:ext>
            </a:extLst>
          </p:cNvPr>
          <p:cNvSpPr>
            <a:spLocks xmlns:a="http://schemas.openxmlformats.org/drawingml/2006/main" noGrp="1"/>
          </p:cNvSpPr>
          <p:nvPr/>
        </p:nvSpPr>
        <p:spPr>
          <a:xfrm xmlns:a="http://schemas.openxmlformats.org/drawingml/2006/main">
            <a:off x="2343150" y="4914900"/>
            <a:ext cx="1381125"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Authenticate</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request</a:t>
            </a:r>
          </a:p>
        </p:txBody>
      </p:sp>
      <p:sp>
        <p:nvSpPr>
          <p:cNvPr id="282" name="l7-consent">
            <a:extLst xmlns:a="http://schemas.openxmlformats.org/drawingml/2006/main">
              <a:ext uri="{FF2B5EF4-FFF2-40B4-BE49-F238E27FC236}">
                <a16:creationId xmlns:a16="http://schemas.microsoft.com/office/drawing/2014/main" id="{DDB05C49-B6EE-4642-97F5-1CF0226CCCE5}"/>
              </a:ext>
            </a:extLst>
          </p:cNvPr>
          <p:cNvSpPr>
            <a:spLocks xmlns:a="http://schemas.openxmlformats.org/drawingml/2006/main" noGrp="1"/>
          </p:cNvSpPr>
          <p:nvPr/>
        </p:nvSpPr>
        <p:spPr>
          <a:xfrm xmlns:a="http://schemas.openxmlformats.org/drawingml/2006/main">
            <a:off x="3981450" y="4914900"/>
            <a:ext cx="1428750"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Consent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authorization</a:t>
            </a:r>
          </a:p>
        </p:txBody>
      </p:sp>
      <p:sp>
        <p:nvSpPr>
          <p:cNvPr id="283" name="l7-infer">
            <a:extLst xmlns:a="http://schemas.openxmlformats.org/drawingml/2006/main">
              <a:ext uri="{FF2B5EF4-FFF2-40B4-BE49-F238E27FC236}">
                <a16:creationId xmlns:a16="http://schemas.microsoft.com/office/drawing/2014/main" id="{8F97F9D7-557C-4EC7-8ACC-3C7C633777BC}"/>
              </a:ext>
            </a:extLst>
          </p:cNvPr>
          <p:cNvSpPr>
            <a:spLocks xmlns:a="http://schemas.openxmlformats.org/drawingml/2006/main" noGrp="1"/>
          </p:cNvSpPr>
          <p:nvPr/>
        </p:nvSpPr>
        <p:spPr>
          <a:xfrm xmlns:a="http://schemas.openxmlformats.org/drawingml/2006/main">
            <a:off x="5667375" y="4914900"/>
            <a:ext cx="1619250"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88991"/>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Encrypted or</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confidential inference</a:t>
            </a:r>
          </a:p>
        </p:txBody>
      </p:sp>
      <p:sp>
        <p:nvSpPr>
          <p:cNvPr id="284" name="l7-decrypt">
            <a:extLst xmlns:a="http://schemas.openxmlformats.org/drawingml/2006/main">
              <a:ext uri="{FF2B5EF4-FFF2-40B4-BE49-F238E27FC236}">
                <a16:creationId xmlns:a16="http://schemas.microsoft.com/office/drawing/2014/main" id="{4F4AF1CD-710F-4C7B-B7AA-0799FF8D502B}"/>
              </a:ext>
            </a:extLst>
          </p:cNvPr>
          <p:cNvSpPr>
            <a:spLocks xmlns:a="http://schemas.openxmlformats.org/drawingml/2006/main" noGrp="1"/>
          </p:cNvSpPr>
          <p:nvPr/>
        </p:nvSpPr>
        <p:spPr>
          <a:xfrm xmlns:a="http://schemas.openxmlformats.org/drawingml/2006/main">
            <a:off x="7543800" y="4914900"/>
            <a:ext cx="1476375"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Controlled result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decryption</a:t>
            </a:r>
          </a:p>
        </p:txBody>
      </p:sp>
      <p:sp>
        <p:nvSpPr>
          <p:cNvPr id="285" name="l7-output">
            <a:extLst xmlns:a="http://schemas.openxmlformats.org/drawingml/2006/main">
              <a:ext uri="{FF2B5EF4-FFF2-40B4-BE49-F238E27FC236}">
                <a16:creationId xmlns:a16="http://schemas.microsoft.com/office/drawing/2014/main" id="{754DEA59-7302-40AB-B1C4-EE419E527356}"/>
              </a:ext>
            </a:extLst>
          </p:cNvPr>
          <p:cNvSpPr>
            <a:spLocks xmlns:a="http://schemas.openxmlformats.org/drawingml/2006/main" noGrp="1"/>
          </p:cNvSpPr>
          <p:nvPr/>
        </p:nvSpPr>
        <p:spPr>
          <a:xfrm xmlns:a="http://schemas.openxmlformats.org/drawingml/2006/main">
            <a:off x="9277350" y="4914900"/>
            <a:ext cx="1762125"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Minimized, rate-limited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audited output</a:t>
            </a:r>
          </a:p>
        </p:txBody>
      </p:sp>
      <p:cxnSp>
        <p:nvCxnSpPr>
          <p:cNvPr id="1203" name="Straight Arrow Connector 572"/>
          <p:cNvCxnSpPr>
            <a:stCxn xmlns:a="http://schemas.openxmlformats.org/drawingml/2006/main" id="281" idx="3"/>
            <a:endCxn xmlns:a="http://schemas.openxmlformats.org/drawingml/2006/main" id="282" idx="1"/>
          </p:cNvCxnSpPr>
          <p:nvPr/>
        </p:nvCxnSpPr>
        <p:spPr>
          <a:xfrm xmlns:a="http://schemas.openxmlformats.org/drawingml/2006/main">
            <a:off x="3724275" y="5162550"/>
            <a:ext cx="2571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204" name="Straight Arrow Connector 573"/>
          <p:cNvCxnSpPr>
            <a:stCxn xmlns:a="http://schemas.openxmlformats.org/drawingml/2006/main" id="282" idx="3"/>
            <a:endCxn xmlns:a="http://schemas.openxmlformats.org/drawingml/2006/main" id="283" idx="1"/>
          </p:cNvCxnSpPr>
          <p:nvPr/>
        </p:nvCxnSpPr>
        <p:spPr>
          <a:xfrm xmlns:a="http://schemas.openxmlformats.org/drawingml/2006/main">
            <a:off x="5410200" y="5162550"/>
            <a:ext cx="2571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205" name="Straight Arrow Connector 574"/>
          <p:cNvCxnSpPr>
            <a:stCxn xmlns:a="http://schemas.openxmlformats.org/drawingml/2006/main" id="283" idx="3"/>
            <a:endCxn xmlns:a="http://schemas.openxmlformats.org/drawingml/2006/main" id="284" idx="1"/>
          </p:cNvCxnSpPr>
          <p:nvPr/>
        </p:nvCxnSpPr>
        <p:spPr>
          <a:xfrm xmlns:a="http://schemas.openxmlformats.org/drawingml/2006/main">
            <a:off x="7286625" y="5162550"/>
            <a:ext cx="2571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206" name="Straight Arrow Connector 575"/>
          <p:cNvCxnSpPr>
            <a:stCxn xmlns:a="http://schemas.openxmlformats.org/drawingml/2006/main" id="284" idx="3"/>
            <a:endCxn xmlns:a="http://schemas.openxmlformats.org/drawingml/2006/main" id="285" idx="1"/>
          </p:cNvCxnSpPr>
          <p:nvPr/>
        </p:nvCxnSpPr>
        <p:spPr>
          <a:xfrm xmlns:a="http://schemas.openxmlformats.org/drawingml/2006/main">
            <a:off x="9020175" y="5162550"/>
            <a:ext cx="2571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207" name="Connector: Elbow 576"/>
          <p:cNvCxnSpPr>
            <a:stCxn xmlns:a="http://schemas.openxmlformats.org/drawingml/2006/main" id="255" idx="2"/>
            <a:endCxn xmlns:a="http://schemas.openxmlformats.org/drawingml/2006/main" id="259" idx="0"/>
          </p:cNvCxnSpPr>
          <p:nvPr/>
        </p:nvCxnSpPr>
        <p:spPr>
          <a:xfrm xmlns:a="http://schemas.openxmlformats.org/drawingml/2006/main" flipH="1">
            <a:off x="3033713" y="2038350"/>
            <a:ext cx="6991350" cy="685800"/>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1208" name="Connector: Elbow 577"/>
          <p:cNvCxnSpPr/>
          <p:nvPr/>
        </p:nvCxnSpPr>
        <p:spPr>
          <a:xfrm xmlns:a="http://schemas.openxmlformats.org/drawingml/2006/main" flipH="1">
            <a:off x="3524250" y="2862262"/>
            <a:ext cx="7362825" cy="1095375"/>
          </a:xfrm>
          <a:prstGeom xmlns:a="http://schemas.openxmlformats.org/drawingml/2006/main" prst="bentConnector4">
            <a:avLst>
              <a:gd name="adj1" fmla="val 0"/>
              <a:gd name="adj2" fmla="val 69978"/>
            </a:avLst>
          </a:prstGeom>
          <a:ln xmlns:a="http://schemas.openxmlformats.org/drawingml/2006/main" w="16193">
            <a:solidFill>
              <a:srgbClr val="2E7D4F"/>
            </a:solidFill>
            <a:prstDash val="solid"/>
            <a:headEnd type="none" w="med" len="med"/>
            <a:tailEnd type="triangle" w="sm" len="sm"/>
          </a:ln>
        </p:spPr>
      </p:cxnSp>
      <p:cxnSp>
        <p:nvCxnSpPr>
          <p:cNvPr id="1209" name="Connector: Elbow 578"/>
          <p:cNvCxnSpPr>
            <a:stCxn xmlns:a="http://schemas.openxmlformats.org/drawingml/2006/main" id="277" idx="2"/>
            <a:endCxn xmlns:a="http://schemas.openxmlformats.org/drawingml/2006/main" id="281" idx="0"/>
          </p:cNvCxnSpPr>
          <p:nvPr/>
        </p:nvCxnSpPr>
        <p:spPr>
          <a:xfrm xmlns:a="http://schemas.openxmlformats.org/drawingml/2006/main" flipH="1">
            <a:off x="3033713" y="4438650"/>
            <a:ext cx="6772275" cy="476250"/>
          </a:xfrm>
          <a:prstGeom xmlns:a="http://schemas.openxmlformats.org/drawingml/2006/main" prst="bentConnector4">
            <a:avLst>
              <a:gd name="adj1" fmla="val 0"/>
              <a:gd name="adj2" fmla="val 50000"/>
            </a:avLst>
          </a:prstGeom>
          <a:ln xmlns:a="http://schemas.openxmlformats.org/drawingml/2006/main" w="16193">
            <a:solidFill>
              <a:srgbClr val="287D78"/>
            </a:solidFill>
            <a:prstDash val="dash"/>
            <a:headEnd type="none" w="med" len="med"/>
            <a:tailEnd type="triangle" w="sm" len="sm"/>
          </a:ln>
        </p:spPr>
      </p:cxnSp>
      <p:sp>
        <p:nvSpPr>
          <p:cNvPr id="293" name="release-boundary-note">
            <a:extLst xmlns:a="http://schemas.openxmlformats.org/drawingml/2006/main">
              <a:ext uri="{FF2B5EF4-FFF2-40B4-BE49-F238E27FC236}">
                <a16:creationId xmlns:a16="http://schemas.microsoft.com/office/drawing/2014/main" id="{7E225858-8FF8-4DC9-944C-EB0B9F859513}"/>
              </a:ext>
            </a:extLst>
          </p:cNvPr>
          <p:cNvSpPr>
            <a:spLocks xmlns:a="http://schemas.openxmlformats.org/drawingml/2006/main" noGrp="1"/>
          </p:cNvSpPr>
          <p:nvPr/>
        </p:nvSpPr>
        <p:spPr>
          <a:xfrm xmlns:a="http://schemas.openxmlformats.org/drawingml/2006/main">
            <a:off x="2190750" y="5695950"/>
            <a:ext cx="781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003"/>
          </a:bodyPr>
          <a:lstStyle xmlns:a="http://schemas.openxmlformats.org/drawingml/2006/main"/>
          <a:p xmlns:a="http://schemas.openxmlformats.org/drawingml/2006/main">
            <a:pPr algn="ctr">
              <a:buNone/>
              <a:defRPr sz="1200" i="1">
                <a:solidFill>
                  <a:srgbClr val="52606D"/>
                </a:solidFill>
                <a:latin typeface="Arial"/>
                <a:ea typeface="Arial"/>
                <a:cs typeface="Arial"/>
              </a:defRPr>
            </a:pPr>
            <a:r>
              <a:rPr sz="1200" i="1">
                <a:solidFill>
                  <a:srgbClr val="52606D"/>
                </a:solidFill>
                <a:latin typeface="Arial"/>
                <a:ea typeface="Arial"/>
                <a:cs typeface="Arial"/>
              </a:rPr>
              <a:t>Only the validated aggregate can become the global model. The audit ledger stores evidence, not model ciphertexts.</a:t>
            </a:r>
          </a:p>
        </p:txBody>
      </p:sp>
      <p:pic>
        <p:nvPicPr>
          <p:cNvPr id="1211" name="Picture 11"/>
          <p:cNvPicPr>
            <a:picLocks xmlns:a="http://schemas.openxmlformats.org/drawingml/2006/main" noChangeAspect="1"/>
          </p:cNvPicPr>
          <p:nvPr/>
        </p:nvPicPr>
        <p:blipFill>
          <a:blip xmlns:r="http://schemas.openxmlformats.org/officeDocument/2006/relationships" xmlns:a="http://schemas.openxmlformats.org/drawingml/2006/main" r:embed="R9211b27ff3cd4881"/>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224468282"/>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D53C2C4-0238-2DF2-4E36-7218D813FEA6}"/>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defRPr sz="3000" b="1">
                <a:solidFill>
                  <a:srgbClr val="062B6F"/>
                </a:solidFill>
                <a:latin typeface="Arial"/>
                <a:ea typeface="Arial"/>
                <a:cs typeface="Arial"/>
              </a:defRPr>
            </a:pPr>
            <a:r>
              <a:rPr sz="3000" b="1">
                <a:solidFill>
                  <a:srgbClr val="062B6F"/>
                </a:solidFill>
                <a:latin typeface="Arial"/>
                <a:ea typeface="Arial"/>
                <a:cs typeface="Arial"/>
              </a:rPr>
              <a:t>CAABC-FL Algorithm</a:t>
            </a:r>
            <a:endParaRPr/>
          </a:p>
        </p:txBody>
      </p:sp>
      <p:sp>
        <p:nvSpPr>
          <p:cNvPr id="212" name="Google Shape;212;p28">
            <a:extLst xmlns:a="http://schemas.openxmlformats.org/drawingml/2006/main">
              <a:ext uri="{FF2B5EF4-FFF2-40B4-BE49-F238E27FC236}">
                <a16:creationId xmlns:a16="http://schemas.microsoft.com/office/drawing/2014/main" id="{7D7835C0-40C3-DEA8-DB7B-B74329928B9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20</a:t>
            </a:r>
            <a:endParaRPr sz="2800"/>
          </a:p>
        </p:txBody>
      </p:sp>
      <p:pic>
        <p:nvPicPr>
          <p:cNvPr id="1065"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1ad63c0befe1451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9BA7BDD1-B401-9532-3A90-883A29A4D80C}"/>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pic>
        <p:nvPicPr>
          <p:cNvPr id="1067" name="Picture 458"/>
          <p:cNvPicPr>
            <a:picLocks xmlns:a="http://schemas.openxmlformats.org/drawingml/2006/main" noChangeAspect="1"/>
          </p:cNvPicPr>
          <p:nvPr/>
        </p:nvPicPr>
        <p:blipFill>
          <a:blip xmlns:r="http://schemas.openxmlformats.org/officeDocument/2006/relationships" xmlns:a="http://schemas.openxmlformats.org/drawingml/2006/main" r:embed="Rb6fa67cae50f4a58"/>
          <a:stretch xmlns:a="http://schemas.openxmlformats.org/drawingml/2006/main"/>
        </p:blipFill>
        <p:spPr>
          <a:xfrm xmlns:a="http://schemas.openxmlformats.org/drawingml/2006/main">
            <a:off x="3111500" y="1143000"/>
            <a:ext cx="5969000" cy="4476750"/>
          </a:xfrm>
          <a:prstGeom xmlns:a="http://schemas.openxmlformats.org/drawingml/2006/main" prst="rect">
            <a:avLst/>
          </a:prstGeom>
        </p:spPr>
      </p:pic>
      <p:sp>
        <p:nvSpPr>
          <p:cNvPr id="221" name="architecture-caption">
            <a:extLst xmlns:a="http://schemas.openxmlformats.org/drawingml/2006/main">
              <a:ext uri="{FF2B5EF4-FFF2-40B4-BE49-F238E27FC236}">
                <a16:creationId xmlns:a16="http://schemas.microsoft.com/office/drawing/2014/main" id="{5F354A9E-A34D-443F-9641-0389D0C1B311}"/>
              </a:ext>
            </a:extLst>
          </p:cNvPr>
          <p:cNvSpPr>
            <a:spLocks xmlns:a="http://schemas.openxmlformats.org/drawingml/2006/main" noGrp="1"/>
          </p:cNvSpPr>
          <p:nvPr/>
        </p:nvSpPr>
        <p:spPr>
          <a:xfrm xmlns:a="http://schemas.openxmlformats.org/drawingml/2006/main">
            <a:off x="1095375" y="56197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425" b="0" i="1">
                <a:solidFill>
                  <a:srgbClr val="1F2937"/>
                </a:solidFill>
                <a:latin typeface="Arial"/>
                <a:ea typeface="Arial"/>
                <a:cs typeface="Arial"/>
              </a:defRPr>
            </a:pPr>
            <a:r>
              <a:rPr sz="1425" b="0" i="1">
                <a:solidFill>
                  <a:srgbClr val="1F2937"/>
                </a:solidFill>
                <a:latin typeface="Arial"/>
                <a:ea typeface="Arial"/>
                <a:cs typeface="Arial"/>
              </a:rPr>
              <a:t>Fig. 1. End-to-end CAABC-FL architecture with privacy, encrypted transport, verification, governance, and audit layers.</a:t>
            </a:r>
          </a:p>
        </p:txBody>
      </p:sp>
      <p:sp>
        <p:nvSpPr>
          <p:cNvPr id="225" name="visible-footer-date-14">
            <a:extLst xmlns:a="http://schemas.openxmlformats.org/drawingml/2006/main">
              <a:ext uri="{FF2B5EF4-FFF2-40B4-BE49-F238E27FC236}">
                <a16:creationId xmlns:a16="http://schemas.microsoft.com/office/drawing/2014/main" id="{814A7836-9876-42DA-930B-6EA53E85DC1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9" name="system-approach-top-cover">
            <a:extLst xmlns:a="http://schemas.openxmlformats.org/drawingml/2006/main">
              <a:ext uri="{FF2B5EF4-FFF2-40B4-BE49-F238E27FC236}">
                <a16:creationId xmlns:a16="http://schemas.microsoft.com/office/drawing/2014/main" id="{9DF7472F-2598-4AB1-8E9A-98E970C1D43C}"/>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071" name="Picture 462"/>
          <p:cNvPicPr>
            <a:picLocks xmlns:a="http://schemas.openxmlformats.org/drawingml/2006/main" noChangeAspect="1"/>
          </p:cNvPicPr>
          <p:nvPr/>
        </p:nvPicPr>
        <p:blipFill>
          <a:blip xmlns:r="http://schemas.openxmlformats.org/officeDocument/2006/relationships" xmlns:a="http://schemas.openxmlformats.org/drawingml/2006/main" r:embed="Rf293546b28724900"/>
          <a:stretch xmlns:a="http://schemas.openxmlformats.org/drawingml/2006/main"/>
        </p:blipFill>
        <p:spPr>
          <a:xfrm xmlns:a="http://schemas.openxmlformats.org/drawingml/2006/main">
            <a:off x="671232" y="1238250"/>
            <a:ext cx="10849535" cy="3924300"/>
          </a:xfrm>
          <a:prstGeom xmlns:a="http://schemas.openxmlformats.org/drawingml/2006/main" prst="rect">
            <a:avLst/>
          </a:prstGeom>
        </p:spPr>
      </p:pic>
      <p:sp>
        <p:nvSpPr>
          <p:cNvPr id="231" name="system-approach-caption-part-1">
            <a:extLst xmlns:a="http://schemas.openxmlformats.org/drawingml/2006/main">
              <a:ext uri="{FF2B5EF4-FFF2-40B4-BE49-F238E27FC236}">
                <a16:creationId xmlns:a16="http://schemas.microsoft.com/office/drawing/2014/main" id="{2C738972-09F0-47FD-A1B0-410E3A3EA558}"/>
              </a:ext>
            </a:extLst>
          </p:cNvPr>
          <p:cNvSpPr>
            <a:spLocks xmlns:a="http://schemas.openxmlformats.org/drawingml/2006/main" noGrp="1"/>
          </p:cNvSpPr>
          <p:nvPr/>
        </p:nvSpPr>
        <p:spPr>
          <a:xfrm xmlns:a="http://schemas.openxmlformats.org/drawingml/2006/main">
            <a:off x="1095375" y="53149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425" i="1">
                <a:solidFill>
                  <a:srgbClr val="1F2937"/>
                </a:solidFill>
                <a:latin typeface="Arial"/>
                <a:ea typeface="Arial"/>
                <a:cs typeface="Arial"/>
              </a:defRPr>
            </a:pPr>
            <a:r>
              <a:rPr sz="1425" i="1">
                <a:solidFill>
                  <a:srgbClr val="1F2937"/>
                </a:solidFill>
                <a:latin typeface="Arial"/>
                <a:ea typeface="Arial"/>
                <a:cs typeface="Arial"/>
              </a:rPr>
              <a:t>Fig. 1(a). Governance, local data handling, distributed CKKS setup, DP training, CAABC-FL compression, encryption, and signed submission.</a:t>
            </a:r>
          </a:p>
        </p:txBody>
      </p:sp>
      <p:sp>
        <p:nvSpPr>
          <p:cNvPr id="236" name="native-local-pipeline-cover">
            <a:extLst xmlns:a="http://schemas.openxmlformats.org/drawingml/2006/main">
              <a:ext uri="{FF2B5EF4-FFF2-40B4-BE49-F238E27FC236}">
                <a16:creationId xmlns:a16="http://schemas.microsoft.com/office/drawing/2014/main" id="{63076E54-EF4F-4E7E-9F2D-BF83042568CD}"/>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7" name="local-system-header">
            <a:extLst xmlns:a="http://schemas.openxmlformats.org/drawingml/2006/main">
              <a:ext uri="{FF2B5EF4-FFF2-40B4-BE49-F238E27FC236}">
                <a16:creationId xmlns:a16="http://schemas.microsoft.com/office/drawing/2014/main" id="{706016C4-DA04-40BC-858F-5CF33415A322}"/>
              </a:ext>
            </a:extLst>
          </p:cNvPr>
          <p:cNvSpPr>
            <a:spLocks xmlns:a="http://schemas.openxmlformats.org/drawingml/2006/main" noGrp="1"/>
          </p:cNvSpPr>
          <p:nvPr/>
        </p:nvSpPr>
        <p:spPr>
          <a:xfrm xmlns:a="http://schemas.openxmlformats.org/drawingml/2006/main">
            <a:off x="3000375" y="1133475"/>
            <a:ext cx="6191250" cy="361950"/>
          </a:xfrm>
          <a:prstGeom xmlns:a="http://schemas.openxmlformats.org/drawingml/2006/main" prst="roundRect">
            <a:avLst>
              <a:gd name="adj" fmla="val 21053"/>
            </a:avLst>
          </a:prstGeom>
          <a:solidFill xmlns:a="http://schemas.openxmlformats.org/drawingml/2006/main">
            <a:srgbClr val="F4F7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350" b="1">
                <a:solidFill>
                  <a:srgbClr val="1F2937"/>
                </a:solidFill>
                <a:latin typeface="Arial"/>
                <a:ea typeface="Arial"/>
                <a:cs typeface="Arial"/>
              </a:defRPr>
            </a:pPr>
            <a:r>
              <a:rPr sz="1350" b="1">
                <a:solidFill>
                  <a:srgbClr val="1F2937"/>
                </a:solidFill>
                <a:latin typeface="Arial"/>
                <a:ea typeface="Arial"/>
                <a:cs typeface="Arial"/>
              </a:rPr>
              <a:t>Secure Multi-Institutional Healthcare Federated Learning</a:t>
            </a:r>
          </a:p>
        </p:txBody>
      </p:sp>
      <p:sp>
        <p:nvSpPr>
          <p:cNvPr id="238" name="L0-lane-background">
            <a:extLst xmlns:a="http://schemas.openxmlformats.org/drawingml/2006/main">
              <a:ext uri="{FF2B5EF4-FFF2-40B4-BE49-F238E27FC236}">
                <a16:creationId xmlns:a16="http://schemas.microsoft.com/office/drawing/2014/main" id="{73FB87CA-14E0-4603-9DDE-A364A0014D62}"/>
              </a:ext>
            </a:extLst>
          </p:cNvPr>
          <p:cNvSpPr>
            <a:spLocks xmlns:a="http://schemas.openxmlformats.org/drawingml/2006/main" noGrp="1"/>
          </p:cNvSpPr>
          <p:nvPr/>
        </p:nvSpPr>
        <p:spPr>
          <a:xfrm xmlns:a="http://schemas.openxmlformats.org/drawingml/2006/main">
            <a:off x="819150" y="1619250"/>
            <a:ext cx="10572750" cy="876300"/>
          </a:xfrm>
          <a:prstGeom xmlns:a="http://schemas.openxmlformats.org/drawingml/2006/main" prst="roundRect">
            <a:avLst>
              <a:gd name="adj" fmla="val 8696"/>
            </a:avLst>
          </a:prstGeom>
          <a:solidFill xmlns:a="http://schemas.openxmlformats.org/drawingml/2006/main">
            <a:srgbClr val="EEF4FB"/>
          </a:solidFill>
          <a:ln xmlns:a="http://schemas.openxmlformats.org/drawingml/2006/main" w="9525">
            <a:solidFill>
              <a:srgbClr val="D8E0E8"/>
            </a:solidFill>
          </a:ln>
        </p:spPr>
      </p:sp>
      <p:sp>
        <p:nvSpPr>
          <p:cNvPr id="239" name="L0-lane-label">
            <a:extLst xmlns:a="http://schemas.openxmlformats.org/drawingml/2006/main">
              <a:ext uri="{FF2B5EF4-FFF2-40B4-BE49-F238E27FC236}">
                <a16:creationId xmlns:a16="http://schemas.microsoft.com/office/drawing/2014/main" id="{5BB1BD96-5C24-4BE4-B530-145BE438678A}"/>
              </a:ext>
            </a:extLst>
          </p:cNvPr>
          <p:cNvSpPr>
            <a:spLocks xmlns:a="http://schemas.openxmlformats.org/drawingml/2006/main" noGrp="1"/>
          </p:cNvSpPr>
          <p:nvPr/>
        </p:nvSpPr>
        <p:spPr>
          <a:xfrm xmlns:a="http://schemas.openxmlformats.org/drawingml/2006/main">
            <a:off x="914400" y="1714500"/>
            <a:ext cx="1381125" cy="685800"/>
          </a:xfrm>
          <a:prstGeom xmlns:a="http://schemas.openxmlformats.org/drawingml/2006/main" prst="roundRect">
            <a:avLst>
              <a:gd name="adj" fmla="val 11111"/>
            </a:avLst>
          </a:prstGeom>
          <a:solidFill xmlns:a="http://schemas.openxmlformats.org/drawingml/2006/main">
            <a:srgbClr val="2F6690"/>
          </a:solidFill>
          <a:ln xmlns:a="http://schemas.openxmlformats.org/drawingml/2006/main" w="952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L0</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Governance</a:t>
            </a:r>
          </a:p>
        </p:txBody>
      </p:sp>
      <p:sp>
        <p:nvSpPr>
          <p:cNvPr id="240" name="L1-lane-background">
            <a:extLst xmlns:a="http://schemas.openxmlformats.org/drawingml/2006/main">
              <a:ext uri="{FF2B5EF4-FFF2-40B4-BE49-F238E27FC236}">
                <a16:creationId xmlns:a16="http://schemas.microsoft.com/office/drawing/2014/main" id="{4C3E122E-BFCA-4BAA-8878-DB569979C7E0}"/>
              </a:ext>
            </a:extLst>
          </p:cNvPr>
          <p:cNvSpPr>
            <a:spLocks xmlns:a="http://schemas.openxmlformats.org/drawingml/2006/main" noGrp="1"/>
          </p:cNvSpPr>
          <p:nvPr/>
        </p:nvSpPr>
        <p:spPr>
          <a:xfrm xmlns:a="http://schemas.openxmlformats.org/drawingml/2006/main">
            <a:off x="819150" y="2590800"/>
            <a:ext cx="10572750" cy="876300"/>
          </a:xfrm>
          <a:prstGeom xmlns:a="http://schemas.openxmlformats.org/drawingml/2006/main" prst="roundRect">
            <a:avLst>
              <a:gd name="adj" fmla="val 8696"/>
            </a:avLst>
          </a:prstGeom>
          <a:solidFill xmlns:a="http://schemas.openxmlformats.org/drawingml/2006/main">
            <a:srgbClr val="F1F6FB"/>
          </a:solidFill>
          <a:ln xmlns:a="http://schemas.openxmlformats.org/drawingml/2006/main" w="9525">
            <a:solidFill>
              <a:srgbClr val="D8E0E8"/>
            </a:solidFill>
          </a:ln>
        </p:spPr>
      </p:sp>
      <p:sp>
        <p:nvSpPr>
          <p:cNvPr id="241" name="L1-lane-label">
            <a:extLst xmlns:a="http://schemas.openxmlformats.org/drawingml/2006/main">
              <a:ext uri="{FF2B5EF4-FFF2-40B4-BE49-F238E27FC236}">
                <a16:creationId xmlns:a16="http://schemas.microsoft.com/office/drawing/2014/main" id="{C17F811D-0B4B-446F-8551-3A4BEE966D2C}"/>
              </a:ext>
            </a:extLst>
          </p:cNvPr>
          <p:cNvSpPr>
            <a:spLocks xmlns:a="http://schemas.openxmlformats.org/drawingml/2006/main" noGrp="1"/>
          </p:cNvSpPr>
          <p:nvPr/>
        </p:nvSpPr>
        <p:spPr>
          <a:xfrm xmlns:a="http://schemas.openxmlformats.org/drawingml/2006/main">
            <a:off x="914400" y="2686050"/>
            <a:ext cx="1381125" cy="685800"/>
          </a:xfrm>
          <a:prstGeom xmlns:a="http://schemas.openxmlformats.org/drawingml/2006/main" prst="roundRect">
            <a:avLst>
              <a:gd name="adj" fmla="val 11111"/>
            </a:avLst>
          </a:prstGeom>
          <a:solidFill xmlns:a="http://schemas.openxmlformats.org/drawingml/2006/main">
            <a:srgbClr val="3C78A8"/>
          </a:solidFill>
          <a:ln xmlns:a="http://schemas.openxmlformats.org/drawingml/2006/main" w="952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L1</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Local data</a:t>
            </a:r>
          </a:p>
        </p:txBody>
      </p:sp>
      <p:sp>
        <p:nvSpPr>
          <p:cNvPr id="242" name="L2-lane-background">
            <a:extLst xmlns:a="http://schemas.openxmlformats.org/drawingml/2006/main">
              <a:ext uri="{FF2B5EF4-FFF2-40B4-BE49-F238E27FC236}">
                <a16:creationId xmlns:a16="http://schemas.microsoft.com/office/drawing/2014/main" id="{11D9D8EC-208A-44C2-99D8-1BFA83FBBA10}"/>
              </a:ext>
            </a:extLst>
          </p:cNvPr>
          <p:cNvSpPr>
            <a:spLocks xmlns:a="http://schemas.openxmlformats.org/drawingml/2006/main" noGrp="1"/>
          </p:cNvSpPr>
          <p:nvPr/>
        </p:nvSpPr>
        <p:spPr>
          <a:xfrm xmlns:a="http://schemas.openxmlformats.org/drawingml/2006/main">
            <a:off x="819150" y="3562350"/>
            <a:ext cx="10572750" cy="876300"/>
          </a:xfrm>
          <a:prstGeom xmlns:a="http://schemas.openxmlformats.org/drawingml/2006/main" prst="roundRect">
            <a:avLst>
              <a:gd name="adj" fmla="val 8696"/>
            </a:avLst>
          </a:prstGeom>
          <a:solidFill xmlns:a="http://schemas.openxmlformats.org/drawingml/2006/main">
            <a:srgbClr val="ECF7F5"/>
          </a:solidFill>
          <a:ln xmlns:a="http://schemas.openxmlformats.org/drawingml/2006/main" w="9525">
            <a:solidFill>
              <a:srgbClr val="D8E0E8"/>
            </a:solidFill>
          </a:ln>
        </p:spPr>
      </p:sp>
      <p:sp>
        <p:nvSpPr>
          <p:cNvPr id="243" name="L2-lane-label">
            <a:extLst xmlns:a="http://schemas.openxmlformats.org/drawingml/2006/main">
              <a:ext uri="{FF2B5EF4-FFF2-40B4-BE49-F238E27FC236}">
                <a16:creationId xmlns:a16="http://schemas.microsoft.com/office/drawing/2014/main" id="{C47C850B-9B12-437C-B8D9-64382B989158}"/>
              </a:ext>
            </a:extLst>
          </p:cNvPr>
          <p:cNvSpPr>
            <a:spLocks xmlns:a="http://schemas.openxmlformats.org/drawingml/2006/main" noGrp="1"/>
          </p:cNvSpPr>
          <p:nvPr/>
        </p:nvSpPr>
        <p:spPr>
          <a:xfrm xmlns:a="http://schemas.openxmlformats.org/drawingml/2006/main">
            <a:off x="914400" y="3657600"/>
            <a:ext cx="1381125" cy="685800"/>
          </a:xfrm>
          <a:prstGeom xmlns:a="http://schemas.openxmlformats.org/drawingml/2006/main" prst="roundRect">
            <a:avLst>
              <a:gd name="adj" fmla="val 11111"/>
            </a:avLst>
          </a:prstGeom>
          <a:solidFill xmlns:a="http://schemas.openxmlformats.org/drawingml/2006/main">
            <a:srgbClr val="2F7F77"/>
          </a:solidFill>
          <a:ln xmlns:a="http://schemas.openxmlformats.org/drawingml/2006/main" w="952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L2</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Key setup</a:t>
            </a:r>
          </a:p>
        </p:txBody>
      </p:sp>
      <p:sp>
        <p:nvSpPr>
          <p:cNvPr id="244" name="L3-lane-background">
            <a:extLst xmlns:a="http://schemas.openxmlformats.org/drawingml/2006/main">
              <a:ext uri="{FF2B5EF4-FFF2-40B4-BE49-F238E27FC236}">
                <a16:creationId xmlns:a16="http://schemas.microsoft.com/office/drawing/2014/main" id="{94F6A69F-501C-48C1-8825-928751ADFFC1}"/>
              </a:ext>
            </a:extLst>
          </p:cNvPr>
          <p:cNvSpPr>
            <a:spLocks xmlns:a="http://schemas.openxmlformats.org/drawingml/2006/main" noGrp="1"/>
          </p:cNvSpPr>
          <p:nvPr/>
        </p:nvSpPr>
        <p:spPr>
          <a:xfrm xmlns:a="http://schemas.openxmlformats.org/drawingml/2006/main">
            <a:off x="819150" y="4533900"/>
            <a:ext cx="10572750" cy="1028700"/>
          </a:xfrm>
          <a:prstGeom xmlns:a="http://schemas.openxmlformats.org/drawingml/2006/main" prst="roundRect">
            <a:avLst>
              <a:gd name="adj" fmla="val 7407"/>
            </a:avLst>
          </a:prstGeom>
          <a:solidFill xmlns:a="http://schemas.openxmlformats.org/drawingml/2006/main">
            <a:srgbClr val="F3EFFB"/>
          </a:solidFill>
          <a:ln xmlns:a="http://schemas.openxmlformats.org/drawingml/2006/main" w="9525">
            <a:solidFill>
              <a:srgbClr val="D8E0E8"/>
            </a:solidFill>
          </a:ln>
        </p:spPr>
      </p:sp>
      <p:sp>
        <p:nvSpPr>
          <p:cNvPr id="245" name="L3-lane-label">
            <a:extLst xmlns:a="http://schemas.openxmlformats.org/drawingml/2006/main">
              <a:ext uri="{FF2B5EF4-FFF2-40B4-BE49-F238E27FC236}">
                <a16:creationId xmlns:a16="http://schemas.microsoft.com/office/drawing/2014/main" id="{2D5828D6-DB9F-45DB-BC22-4BD155E3FC98}"/>
              </a:ext>
            </a:extLst>
          </p:cNvPr>
          <p:cNvSpPr>
            <a:spLocks xmlns:a="http://schemas.openxmlformats.org/drawingml/2006/main" noGrp="1"/>
          </p:cNvSpPr>
          <p:nvPr/>
        </p:nvSpPr>
        <p:spPr>
          <a:xfrm xmlns:a="http://schemas.openxmlformats.org/drawingml/2006/main">
            <a:off x="914400" y="4629150"/>
            <a:ext cx="1381125" cy="838200"/>
          </a:xfrm>
          <a:prstGeom xmlns:a="http://schemas.openxmlformats.org/drawingml/2006/main" prst="roundRect">
            <a:avLst>
              <a:gd name="adj" fmla="val 9091"/>
            </a:avLst>
          </a:prstGeom>
          <a:solidFill xmlns:a="http://schemas.openxmlformats.org/drawingml/2006/main">
            <a:srgbClr val="6B4FB3"/>
          </a:solidFill>
          <a:ln xmlns:a="http://schemas.openxmlformats.org/drawingml/2006/main" w="952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L3</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Private training</a:t>
            </a:r>
          </a:p>
        </p:txBody>
      </p:sp>
      <p:sp>
        <p:nvSpPr>
          <p:cNvPr id="246" name="l0-ca">
            <a:extLst xmlns:a="http://schemas.openxmlformats.org/drawingml/2006/main">
              <a:ext uri="{FF2B5EF4-FFF2-40B4-BE49-F238E27FC236}">
                <a16:creationId xmlns:a16="http://schemas.microsoft.com/office/drawing/2014/main" id="{49D62A80-8525-4CEE-BC31-FE6B83B9645C}"/>
              </a:ext>
            </a:extLst>
          </p:cNvPr>
          <p:cNvSpPr>
            <a:spLocks xmlns:a="http://schemas.openxmlformats.org/drawingml/2006/main" noGrp="1"/>
          </p:cNvSpPr>
          <p:nvPr/>
        </p:nvSpPr>
        <p:spPr>
          <a:xfrm xmlns:a="http://schemas.openxmlformats.org/drawingml/2006/main">
            <a:off x="2714625" y="1809750"/>
            <a:ext cx="1952625" cy="504825"/>
          </a:xfrm>
          <a:prstGeom xmlns:a="http://schemas.openxmlformats.org/drawingml/2006/main" prst="roundRect">
            <a:avLst>
              <a:gd name="adj" fmla="val 15094"/>
            </a:avLst>
          </a:prstGeom>
          <a:solidFill xmlns:a="http://schemas.openxmlformats.org/drawingml/2006/main">
            <a:srgbClr val="EEF4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Consortium CA</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identity and roles</a:t>
            </a:r>
          </a:p>
        </p:txBody>
      </p:sp>
      <p:sp>
        <p:nvSpPr>
          <p:cNvPr id="247" name="l0-consent">
            <a:extLst xmlns:a="http://schemas.openxmlformats.org/drawingml/2006/main">
              <a:ext uri="{FF2B5EF4-FFF2-40B4-BE49-F238E27FC236}">
                <a16:creationId xmlns:a16="http://schemas.microsoft.com/office/drawing/2014/main" id="{93D5C538-A757-4153-B299-F28807A2E010}"/>
              </a:ext>
            </a:extLst>
          </p:cNvPr>
          <p:cNvSpPr>
            <a:spLocks xmlns:a="http://schemas.openxmlformats.org/drawingml/2006/main" noGrp="1"/>
          </p:cNvSpPr>
          <p:nvPr/>
        </p:nvSpPr>
        <p:spPr>
          <a:xfrm xmlns:a="http://schemas.openxmlformats.org/drawingml/2006/main">
            <a:off x="5238750" y="1809750"/>
            <a:ext cx="1952625" cy="504825"/>
          </a:xfrm>
          <a:prstGeom xmlns:a="http://schemas.openxmlformats.org/drawingml/2006/main" prst="roundRect">
            <a:avLst>
              <a:gd name="adj" fmla="val 15094"/>
            </a:avLst>
          </a:prstGeom>
          <a:solidFill xmlns:a="http://schemas.openxmlformats.org/drawingml/2006/main">
            <a:srgbClr val="EEF4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Consent registry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scope and revocation</a:t>
            </a:r>
          </a:p>
        </p:txBody>
      </p:sp>
      <p:sp>
        <p:nvSpPr>
          <p:cNvPr id="248" name="l0-policy">
            <a:extLst xmlns:a="http://schemas.openxmlformats.org/drawingml/2006/main">
              <a:ext uri="{FF2B5EF4-FFF2-40B4-BE49-F238E27FC236}">
                <a16:creationId xmlns:a16="http://schemas.microsoft.com/office/drawing/2014/main" id="{1D18C00B-88DB-46CA-9626-DC45E40B8562}"/>
              </a:ext>
            </a:extLst>
          </p:cNvPr>
          <p:cNvSpPr>
            <a:spLocks xmlns:a="http://schemas.openxmlformats.org/drawingml/2006/main" noGrp="1"/>
          </p:cNvSpPr>
          <p:nvPr/>
        </p:nvSpPr>
        <p:spPr>
          <a:xfrm xmlns:a="http://schemas.openxmlformats.org/drawingml/2006/main">
            <a:off x="7762875" y="1809750"/>
            <a:ext cx="2190750" cy="504825"/>
          </a:xfrm>
          <a:prstGeom xmlns:a="http://schemas.openxmlformats.org/drawingml/2006/main" prst="roundRect">
            <a:avLst>
              <a:gd name="adj" fmla="val 15094"/>
            </a:avLst>
          </a:prstGeom>
          <a:solidFill xmlns:a="http://schemas.openxmlformats.org/drawingml/2006/main">
            <a:srgbClr val="EEF4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Governance policy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access and incident rules</a:t>
            </a:r>
          </a:p>
        </p:txBody>
      </p:sp>
      <p:cxnSp>
        <p:nvCxnSpPr>
          <p:cNvPr id="1086" name="Straight Arrow Connector 477"/>
          <p:cNvCxnSpPr>
            <a:stCxn xmlns:a="http://schemas.openxmlformats.org/drawingml/2006/main" id="246" idx="3"/>
            <a:endCxn xmlns:a="http://schemas.openxmlformats.org/drawingml/2006/main" id="247" idx="1"/>
          </p:cNvCxnSpPr>
          <p:nvPr/>
        </p:nvCxnSpPr>
        <p:spPr>
          <a:xfrm xmlns:a="http://schemas.openxmlformats.org/drawingml/2006/main">
            <a:off x="4667250" y="2062163"/>
            <a:ext cx="57150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087" name="Straight Arrow Connector 478"/>
          <p:cNvCxnSpPr>
            <a:stCxn xmlns:a="http://schemas.openxmlformats.org/drawingml/2006/main" id="247" idx="3"/>
            <a:endCxn xmlns:a="http://schemas.openxmlformats.org/drawingml/2006/main" id="248" idx="1"/>
          </p:cNvCxnSpPr>
          <p:nvPr/>
        </p:nvCxnSpPr>
        <p:spPr>
          <a:xfrm xmlns:a="http://schemas.openxmlformats.org/drawingml/2006/main">
            <a:off x="7191375" y="2062163"/>
            <a:ext cx="57150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51" name="l1-hospitals">
            <a:extLst xmlns:a="http://schemas.openxmlformats.org/drawingml/2006/main">
              <a:ext uri="{FF2B5EF4-FFF2-40B4-BE49-F238E27FC236}">
                <a16:creationId xmlns:a16="http://schemas.microsoft.com/office/drawing/2014/main" id="{20F84B98-B76E-47ED-A284-094A3FE6371F}"/>
              </a:ext>
            </a:extLst>
          </p:cNvPr>
          <p:cNvSpPr>
            <a:spLocks xmlns:a="http://schemas.openxmlformats.org/drawingml/2006/main" noGrp="1"/>
          </p:cNvSpPr>
          <p:nvPr/>
        </p:nvSpPr>
        <p:spPr>
          <a:xfrm xmlns:a="http://schemas.openxmlformats.org/drawingml/2006/main">
            <a:off x="2552700" y="2781300"/>
            <a:ext cx="1571625"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Hospitals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 B, C, ... N</a:t>
            </a:r>
          </a:p>
        </p:txBody>
      </p:sp>
      <p:sp>
        <p:nvSpPr>
          <p:cNvPr id="252" name="l1-check">
            <a:extLst xmlns:a="http://schemas.openxmlformats.org/drawingml/2006/main">
              <a:ext uri="{FF2B5EF4-FFF2-40B4-BE49-F238E27FC236}">
                <a16:creationId xmlns:a16="http://schemas.microsoft.com/office/drawing/2014/main" id="{F9F867D4-41EB-43F7-B63B-3DE5F01E2C51}"/>
              </a:ext>
            </a:extLst>
          </p:cNvPr>
          <p:cNvSpPr>
            <a:spLocks xmlns:a="http://schemas.openxmlformats.org/drawingml/2006/main" noGrp="1"/>
          </p:cNvSpPr>
          <p:nvPr/>
        </p:nvSpPr>
        <p:spPr>
          <a:xfrm xmlns:a="http://schemas.openxmlformats.org/drawingml/2006/main">
            <a:off x="4524375" y="2781300"/>
            <a:ext cx="1666875"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Consent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purpose check</a:t>
            </a:r>
          </a:p>
        </p:txBody>
      </p:sp>
      <p:sp>
        <p:nvSpPr>
          <p:cNvPr id="253" name="l1-preprocess">
            <a:extLst xmlns:a="http://schemas.openxmlformats.org/drawingml/2006/main">
              <a:ext uri="{FF2B5EF4-FFF2-40B4-BE49-F238E27FC236}">
                <a16:creationId xmlns:a16="http://schemas.microsoft.com/office/drawing/2014/main" id="{5BB3347D-AF57-44BC-BDED-8E79B69F46C4}"/>
              </a:ext>
            </a:extLst>
          </p:cNvPr>
          <p:cNvSpPr>
            <a:spLocks xmlns:a="http://schemas.openxmlformats.org/drawingml/2006/main" noGrp="1"/>
          </p:cNvSpPr>
          <p:nvPr/>
        </p:nvSpPr>
        <p:spPr>
          <a:xfrm xmlns:a="http://schemas.openxmlformats.org/drawingml/2006/main">
            <a:off x="6591300" y="2781300"/>
            <a:ext cx="1809750"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Preprocess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normalize features</a:t>
            </a:r>
          </a:p>
        </p:txBody>
      </p:sp>
      <p:sp>
        <p:nvSpPr>
          <p:cNvPr id="254" name="l1-onsite">
            <a:extLst xmlns:a="http://schemas.openxmlformats.org/drawingml/2006/main">
              <a:ext uri="{FF2B5EF4-FFF2-40B4-BE49-F238E27FC236}">
                <a16:creationId xmlns:a16="http://schemas.microsoft.com/office/drawing/2014/main" id="{0FB41C00-15F1-42F5-A268-172C7A2681BC}"/>
              </a:ext>
            </a:extLst>
          </p:cNvPr>
          <p:cNvSpPr>
            <a:spLocks xmlns:a="http://schemas.openxmlformats.org/drawingml/2006/main" noGrp="1"/>
          </p:cNvSpPr>
          <p:nvPr/>
        </p:nvSpPr>
        <p:spPr>
          <a:xfrm xmlns:a="http://schemas.openxmlformats.org/drawingml/2006/main">
            <a:off x="8801100" y="2781300"/>
            <a:ext cx="1809750"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Local dataset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remains at hospital</a:t>
            </a:r>
          </a:p>
        </p:txBody>
      </p:sp>
      <p:cxnSp>
        <p:nvCxnSpPr>
          <p:cNvPr id="1092" name="Straight Arrow Connector 483"/>
          <p:cNvCxnSpPr>
            <a:stCxn xmlns:a="http://schemas.openxmlformats.org/drawingml/2006/main" id="251" idx="3"/>
            <a:endCxn xmlns:a="http://schemas.openxmlformats.org/drawingml/2006/main" id="252" idx="1"/>
          </p:cNvCxnSpPr>
          <p:nvPr/>
        </p:nvCxnSpPr>
        <p:spPr>
          <a:xfrm xmlns:a="http://schemas.openxmlformats.org/drawingml/2006/main">
            <a:off x="4124325" y="3033713"/>
            <a:ext cx="4000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093" name="Straight Arrow Connector 484"/>
          <p:cNvCxnSpPr>
            <a:stCxn xmlns:a="http://schemas.openxmlformats.org/drawingml/2006/main" id="252" idx="3"/>
            <a:endCxn xmlns:a="http://schemas.openxmlformats.org/drawingml/2006/main" id="253" idx="1"/>
          </p:cNvCxnSpPr>
          <p:nvPr/>
        </p:nvCxnSpPr>
        <p:spPr>
          <a:xfrm xmlns:a="http://schemas.openxmlformats.org/drawingml/2006/main">
            <a:off x="6191250" y="3033713"/>
            <a:ext cx="4000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094" name="Straight Arrow Connector 485"/>
          <p:cNvCxnSpPr>
            <a:stCxn xmlns:a="http://schemas.openxmlformats.org/drawingml/2006/main" id="253" idx="3"/>
            <a:endCxn xmlns:a="http://schemas.openxmlformats.org/drawingml/2006/main" id="254" idx="1"/>
          </p:cNvCxnSpPr>
          <p:nvPr/>
        </p:nvCxnSpPr>
        <p:spPr>
          <a:xfrm xmlns:a="http://schemas.openxmlformats.org/drawingml/2006/main">
            <a:off x="8401050" y="3033713"/>
            <a:ext cx="4000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58" name="l2-rotate">
            <a:extLst xmlns:a="http://schemas.openxmlformats.org/drawingml/2006/main">
              <a:ext uri="{FF2B5EF4-FFF2-40B4-BE49-F238E27FC236}">
                <a16:creationId xmlns:a16="http://schemas.microsoft.com/office/drawing/2014/main" id="{F9DC976F-7649-4EF9-8FF2-DD28B4D06F3B}"/>
              </a:ext>
            </a:extLst>
          </p:cNvPr>
          <p:cNvSpPr>
            <a:spLocks xmlns:a="http://schemas.openxmlformats.org/drawingml/2006/main" noGrp="1"/>
          </p:cNvSpPr>
          <p:nvPr/>
        </p:nvSpPr>
        <p:spPr>
          <a:xfrm xmlns:a="http://schemas.openxmlformats.org/drawingml/2006/main">
            <a:off x="2552700" y="3752850"/>
            <a:ext cx="1666875"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Key rotation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revocation</a:t>
            </a:r>
          </a:p>
        </p:txBody>
      </p:sp>
      <p:sp>
        <p:nvSpPr>
          <p:cNvPr id="259" name="l2-keygen">
            <a:extLst xmlns:a="http://schemas.openxmlformats.org/drawingml/2006/main">
              <a:ext uri="{FF2B5EF4-FFF2-40B4-BE49-F238E27FC236}">
                <a16:creationId xmlns:a16="http://schemas.microsoft.com/office/drawing/2014/main" id="{3582771A-D1DB-4D60-9C2B-E888F5770CA9}"/>
              </a:ext>
            </a:extLst>
          </p:cNvPr>
          <p:cNvSpPr>
            <a:spLocks xmlns:a="http://schemas.openxmlformats.org/drawingml/2006/main" noGrp="1"/>
          </p:cNvSpPr>
          <p:nvPr/>
        </p:nvSpPr>
        <p:spPr>
          <a:xfrm xmlns:a="http://schemas.openxmlformats.org/drawingml/2006/main">
            <a:off x="4629150" y="3752850"/>
            <a:ext cx="1666875"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Distributed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key generation</a:t>
            </a:r>
          </a:p>
        </p:txBody>
      </p:sp>
      <p:sp>
        <p:nvSpPr>
          <p:cNvPr id="260" name="l2-pubkey">
            <a:extLst xmlns:a="http://schemas.openxmlformats.org/drawingml/2006/main">
              <a:ext uri="{FF2B5EF4-FFF2-40B4-BE49-F238E27FC236}">
                <a16:creationId xmlns:a16="http://schemas.microsoft.com/office/drawing/2014/main" id="{13168765-EBBB-4719-985C-A7481E663919}"/>
              </a:ext>
            </a:extLst>
          </p:cNvPr>
          <p:cNvSpPr>
            <a:spLocks xmlns:a="http://schemas.openxmlformats.org/drawingml/2006/main" noGrp="1"/>
          </p:cNvSpPr>
          <p:nvPr/>
        </p:nvSpPr>
        <p:spPr>
          <a:xfrm xmlns:a="http://schemas.openxmlformats.org/drawingml/2006/main">
            <a:off x="6705600" y="3752850"/>
            <a:ext cx="1714500"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Collective CKKS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public key</a:t>
            </a:r>
          </a:p>
        </p:txBody>
      </p:sp>
      <p:sp>
        <p:nvSpPr>
          <p:cNvPr id="261" name="l2-shares">
            <a:extLst xmlns:a="http://schemas.openxmlformats.org/drawingml/2006/main">
              <a:ext uri="{FF2B5EF4-FFF2-40B4-BE49-F238E27FC236}">
                <a16:creationId xmlns:a16="http://schemas.microsoft.com/office/drawing/2014/main" id="{5C5432F7-54F8-4FD3-8D47-BB7CB95A332C}"/>
              </a:ext>
            </a:extLst>
          </p:cNvPr>
          <p:cNvSpPr>
            <a:spLocks xmlns:a="http://schemas.openxmlformats.org/drawingml/2006/main" noGrp="1"/>
          </p:cNvSpPr>
          <p:nvPr/>
        </p:nvSpPr>
        <p:spPr>
          <a:xfrm xmlns:a="http://schemas.openxmlformats.org/drawingml/2006/main">
            <a:off x="8829675" y="3752850"/>
            <a:ext cx="1952625"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Threshold shares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protected by custodians</a:t>
            </a:r>
          </a:p>
        </p:txBody>
      </p:sp>
      <p:cxnSp>
        <p:nvCxnSpPr>
          <p:cNvPr id="1099" name="Straight Arrow Connector 490"/>
          <p:cNvCxnSpPr>
            <a:stCxn xmlns:a="http://schemas.openxmlformats.org/drawingml/2006/main" id="258" idx="3"/>
            <a:endCxn xmlns:a="http://schemas.openxmlformats.org/drawingml/2006/main" id="259" idx="1"/>
          </p:cNvCxnSpPr>
          <p:nvPr/>
        </p:nvCxnSpPr>
        <p:spPr>
          <a:xfrm xmlns:a="http://schemas.openxmlformats.org/drawingml/2006/main">
            <a:off x="4219575" y="4005263"/>
            <a:ext cx="4095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100" name="Straight Arrow Connector 491"/>
          <p:cNvCxnSpPr>
            <a:stCxn xmlns:a="http://schemas.openxmlformats.org/drawingml/2006/main" id="259" idx="3"/>
            <a:endCxn xmlns:a="http://schemas.openxmlformats.org/drawingml/2006/main" id="260" idx="1"/>
          </p:cNvCxnSpPr>
          <p:nvPr/>
        </p:nvCxnSpPr>
        <p:spPr>
          <a:xfrm xmlns:a="http://schemas.openxmlformats.org/drawingml/2006/main">
            <a:off x="6296025" y="4005263"/>
            <a:ext cx="4095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101" name="Straight Arrow Connector 492"/>
          <p:cNvCxnSpPr>
            <a:stCxn xmlns:a="http://schemas.openxmlformats.org/drawingml/2006/main" id="260" idx="3"/>
            <a:endCxn xmlns:a="http://schemas.openxmlformats.org/drawingml/2006/main" id="261" idx="1"/>
          </p:cNvCxnSpPr>
          <p:nvPr/>
        </p:nvCxnSpPr>
        <p:spPr>
          <a:xfrm xmlns:a="http://schemas.openxmlformats.org/drawingml/2006/main">
            <a:off x="8420100" y="4005263"/>
            <a:ext cx="4095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65" name="l3-train">
            <a:extLst xmlns:a="http://schemas.openxmlformats.org/drawingml/2006/main">
              <a:ext uri="{FF2B5EF4-FFF2-40B4-BE49-F238E27FC236}">
                <a16:creationId xmlns:a16="http://schemas.microsoft.com/office/drawing/2014/main" id="{A7BAEA67-2B8B-45CA-83A3-0A0965124C38}"/>
              </a:ext>
            </a:extLst>
          </p:cNvPr>
          <p:cNvSpPr>
            <a:spLocks xmlns:a="http://schemas.openxmlformats.org/drawingml/2006/main" noGrp="1"/>
          </p:cNvSpPr>
          <p:nvPr/>
        </p:nvSpPr>
        <p:spPr>
          <a:xfrm xmlns:a="http://schemas.openxmlformats.org/drawingml/2006/main">
            <a:off x="2419350" y="4810125"/>
            <a:ext cx="138112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Local model</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training</a:t>
            </a:r>
          </a:p>
        </p:txBody>
      </p:sp>
      <p:sp>
        <p:nvSpPr>
          <p:cNvPr id="266" name="l3-clip">
            <a:extLst xmlns:a="http://schemas.openxmlformats.org/drawingml/2006/main">
              <a:ext uri="{FF2B5EF4-FFF2-40B4-BE49-F238E27FC236}">
                <a16:creationId xmlns:a16="http://schemas.microsoft.com/office/drawing/2014/main" id="{E17737D8-BFC8-4D94-98C6-4BD580CFF17F}"/>
              </a:ext>
            </a:extLst>
          </p:cNvPr>
          <p:cNvSpPr>
            <a:spLocks xmlns:a="http://schemas.openxmlformats.org/drawingml/2006/main" noGrp="1"/>
          </p:cNvSpPr>
          <p:nvPr/>
        </p:nvSpPr>
        <p:spPr>
          <a:xfrm xmlns:a="http://schemas.openxmlformats.org/drawingml/2006/main">
            <a:off x="4019550" y="4810125"/>
            <a:ext cx="138112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Clip per-record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gradients</a:t>
            </a:r>
          </a:p>
        </p:txBody>
      </p:sp>
      <p:sp>
        <p:nvSpPr>
          <p:cNvPr id="267" name="l3-noise">
            <a:extLst xmlns:a="http://schemas.openxmlformats.org/drawingml/2006/main">
              <a:ext uri="{FF2B5EF4-FFF2-40B4-BE49-F238E27FC236}">
                <a16:creationId xmlns:a16="http://schemas.microsoft.com/office/drawing/2014/main" id="{D6B0E17B-FE12-46B7-A038-B555D641EF95}"/>
              </a:ext>
            </a:extLst>
          </p:cNvPr>
          <p:cNvSpPr>
            <a:spLocks xmlns:a="http://schemas.openxmlformats.org/drawingml/2006/main" noGrp="1"/>
          </p:cNvSpPr>
          <p:nvPr/>
        </p:nvSpPr>
        <p:spPr>
          <a:xfrm xmlns:a="http://schemas.openxmlformats.org/drawingml/2006/main">
            <a:off x="5619750" y="4810125"/>
            <a:ext cx="138112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Add calibrated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DP noise</a:t>
            </a:r>
          </a:p>
        </p:txBody>
      </p:sp>
      <p:sp>
        <p:nvSpPr>
          <p:cNvPr id="268" name="l3-caabc">
            <a:extLst xmlns:a="http://schemas.openxmlformats.org/drawingml/2006/main">
              <a:ext uri="{FF2B5EF4-FFF2-40B4-BE49-F238E27FC236}">
                <a16:creationId xmlns:a16="http://schemas.microsoft.com/office/drawing/2014/main" id="{6FA4D302-A99A-4791-9FF6-6249DCDCDED1}"/>
              </a:ext>
            </a:extLst>
          </p:cNvPr>
          <p:cNvSpPr>
            <a:spLocks xmlns:a="http://schemas.openxmlformats.org/drawingml/2006/main" noGrp="1"/>
          </p:cNvSpPr>
          <p:nvPr/>
        </p:nvSpPr>
        <p:spPr>
          <a:xfrm xmlns:a="http://schemas.openxmlformats.org/drawingml/2006/main">
            <a:off x="7219950" y="4810125"/>
            <a:ext cx="147637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1F2937"/>
                </a:solidFill>
                <a:latin typeface="Arial"/>
                <a:ea typeface="Arial"/>
                <a:cs typeface="Arial"/>
              </a:defRPr>
            </a:pPr>
            <a:r>
              <a:rPr sz="1200" b="1">
                <a:solidFill>
                  <a:srgbClr val="1F2937"/>
                </a:solidFill>
                <a:latin typeface="Arial"/>
                <a:ea typeface="Arial"/>
                <a:cs typeface="Arial"/>
              </a:rPr>
              <a:t>CAABC-FL block</a:t>
            </a:r>
          </a:p>
          <a:p xmlns:a="http://schemas.openxmlformats.org/drawingml/2006/main">
            <a:pPr algn="ctr">
              <a:buNone/>
              <a:defRPr sz="1200" b="1">
                <a:solidFill>
                  <a:srgbClr val="1F2937"/>
                </a:solidFill>
                <a:latin typeface="Arial"/>
                <a:ea typeface="Arial"/>
                <a:cs typeface="Arial"/>
              </a:defRPr>
            </a:pPr>
            <a:r>
              <a:rPr sz="1200" b="1">
                <a:solidFill>
                  <a:srgbClr val="1F2937"/>
                </a:solidFill>
                <a:latin typeface="Arial"/>
                <a:ea typeface="Arial"/>
                <a:cs typeface="Arial"/>
              </a:rPr>
              <a:t>compression</a:t>
            </a:r>
          </a:p>
        </p:txBody>
      </p:sp>
      <p:sp>
        <p:nvSpPr>
          <p:cNvPr id="269" name="l3-encrypt">
            <a:extLst xmlns:a="http://schemas.openxmlformats.org/drawingml/2006/main">
              <a:ext uri="{FF2B5EF4-FFF2-40B4-BE49-F238E27FC236}">
                <a16:creationId xmlns:a16="http://schemas.microsoft.com/office/drawing/2014/main" id="{5E2B45AA-9696-4B00-BC33-367E23267FC6}"/>
              </a:ext>
            </a:extLst>
          </p:cNvPr>
          <p:cNvSpPr>
            <a:spLocks xmlns:a="http://schemas.openxmlformats.org/drawingml/2006/main" noGrp="1"/>
          </p:cNvSpPr>
          <p:nvPr/>
        </p:nvSpPr>
        <p:spPr>
          <a:xfrm xmlns:a="http://schemas.openxmlformats.org/drawingml/2006/main">
            <a:off x="8915400" y="4810125"/>
            <a:ext cx="1571625" cy="523875"/>
          </a:xfrm>
          <a:prstGeom xmlns:a="http://schemas.openxmlformats.org/drawingml/2006/main" prst="roundRect">
            <a:avLst>
              <a:gd name="adj" fmla="val 14545"/>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CKKS encrypt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sign update</a:t>
            </a:r>
          </a:p>
        </p:txBody>
      </p:sp>
      <p:cxnSp>
        <p:nvCxnSpPr>
          <p:cNvPr id="1107" name="Straight Arrow Connector 498"/>
          <p:cNvCxnSpPr>
            <a:stCxn xmlns:a="http://schemas.openxmlformats.org/drawingml/2006/main" id="265" idx="3"/>
            <a:endCxn xmlns:a="http://schemas.openxmlformats.org/drawingml/2006/main" id="266" idx="1"/>
          </p:cNvCxnSpPr>
          <p:nvPr/>
        </p:nvCxnSpPr>
        <p:spPr>
          <a:xfrm xmlns:a="http://schemas.openxmlformats.org/drawingml/2006/main">
            <a:off x="380047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108" name="Straight Arrow Connector 499"/>
          <p:cNvCxnSpPr>
            <a:stCxn xmlns:a="http://schemas.openxmlformats.org/drawingml/2006/main" id="266" idx="3"/>
            <a:endCxn xmlns:a="http://schemas.openxmlformats.org/drawingml/2006/main" id="267" idx="1"/>
          </p:cNvCxnSpPr>
          <p:nvPr/>
        </p:nvCxnSpPr>
        <p:spPr>
          <a:xfrm xmlns:a="http://schemas.openxmlformats.org/drawingml/2006/main">
            <a:off x="540067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109" name="Straight Arrow Connector 500"/>
          <p:cNvCxnSpPr>
            <a:stCxn xmlns:a="http://schemas.openxmlformats.org/drawingml/2006/main" id="267" idx="3"/>
            <a:endCxn xmlns:a="http://schemas.openxmlformats.org/drawingml/2006/main" id="268" idx="1"/>
          </p:cNvCxnSpPr>
          <p:nvPr/>
        </p:nvCxnSpPr>
        <p:spPr>
          <a:xfrm xmlns:a="http://schemas.openxmlformats.org/drawingml/2006/main">
            <a:off x="700087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110" name="Straight Arrow Connector 501"/>
          <p:cNvCxnSpPr>
            <a:stCxn xmlns:a="http://schemas.openxmlformats.org/drawingml/2006/main" id="268" idx="3"/>
            <a:endCxn xmlns:a="http://schemas.openxmlformats.org/drawingml/2006/main" id="269" idx="1"/>
          </p:cNvCxnSpPr>
          <p:nvPr/>
        </p:nvCxnSpPr>
        <p:spPr>
          <a:xfrm xmlns:a="http://schemas.openxmlformats.org/drawingml/2006/main">
            <a:off x="869632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111" name="Connector: Elbow 502"/>
          <p:cNvCxnSpPr>
            <a:stCxn xmlns:a="http://schemas.openxmlformats.org/drawingml/2006/main" id="237" idx="2"/>
            <a:endCxn xmlns:a="http://schemas.openxmlformats.org/drawingml/2006/main" id="247" idx="0"/>
          </p:cNvCxnSpPr>
          <p:nvPr/>
        </p:nvCxnSpPr>
        <p:spPr>
          <a:xfrm xmlns:a="http://schemas.openxmlformats.org/drawingml/2006/main">
            <a:off x="6096000" y="1495425"/>
            <a:ext cx="119063" cy="314325"/>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1112" name="Connector: Elbow 503"/>
          <p:cNvCxnSpPr>
            <a:stCxn xmlns:a="http://schemas.openxmlformats.org/drawingml/2006/main" id="247" idx="2"/>
            <a:endCxn xmlns:a="http://schemas.openxmlformats.org/drawingml/2006/main" id="252" idx="0"/>
          </p:cNvCxnSpPr>
          <p:nvPr/>
        </p:nvCxnSpPr>
        <p:spPr>
          <a:xfrm xmlns:a="http://schemas.openxmlformats.org/drawingml/2006/main" flipH="1">
            <a:off x="5357813" y="2314575"/>
            <a:ext cx="857250" cy="466725"/>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1113" name="Connector: Elbow 504"/>
          <p:cNvCxnSpPr>
            <a:stCxn xmlns:a="http://schemas.openxmlformats.org/drawingml/2006/main" id="254" idx="2"/>
            <a:endCxn xmlns:a="http://schemas.openxmlformats.org/drawingml/2006/main" id="260" idx="0"/>
          </p:cNvCxnSpPr>
          <p:nvPr/>
        </p:nvCxnSpPr>
        <p:spPr>
          <a:xfrm xmlns:a="http://schemas.openxmlformats.org/drawingml/2006/main" flipH="1">
            <a:off x="7562850" y="3286125"/>
            <a:ext cx="2143125" cy="466725"/>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1114" name="Connector: Elbow 505"/>
          <p:cNvCxnSpPr>
            <a:stCxn xmlns:a="http://schemas.openxmlformats.org/drawingml/2006/main" id="261" idx="2"/>
            <a:endCxn xmlns:a="http://schemas.openxmlformats.org/drawingml/2006/main" id="269" idx="0"/>
          </p:cNvCxnSpPr>
          <p:nvPr/>
        </p:nvCxnSpPr>
        <p:spPr>
          <a:xfrm xmlns:a="http://schemas.openxmlformats.org/drawingml/2006/main" flipH="1">
            <a:off x="9701213" y="4257675"/>
            <a:ext cx="104775" cy="552450"/>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sp>
        <p:nvSpPr>
          <p:cNvPr id="278" name="diagram-outcome-note">
            <a:extLst xmlns:a="http://schemas.openxmlformats.org/drawingml/2006/main">
              <a:ext uri="{FF2B5EF4-FFF2-40B4-BE49-F238E27FC236}">
                <a16:creationId xmlns:a16="http://schemas.microsoft.com/office/drawing/2014/main" id="{57242147-2845-48CD-8D35-0B7EFEC99455}"/>
              </a:ext>
            </a:extLst>
          </p:cNvPr>
          <p:cNvSpPr>
            <a:spLocks xmlns:a="http://schemas.openxmlformats.org/drawingml/2006/main" noGrp="1"/>
          </p:cNvSpPr>
          <p:nvPr/>
        </p:nvSpPr>
        <p:spPr>
          <a:xfrm xmlns:a="http://schemas.openxmlformats.org/drawingml/2006/main">
            <a:off x="3000375" y="5686425"/>
            <a:ext cx="6191250" cy="342900"/>
          </a:xfrm>
          <a:prstGeom xmlns:a="http://schemas.openxmlformats.org/drawingml/2006/main" prst="roundRect">
            <a:avLst>
              <a:gd name="adj" fmla="val 22222"/>
            </a:avLst>
          </a:prstGeom>
          <a:solidFill xmlns:a="http://schemas.openxmlformats.org/drawingml/2006/main">
            <a:srgbClr val="ECF7F5"/>
          </a:solidFill>
          <a:ln xmlns:a="http://schemas.openxmlformats.org/drawingml/2006/main" w="11430">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2F7F77"/>
                </a:solidFill>
                <a:latin typeface="Arial"/>
                <a:ea typeface="Arial"/>
                <a:cs typeface="Arial"/>
              </a:defRPr>
            </a:pPr>
            <a:r>
              <a:rPr sz="1275" b="1">
                <a:solidFill>
                  <a:srgbClr val="2F7F77"/>
                </a:solidFill>
                <a:latin typeface="Arial"/>
                <a:ea typeface="Arial"/>
                <a:cs typeface="Arial"/>
              </a:rPr>
              <a:t>Output: encrypted, compressed and signed client update</a:t>
            </a:r>
          </a:p>
        </p:txBody>
      </p:sp>
      <p:sp>
        <p:nvSpPr>
          <p:cNvPr id="739" name="caabc-algorithm-body-cover">
            <a:extLst xmlns:a="http://schemas.openxmlformats.org/drawingml/2006/main">
              <a:ext uri="{FF2B5EF4-FFF2-40B4-BE49-F238E27FC236}">
                <a16:creationId xmlns:a16="http://schemas.microsoft.com/office/drawing/2014/main" id="{783CD6EB-B6F5-417D-A099-1B0C6A0AC88E}"/>
              </a:ext>
            </a:extLst>
          </p:cNvPr>
          <p:cNvSpPr>
            <a:spLocks xmlns:a="http://schemas.openxmlformats.org/drawingml/2006/main" noGrp="1"/>
          </p:cNvSpPr>
          <p:nvPr/>
        </p:nvSpPr>
        <p:spPr>
          <a:xfrm xmlns:a="http://schemas.openxmlformats.org/drawingml/2006/main">
            <a:off x="457200" y="1000125"/>
            <a:ext cx="11277600" cy="50482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740" name="caabc-algorithm-subtitle">
            <a:extLst xmlns:a="http://schemas.openxmlformats.org/drawingml/2006/main">
              <a:ext uri="{FF2B5EF4-FFF2-40B4-BE49-F238E27FC236}">
                <a16:creationId xmlns:a16="http://schemas.microsoft.com/office/drawing/2014/main" id="{4A5571C0-7F85-45AB-BA31-7E6963B17D95}"/>
              </a:ext>
            </a:extLst>
          </p:cNvPr>
          <p:cNvSpPr>
            <a:spLocks xmlns:a="http://schemas.openxmlformats.org/drawingml/2006/main" noGrp="1"/>
          </p:cNvSpPr>
          <p:nvPr/>
        </p:nvSpPr>
        <p:spPr>
          <a:xfrm xmlns:a="http://schemas.openxmlformats.org/drawingml/2006/main">
            <a:off x="1524000" y="1066800"/>
            <a:ext cx="914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lnSpcReduction="10000"/>
          </a:bodyPr>
          <a:lstStyle xmlns:a="http://schemas.openxmlformats.org/drawingml/2006/main"/>
          <a:p xmlns:a="http://schemas.openxmlformats.org/drawingml/2006/main">
            <a:pPr algn="ctr">
              <a:buNone/>
              <a:defRPr sz="1350" i="1">
                <a:solidFill>
                  <a:srgbClr val="5B677A"/>
                </a:solidFill>
                <a:latin typeface="Arial"/>
                <a:ea typeface="Arial"/>
                <a:cs typeface="Arial"/>
              </a:defRPr>
            </a:pPr>
            <a:r>
              <a:rPr sz="1350" i="1">
                <a:solidFill>
                  <a:srgbClr val="5B677A"/>
                </a:solidFill>
                <a:latin typeface="Arial"/>
                <a:ea typeface="Arial"/>
                <a:cs typeface="Arial"/>
              </a:rPr>
              <a:t>Adaptive common-block compression aligned with CKKS packing</a:t>
            </a:r>
          </a:p>
        </p:txBody>
      </p:sp>
      <p:sp>
        <p:nvSpPr>
          <p:cNvPr id="741" name="caabc-algorithm-inputs">
            <a:extLst xmlns:a="http://schemas.openxmlformats.org/drawingml/2006/main">
              <a:ext uri="{FF2B5EF4-FFF2-40B4-BE49-F238E27FC236}">
                <a16:creationId xmlns:a16="http://schemas.microsoft.com/office/drawing/2014/main" id="{510728B5-C692-4BC9-8DCA-3F8485935618}"/>
              </a:ext>
            </a:extLst>
          </p:cNvPr>
          <p:cNvSpPr>
            <a:spLocks xmlns:a="http://schemas.openxmlformats.org/drawingml/2006/main" noGrp="1"/>
          </p:cNvSpPr>
          <p:nvPr/>
        </p:nvSpPr>
        <p:spPr>
          <a:xfrm xmlns:a="http://schemas.openxmlformats.org/drawingml/2006/main">
            <a:off x="1162050" y="1438275"/>
            <a:ext cx="9867900" cy="409575"/>
          </a:xfrm>
          <a:prstGeom xmlns:a="http://schemas.openxmlformats.org/drawingml/2006/main" prst="roundRect">
            <a:avLst>
              <a:gd name="adj" fmla="val 18605"/>
            </a:avLst>
          </a:prstGeom>
          <a:solidFill xmlns:a="http://schemas.openxmlformats.org/drawingml/2006/main">
            <a:srgbClr val="F2F6FA"/>
          </a:solidFill>
          <a:ln xmlns:a="http://schemas.openxmlformats.org/drawingml/2006/main" w="10478">
            <a:solidFill>
              <a:srgbClr val="AFC1D5"/>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062B6F"/>
                </a:solidFill>
                <a:latin typeface="Arial"/>
                <a:ea typeface="Arial"/>
                <a:cs typeface="Arial"/>
              </a:defRPr>
            </a:pPr>
            <a:r>
              <a:rPr sz="1200" b="1">
                <a:solidFill>
                  <a:srgbClr val="062B6F"/>
                </a:solidFill>
                <a:latin typeface="Arial"/>
                <a:ea typeface="Arial"/>
                <a:cs typeface="Arial"/>
              </a:rPr>
              <a:t>Inputs: privatized client update Δ̃ₖ,ₜ   residual rₖ,ₜ   block size B = 256   chunk budget c = 2   refresh interval τ = 5</a:t>
            </a:r>
          </a:p>
        </p:txBody>
      </p:sp>
      <p:sp>
        <p:nvSpPr>
          <p:cNvPr id="742" name="caabc-step-1">
            <a:extLst xmlns:a="http://schemas.openxmlformats.org/drawingml/2006/main">
              <a:ext uri="{FF2B5EF4-FFF2-40B4-BE49-F238E27FC236}">
                <a16:creationId xmlns:a16="http://schemas.microsoft.com/office/drawing/2014/main" id="{53A088B0-2312-443C-95B6-94343FFFF8C5}"/>
              </a:ext>
            </a:extLst>
          </p:cNvPr>
          <p:cNvSpPr>
            <a:spLocks xmlns:a="http://schemas.openxmlformats.org/drawingml/2006/main" noGrp="1"/>
          </p:cNvSpPr>
          <p:nvPr/>
        </p:nvSpPr>
        <p:spPr>
          <a:xfrm xmlns:a="http://schemas.openxmlformats.org/drawingml/2006/main">
            <a:off x="876300" y="2171700"/>
            <a:ext cx="1752600" cy="2143125"/>
          </a:xfrm>
          <a:prstGeom xmlns:a="http://schemas.openxmlformats.org/drawingml/2006/main" prst="roundRect">
            <a:avLst>
              <a:gd name="adj" fmla="val 4348"/>
            </a:avLst>
          </a:prstGeom>
          <a:solidFill xmlns:a="http://schemas.openxmlformats.org/drawingml/2006/main">
            <a:srgbClr val="F5F0FC"/>
          </a:solidFill>
          <a:ln xmlns:a="http://schemas.openxmlformats.org/drawingml/2006/main" w="15240">
            <a:solidFill>
              <a:srgbClr val="6F52B5"/>
            </a:solidFill>
          </a:ln>
        </p:spPr>
        <p:txBody>
          <a:bodyPr xmlns:a="http://schemas.openxmlformats.org/drawingml/2006/main" anchor="ctr">
            <a:normAutofit/>
          </a:bodyPr>
          <a:lstStyle xmlns:a="http://schemas.openxmlformats.org/drawingml/2006/main"/>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PRIVATE UPDATE + RESIDUAL</a:t>
            </a:r>
          </a:p>
          <a:p xmlns:a="http://schemas.openxmlformats.org/drawingml/2006/main">
            <a:endParaRPr sz="1125">
              <a:solidFill>
                <a:srgbClr val="263244"/>
              </a:solidFill>
              <a:latin typeface="Arial"/>
              <a:ea typeface="Arial"/>
              <a:cs typeface="Arial"/>
            </a:endParaRPr>
          </a:p>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uₖ,ₜ = Δ̃ₖ,ₜ + rₖ,ₜ</a:t>
            </a:r>
          </a:p>
          <a:p xmlns:a="http://schemas.openxmlformats.org/drawingml/2006/main">
            <a:endParaRPr sz="1125">
              <a:solidFill>
                <a:srgbClr val="263244"/>
              </a:solidFill>
              <a:latin typeface="Arial"/>
              <a:ea typeface="Arial"/>
              <a:cs typeface="Arial"/>
            </a:endParaRPr>
          </a:p>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Carry omitted information into the current round</a:t>
            </a:r>
          </a:p>
        </p:txBody>
      </p:sp>
      <p:sp>
        <p:nvSpPr>
          <p:cNvPr id="743" name="caabc-step-1-number">
            <a:extLst xmlns:a="http://schemas.openxmlformats.org/drawingml/2006/main">
              <a:ext uri="{FF2B5EF4-FFF2-40B4-BE49-F238E27FC236}">
                <a16:creationId xmlns:a16="http://schemas.microsoft.com/office/drawing/2014/main" id="{566F45FD-EC0D-49D5-8A8B-80439103BC2C}"/>
              </a:ext>
            </a:extLst>
          </p:cNvPr>
          <p:cNvSpPr>
            <a:spLocks xmlns:a="http://schemas.openxmlformats.org/drawingml/2006/main" noGrp="1"/>
          </p:cNvSpPr>
          <p:nvPr/>
        </p:nvSpPr>
        <p:spPr>
          <a:xfrm xmlns:a="http://schemas.openxmlformats.org/drawingml/2006/main">
            <a:off x="1552575" y="1943100"/>
            <a:ext cx="400050" cy="400050"/>
          </a:xfrm>
          <a:prstGeom xmlns:a="http://schemas.openxmlformats.org/drawingml/2006/main" prst="ellipse">
            <a:avLst/>
          </a:prstGeom>
          <a:solidFill xmlns:a="http://schemas.openxmlformats.org/drawingml/2006/main">
            <a:srgbClr val="6F52B5"/>
          </a:solidFill>
          <a:ln xmlns:a="http://schemas.openxmlformats.org/drawingml/2006/main" w="9525">
            <a:solidFill>
              <a:srgbClr val="6F52B5"/>
            </a:solidFill>
          </a:ln>
        </p:spPr>
        <p:txBody>
          <a:bodyPr xmlns:a="http://schemas.openxmlformats.org/drawingml/2006/main" anchor="ctr">
            <a:noAutofit/>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1</a:t>
            </a:r>
          </a:p>
        </p:txBody>
      </p:sp>
      <p:sp>
        <p:nvSpPr>
          <p:cNvPr id="744" name="caabc-step-2">
            <a:extLst xmlns:a="http://schemas.openxmlformats.org/drawingml/2006/main">
              <a:ext uri="{FF2B5EF4-FFF2-40B4-BE49-F238E27FC236}">
                <a16:creationId xmlns:a16="http://schemas.microsoft.com/office/drawing/2014/main" id="{36DD9DF8-F287-4520-80E0-6C36EA772FD1}"/>
              </a:ext>
            </a:extLst>
          </p:cNvPr>
          <p:cNvSpPr>
            <a:spLocks xmlns:a="http://schemas.openxmlformats.org/drawingml/2006/main" noGrp="1"/>
          </p:cNvSpPr>
          <p:nvPr/>
        </p:nvSpPr>
        <p:spPr>
          <a:xfrm xmlns:a="http://schemas.openxmlformats.org/drawingml/2006/main">
            <a:off x="3067050" y="2171700"/>
            <a:ext cx="1752600" cy="2143125"/>
          </a:xfrm>
          <a:prstGeom xmlns:a="http://schemas.openxmlformats.org/drawingml/2006/main" prst="roundRect">
            <a:avLst>
              <a:gd name="adj" fmla="val 4348"/>
            </a:avLst>
          </a:prstGeom>
          <a:solidFill xmlns:a="http://schemas.openxmlformats.org/drawingml/2006/main">
            <a:srgbClr val="EEF5FC"/>
          </a:solidFill>
          <a:ln xmlns:a="http://schemas.openxmlformats.org/drawingml/2006/main" w="15240">
            <a:solidFill>
              <a:srgbClr val="2F75B5"/>
            </a:solidFill>
          </a:ln>
        </p:spPr>
        <p:txBody>
          <a:bodyPr xmlns:a="http://schemas.openxmlformats.org/drawingml/2006/main" anchor="ctr">
            <a:normAutofit/>
          </a:bodyPr>
          <a:lstStyle xmlns:a="http://schemas.openxmlformats.org/drawingml/2006/main"/>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BLOCK SCORING</a:t>
            </a:r>
          </a:p>
          <a:p xmlns:a="http://schemas.openxmlformats.org/drawingml/2006/main">
            <a:endParaRPr sz="1125">
              <a:solidFill>
                <a:srgbClr val="263244"/>
              </a:solidFill>
              <a:latin typeface="Arial"/>
              <a:ea typeface="Arial"/>
              <a:cs typeface="Arial"/>
            </a:endParaRPr>
          </a:p>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Partition uₖ,ₜ into contiguous 256-coordinate blocks</a:t>
            </a:r>
          </a:p>
          <a:p xmlns:a="http://schemas.openxmlformats.org/drawingml/2006/main">
            <a:endParaRPr sz="1125">
              <a:solidFill>
                <a:srgbClr val="263244"/>
              </a:solidFill>
              <a:latin typeface="Arial"/>
              <a:ea typeface="Arial"/>
              <a:cs typeface="Arial"/>
            </a:endParaRPr>
          </a:p>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Score block energy from privatized updates</a:t>
            </a:r>
          </a:p>
        </p:txBody>
      </p:sp>
      <p:sp>
        <p:nvSpPr>
          <p:cNvPr id="745" name="caabc-step-2-number">
            <a:extLst xmlns:a="http://schemas.openxmlformats.org/drawingml/2006/main">
              <a:ext uri="{FF2B5EF4-FFF2-40B4-BE49-F238E27FC236}">
                <a16:creationId xmlns:a16="http://schemas.microsoft.com/office/drawing/2014/main" id="{B53628C5-B256-4324-968D-80747EA8181C}"/>
              </a:ext>
            </a:extLst>
          </p:cNvPr>
          <p:cNvSpPr>
            <a:spLocks xmlns:a="http://schemas.openxmlformats.org/drawingml/2006/main" noGrp="1"/>
          </p:cNvSpPr>
          <p:nvPr/>
        </p:nvSpPr>
        <p:spPr>
          <a:xfrm xmlns:a="http://schemas.openxmlformats.org/drawingml/2006/main">
            <a:off x="3743325" y="1943100"/>
            <a:ext cx="400050" cy="400050"/>
          </a:xfrm>
          <a:prstGeom xmlns:a="http://schemas.openxmlformats.org/drawingml/2006/main" prst="ellipse">
            <a:avLst/>
          </a:prstGeom>
          <a:solidFill xmlns:a="http://schemas.openxmlformats.org/drawingml/2006/main">
            <a:srgbClr val="2F75B5"/>
          </a:solidFill>
          <a:ln xmlns:a="http://schemas.openxmlformats.org/drawingml/2006/main" w="9525">
            <a:solidFill>
              <a:srgbClr val="2F75B5"/>
            </a:solidFill>
          </a:ln>
        </p:spPr>
        <p:txBody>
          <a:bodyPr xmlns:a="http://schemas.openxmlformats.org/drawingml/2006/main" anchor="ctr">
            <a:noAutofit/>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2</a:t>
            </a:r>
          </a:p>
        </p:txBody>
      </p:sp>
      <p:sp>
        <p:nvSpPr>
          <p:cNvPr id="746" name="caabc-step-3">
            <a:extLst xmlns:a="http://schemas.openxmlformats.org/drawingml/2006/main">
              <a:ext uri="{FF2B5EF4-FFF2-40B4-BE49-F238E27FC236}">
                <a16:creationId xmlns:a16="http://schemas.microsoft.com/office/drawing/2014/main" id="{5FC53C08-1ADF-49F4-BBEA-D27B51AB3571}"/>
              </a:ext>
            </a:extLst>
          </p:cNvPr>
          <p:cNvSpPr>
            <a:spLocks xmlns:a="http://schemas.openxmlformats.org/drawingml/2006/main" noGrp="1"/>
          </p:cNvSpPr>
          <p:nvPr/>
        </p:nvSpPr>
        <p:spPr>
          <a:xfrm xmlns:a="http://schemas.openxmlformats.org/drawingml/2006/main">
            <a:off x="5257800" y="2171700"/>
            <a:ext cx="1752600" cy="2143125"/>
          </a:xfrm>
          <a:prstGeom xmlns:a="http://schemas.openxmlformats.org/drawingml/2006/main" prst="roundRect">
            <a:avLst>
              <a:gd name="adj" fmla="val 4348"/>
            </a:avLst>
          </a:prstGeom>
          <a:solidFill xmlns:a="http://schemas.openxmlformats.org/drawingml/2006/main">
            <a:srgbClr val="FFF6E4"/>
          </a:solidFill>
          <a:ln xmlns:a="http://schemas.openxmlformats.org/drawingml/2006/main" w="15240">
            <a:solidFill>
              <a:srgbClr val="B97800"/>
            </a:solidFill>
          </a:ln>
        </p:spPr>
        <p:txBody>
          <a:bodyPr xmlns:a="http://schemas.openxmlformats.org/drawingml/2006/main" anchor="ctr">
            <a:normAutofit/>
          </a:bodyPr>
          <a:lstStyle xmlns:a="http://schemas.openxmlformats.org/drawingml/2006/main"/>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COMMON SUPPORT</a:t>
            </a:r>
          </a:p>
          <a:p xmlns:a="http://schemas.openxmlformats.org/drawingml/2006/main">
            <a:endParaRPr sz="1125">
              <a:solidFill>
                <a:srgbClr val="263244"/>
              </a:solidFill>
              <a:latin typeface="Arial"/>
              <a:ea typeface="Arial"/>
              <a:cs typeface="Arial"/>
            </a:endParaRPr>
          </a:p>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Select Sₜ from aggregate block scores</a:t>
            </a:r>
          </a:p>
          <a:p xmlns:a="http://schemas.openxmlformats.org/drawingml/2006/main">
            <a:endParaRPr sz="1125">
              <a:solidFill>
                <a:srgbClr val="263244"/>
              </a:solidFill>
              <a:latin typeface="Arial"/>
              <a:ea typeface="Arial"/>
              <a:cs typeface="Arial"/>
            </a:endParaRPr>
          </a:p>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Refresh every five rounds and fit within two CKKS chunks</a:t>
            </a:r>
          </a:p>
        </p:txBody>
      </p:sp>
      <p:sp>
        <p:nvSpPr>
          <p:cNvPr id="747" name="caabc-step-3-number">
            <a:extLst xmlns:a="http://schemas.openxmlformats.org/drawingml/2006/main">
              <a:ext uri="{FF2B5EF4-FFF2-40B4-BE49-F238E27FC236}">
                <a16:creationId xmlns:a16="http://schemas.microsoft.com/office/drawing/2014/main" id="{45792009-A199-42E5-9C09-EB70524692C1}"/>
              </a:ext>
            </a:extLst>
          </p:cNvPr>
          <p:cNvSpPr>
            <a:spLocks xmlns:a="http://schemas.openxmlformats.org/drawingml/2006/main" noGrp="1"/>
          </p:cNvSpPr>
          <p:nvPr/>
        </p:nvSpPr>
        <p:spPr>
          <a:xfrm xmlns:a="http://schemas.openxmlformats.org/drawingml/2006/main">
            <a:off x="5934075" y="1943100"/>
            <a:ext cx="400050" cy="400050"/>
          </a:xfrm>
          <a:prstGeom xmlns:a="http://schemas.openxmlformats.org/drawingml/2006/main" prst="ellipse">
            <a:avLst/>
          </a:prstGeom>
          <a:solidFill xmlns:a="http://schemas.openxmlformats.org/drawingml/2006/main">
            <a:srgbClr val="B97800"/>
          </a:solidFill>
          <a:ln xmlns:a="http://schemas.openxmlformats.org/drawingml/2006/main" w="9525">
            <a:solidFill>
              <a:srgbClr val="B97800"/>
            </a:solidFill>
          </a:ln>
        </p:spPr>
        <p:txBody>
          <a:bodyPr xmlns:a="http://schemas.openxmlformats.org/drawingml/2006/main" anchor="ctr">
            <a:noAutofit/>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3</a:t>
            </a:r>
          </a:p>
        </p:txBody>
      </p:sp>
      <p:sp>
        <p:nvSpPr>
          <p:cNvPr id="748" name="caabc-step-4">
            <a:extLst xmlns:a="http://schemas.openxmlformats.org/drawingml/2006/main">
              <a:ext uri="{FF2B5EF4-FFF2-40B4-BE49-F238E27FC236}">
                <a16:creationId xmlns:a16="http://schemas.microsoft.com/office/drawing/2014/main" id="{C563380E-C7EC-4E9D-AD94-C2392B991471}"/>
              </a:ext>
            </a:extLst>
          </p:cNvPr>
          <p:cNvSpPr>
            <a:spLocks xmlns:a="http://schemas.openxmlformats.org/drawingml/2006/main" noGrp="1"/>
          </p:cNvSpPr>
          <p:nvPr/>
        </p:nvSpPr>
        <p:spPr>
          <a:xfrm xmlns:a="http://schemas.openxmlformats.org/drawingml/2006/main">
            <a:off x="7448550" y="2171700"/>
            <a:ext cx="1752600" cy="2143125"/>
          </a:xfrm>
          <a:prstGeom xmlns:a="http://schemas.openxmlformats.org/drawingml/2006/main" prst="roundRect">
            <a:avLst>
              <a:gd name="adj" fmla="val 4348"/>
            </a:avLst>
          </a:prstGeom>
          <a:solidFill xmlns:a="http://schemas.openxmlformats.org/drawingml/2006/main">
            <a:srgbClr val="ECF7F0"/>
          </a:solidFill>
          <a:ln xmlns:a="http://schemas.openxmlformats.org/drawingml/2006/main" w="15240">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163">
                <a:solidFill>
                  <a:srgbClr val="263244"/>
                </a:solidFill>
                <a:latin typeface="Arial"/>
                <a:ea typeface="Arial"/>
                <a:cs typeface="Arial"/>
              </a:defRPr>
            </a:pPr>
            <a:r>
              <a:rPr sz="1163">
                <a:solidFill>
                  <a:srgbClr val="263244"/>
                </a:solidFill>
                <a:latin typeface="Arial"/>
                <a:ea typeface="Arial"/>
                <a:cs typeface="Arial"/>
              </a:rPr>
              <a:t>PROJECT + REMEMBER</a:t>
            </a:r>
          </a:p>
          <a:p xmlns:a="http://schemas.openxmlformats.org/drawingml/2006/main">
            <a:endParaRPr sz="1163">
              <a:solidFill>
                <a:srgbClr val="263244"/>
              </a:solidFill>
              <a:latin typeface="Arial"/>
              <a:ea typeface="Arial"/>
              <a:cs typeface="Arial"/>
            </a:endParaRPr>
          </a:p>
          <a:p xmlns:a="http://schemas.openxmlformats.org/drawingml/2006/main">
            <a:pPr algn="ctr">
              <a:buNone/>
              <a:defRPr sz="1163">
                <a:solidFill>
                  <a:srgbClr val="263244"/>
                </a:solidFill>
                <a:latin typeface="Arial"/>
                <a:ea typeface="Arial"/>
                <a:cs typeface="Arial"/>
              </a:defRPr>
            </a:pPr>
            <a:r>
              <a:rPr sz="1163">
                <a:solidFill>
                  <a:srgbClr val="263244"/>
                </a:solidFill>
                <a:latin typeface="Arial"/>
                <a:ea typeface="Arial"/>
                <a:cs typeface="Arial"/>
              </a:rPr>
              <a:t>pₖ,ₜ = Pₛₜ(uₖ,ₜ)</a:t>
            </a:r>
          </a:p>
          <a:p xmlns:a="http://schemas.openxmlformats.org/drawingml/2006/main">
            <a:pPr algn="ctr">
              <a:buNone/>
              <a:defRPr sz="1163">
                <a:solidFill>
                  <a:srgbClr val="263244"/>
                </a:solidFill>
                <a:latin typeface="Arial"/>
                <a:ea typeface="Arial"/>
                <a:cs typeface="Arial"/>
              </a:defRPr>
            </a:pPr>
            <a:r>
              <a:rPr sz="1163">
                <a:solidFill>
                  <a:srgbClr val="263244"/>
                </a:solidFill>
                <a:latin typeface="Arial"/>
                <a:ea typeface="Arial"/>
                <a:cs typeface="Arial"/>
              </a:rPr>
              <a:t>rₖ,ₜ₊₁ = uₖ,ₜ − Pₛₜᵀpₖ,ₜ</a:t>
            </a:r>
          </a:p>
        </p:txBody>
      </p:sp>
      <p:sp>
        <p:nvSpPr>
          <p:cNvPr id="749" name="caabc-step-4-number">
            <a:extLst xmlns:a="http://schemas.openxmlformats.org/drawingml/2006/main">
              <a:ext uri="{FF2B5EF4-FFF2-40B4-BE49-F238E27FC236}">
                <a16:creationId xmlns:a16="http://schemas.microsoft.com/office/drawing/2014/main" id="{92EBFA0D-4908-44E3-8634-04AC3EBA1D07}"/>
              </a:ext>
            </a:extLst>
          </p:cNvPr>
          <p:cNvSpPr>
            <a:spLocks xmlns:a="http://schemas.openxmlformats.org/drawingml/2006/main" noGrp="1"/>
          </p:cNvSpPr>
          <p:nvPr/>
        </p:nvSpPr>
        <p:spPr>
          <a:xfrm xmlns:a="http://schemas.openxmlformats.org/drawingml/2006/main">
            <a:off x="8124825" y="1943100"/>
            <a:ext cx="400050" cy="400050"/>
          </a:xfrm>
          <a:prstGeom xmlns:a="http://schemas.openxmlformats.org/drawingml/2006/main" prst="ellipse">
            <a:avLst/>
          </a:prstGeom>
          <a:solidFill xmlns:a="http://schemas.openxmlformats.org/drawingml/2006/main">
            <a:srgbClr val="008A46"/>
          </a:solidFill>
          <a:ln xmlns:a="http://schemas.openxmlformats.org/drawingml/2006/main" w="9525">
            <a:solidFill>
              <a:srgbClr val="008A46"/>
            </a:solidFill>
          </a:ln>
        </p:spPr>
        <p:txBody>
          <a:bodyPr xmlns:a="http://schemas.openxmlformats.org/drawingml/2006/main" anchor="ctr">
            <a:noAutofit/>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4</a:t>
            </a:r>
          </a:p>
        </p:txBody>
      </p:sp>
      <p:sp>
        <p:nvSpPr>
          <p:cNvPr id="750" name="caabc-step-5">
            <a:extLst xmlns:a="http://schemas.openxmlformats.org/drawingml/2006/main">
              <a:ext uri="{FF2B5EF4-FFF2-40B4-BE49-F238E27FC236}">
                <a16:creationId xmlns:a16="http://schemas.microsoft.com/office/drawing/2014/main" id="{C449D170-6602-40AB-9B69-38339516E2C5}"/>
              </a:ext>
            </a:extLst>
          </p:cNvPr>
          <p:cNvSpPr>
            <a:spLocks xmlns:a="http://schemas.openxmlformats.org/drawingml/2006/main" noGrp="1"/>
          </p:cNvSpPr>
          <p:nvPr/>
        </p:nvSpPr>
        <p:spPr>
          <a:xfrm xmlns:a="http://schemas.openxmlformats.org/drawingml/2006/main">
            <a:off x="9639300" y="2171700"/>
            <a:ext cx="1752600" cy="2143125"/>
          </a:xfrm>
          <a:prstGeom xmlns:a="http://schemas.openxmlformats.org/drawingml/2006/main" prst="roundRect">
            <a:avLst>
              <a:gd name="adj" fmla="val 4348"/>
            </a:avLst>
          </a:prstGeom>
          <a:solidFill xmlns:a="http://schemas.openxmlformats.org/drawingml/2006/main">
            <a:srgbClr val="EAF6F5"/>
          </a:solidFill>
          <a:ln xmlns:a="http://schemas.openxmlformats.org/drawingml/2006/main" w="15240">
            <a:solidFill>
              <a:srgbClr val="2E867F"/>
            </a:solidFill>
          </a:ln>
        </p:spPr>
        <p:txBody>
          <a:bodyPr xmlns:a="http://schemas.openxmlformats.org/drawingml/2006/main" anchor="ctr">
            <a:normAutofit/>
          </a:bodyPr>
          <a:lstStyle xmlns:a="http://schemas.openxmlformats.org/drawingml/2006/main"/>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PACK + PROTECT</a:t>
            </a:r>
          </a:p>
          <a:p xmlns:a="http://schemas.openxmlformats.org/drawingml/2006/main">
            <a:endParaRPr sz="1125">
              <a:solidFill>
                <a:srgbClr val="263244"/>
              </a:solidFill>
              <a:latin typeface="Arial"/>
              <a:ea typeface="Arial"/>
              <a:cs typeface="Arial"/>
            </a:endParaRPr>
          </a:p>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Pack pₖ,ₜ into aligned slots</a:t>
            </a:r>
          </a:p>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Encrypt, sign and homomorphically aggregate</a:t>
            </a:r>
          </a:p>
        </p:txBody>
      </p:sp>
      <p:sp>
        <p:nvSpPr>
          <p:cNvPr id="751" name="caabc-step-5-number">
            <a:extLst xmlns:a="http://schemas.openxmlformats.org/drawingml/2006/main">
              <a:ext uri="{FF2B5EF4-FFF2-40B4-BE49-F238E27FC236}">
                <a16:creationId xmlns:a16="http://schemas.microsoft.com/office/drawing/2014/main" id="{9251FEAF-D7D4-470E-B46E-D9E53F03BBBF}"/>
              </a:ext>
            </a:extLst>
          </p:cNvPr>
          <p:cNvSpPr>
            <a:spLocks xmlns:a="http://schemas.openxmlformats.org/drawingml/2006/main" noGrp="1"/>
          </p:cNvSpPr>
          <p:nvPr/>
        </p:nvSpPr>
        <p:spPr>
          <a:xfrm xmlns:a="http://schemas.openxmlformats.org/drawingml/2006/main">
            <a:off x="10315575" y="1943100"/>
            <a:ext cx="400050" cy="400050"/>
          </a:xfrm>
          <a:prstGeom xmlns:a="http://schemas.openxmlformats.org/drawingml/2006/main" prst="ellipse">
            <a:avLst/>
          </a:prstGeom>
          <a:solidFill xmlns:a="http://schemas.openxmlformats.org/drawingml/2006/main">
            <a:srgbClr val="2E867F"/>
          </a:solidFill>
          <a:ln xmlns:a="http://schemas.openxmlformats.org/drawingml/2006/main" w="9525">
            <a:solidFill>
              <a:srgbClr val="2E867F"/>
            </a:solidFill>
          </a:ln>
        </p:spPr>
        <p:txBody>
          <a:bodyPr xmlns:a="http://schemas.openxmlformats.org/drawingml/2006/main" anchor="ctr">
            <a:noAutofit/>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5</a:t>
            </a:r>
          </a:p>
        </p:txBody>
      </p:sp>
      <p:cxnSp>
        <p:nvCxnSpPr>
          <p:cNvPr id="1129" name="Straight Arrow Connector 903"/>
          <p:cNvCxnSpPr>
            <a:stCxn xmlns:a="http://schemas.openxmlformats.org/drawingml/2006/main" id="742" idx="3"/>
            <a:endCxn xmlns:a="http://schemas.openxmlformats.org/drawingml/2006/main" id="744" idx="1"/>
          </p:cNvCxnSpPr>
          <p:nvPr/>
        </p:nvCxnSpPr>
        <p:spPr>
          <a:xfrm xmlns:a="http://schemas.openxmlformats.org/drawingml/2006/main">
            <a:off x="2628900" y="3243263"/>
            <a:ext cx="438150" cy="0"/>
          </a:xfrm>
          <a:prstGeom xmlns:a="http://schemas.openxmlformats.org/drawingml/2006/main" prst="straightConnector1">
            <a:avLst/>
          </a:prstGeom>
          <a:ln xmlns:a="http://schemas.openxmlformats.org/drawingml/2006/main" w="16193">
            <a:solidFill>
              <a:srgbClr val="6F849F"/>
            </a:solidFill>
            <a:prstDash val="solid"/>
            <a:headEnd type="none" w="med" len="med"/>
            <a:tailEnd type="triangle" w="sm" len="sm"/>
          </a:ln>
        </p:spPr>
      </p:cxnSp>
      <p:cxnSp>
        <p:nvCxnSpPr>
          <p:cNvPr id="1130" name="Straight Arrow Connector 904"/>
          <p:cNvCxnSpPr>
            <a:stCxn xmlns:a="http://schemas.openxmlformats.org/drawingml/2006/main" id="744" idx="3"/>
            <a:endCxn xmlns:a="http://schemas.openxmlformats.org/drawingml/2006/main" id="746" idx="1"/>
          </p:cNvCxnSpPr>
          <p:nvPr/>
        </p:nvCxnSpPr>
        <p:spPr>
          <a:xfrm xmlns:a="http://schemas.openxmlformats.org/drawingml/2006/main">
            <a:off x="4819650" y="3243263"/>
            <a:ext cx="438150" cy="0"/>
          </a:xfrm>
          <a:prstGeom xmlns:a="http://schemas.openxmlformats.org/drawingml/2006/main" prst="straightConnector1">
            <a:avLst/>
          </a:prstGeom>
          <a:ln xmlns:a="http://schemas.openxmlformats.org/drawingml/2006/main" w="16193">
            <a:solidFill>
              <a:srgbClr val="6F849F"/>
            </a:solidFill>
            <a:prstDash val="solid"/>
            <a:headEnd type="none" w="med" len="med"/>
            <a:tailEnd type="triangle" w="sm" len="sm"/>
          </a:ln>
        </p:spPr>
      </p:cxnSp>
      <p:cxnSp>
        <p:nvCxnSpPr>
          <p:cNvPr id="1131" name="Straight Arrow Connector 905"/>
          <p:cNvCxnSpPr>
            <a:stCxn xmlns:a="http://schemas.openxmlformats.org/drawingml/2006/main" id="746" idx="3"/>
            <a:endCxn xmlns:a="http://schemas.openxmlformats.org/drawingml/2006/main" id="748" idx="1"/>
          </p:cNvCxnSpPr>
          <p:nvPr/>
        </p:nvCxnSpPr>
        <p:spPr>
          <a:xfrm xmlns:a="http://schemas.openxmlformats.org/drawingml/2006/main">
            <a:off x="7010400" y="3243263"/>
            <a:ext cx="438150" cy="0"/>
          </a:xfrm>
          <a:prstGeom xmlns:a="http://schemas.openxmlformats.org/drawingml/2006/main" prst="straightConnector1">
            <a:avLst/>
          </a:prstGeom>
          <a:ln xmlns:a="http://schemas.openxmlformats.org/drawingml/2006/main" w="16193">
            <a:solidFill>
              <a:srgbClr val="6F849F"/>
            </a:solidFill>
            <a:prstDash val="solid"/>
            <a:headEnd type="none" w="med" len="med"/>
            <a:tailEnd type="triangle" w="sm" len="sm"/>
          </a:ln>
        </p:spPr>
      </p:cxnSp>
      <p:cxnSp>
        <p:nvCxnSpPr>
          <p:cNvPr id="1132" name="Straight Arrow Connector 906"/>
          <p:cNvCxnSpPr>
            <a:stCxn xmlns:a="http://schemas.openxmlformats.org/drawingml/2006/main" id="748" idx="3"/>
            <a:endCxn xmlns:a="http://schemas.openxmlformats.org/drawingml/2006/main" id="750" idx="1"/>
          </p:cNvCxnSpPr>
          <p:nvPr/>
        </p:nvCxnSpPr>
        <p:spPr>
          <a:xfrm xmlns:a="http://schemas.openxmlformats.org/drawingml/2006/main">
            <a:off x="9201150" y="3243263"/>
            <a:ext cx="438150" cy="0"/>
          </a:xfrm>
          <a:prstGeom xmlns:a="http://schemas.openxmlformats.org/drawingml/2006/main" prst="straightConnector1">
            <a:avLst/>
          </a:prstGeom>
          <a:ln xmlns:a="http://schemas.openxmlformats.org/drawingml/2006/main" w="16193">
            <a:solidFill>
              <a:srgbClr val="6F849F"/>
            </a:solidFill>
            <a:prstDash val="solid"/>
            <a:headEnd type="none" w="med" len="med"/>
            <a:tailEnd type="triangle" w="sm" len="sm"/>
          </a:ln>
        </p:spPr>
      </p:cxnSp>
      <p:sp>
        <p:nvSpPr>
          <p:cNvPr id="756" name="caabc-algorithm-property">
            <a:extLst xmlns:a="http://schemas.openxmlformats.org/drawingml/2006/main">
              <a:ext uri="{FF2B5EF4-FFF2-40B4-BE49-F238E27FC236}">
                <a16:creationId xmlns:a16="http://schemas.microsoft.com/office/drawing/2014/main" id="{3C8C8297-3ADB-4BC4-9374-AF63F8A2387E}"/>
              </a:ext>
            </a:extLst>
          </p:cNvPr>
          <p:cNvSpPr>
            <a:spLocks xmlns:a="http://schemas.openxmlformats.org/drawingml/2006/main" noGrp="1"/>
          </p:cNvSpPr>
          <p:nvPr/>
        </p:nvSpPr>
        <p:spPr>
          <a:xfrm xmlns:a="http://schemas.openxmlformats.org/drawingml/2006/main">
            <a:off x="1066800" y="4591050"/>
            <a:ext cx="10058400" cy="590550"/>
          </a:xfrm>
          <a:prstGeom xmlns:a="http://schemas.openxmlformats.org/drawingml/2006/main" prst="roundRect">
            <a:avLst>
              <a:gd name="adj" fmla="val 12903"/>
            </a:avLst>
          </a:prstGeom>
          <a:solidFill xmlns:a="http://schemas.openxmlformats.org/drawingml/2006/main">
            <a:srgbClr val="EEF7F4"/>
          </a:solidFill>
          <a:ln xmlns:a="http://schemas.openxmlformats.org/drawingml/2006/main" w="11430">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1F5B50"/>
                </a:solidFill>
                <a:latin typeface="Arial"/>
                <a:ea typeface="Arial"/>
                <a:cs typeface="Arial"/>
              </a:defRPr>
            </a:pPr>
            <a:r>
              <a:rPr sz="1275" b="1">
                <a:solidFill>
                  <a:srgbClr val="1F5B50"/>
                </a:solidFill>
                <a:latin typeface="Arial"/>
                <a:ea typeface="Arial"/>
                <a:cs typeface="Arial"/>
              </a:rPr>
              <a:t>Algorithmic contribution: one public support keeps every client ciphertext aligned, so logical block sparsity becomes a real reduction in serialized encrypted traffic.</a:t>
            </a:r>
          </a:p>
        </p:txBody>
      </p:sp>
      <p:sp>
        <p:nvSpPr>
          <p:cNvPr id="757" name="caabc-algorithm-output">
            <a:extLst xmlns:a="http://schemas.openxmlformats.org/drawingml/2006/main">
              <a:ext uri="{FF2B5EF4-FFF2-40B4-BE49-F238E27FC236}">
                <a16:creationId xmlns:a16="http://schemas.microsoft.com/office/drawing/2014/main" id="{204D9384-6038-4C97-86AC-9C669CAEAD3E}"/>
              </a:ext>
            </a:extLst>
          </p:cNvPr>
          <p:cNvSpPr>
            <a:spLocks xmlns:a="http://schemas.openxmlformats.org/drawingml/2006/main" noGrp="1"/>
          </p:cNvSpPr>
          <p:nvPr/>
        </p:nvSpPr>
        <p:spPr>
          <a:xfrm xmlns:a="http://schemas.openxmlformats.org/drawingml/2006/main">
            <a:off x="2247900" y="5353050"/>
            <a:ext cx="7696200" cy="457200"/>
          </a:xfrm>
          <a:prstGeom xmlns:a="http://schemas.openxmlformats.org/drawingml/2006/main" prst="roundRect">
            <a:avLst>
              <a:gd name="adj" fmla="val 16667"/>
            </a:avLst>
          </a:prstGeom>
          <a:solidFill xmlns:a="http://schemas.openxmlformats.org/drawingml/2006/main">
            <a:srgbClr val="F4F6FA"/>
          </a:solidFill>
          <a:ln xmlns:a="http://schemas.openxmlformats.org/drawingml/2006/main" w="10478">
            <a:solidFill>
              <a:srgbClr val="062B6F"/>
            </a:solidFill>
          </a:ln>
        </p:spPr>
        <p:txBody>
          <a:bodyPr xmlns:a="http://schemas.openxmlformats.org/drawingml/2006/main" anchor="ctr">
            <a:normAutofit fontScale="86223" lnSpcReduction="10000"/>
          </a:bodyPr>
          <a:lstStyle xmlns:a="http://schemas.openxmlformats.org/drawingml/2006/main"/>
          <a:p xmlns:a="http://schemas.openxmlformats.org/drawingml/2006/main">
            <a:pPr algn="ctr">
              <a:buNone/>
              <a:defRPr sz="1238" b="1">
                <a:solidFill>
                  <a:srgbClr val="062B6F"/>
                </a:solidFill>
                <a:latin typeface="Arial"/>
                <a:ea typeface="Arial"/>
                <a:cs typeface="Arial"/>
              </a:defRPr>
            </a:pPr>
            <a:r>
              <a:rPr sz="1238" b="1">
                <a:solidFill>
                  <a:srgbClr val="062B6F"/>
                </a:solidFill>
                <a:latin typeface="Arial"/>
                <a:ea typeface="Arial"/>
                <a:cs typeface="Arial"/>
              </a:rPr>
              <a:t>Output: two aligned CKKS ciphertext chunks, an updated residual, and an aggregation-compatible protected update</a:t>
            </a:r>
          </a:p>
        </p:txBody>
      </p:sp>
      <p:pic>
        <p:nvPicPr>
          <p:cNvPr id="1135" name="Picture 910"/>
          <p:cNvPicPr>
            <a:picLocks xmlns:a="http://schemas.openxmlformats.org/drawingml/2006/main" noChangeAspect="1"/>
          </p:cNvPicPr>
          <p:nvPr/>
        </p:nvPicPr>
        <p:blipFill>
          <a:blip xmlns:r="http://schemas.openxmlformats.org/officeDocument/2006/relationships" xmlns:a="http://schemas.openxmlformats.org/drawingml/2006/main" r:embed="R1ad63c0befe1451b"/>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pic>
        <p:nvPicPr>
          <p:cNvPr id="1136" name="Picture 1"/>
          <p:cNvPicPr>
            <a:picLocks xmlns:a="http://schemas.openxmlformats.org/drawingml/2006/main" noChangeAspect="1"/>
          </p:cNvPicPr>
          <p:nvPr/>
        </p:nvPicPr>
        <p:blipFill>
          <a:blip xmlns:r="http://schemas.openxmlformats.org/officeDocument/2006/relationships" xmlns:a="http://schemas.openxmlformats.org/drawingml/2006/main" r:embed="Raa260f175b09485f"/>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224468282"/>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41786"/>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Formulation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21</a:t>
            </a:r>
            <a:endParaRPr sz="2800"/>
          </a:p>
        </p:txBody>
      </p:sp>
      <p:pic>
        <p:nvPicPr>
          <p:cNvPr id="26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63f07d06b264de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Learning objective</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F(w) = Σₖ (nₖ/N)Fₖ(w)</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Fₖ(w) = (1/nₖ)Σᵢ ℓ(w; xᵢ, yᵢ)</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Protected local update</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ḡₖᵗ = gₖᵗ / max(1, ||gₖᵗ||₂/C)</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uₖᵗ = Qₛₜ(ḡₖᵗ + zₖᵗ + eₖᵗ)</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Encrypted aggregation</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cₜ = ⊕ₖ∈Aₜ Encₚₖ(uₖᵗ)</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wₜ₊₁ = wₜ − ηₜ Decₜ(cₜ)/|Aₜ|</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Design constraints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Minimize final loss and serialized bytes subject to record-level DP, verified aggregation, threshold-authorized release, and auditable execution.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7" name="problem-formulation-explanation-cover">
            <a:extLst xmlns:a="http://schemas.openxmlformats.org/drawingml/2006/main">
              <a:ext uri="{FF2B5EF4-FFF2-40B4-BE49-F238E27FC236}">
                <a16:creationId xmlns:a16="http://schemas.microsoft.com/office/drawing/2014/main" id="{84699A72-0121-48F9-83F4-99E981AB73AF}"/>
              </a:ext>
            </a:extLst>
          </p:cNvPr>
          <p:cNvSpPr>
            <a:spLocks xmlns:a="http://schemas.openxmlformats.org/drawingml/2006/main" noGrp="1"/>
          </p:cNvSpPr>
          <p:nvPr/>
        </p:nvSpPr>
        <p:spPr>
          <a:xfrm xmlns:a="http://schemas.openxmlformats.org/drawingml/2006/main">
            <a:off x="400050" y="1200150"/>
            <a:ext cx="11391900" cy="4953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8" name="learning-objective-title">
            <a:extLst xmlns:a="http://schemas.openxmlformats.org/drawingml/2006/main">
              <a:ext uri="{FF2B5EF4-FFF2-40B4-BE49-F238E27FC236}">
                <a16:creationId xmlns:a16="http://schemas.microsoft.com/office/drawing/2014/main" id="{79B670E3-A9CD-4346-BE6C-9728D4174518}"/>
              </a:ext>
            </a:extLst>
          </p:cNvPr>
          <p:cNvSpPr>
            <a:spLocks xmlns:a="http://schemas.openxmlformats.org/drawingml/2006/main" noGrp="1"/>
          </p:cNvSpPr>
          <p:nvPr/>
        </p:nvSpPr>
        <p:spPr>
          <a:xfrm xmlns:a="http://schemas.openxmlformats.org/drawingml/2006/main">
            <a:off x="904875" y="1362075"/>
            <a:ext cx="481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981" lnSpcReduction="10000"/>
          </a:bodyPr>
          <a:lstStyle xmlns:a="http://schemas.openxmlformats.org/drawingml/2006/main"/>
          <a:p xmlns:a="http://schemas.openxmlformats.org/drawingml/2006/main">
            <a:pPr>
              <a:buNone/>
              <a:defRPr sz="2025" b="1">
                <a:solidFill>
                  <a:srgbClr val="008A46"/>
                </a:solidFill>
                <a:latin typeface="Arial"/>
                <a:ea typeface="Arial"/>
                <a:cs typeface="Arial"/>
              </a:defRPr>
            </a:pPr>
            <a:r>
              <a:rPr sz="2025" b="1">
                <a:solidFill>
                  <a:srgbClr val="008A46"/>
                </a:solidFill>
                <a:latin typeface="Arial"/>
                <a:ea typeface="Arial"/>
                <a:cs typeface="Arial"/>
              </a:rPr>
              <a:t>Learning objective</a:t>
            </a:r>
          </a:p>
        </p:txBody>
      </p:sp>
      <p:sp>
        <p:nvSpPr>
          <p:cNvPr id="239" name="learning-objective-rule">
            <a:extLst xmlns:a="http://schemas.openxmlformats.org/drawingml/2006/main">
              <a:ext uri="{FF2B5EF4-FFF2-40B4-BE49-F238E27FC236}">
                <a16:creationId xmlns:a16="http://schemas.microsoft.com/office/drawing/2014/main" id="{ACABD4A9-60F2-4789-9336-ACDD7ECA7737}"/>
              </a:ext>
            </a:extLst>
          </p:cNvPr>
          <p:cNvSpPr>
            <a:spLocks xmlns:a="http://schemas.openxmlformats.org/drawingml/2006/main" noGrp="1"/>
          </p:cNvSpPr>
          <p:nvPr/>
        </p:nvSpPr>
        <p:spPr>
          <a:xfrm xmlns:a="http://schemas.openxmlformats.org/drawingml/2006/main">
            <a:off x="904875" y="1762125"/>
            <a:ext cx="4810125" cy="28575"/>
          </a:xfrm>
          <a:prstGeom xmlns:a="http://schemas.openxmlformats.org/drawingml/2006/main" prst="rect">
            <a:avLst/>
          </a:prstGeom>
          <a:solidFill xmlns:a="http://schemas.openxmlformats.org/drawingml/2006/main">
            <a:srgbClr val="008A46"/>
          </a:solidFill>
          <a:ln xmlns:a="http://schemas.openxmlformats.org/drawingml/2006/main" w="0">
            <a:noFill/>
          </a:ln>
        </p:spPr>
      </p:sp>
      <p:sp>
        <p:nvSpPr>
          <p:cNvPr id="240" name="learning-objective-equation">
            <a:extLst xmlns:a="http://schemas.openxmlformats.org/drawingml/2006/main">
              <a:ext uri="{FF2B5EF4-FFF2-40B4-BE49-F238E27FC236}">
                <a16:creationId xmlns:a16="http://schemas.microsoft.com/office/drawing/2014/main" id="{0C168608-0CA2-4D92-9DF3-4BCF50253E90}"/>
              </a:ext>
            </a:extLst>
          </p:cNvPr>
          <p:cNvSpPr>
            <a:spLocks xmlns:a="http://schemas.openxmlformats.org/drawingml/2006/main" noGrp="1"/>
          </p:cNvSpPr>
          <p:nvPr/>
        </p:nvSpPr>
        <p:spPr>
          <a:xfrm xmlns:a="http://schemas.openxmlformats.org/drawingml/2006/main">
            <a:off x="981075" y="1885950"/>
            <a:ext cx="4619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F(w) = Σₖ (nₖ/N)Fₖ(w)</a:t>
            </a:r>
          </a:p>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Fₖ(w) = (1/nₖ)Σᵢ ℓ(w; xᵢ, yᵢ)</a:t>
            </a:r>
          </a:p>
        </p:txBody>
      </p:sp>
      <p:sp>
        <p:nvSpPr>
          <p:cNvPr id="241" name="learning-objective-explanation">
            <a:extLst xmlns:a="http://schemas.openxmlformats.org/drawingml/2006/main">
              <a:ext uri="{FF2B5EF4-FFF2-40B4-BE49-F238E27FC236}">
                <a16:creationId xmlns:a16="http://schemas.microsoft.com/office/drawing/2014/main" id="{11211DA1-BE96-4A97-96F5-8CA3C652111F}"/>
              </a:ext>
            </a:extLst>
          </p:cNvPr>
          <p:cNvSpPr>
            <a:spLocks xmlns:a="http://schemas.openxmlformats.org/drawingml/2006/main" noGrp="1"/>
          </p:cNvSpPr>
          <p:nvPr/>
        </p:nvSpPr>
        <p:spPr>
          <a:xfrm xmlns:a="http://schemas.openxmlformats.org/drawingml/2006/main">
            <a:off x="981075" y="2524125"/>
            <a:ext cx="4619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125">
                <a:solidFill>
                  <a:srgbClr val="52606D"/>
                </a:solidFill>
                <a:latin typeface="Arial"/>
                <a:ea typeface="Arial"/>
                <a:cs typeface="Arial"/>
              </a:defRPr>
            </a:pPr>
            <a:r>
              <a:rPr sz="1125">
                <a:solidFill>
                  <a:srgbClr val="52606D"/>
                </a:solidFill>
                <a:latin typeface="Arial"/>
                <a:ea typeface="Arial"/>
                <a:cs typeface="Arial"/>
              </a:rPr>
              <a:t>Fₖ(w) is the empirical loss at hospital k. The ratio nₖ/N weights each hospital by its share of the combined training records.</a:t>
            </a:r>
          </a:p>
        </p:txBody>
      </p:sp>
      <p:sp>
        <p:nvSpPr>
          <p:cNvPr id="242" name="learning-objective-takeaway">
            <a:extLst xmlns:a="http://schemas.openxmlformats.org/drawingml/2006/main">
              <a:ext uri="{FF2B5EF4-FFF2-40B4-BE49-F238E27FC236}">
                <a16:creationId xmlns:a16="http://schemas.microsoft.com/office/drawing/2014/main" id="{EFB9FA41-E2DE-49D2-98AA-61CEF65BF54C}"/>
              </a:ext>
            </a:extLst>
          </p:cNvPr>
          <p:cNvSpPr>
            <a:spLocks xmlns:a="http://schemas.openxmlformats.org/drawingml/2006/main" noGrp="1"/>
          </p:cNvSpPr>
          <p:nvPr/>
        </p:nvSpPr>
        <p:spPr>
          <a:xfrm xmlns:a="http://schemas.openxmlformats.org/drawingml/2006/main">
            <a:off x="981075" y="3067050"/>
            <a:ext cx="461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125" b="1">
                <a:solidFill>
                  <a:srgbClr val="008A46"/>
                </a:solidFill>
                <a:latin typeface="Arial"/>
                <a:ea typeface="Arial"/>
                <a:cs typeface="Arial"/>
              </a:defRPr>
            </a:pPr>
            <a:r>
              <a:rPr sz="1125" b="1">
                <a:solidFill>
                  <a:srgbClr val="008A46"/>
                </a:solidFill>
                <a:latin typeface="Arial"/>
                <a:ea typeface="Arial"/>
                <a:cs typeface="Arial"/>
              </a:rPr>
              <a:t>Goal: minimize weighted global loss while records remain local.</a:t>
            </a:r>
          </a:p>
        </p:txBody>
      </p:sp>
      <p:sp>
        <p:nvSpPr>
          <p:cNvPr id="243" name="protected-update-title">
            <a:extLst xmlns:a="http://schemas.openxmlformats.org/drawingml/2006/main">
              <a:ext uri="{FF2B5EF4-FFF2-40B4-BE49-F238E27FC236}">
                <a16:creationId xmlns:a16="http://schemas.microsoft.com/office/drawing/2014/main" id="{22CA2067-CE68-47A3-A909-EE970DC70D3F}"/>
              </a:ext>
            </a:extLst>
          </p:cNvPr>
          <p:cNvSpPr>
            <a:spLocks xmlns:a="http://schemas.openxmlformats.org/drawingml/2006/main" noGrp="1"/>
          </p:cNvSpPr>
          <p:nvPr/>
        </p:nvSpPr>
        <p:spPr>
          <a:xfrm xmlns:a="http://schemas.openxmlformats.org/drawingml/2006/main">
            <a:off x="6477000" y="1362075"/>
            <a:ext cx="481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981" lnSpcReduction="10000"/>
          </a:bodyPr>
          <a:lstStyle xmlns:a="http://schemas.openxmlformats.org/drawingml/2006/main"/>
          <a:p xmlns:a="http://schemas.openxmlformats.org/drawingml/2006/main">
            <a:pPr>
              <a:buNone/>
              <a:defRPr sz="2025" b="1">
                <a:solidFill>
                  <a:srgbClr val="00A9D6"/>
                </a:solidFill>
                <a:latin typeface="Arial"/>
                <a:ea typeface="Arial"/>
                <a:cs typeface="Arial"/>
              </a:defRPr>
            </a:pPr>
            <a:r>
              <a:rPr sz="2025" b="1">
                <a:solidFill>
                  <a:srgbClr val="00A9D6"/>
                </a:solidFill>
                <a:latin typeface="Arial"/>
                <a:ea typeface="Arial"/>
                <a:cs typeface="Arial"/>
              </a:rPr>
              <a:t>Protected local update</a:t>
            </a:r>
          </a:p>
        </p:txBody>
      </p:sp>
      <p:sp>
        <p:nvSpPr>
          <p:cNvPr id="244" name="protected-update-rule">
            <a:extLst xmlns:a="http://schemas.openxmlformats.org/drawingml/2006/main">
              <a:ext uri="{FF2B5EF4-FFF2-40B4-BE49-F238E27FC236}">
                <a16:creationId xmlns:a16="http://schemas.microsoft.com/office/drawing/2014/main" id="{5D9C9DC8-9CFF-42C5-A880-6946FCE14179}"/>
              </a:ext>
            </a:extLst>
          </p:cNvPr>
          <p:cNvSpPr>
            <a:spLocks xmlns:a="http://schemas.openxmlformats.org/drawingml/2006/main" noGrp="1"/>
          </p:cNvSpPr>
          <p:nvPr/>
        </p:nvSpPr>
        <p:spPr>
          <a:xfrm xmlns:a="http://schemas.openxmlformats.org/drawingml/2006/main">
            <a:off x="6477000" y="1762125"/>
            <a:ext cx="4810125" cy="28575"/>
          </a:xfrm>
          <a:prstGeom xmlns:a="http://schemas.openxmlformats.org/drawingml/2006/main" prst="rect">
            <a:avLst/>
          </a:prstGeom>
          <a:solidFill xmlns:a="http://schemas.openxmlformats.org/drawingml/2006/main">
            <a:srgbClr val="00A9D6"/>
          </a:solidFill>
          <a:ln xmlns:a="http://schemas.openxmlformats.org/drawingml/2006/main" w="0">
            <a:noFill/>
          </a:ln>
        </p:spPr>
      </p:sp>
      <p:sp>
        <p:nvSpPr>
          <p:cNvPr id="245" name="protected-update-equation">
            <a:extLst xmlns:a="http://schemas.openxmlformats.org/drawingml/2006/main">
              <a:ext uri="{FF2B5EF4-FFF2-40B4-BE49-F238E27FC236}">
                <a16:creationId xmlns:a16="http://schemas.microsoft.com/office/drawing/2014/main" id="{C0589AB0-3A98-449D-8E96-D13B6CC80664}"/>
              </a:ext>
            </a:extLst>
          </p:cNvPr>
          <p:cNvSpPr>
            <a:spLocks xmlns:a="http://schemas.openxmlformats.org/drawingml/2006/main" noGrp="1"/>
          </p:cNvSpPr>
          <p:nvPr/>
        </p:nvSpPr>
        <p:spPr>
          <a:xfrm xmlns:a="http://schemas.openxmlformats.org/drawingml/2006/main">
            <a:off x="6553200" y="1885950"/>
            <a:ext cx="4619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ḡₖᵗ = gₖᵗ / max(1, ‖gₖᵗ‖₂/C)</a:t>
            </a:r>
          </a:p>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uₖᵗ = Qₛₜ(ḡₖᵗ + zₖᵗ + eₖᵗ)</a:t>
            </a:r>
          </a:p>
        </p:txBody>
      </p:sp>
      <p:sp>
        <p:nvSpPr>
          <p:cNvPr id="246" name="protected-update-explanation">
            <a:extLst xmlns:a="http://schemas.openxmlformats.org/drawingml/2006/main">
              <a:ext uri="{FF2B5EF4-FFF2-40B4-BE49-F238E27FC236}">
                <a16:creationId xmlns:a16="http://schemas.microsoft.com/office/drawing/2014/main" id="{C2870143-9667-4B0D-A93B-FA30BCC80606}"/>
              </a:ext>
            </a:extLst>
          </p:cNvPr>
          <p:cNvSpPr>
            <a:spLocks xmlns:a="http://schemas.openxmlformats.org/drawingml/2006/main" noGrp="1"/>
          </p:cNvSpPr>
          <p:nvPr/>
        </p:nvSpPr>
        <p:spPr>
          <a:xfrm xmlns:a="http://schemas.openxmlformats.org/drawingml/2006/main">
            <a:off x="6553200" y="2524125"/>
            <a:ext cx="4619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450"/>
          </a:bodyPr>
          <a:lstStyle xmlns:a="http://schemas.openxmlformats.org/drawingml/2006/main"/>
          <a:p xmlns:a="http://schemas.openxmlformats.org/drawingml/2006/main">
            <a:pPr>
              <a:buNone/>
              <a:defRPr sz="1125">
                <a:solidFill>
                  <a:srgbClr val="52606D"/>
                </a:solidFill>
                <a:latin typeface="Arial"/>
                <a:ea typeface="Arial"/>
                <a:cs typeface="Arial"/>
              </a:defRPr>
            </a:pPr>
            <a:r>
              <a:rPr sz="1125">
                <a:solidFill>
                  <a:srgbClr val="52606D"/>
                </a:solidFill>
                <a:latin typeface="Arial"/>
                <a:ea typeface="Arial"/>
                <a:cs typeface="Arial"/>
              </a:rPr>
              <a:t>C bounds each gradient. zₖᵗ adds Gaussian DP noise, eₖᵗ carries the compression residual, and Qₛₜ applies the CAABC-FL block compressor.</a:t>
            </a:r>
          </a:p>
        </p:txBody>
      </p:sp>
      <p:sp>
        <p:nvSpPr>
          <p:cNvPr id="247" name="protected-update-takeaway">
            <a:extLst xmlns:a="http://schemas.openxmlformats.org/drawingml/2006/main">
              <a:ext uri="{FF2B5EF4-FFF2-40B4-BE49-F238E27FC236}">
                <a16:creationId xmlns:a16="http://schemas.microsoft.com/office/drawing/2014/main" id="{CA0E8D0A-92C2-44FC-A191-959156B1795D}"/>
              </a:ext>
            </a:extLst>
          </p:cNvPr>
          <p:cNvSpPr>
            <a:spLocks xmlns:a="http://schemas.openxmlformats.org/drawingml/2006/main" noGrp="1"/>
          </p:cNvSpPr>
          <p:nvPr/>
        </p:nvSpPr>
        <p:spPr>
          <a:xfrm xmlns:a="http://schemas.openxmlformats.org/drawingml/2006/main">
            <a:off x="6553200" y="3067050"/>
            <a:ext cx="461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125" b="1">
                <a:solidFill>
                  <a:srgbClr val="00A9D6"/>
                </a:solidFill>
                <a:latin typeface="Arial"/>
                <a:ea typeface="Arial"/>
                <a:cs typeface="Arial"/>
              </a:defRPr>
            </a:pPr>
            <a:r>
              <a:rPr sz="1125" b="1">
                <a:solidFill>
                  <a:srgbClr val="00A9D6"/>
                </a:solidFill>
                <a:latin typeface="Arial"/>
                <a:ea typeface="Arial"/>
                <a:cs typeface="Arial"/>
              </a:rPr>
              <a:t>Result: a bounded, private and compression-aware client update.</a:t>
            </a:r>
          </a:p>
        </p:txBody>
      </p:sp>
      <p:sp>
        <p:nvSpPr>
          <p:cNvPr id="248" name="encrypted-aggregation-title">
            <a:extLst xmlns:a="http://schemas.openxmlformats.org/drawingml/2006/main">
              <a:ext uri="{FF2B5EF4-FFF2-40B4-BE49-F238E27FC236}">
                <a16:creationId xmlns:a16="http://schemas.microsoft.com/office/drawing/2014/main" id="{4F565ACE-3B3B-4646-A107-E1AF767DE8FF}"/>
              </a:ext>
            </a:extLst>
          </p:cNvPr>
          <p:cNvSpPr>
            <a:spLocks xmlns:a="http://schemas.openxmlformats.org/drawingml/2006/main" noGrp="1"/>
          </p:cNvSpPr>
          <p:nvPr/>
        </p:nvSpPr>
        <p:spPr>
          <a:xfrm xmlns:a="http://schemas.openxmlformats.org/drawingml/2006/main">
            <a:off x="904875" y="3524250"/>
            <a:ext cx="481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981" lnSpcReduction="10000"/>
          </a:bodyPr>
          <a:lstStyle xmlns:a="http://schemas.openxmlformats.org/drawingml/2006/main"/>
          <a:p xmlns:a="http://schemas.openxmlformats.org/drawingml/2006/main">
            <a:pPr>
              <a:buNone/>
              <a:defRPr sz="2025" b="1">
                <a:solidFill>
                  <a:srgbClr val="008A46"/>
                </a:solidFill>
                <a:latin typeface="Arial"/>
                <a:ea typeface="Arial"/>
                <a:cs typeface="Arial"/>
              </a:defRPr>
            </a:pPr>
            <a:r>
              <a:rPr sz="2025" b="1">
                <a:solidFill>
                  <a:srgbClr val="008A46"/>
                </a:solidFill>
                <a:latin typeface="Arial"/>
                <a:ea typeface="Arial"/>
                <a:cs typeface="Arial"/>
              </a:rPr>
              <a:t>Encrypted aggregation</a:t>
            </a:r>
          </a:p>
        </p:txBody>
      </p:sp>
      <p:sp>
        <p:nvSpPr>
          <p:cNvPr id="249" name="encrypted-aggregation-rule">
            <a:extLst xmlns:a="http://schemas.openxmlformats.org/drawingml/2006/main">
              <a:ext uri="{FF2B5EF4-FFF2-40B4-BE49-F238E27FC236}">
                <a16:creationId xmlns:a16="http://schemas.microsoft.com/office/drawing/2014/main" id="{D4E628CF-50B1-4E64-9A20-1090396E404A}"/>
              </a:ext>
            </a:extLst>
          </p:cNvPr>
          <p:cNvSpPr>
            <a:spLocks xmlns:a="http://schemas.openxmlformats.org/drawingml/2006/main" noGrp="1"/>
          </p:cNvSpPr>
          <p:nvPr/>
        </p:nvSpPr>
        <p:spPr>
          <a:xfrm xmlns:a="http://schemas.openxmlformats.org/drawingml/2006/main">
            <a:off x="904875" y="3924300"/>
            <a:ext cx="4810125" cy="28575"/>
          </a:xfrm>
          <a:prstGeom xmlns:a="http://schemas.openxmlformats.org/drawingml/2006/main" prst="rect">
            <a:avLst/>
          </a:prstGeom>
          <a:solidFill xmlns:a="http://schemas.openxmlformats.org/drawingml/2006/main">
            <a:srgbClr val="008A46"/>
          </a:solidFill>
          <a:ln xmlns:a="http://schemas.openxmlformats.org/drawingml/2006/main" w="0">
            <a:noFill/>
          </a:ln>
        </p:spPr>
      </p:sp>
      <p:sp>
        <p:nvSpPr>
          <p:cNvPr id="250" name="encrypted-aggregation-equation">
            <a:extLst xmlns:a="http://schemas.openxmlformats.org/drawingml/2006/main">
              <a:ext uri="{FF2B5EF4-FFF2-40B4-BE49-F238E27FC236}">
                <a16:creationId xmlns:a16="http://schemas.microsoft.com/office/drawing/2014/main" id="{4CCFADB6-34C0-4E2D-96BA-F1A38B975721}"/>
              </a:ext>
            </a:extLst>
          </p:cNvPr>
          <p:cNvSpPr>
            <a:spLocks xmlns:a="http://schemas.openxmlformats.org/drawingml/2006/main" noGrp="1"/>
          </p:cNvSpPr>
          <p:nvPr/>
        </p:nvSpPr>
        <p:spPr>
          <a:xfrm xmlns:a="http://schemas.openxmlformats.org/drawingml/2006/main">
            <a:off x="981075" y="4048125"/>
            <a:ext cx="4619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cₜ = ⊕ₖ∈Aₜ Encₚₖ(uₖᵗ)</a:t>
            </a:r>
          </a:p>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wₜ₊₁ = wₜ − ηₜ Dec(cₜ)/|Aₜ|</a:t>
            </a:r>
          </a:p>
        </p:txBody>
      </p:sp>
      <p:sp>
        <p:nvSpPr>
          <p:cNvPr id="251" name="encrypted-aggregation-explanation">
            <a:extLst xmlns:a="http://schemas.openxmlformats.org/drawingml/2006/main">
              <a:ext uri="{FF2B5EF4-FFF2-40B4-BE49-F238E27FC236}">
                <a16:creationId xmlns:a16="http://schemas.microsoft.com/office/drawing/2014/main" id="{EE3EAF5F-FFB7-485D-A8DD-73C42CCDEE96}"/>
              </a:ext>
            </a:extLst>
          </p:cNvPr>
          <p:cNvSpPr>
            <a:spLocks xmlns:a="http://schemas.openxmlformats.org/drawingml/2006/main" noGrp="1"/>
          </p:cNvSpPr>
          <p:nvPr/>
        </p:nvSpPr>
        <p:spPr>
          <a:xfrm xmlns:a="http://schemas.openxmlformats.org/drawingml/2006/main">
            <a:off x="981075" y="4686300"/>
            <a:ext cx="4619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857"/>
          </a:bodyPr>
          <a:lstStyle xmlns:a="http://schemas.openxmlformats.org/drawingml/2006/main"/>
          <a:p xmlns:a="http://schemas.openxmlformats.org/drawingml/2006/main">
            <a:pPr>
              <a:buNone/>
              <a:defRPr sz="1125">
                <a:solidFill>
                  <a:srgbClr val="52606D"/>
                </a:solidFill>
                <a:latin typeface="Arial"/>
                <a:ea typeface="Arial"/>
                <a:cs typeface="Arial"/>
              </a:defRPr>
            </a:pPr>
            <a:r>
              <a:rPr sz="1125">
                <a:solidFill>
                  <a:srgbClr val="52606D"/>
                </a:solidFill>
                <a:latin typeface="Arial"/>
                <a:ea typeface="Arial"/>
                <a:cs typeface="Arial"/>
              </a:rPr>
              <a:t>Aₜ contains admitted clients. CKKS sums encrypted uₖᵗ values without exposing them. Custodians decrypt cₜ, the aggregate, rather than individual updates.</a:t>
            </a:r>
          </a:p>
        </p:txBody>
      </p:sp>
      <p:sp>
        <p:nvSpPr>
          <p:cNvPr id="252" name="encrypted-aggregation-takeaway">
            <a:extLst xmlns:a="http://schemas.openxmlformats.org/drawingml/2006/main">
              <a:ext uri="{FF2B5EF4-FFF2-40B4-BE49-F238E27FC236}">
                <a16:creationId xmlns:a16="http://schemas.microsoft.com/office/drawing/2014/main" id="{B1906C49-A301-4C72-8F3B-C2DF5C38CD68}"/>
              </a:ext>
            </a:extLst>
          </p:cNvPr>
          <p:cNvSpPr>
            <a:spLocks xmlns:a="http://schemas.openxmlformats.org/drawingml/2006/main" noGrp="1"/>
          </p:cNvSpPr>
          <p:nvPr/>
        </p:nvSpPr>
        <p:spPr>
          <a:xfrm xmlns:a="http://schemas.openxmlformats.org/drawingml/2006/main">
            <a:off x="981075" y="5229225"/>
            <a:ext cx="461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863"/>
          </a:bodyPr>
          <a:lstStyle xmlns:a="http://schemas.openxmlformats.org/drawingml/2006/main"/>
          <a:p xmlns:a="http://schemas.openxmlformats.org/drawingml/2006/main">
            <a:pPr>
              <a:buNone/>
              <a:defRPr sz="1125" b="1">
                <a:solidFill>
                  <a:srgbClr val="008A46"/>
                </a:solidFill>
                <a:latin typeface="Arial"/>
                <a:ea typeface="Arial"/>
                <a:cs typeface="Arial"/>
              </a:defRPr>
            </a:pPr>
            <a:r>
              <a:rPr sz="1125" b="1">
                <a:solidFill>
                  <a:srgbClr val="008A46"/>
                </a:solidFill>
                <a:latin typeface="Arial"/>
                <a:ea typeface="Arial"/>
                <a:cs typeface="Arial"/>
              </a:rPr>
              <a:t>ηₜ controls the update step and |Aₜ| produces the mean aggregate.</a:t>
            </a:r>
          </a:p>
        </p:txBody>
      </p:sp>
      <p:sp>
        <p:nvSpPr>
          <p:cNvPr id="253" name="constraints-title">
            <a:extLst xmlns:a="http://schemas.openxmlformats.org/drawingml/2006/main">
              <a:ext uri="{FF2B5EF4-FFF2-40B4-BE49-F238E27FC236}">
                <a16:creationId xmlns:a16="http://schemas.microsoft.com/office/drawing/2014/main" id="{53DD9FDF-3741-493D-AB81-B019B35C7F35}"/>
              </a:ext>
            </a:extLst>
          </p:cNvPr>
          <p:cNvSpPr>
            <a:spLocks xmlns:a="http://schemas.openxmlformats.org/drawingml/2006/main" noGrp="1"/>
          </p:cNvSpPr>
          <p:nvPr/>
        </p:nvSpPr>
        <p:spPr>
          <a:xfrm xmlns:a="http://schemas.openxmlformats.org/drawingml/2006/main">
            <a:off x="6477000" y="3524250"/>
            <a:ext cx="481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981" lnSpcReduction="10000"/>
          </a:bodyPr>
          <a:lstStyle xmlns:a="http://schemas.openxmlformats.org/drawingml/2006/main"/>
          <a:p xmlns:a="http://schemas.openxmlformats.org/drawingml/2006/main">
            <a:pPr>
              <a:buNone/>
              <a:defRPr sz="2025" b="1">
                <a:solidFill>
                  <a:srgbClr val="1E3A5F"/>
                </a:solidFill>
                <a:latin typeface="Arial"/>
                <a:ea typeface="Arial"/>
                <a:cs typeface="Arial"/>
              </a:defRPr>
            </a:pPr>
            <a:r>
              <a:rPr sz="2025" b="1">
                <a:solidFill>
                  <a:srgbClr val="1E3A5F"/>
                </a:solidFill>
                <a:latin typeface="Arial"/>
                <a:ea typeface="Arial"/>
                <a:cs typeface="Arial"/>
              </a:rPr>
              <a:t>Design constraints</a:t>
            </a:r>
          </a:p>
        </p:txBody>
      </p:sp>
      <p:sp>
        <p:nvSpPr>
          <p:cNvPr id="254" name="constraints-rule">
            <a:extLst xmlns:a="http://schemas.openxmlformats.org/drawingml/2006/main">
              <a:ext uri="{FF2B5EF4-FFF2-40B4-BE49-F238E27FC236}">
                <a16:creationId xmlns:a16="http://schemas.microsoft.com/office/drawing/2014/main" id="{ACDF0887-D9F8-4DAB-8E94-80F0BF5E7D67}"/>
              </a:ext>
            </a:extLst>
          </p:cNvPr>
          <p:cNvSpPr>
            <a:spLocks xmlns:a="http://schemas.openxmlformats.org/drawingml/2006/main" noGrp="1"/>
          </p:cNvSpPr>
          <p:nvPr/>
        </p:nvSpPr>
        <p:spPr>
          <a:xfrm xmlns:a="http://schemas.openxmlformats.org/drawingml/2006/main">
            <a:off x="6477000" y="3924300"/>
            <a:ext cx="4810125" cy="28575"/>
          </a:xfrm>
          <a:prstGeom xmlns:a="http://schemas.openxmlformats.org/drawingml/2006/main" prst="rect">
            <a:avLst/>
          </a:prstGeom>
          <a:solidFill xmlns:a="http://schemas.openxmlformats.org/drawingml/2006/main">
            <a:srgbClr val="00A9D6"/>
          </a:solidFill>
          <a:ln xmlns:a="http://schemas.openxmlformats.org/drawingml/2006/main" w="0">
            <a:noFill/>
          </a:ln>
        </p:spPr>
      </p:sp>
      <p:sp>
        <p:nvSpPr>
          <p:cNvPr id="255" name="constraints-objective">
            <a:extLst xmlns:a="http://schemas.openxmlformats.org/drawingml/2006/main">
              <a:ext uri="{FF2B5EF4-FFF2-40B4-BE49-F238E27FC236}">
                <a16:creationId xmlns:a16="http://schemas.microsoft.com/office/drawing/2014/main" id="{4E551B32-E413-4E20-A51F-2E73B6BAECD9}"/>
              </a:ext>
            </a:extLst>
          </p:cNvPr>
          <p:cNvSpPr>
            <a:spLocks xmlns:a="http://schemas.openxmlformats.org/drawingml/2006/main" noGrp="1"/>
          </p:cNvSpPr>
          <p:nvPr/>
        </p:nvSpPr>
        <p:spPr>
          <a:xfrm xmlns:a="http://schemas.openxmlformats.org/drawingml/2006/main">
            <a:off x="6553200" y="4067175"/>
            <a:ext cx="4619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225"/>
          </a:bodyPr>
          <a:lstStyle xmlns:a="http://schemas.openxmlformats.org/drawingml/2006/main"/>
          <a:p xmlns:a="http://schemas.openxmlformats.org/drawingml/2006/main">
            <a:pPr>
              <a:buNone/>
              <a:defRPr sz="1350" b="1">
                <a:solidFill>
                  <a:srgbClr val="1F2937"/>
                </a:solidFill>
                <a:latin typeface="Arial"/>
                <a:ea typeface="Arial"/>
                <a:cs typeface="Arial"/>
              </a:defRPr>
            </a:pPr>
            <a:r>
              <a:rPr sz="1350" b="1">
                <a:solidFill>
                  <a:srgbClr val="1F2937"/>
                </a:solidFill>
                <a:latin typeface="Arial"/>
                <a:ea typeface="Arial"/>
                <a:cs typeface="Arial"/>
              </a:rPr>
              <a:t>Minimize prediction loss and serialized upload subject to:</a:t>
            </a:r>
          </a:p>
        </p:txBody>
      </p:sp>
      <p:sp>
        <p:nvSpPr>
          <p:cNvPr id="256" name="constraints-list-left">
            <a:extLst xmlns:a="http://schemas.openxmlformats.org/drawingml/2006/main">
              <a:ext uri="{FF2B5EF4-FFF2-40B4-BE49-F238E27FC236}">
                <a16:creationId xmlns:a16="http://schemas.microsoft.com/office/drawing/2014/main" id="{9135BCB5-8D25-4202-887F-791C987F9F76}"/>
              </a:ext>
            </a:extLst>
          </p:cNvPr>
          <p:cNvSpPr>
            <a:spLocks xmlns:a="http://schemas.openxmlformats.org/drawingml/2006/main" noGrp="1"/>
          </p:cNvSpPr>
          <p:nvPr/>
        </p:nvSpPr>
        <p:spPr>
          <a:xfrm xmlns:a="http://schemas.openxmlformats.org/drawingml/2006/main">
            <a:off x="6553200" y="4438650"/>
            <a:ext cx="1095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200" b="1">
                <a:solidFill>
                  <a:srgbClr val="1E3A5F"/>
                </a:solidFill>
                <a:latin typeface="Arial"/>
                <a:ea typeface="Arial"/>
                <a:cs typeface="Arial"/>
              </a:defRPr>
            </a:pPr>
            <a:r>
              <a:rPr sz="1200" b="1">
                <a:solidFill>
                  <a:srgbClr val="1E3A5F"/>
                </a:solidFill>
                <a:latin typeface="Arial"/>
                <a:ea typeface="Arial"/>
                <a:cs typeface="Arial"/>
              </a:rPr>
              <a:t>Privacy</a:t>
            </a:r>
          </a:p>
          <a:p xmlns:a="http://schemas.openxmlformats.org/drawingml/2006/main">
            <a:pPr>
              <a:buNone/>
              <a:defRPr sz="1200" b="1">
                <a:solidFill>
                  <a:srgbClr val="1E3A5F"/>
                </a:solidFill>
                <a:latin typeface="Arial"/>
                <a:ea typeface="Arial"/>
                <a:cs typeface="Arial"/>
              </a:defRPr>
            </a:pPr>
            <a:r>
              <a:rPr sz="1200" b="1">
                <a:solidFill>
                  <a:srgbClr val="1E3A5F"/>
                </a:solidFill>
                <a:latin typeface="Arial"/>
                <a:ea typeface="Arial"/>
                <a:cs typeface="Arial"/>
              </a:rPr>
              <a:t>Integrity</a:t>
            </a:r>
          </a:p>
        </p:txBody>
      </p:sp>
      <p:sp>
        <p:nvSpPr>
          <p:cNvPr id="257" name="constraints-values-left">
            <a:extLst xmlns:a="http://schemas.openxmlformats.org/drawingml/2006/main">
              <a:ext uri="{FF2B5EF4-FFF2-40B4-BE49-F238E27FC236}">
                <a16:creationId xmlns:a16="http://schemas.microsoft.com/office/drawing/2014/main" id="{88B4E04D-EB19-4B6C-96E9-37BF912A6A83}"/>
              </a:ext>
            </a:extLst>
          </p:cNvPr>
          <p:cNvSpPr>
            <a:spLocks xmlns:a="http://schemas.openxmlformats.org/drawingml/2006/main" noGrp="1"/>
          </p:cNvSpPr>
          <p:nvPr/>
        </p:nvSpPr>
        <p:spPr>
          <a:xfrm xmlns:a="http://schemas.openxmlformats.org/drawingml/2006/main">
            <a:off x="7620000" y="4438650"/>
            <a:ext cx="3476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200">
                <a:solidFill>
                  <a:srgbClr val="52606D"/>
                </a:solidFill>
                <a:latin typeface="Arial"/>
                <a:ea typeface="Arial"/>
                <a:cs typeface="Arial"/>
              </a:defRPr>
            </a:pPr>
            <a:r>
              <a:rPr sz="1200">
                <a:solidFill>
                  <a:srgbClr val="52606D"/>
                </a:solidFill>
                <a:latin typeface="Arial"/>
                <a:ea typeface="Arial"/>
                <a:cs typeface="Arial"/>
              </a:rPr>
              <a:t>Record-level differential privacy</a:t>
            </a:r>
          </a:p>
          <a:p xmlns:a="http://schemas.openxmlformats.org/drawingml/2006/main">
            <a:pPr>
              <a:buNone/>
              <a:defRPr sz="1200">
                <a:solidFill>
                  <a:srgbClr val="52606D"/>
                </a:solidFill>
                <a:latin typeface="Arial"/>
                <a:ea typeface="Arial"/>
                <a:cs typeface="Arial"/>
              </a:defRPr>
            </a:pPr>
            <a:r>
              <a:rPr sz="1200">
                <a:solidFill>
                  <a:srgbClr val="52606D"/>
                </a:solidFill>
                <a:latin typeface="Arial"/>
                <a:ea typeface="Arial"/>
                <a:cs typeface="Arial"/>
              </a:rPr>
              <a:t>Independently checked aggregate</a:t>
            </a:r>
          </a:p>
        </p:txBody>
      </p:sp>
      <p:sp>
        <p:nvSpPr>
          <p:cNvPr id="258" name="constraints-list-right">
            <a:extLst xmlns:a="http://schemas.openxmlformats.org/drawingml/2006/main">
              <a:ext uri="{FF2B5EF4-FFF2-40B4-BE49-F238E27FC236}">
                <a16:creationId xmlns:a16="http://schemas.microsoft.com/office/drawing/2014/main" id="{6BB50B8B-1E53-42B5-9842-96AB03D06685}"/>
              </a:ext>
            </a:extLst>
          </p:cNvPr>
          <p:cNvSpPr>
            <a:spLocks xmlns:a="http://schemas.openxmlformats.org/drawingml/2006/main" noGrp="1"/>
          </p:cNvSpPr>
          <p:nvPr/>
        </p:nvSpPr>
        <p:spPr>
          <a:xfrm xmlns:a="http://schemas.openxmlformats.org/drawingml/2006/main">
            <a:off x="6553200" y="5010150"/>
            <a:ext cx="1095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200" b="1">
                <a:solidFill>
                  <a:srgbClr val="1E3A5F"/>
                </a:solidFill>
                <a:latin typeface="Arial"/>
                <a:ea typeface="Arial"/>
                <a:cs typeface="Arial"/>
              </a:defRPr>
            </a:pPr>
            <a:r>
              <a:rPr sz="1200" b="1">
                <a:solidFill>
                  <a:srgbClr val="1E3A5F"/>
                </a:solidFill>
                <a:latin typeface="Arial"/>
                <a:ea typeface="Arial"/>
                <a:cs typeface="Arial"/>
              </a:rPr>
              <a:t>Release</a:t>
            </a:r>
          </a:p>
          <a:p xmlns:a="http://schemas.openxmlformats.org/drawingml/2006/main">
            <a:pPr>
              <a:buNone/>
              <a:defRPr sz="1200" b="1">
                <a:solidFill>
                  <a:srgbClr val="1E3A5F"/>
                </a:solidFill>
                <a:latin typeface="Arial"/>
                <a:ea typeface="Arial"/>
                <a:cs typeface="Arial"/>
              </a:defRPr>
            </a:pPr>
            <a:r>
              <a:rPr sz="1200" b="1">
                <a:solidFill>
                  <a:srgbClr val="1E3A5F"/>
                </a:solidFill>
                <a:latin typeface="Arial"/>
                <a:ea typeface="Arial"/>
                <a:cs typeface="Arial"/>
              </a:rPr>
              <a:t>Audit</a:t>
            </a:r>
          </a:p>
        </p:txBody>
      </p:sp>
      <p:sp>
        <p:nvSpPr>
          <p:cNvPr id="259" name="constraints-values-right">
            <a:extLst xmlns:a="http://schemas.openxmlformats.org/drawingml/2006/main">
              <a:ext uri="{FF2B5EF4-FFF2-40B4-BE49-F238E27FC236}">
                <a16:creationId xmlns:a16="http://schemas.microsoft.com/office/drawing/2014/main" id="{752038E5-E065-462B-B6EA-84737D2DDB45}"/>
              </a:ext>
            </a:extLst>
          </p:cNvPr>
          <p:cNvSpPr>
            <a:spLocks xmlns:a="http://schemas.openxmlformats.org/drawingml/2006/main" noGrp="1"/>
          </p:cNvSpPr>
          <p:nvPr/>
        </p:nvSpPr>
        <p:spPr>
          <a:xfrm xmlns:a="http://schemas.openxmlformats.org/drawingml/2006/main">
            <a:off x="7620000" y="5010150"/>
            <a:ext cx="3476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200">
                <a:solidFill>
                  <a:srgbClr val="52606D"/>
                </a:solidFill>
                <a:latin typeface="Arial"/>
                <a:ea typeface="Arial"/>
                <a:cs typeface="Arial"/>
              </a:defRPr>
            </a:pPr>
            <a:r>
              <a:rPr sz="1200">
                <a:solidFill>
                  <a:srgbClr val="52606D"/>
                </a:solidFill>
                <a:latin typeface="Arial"/>
                <a:ea typeface="Arial"/>
                <a:cs typeface="Arial"/>
              </a:rPr>
              <a:t>Threshold authorization</a:t>
            </a:r>
          </a:p>
          <a:p xmlns:a="http://schemas.openxmlformats.org/drawingml/2006/main">
            <a:pPr>
              <a:buNone/>
              <a:defRPr sz="1200">
                <a:solidFill>
                  <a:srgbClr val="52606D"/>
                </a:solidFill>
                <a:latin typeface="Arial"/>
                <a:ea typeface="Arial"/>
                <a:cs typeface="Arial"/>
              </a:defRPr>
            </a:pPr>
            <a:r>
              <a:rPr sz="1200">
                <a:solidFill>
                  <a:srgbClr val="52606D"/>
                </a:solidFill>
                <a:latin typeface="Arial"/>
                <a:ea typeface="Arial"/>
                <a:cs typeface="Arial"/>
              </a:rPr>
              <a:t>Permissioned execution evidence</a:t>
            </a:r>
          </a:p>
        </p:txBody>
      </p:sp>
      <p:sp>
        <p:nvSpPr>
          <p:cNvPr id="260" name="problem-formulation-column-divider">
            <a:extLst xmlns:a="http://schemas.openxmlformats.org/drawingml/2006/main">
              <a:ext uri="{FF2B5EF4-FFF2-40B4-BE49-F238E27FC236}">
                <a16:creationId xmlns:a16="http://schemas.microsoft.com/office/drawing/2014/main" id="{B1D8E0C4-C8D6-4FC8-B6B9-1B62E7237EF6}"/>
              </a:ext>
            </a:extLst>
          </p:cNvPr>
          <p:cNvSpPr>
            <a:spLocks xmlns:a="http://schemas.openxmlformats.org/drawingml/2006/main" noGrp="1"/>
          </p:cNvSpPr>
          <p:nvPr/>
        </p:nvSpPr>
        <p:spPr>
          <a:xfrm xmlns:a="http://schemas.openxmlformats.org/drawingml/2006/main">
            <a:off x="6076950" y="1409700"/>
            <a:ext cx="14288" cy="4171950"/>
          </a:xfrm>
          <a:prstGeom xmlns:a="http://schemas.openxmlformats.org/drawingml/2006/main" prst="rect">
            <a:avLst/>
          </a:prstGeom>
          <a:solidFill xmlns:a="http://schemas.openxmlformats.org/drawingml/2006/main">
            <a:srgbClr val="D7DEE7"/>
          </a:solidFill>
          <a:ln xmlns:a="http://schemas.openxmlformats.org/drawingml/2006/main" w="0">
            <a:noFill/>
          </a:ln>
        </p:spPr>
      </p:sp>
      <p:sp>
        <p:nvSpPr>
          <p:cNvPr id="261" name="problem-formulation-round-summary">
            <a:extLst xmlns:a="http://schemas.openxmlformats.org/drawingml/2006/main">
              <a:ext uri="{FF2B5EF4-FFF2-40B4-BE49-F238E27FC236}">
                <a16:creationId xmlns:a16="http://schemas.microsoft.com/office/drawing/2014/main" id="{5FC43600-EC93-4CAA-8525-F78230726572}"/>
              </a:ext>
            </a:extLst>
          </p:cNvPr>
          <p:cNvSpPr>
            <a:spLocks xmlns:a="http://schemas.openxmlformats.org/drawingml/2006/main" noGrp="1"/>
          </p:cNvSpPr>
          <p:nvPr/>
        </p:nvSpPr>
        <p:spPr>
          <a:xfrm xmlns:a="http://schemas.openxmlformats.org/drawingml/2006/main">
            <a:off x="2143125" y="5715000"/>
            <a:ext cx="790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703"/>
          </a:bodyPr>
          <a:lstStyle xmlns:a="http://schemas.openxmlformats.org/drawingml/2006/main"/>
          <a:p xmlns:a="http://schemas.openxmlformats.org/drawingml/2006/main">
            <a:pPr algn="ctr">
              <a:buNone/>
              <a:defRPr sz="1200" i="1">
                <a:solidFill>
                  <a:srgbClr val="1E3A5F"/>
                </a:solidFill>
                <a:latin typeface="Arial"/>
                <a:ea typeface="Arial"/>
                <a:cs typeface="Arial"/>
              </a:defRPr>
            </a:pPr>
            <a:r>
              <a:rPr sz="1200" i="1">
                <a:solidFill>
                  <a:srgbClr val="1E3A5F"/>
                </a:solidFill>
                <a:latin typeface="Arial"/>
                <a:ea typeface="Arial"/>
                <a:cs typeface="Arial"/>
              </a:rPr>
              <a:t>One training round constructs protected local updates, aggregates ciphertexts, and releases only a validated global model.</a:t>
            </a:r>
          </a:p>
        </p:txBody>
      </p:sp>
      <p:pic>
        <p:nvPicPr>
          <p:cNvPr id="306" name="Picture 1"/>
          <p:cNvPicPr>
            <a:picLocks xmlns:a="http://schemas.openxmlformats.org/drawingml/2006/main" noChangeAspect="1"/>
          </p:cNvPicPr>
          <p:nvPr/>
        </p:nvPicPr>
        <p:blipFill>
          <a:blip xmlns:r="http://schemas.openxmlformats.org/officeDocument/2006/relationships" xmlns:a="http://schemas.openxmlformats.org/drawingml/2006/main" r:embed="Rca19b386b85442fe"/>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970286495"/>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0B393FC-42F7-D7BB-5BEF-646BBB8320B1}"/>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Design</a:t>
            </a:r>
            <a:endParaRPr/>
          </a:p>
        </p:txBody>
      </p:sp>
      <p:sp>
        <p:nvSpPr>
          <p:cNvPr id="212" name="Google Shape;212;p28">
            <a:extLst xmlns:a="http://schemas.openxmlformats.org/drawingml/2006/main">
              <a:ext uri="{FF2B5EF4-FFF2-40B4-BE49-F238E27FC236}">
                <a16:creationId xmlns:a16="http://schemas.microsoft.com/office/drawing/2014/main" id="{F0F25C4D-A462-7DA7-C209-CF24A66829D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22</a:t>
            </a:r>
            <a:endParaRPr sz="2800"/>
          </a:p>
        </p:txBody>
      </p:sp>
      <p:pic>
        <p:nvPicPr>
          <p:cNvPr id="239"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3586023d2204fe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AB162E3B-8DFF-696B-E379-B77DF5DD1E54}"/>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design-step-1">
            <a:extLst xmlns:a="http://schemas.openxmlformats.org/drawingml/2006/main">
              <a:ext uri="{FF2B5EF4-FFF2-40B4-BE49-F238E27FC236}">
                <a16:creationId xmlns:a16="http://schemas.microsoft.com/office/drawing/2014/main" id="{8B47488A-154B-4C19-9728-8035407A57B6}"/>
              </a:ext>
            </a:extLst>
          </p:cNvPr>
          <p:cNvSpPr>
            <a:spLocks xmlns:a="http://schemas.openxmlformats.org/drawingml/2006/main" noGrp="1"/>
          </p:cNvSpPr>
          <p:nvPr/>
        </p:nvSpPr>
        <p:spPr>
          <a:xfrm xmlns:a="http://schemas.openxmlformats.org/drawingml/2006/main">
            <a:off x="619125" y="2343150"/>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PhysioNet 2019</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40,336 patients</a:t>
            </a:r>
          </a:p>
        </p:txBody>
      </p:sp>
      <p:sp>
        <p:nvSpPr>
          <p:cNvPr id="221" name="rule-230-302">
            <a:extLst xmlns:a="http://schemas.openxmlformats.org/drawingml/2006/main">
              <a:ext uri="{FF2B5EF4-FFF2-40B4-BE49-F238E27FC236}">
                <a16:creationId xmlns:a16="http://schemas.microsoft.com/office/drawing/2014/main" id="{3E29BB4F-BB59-440E-8972-FAFBC3519283}"/>
              </a:ext>
            </a:extLst>
          </p:cNvPr>
          <p:cNvSpPr>
            <a:spLocks xmlns:a="http://schemas.openxmlformats.org/drawingml/2006/main" noGrp="1"/>
          </p:cNvSpPr>
          <p:nvPr/>
        </p:nvSpPr>
        <p:spPr>
          <a:xfrm xmlns:a="http://schemas.openxmlformats.org/drawingml/2006/main">
            <a:off x="219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design-step-2">
            <a:extLst xmlns:a="http://schemas.openxmlformats.org/drawingml/2006/main">
              <a:ext uri="{FF2B5EF4-FFF2-40B4-BE49-F238E27FC236}">
                <a16:creationId xmlns:a16="http://schemas.microsoft.com/office/drawing/2014/main" id="{84C8675A-03B7-4272-8D88-E7B5FC535C39}"/>
              </a:ext>
            </a:extLst>
          </p:cNvPr>
          <p:cNvSpPr>
            <a:spLocks xmlns:a="http://schemas.openxmlformats.org/drawingml/2006/main" noGrp="1"/>
          </p:cNvSpPr>
          <p:nvPr/>
        </p:nvSpPr>
        <p:spPr>
          <a:xfrm xmlns:a="http://schemas.openxmlformats.org/drawingml/2006/main">
            <a:off x="252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Natural split</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Hospital A and B</a:t>
            </a:r>
          </a:p>
        </p:txBody>
      </p:sp>
      <p:sp>
        <p:nvSpPr>
          <p:cNvPr id="223" name="rule-430-302">
            <a:extLst xmlns:a="http://schemas.openxmlformats.org/drawingml/2006/main">
              <a:ext uri="{FF2B5EF4-FFF2-40B4-BE49-F238E27FC236}">
                <a16:creationId xmlns:a16="http://schemas.microsoft.com/office/drawing/2014/main" id="{CE82DF3B-F7C1-4C56-905B-554E1A1B8C97}"/>
              </a:ext>
            </a:extLst>
          </p:cNvPr>
          <p:cNvSpPr>
            <a:spLocks xmlns:a="http://schemas.openxmlformats.org/drawingml/2006/main" noGrp="1"/>
          </p:cNvSpPr>
          <p:nvPr/>
        </p:nvSpPr>
        <p:spPr>
          <a:xfrm xmlns:a="http://schemas.openxmlformats.org/drawingml/2006/main">
            <a:off x="409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4" name="design-step-3">
            <a:extLst xmlns:a="http://schemas.openxmlformats.org/drawingml/2006/main">
              <a:ext uri="{FF2B5EF4-FFF2-40B4-BE49-F238E27FC236}">
                <a16:creationId xmlns:a16="http://schemas.microsoft.com/office/drawing/2014/main" id="{2DA4CED2-59B1-4E4B-B407-41898578097A}"/>
              </a:ext>
            </a:extLst>
          </p:cNvPr>
          <p:cNvSpPr>
            <a:spLocks xmlns:a="http://schemas.openxmlformats.org/drawingml/2006/main" noGrp="1"/>
          </p:cNvSpPr>
          <p:nvPr/>
        </p:nvSpPr>
        <p:spPr>
          <a:xfrm xmlns:a="http://schemas.openxmlformats.org/drawingml/2006/main">
            <a:off x="442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Five paired seeds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Frozen protocol</a:t>
            </a:r>
          </a:p>
        </p:txBody>
      </p:sp>
      <p:sp>
        <p:nvSpPr>
          <p:cNvPr id="225" name="rule-630-302">
            <a:extLst xmlns:a="http://schemas.openxmlformats.org/drawingml/2006/main">
              <a:ext uri="{FF2B5EF4-FFF2-40B4-BE49-F238E27FC236}">
                <a16:creationId xmlns:a16="http://schemas.microsoft.com/office/drawing/2014/main" id="{9DE0EBB8-AA62-4581-BD02-9DE6FF5C4994}"/>
              </a:ext>
            </a:extLst>
          </p:cNvPr>
          <p:cNvSpPr>
            <a:spLocks xmlns:a="http://schemas.openxmlformats.org/drawingml/2006/main" noGrp="1"/>
          </p:cNvSpPr>
          <p:nvPr/>
        </p:nvSpPr>
        <p:spPr>
          <a:xfrm xmlns:a="http://schemas.openxmlformats.org/drawingml/2006/main">
            <a:off x="600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6" name="design-step-4">
            <a:extLst xmlns:a="http://schemas.openxmlformats.org/drawingml/2006/main">
              <a:ext uri="{FF2B5EF4-FFF2-40B4-BE49-F238E27FC236}">
                <a16:creationId xmlns:a16="http://schemas.microsoft.com/office/drawing/2014/main" id="{6C501C09-CAC3-4E5E-B35C-8FE6F90B0D4E}"/>
              </a:ext>
            </a:extLst>
          </p:cNvPr>
          <p:cNvSpPr>
            <a:spLocks xmlns:a="http://schemas.openxmlformats.org/drawingml/2006/main" noGrp="1"/>
          </p:cNvSpPr>
          <p:nvPr/>
        </p:nvSpPr>
        <p:spPr>
          <a:xfrm xmlns:a="http://schemas.openxmlformats.org/drawingml/2006/main">
            <a:off x="633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Baselines and</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a:t>
            </a:r>
          </a:p>
        </p:txBody>
      </p:sp>
      <p:sp>
        <p:nvSpPr>
          <p:cNvPr id="227" name="rule-830-302">
            <a:extLst xmlns:a="http://schemas.openxmlformats.org/drawingml/2006/main">
              <a:ext uri="{FF2B5EF4-FFF2-40B4-BE49-F238E27FC236}">
                <a16:creationId xmlns:a16="http://schemas.microsoft.com/office/drawing/2014/main" id="{56AE0268-473C-4919-9E91-78D2E8B3CA68}"/>
              </a:ext>
            </a:extLst>
          </p:cNvPr>
          <p:cNvSpPr>
            <a:spLocks xmlns:a="http://schemas.openxmlformats.org/drawingml/2006/main" noGrp="1"/>
          </p:cNvSpPr>
          <p:nvPr/>
        </p:nvSpPr>
        <p:spPr>
          <a:xfrm xmlns:a="http://schemas.openxmlformats.org/drawingml/2006/main">
            <a:off x="790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8" name="design-step-5">
            <a:extLst xmlns:a="http://schemas.openxmlformats.org/drawingml/2006/main">
              <a:ext uri="{FF2B5EF4-FFF2-40B4-BE49-F238E27FC236}">
                <a16:creationId xmlns:a16="http://schemas.microsoft.com/office/drawing/2014/main" id="{3478D8CC-727A-4AF4-9774-3ED0CDC2523B}"/>
              </a:ext>
            </a:extLst>
          </p:cNvPr>
          <p:cNvSpPr>
            <a:spLocks xmlns:a="http://schemas.openxmlformats.org/drawingml/2006/main" noGrp="1"/>
          </p:cNvSpPr>
          <p:nvPr/>
        </p:nvSpPr>
        <p:spPr>
          <a:xfrm xmlns:a="http://schemas.openxmlformats.org/drawingml/2006/main">
            <a:off x="823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Utility, attacks,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wire and systems</a:t>
            </a:r>
          </a:p>
        </p:txBody>
      </p:sp>
      <p:sp>
        <p:nvSpPr>
          <p:cNvPr id="229" name="rule-1030-302">
            <a:extLst xmlns:a="http://schemas.openxmlformats.org/drawingml/2006/main">
              <a:ext uri="{FF2B5EF4-FFF2-40B4-BE49-F238E27FC236}">
                <a16:creationId xmlns:a16="http://schemas.microsoft.com/office/drawing/2014/main" id="{806F1D3C-48E0-4725-B9C8-6F200AAEEADE}"/>
              </a:ext>
            </a:extLst>
          </p:cNvPr>
          <p:cNvSpPr>
            <a:spLocks xmlns:a="http://schemas.openxmlformats.org/drawingml/2006/main" noGrp="1"/>
          </p:cNvSpPr>
          <p:nvPr/>
        </p:nvSpPr>
        <p:spPr>
          <a:xfrm xmlns:a="http://schemas.openxmlformats.org/drawingml/2006/main">
            <a:off x="981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30" name="design-step-6">
            <a:extLst xmlns:a="http://schemas.openxmlformats.org/drawingml/2006/main">
              <a:ext uri="{FF2B5EF4-FFF2-40B4-BE49-F238E27FC236}">
                <a16:creationId xmlns:a16="http://schemas.microsoft.com/office/drawing/2014/main" id="{D8B96DD7-3444-487E-850F-33106000B96A}"/>
              </a:ext>
            </a:extLst>
          </p:cNvPr>
          <p:cNvSpPr>
            <a:spLocks xmlns:a="http://schemas.openxmlformats.org/drawingml/2006/main" noGrp="1"/>
          </p:cNvSpPr>
          <p:nvPr/>
        </p:nvSpPr>
        <p:spPr>
          <a:xfrm xmlns:a="http://schemas.openxmlformats.org/drawingml/2006/main">
            <a:off x="1014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Paired inference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and claim boundary</a:t>
            </a:r>
          </a:p>
        </p:txBody>
      </p:sp>
      <p:sp>
        <p:nvSpPr>
          <p:cNvPr id="231" name="design-bullets">
            <a:extLst xmlns:a="http://schemas.openxmlformats.org/drawingml/2006/main">
              <a:ext uri="{FF2B5EF4-FFF2-40B4-BE49-F238E27FC236}">
                <a16:creationId xmlns:a16="http://schemas.microsoft.com/office/drawing/2014/main" id="{87C7EF95-D8FE-4386-BABD-F9B7504F2A1E}"/>
              </a:ext>
            </a:extLst>
          </p:cNvPr>
          <p:cNvSpPr>
            <a:spLocks xmlns:a="http://schemas.openxmlformats.org/drawingml/2006/main" noGrp="1"/>
          </p:cNvSpPr>
          <p:nvPr/>
        </p:nvSpPr>
        <p:spPr>
          <a:xfrm xmlns:a="http://schemas.openxmlformats.org/drawingml/2006/main">
            <a:off x="1428750" y="3952875"/>
            <a:ext cx="9334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Cross-silo client-server experiment with a naturally partitioned healthcare cohort.</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Same model, privacy budget, CKKS context, round budget, and evaluation split across compared methods.</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Claims restricted to the evaluated data, attacks, deployment, and trust assumptions.</a:t>
            </a:r>
          </a:p>
        </p:txBody>
      </p:sp>
      <p:sp>
        <p:nvSpPr>
          <p:cNvPr id="234" name="visible-footer-date-15">
            <a:extLst xmlns:a="http://schemas.openxmlformats.org/drawingml/2006/main">
              <a:ext uri="{FF2B5EF4-FFF2-40B4-BE49-F238E27FC236}">
                <a16:creationId xmlns:a16="http://schemas.microsoft.com/office/drawing/2014/main" id="{A61205BE-2644-47EC-8F1A-C75D6617A9F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54" name="Picture 1"/>
          <p:cNvPicPr>
            <a:picLocks xmlns:a="http://schemas.openxmlformats.org/drawingml/2006/main" noChangeAspect="1"/>
          </p:cNvPicPr>
          <p:nvPr/>
        </p:nvPicPr>
        <p:blipFill>
          <a:blip xmlns:r="http://schemas.openxmlformats.org/officeDocument/2006/relationships" xmlns:a="http://schemas.openxmlformats.org/drawingml/2006/main" r:embed="Rdca3b3f2a609470b"/>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2251748902"/>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A1079EE-366E-379B-6617-A562F928AC23}"/>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Collection Methods</a:t>
            </a:r>
            <a:endParaRPr/>
          </a:p>
        </p:txBody>
      </p:sp>
      <p:sp>
        <p:nvSpPr>
          <p:cNvPr id="212" name="Google Shape;212;p28">
            <a:extLst xmlns:a="http://schemas.openxmlformats.org/drawingml/2006/main">
              <a:ext uri="{FF2B5EF4-FFF2-40B4-BE49-F238E27FC236}">
                <a16:creationId xmlns:a16="http://schemas.microsoft.com/office/drawing/2014/main" id="{8569B78E-82D5-1F00-FFF4-A1F4DD38C16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23</a:t>
            </a:r>
            <a:endParaRPr sz="2800"/>
          </a:p>
        </p:txBody>
      </p:sp>
      <p:pic>
        <p:nvPicPr>
          <p:cNvPr id="23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3b0cf23c3ce473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FC08CC14-CDF6-806A-B93A-0FA7436F4236}"/>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dataset-number">
            <a:extLst xmlns:a="http://schemas.openxmlformats.org/drawingml/2006/main">
              <a:ext uri="{FF2B5EF4-FFF2-40B4-BE49-F238E27FC236}">
                <a16:creationId xmlns:a16="http://schemas.microsoft.com/office/drawing/2014/main" id="{5EAA8510-E034-4D48-B664-788A309791E6}"/>
              </a:ext>
            </a:extLst>
          </p:cNvPr>
          <p:cNvSpPr>
            <a:spLocks xmlns:a="http://schemas.openxmlformats.org/drawingml/2006/main" noGrp="1"/>
          </p:cNvSpPr>
          <p:nvPr/>
        </p:nvSpPr>
        <p:spPr>
          <a:xfrm xmlns:a="http://schemas.openxmlformats.org/drawingml/2006/main">
            <a:off x="857250" y="2336799"/>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4650" b="1" i="0">
                <a:solidFill>
                  <a:srgbClr val="00843D"/>
                </a:solidFill>
                <a:latin typeface="Arial"/>
                <a:ea typeface="Arial"/>
                <a:cs typeface="Arial"/>
              </a:defRPr>
            </a:pPr>
            <a:r>
              <a:rPr sz="4650" b="1" i="0">
                <a:solidFill>
                  <a:srgbClr val="00843D"/>
                </a:solidFill>
                <a:latin typeface="Arial"/>
                <a:ea typeface="Arial"/>
                <a:cs typeface="Arial"/>
              </a:rPr>
              <a:t>40,336</a:t>
            </a:r>
          </a:p>
        </p:txBody>
      </p:sp>
      <p:sp>
        <p:nvSpPr>
          <p:cNvPr id="221" name="dataset-label">
            <a:extLst xmlns:a="http://schemas.openxmlformats.org/drawingml/2006/main">
              <a:ext uri="{FF2B5EF4-FFF2-40B4-BE49-F238E27FC236}">
                <a16:creationId xmlns:a16="http://schemas.microsoft.com/office/drawing/2014/main" id="{68F1A882-762B-4DE6-92F9-57C0EFB3AE60}"/>
              </a:ext>
            </a:extLst>
          </p:cNvPr>
          <p:cNvSpPr>
            <a:spLocks xmlns:a="http://schemas.openxmlformats.org/drawingml/2006/main" noGrp="1"/>
          </p:cNvSpPr>
          <p:nvPr/>
        </p:nvSpPr>
        <p:spPr>
          <a:xfrm xmlns:a="http://schemas.openxmlformats.org/drawingml/2006/main">
            <a:off x="857250" y="3289299"/>
            <a:ext cx="333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patient records in the PhysioNet 2019 sepsis cohort</a:t>
            </a:r>
          </a:p>
        </p:txBody>
      </p:sp>
      <p:sp>
        <p:nvSpPr>
          <p:cNvPr id="222" name="rule-475-150">
            <a:extLst xmlns:a="http://schemas.openxmlformats.org/drawingml/2006/main">
              <a:ext uri="{FF2B5EF4-FFF2-40B4-BE49-F238E27FC236}">
                <a16:creationId xmlns:a16="http://schemas.microsoft.com/office/drawing/2014/main" id="{BE5BC648-CA59-4609-88EA-F682A6F3B7FD}"/>
              </a:ext>
            </a:extLst>
          </p:cNvPr>
          <p:cNvSpPr>
            <a:spLocks xmlns:a="http://schemas.openxmlformats.org/drawingml/2006/main" noGrp="1"/>
          </p:cNvSpPr>
          <p:nvPr/>
        </p:nvSpPr>
        <p:spPr>
          <a:xfrm xmlns:a="http://schemas.openxmlformats.org/drawingml/2006/main">
            <a:off x="4524375" y="1428750"/>
            <a:ext cx="28575" cy="40005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3" name="collection-bullets">
            <a:extLst xmlns:a="http://schemas.openxmlformats.org/drawingml/2006/main">
              <a:ext uri="{FF2B5EF4-FFF2-40B4-BE49-F238E27FC236}">
                <a16:creationId xmlns:a16="http://schemas.microsoft.com/office/drawing/2014/main" id="{CBAD06CC-1B5F-413F-9972-4F496E0E3893}"/>
              </a:ext>
            </a:extLst>
          </p:cNvPr>
          <p:cNvSpPr>
            <a:spLocks xmlns:a="http://schemas.openxmlformats.org/drawingml/2006/main" noGrp="1"/>
          </p:cNvSpPr>
          <p:nvPr/>
        </p:nvSpPr>
        <p:spPr>
          <a:xfrm xmlns:a="http://schemas.openxmlformats.org/drawingml/2006/main">
            <a:off x="5048250" y="1476375"/>
            <a:ext cx="61912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Open retrospective critical-care data released for the PhysioNet/Computing in Cardiology Challenge [19].</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Two natural source partitions retained as Hospital A and Hospital B rather than randomly mixing institutions.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Patient records remain local during the simulated cross-silo training process.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Consent and governance assumptions follow the public dataset terms. The study does not involve prospective patient recruitment.</a:t>
            </a:r>
          </a:p>
        </p:txBody>
      </p:sp>
      <p:sp>
        <p:nvSpPr>
          <p:cNvPr id="224" name="collection-source">
            <a:extLst xmlns:a="http://schemas.openxmlformats.org/drawingml/2006/main">
              <a:ext uri="{FF2B5EF4-FFF2-40B4-BE49-F238E27FC236}">
                <a16:creationId xmlns:a16="http://schemas.microsoft.com/office/drawing/2014/main" id="{167C21B0-EB7E-4D39-9DFF-3ECA0A072CE1}"/>
              </a:ext>
            </a:extLst>
          </p:cNvPr>
          <p:cNvSpPr>
            <a:spLocks xmlns:a="http://schemas.openxmlformats.org/drawingml/2006/main" noGrp="1"/>
          </p:cNvSpPr>
          <p:nvPr/>
        </p:nvSpPr>
        <p:spPr>
          <a:xfrm xmlns:a="http://schemas.openxmlformats.org/drawingml/2006/main">
            <a:off x="5048250" y="547687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50" b="0" i="1">
                <a:solidFill>
                  <a:srgbClr val="5B6573"/>
                </a:solidFill>
                <a:latin typeface="Arial"/>
                <a:ea typeface="Arial"/>
                <a:cs typeface="Arial"/>
              </a:defRPr>
            </a:pPr>
            <a:r>
              <a:rPr sz="1350" b="0" i="1">
                <a:solidFill>
                  <a:srgbClr val="5B6573"/>
                </a:solidFill>
                <a:latin typeface="Arial"/>
                <a:ea typeface="Arial"/>
                <a:cs typeface="Arial"/>
              </a:rPr>
              <a:t>Source: Reyna et al., Critical Care Medicine, 2020 [19].</a:t>
            </a:r>
          </a:p>
        </p:txBody>
      </p:sp>
      <p:sp>
        <p:nvSpPr>
          <p:cNvPr id="227" name="visible-footer-date-16">
            <a:extLst xmlns:a="http://schemas.openxmlformats.org/drawingml/2006/main">
              <a:ext uri="{FF2B5EF4-FFF2-40B4-BE49-F238E27FC236}">
                <a16:creationId xmlns:a16="http://schemas.microsoft.com/office/drawing/2014/main" id="{07201868-099B-4C0E-959D-74FC956B67D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40" name="Picture 1"/>
          <p:cNvPicPr>
            <a:picLocks xmlns:a="http://schemas.openxmlformats.org/drawingml/2006/main" noChangeAspect="1"/>
          </p:cNvPicPr>
          <p:nvPr/>
        </p:nvPicPr>
        <p:blipFill>
          <a:blip xmlns:r="http://schemas.openxmlformats.org/officeDocument/2006/relationships" xmlns:a="http://schemas.openxmlformats.org/drawingml/2006/main" r:embed="R777e8bcba861479d"/>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3244198176"/>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Analysis Methods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24</a:t>
            </a:r>
            <a:endParaRPr sz="2800"/>
          </a:p>
        </p:txBody>
      </p:sp>
      <p:pic>
        <p:nvPicPr>
          <p:cNvPr id="239"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8b103f38f0942f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Utility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Accuracy, precision, recall, F1, AUROC, AUPRC, balanced accuracy, MCC, and Brier score.</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Privacy</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LiRA and RMIA membership inference with eight reference models per seed. A 300-step gradient reconstruction attack.</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Poisoning</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Seven one-round attacks at 40% malicious clients and two longitudinal attack settings.</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Systems and statistics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Serialized CKKS bytes, latency, cryptographic correctness, five paired seeds, 95% t intervals, and Holm correction.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54" name="Picture 1"/>
          <p:cNvPicPr>
            <a:picLocks xmlns:a="http://schemas.openxmlformats.org/drawingml/2006/main" noChangeAspect="1"/>
          </p:cNvPicPr>
          <p:nvPr/>
        </p:nvPicPr>
        <p:blipFill>
          <a:blip xmlns:r="http://schemas.openxmlformats.org/officeDocument/2006/relationships" xmlns:a="http://schemas.openxmlformats.org/drawingml/2006/main" r:embed="R886504f3a2274ca7"/>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970286495"/>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defRPr sz="3150" b="1">
                <a:solidFill>
                  <a:srgbClr val="062B6F"/>
                </a:solidFill>
                <a:latin typeface="Arial"/>
                <a:ea typeface="Arial"/>
                <a:cs typeface="Arial"/>
              </a:defRPr>
            </a:pPr>
            <a:r>
              <a:rPr sz="3150" b="1">
                <a:solidFill>
                  <a:srgbClr val="062B6F"/>
                </a:solidFill>
                <a:latin typeface="Arial"/>
                <a:ea typeface="Arial"/>
                <a:cs typeface="Arial"/>
              </a:rPr>
              <a:t>Experimental Setup</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25</a:t>
            </a:r>
            <a:endParaRPr sz="2800"/>
          </a:p>
        </p:txBody>
      </p:sp>
      <p:pic>
        <p:nvPicPr>
          <p:cNvPr id="24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80e672af9c24b9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Utility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Accuracy, precision, recall, F1, AUROC, AUPRC, balanced accuracy, MCC, and Brier score.</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Privacy</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LiRA and RMIA membership inference with eight reference models per seed. A 300-step gradient reconstruction attack.</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Poisoning</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Seven one-round attacks at 40% malicious clients and two longitudinal attack settings.</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Systems and statistics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Serialized CKKS bytes, latency, cryptographic correctness, five paired seeds, 95% t intervals, and Holm correction.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7" name="experimental-setup-cover">
            <a:extLst xmlns:a="http://schemas.openxmlformats.org/drawingml/2006/main">
              <a:ext uri="{FF2B5EF4-FFF2-40B4-BE49-F238E27FC236}">
                <a16:creationId xmlns:a16="http://schemas.microsoft.com/office/drawing/2014/main" id="{CDA198E3-4036-4AD7-AEDE-3C363622FD09}"/>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8" name="experimental-setup-caption">
            <a:extLst xmlns:a="http://schemas.openxmlformats.org/drawingml/2006/main">
              <a:ext uri="{FF2B5EF4-FFF2-40B4-BE49-F238E27FC236}">
                <a16:creationId xmlns:a16="http://schemas.microsoft.com/office/drawing/2014/main" id="{E21722B4-E8C1-4EF1-B8D4-E369BFA02AAB}"/>
              </a:ext>
            </a:extLst>
          </p:cNvPr>
          <p:cNvSpPr>
            <a:spLocks xmlns:a="http://schemas.openxmlformats.org/drawingml/2006/main" noGrp="1"/>
          </p:cNvSpPr>
          <p:nvPr/>
        </p:nvSpPr>
        <p:spPr>
          <a:xfrm xmlns:a="http://schemas.openxmlformats.org/drawingml/2006/main">
            <a:off x="1047750" y="1123950"/>
            <a:ext cx="1009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275" i="1">
                <a:solidFill>
                  <a:srgbClr val="5B677A"/>
                </a:solidFill>
                <a:latin typeface="Arial"/>
                <a:ea typeface="Arial"/>
                <a:cs typeface="Arial"/>
              </a:defRPr>
            </a:pPr>
            <a:r>
              <a:rPr sz="1275" i="1">
                <a:solidFill>
                  <a:srgbClr val="5B677A"/>
                </a:solidFill>
                <a:latin typeface="Arial"/>
                <a:ea typeface="Arial"/>
                <a:cs typeface="Arial"/>
              </a:rPr>
              <a:t>Frozen protocol used for paired utility, privacy, robustness, and systems evaluation</a:t>
            </a:r>
          </a:p>
        </p:txBody>
      </p:sp>
      <p:graphicFrame>
        <p:nvGraphicFramePr>
          <p:cNvPr id="264" name="Table 262"/>
          <p:cNvGraphicFramePr/>
          <p:nvPr/>
        </p:nvGraphicFramePr>
        <p:xfrm>
          <a:off xmlns:a="http://schemas.openxmlformats.org/drawingml/2006/main" x="952500" y="1524000"/>
          <a:ext xmlns:a="http://schemas.openxmlformats.org/drawingml/2006/main" cx="10287000" cy="4095749"/>
        </p:xfrm>
        <a:graphic xmlns:a="http://schemas.openxmlformats.org/drawingml/2006/main">
          <a:graphicData uri="http://schemas.openxmlformats.org/drawingml/2006/table">
            <a:tbl>
              <a:tblPr firstRow="1" bandRow="1"/>
              <a:tblGrid>
                <a:gridCol w="2333625"/>
                <a:gridCol w="7953375"/>
              </a:tblGrid>
              <a:tr h="585107">
                <a:tc>
                  <a:txBody>
                    <a:bodyPr/>
                    <a:lstStyle/>
                    <a:p>
                      <a:r>
                        <a:rPr sz="1275" b="1">
                          <a:solidFill>
                            <a:srgbClr val="FFFFFF"/>
                          </a:solidFill>
                          <a:latin typeface="Arial"/>
                          <a:ea typeface="Arial"/>
                          <a:cs typeface="Arial"/>
                        </a:rPr>
                        <a:t>Component</a:t>
                      </a:r>
                    </a:p>
                  </a:txBody>
                  <a:tcPr marL="76200" marR="76200" marT="47625" marB="47625" anchor="ctr">
                    <a:solidFill>
                      <a:srgbClr val="17365D"/>
                    </a:solidFill>
                  </a:tcPr>
                </a:tc>
                <a:tc>
                  <a:txBody>
                    <a:bodyPr/>
                    <a:lstStyle/>
                    <a:p>
                      <a:r>
                        <a:rPr sz="1275" b="1">
                          <a:solidFill>
                            <a:srgbClr val="FFFFFF"/>
                          </a:solidFill>
                          <a:latin typeface="Arial"/>
                          <a:ea typeface="Arial"/>
                          <a:cs typeface="Arial"/>
                        </a:rPr>
                        <a:t>Registered configuration</a:t>
                      </a:r>
                    </a:p>
                  </a:txBody>
                  <a:tcPr marL="76200" marR="76200" marT="47625" marB="47625" anchor="ctr">
                    <a:solidFill>
                      <a:srgbClr val="17365D"/>
                    </a:solidFill>
                  </a:tcPr>
                </a:tc>
              </a:tr>
              <a:tr h="585107">
                <a:tc>
                  <a:txBody>
                    <a:bodyPr/>
                    <a:lstStyle/>
                    <a:p>
                      <a:r>
                        <a:rPr sz="1185" b="1">
                          <a:solidFill>
                            <a:srgbClr val="008A46"/>
                          </a:solidFill>
                          <a:latin typeface="Arial"/>
                          <a:ea typeface="Arial"/>
                          <a:cs typeface="Arial"/>
                        </a:rPr>
                        <a:t>Dataset and split</a:t>
                      </a:r>
                    </a:p>
                  </a:txBody>
                  <a:tcPr marL="76200" marR="76200" marT="47625" marB="47625" anchor="ctr">
                    <a:solidFill>
                      <a:srgbClr val="EAF4F0"/>
                    </a:solidFill>
                  </a:tcPr>
                </a:tc>
                <a:tc>
                  <a:txBody>
                    <a:bodyPr/>
                    <a:lstStyle/>
                    <a:p>
                      <a:r>
                        <a:rPr sz="1185">
                          <a:solidFill>
                            <a:srgbClr val="263244"/>
                          </a:solidFill>
                          <a:latin typeface="Arial"/>
                          <a:ea typeface="Arial"/>
                          <a:cs typeface="Arial"/>
                        </a:rPr>
                        <a:t>PhysioNet/</a:t>
                      </a:r>
                      <a:r>
                        <a:rPr sz="1185">
                          <a:solidFill>
                            <a:srgbClr val="263244"/>
                          </a:solidFill>
                          <a:latin typeface="Arial"/>
                          <a:ea typeface="Arial"/>
                          <a:cs typeface="Arial"/>
                        </a:rPr>
                        <a:t>CinC</a:t>
                      </a:r>
                      <a:r>
                        <a:rPr sz="1185">
                          <a:solidFill>
                            <a:srgbClr val="263244"/>
                          </a:solidFill>
                          <a:latin typeface="Arial"/>
                          <a:ea typeface="Arial"/>
                          <a:cs typeface="Arial"/>
                        </a:rPr>
                        <a:t> 2019 sepsis cohort: 40,336 patients from 2 natural hospitals; stratified 70/15/15 train, validation, and locked test partitions.</a:t>
                      </a:r>
                    </a:p>
                  </a:txBody>
                  <a:tcPr marL="76200" marR="76200" marT="47625" marB="47625" anchor="ctr">
                    <a:solidFill>
                      <a:srgbClr val="FFFFFF"/>
                    </a:solidFill>
                  </a:tcPr>
                </a:tc>
              </a:tr>
              <a:tr h="585107">
                <a:tc>
                  <a:txBody>
                    <a:bodyPr/>
                    <a:lstStyle/>
                    <a:p>
                      <a:r>
                        <a:rPr sz="1185" b="1">
                          <a:solidFill>
                            <a:srgbClr val="008A46"/>
                          </a:solidFill>
                          <a:latin typeface="Arial"/>
                          <a:ea typeface="Arial"/>
                          <a:cs typeface="Arial"/>
                        </a:rPr>
                        <a:t>Model and training</a:t>
                      </a:r>
                    </a:p>
                  </a:txBody>
                  <a:tcPr marL="76200" marR="76200" marT="47625" marB="47625" anchor="ctr">
                    <a:solidFill>
                      <a:srgbClr val="EAF4F0"/>
                    </a:solidFill>
                  </a:tcPr>
                </a:tc>
                <a:tc>
                  <a:txBody>
                    <a:bodyPr/>
                    <a:lstStyle/>
                    <a:p>
                      <a:r>
                        <a:rPr sz="1185">
                          <a:solidFill>
                            <a:srgbClr val="263244"/>
                          </a:solidFill>
                          <a:latin typeface="Arial"/>
                          <a:ea typeface="Arial"/>
                          <a:cs typeface="Arial"/>
                        </a:rPr>
                        <a:t>280–64–1 multilayer perceptron with 18,049 parameters; 20 federated rounds, one local epoch, batch size 128, and learning rate 0.03.</a:t>
                      </a:r>
                    </a:p>
                  </a:txBody>
                  <a:tcPr marL="76200" marR="76200" marT="47625" marB="47625" anchor="ctr">
                    <a:solidFill>
                      <a:srgbClr val="FFFFFF"/>
                    </a:solidFill>
                  </a:tcPr>
                </a:tc>
              </a:tr>
              <a:tr h="585107">
                <a:tc>
                  <a:txBody>
                    <a:bodyPr/>
                    <a:lstStyle/>
                    <a:p>
                      <a:r>
                        <a:rPr sz="1185" b="1">
                          <a:solidFill>
                            <a:srgbClr val="008A46"/>
                          </a:solidFill>
                          <a:latin typeface="Arial"/>
                          <a:ea typeface="Arial"/>
                          <a:cs typeface="Arial"/>
                        </a:rPr>
                        <a:t>Privacy and encryption</a:t>
                      </a:r>
                    </a:p>
                  </a:txBody>
                  <a:tcPr marL="76200" marR="76200" marT="47625" marB="47625" anchor="ctr">
                    <a:solidFill>
                      <a:srgbClr val="EAF4F0"/>
                    </a:solidFill>
                  </a:tcPr>
                </a:tc>
                <a:tc>
                  <a:txBody>
                    <a:bodyPr/>
                    <a:lstStyle/>
                    <a:p>
                      <a:r>
                        <a:rPr sz="1185">
                          <a:solidFill>
                            <a:srgbClr val="263244"/>
                          </a:solidFill>
                          <a:latin typeface="Arial"/>
                          <a:ea typeface="Arial"/>
                          <a:cs typeface="Arial"/>
                        </a:rPr>
                        <a:t>Patient clipping C = 1.0, Gaussian noise multiplier σ = 1.2, δ = 10⁻⁵, and RDP accounting; </a:t>
                      </a:r>
                      <a:r>
                        <a:rPr sz="1185">
                          <a:solidFill>
                            <a:srgbClr val="263244"/>
                          </a:solidFill>
                          <a:latin typeface="Arial"/>
                          <a:ea typeface="Arial"/>
                          <a:cs typeface="Arial"/>
                        </a:rPr>
                        <a:t>TenSEAL</a:t>
                      </a:r>
                      <a:r>
                        <a:rPr sz="1185">
                          <a:solidFill>
                            <a:srgbClr val="263244"/>
                          </a:solidFill>
                          <a:latin typeface="Arial"/>
                          <a:ea typeface="Arial"/>
                          <a:cs typeface="Arial"/>
                        </a:rPr>
                        <a:t> CKKS with N = 8192 and scale 2⁴⁰.</a:t>
                      </a:r>
                    </a:p>
                  </a:txBody>
                  <a:tcPr marL="76200" marR="76200" marT="47625" marB="47625" anchor="ctr">
                    <a:solidFill>
                      <a:srgbClr val="FFFFFF"/>
                    </a:solidFill>
                  </a:tcPr>
                </a:tc>
              </a:tr>
              <a:tr h="585107">
                <a:tc>
                  <a:txBody>
                    <a:bodyPr/>
                    <a:lstStyle/>
                    <a:p>
                      <a:r>
                        <a:rPr sz="1185" b="1">
                          <a:solidFill>
                            <a:srgbClr val="008A46"/>
                          </a:solidFill>
                          <a:latin typeface="Arial"/>
                          <a:ea typeface="Arial"/>
                          <a:cs typeface="Arial"/>
                        </a:rPr>
                        <a:t>CAABC-FL configuration</a:t>
                      </a:r>
                    </a:p>
                  </a:txBody>
                  <a:tcPr marL="76200" marR="76200" marT="47625" marB="47625" anchor="ctr">
                    <a:solidFill>
                      <a:srgbClr val="EAF4F0"/>
                    </a:solidFill>
                  </a:tcPr>
                </a:tc>
                <a:tc>
                  <a:txBody>
                    <a:bodyPr/>
                    <a:lstStyle/>
                    <a:p>
                      <a:r>
                        <a:rPr sz="1185">
                          <a:solidFill>
                            <a:srgbClr val="263244"/>
                          </a:solidFill>
                          <a:latin typeface="Arial"/>
                          <a:ea typeface="Arial"/>
                          <a:cs typeface="Arial"/>
                        </a:rPr>
                        <a:t>256-coordinate blocks, </a:t>
                      </a:r>
                      <a:r>
                        <a:rPr sz="1185">
                          <a:solidFill>
                            <a:srgbClr val="263244"/>
                          </a:solidFill>
                          <a:latin typeface="Arial"/>
                          <a:ea typeface="Arial"/>
                          <a:cs typeface="Arial"/>
                        </a:rPr>
                        <a:t>2</a:t>
                      </a:r>
                      <a:r>
                        <a:rPr sz="1185">
                          <a:solidFill>
                            <a:srgbClr val="263244"/>
                          </a:solidFill>
                          <a:latin typeface="Arial"/>
                          <a:ea typeface="Arial"/>
                          <a:cs typeface="Arial"/>
                        </a:rPr>
                        <a:t> encrypted update chunks, support refresh every 5 rounds, and error feedback for discarded coordinates.</a:t>
                      </a:r>
                    </a:p>
                  </a:txBody>
                  <a:tcPr marL="76200" marR="76200" marT="47625" marB="47625" anchor="ctr">
                    <a:solidFill>
                      <a:srgbClr val="FFFFFF"/>
                    </a:solidFill>
                  </a:tcPr>
                </a:tc>
              </a:tr>
              <a:tr h="585107">
                <a:tc>
                  <a:txBody>
                    <a:bodyPr/>
                    <a:lstStyle/>
                    <a:p>
                      <a:r>
                        <a:rPr sz="1185" b="1">
                          <a:solidFill>
                            <a:srgbClr val="008A46"/>
                          </a:solidFill>
                          <a:latin typeface="Arial"/>
                          <a:ea typeface="Arial"/>
                          <a:cs typeface="Arial"/>
                        </a:rPr>
                        <a:t>Security evaluation</a:t>
                      </a:r>
                    </a:p>
                  </a:txBody>
                  <a:tcPr marL="76200" marR="76200" marT="47625" marB="47625" anchor="ctr">
                    <a:solidFill>
                      <a:srgbClr val="EAF4F0"/>
                    </a:solidFill>
                  </a:tcPr>
                </a:tc>
                <a:tc>
                  <a:txBody>
                    <a:bodyPr/>
                    <a:lstStyle/>
                    <a:p>
                      <a:r>
                        <a:rPr sz="1185">
                          <a:solidFill>
                            <a:srgbClr val="263244"/>
                          </a:solidFill>
                          <a:latin typeface="Arial"/>
                          <a:ea typeface="Arial"/>
                          <a:cs typeface="Arial"/>
                        </a:rPr>
                        <a:t>LiRA and RMIA with 8 reference models per seed; 300-step gradient reconstruction; 20 virtual clients, 7 poisoning attacks, and 10–40% malicious participation.</a:t>
                      </a:r>
                    </a:p>
                  </a:txBody>
                  <a:tcPr marL="76200" marR="76200" marT="47625" marB="47625" anchor="ctr">
                    <a:solidFill>
                      <a:srgbClr val="FFFFFF"/>
                    </a:solidFill>
                  </a:tcPr>
                </a:tc>
              </a:tr>
              <a:tr h="585107">
                <a:tc>
                  <a:txBody>
                    <a:bodyPr/>
                    <a:lstStyle/>
                    <a:p>
                      <a:r>
                        <a:rPr sz="1185" b="1">
                          <a:solidFill>
                            <a:srgbClr val="008A46"/>
                          </a:solidFill>
                          <a:latin typeface="Arial"/>
                          <a:ea typeface="Arial"/>
                          <a:cs typeface="Arial"/>
                        </a:rPr>
                        <a:t>Replication and analysis</a:t>
                      </a:r>
                    </a:p>
                  </a:txBody>
                  <a:tcPr marL="76200" marR="76200" marT="47625" marB="47625" anchor="ctr">
                    <a:solidFill>
                      <a:srgbClr val="EAF4F0"/>
                    </a:solidFill>
                  </a:tcPr>
                </a:tc>
                <a:tc>
                  <a:txBody>
                    <a:bodyPr/>
                    <a:lstStyle/>
                    <a:p>
                      <a:r>
                        <a:rPr sz="1185">
                          <a:solidFill>
                            <a:srgbClr val="263244"/>
                          </a:solidFill>
                          <a:latin typeface="Arial"/>
                          <a:ea typeface="Arial"/>
                          <a:cs typeface="Arial"/>
                        </a:rPr>
                        <a:t>10 paired seeds for the core protected comparison and 5 for secondary security comparisons; paired 95% t intervals with Holm correction.</a:t>
                      </a:r>
                    </a:p>
                  </a:txBody>
                  <a:tcPr marL="76200" marR="76200" marT="47625" marB="47625" anchor="ctr">
                    <a:solidFill>
                      <a:srgbClr val="FFFFFF"/>
                    </a:solidFill>
                  </a:tcPr>
                </a:tc>
              </a:tr>
            </a:tbl>
          </a:graphicData>
        </a:graphic>
      </p:graphicFrame>
      <p:sp>
        <p:nvSpPr>
          <p:cNvPr id="240" name="experimental-setup-lock-note">
            <a:extLst xmlns:a="http://schemas.openxmlformats.org/drawingml/2006/main">
              <a:ext uri="{FF2B5EF4-FFF2-40B4-BE49-F238E27FC236}">
                <a16:creationId xmlns:a16="http://schemas.microsoft.com/office/drawing/2014/main" id="{7651E294-469B-451F-A65D-A63696400F1E}"/>
              </a:ext>
            </a:extLst>
          </p:cNvPr>
          <p:cNvSpPr>
            <a:spLocks xmlns:a="http://schemas.openxmlformats.org/drawingml/2006/main" noGrp="1"/>
          </p:cNvSpPr>
          <p:nvPr/>
        </p:nvSpPr>
        <p:spPr>
          <a:xfrm xmlns:a="http://schemas.openxmlformats.org/drawingml/2006/main">
            <a:off x="1095375" y="5715000"/>
            <a:ext cx="1000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163" i="1">
                <a:solidFill>
                  <a:srgbClr val="008A46"/>
                </a:solidFill>
                <a:latin typeface="Arial"/>
                <a:ea typeface="Arial"/>
                <a:cs typeface="Arial"/>
              </a:defRPr>
            </a:pPr>
            <a:r>
              <a:rPr sz="1163" i="1">
                <a:solidFill>
                  <a:srgbClr val="008A46"/>
                </a:solidFill>
                <a:latin typeface="Arial"/>
                <a:ea typeface="Arial"/>
                <a:cs typeface="Arial"/>
              </a:rPr>
              <a:t>The protocol, decision rules, and operating thresholds were frozen before confirmatory test access.</a:t>
            </a:r>
          </a:p>
        </p:txBody>
      </p:sp>
      <p:pic>
        <p:nvPicPr>
          <p:cNvPr id="266" name="Picture 265"/>
          <p:cNvPicPr>
            <a:picLocks xmlns:a="http://schemas.openxmlformats.org/drawingml/2006/main" noChangeAspect="1"/>
          </p:cNvPicPr>
          <p:nvPr/>
        </p:nvPicPr>
        <p:blipFill>
          <a:blip xmlns:r="http://schemas.openxmlformats.org/officeDocument/2006/relationships" xmlns:a="http://schemas.openxmlformats.org/drawingml/2006/main" r:embed="Ra80e672af9c24b9d"/>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pic>
        <p:nvPicPr>
          <p:cNvPr id="267" name="Picture 1"/>
          <p:cNvPicPr>
            <a:picLocks xmlns:a="http://schemas.openxmlformats.org/drawingml/2006/main" noChangeAspect="1"/>
          </p:cNvPicPr>
          <p:nvPr/>
        </p:nvPicPr>
        <p:blipFill>
          <a:blip xmlns:r="http://schemas.openxmlformats.org/officeDocument/2006/relationships" xmlns:a="http://schemas.openxmlformats.org/drawingml/2006/main" r:embed="R544c482902d94a55"/>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970286495"/>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Budget Plan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26</a:t>
            </a:r>
            <a:endParaRPr sz="2800"/>
          </a:p>
        </p:txBody>
      </p:sp>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c8e5ef4e68a640c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No major project cost was required</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IV. Resources used for the thesis</a:t>
            </a:r>
          </a:p>
        </p:txBody>
      </p:sp>
      <p:graphicFrame>
        <p:nvGraphicFramePr>
          <p:cNvPr id="237" name="Table 238"/>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Resource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Provision</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Direct project cost</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PhysioNet 2019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Public research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Python, PyTorch, TenSEAL, OpenFHE</a:t>
                      </a:r>
                    </a:p>
                  </a:txBody>
                  <a:tcPr marL="66675" marR="66675" marT="47625" marB="47625" anchor="ctr">
                    <a:solidFill>
                      <a:srgbClr val="FFFFFF"/>
                    </a:solidFill>
                  </a:tcPr>
                </a:tc>
                <a:tc>
                  <a:txBody>
                    <a:bodyPr/>
                    <a:lstStyle/>
                    <a:p>
                      <a:r>
                        <a:rPr sz="1350">
                          <a:solidFill>
                            <a:srgbClr val="1F2937"/>
                          </a:solidFill>
                          <a:latin typeface="Arial"/>
                          <a:ea typeface="Arial"/>
                          <a:cs typeface="Arial"/>
                        </a:rPr>
                        <a:t>Open-source software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licence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Development hardware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Existing personal computer</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new purchase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Documentation and collaboration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University and existing services</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major additional cost</a:t>
                      </a:r>
                    </a:p>
                  </a:txBody>
                  <a:tcPr marL="66675" marR="66675" marT="47625" marB="47625" anchor="ctr">
                    <a:solidFill>
                      <a:srgbClr val="FFFFFF"/>
                    </a:solidFill>
                  </a:tcPr>
                </a:tc>
              </a:tr>
            </a:tbl>
          </a:graphicData>
        </a:graphic>
      </p:graphicFrame>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39" name="Picture 1"/>
          <p:cNvPicPr>
            <a:picLocks xmlns:a="http://schemas.openxmlformats.org/drawingml/2006/main" noChangeAspect="1"/>
          </p:cNvPicPr>
          <p:nvPr/>
        </p:nvPicPr>
        <p:blipFill>
          <a:blip xmlns:r="http://schemas.openxmlformats.org/officeDocument/2006/relationships" xmlns:a="http://schemas.openxmlformats.org/drawingml/2006/main" r:embed="R8b2d600170a94b8f"/>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970286495"/>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pic>
        <p:nvPicPr>
          <p:cNvPr id="715" name="Google Shape;485;p49"/>
          <p:cNvPicPr>
            <a:picLocks xmlns:a="http://schemas.openxmlformats.org/drawingml/2006/main" noChangeAspect="1"/>
          </p:cNvPicPr>
          <p:nvPr/>
        </p:nvPicPr>
        <p:blipFill rotWithShape="1">
          <a:blip xmlns:r="http://schemas.openxmlformats.org/officeDocument/2006/relationships" xmlns:a="http://schemas.openxmlformats.org/drawingml/2006/main" r:embed="Rc4e2007eebc6480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716" name="Google Shape;486;p49"/>
          <p:cNvPicPr>
            <a:picLocks xmlns:a="http://schemas.openxmlformats.org/drawingml/2006/main" noChangeAspect="1"/>
          </p:cNvPicPr>
          <p:nvPr/>
        </p:nvPicPr>
        <p:blipFill rotWithShape="1">
          <a:blip xmlns:r="http://schemas.openxmlformats.org/officeDocument/2006/relationships" xmlns:a="http://schemas.openxmlformats.org/drawingml/2006/main" r:embed="R7e9f01154527435a">
            <a:alphaModFix/>
          </a:blip>
          <a:srcRect xmlns:a="http://schemas.openxmlformats.org/drawingml/2006/main" l="1182" t="2324" r="3424" b="0"/>
          <a:stretch xmlns:a="http://schemas.openxmlformats.org/drawingml/2006/main"/>
        </p:blipFill>
        <p:spPr>
          <a:xfrm xmlns:a="http://schemas.openxmlformats.org/drawingml/2006/main">
            <a:off x="2210143" y="374895"/>
            <a:ext cx="7565367" cy="5537780"/>
          </a:xfrm>
          <a:prstGeom xmlns:a="http://schemas.openxmlformats.org/drawingml/2006/main" prst="rect">
            <a:avLst/>
          </a:prstGeom>
          <a:ln xmlns:a="http://schemas.openxmlformats.org/drawingml/2006/main">
            <a:noFill/>
          </a:ln>
        </p:spPr>
      </p:pic>
      <p:sp>
        <p:nvSpPr>
          <p:cNvPr id="487" name="Google Shape;487;p49">
            <a:extLst xmlns:a="http://schemas.openxmlformats.org/drawingml/2006/main">
              <a:ext uri="{FF2B5EF4-FFF2-40B4-BE49-F238E27FC236}">
                <a16:creationId xmlns:a16="http://schemas.microsoft.com/office/drawing/2014/main" id="{78E1052A-C591-416F-86AE-AD46DA65D61B}"/>
              </a:ext>
            </a:extLst>
          </p:cNvPr>
          <p:cNvSpPr>
            <a:spLocks xmlns:a="http://schemas.openxmlformats.org/drawingml/2006/main" noGrp="1"/>
          </p:cNvSpPr>
          <p:nvPr>
            <p:ph type="title" idx="0"/>
          </p:nvPr>
        </p:nvSpPr>
        <p:spPr>
          <a:xfrm xmlns:a="http://schemas.openxmlformats.org/drawingml/2006/main">
            <a:off x="3308410" y="4417569"/>
            <a:ext cx="5865900"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lvl="0" algn="ctr">
              <a:buSzPts val="4000"/>
              <a:buNone/>
            </a:pPr>
            <a:r>
              <a:rPr sz="4000">
                <a:latin typeface="Arial"/>
                <a:ea typeface="Arial"/>
                <a:cs typeface="Arial"/>
              </a:rPr>
              <a:t>Results and Discussion</a:t>
            </a:r>
            <a:endParaRPr/>
          </a:p>
        </p:txBody>
      </p:sp>
      <p:pic>
        <p:nvPicPr>
          <p:cNvPr id="718" name="Google Shape;488;p49"/>
          <p:cNvPicPr>
            <a:picLocks xmlns:a="http://schemas.openxmlformats.org/drawingml/2006/main" noChangeAspect="1"/>
          </p:cNvPicPr>
          <p:nvPr/>
        </p:nvPicPr>
        <p:blipFill rotWithShape="1">
          <a:blip xmlns:r="http://schemas.openxmlformats.org/officeDocument/2006/relationships" xmlns:a="http://schemas.openxmlformats.org/drawingml/2006/main" r:embed="Rea4fd8788dd44701">
            <a:alphaModFix/>
          </a:blip>
          <a:srcRect xmlns:a="http://schemas.openxmlformats.org/drawingml/2006/main" l="0" t="0" r="0" b="0"/>
          <a:stretch xmlns:a="http://schemas.openxmlformats.org/drawingml/2006/main"/>
        </p:blipFill>
        <p:spPr>
          <a:xfrm xmlns:a="http://schemas.openxmlformats.org/drawingml/2006/main">
            <a:off x="4782271" y="1829206"/>
            <a:ext cx="2341861" cy="2341861"/>
          </a:xfrm>
          <a:prstGeom xmlns:a="http://schemas.openxmlformats.org/drawingml/2006/main" prst="rect">
            <a:avLst/>
          </a:prstGeom>
          <a:ln xmlns:a="http://schemas.openxmlformats.org/drawingml/2006/main">
            <a:noFill/>
          </a:ln>
        </p:spPr>
      </p:pic>
      <p:cxnSp>
        <p:nvCxnSpPr>
          <p:cNvPr id="719"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2" name="Google Shape;216;p28">
            <a:extLst xmlns:a="http://schemas.openxmlformats.org/drawingml/2006/main">
              <a:ext uri="{FF2B5EF4-FFF2-40B4-BE49-F238E27FC236}">
                <a16:creationId xmlns:a16="http://schemas.microsoft.com/office/drawing/2014/main" id="{A60FB40A-D25F-F66E-D3EC-B635D9E753B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F0366C7A-4C73-D4CB-3B84-166111325F0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27</a:t>
            </a:r>
            <a:endParaRPr sz="2800"/>
          </a:p>
        </p:txBody>
      </p:sp>
      <p:sp>
        <p:nvSpPr>
          <p:cNvPr id="506" name="visible-footer-date-19">
            <a:extLst xmlns:a="http://schemas.openxmlformats.org/drawingml/2006/main">
              <a:ext uri="{FF2B5EF4-FFF2-40B4-BE49-F238E27FC236}">
                <a16:creationId xmlns:a16="http://schemas.microsoft.com/office/drawing/2014/main" id="{1AD8E625-EAFD-4388-9F52-DF4218A5D8B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723" name="Picture 3"/>
          <p:cNvPicPr>
            <a:picLocks xmlns:a="http://schemas.openxmlformats.org/drawingml/2006/main" noChangeAspect="1"/>
          </p:cNvPicPr>
          <p:nvPr/>
        </p:nvPicPr>
        <p:blipFill>
          <a:blip xmlns:r="http://schemas.openxmlformats.org/officeDocument/2006/relationships" xmlns:a="http://schemas.openxmlformats.org/drawingml/2006/main" r:embed="Rf6a86dc5f0e04e4f"/>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1511854777"/>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9749074-61B2-7B23-C5FD-A3C425EE12E5}"/>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Key Findings</a:t>
            </a:r>
            <a:endParaRPr/>
          </a:p>
        </p:txBody>
      </p:sp>
      <p:sp>
        <p:nvSpPr>
          <p:cNvPr id="212" name="Google Shape;212;p28">
            <a:extLst xmlns:a="http://schemas.openxmlformats.org/drawingml/2006/main">
              <a:ext uri="{FF2B5EF4-FFF2-40B4-BE49-F238E27FC236}">
                <a16:creationId xmlns:a16="http://schemas.microsoft.com/office/drawing/2014/main" id="{35C11982-4687-AC0D-8620-6C19505BCB5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28</a:t>
            </a:r>
            <a:endParaRPr sz="2800"/>
          </a:p>
        </p:txBody>
      </p:sp>
      <p:pic>
        <p:nvPicPr>
          <p:cNvPr id="24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7686f468b96f4a0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2474A79-A604-DA23-71E4-29A8E265570A}"/>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metric-value-0">
            <a:extLst xmlns:a="http://schemas.openxmlformats.org/drawingml/2006/main">
              <a:ext uri="{FF2B5EF4-FFF2-40B4-BE49-F238E27FC236}">
                <a16:creationId xmlns:a16="http://schemas.microsoft.com/office/drawing/2014/main" id="{81FCF53F-B390-49AA-B12A-27362E742030}"/>
              </a:ext>
            </a:extLst>
          </p:cNvPr>
          <p:cNvSpPr>
            <a:spLocks xmlns:a="http://schemas.openxmlformats.org/drawingml/2006/main" noGrp="1"/>
          </p:cNvSpPr>
          <p:nvPr/>
        </p:nvSpPr>
        <p:spPr>
          <a:xfrm xmlns:a="http://schemas.openxmlformats.org/drawingml/2006/main">
            <a:off x="57150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0.730</a:t>
            </a:r>
          </a:p>
        </p:txBody>
      </p:sp>
      <p:sp>
        <p:nvSpPr>
          <p:cNvPr id="221" name="metric-label-0">
            <a:extLst xmlns:a="http://schemas.openxmlformats.org/drawingml/2006/main">
              <a:ext uri="{FF2B5EF4-FFF2-40B4-BE49-F238E27FC236}">
                <a16:creationId xmlns:a16="http://schemas.microsoft.com/office/drawing/2014/main" id="{CE4EE827-C2BA-4B8D-8FD7-4CA11C6BAF5F}"/>
              </a:ext>
            </a:extLst>
          </p:cNvPr>
          <p:cNvSpPr>
            <a:spLocks xmlns:a="http://schemas.openxmlformats.org/drawingml/2006/main" noGrp="1"/>
          </p:cNvSpPr>
          <p:nvPr/>
        </p:nvSpPr>
        <p:spPr>
          <a:xfrm xmlns:a="http://schemas.openxmlformats.org/drawingml/2006/main">
            <a:off x="57150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AUROC</a:t>
            </a:r>
          </a:p>
        </p:txBody>
      </p:sp>
      <p:sp>
        <p:nvSpPr>
          <p:cNvPr id="222" name="rule-335-165">
            <a:extLst xmlns:a="http://schemas.openxmlformats.org/drawingml/2006/main">
              <a:ext uri="{FF2B5EF4-FFF2-40B4-BE49-F238E27FC236}">
                <a16:creationId xmlns:a16="http://schemas.microsoft.com/office/drawing/2014/main" id="{C7811AF5-FFCE-40EC-B2B6-0A1CACD2D75A}"/>
              </a:ext>
            </a:extLst>
          </p:cNvPr>
          <p:cNvSpPr>
            <a:spLocks xmlns:a="http://schemas.openxmlformats.org/drawingml/2006/main" noGrp="1"/>
          </p:cNvSpPr>
          <p:nvPr/>
        </p:nvSpPr>
        <p:spPr>
          <a:xfrm xmlns:a="http://schemas.openxmlformats.org/drawingml/2006/main">
            <a:off x="319087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metric-value-1">
            <a:extLst xmlns:a="http://schemas.openxmlformats.org/drawingml/2006/main">
              <a:ext uri="{FF2B5EF4-FFF2-40B4-BE49-F238E27FC236}">
                <a16:creationId xmlns:a16="http://schemas.microsoft.com/office/drawing/2014/main" id="{756F8A59-9ACA-4C1F-AEF2-EE1D91C9555B}"/>
              </a:ext>
            </a:extLst>
          </p:cNvPr>
          <p:cNvSpPr>
            <a:spLocks xmlns:a="http://schemas.openxmlformats.org/drawingml/2006/main" noGrp="1"/>
          </p:cNvSpPr>
          <p:nvPr/>
        </p:nvSpPr>
        <p:spPr>
          <a:xfrm xmlns:a="http://schemas.openxmlformats.org/drawingml/2006/main">
            <a:off x="347662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4200" b="1" i="0">
                <a:solidFill>
                  <a:srgbClr val="17365D"/>
                </a:solidFill>
                <a:latin typeface="Arial"/>
                <a:ea typeface="Arial"/>
                <a:cs typeface="Arial"/>
              </a:defRPr>
            </a:pPr>
            <a:r>
              <a:rPr sz="4200" b="1" i="0">
                <a:solidFill>
                  <a:srgbClr val="17365D"/>
                </a:solidFill>
                <a:latin typeface="Arial"/>
                <a:ea typeface="Arial"/>
                <a:cs typeface="Arial"/>
              </a:rPr>
              <a:t>0.384</a:t>
            </a:r>
          </a:p>
        </p:txBody>
      </p:sp>
      <p:sp>
        <p:nvSpPr>
          <p:cNvPr id="224" name="metric-label-1">
            <a:extLst xmlns:a="http://schemas.openxmlformats.org/drawingml/2006/main">
              <a:ext uri="{FF2B5EF4-FFF2-40B4-BE49-F238E27FC236}">
                <a16:creationId xmlns:a16="http://schemas.microsoft.com/office/drawing/2014/main" id="{9127602C-9C01-4A7E-AEEF-62548F94789E}"/>
              </a:ext>
            </a:extLst>
          </p:cNvPr>
          <p:cNvSpPr>
            <a:spLocks xmlns:a="http://schemas.openxmlformats.org/drawingml/2006/main" noGrp="1"/>
          </p:cNvSpPr>
          <p:nvPr/>
        </p:nvSpPr>
        <p:spPr>
          <a:xfrm xmlns:a="http://schemas.openxmlformats.org/drawingml/2006/main">
            <a:off x="347662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AUPRC</a:t>
            </a:r>
          </a:p>
        </p:txBody>
      </p:sp>
      <p:sp>
        <p:nvSpPr>
          <p:cNvPr id="225" name="rule-640-165">
            <a:extLst xmlns:a="http://schemas.openxmlformats.org/drawingml/2006/main">
              <a:ext uri="{FF2B5EF4-FFF2-40B4-BE49-F238E27FC236}">
                <a16:creationId xmlns:a16="http://schemas.microsoft.com/office/drawing/2014/main" id="{89547A79-1C4C-4AD2-94FF-D3B20425459D}"/>
              </a:ext>
            </a:extLst>
          </p:cNvPr>
          <p:cNvSpPr>
            <a:spLocks xmlns:a="http://schemas.openxmlformats.org/drawingml/2006/main" noGrp="1"/>
          </p:cNvSpPr>
          <p:nvPr/>
        </p:nvSpPr>
        <p:spPr>
          <a:xfrm xmlns:a="http://schemas.openxmlformats.org/drawingml/2006/main">
            <a:off x="6096000"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metric-value-2">
            <a:extLst xmlns:a="http://schemas.openxmlformats.org/drawingml/2006/main">
              <a:ext uri="{FF2B5EF4-FFF2-40B4-BE49-F238E27FC236}">
                <a16:creationId xmlns:a16="http://schemas.microsoft.com/office/drawing/2014/main" id="{DA443CB4-E551-4B2F-92D4-E0C463124B8A}"/>
              </a:ext>
            </a:extLst>
          </p:cNvPr>
          <p:cNvSpPr>
            <a:spLocks xmlns:a="http://schemas.openxmlformats.org/drawingml/2006/main" noGrp="1"/>
          </p:cNvSpPr>
          <p:nvPr/>
        </p:nvSpPr>
        <p:spPr>
          <a:xfrm xmlns:a="http://schemas.openxmlformats.org/drawingml/2006/main">
            <a:off x="638175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56.0%</a:t>
            </a:r>
          </a:p>
        </p:txBody>
      </p:sp>
      <p:sp>
        <p:nvSpPr>
          <p:cNvPr id="227" name="metric-label-2">
            <a:extLst xmlns:a="http://schemas.openxmlformats.org/drawingml/2006/main">
              <a:ext uri="{FF2B5EF4-FFF2-40B4-BE49-F238E27FC236}">
                <a16:creationId xmlns:a16="http://schemas.microsoft.com/office/drawing/2014/main" id="{BAF988F8-780C-48FA-A3DC-692446A8A2BD}"/>
              </a:ext>
            </a:extLst>
          </p:cNvPr>
          <p:cNvSpPr>
            <a:spLocks xmlns:a="http://schemas.openxmlformats.org/drawingml/2006/main" noGrp="1"/>
          </p:cNvSpPr>
          <p:nvPr/>
        </p:nvSpPr>
        <p:spPr>
          <a:xfrm xmlns:a="http://schemas.openxmlformats.org/drawingml/2006/main">
            <a:off x="638175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Encrypted upload reduction</a:t>
            </a:r>
          </a:p>
        </p:txBody>
      </p:sp>
      <p:sp>
        <p:nvSpPr>
          <p:cNvPr id="228" name="rule-945-165">
            <a:extLst xmlns:a="http://schemas.openxmlformats.org/drawingml/2006/main">
              <a:ext uri="{FF2B5EF4-FFF2-40B4-BE49-F238E27FC236}">
                <a16:creationId xmlns:a16="http://schemas.microsoft.com/office/drawing/2014/main" id="{78C123C2-3991-4E21-8749-EAF3B51C0BC4}"/>
              </a:ext>
            </a:extLst>
          </p:cNvPr>
          <p:cNvSpPr>
            <a:spLocks xmlns:a="http://schemas.openxmlformats.org/drawingml/2006/main" noGrp="1"/>
          </p:cNvSpPr>
          <p:nvPr/>
        </p:nvSpPr>
        <p:spPr>
          <a:xfrm xmlns:a="http://schemas.openxmlformats.org/drawingml/2006/main">
            <a:off x="900112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metric-value-3">
            <a:extLst xmlns:a="http://schemas.openxmlformats.org/drawingml/2006/main">
              <a:ext uri="{FF2B5EF4-FFF2-40B4-BE49-F238E27FC236}">
                <a16:creationId xmlns:a16="http://schemas.microsoft.com/office/drawing/2014/main" id="{B8BFB624-1091-4870-BBD2-DAEA3E982CDC}"/>
              </a:ext>
            </a:extLst>
          </p:cNvPr>
          <p:cNvSpPr>
            <a:spLocks xmlns:a="http://schemas.openxmlformats.org/drawingml/2006/main" noGrp="1"/>
          </p:cNvSpPr>
          <p:nvPr/>
        </p:nvSpPr>
        <p:spPr>
          <a:xfrm xmlns:a="http://schemas.openxmlformats.org/drawingml/2006/main">
            <a:off x="9286875" y="1571625"/>
            <a:ext cx="2381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2700" b="1" i="0">
                <a:solidFill>
                  <a:srgbClr val="123968"/>
                </a:solidFill>
                <a:latin typeface="Arial"/>
                <a:ea typeface="Arial"/>
                <a:cs typeface="Arial"/>
              </a:defRPr>
            </a:pPr>
            <a:r>
              <a:rPr sz="2700" b="1" i="0">
                <a:solidFill>
                  <a:srgbClr val="123968"/>
                </a:solidFill>
                <a:latin typeface="Arial"/>
                <a:ea typeface="Arial"/>
                <a:cs typeface="Arial"/>
              </a:rPr>
              <a:t>0.5035</a:t>
            </a:r>
          </a:p>
        </p:txBody>
      </p:sp>
      <p:sp>
        <p:nvSpPr>
          <p:cNvPr id="230" name="metric-label-3">
            <a:extLst xmlns:a="http://schemas.openxmlformats.org/drawingml/2006/main">
              <a:ext uri="{FF2B5EF4-FFF2-40B4-BE49-F238E27FC236}">
                <a16:creationId xmlns:a16="http://schemas.microsoft.com/office/drawing/2014/main" id="{2C0F81FD-81D4-456F-BF65-6BF085CFE3F5}"/>
              </a:ext>
            </a:extLst>
          </p:cNvPr>
          <p:cNvSpPr>
            <a:spLocks xmlns:a="http://schemas.openxmlformats.org/drawingml/2006/main" noGrp="1"/>
          </p:cNvSpPr>
          <p:nvPr/>
        </p:nvSpPr>
        <p:spPr>
          <a:xfrm xmlns:a="http://schemas.openxmlformats.org/drawingml/2006/main">
            <a:off x="9286875" y="2143125"/>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313" b="1" i="0">
                <a:solidFill>
                  <a:srgbClr val="123968"/>
                </a:solidFill>
                <a:latin typeface="Arial"/>
                <a:ea typeface="Arial"/>
                <a:cs typeface="Arial"/>
              </a:defRPr>
            </a:pPr>
            <a:r>
              <a:rPr sz="1313" b="1" i="0">
                <a:solidFill>
                  <a:srgbClr val="123968"/>
                </a:solidFill>
                <a:latin typeface="Arial"/>
                <a:ea typeface="Arial"/>
                <a:cs typeface="Arial"/>
              </a:rPr>
              <a:t>Membership attack AUC</a:t>
            </a:r>
          </a:p>
        </p:txBody>
      </p:sp>
      <p:sp>
        <p:nvSpPr>
          <p:cNvPr id="231" name="finding-bullets">
            <a:extLst xmlns:a="http://schemas.openxmlformats.org/drawingml/2006/main">
              <a:ext uri="{FF2B5EF4-FFF2-40B4-BE49-F238E27FC236}">
                <a16:creationId xmlns:a16="http://schemas.microsoft.com/office/drawing/2014/main" id="{75FFB60E-1FC8-4EE1-BB1F-4F4B853F2D0E}"/>
              </a:ext>
            </a:extLst>
          </p:cNvPr>
          <p:cNvSpPr>
            <a:spLocks xmlns:a="http://schemas.openxmlformats.org/drawingml/2006/main" noGrp="1"/>
          </p:cNvSpPr>
          <p:nvPr/>
        </p:nvSpPr>
        <p:spPr>
          <a:xfrm xmlns:a="http://schemas.openxmlformats.org/drawingml/2006/main">
            <a:off x="1238250" y="3762375"/>
            <a:ext cx="97155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076" lnSpcReduction="10000"/>
          </a:bodyPr>
          <a:lstStyle xmlns:a="http://schemas.openxmlformats.org/drawingml/2006/main"/>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CAABC-FL passed the registered AUROC non-inferiority gate against dense DP-</a:t>
            </a:r>
            <a:r>
              <a:rPr sz="1725">
                <a:solidFill>
                  <a:srgbClr val="1F2937"/>
                </a:solidFill>
                <a:latin typeface="Arial"/>
                <a:ea typeface="Arial"/>
                <a:cs typeface="Arial"/>
              </a:rPr>
              <a:t>FedAvg</a:t>
            </a:r>
            <a:r>
              <a:rPr sz="1725">
                <a:solidFill>
                  <a:srgbClr val="1F2937"/>
                </a:solidFill>
                <a:latin typeface="Arial"/>
                <a:ea typeface="Arial"/>
                <a:cs typeface="Arial"/>
              </a:rPr>
              <a:t>-CKKS.</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AUPRC difference was negative, so the evidence does not support universal utility superiority.</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governance layer contained the tested longitudinal backdoor with 60% rollback and a 0.0293 clean-AUROC cost.</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OpenFHE</a:t>
            </a:r>
            <a:r>
              <a:rPr sz="1725">
                <a:solidFill>
                  <a:srgbClr val="1F2937"/>
                </a:solidFill>
                <a:latin typeface="Arial"/>
                <a:ea typeface="Arial"/>
                <a:cs typeface="Arial"/>
              </a:rPr>
              <a:t> 3-of-3 CKKS achieved maximum error of 1.34 x 10^-13, while the main service remained centrally keyed.</a:t>
            </a:r>
          </a:p>
        </p:txBody>
      </p:sp>
      <p:sp>
        <p:nvSpPr>
          <p:cNvPr id="234" name="visible-footer-date-20">
            <a:extLst xmlns:a="http://schemas.openxmlformats.org/drawingml/2006/main">
              <a:ext uri="{FF2B5EF4-FFF2-40B4-BE49-F238E27FC236}">
                <a16:creationId xmlns:a16="http://schemas.microsoft.com/office/drawing/2014/main" id="{51EA2B7B-2F1F-48B1-8E4B-475805A7E5A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7" name="privacy-metric-divider">
            <a:extLst xmlns:a="http://schemas.openxmlformats.org/drawingml/2006/main">
              <a:ext uri="{FF2B5EF4-FFF2-40B4-BE49-F238E27FC236}">
                <a16:creationId xmlns:a16="http://schemas.microsoft.com/office/drawing/2014/main" id="{8D45347A-18C2-40B8-A635-ABD90C51BFF1}"/>
              </a:ext>
            </a:extLst>
          </p:cNvPr>
          <p:cNvSpPr>
            <a:spLocks xmlns:a="http://schemas.openxmlformats.org/drawingml/2006/main" noGrp="1"/>
          </p:cNvSpPr>
          <p:nvPr/>
        </p:nvSpPr>
        <p:spPr>
          <a:xfrm xmlns:a="http://schemas.openxmlformats.org/drawingml/2006/main">
            <a:off x="9601200" y="2590800"/>
            <a:ext cx="1752600" cy="13335"/>
          </a:xfrm>
          <a:prstGeom xmlns:a="http://schemas.openxmlformats.org/drawingml/2006/main" prst="rect">
            <a:avLst/>
          </a:prstGeom>
          <a:solidFill xmlns:a="http://schemas.openxmlformats.org/drawingml/2006/main">
            <a:srgbClr val="B6C4D2"/>
          </a:solidFill>
          <a:ln xmlns:a="http://schemas.openxmlformats.org/drawingml/2006/main" w="0">
            <a:noFill/>
          </a:ln>
        </p:spPr>
      </p:sp>
      <p:sp>
        <p:nvSpPr>
          <p:cNvPr id="238" name="gradient-reconstruction-rmse-value">
            <a:extLst xmlns:a="http://schemas.openxmlformats.org/drawingml/2006/main">
              <a:ext uri="{FF2B5EF4-FFF2-40B4-BE49-F238E27FC236}">
                <a16:creationId xmlns:a16="http://schemas.microsoft.com/office/drawing/2014/main" id="{3DBC6A48-C221-47F5-8EE7-6E909DD7209F}"/>
              </a:ext>
            </a:extLst>
          </p:cNvPr>
          <p:cNvSpPr>
            <a:spLocks xmlns:a="http://schemas.openxmlformats.org/drawingml/2006/main" noGrp="1"/>
          </p:cNvSpPr>
          <p:nvPr/>
        </p:nvSpPr>
        <p:spPr>
          <a:xfrm xmlns:a="http://schemas.openxmlformats.org/drawingml/2006/main">
            <a:off x="9191625" y="2657475"/>
            <a:ext cx="2571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2100" b="1">
                <a:solidFill>
                  <a:srgbClr val="008A46"/>
                </a:solidFill>
                <a:latin typeface="Arial"/>
                <a:ea typeface="Arial"/>
                <a:cs typeface="Arial"/>
              </a:defRPr>
            </a:pPr>
            <a:r>
              <a:rPr sz="2100" b="1">
                <a:solidFill>
                  <a:srgbClr val="008A46"/>
                </a:solidFill>
                <a:latin typeface="Arial"/>
                <a:ea typeface="Arial"/>
                <a:cs typeface="Arial"/>
              </a:rPr>
              <a:t>0.684 to 2.763</a:t>
            </a:r>
          </a:p>
        </p:txBody>
      </p:sp>
      <p:sp>
        <p:nvSpPr>
          <p:cNvPr id="239" name="gradient-reconstruction-rmse-label">
            <a:extLst xmlns:a="http://schemas.openxmlformats.org/drawingml/2006/main">
              <a:ext uri="{FF2B5EF4-FFF2-40B4-BE49-F238E27FC236}">
                <a16:creationId xmlns:a16="http://schemas.microsoft.com/office/drawing/2014/main" id="{5D1EB6B7-4BAC-42FA-B817-5A5C3FA401C6}"/>
              </a:ext>
            </a:extLst>
          </p:cNvPr>
          <p:cNvSpPr>
            <a:spLocks xmlns:a="http://schemas.openxmlformats.org/drawingml/2006/main" noGrp="1"/>
          </p:cNvSpPr>
          <p:nvPr/>
        </p:nvSpPr>
        <p:spPr>
          <a:xfrm xmlns:a="http://schemas.openxmlformats.org/drawingml/2006/main">
            <a:off x="9191625" y="3086100"/>
            <a:ext cx="257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576"/>
          </a:bodyPr>
          <a:lstStyle xmlns:a="http://schemas.openxmlformats.org/drawingml/2006/main"/>
          <a:p xmlns:a="http://schemas.openxmlformats.org/drawingml/2006/main">
            <a:pPr algn="ctr">
              <a:buNone/>
              <a:defRPr sz="1088" b="1">
                <a:solidFill>
                  <a:srgbClr val="123968"/>
                </a:solidFill>
                <a:latin typeface="Arial"/>
                <a:ea typeface="Arial"/>
                <a:cs typeface="Arial"/>
              </a:defRPr>
            </a:pPr>
            <a:r>
              <a:rPr sz="1088" b="1">
                <a:solidFill>
                  <a:srgbClr val="123968"/>
                </a:solidFill>
                <a:latin typeface="Arial"/>
                <a:ea typeface="Arial"/>
                <a:cs typeface="Arial"/>
              </a:rPr>
              <a:t>Reconstruction RMSE (300 steps)</a:t>
            </a:r>
          </a:p>
          <a:p xmlns:a="http://schemas.openxmlformats.org/drawingml/2006/main">
            <a:pPr algn="ctr">
              <a:buNone/>
              <a:defRPr sz="1088" b="1">
                <a:solidFill>
                  <a:srgbClr val="123968"/>
                </a:solidFill>
                <a:latin typeface="Arial"/>
                <a:ea typeface="Arial"/>
                <a:cs typeface="Arial"/>
              </a:defRPr>
            </a:pPr>
            <a:r>
              <a:rPr sz="1088" b="1">
                <a:solidFill>
                  <a:srgbClr val="123968"/>
                </a:solidFill>
                <a:latin typeface="Arial"/>
                <a:ea typeface="Arial"/>
                <a:cs typeface="Arial"/>
              </a:rPr>
              <a:t>Higher means less accurate recovery</a:t>
            </a:r>
          </a:p>
        </p:txBody>
      </p:sp>
      <p:pic>
        <p:nvPicPr>
          <p:cNvPr id="262" name="Picture 1"/>
          <p:cNvPicPr>
            <a:picLocks xmlns:a="http://schemas.openxmlformats.org/drawingml/2006/main" noChangeAspect="1"/>
          </p:cNvPicPr>
          <p:nvPr/>
        </p:nvPicPr>
        <p:blipFill>
          <a:blip xmlns:r="http://schemas.openxmlformats.org/officeDocument/2006/relationships" xmlns:a="http://schemas.openxmlformats.org/drawingml/2006/main" r:embed="R9286a93660434060"/>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1986240585"/>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6E90B73-F2C3-53A1-7B13-3555FC0B642C}"/>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Same-Protocol Comparison</a:t>
            </a:r>
            <a:endParaRPr/>
          </a:p>
        </p:txBody>
      </p:sp>
      <p:sp>
        <p:nvSpPr>
          <p:cNvPr id="212" name="Google Shape;212;p28">
            <a:extLst xmlns:a="http://schemas.openxmlformats.org/drawingml/2006/main">
              <a:ext uri="{FF2B5EF4-FFF2-40B4-BE49-F238E27FC236}">
                <a16:creationId xmlns:a16="http://schemas.microsoft.com/office/drawing/2014/main" id="{329DDF94-3FDB-C82D-677A-0954FAB0B9D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29</a:t>
            </a:r>
            <a:endParaRPr sz="2800"/>
          </a:p>
        </p:txBody>
      </p:sp>
      <p:pic>
        <p:nvPicPr>
          <p:cNvPr id="235"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3951cbe7c42a4e5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F8A4CD7-C5F7-3AFA-03D4-7EFB3D4151A6}"/>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table-caption-comparison">
            <a:extLst xmlns:a="http://schemas.openxmlformats.org/drawingml/2006/main">
              <a:ext uri="{FF2B5EF4-FFF2-40B4-BE49-F238E27FC236}">
                <a16:creationId xmlns:a16="http://schemas.microsoft.com/office/drawing/2014/main" id="{78FD406A-6BCF-4178-9769-D011AF2B62AD}"/>
              </a:ext>
            </a:extLst>
          </p:cNvPr>
          <p:cNvSpPr>
            <a:spLocks xmlns:a="http://schemas.openxmlformats.org/drawingml/2006/main" noGrp="1"/>
          </p:cNvSpPr>
          <p:nvPr/>
        </p:nvSpPr>
        <p:spPr>
          <a:xfrm xmlns:a="http://schemas.openxmlformats.org/drawingml/2006/main">
            <a:off x="619125" y="1143000"/>
            <a:ext cx="581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V. Five-seed same-protocol comparison</a:t>
            </a:r>
          </a:p>
        </p:txBody>
      </p:sp>
      <p:graphicFrame>
        <p:nvGraphicFramePr>
          <p:cNvPr id="238" name="Table 239"/>
          <p:cNvGraphicFramePr/>
          <p:nvPr/>
        </p:nvGraphicFramePr>
        <p:xfrm>
          <a:off xmlns:a="http://schemas.openxmlformats.org/drawingml/2006/main" x="428625" y="1571625"/>
          <a:ext xmlns:a="http://schemas.openxmlformats.org/drawingml/2006/main" cx="6191250" cy="3667128"/>
        </p:xfrm>
        <a:graphic xmlns:a="http://schemas.openxmlformats.org/drawingml/2006/main">
          <a:graphicData uri="http://schemas.openxmlformats.org/drawingml/2006/table">
            <a:tbl>
              <a:tblPr firstRow="1" bandRow="1"/>
              <a:tblGrid>
                <a:gridCol w="2381250"/>
                <a:gridCol w="1238250"/>
                <a:gridCol w="1238250"/>
                <a:gridCol w="1333500"/>
              </a:tblGrid>
              <a:tr h="611188">
                <a:tc>
                  <a:txBody>
                    <a:bodyPr/>
                    <a:lstStyle/>
                    <a:p>
                      <a:r>
                        <a:rPr sz="1275"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AUROC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AUPRC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Upload (MiB)</a:t>
                      </a:r>
                    </a:p>
                  </a:txBody>
                  <a:tcPr marL="66675" marR="66675" marT="47625" marB="47625" anchor="ctr">
                    <a:solidFill>
                      <a:srgbClr val="17365D"/>
                    </a:solidFill>
                  </a:tcPr>
                </a:tc>
              </a:tr>
              <a:tr h="611188">
                <a:tc>
                  <a:txBody>
                    <a:bodyPr/>
                    <a:lstStyle/>
                    <a:p>
                      <a:r>
                        <a:rPr sz="1238">
                          <a:solidFill>
                            <a:srgbClr val="1F2937"/>
                          </a:solidFill>
                          <a:latin typeface="Arial"/>
                          <a:ea typeface="Arial"/>
                          <a:cs typeface="Arial"/>
                        </a:rPr>
                        <a:t>DP-</a:t>
                      </a:r>
                      <a:r>
                        <a:rPr sz="1238">
                          <a:solidFill>
                            <a:srgbClr val="1F2937"/>
                          </a:solidFill>
                          <a:latin typeface="Arial"/>
                          <a:ea typeface="Arial"/>
                          <a:cs typeface="Arial"/>
                        </a:rPr>
                        <a:t>FedAvg</a:t>
                      </a:r>
                      <a:r>
                        <a:rPr sz="1238">
                          <a:solidFill>
                            <a:srgbClr val="1F2937"/>
                          </a:solidFill>
                          <a:latin typeface="Arial"/>
                          <a:ea typeface="Arial"/>
                          <a:cs typeface="Arial"/>
                        </a:rPr>
                        <a:t>-CKKS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0.394</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b="1">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238" b="1">
                          <a:solidFill>
                            <a:srgbClr val="1F2937"/>
                          </a:solidFill>
                          <a:latin typeface="Arial"/>
                          <a:ea typeface="Arial"/>
                          <a:cs typeface="Arial"/>
                        </a:rPr>
                        <a:t>0.730</a:t>
                      </a:r>
                    </a:p>
                  </a:txBody>
                  <a:tcPr marL="66675" marR="66675" marT="47625" marB="47625" anchor="ctr">
                    <a:solidFill>
                      <a:srgbClr val="FFFFFF"/>
                    </a:solidFill>
                  </a:tcPr>
                </a:tc>
                <a:tc>
                  <a:txBody>
                    <a:bodyPr/>
                    <a:lstStyle/>
                    <a:p>
                      <a:r>
                        <a:rPr sz="1238" b="1">
                          <a:solidFill>
                            <a:srgbClr val="1F2937"/>
                          </a:solidFill>
                          <a:latin typeface="Arial"/>
                          <a:ea typeface="Arial"/>
                          <a:cs typeface="Arial"/>
                        </a:rPr>
                        <a:t>0.384</a:t>
                      </a:r>
                    </a:p>
                  </a:txBody>
                  <a:tcPr marL="66675" marR="66675" marT="47625" marB="47625" anchor="ctr">
                    <a:solidFill>
                      <a:srgbClr val="FFFFFF"/>
                    </a:solidFill>
                  </a:tcPr>
                </a:tc>
                <a:tc>
                  <a:txBody>
                    <a:bodyPr/>
                    <a:lstStyle/>
                    <a:p>
                      <a:r>
                        <a:rPr sz="1238" b="1">
                          <a:solidFill>
                            <a:srgbClr val="1F2937"/>
                          </a:solidFill>
                          <a:latin typeface="Arial"/>
                          <a:ea typeface="Arial"/>
                          <a:cs typeface="Arial"/>
                        </a:rPr>
                        <a:t>27.81</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0.395</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Fed-EF-AMS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0.732</a:t>
                      </a:r>
                    </a:p>
                  </a:txBody>
                  <a:tcPr marL="66675" marR="66675" marT="47625" marB="47625" anchor="ctr">
                    <a:solidFill>
                      <a:srgbClr val="FFFFFF"/>
                    </a:solidFill>
                  </a:tcPr>
                </a:tc>
                <a:tc>
                  <a:txBody>
                    <a:bodyPr/>
                    <a:lstStyle/>
                    <a:p>
                      <a:r>
                        <a:rPr sz="1238">
                          <a:solidFill>
                            <a:srgbClr val="1F2937"/>
                          </a:solidFill>
                          <a:latin typeface="Arial"/>
                          <a:ea typeface="Arial"/>
                          <a:cs typeface="Arial"/>
                        </a:rPr>
                        <a:t>0.341</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SoteriaFL-SGD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0.727</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0.392</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63.21</a:t>
                      </a:r>
                    </a:p>
                  </a:txBody>
                  <a:tcPr marL="66675" marR="66675" marT="47625" marB="47625" anchor="ctr">
                    <a:solidFill>
                      <a:srgbClr val="FFFFFF"/>
                    </a:solidFill>
                  </a:tcPr>
                </a:tc>
              </a:tr>
            </a:tbl>
          </a:graphicData>
        </a:graphic>
      </p:graphicFrame>
      <p:graphicFrame>
        <p:nvGraphicFramePr>
          <p:cNvPr id="239" name="Chart"/>
          <p:cNvGraphicFramePr/>
          <p:nvPr/>
        </p:nvGraphicFramePr>
        <p:xfrm>
          <a:off xmlns:a="http://schemas.openxmlformats.org/drawingml/2006/main" x="6905625" y="1476375"/>
          <a:ext xmlns:a="http://schemas.openxmlformats.org/drawingml/2006/main" cx="4762500" cy="3810000"/>
        </p:xfrm>
        <a:graphic xmlns:a="http://schemas.openxmlformats.org/drawingml/2006/main">
          <a:graphicData uri="http://schemas.openxmlformats.org/drawingml/2006/chart">
            <c:chart xmlns:r="http://schemas.openxmlformats.org/officeDocument/2006/relationships" xmlns:c="http://schemas.openxmlformats.org/drawingml/2006/chart" r:id="R652e2562f9c84cf9"/>
          </a:graphicData>
        </a:graphic>
      </p:graphicFrame>
      <p:sp>
        <p:nvSpPr>
          <p:cNvPr id="223" name="comparison-note">
            <a:extLst xmlns:a="http://schemas.openxmlformats.org/drawingml/2006/main">
              <a:ext uri="{FF2B5EF4-FFF2-40B4-BE49-F238E27FC236}">
                <a16:creationId xmlns:a16="http://schemas.microsoft.com/office/drawing/2014/main" id="{4359A255-8DEF-4094-838B-EFAE84812294}"/>
              </a:ext>
            </a:extLst>
          </p:cNvPr>
          <p:cNvSpPr>
            <a:spLocks xmlns:a="http://schemas.openxmlformats.org/drawingml/2006/main" noGrp="1"/>
          </p:cNvSpPr>
          <p:nvPr/>
        </p:nvSpPr>
        <p:spPr>
          <a:xfrm xmlns:a="http://schemas.openxmlformats.org/drawingml/2006/main">
            <a:off x="1047750" y="5476875"/>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Only CAABC-FL converted compression into a material serialized CKKS upload saving.</a:t>
            </a:r>
          </a:p>
        </p:txBody>
      </p:sp>
      <p:sp>
        <p:nvSpPr>
          <p:cNvPr id="228" name="visible-footer-date-21">
            <a:extLst xmlns:a="http://schemas.openxmlformats.org/drawingml/2006/main">
              <a:ext uri="{FF2B5EF4-FFF2-40B4-BE49-F238E27FC236}">
                <a16:creationId xmlns:a16="http://schemas.microsoft.com/office/drawing/2014/main" id="{947B7AE5-8DFC-4CBC-90D6-BF20E0CA27DB}"/>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42" name="Picture 1"/>
          <p:cNvPicPr>
            <a:picLocks xmlns:a="http://schemas.openxmlformats.org/drawingml/2006/main" noChangeAspect="1"/>
          </p:cNvPicPr>
          <p:nvPr/>
        </p:nvPicPr>
        <p:blipFill>
          <a:blip xmlns:r="http://schemas.openxmlformats.org/officeDocument/2006/relationships" xmlns:a="http://schemas.openxmlformats.org/drawingml/2006/main" r:embed="R20ad8f81e5c7414d"/>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3417829261"/>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EBD26CE-42E7-A335-8292-6E657AEDDA37}"/>
              </a:ext>
            </a:extLst>
          </p:cNvPr>
          <p:cNvSpPr>
            <a:spLocks xmlns:a="http://schemas.openxmlformats.org/drawingml/2006/main" noGrp="1"/>
          </p:cNvSpPr>
          <p:nvPr>
            <p:ph type="title" idx="0"/>
          </p:nvPr>
        </p:nvSpPr>
        <p:spPr>
          <a:xfrm xmlns:a="http://schemas.openxmlformats.org/drawingml/2006/main">
            <a:off x="1892046" y="366833"/>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9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Privacy, Poisoning and Systems Performance</a:t>
            </a:r>
            <a:endParaRPr/>
          </a:p>
        </p:txBody>
      </p:sp>
      <p:sp>
        <p:nvSpPr>
          <p:cNvPr id="212" name="Google Shape;212;p28">
            <a:extLst xmlns:a="http://schemas.openxmlformats.org/drawingml/2006/main">
              <a:ext uri="{FF2B5EF4-FFF2-40B4-BE49-F238E27FC236}">
                <a16:creationId xmlns:a16="http://schemas.microsoft.com/office/drawing/2014/main" id="{F0383842-FFA2-4244-D4A7-5EBBE73A3CD4}"/>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30</a:t>
            </a:r>
            <a:endParaRPr sz="2800"/>
          </a:p>
        </p:txBody>
      </p:sp>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910784829db649b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AC7F58F-7858-E83B-ED46-884D28D5F233}"/>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pic>
        <p:nvPicPr>
          <p:cNvPr id="238" name="Picture 239"/>
          <p:cNvPicPr>
            <a:picLocks xmlns:a="http://schemas.openxmlformats.org/drawingml/2006/main" noChangeAspect="1"/>
          </p:cNvPicPr>
          <p:nvPr/>
        </p:nvPicPr>
        <p:blipFill>
          <a:blip xmlns:r="http://schemas.openxmlformats.org/officeDocument/2006/relationships" xmlns:a="http://schemas.openxmlformats.org/drawingml/2006/main" r:embed="R61cb52274df44a18"/>
          <a:stretch xmlns:a="http://schemas.openxmlformats.org/drawingml/2006/main"/>
        </p:blipFill>
        <p:spPr>
          <a:xfrm xmlns:a="http://schemas.openxmlformats.org/drawingml/2006/main">
            <a:off x="428625" y="1666462"/>
            <a:ext cx="5476875" cy="2763076"/>
          </a:xfrm>
          <a:prstGeom xmlns:a="http://schemas.openxmlformats.org/drawingml/2006/main" prst="rect">
            <a:avLst/>
          </a:prstGeom>
        </p:spPr>
      </p:pic>
      <p:pic>
        <p:nvPicPr>
          <p:cNvPr id="239" name="Picture 240"/>
          <p:cNvPicPr>
            <a:picLocks xmlns:a="http://schemas.openxmlformats.org/drawingml/2006/main" noChangeAspect="1"/>
          </p:cNvPicPr>
          <p:nvPr/>
        </p:nvPicPr>
        <p:blipFill>
          <a:blip xmlns:r="http://schemas.openxmlformats.org/officeDocument/2006/relationships" xmlns:a="http://schemas.openxmlformats.org/drawingml/2006/main" r:embed="R6ed8ec2cfc7e480f"/>
          <a:stretch xmlns:a="http://schemas.openxmlformats.org/drawingml/2006/main"/>
        </p:blipFill>
        <p:spPr>
          <a:xfrm xmlns:a="http://schemas.openxmlformats.org/drawingml/2006/main">
            <a:off x="6217004" y="1238250"/>
            <a:ext cx="5520616" cy="3619500"/>
          </a:xfrm>
          <a:prstGeom xmlns:a="http://schemas.openxmlformats.org/drawingml/2006/main" prst="rect">
            <a:avLst/>
          </a:prstGeom>
        </p:spPr>
      </p:pic>
      <p:sp>
        <p:nvSpPr>
          <p:cNvPr id="222" name="privacy-caption">
            <a:extLst xmlns:a="http://schemas.openxmlformats.org/drawingml/2006/main">
              <a:ext uri="{FF2B5EF4-FFF2-40B4-BE49-F238E27FC236}">
                <a16:creationId xmlns:a16="http://schemas.microsoft.com/office/drawing/2014/main" id="{9FE689F8-DBEE-43EB-A250-5B6E19B44C94}"/>
              </a:ext>
            </a:extLst>
          </p:cNvPr>
          <p:cNvSpPr>
            <a:spLocks xmlns:a="http://schemas.openxmlformats.org/drawingml/2006/main" noGrp="1"/>
          </p:cNvSpPr>
          <p:nvPr/>
        </p:nvSpPr>
        <p:spPr>
          <a:xfrm xmlns:a="http://schemas.openxmlformats.org/drawingml/2006/main">
            <a:off x="571500" y="4857750"/>
            <a:ext cx="5191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2. Membership-inference diagnostics. Values near 0.5 indicate chance-level discrimination.</a:t>
            </a:r>
          </a:p>
        </p:txBody>
      </p:sp>
      <p:sp>
        <p:nvSpPr>
          <p:cNvPr id="223" name="poison-caption">
            <a:extLst xmlns:a="http://schemas.openxmlformats.org/drawingml/2006/main">
              <a:ext uri="{FF2B5EF4-FFF2-40B4-BE49-F238E27FC236}">
                <a16:creationId xmlns:a16="http://schemas.microsoft.com/office/drawing/2014/main" id="{2256AF0E-6549-4BCA-9BBE-3D443185F89B}"/>
              </a:ext>
            </a:extLst>
          </p:cNvPr>
          <p:cNvSpPr>
            <a:spLocks xmlns:a="http://schemas.openxmlformats.org/drawingml/2006/main" noGrp="1"/>
          </p:cNvSpPr>
          <p:nvPr/>
        </p:nvSpPr>
        <p:spPr>
          <a:xfrm xmlns:a="http://schemas.openxmlformats.org/drawingml/2006/main">
            <a:off x="6334125" y="4857750"/>
            <a:ext cx="5286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3. Mean paired AUROC change at 40% malicious clients. More negative values indicate greater damage.</a:t>
            </a:r>
          </a:p>
        </p:txBody>
      </p:sp>
      <p:sp>
        <p:nvSpPr>
          <p:cNvPr id="224" name="systems-summary">
            <a:extLst xmlns:a="http://schemas.openxmlformats.org/drawingml/2006/main">
              <a:ext uri="{FF2B5EF4-FFF2-40B4-BE49-F238E27FC236}">
                <a16:creationId xmlns:a16="http://schemas.microsoft.com/office/drawing/2014/main" id="{DE003543-2634-4122-A61F-A3DE15EBCEFC}"/>
              </a:ext>
            </a:extLst>
          </p:cNvPr>
          <p:cNvSpPr>
            <a:spLocks xmlns:a="http://schemas.openxmlformats.org/drawingml/2006/main" noGrp="1"/>
          </p:cNvSpPr>
          <p:nvPr/>
        </p:nvSpPr>
        <p:spPr>
          <a:xfrm xmlns:a="http://schemas.openxmlformats.org/drawingml/2006/main">
            <a:off x="1095375" y="5524500"/>
            <a:ext cx="1000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746" lnSpcReduction="10000"/>
          </a:bodyPr>
          <a:lstStyle xmlns:a="http://schemas.openxmlformats.org/drawingml/2006/main"/>
          <a:p xmlns:a="http://schemas.openxmlformats.org/drawingml/2006/main">
            <a:pPr algn="ctr">
              <a:buNone/>
              <a:defRPr sz="1538" b="1" i="0">
                <a:solidFill>
                  <a:srgbClr val="17365D"/>
                </a:solidFill>
                <a:latin typeface="Arial"/>
                <a:ea typeface="Arial"/>
                <a:cs typeface="Arial"/>
              </a:defRPr>
            </a:pPr>
            <a:r>
              <a:rPr sz="1538" b="1" i="0">
                <a:solidFill>
                  <a:srgbClr val="17365D"/>
                </a:solidFill>
                <a:latin typeface="Arial"/>
                <a:ea typeface="Arial"/>
                <a:cs typeface="Arial"/>
              </a:rPr>
              <a:t>System evidence: 16-client CKKS upload 25.28 MiB, end-to-end latency 7.080 s, and verified 3-of-3 OpenFHE correctness. These tests do not establish WAN or dropout-tolerant production performance.</a:t>
            </a:r>
          </a:p>
        </p:txBody>
      </p:sp>
      <p:sp>
        <p:nvSpPr>
          <p:cNvPr id="229" name="visible-footer-date-22">
            <a:extLst xmlns:a="http://schemas.openxmlformats.org/drawingml/2006/main">
              <a:ext uri="{FF2B5EF4-FFF2-40B4-BE49-F238E27FC236}">
                <a16:creationId xmlns:a16="http://schemas.microsoft.com/office/drawing/2014/main" id="{70C5A8A9-35E4-4ACA-9FE6-F5D3E9EE31A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44" name="Picture 1"/>
          <p:cNvPicPr>
            <a:picLocks xmlns:a="http://schemas.openxmlformats.org/drawingml/2006/main" noChangeAspect="1"/>
          </p:cNvPicPr>
          <p:nvPr/>
        </p:nvPicPr>
        <p:blipFill>
          <a:blip xmlns:r="http://schemas.openxmlformats.org/officeDocument/2006/relationships" xmlns:a="http://schemas.openxmlformats.org/drawingml/2006/main" r:embed="R594817496ec141b5"/>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3436405984"/>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pic>
        <p:nvPicPr>
          <p:cNvPr id="765" name="Google Shape;521;p52"/>
          <p:cNvPicPr>
            <a:picLocks xmlns:a="http://schemas.openxmlformats.org/drawingml/2006/main" noChangeAspect="1"/>
          </p:cNvPicPr>
          <p:nvPr/>
        </p:nvPicPr>
        <p:blipFill rotWithShape="1">
          <a:blip xmlns:r="http://schemas.openxmlformats.org/officeDocument/2006/relationships" xmlns:a="http://schemas.openxmlformats.org/drawingml/2006/main" r:embed="R1549d1ecf1e24cf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766" name="Google Shape;522;p52"/>
          <p:cNvPicPr>
            <a:picLocks xmlns:a="http://schemas.openxmlformats.org/drawingml/2006/main" noChangeAspect="1"/>
          </p:cNvPicPr>
          <p:nvPr/>
        </p:nvPicPr>
        <p:blipFill rotWithShape="1">
          <a:blip xmlns:r="http://schemas.openxmlformats.org/officeDocument/2006/relationships" xmlns:a="http://schemas.openxmlformats.org/drawingml/2006/main" r:embed="Rb3e028e1824b4a35">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523" name="Google Shape;523;p52">
            <a:extLst xmlns:a="http://schemas.openxmlformats.org/drawingml/2006/main">
              <a:ext uri="{FF2B5EF4-FFF2-40B4-BE49-F238E27FC236}">
                <a16:creationId xmlns:a16="http://schemas.microsoft.com/office/drawing/2014/main" id="{5BEFE073-EE09-4104-A7BE-8EE711AE965F}"/>
              </a:ext>
            </a:extLst>
          </p:cNvPr>
          <p:cNvSpPr>
            <a:spLocks xmlns:a="http://schemas.openxmlformats.org/drawingml/2006/main" noGrp="1"/>
          </p:cNvSpPr>
          <p:nvPr>
            <p:ph type="title" idx="0"/>
          </p:nvPr>
        </p:nvSpPr>
        <p:spPr>
          <a:xfrm xmlns:a="http://schemas.openxmlformats.org/drawingml/2006/main">
            <a:off x="1047745" y="4410315"/>
            <a:ext cx="9675673"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Conclusion</a:t>
            </a:r>
            <a:endParaRPr/>
          </a:p>
        </p:txBody>
      </p:sp>
      <p:pic>
        <p:nvPicPr>
          <p:cNvPr id="768" name="Google Shape;524;p52"/>
          <p:cNvPicPr>
            <a:picLocks xmlns:a="http://schemas.openxmlformats.org/drawingml/2006/main" noChangeAspect="1"/>
          </p:cNvPicPr>
          <p:nvPr/>
        </p:nvPicPr>
        <p:blipFill rotWithShape="1">
          <a:blip xmlns:r="http://schemas.openxmlformats.org/officeDocument/2006/relationships" xmlns:a="http://schemas.openxmlformats.org/drawingml/2006/main" r:embed="Re65da5c1272345f0">
            <a:alphaModFix/>
          </a:blip>
          <a:srcRect xmlns:a="http://schemas.openxmlformats.org/drawingml/2006/main" l="0" t="0" r="0" b="0"/>
          <a:stretch xmlns:a="http://schemas.openxmlformats.org/drawingml/2006/main"/>
        </p:blipFill>
        <p:spPr>
          <a:xfrm xmlns:a="http://schemas.openxmlformats.org/drawingml/2006/main">
            <a:off x="4662664" y="1409347"/>
            <a:ext cx="2866672" cy="2866672"/>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cxnSp>
        <p:nvCxnSpPr>
          <p:cNvPr id="769"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 name="Google Shape;216;p28">
            <a:extLst xmlns:a="http://schemas.openxmlformats.org/drawingml/2006/main">
              <a:ext uri="{FF2B5EF4-FFF2-40B4-BE49-F238E27FC236}">
                <a16:creationId xmlns:a16="http://schemas.microsoft.com/office/drawing/2014/main" id="{7DBA4BD6-77AB-D07E-A6E8-7C8CBE15257B}"/>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4" name="Google Shape;212;p28">
            <a:extLst xmlns:a="http://schemas.openxmlformats.org/drawingml/2006/main">
              <a:ext uri="{FF2B5EF4-FFF2-40B4-BE49-F238E27FC236}">
                <a16:creationId xmlns:a16="http://schemas.microsoft.com/office/drawing/2014/main" id="{BC4D2D4B-B4D3-EB5F-77A1-B175A9873E5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31</a:t>
            </a:r>
            <a:endParaRPr sz="2800"/>
          </a:p>
        </p:txBody>
      </p:sp>
      <p:sp>
        <p:nvSpPr>
          <p:cNvPr id="543" name="visible-footer-date-23">
            <a:extLst xmlns:a="http://schemas.openxmlformats.org/drawingml/2006/main">
              <a:ext uri="{FF2B5EF4-FFF2-40B4-BE49-F238E27FC236}">
                <a16:creationId xmlns:a16="http://schemas.microsoft.com/office/drawing/2014/main" id="{CD5C7620-55DD-4ED4-8FBA-BCF7F34BB34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773" name="Picture 1"/>
          <p:cNvPicPr>
            <a:picLocks xmlns:a="http://schemas.openxmlformats.org/drawingml/2006/main" noChangeAspect="1"/>
          </p:cNvPicPr>
          <p:nvPr/>
        </p:nvPicPr>
        <p:blipFill>
          <a:blip xmlns:r="http://schemas.openxmlformats.org/officeDocument/2006/relationships" xmlns:a="http://schemas.openxmlformats.org/drawingml/2006/main" r:embed="Rcbf614a736d4462e"/>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1675858018"/>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0E81DA35-E830-0E70-0FAC-BB25692B1391}"/>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Summary of Key Findings</a:t>
            </a:r>
            <a:endParaRPr/>
          </a:p>
        </p:txBody>
      </p:sp>
      <p:sp>
        <p:nvSpPr>
          <p:cNvPr id="212" name="Google Shape;212;p28">
            <a:extLst xmlns:a="http://schemas.openxmlformats.org/drawingml/2006/main">
              <a:ext uri="{FF2B5EF4-FFF2-40B4-BE49-F238E27FC236}">
                <a16:creationId xmlns:a16="http://schemas.microsoft.com/office/drawing/2014/main" id="{0339D4F0-DDFA-B188-A7AE-DB1F9883C189}"/>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32</a:t>
            </a:r>
            <a:endParaRPr sz="2800"/>
          </a:p>
        </p:txBody>
      </p:sp>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3f0e0de5204d4a1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17EF49E2-6D37-5982-5793-B7ED3CAA0F2A}"/>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summary-objective-0">
            <a:extLst xmlns:a="http://schemas.openxmlformats.org/drawingml/2006/main">
              <a:ext uri="{FF2B5EF4-FFF2-40B4-BE49-F238E27FC236}">
                <a16:creationId xmlns:a16="http://schemas.microsoft.com/office/drawing/2014/main" id="{78880B25-0CCF-4207-9281-BC7FCC98EDDE}"/>
              </a:ext>
            </a:extLst>
          </p:cNvPr>
          <p:cNvSpPr>
            <a:spLocks xmlns:a="http://schemas.openxmlformats.org/drawingml/2006/main" noGrp="1"/>
          </p:cNvSpPr>
          <p:nvPr/>
        </p:nvSpPr>
        <p:spPr>
          <a:xfrm xmlns:a="http://schemas.openxmlformats.org/drawingml/2006/main">
            <a:off x="952500" y="14763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1</a:t>
            </a:r>
          </a:p>
        </p:txBody>
      </p:sp>
      <p:sp>
        <p:nvSpPr>
          <p:cNvPr id="221" name="summary-status-0">
            <a:extLst xmlns:a="http://schemas.openxmlformats.org/drawingml/2006/main">
              <a:ext uri="{FF2B5EF4-FFF2-40B4-BE49-F238E27FC236}">
                <a16:creationId xmlns:a16="http://schemas.microsoft.com/office/drawing/2014/main" id="{4E67885F-049A-4749-B3F3-D0EA7A5D9DA6}"/>
              </a:ext>
            </a:extLst>
          </p:cNvPr>
          <p:cNvSpPr>
            <a:spLocks xmlns:a="http://schemas.openxmlformats.org/drawingml/2006/main" noGrp="1"/>
          </p:cNvSpPr>
          <p:nvPr/>
        </p:nvSpPr>
        <p:spPr>
          <a:xfrm xmlns:a="http://schemas.openxmlformats.org/drawingml/2006/main">
            <a:off x="3000375" y="14763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2" name="summary-evidence-0">
            <a:extLst xmlns:a="http://schemas.openxmlformats.org/drawingml/2006/main">
              <a:ext uri="{FF2B5EF4-FFF2-40B4-BE49-F238E27FC236}">
                <a16:creationId xmlns:a16="http://schemas.microsoft.com/office/drawing/2014/main" id="{FAD254E6-9B81-4D8E-8F01-67AA01A5AA7A}"/>
              </a:ext>
            </a:extLst>
          </p:cNvPr>
          <p:cNvSpPr>
            <a:spLocks xmlns:a="http://schemas.openxmlformats.org/drawingml/2006/main" noGrp="1"/>
          </p:cNvSpPr>
          <p:nvPr/>
        </p:nvSpPr>
        <p:spPr>
          <a:xfrm xmlns:a="http://schemas.openxmlformats.org/drawingml/2006/main">
            <a:off x="5381625" y="14287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Implemented the layered privacy, encrypted aggregation, verification, release, and audit workflow.</a:t>
            </a:r>
          </a:p>
        </p:txBody>
      </p:sp>
      <p:sp>
        <p:nvSpPr>
          <p:cNvPr id="223" name="rule-100-247">
            <a:extLst xmlns:a="http://schemas.openxmlformats.org/drawingml/2006/main">
              <a:ext uri="{FF2B5EF4-FFF2-40B4-BE49-F238E27FC236}">
                <a16:creationId xmlns:a16="http://schemas.microsoft.com/office/drawing/2014/main" id="{9DEEFB91-E5DC-4755-8E44-5433891E2517}"/>
              </a:ext>
            </a:extLst>
          </p:cNvPr>
          <p:cNvSpPr>
            <a:spLocks xmlns:a="http://schemas.openxmlformats.org/drawingml/2006/main" noGrp="1"/>
          </p:cNvSpPr>
          <p:nvPr/>
        </p:nvSpPr>
        <p:spPr>
          <a:xfrm xmlns:a="http://schemas.openxmlformats.org/drawingml/2006/main">
            <a:off x="952500" y="23526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4" name="summary-objective-1">
            <a:extLst xmlns:a="http://schemas.openxmlformats.org/drawingml/2006/main">
              <a:ext uri="{FF2B5EF4-FFF2-40B4-BE49-F238E27FC236}">
                <a16:creationId xmlns:a16="http://schemas.microsoft.com/office/drawing/2014/main" id="{76CA895B-DF34-4C00-AAD5-580BBDEC2F4C}"/>
              </a:ext>
            </a:extLst>
          </p:cNvPr>
          <p:cNvSpPr>
            <a:spLocks xmlns:a="http://schemas.openxmlformats.org/drawingml/2006/main" noGrp="1"/>
          </p:cNvSpPr>
          <p:nvPr/>
        </p:nvSpPr>
        <p:spPr>
          <a:xfrm xmlns:a="http://schemas.openxmlformats.org/drawingml/2006/main">
            <a:off x="952500" y="290512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2</a:t>
            </a:r>
          </a:p>
        </p:txBody>
      </p:sp>
      <p:sp>
        <p:nvSpPr>
          <p:cNvPr id="225" name="summary-status-1">
            <a:extLst xmlns:a="http://schemas.openxmlformats.org/drawingml/2006/main">
              <a:ext uri="{FF2B5EF4-FFF2-40B4-BE49-F238E27FC236}">
                <a16:creationId xmlns:a16="http://schemas.microsoft.com/office/drawing/2014/main" id="{98A2AEC9-1016-4953-8F74-56E2D3AB154D}"/>
              </a:ext>
            </a:extLst>
          </p:cNvPr>
          <p:cNvSpPr>
            <a:spLocks xmlns:a="http://schemas.openxmlformats.org/drawingml/2006/main" noGrp="1"/>
          </p:cNvSpPr>
          <p:nvPr/>
        </p:nvSpPr>
        <p:spPr>
          <a:xfrm xmlns:a="http://schemas.openxmlformats.org/drawingml/2006/main">
            <a:off x="3000375" y="290512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6" name="summary-evidence-1">
            <a:extLst xmlns:a="http://schemas.openxmlformats.org/drawingml/2006/main">
              <a:ext uri="{FF2B5EF4-FFF2-40B4-BE49-F238E27FC236}">
                <a16:creationId xmlns:a16="http://schemas.microsoft.com/office/drawing/2014/main" id="{283AE25D-E5C5-46E5-8ED9-7D04CD2194A4}"/>
              </a:ext>
            </a:extLst>
          </p:cNvPr>
          <p:cNvSpPr>
            <a:spLocks xmlns:a="http://schemas.openxmlformats.org/drawingml/2006/main" noGrp="1"/>
          </p:cNvSpPr>
          <p:nvPr/>
        </p:nvSpPr>
        <p:spPr>
          <a:xfrm xmlns:a="http://schemas.openxmlformats.org/drawingml/2006/main">
            <a:off x="5381625" y="285750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CAABC-FL reduced measured encrypted upload by 55.998% with an AUROC non-inferiority result.</a:t>
            </a:r>
          </a:p>
        </p:txBody>
      </p:sp>
      <p:sp>
        <p:nvSpPr>
          <p:cNvPr id="227" name="rule-100-397">
            <a:extLst xmlns:a="http://schemas.openxmlformats.org/drawingml/2006/main">
              <a:ext uri="{FF2B5EF4-FFF2-40B4-BE49-F238E27FC236}">
                <a16:creationId xmlns:a16="http://schemas.microsoft.com/office/drawing/2014/main" id="{F0F9BF1B-C1C9-4A4F-BAC9-F457B5310B22}"/>
              </a:ext>
            </a:extLst>
          </p:cNvPr>
          <p:cNvSpPr>
            <a:spLocks xmlns:a="http://schemas.openxmlformats.org/drawingml/2006/main" noGrp="1"/>
          </p:cNvSpPr>
          <p:nvPr/>
        </p:nvSpPr>
        <p:spPr>
          <a:xfrm xmlns:a="http://schemas.openxmlformats.org/drawingml/2006/main">
            <a:off x="952500" y="378142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8" name="summary-objective-2">
            <a:extLst xmlns:a="http://schemas.openxmlformats.org/drawingml/2006/main">
              <a:ext uri="{FF2B5EF4-FFF2-40B4-BE49-F238E27FC236}">
                <a16:creationId xmlns:a16="http://schemas.microsoft.com/office/drawing/2014/main" id="{2FF0C7F1-CA05-4515-B46A-CED9E1D78F46}"/>
              </a:ext>
            </a:extLst>
          </p:cNvPr>
          <p:cNvSpPr>
            <a:spLocks xmlns:a="http://schemas.openxmlformats.org/drawingml/2006/main" noGrp="1"/>
          </p:cNvSpPr>
          <p:nvPr/>
        </p:nvSpPr>
        <p:spPr>
          <a:xfrm xmlns:a="http://schemas.openxmlformats.org/drawingml/2006/main">
            <a:off x="952500" y="43338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3</a:t>
            </a:r>
          </a:p>
        </p:txBody>
      </p:sp>
      <p:sp>
        <p:nvSpPr>
          <p:cNvPr id="229" name="summary-status-2">
            <a:extLst xmlns:a="http://schemas.openxmlformats.org/drawingml/2006/main">
              <a:ext uri="{FF2B5EF4-FFF2-40B4-BE49-F238E27FC236}">
                <a16:creationId xmlns:a16="http://schemas.microsoft.com/office/drawing/2014/main" id="{9104D8D9-D695-42EB-B0E3-104D3B6756F7}"/>
              </a:ext>
            </a:extLst>
          </p:cNvPr>
          <p:cNvSpPr>
            <a:spLocks xmlns:a="http://schemas.openxmlformats.org/drawingml/2006/main" noGrp="1"/>
          </p:cNvSpPr>
          <p:nvPr/>
        </p:nvSpPr>
        <p:spPr>
          <a:xfrm xmlns:a="http://schemas.openxmlformats.org/drawingml/2006/main">
            <a:off x="3000375" y="43338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833" lnSpcReduction="10000"/>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 within scope</a:t>
            </a:r>
          </a:p>
        </p:txBody>
      </p:sp>
      <p:sp>
        <p:nvSpPr>
          <p:cNvPr id="230" name="summary-evidence-2">
            <a:extLst xmlns:a="http://schemas.openxmlformats.org/drawingml/2006/main">
              <a:ext uri="{FF2B5EF4-FFF2-40B4-BE49-F238E27FC236}">
                <a16:creationId xmlns:a16="http://schemas.microsoft.com/office/drawing/2014/main" id="{E6AE9D9D-4E64-4F0D-A042-911D9CB29ADC}"/>
              </a:ext>
            </a:extLst>
          </p:cNvPr>
          <p:cNvSpPr>
            <a:spLocks xmlns:a="http://schemas.openxmlformats.org/drawingml/2006/main" noGrp="1"/>
          </p:cNvSpPr>
          <p:nvPr/>
        </p:nvSpPr>
        <p:spPr>
          <a:xfrm xmlns:a="http://schemas.openxmlformats.org/drawingml/2006/main">
            <a:off x="5381625" y="42862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Completed same-protocol utility, privacy, poisoning, cryptographic, and system evaluations.</a:t>
            </a:r>
          </a:p>
        </p:txBody>
      </p:sp>
      <p:sp>
        <p:nvSpPr>
          <p:cNvPr id="231" name="rule-100-547">
            <a:extLst xmlns:a="http://schemas.openxmlformats.org/drawingml/2006/main">
              <a:ext uri="{FF2B5EF4-FFF2-40B4-BE49-F238E27FC236}">
                <a16:creationId xmlns:a16="http://schemas.microsoft.com/office/drawing/2014/main" id="{3FAE6C79-8547-40D2-AC6B-F1B7396E6FC3}"/>
              </a:ext>
            </a:extLst>
          </p:cNvPr>
          <p:cNvSpPr>
            <a:spLocks xmlns:a="http://schemas.openxmlformats.org/drawingml/2006/main" noGrp="1"/>
          </p:cNvSpPr>
          <p:nvPr/>
        </p:nvSpPr>
        <p:spPr>
          <a:xfrm xmlns:a="http://schemas.openxmlformats.org/drawingml/2006/main">
            <a:off x="952500" y="52101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summary-boundary">
            <a:extLst xmlns:a="http://schemas.openxmlformats.org/drawingml/2006/main">
              <a:ext uri="{FF2B5EF4-FFF2-40B4-BE49-F238E27FC236}">
                <a16:creationId xmlns:a16="http://schemas.microsoft.com/office/drawing/2014/main" id="{EA6F3D57-D308-4322-BBE9-0639FDB2D524}"/>
              </a:ext>
            </a:extLst>
          </p:cNvPr>
          <p:cNvSpPr>
            <a:spLocks xmlns:a="http://schemas.openxmlformats.org/drawingml/2006/main" noGrp="1"/>
          </p:cNvSpPr>
          <p:nvPr/>
        </p:nvSpPr>
        <p:spPr>
          <a:xfrm xmlns:a="http://schemas.openxmlformats.org/drawingml/2006/main">
            <a:off x="1190625" y="5381625"/>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051"/>
          </a:bodyPr>
          <a:lstStyle xmlns:a="http://schemas.openxmlformats.org/drawingml/2006/main"/>
          <a:p xmlns:a="http://schemas.openxmlformats.org/drawingml/2006/main">
            <a:pPr algn="ctr">
              <a:buNone/>
              <a:defRPr sz="1688" b="1" i="0">
                <a:solidFill>
                  <a:srgbClr val="17365D"/>
                </a:solidFill>
                <a:latin typeface="Arial"/>
                <a:ea typeface="Arial"/>
                <a:cs typeface="Arial"/>
              </a:defRPr>
            </a:pPr>
            <a:r>
              <a:rPr sz="1688" b="1" i="0">
                <a:solidFill>
                  <a:srgbClr val="17365D"/>
                </a:solidFill>
                <a:latin typeface="Arial"/>
                <a:ea typeface="Arial"/>
                <a:cs typeface="Arial"/>
              </a:rPr>
              <a:t>Conclusion: CAABC-FL provides a defensible privacy-utility-communication trade-off under the registered protocol. The evidence does not support universal superiority or a production-decentralization claim.</a:t>
            </a:r>
          </a:p>
        </p:txBody>
      </p:sp>
      <p:sp>
        <p:nvSpPr>
          <p:cNvPr id="235" name="visible-footer-date-24">
            <a:extLst xmlns:a="http://schemas.openxmlformats.org/drawingml/2006/main">
              <a:ext uri="{FF2B5EF4-FFF2-40B4-BE49-F238E27FC236}">
                <a16:creationId xmlns:a16="http://schemas.microsoft.com/office/drawing/2014/main" id="{0F9E5A8B-EB33-4260-A21D-29627D0B5F9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56" name="Picture 1"/>
          <p:cNvPicPr>
            <a:picLocks xmlns:a="http://schemas.openxmlformats.org/drawingml/2006/main" noChangeAspect="1"/>
          </p:cNvPicPr>
          <p:nvPr/>
        </p:nvPicPr>
        <p:blipFill>
          <a:blip xmlns:r="http://schemas.openxmlformats.org/officeDocument/2006/relationships" xmlns:a="http://schemas.openxmlformats.org/drawingml/2006/main" r:embed="Rb99fd3bf9e1b4abd"/>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2093132514"/>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F3FB8C6-8C90-BAC8-9FAB-EE0D74D6369F}"/>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Contributions</a:t>
            </a:r>
            <a:endParaRPr/>
          </a:p>
        </p:txBody>
      </p:sp>
      <p:sp>
        <p:nvSpPr>
          <p:cNvPr id="212" name="Google Shape;212;p28">
            <a:extLst xmlns:a="http://schemas.openxmlformats.org/drawingml/2006/main">
              <a:ext uri="{FF2B5EF4-FFF2-40B4-BE49-F238E27FC236}">
                <a16:creationId xmlns:a16="http://schemas.microsoft.com/office/drawing/2014/main" id="{8B71ED3F-DBB8-F69D-D1E4-790728995D7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33</a:t>
            </a:r>
            <a:endParaRPr sz="2800"/>
          </a:p>
        </p:txBody>
      </p:sp>
      <p:pic>
        <p:nvPicPr>
          <p:cNvPr id="26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b720793b71546e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EB34F6F-4553-7D85-D279-122BFB7FF768}"/>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contribution-heading-0">
            <a:extLst xmlns:a="http://schemas.openxmlformats.org/drawingml/2006/main">
              <a:ext uri="{FF2B5EF4-FFF2-40B4-BE49-F238E27FC236}">
                <a16:creationId xmlns:a16="http://schemas.microsoft.com/office/drawing/2014/main" id="{52C1C6FD-464B-47F3-96C2-6859D207F95D}"/>
              </a:ext>
            </a:extLst>
          </p:cNvPr>
          <p:cNvSpPr>
            <a:spLocks xmlns:a="http://schemas.openxmlformats.org/drawingml/2006/main" noGrp="1"/>
          </p:cNvSpPr>
          <p:nvPr/>
        </p:nvSpPr>
        <p:spPr>
          <a:xfrm xmlns:a="http://schemas.openxmlformats.org/drawingml/2006/main">
            <a:off x="809625"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Integrated framework</a:t>
            </a:r>
          </a:p>
        </p:txBody>
      </p:sp>
      <p:sp>
        <p:nvSpPr>
          <p:cNvPr id="221" name="rule-85-205">
            <a:extLst xmlns:a="http://schemas.openxmlformats.org/drawingml/2006/main">
              <a:ext uri="{FF2B5EF4-FFF2-40B4-BE49-F238E27FC236}">
                <a16:creationId xmlns:a16="http://schemas.microsoft.com/office/drawing/2014/main" id="{6BF6761C-D851-47E9-8FC3-252B8B1593DB}"/>
              </a:ext>
            </a:extLst>
          </p:cNvPr>
          <p:cNvSpPr>
            <a:spLocks xmlns:a="http://schemas.openxmlformats.org/drawingml/2006/main" noGrp="1"/>
          </p:cNvSpPr>
          <p:nvPr/>
        </p:nvSpPr>
        <p:spPr>
          <a:xfrm xmlns:a="http://schemas.openxmlformats.org/drawingml/2006/main">
            <a:off x="80962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contribution-body-0">
            <a:extLst xmlns:a="http://schemas.openxmlformats.org/drawingml/2006/main">
              <a:ext uri="{FF2B5EF4-FFF2-40B4-BE49-F238E27FC236}">
                <a16:creationId xmlns:a16="http://schemas.microsoft.com/office/drawing/2014/main" id="{322A2455-2797-49DF-93D2-DA5A552B246A}"/>
              </a:ext>
            </a:extLst>
          </p:cNvPr>
          <p:cNvSpPr>
            <a:spLocks xmlns:a="http://schemas.openxmlformats.org/drawingml/2006/main" noGrp="1"/>
          </p:cNvSpPr>
          <p:nvPr/>
        </p:nvSpPr>
        <p:spPr>
          <a:xfrm xmlns:a="http://schemas.openxmlformats.org/drawingml/2006/main">
            <a:off x="809625"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 working cross-silo pipeline combines patient-level DP, CKKS aggregation, authenticated messages, verification, governed release, and witnessed audit evidence.</a:t>
            </a:r>
          </a:p>
        </p:txBody>
      </p:sp>
      <p:sp>
        <p:nvSpPr>
          <p:cNvPr id="223" name="contribution-heading-1">
            <a:extLst xmlns:a="http://schemas.openxmlformats.org/drawingml/2006/main">
              <a:ext uri="{FF2B5EF4-FFF2-40B4-BE49-F238E27FC236}">
                <a16:creationId xmlns:a16="http://schemas.microsoft.com/office/drawing/2014/main" id="{92FFF5B2-5DC0-4B27-91C5-A8AFAAA92067}"/>
              </a:ext>
            </a:extLst>
          </p:cNvPr>
          <p:cNvSpPr>
            <a:spLocks xmlns:a="http://schemas.openxmlformats.org/drawingml/2006/main" noGrp="1"/>
          </p:cNvSpPr>
          <p:nvPr/>
        </p:nvSpPr>
        <p:spPr>
          <a:xfrm xmlns:a="http://schemas.openxmlformats.org/drawingml/2006/main">
            <a:off x="6286500"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CAABC-FL</a:t>
            </a:r>
          </a:p>
        </p:txBody>
      </p:sp>
      <p:sp>
        <p:nvSpPr>
          <p:cNvPr id="224" name="rule-660-205">
            <a:extLst xmlns:a="http://schemas.openxmlformats.org/drawingml/2006/main">
              <a:ext uri="{FF2B5EF4-FFF2-40B4-BE49-F238E27FC236}">
                <a16:creationId xmlns:a16="http://schemas.microsoft.com/office/drawing/2014/main" id="{6F490125-C547-4511-ABA5-469FBFFC3BFF}"/>
              </a:ext>
            </a:extLst>
          </p:cNvPr>
          <p:cNvSpPr>
            <a:spLocks xmlns:a="http://schemas.openxmlformats.org/drawingml/2006/main" noGrp="1"/>
          </p:cNvSpPr>
          <p:nvPr/>
        </p:nvSpPr>
        <p:spPr>
          <a:xfrm xmlns:a="http://schemas.openxmlformats.org/drawingml/2006/main">
            <a:off x="628650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contribution-body-1">
            <a:extLst xmlns:a="http://schemas.openxmlformats.org/drawingml/2006/main">
              <a:ext uri="{FF2B5EF4-FFF2-40B4-BE49-F238E27FC236}">
                <a16:creationId xmlns:a16="http://schemas.microsoft.com/office/drawing/2014/main" id="{2336BA83-36CE-4241-A14D-79C74F34819F}"/>
              </a:ext>
            </a:extLst>
          </p:cNvPr>
          <p:cNvSpPr>
            <a:spLocks xmlns:a="http://schemas.openxmlformats.org/drawingml/2006/main" noGrp="1"/>
          </p:cNvSpPr>
          <p:nvPr/>
        </p:nvSpPr>
        <p:spPr>
          <a:xfrm xmlns:a="http://schemas.openxmlformats.org/drawingml/2006/main">
            <a:off x="6286500"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Adaptive common blocks align with ciphertext packing, so compression reduces serialized network bytes while error feedback limits discarded-update loss.</a:t>
            </a:r>
          </a:p>
        </p:txBody>
      </p:sp>
      <p:sp>
        <p:nvSpPr>
          <p:cNvPr id="226" name="contribution-heading-2">
            <a:extLst xmlns:a="http://schemas.openxmlformats.org/drawingml/2006/main">
              <a:ext uri="{FF2B5EF4-FFF2-40B4-BE49-F238E27FC236}">
                <a16:creationId xmlns:a16="http://schemas.microsoft.com/office/drawing/2014/main" id="{17CDFF91-A584-4FA0-AB9F-65812ABE4A2E}"/>
              </a:ext>
            </a:extLst>
          </p:cNvPr>
          <p:cNvSpPr>
            <a:spLocks xmlns:a="http://schemas.openxmlformats.org/drawingml/2006/main" noGrp="1"/>
          </p:cNvSpPr>
          <p:nvPr/>
        </p:nvSpPr>
        <p:spPr>
          <a:xfrm xmlns:a="http://schemas.openxmlformats.org/drawingml/2006/main">
            <a:off x="809625"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Reproducible evaluation</a:t>
            </a:r>
          </a:p>
        </p:txBody>
      </p:sp>
      <p:sp>
        <p:nvSpPr>
          <p:cNvPr id="227" name="rule-85-440">
            <a:extLst xmlns:a="http://schemas.openxmlformats.org/drawingml/2006/main">
              <a:ext uri="{FF2B5EF4-FFF2-40B4-BE49-F238E27FC236}">
                <a16:creationId xmlns:a16="http://schemas.microsoft.com/office/drawing/2014/main" id="{CEC27297-928F-4A84-A737-5BFFBC3C3594}"/>
              </a:ext>
            </a:extLst>
          </p:cNvPr>
          <p:cNvSpPr>
            <a:spLocks xmlns:a="http://schemas.openxmlformats.org/drawingml/2006/main" noGrp="1"/>
          </p:cNvSpPr>
          <p:nvPr/>
        </p:nvSpPr>
        <p:spPr>
          <a:xfrm xmlns:a="http://schemas.openxmlformats.org/drawingml/2006/main">
            <a:off x="809625" y="419100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contribution-body-2">
            <a:extLst xmlns:a="http://schemas.openxmlformats.org/drawingml/2006/main">
              <a:ext uri="{FF2B5EF4-FFF2-40B4-BE49-F238E27FC236}">
                <a16:creationId xmlns:a16="http://schemas.microsoft.com/office/drawing/2014/main" id="{B4FD7A21-EA7E-47DC-9B27-61F10A59C19B}"/>
              </a:ext>
            </a:extLst>
          </p:cNvPr>
          <p:cNvSpPr>
            <a:spLocks xmlns:a="http://schemas.openxmlformats.org/drawingml/2006/main" noGrp="1"/>
          </p:cNvSpPr>
          <p:nvPr/>
        </p:nvSpPr>
        <p:spPr>
          <a:xfrm xmlns:a="http://schemas.openxmlformats.org/drawingml/2006/main">
            <a:off x="809625"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5</a:t>
            </a:r>
            <a:r>
              <a:rPr sz="1688" b="0" i="0">
                <a:solidFill>
                  <a:srgbClr val="1F2937"/>
                </a:solidFill>
                <a:latin typeface="Arial"/>
                <a:ea typeface="Arial"/>
                <a:cs typeface="Arial"/>
              </a:rPr>
              <a:t> paired seeds cover utility, </a:t>
            </a:r>
            <a:r>
              <a:rPr sz="1688" b="0" i="0">
                <a:solidFill>
                  <a:srgbClr val="1F2937"/>
                </a:solidFill>
                <a:latin typeface="Arial"/>
                <a:ea typeface="Arial"/>
                <a:cs typeface="Arial"/>
              </a:rPr>
              <a:t>LiRA</a:t>
            </a:r>
            <a:r>
              <a:rPr sz="1688" b="0" i="0">
                <a:solidFill>
                  <a:srgbClr val="1F2937"/>
                </a:solidFill>
                <a:latin typeface="Arial"/>
                <a:ea typeface="Arial"/>
                <a:cs typeface="Arial"/>
              </a:rPr>
              <a:t>/RMIA, 300-step reconstruction, </a:t>
            </a:r>
            <a:r>
              <a:rPr sz="1688" b="0" i="0">
                <a:solidFill>
                  <a:srgbClr val="1F2937"/>
                </a:solidFill>
                <a:latin typeface="Arial"/>
                <a:ea typeface="Arial"/>
                <a:cs typeface="Arial"/>
              </a:rPr>
              <a:t>7</a:t>
            </a:r>
            <a:r>
              <a:rPr sz="1688" b="0" i="0">
                <a:solidFill>
                  <a:srgbClr val="1F2937"/>
                </a:solidFill>
                <a:latin typeface="Arial"/>
                <a:ea typeface="Arial"/>
                <a:cs typeface="Arial"/>
              </a:rPr>
              <a:t> one-round attacks, longitudinal poisoning, CKKS correctness, and service timing.</a:t>
            </a:r>
          </a:p>
        </p:txBody>
      </p:sp>
      <p:sp>
        <p:nvSpPr>
          <p:cNvPr id="229" name="contribution-heading-3">
            <a:extLst xmlns:a="http://schemas.openxmlformats.org/drawingml/2006/main">
              <a:ext uri="{FF2B5EF4-FFF2-40B4-BE49-F238E27FC236}">
                <a16:creationId xmlns:a16="http://schemas.microsoft.com/office/drawing/2014/main" id="{E6D68144-989E-418A-A459-6C7D6D695583}"/>
              </a:ext>
            </a:extLst>
          </p:cNvPr>
          <p:cNvSpPr>
            <a:spLocks xmlns:a="http://schemas.openxmlformats.org/drawingml/2006/main" noGrp="1"/>
          </p:cNvSpPr>
          <p:nvPr/>
        </p:nvSpPr>
        <p:spPr>
          <a:xfrm xmlns:a="http://schemas.openxmlformats.org/drawingml/2006/main">
            <a:off x="6286500"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Explicit claim boundary</a:t>
            </a:r>
          </a:p>
        </p:txBody>
      </p:sp>
      <p:sp>
        <p:nvSpPr>
          <p:cNvPr id="230" name="rule-660-440">
            <a:extLst xmlns:a="http://schemas.openxmlformats.org/drawingml/2006/main">
              <a:ext uri="{FF2B5EF4-FFF2-40B4-BE49-F238E27FC236}">
                <a16:creationId xmlns:a16="http://schemas.microsoft.com/office/drawing/2014/main" id="{98C5FDC7-1253-4C25-8939-F8D015C30AB5}"/>
              </a:ext>
            </a:extLst>
          </p:cNvPr>
          <p:cNvSpPr>
            <a:spLocks xmlns:a="http://schemas.openxmlformats.org/drawingml/2006/main" noGrp="1"/>
          </p:cNvSpPr>
          <p:nvPr/>
        </p:nvSpPr>
        <p:spPr>
          <a:xfrm xmlns:a="http://schemas.openxmlformats.org/drawingml/2006/main">
            <a:off x="6286500" y="419100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contribution-body-3">
            <a:extLst xmlns:a="http://schemas.openxmlformats.org/drawingml/2006/main">
              <a:ext uri="{FF2B5EF4-FFF2-40B4-BE49-F238E27FC236}">
                <a16:creationId xmlns:a16="http://schemas.microsoft.com/office/drawing/2014/main" id="{0BFF1A3B-FBEE-4A8F-8DBE-FE83B0228182}"/>
              </a:ext>
            </a:extLst>
          </p:cNvPr>
          <p:cNvSpPr>
            <a:spLocks xmlns:a="http://schemas.openxmlformats.org/drawingml/2006/main" noGrp="1"/>
          </p:cNvSpPr>
          <p:nvPr/>
        </p:nvSpPr>
        <p:spPr>
          <a:xfrm xmlns:a="http://schemas.openxmlformats.org/drawingml/2006/main">
            <a:off x="6286500"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Negative AUPRC, rollback cost, central key custody, and deployment limits remain visible rather than being hidden by a single headline metric.</a:t>
            </a:r>
          </a:p>
        </p:txBody>
      </p:sp>
      <p:sp>
        <p:nvSpPr>
          <p:cNvPr id="234" name="visible-footer-date-25">
            <a:extLst xmlns:a="http://schemas.openxmlformats.org/drawingml/2006/main">
              <a:ext uri="{FF2B5EF4-FFF2-40B4-BE49-F238E27FC236}">
                <a16:creationId xmlns:a16="http://schemas.microsoft.com/office/drawing/2014/main" id="{5DBD99E7-AB9A-45D3-A9A8-2E566FE9E409}"/>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82" name="Picture 1"/>
          <p:cNvPicPr>
            <a:picLocks xmlns:a="http://schemas.openxmlformats.org/drawingml/2006/main" noChangeAspect="1"/>
          </p:cNvPicPr>
          <p:nvPr/>
        </p:nvPicPr>
        <p:blipFill>
          <a:blip xmlns:r="http://schemas.openxmlformats.org/officeDocument/2006/relationships" xmlns:a="http://schemas.openxmlformats.org/drawingml/2006/main" r:embed="Rda45ff7b3a334f4b"/>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
        <p:nvSpPr>
          <p:cNvPr id="237" name="research-contributions-replacement-cover">
            <a:extLst xmlns:a="http://schemas.openxmlformats.org/drawingml/2006/main">
              <a:ext uri="{FF2B5EF4-FFF2-40B4-BE49-F238E27FC236}">
                <a16:creationId xmlns:a16="http://schemas.microsoft.com/office/drawing/2014/main" id="{9A57B5B5-828D-415E-931D-9AF8B3CCC929}"/>
              </a:ext>
            </a:extLst>
          </p:cNvPr>
          <p:cNvSpPr>
            <a:spLocks xmlns:a="http://schemas.openxmlformats.org/drawingml/2006/main" noGrp="1"/>
          </p:cNvSpPr>
          <p:nvPr/>
        </p:nvSpPr>
        <p:spPr>
          <a:xfrm xmlns:a="http://schemas.openxmlformats.org/drawingml/2006/main">
            <a:off x="523875" y="1143000"/>
            <a:ext cx="11144250" cy="4953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8" name="contribution-01-number">
            <a:extLst xmlns:a="http://schemas.openxmlformats.org/drawingml/2006/main">
              <a:ext uri="{FF2B5EF4-FFF2-40B4-BE49-F238E27FC236}">
                <a16:creationId xmlns:a16="http://schemas.microsoft.com/office/drawing/2014/main" id="{5F5CF7F2-524F-4945-8ECB-D50D3E38A26A}"/>
              </a:ext>
            </a:extLst>
          </p:cNvPr>
          <p:cNvSpPr>
            <a:spLocks xmlns:a="http://schemas.openxmlformats.org/drawingml/2006/main" noGrp="1"/>
          </p:cNvSpPr>
          <p:nvPr/>
        </p:nvSpPr>
        <p:spPr>
          <a:xfrm xmlns:a="http://schemas.openxmlformats.org/drawingml/2006/main">
            <a:off x="809625" y="13525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088" b="1">
                <a:solidFill>
                  <a:srgbClr val="008A46"/>
                </a:solidFill>
                <a:latin typeface="Arial"/>
                <a:ea typeface="Arial"/>
                <a:cs typeface="Arial"/>
              </a:defRPr>
            </a:pPr>
            <a:r>
              <a:rPr sz="1088" b="1">
                <a:solidFill>
                  <a:srgbClr val="008A46"/>
                </a:solidFill>
                <a:latin typeface="Arial"/>
                <a:ea typeface="Arial"/>
                <a:cs typeface="Arial"/>
              </a:rPr>
              <a:t>01</a:t>
            </a:r>
          </a:p>
        </p:txBody>
      </p:sp>
      <p:sp>
        <p:nvSpPr>
          <p:cNvPr id="239" name="contribution-01-title">
            <a:extLst xmlns:a="http://schemas.openxmlformats.org/drawingml/2006/main">
              <a:ext uri="{FF2B5EF4-FFF2-40B4-BE49-F238E27FC236}">
                <a16:creationId xmlns:a16="http://schemas.microsoft.com/office/drawing/2014/main" id="{2CD4A583-2061-4726-9474-EC29709B364B}"/>
              </a:ext>
            </a:extLst>
          </p:cNvPr>
          <p:cNvSpPr>
            <a:spLocks xmlns:a="http://schemas.openxmlformats.org/drawingml/2006/main" noGrp="1"/>
          </p:cNvSpPr>
          <p:nvPr/>
        </p:nvSpPr>
        <p:spPr>
          <a:xfrm xmlns:a="http://schemas.openxmlformats.org/drawingml/2006/main">
            <a:off x="1266825" y="1333500"/>
            <a:ext cx="4305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575" b="1">
                <a:solidFill>
                  <a:srgbClr val="008A46"/>
                </a:solidFill>
                <a:latin typeface="Arial"/>
                <a:ea typeface="Arial"/>
                <a:cs typeface="Arial"/>
              </a:defRPr>
            </a:pPr>
            <a:r>
              <a:rPr sz="1575" b="1">
                <a:solidFill>
                  <a:srgbClr val="008A46"/>
                </a:solidFill>
                <a:latin typeface="Arial"/>
                <a:ea typeface="Arial"/>
                <a:cs typeface="Arial"/>
              </a:rPr>
              <a:t>Theoretical contribution</a:t>
            </a:r>
          </a:p>
        </p:txBody>
      </p:sp>
      <p:sp>
        <p:nvSpPr>
          <p:cNvPr id="240" name="contribution-01-rule">
            <a:extLst xmlns:a="http://schemas.openxmlformats.org/drawingml/2006/main">
              <a:ext uri="{FF2B5EF4-FFF2-40B4-BE49-F238E27FC236}">
                <a16:creationId xmlns:a16="http://schemas.microsoft.com/office/drawing/2014/main" id="{58838FDE-FB26-4EBA-8187-1CD976B0FA31}"/>
              </a:ext>
            </a:extLst>
          </p:cNvPr>
          <p:cNvSpPr>
            <a:spLocks xmlns:a="http://schemas.openxmlformats.org/drawingml/2006/main" noGrp="1"/>
          </p:cNvSpPr>
          <p:nvPr/>
        </p:nvSpPr>
        <p:spPr>
          <a:xfrm xmlns:a="http://schemas.openxmlformats.org/drawingml/2006/main">
            <a:off x="809625" y="1695450"/>
            <a:ext cx="4762500" cy="21908"/>
          </a:xfrm>
          <a:prstGeom xmlns:a="http://schemas.openxmlformats.org/drawingml/2006/main" prst="rect">
            <a:avLst/>
          </a:prstGeom>
          <a:solidFill xmlns:a="http://schemas.openxmlformats.org/drawingml/2006/main">
            <a:srgbClr val="008A46"/>
          </a:solidFill>
          <a:ln xmlns:a="http://schemas.openxmlformats.org/drawingml/2006/main" w="0">
            <a:noFill/>
          </a:ln>
        </p:spPr>
      </p:sp>
      <p:sp>
        <p:nvSpPr>
          <p:cNvPr id="241" name="contribution-01-body">
            <a:extLst xmlns:a="http://schemas.openxmlformats.org/drawingml/2006/main">
              <a:ext uri="{FF2B5EF4-FFF2-40B4-BE49-F238E27FC236}">
                <a16:creationId xmlns:a16="http://schemas.microsoft.com/office/drawing/2014/main" id="{3D2A8EDE-76F1-4789-A94E-8BBABAC5AB73}"/>
              </a:ext>
            </a:extLst>
          </p:cNvPr>
          <p:cNvSpPr>
            <a:spLocks xmlns:a="http://schemas.openxmlformats.org/drawingml/2006/main" noGrp="1"/>
          </p:cNvSpPr>
          <p:nvPr/>
        </p:nvSpPr>
        <p:spPr>
          <a:xfrm xmlns:a="http://schemas.openxmlformats.org/drawingml/2006/main">
            <a:off x="809625" y="1790700"/>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38">
                <a:solidFill>
                  <a:srgbClr val="263244"/>
                </a:solidFill>
                <a:latin typeface="Arial"/>
                <a:ea typeface="Arial"/>
                <a:cs typeface="Arial"/>
              </a:defRPr>
            </a:pPr>
            <a:r>
              <a:rPr sz="1238">
                <a:solidFill>
                  <a:srgbClr val="263244"/>
                </a:solidFill>
                <a:latin typeface="Arial"/>
                <a:ea typeface="Arial"/>
                <a:cs typeface="Arial"/>
              </a:rPr>
              <a:t>Defines collaboration through four interacting properties: released-model privacy, update confidentiality, encrypted communication efficiency, and accountable integrity.</a:t>
            </a:r>
          </a:p>
        </p:txBody>
      </p:sp>
      <p:sp>
        <p:nvSpPr>
          <p:cNvPr id="242" name="contribution-02-number">
            <a:extLst xmlns:a="http://schemas.openxmlformats.org/drawingml/2006/main">
              <a:ext uri="{FF2B5EF4-FFF2-40B4-BE49-F238E27FC236}">
                <a16:creationId xmlns:a16="http://schemas.microsoft.com/office/drawing/2014/main" id="{5380FDCE-7F1A-43F9-ABBA-45C7851F9B05}"/>
              </a:ext>
            </a:extLst>
          </p:cNvPr>
          <p:cNvSpPr>
            <a:spLocks xmlns:a="http://schemas.openxmlformats.org/drawingml/2006/main" noGrp="1"/>
          </p:cNvSpPr>
          <p:nvPr/>
        </p:nvSpPr>
        <p:spPr>
          <a:xfrm xmlns:a="http://schemas.openxmlformats.org/drawingml/2006/main">
            <a:off x="809625" y="26479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088" b="1">
                <a:solidFill>
                  <a:srgbClr val="062B6F"/>
                </a:solidFill>
                <a:latin typeface="Arial"/>
                <a:ea typeface="Arial"/>
                <a:cs typeface="Arial"/>
              </a:defRPr>
            </a:pPr>
            <a:r>
              <a:rPr sz="1088" b="1">
                <a:solidFill>
                  <a:srgbClr val="062B6F"/>
                </a:solidFill>
                <a:latin typeface="Arial"/>
                <a:ea typeface="Arial"/>
                <a:cs typeface="Arial"/>
              </a:rPr>
              <a:t>02</a:t>
            </a:r>
          </a:p>
        </p:txBody>
      </p:sp>
      <p:sp>
        <p:nvSpPr>
          <p:cNvPr id="243" name="contribution-02-title">
            <a:extLst xmlns:a="http://schemas.openxmlformats.org/drawingml/2006/main">
              <a:ext uri="{FF2B5EF4-FFF2-40B4-BE49-F238E27FC236}">
                <a16:creationId xmlns:a16="http://schemas.microsoft.com/office/drawing/2014/main" id="{ED74DF65-7EF3-468E-823D-489B325D5259}"/>
              </a:ext>
            </a:extLst>
          </p:cNvPr>
          <p:cNvSpPr>
            <a:spLocks xmlns:a="http://schemas.openxmlformats.org/drawingml/2006/main" noGrp="1"/>
          </p:cNvSpPr>
          <p:nvPr/>
        </p:nvSpPr>
        <p:spPr>
          <a:xfrm xmlns:a="http://schemas.openxmlformats.org/drawingml/2006/main">
            <a:off x="1266825" y="2628900"/>
            <a:ext cx="4305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575" b="1">
                <a:solidFill>
                  <a:srgbClr val="062B6F"/>
                </a:solidFill>
                <a:latin typeface="Arial"/>
                <a:ea typeface="Arial"/>
                <a:cs typeface="Arial"/>
              </a:defRPr>
            </a:pPr>
            <a:r>
              <a:rPr sz="1575" b="1">
                <a:solidFill>
                  <a:srgbClr val="062B6F"/>
                </a:solidFill>
                <a:latin typeface="Arial"/>
                <a:ea typeface="Arial"/>
                <a:cs typeface="Arial"/>
              </a:rPr>
              <a:t>Algorithmic contribution</a:t>
            </a:r>
          </a:p>
        </p:txBody>
      </p:sp>
      <p:sp>
        <p:nvSpPr>
          <p:cNvPr id="244" name="contribution-02-rule">
            <a:extLst xmlns:a="http://schemas.openxmlformats.org/drawingml/2006/main">
              <a:ext uri="{FF2B5EF4-FFF2-40B4-BE49-F238E27FC236}">
                <a16:creationId xmlns:a16="http://schemas.microsoft.com/office/drawing/2014/main" id="{AC5869AE-DF38-4B88-AF3C-A438CBE3F96F}"/>
              </a:ext>
            </a:extLst>
          </p:cNvPr>
          <p:cNvSpPr>
            <a:spLocks xmlns:a="http://schemas.openxmlformats.org/drawingml/2006/main" noGrp="1"/>
          </p:cNvSpPr>
          <p:nvPr/>
        </p:nvSpPr>
        <p:spPr>
          <a:xfrm xmlns:a="http://schemas.openxmlformats.org/drawingml/2006/main">
            <a:off x="809625" y="2990850"/>
            <a:ext cx="4762500" cy="21908"/>
          </a:xfrm>
          <a:prstGeom xmlns:a="http://schemas.openxmlformats.org/drawingml/2006/main" prst="rect">
            <a:avLst/>
          </a:prstGeom>
          <a:solidFill xmlns:a="http://schemas.openxmlformats.org/drawingml/2006/main">
            <a:srgbClr val="062B6F"/>
          </a:solidFill>
          <a:ln xmlns:a="http://schemas.openxmlformats.org/drawingml/2006/main" w="0">
            <a:noFill/>
          </a:ln>
        </p:spPr>
      </p:sp>
      <p:sp>
        <p:nvSpPr>
          <p:cNvPr id="245" name="contribution-02-body">
            <a:extLst xmlns:a="http://schemas.openxmlformats.org/drawingml/2006/main">
              <a:ext uri="{FF2B5EF4-FFF2-40B4-BE49-F238E27FC236}">
                <a16:creationId xmlns:a16="http://schemas.microsoft.com/office/drawing/2014/main" id="{C4D0ACA6-576D-4F96-829B-C171AD654B0E}"/>
              </a:ext>
            </a:extLst>
          </p:cNvPr>
          <p:cNvSpPr>
            <a:spLocks xmlns:a="http://schemas.openxmlformats.org/drawingml/2006/main" noGrp="1"/>
          </p:cNvSpPr>
          <p:nvPr/>
        </p:nvSpPr>
        <p:spPr>
          <a:xfrm xmlns:a="http://schemas.openxmlformats.org/drawingml/2006/main">
            <a:off x="809625" y="3086100"/>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38">
                <a:solidFill>
                  <a:srgbClr val="263244"/>
                </a:solidFill>
                <a:latin typeface="Arial"/>
                <a:ea typeface="Arial"/>
                <a:cs typeface="Arial"/>
              </a:defRPr>
            </a:pPr>
            <a:r>
              <a:rPr sz="1238">
                <a:solidFill>
                  <a:srgbClr val="263244"/>
                </a:solidFill>
                <a:latin typeface="Arial"/>
                <a:ea typeface="Arial"/>
                <a:cs typeface="Arial"/>
              </a:rPr>
              <a:t>CAABC-FL combines encrypted aggregate block scoring, shared CKKS-aligned support, periodic refresh, and residual error feedback.</a:t>
            </a:r>
          </a:p>
        </p:txBody>
      </p:sp>
      <p:sp>
        <p:nvSpPr>
          <p:cNvPr id="246" name="contribution-03-number">
            <a:extLst xmlns:a="http://schemas.openxmlformats.org/drawingml/2006/main">
              <a:ext uri="{FF2B5EF4-FFF2-40B4-BE49-F238E27FC236}">
                <a16:creationId xmlns:a16="http://schemas.microsoft.com/office/drawing/2014/main" id="{CAC6379C-C647-4A8E-9444-AB2F04A5DE89}"/>
              </a:ext>
            </a:extLst>
          </p:cNvPr>
          <p:cNvSpPr>
            <a:spLocks xmlns:a="http://schemas.openxmlformats.org/drawingml/2006/main" noGrp="1"/>
          </p:cNvSpPr>
          <p:nvPr/>
        </p:nvSpPr>
        <p:spPr>
          <a:xfrm xmlns:a="http://schemas.openxmlformats.org/drawingml/2006/main">
            <a:off x="809625" y="39433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088" b="1">
                <a:solidFill>
                  <a:srgbClr val="008A46"/>
                </a:solidFill>
                <a:latin typeface="Arial"/>
                <a:ea typeface="Arial"/>
                <a:cs typeface="Arial"/>
              </a:defRPr>
            </a:pPr>
            <a:r>
              <a:rPr sz="1088" b="1">
                <a:solidFill>
                  <a:srgbClr val="008A46"/>
                </a:solidFill>
                <a:latin typeface="Arial"/>
                <a:ea typeface="Arial"/>
                <a:cs typeface="Arial"/>
              </a:rPr>
              <a:t>03</a:t>
            </a:r>
          </a:p>
        </p:txBody>
      </p:sp>
      <p:sp>
        <p:nvSpPr>
          <p:cNvPr id="247" name="contribution-03-title">
            <a:extLst xmlns:a="http://schemas.openxmlformats.org/drawingml/2006/main">
              <a:ext uri="{FF2B5EF4-FFF2-40B4-BE49-F238E27FC236}">
                <a16:creationId xmlns:a16="http://schemas.microsoft.com/office/drawing/2014/main" id="{8978481B-9B79-4F01-8573-41282B125E88}"/>
              </a:ext>
            </a:extLst>
          </p:cNvPr>
          <p:cNvSpPr>
            <a:spLocks xmlns:a="http://schemas.openxmlformats.org/drawingml/2006/main" noGrp="1"/>
          </p:cNvSpPr>
          <p:nvPr/>
        </p:nvSpPr>
        <p:spPr>
          <a:xfrm xmlns:a="http://schemas.openxmlformats.org/drawingml/2006/main">
            <a:off x="1266825" y="3924300"/>
            <a:ext cx="4305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575" b="1">
                <a:solidFill>
                  <a:srgbClr val="008A46"/>
                </a:solidFill>
                <a:latin typeface="Arial"/>
                <a:ea typeface="Arial"/>
                <a:cs typeface="Arial"/>
              </a:defRPr>
            </a:pPr>
            <a:r>
              <a:rPr sz="1575" b="1">
                <a:solidFill>
                  <a:srgbClr val="008A46"/>
                </a:solidFill>
                <a:latin typeface="Arial"/>
                <a:ea typeface="Arial"/>
                <a:cs typeface="Arial"/>
              </a:rPr>
              <a:t>Practical contribution</a:t>
            </a:r>
          </a:p>
        </p:txBody>
      </p:sp>
      <p:sp>
        <p:nvSpPr>
          <p:cNvPr id="248" name="contribution-03-rule">
            <a:extLst xmlns:a="http://schemas.openxmlformats.org/drawingml/2006/main">
              <a:ext uri="{FF2B5EF4-FFF2-40B4-BE49-F238E27FC236}">
                <a16:creationId xmlns:a16="http://schemas.microsoft.com/office/drawing/2014/main" id="{1EDDB5BF-0EAF-4294-841C-C6C05EEA190B}"/>
              </a:ext>
            </a:extLst>
          </p:cNvPr>
          <p:cNvSpPr>
            <a:spLocks xmlns:a="http://schemas.openxmlformats.org/drawingml/2006/main" noGrp="1"/>
          </p:cNvSpPr>
          <p:nvPr/>
        </p:nvSpPr>
        <p:spPr>
          <a:xfrm xmlns:a="http://schemas.openxmlformats.org/drawingml/2006/main">
            <a:off x="809625" y="4286250"/>
            <a:ext cx="4762500" cy="21908"/>
          </a:xfrm>
          <a:prstGeom xmlns:a="http://schemas.openxmlformats.org/drawingml/2006/main" prst="rect">
            <a:avLst/>
          </a:prstGeom>
          <a:solidFill xmlns:a="http://schemas.openxmlformats.org/drawingml/2006/main">
            <a:srgbClr val="008A46"/>
          </a:solidFill>
          <a:ln xmlns:a="http://schemas.openxmlformats.org/drawingml/2006/main" w="0">
            <a:noFill/>
          </a:ln>
        </p:spPr>
      </p:sp>
      <p:sp>
        <p:nvSpPr>
          <p:cNvPr id="249" name="contribution-03-body">
            <a:extLst xmlns:a="http://schemas.openxmlformats.org/drawingml/2006/main">
              <a:ext uri="{FF2B5EF4-FFF2-40B4-BE49-F238E27FC236}">
                <a16:creationId xmlns:a16="http://schemas.microsoft.com/office/drawing/2014/main" id="{F372E62C-C404-4A2C-AF7D-8043EBF7364E}"/>
              </a:ext>
            </a:extLst>
          </p:cNvPr>
          <p:cNvSpPr>
            <a:spLocks xmlns:a="http://schemas.openxmlformats.org/drawingml/2006/main" noGrp="1"/>
          </p:cNvSpPr>
          <p:nvPr/>
        </p:nvSpPr>
        <p:spPr>
          <a:xfrm xmlns:a="http://schemas.openxmlformats.org/drawingml/2006/main">
            <a:off x="809625" y="4381500"/>
            <a:ext cx="4762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38">
                <a:solidFill>
                  <a:srgbClr val="263244"/>
                </a:solidFill>
                <a:latin typeface="Arial"/>
                <a:ea typeface="Arial"/>
                <a:cs typeface="Arial"/>
              </a:defRPr>
            </a:pPr>
            <a:r>
              <a:rPr sz="1238">
                <a:solidFill>
                  <a:srgbClr val="263244"/>
                </a:solidFill>
                <a:latin typeface="Arial"/>
                <a:ea typeface="Arial"/>
                <a:cs typeface="Arial"/>
              </a:rPr>
              <a:t>Implements a multi-service system with signed artifacts, independent aggregate checks, governed release and inference, rollback, and three external audit witnesses.</a:t>
            </a:r>
          </a:p>
        </p:txBody>
      </p:sp>
      <p:sp>
        <p:nvSpPr>
          <p:cNvPr id="250" name="contribution-04-number">
            <a:extLst xmlns:a="http://schemas.openxmlformats.org/drawingml/2006/main">
              <a:ext uri="{FF2B5EF4-FFF2-40B4-BE49-F238E27FC236}">
                <a16:creationId xmlns:a16="http://schemas.microsoft.com/office/drawing/2014/main" id="{7D6249F4-F5BC-442B-B1E2-98436295029A}"/>
              </a:ext>
            </a:extLst>
          </p:cNvPr>
          <p:cNvSpPr>
            <a:spLocks xmlns:a="http://schemas.openxmlformats.org/drawingml/2006/main" noGrp="1"/>
          </p:cNvSpPr>
          <p:nvPr/>
        </p:nvSpPr>
        <p:spPr>
          <a:xfrm xmlns:a="http://schemas.openxmlformats.org/drawingml/2006/main">
            <a:off x="6286500" y="13525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088" b="1">
                <a:solidFill>
                  <a:srgbClr val="062B6F"/>
                </a:solidFill>
                <a:latin typeface="Arial"/>
                <a:ea typeface="Arial"/>
                <a:cs typeface="Arial"/>
              </a:defRPr>
            </a:pPr>
            <a:r>
              <a:rPr sz="1088" b="1">
                <a:solidFill>
                  <a:srgbClr val="062B6F"/>
                </a:solidFill>
                <a:latin typeface="Arial"/>
                <a:ea typeface="Arial"/>
                <a:cs typeface="Arial"/>
              </a:rPr>
              <a:t>04</a:t>
            </a:r>
          </a:p>
        </p:txBody>
      </p:sp>
      <p:sp>
        <p:nvSpPr>
          <p:cNvPr id="251" name="contribution-04-title">
            <a:extLst xmlns:a="http://schemas.openxmlformats.org/drawingml/2006/main">
              <a:ext uri="{FF2B5EF4-FFF2-40B4-BE49-F238E27FC236}">
                <a16:creationId xmlns:a16="http://schemas.microsoft.com/office/drawing/2014/main" id="{673E0CC7-F387-41B9-B486-33B0E2F3746C}"/>
              </a:ext>
            </a:extLst>
          </p:cNvPr>
          <p:cNvSpPr>
            <a:spLocks xmlns:a="http://schemas.openxmlformats.org/drawingml/2006/main" noGrp="1"/>
          </p:cNvSpPr>
          <p:nvPr/>
        </p:nvSpPr>
        <p:spPr>
          <a:xfrm xmlns:a="http://schemas.openxmlformats.org/drawingml/2006/main">
            <a:off x="6743700" y="1333500"/>
            <a:ext cx="4305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575" b="1">
                <a:solidFill>
                  <a:srgbClr val="062B6F"/>
                </a:solidFill>
                <a:latin typeface="Arial"/>
                <a:ea typeface="Arial"/>
                <a:cs typeface="Arial"/>
              </a:defRPr>
            </a:pPr>
            <a:r>
              <a:rPr sz="1575" b="1">
                <a:solidFill>
                  <a:srgbClr val="062B6F"/>
                </a:solidFill>
                <a:latin typeface="Arial"/>
                <a:ea typeface="Arial"/>
                <a:cs typeface="Arial"/>
              </a:rPr>
              <a:t>Methodological contribution</a:t>
            </a:r>
          </a:p>
        </p:txBody>
      </p:sp>
      <p:sp>
        <p:nvSpPr>
          <p:cNvPr id="252" name="contribution-04-rule">
            <a:extLst xmlns:a="http://schemas.openxmlformats.org/drawingml/2006/main">
              <a:ext uri="{FF2B5EF4-FFF2-40B4-BE49-F238E27FC236}">
                <a16:creationId xmlns:a16="http://schemas.microsoft.com/office/drawing/2014/main" id="{54821083-14A0-4BF6-95B1-A9AF103460FB}"/>
              </a:ext>
            </a:extLst>
          </p:cNvPr>
          <p:cNvSpPr>
            <a:spLocks xmlns:a="http://schemas.openxmlformats.org/drawingml/2006/main" noGrp="1"/>
          </p:cNvSpPr>
          <p:nvPr/>
        </p:nvSpPr>
        <p:spPr>
          <a:xfrm xmlns:a="http://schemas.openxmlformats.org/drawingml/2006/main">
            <a:off x="6286500" y="1695450"/>
            <a:ext cx="4762500" cy="21908"/>
          </a:xfrm>
          <a:prstGeom xmlns:a="http://schemas.openxmlformats.org/drawingml/2006/main" prst="rect">
            <a:avLst/>
          </a:prstGeom>
          <a:solidFill xmlns:a="http://schemas.openxmlformats.org/drawingml/2006/main">
            <a:srgbClr val="062B6F"/>
          </a:solidFill>
          <a:ln xmlns:a="http://schemas.openxmlformats.org/drawingml/2006/main" w="0">
            <a:noFill/>
          </a:ln>
        </p:spPr>
      </p:sp>
      <p:sp>
        <p:nvSpPr>
          <p:cNvPr id="253" name="contribution-04-body">
            <a:extLst xmlns:a="http://schemas.openxmlformats.org/drawingml/2006/main">
              <a:ext uri="{FF2B5EF4-FFF2-40B4-BE49-F238E27FC236}">
                <a16:creationId xmlns:a16="http://schemas.microsoft.com/office/drawing/2014/main" id="{43B7B09E-4A69-4E28-8066-E5D823F29C93}"/>
              </a:ext>
            </a:extLst>
          </p:cNvPr>
          <p:cNvSpPr>
            <a:spLocks xmlns:a="http://schemas.openxmlformats.org/drawingml/2006/main" noGrp="1"/>
          </p:cNvSpPr>
          <p:nvPr/>
        </p:nvSpPr>
        <p:spPr>
          <a:xfrm xmlns:a="http://schemas.openxmlformats.org/drawingml/2006/main">
            <a:off x="6286500" y="1790700"/>
            <a:ext cx="4762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38">
                <a:solidFill>
                  <a:srgbClr val="263244"/>
                </a:solidFill>
                <a:latin typeface="Arial"/>
                <a:ea typeface="Arial"/>
                <a:cs typeface="Arial"/>
              </a:defRPr>
            </a:pPr>
            <a:r>
              <a:rPr sz="1238">
                <a:solidFill>
                  <a:srgbClr val="263244"/>
                </a:solidFill>
                <a:latin typeface="Arial"/>
                <a:ea typeface="Arial"/>
                <a:cs typeface="Arial"/>
              </a:rPr>
              <a:t>Uses a frozen paired protocol to measure utility, privacy attacks, one-round and longitudinal poisoning, ciphertext bytes, correctness, timing, and statistical uncertainty.</a:t>
            </a:r>
          </a:p>
        </p:txBody>
      </p:sp>
      <p:sp>
        <p:nvSpPr>
          <p:cNvPr id="254" name="contribution-05-number">
            <a:extLst xmlns:a="http://schemas.openxmlformats.org/drawingml/2006/main">
              <a:ext uri="{FF2B5EF4-FFF2-40B4-BE49-F238E27FC236}">
                <a16:creationId xmlns:a16="http://schemas.microsoft.com/office/drawing/2014/main" id="{A533E4E5-3B74-4CB2-B0E7-45BF91184EC5}"/>
              </a:ext>
            </a:extLst>
          </p:cNvPr>
          <p:cNvSpPr>
            <a:spLocks xmlns:a="http://schemas.openxmlformats.org/drawingml/2006/main" noGrp="1"/>
          </p:cNvSpPr>
          <p:nvPr/>
        </p:nvSpPr>
        <p:spPr>
          <a:xfrm xmlns:a="http://schemas.openxmlformats.org/drawingml/2006/main">
            <a:off x="6286500" y="30099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088" b="1">
                <a:solidFill>
                  <a:srgbClr val="00A6DF"/>
                </a:solidFill>
                <a:latin typeface="Arial"/>
                <a:ea typeface="Arial"/>
                <a:cs typeface="Arial"/>
              </a:defRPr>
            </a:pPr>
            <a:r>
              <a:rPr sz="1088" b="1">
                <a:solidFill>
                  <a:srgbClr val="00A6DF"/>
                </a:solidFill>
                <a:latin typeface="Arial"/>
                <a:ea typeface="Arial"/>
                <a:cs typeface="Arial"/>
              </a:rPr>
              <a:t>05</a:t>
            </a:r>
          </a:p>
        </p:txBody>
      </p:sp>
      <p:sp>
        <p:nvSpPr>
          <p:cNvPr id="255" name="contribution-05-title">
            <a:extLst xmlns:a="http://schemas.openxmlformats.org/drawingml/2006/main">
              <a:ext uri="{FF2B5EF4-FFF2-40B4-BE49-F238E27FC236}">
                <a16:creationId xmlns:a16="http://schemas.microsoft.com/office/drawing/2014/main" id="{31434BF2-9B2B-4D79-AABC-76FB3CA2B71C}"/>
              </a:ext>
            </a:extLst>
          </p:cNvPr>
          <p:cNvSpPr>
            <a:spLocks xmlns:a="http://schemas.openxmlformats.org/drawingml/2006/main" noGrp="1"/>
          </p:cNvSpPr>
          <p:nvPr/>
        </p:nvSpPr>
        <p:spPr>
          <a:xfrm xmlns:a="http://schemas.openxmlformats.org/drawingml/2006/main">
            <a:off x="6743700" y="2990850"/>
            <a:ext cx="4305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575" b="1">
                <a:solidFill>
                  <a:srgbClr val="00A6DF"/>
                </a:solidFill>
                <a:latin typeface="Arial"/>
                <a:ea typeface="Arial"/>
                <a:cs typeface="Arial"/>
              </a:defRPr>
            </a:pPr>
            <a:r>
              <a:rPr sz="1575" b="1">
                <a:solidFill>
                  <a:srgbClr val="00A6DF"/>
                </a:solidFill>
                <a:latin typeface="Arial"/>
                <a:ea typeface="Arial"/>
                <a:cs typeface="Arial"/>
              </a:rPr>
              <a:t>Empirical contribution</a:t>
            </a:r>
          </a:p>
        </p:txBody>
      </p:sp>
      <p:sp>
        <p:nvSpPr>
          <p:cNvPr id="256" name="contribution-05-rule">
            <a:extLst xmlns:a="http://schemas.openxmlformats.org/drawingml/2006/main">
              <a:ext uri="{FF2B5EF4-FFF2-40B4-BE49-F238E27FC236}">
                <a16:creationId xmlns:a16="http://schemas.microsoft.com/office/drawing/2014/main" id="{1B71ACD5-61CC-4663-9F7D-B2598870D4AC}"/>
              </a:ext>
            </a:extLst>
          </p:cNvPr>
          <p:cNvSpPr>
            <a:spLocks xmlns:a="http://schemas.openxmlformats.org/drawingml/2006/main" noGrp="1"/>
          </p:cNvSpPr>
          <p:nvPr/>
        </p:nvSpPr>
        <p:spPr>
          <a:xfrm xmlns:a="http://schemas.openxmlformats.org/drawingml/2006/main">
            <a:off x="6286500" y="3352800"/>
            <a:ext cx="4762500" cy="21908"/>
          </a:xfrm>
          <a:prstGeom xmlns:a="http://schemas.openxmlformats.org/drawingml/2006/main" prst="rect">
            <a:avLst/>
          </a:prstGeom>
          <a:solidFill xmlns:a="http://schemas.openxmlformats.org/drawingml/2006/main">
            <a:srgbClr val="00A6DF"/>
          </a:solidFill>
          <a:ln xmlns:a="http://schemas.openxmlformats.org/drawingml/2006/main" w="0">
            <a:noFill/>
          </a:ln>
        </p:spPr>
      </p:sp>
      <p:sp>
        <p:nvSpPr>
          <p:cNvPr id="257" name="empirical-result-highlight">
            <a:extLst xmlns:a="http://schemas.openxmlformats.org/drawingml/2006/main">
              <a:ext uri="{FF2B5EF4-FFF2-40B4-BE49-F238E27FC236}">
                <a16:creationId xmlns:a16="http://schemas.microsoft.com/office/drawing/2014/main" id="{5D0970E0-2969-4AF7-BF48-98F846631C4E}"/>
              </a:ext>
            </a:extLst>
          </p:cNvPr>
          <p:cNvSpPr>
            <a:spLocks xmlns:a="http://schemas.openxmlformats.org/drawingml/2006/main" noGrp="1"/>
          </p:cNvSpPr>
          <p:nvPr/>
        </p:nvSpPr>
        <p:spPr>
          <a:xfrm xmlns:a="http://schemas.openxmlformats.org/drawingml/2006/main">
            <a:off x="6286500" y="3533775"/>
            <a:ext cx="4762500" cy="838200"/>
          </a:xfrm>
          <a:prstGeom xmlns:a="http://schemas.openxmlformats.org/drawingml/2006/main" prst="roundRect">
            <a:avLst>
              <a:gd name="adj" fmla="val 9091"/>
            </a:avLst>
          </a:prstGeom>
          <a:solidFill xmlns:a="http://schemas.openxmlformats.org/drawingml/2006/main">
            <a:srgbClr val="EAF7FC"/>
          </a:solidFill>
          <a:ln xmlns:a="http://schemas.openxmlformats.org/drawingml/2006/main" w="11430">
            <a:solidFill>
              <a:srgbClr val="8CCFE7"/>
            </a:solidFill>
          </a:ln>
        </p:spPr>
      </p:sp>
      <p:sp>
        <p:nvSpPr>
          <p:cNvPr id="258" name="empirical-56-percent">
            <a:extLst xmlns:a="http://schemas.openxmlformats.org/drawingml/2006/main">
              <a:ext uri="{FF2B5EF4-FFF2-40B4-BE49-F238E27FC236}">
                <a16:creationId xmlns:a16="http://schemas.microsoft.com/office/drawing/2014/main" id="{4D1E69D3-BB75-44ED-B14C-718DD8EAE18D}"/>
              </a:ext>
            </a:extLst>
          </p:cNvPr>
          <p:cNvSpPr>
            <a:spLocks xmlns:a="http://schemas.openxmlformats.org/drawingml/2006/main" noGrp="1"/>
          </p:cNvSpPr>
          <p:nvPr/>
        </p:nvSpPr>
        <p:spPr>
          <a:xfrm xmlns:a="http://schemas.openxmlformats.org/drawingml/2006/main">
            <a:off x="6477000" y="3648075"/>
            <a:ext cx="1476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475" b="1">
                <a:solidFill>
                  <a:srgbClr val="062B6F"/>
                </a:solidFill>
                <a:latin typeface="Arial"/>
                <a:ea typeface="Arial"/>
                <a:cs typeface="Arial"/>
              </a:defRPr>
            </a:pPr>
            <a:r>
              <a:rPr sz="2475" b="1">
                <a:solidFill>
                  <a:srgbClr val="062B6F"/>
                </a:solidFill>
                <a:latin typeface="Arial"/>
                <a:ea typeface="Arial"/>
                <a:cs typeface="Arial"/>
              </a:rPr>
              <a:t>56.0%</a:t>
            </a:r>
          </a:p>
        </p:txBody>
      </p:sp>
      <p:sp>
        <p:nvSpPr>
          <p:cNvPr id="259" name="empirical-reduction-label">
            <a:extLst xmlns:a="http://schemas.openxmlformats.org/drawingml/2006/main">
              <a:ext uri="{FF2B5EF4-FFF2-40B4-BE49-F238E27FC236}">
                <a16:creationId xmlns:a16="http://schemas.microsoft.com/office/drawing/2014/main" id="{AFD84EDF-9884-4278-BBF7-8FE46153747C}"/>
              </a:ext>
            </a:extLst>
          </p:cNvPr>
          <p:cNvSpPr>
            <a:spLocks xmlns:a="http://schemas.openxmlformats.org/drawingml/2006/main" noGrp="1"/>
          </p:cNvSpPr>
          <p:nvPr/>
        </p:nvSpPr>
        <p:spPr>
          <a:xfrm xmlns:a="http://schemas.openxmlformats.org/drawingml/2006/main">
            <a:off x="8048625" y="3686175"/>
            <a:ext cx="2714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388" b="1">
                <a:solidFill>
                  <a:srgbClr val="062B6F"/>
                </a:solidFill>
                <a:latin typeface="Arial"/>
                <a:ea typeface="Arial"/>
                <a:cs typeface="Arial"/>
              </a:defRPr>
            </a:pPr>
            <a:r>
              <a:rPr sz="1388" b="1">
                <a:solidFill>
                  <a:srgbClr val="062B6F"/>
                </a:solidFill>
                <a:latin typeface="Arial"/>
                <a:ea typeface="Arial"/>
                <a:cs typeface="Arial"/>
              </a:rPr>
              <a:t>lower encrypted upload</a:t>
            </a:r>
          </a:p>
        </p:txBody>
      </p:sp>
      <p:sp>
        <p:nvSpPr>
          <p:cNvPr id="260" name="empirical-result-body">
            <a:extLst xmlns:a="http://schemas.openxmlformats.org/drawingml/2006/main">
              <a:ext uri="{FF2B5EF4-FFF2-40B4-BE49-F238E27FC236}">
                <a16:creationId xmlns:a16="http://schemas.microsoft.com/office/drawing/2014/main" id="{E4CA0BB8-4229-45A6-AC57-0FE9E601251E}"/>
              </a:ext>
            </a:extLst>
          </p:cNvPr>
          <p:cNvSpPr>
            <a:spLocks xmlns:a="http://schemas.openxmlformats.org/drawingml/2006/main" noGrp="1"/>
          </p:cNvSpPr>
          <p:nvPr/>
        </p:nvSpPr>
        <p:spPr>
          <a:xfrm xmlns:a="http://schemas.openxmlformats.org/drawingml/2006/main">
            <a:off x="6286500" y="4495800"/>
            <a:ext cx="476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38">
                <a:solidFill>
                  <a:srgbClr val="263244"/>
                </a:solidFill>
                <a:latin typeface="Arial"/>
                <a:ea typeface="Arial"/>
                <a:cs typeface="Arial"/>
              </a:defRPr>
            </a:pPr>
            <a:r>
              <a:rPr sz="1238">
                <a:solidFill>
                  <a:srgbClr val="263244"/>
                </a:solidFill>
                <a:latin typeface="Arial"/>
                <a:ea typeface="Arial"/>
                <a:cs typeface="Arial"/>
              </a:rPr>
              <a:t>CAABC-FL met the registered AUROC non-inferiority criterion. AUPRC and operating-point trade-offs remain visible.</a:t>
            </a:r>
          </a:p>
        </p:txBody>
      </p:sp>
      <p:sp>
        <p:nvSpPr>
          <p:cNvPr id="261" name="claim-boundary-note-background">
            <a:extLst xmlns:a="http://schemas.openxmlformats.org/drawingml/2006/main">
              <a:ext uri="{FF2B5EF4-FFF2-40B4-BE49-F238E27FC236}">
                <a16:creationId xmlns:a16="http://schemas.microsoft.com/office/drawing/2014/main" id="{89BF778D-3ECC-4A14-8C88-168408961B2F}"/>
              </a:ext>
            </a:extLst>
          </p:cNvPr>
          <p:cNvSpPr>
            <a:spLocks xmlns:a="http://schemas.openxmlformats.org/drawingml/2006/main" noGrp="1"/>
          </p:cNvSpPr>
          <p:nvPr/>
        </p:nvSpPr>
        <p:spPr>
          <a:xfrm xmlns:a="http://schemas.openxmlformats.org/drawingml/2006/main">
            <a:off x="809625" y="5400675"/>
            <a:ext cx="10239375" cy="457200"/>
          </a:xfrm>
          <a:prstGeom xmlns:a="http://schemas.openxmlformats.org/drawingml/2006/main" prst="rect">
            <a:avLst/>
          </a:prstGeom>
          <a:solidFill xmlns:a="http://schemas.openxmlformats.org/drawingml/2006/main">
            <a:srgbClr val="F6F8FA"/>
          </a:solidFill>
          <a:ln xmlns:a="http://schemas.openxmlformats.org/drawingml/2006/main" w="9525">
            <a:solidFill>
              <a:srgbClr val="D9E2EC"/>
            </a:solidFill>
          </a:ln>
        </p:spPr>
      </p:sp>
      <p:sp>
        <p:nvSpPr>
          <p:cNvPr id="262" name="claim-boundary-note">
            <a:extLst xmlns:a="http://schemas.openxmlformats.org/drawingml/2006/main">
              <a:ext uri="{FF2B5EF4-FFF2-40B4-BE49-F238E27FC236}">
                <a16:creationId xmlns:a16="http://schemas.microsoft.com/office/drawing/2014/main" id="{8C275864-A8A8-4863-8896-58B622F98B54}"/>
              </a:ext>
            </a:extLst>
          </p:cNvPr>
          <p:cNvSpPr>
            <a:spLocks xmlns:a="http://schemas.openxmlformats.org/drawingml/2006/main" noGrp="1"/>
          </p:cNvSpPr>
          <p:nvPr/>
        </p:nvSpPr>
        <p:spPr>
          <a:xfrm xmlns:a="http://schemas.openxmlformats.org/drawingml/2006/main">
            <a:off x="1000125" y="5467350"/>
            <a:ext cx="9858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73" i="1">
                <a:solidFill>
                  <a:srgbClr val="5D6878"/>
                </a:solidFill>
                <a:latin typeface="Arial"/>
                <a:ea typeface="Arial"/>
                <a:cs typeface="Arial"/>
              </a:defRPr>
            </a:pPr>
            <a:r>
              <a:rPr sz="1073" i="1">
                <a:solidFill>
                  <a:srgbClr val="5D6878"/>
                </a:solidFill>
                <a:latin typeface="Arial"/>
                <a:ea typeface="Arial"/>
                <a:cs typeface="Arial"/>
              </a:rPr>
              <a:t>Evidence boundary: claims apply to the evaluated dataset, attacks, seeds, trust assumptions, and deployment environment.</a:t>
            </a:r>
          </a:p>
        </p:txBody>
      </p:sp>
    </p:spTree>
    <p:extLst>
      <p:ext uri="{BB962C8B-B14F-4D97-AF65-F5344CB8AC3E}">
        <p14:creationId xmlns:p14="http://schemas.microsoft.com/office/powerpoint/2010/main" val="3838165317"/>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B791FA7-8393-831E-8AB3-1E71F24E09B1}"/>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Limitations</a:t>
            </a:r>
            <a:endParaRPr/>
          </a:p>
        </p:txBody>
      </p:sp>
      <p:sp>
        <p:nvSpPr>
          <p:cNvPr id="212" name="Google Shape;212;p28">
            <a:extLst xmlns:a="http://schemas.openxmlformats.org/drawingml/2006/main">
              <a:ext uri="{FF2B5EF4-FFF2-40B4-BE49-F238E27FC236}">
                <a16:creationId xmlns:a16="http://schemas.microsoft.com/office/drawing/2014/main" id="{4A5D3A6C-140B-C181-80E5-1FCC8C53247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34</a:t>
            </a:r>
            <a:endParaRPr sz="2800"/>
          </a:p>
        </p:txBody>
      </p:sp>
      <p:pic>
        <p:nvPicPr>
          <p:cNvPr id="229"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c3efa8e5c9843d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E7B93C6-6A94-E8D9-9C08-C771DFA446BF}"/>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limitations-bullets">
            <a:extLst xmlns:a="http://schemas.openxmlformats.org/drawingml/2006/main">
              <a:ext uri="{FF2B5EF4-FFF2-40B4-BE49-F238E27FC236}">
                <a16:creationId xmlns:a16="http://schemas.microsoft.com/office/drawing/2014/main" id="{66535D40-F506-4541-B5A4-1EB729B3D51A}"/>
              </a:ext>
            </a:extLst>
          </p:cNvPr>
          <p:cNvSpPr>
            <a:spLocks xmlns:a="http://schemas.openxmlformats.org/drawingml/2006/main" noGrp="1"/>
          </p:cNvSpPr>
          <p:nvPr/>
        </p:nvSpPr>
        <p:spPr>
          <a:xfrm xmlns:a="http://schemas.openxmlformats.org/drawingml/2006/main">
            <a:off x="1047750" y="1381125"/>
            <a:ext cx="100965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54000" indent="-127000" algn="l">
              <a:spcAft>
                <a:spcPts val="1000"/>
              </a:spcAft>
              <a:buChar char="•"/>
              <a:defRPr sz="1500">
                <a:solidFill>
                  <a:srgbClr val="263244"/>
                </a:solidFill>
                <a:latin typeface="Arial"/>
                <a:ea typeface="Arial"/>
                <a:cs typeface="Arial"/>
              </a:defRPr>
            </a:pPr>
            <a:r>
              <a:rPr sz="1500">
                <a:solidFill>
                  <a:srgbClr val="263244"/>
                </a:solidFill>
                <a:latin typeface="Arial"/>
                <a:ea typeface="Arial"/>
                <a:cs typeface="Arial"/>
              </a:rPr>
              <a:t>• External validity: One retrospective sepsis cohort, two source hospitals, and one MLP. No prospective or external clinical validation.</a:t>
            </a:r>
          </a:p>
          <a:p xmlns:a="http://schemas.openxmlformats.org/drawingml/2006/main">
            <a:pPr marL="254000" indent="-127000" algn="l">
              <a:spcAft>
                <a:spcPts val="1000"/>
              </a:spcAft>
              <a:buChar char="•"/>
              <a:defRPr sz="1500">
                <a:solidFill>
                  <a:srgbClr val="263244"/>
                </a:solidFill>
                <a:latin typeface="Arial"/>
                <a:ea typeface="Arial"/>
                <a:cs typeface="Arial"/>
              </a:defRPr>
            </a:pPr>
            <a:r>
              <a:rPr sz="1500">
                <a:solidFill>
                  <a:srgbClr val="263244"/>
                </a:solidFill>
                <a:latin typeface="Arial"/>
                <a:ea typeface="Arial"/>
                <a:cs typeface="Arial"/>
              </a:rPr>
              <a:t>• Key governance: The main TenSEAL path retains central key custody. The OpenFHE threshold test remains an isolated 3-of-3 experiment.</a:t>
            </a:r>
          </a:p>
          <a:p xmlns:a="http://schemas.openxmlformats.org/drawingml/2006/main">
            <a:pPr marL="254000" indent="-127000" algn="l">
              <a:spcAft>
                <a:spcPts val="1000"/>
              </a:spcAft>
              <a:buChar char="•"/>
              <a:defRPr sz="1500">
                <a:solidFill>
                  <a:srgbClr val="263244"/>
                </a:solidFill>
                <a:latin typeface="Arial"/>
                <a:ea typeface="Arial"/>
                <a:cs typeface="Arial"/>
              </a:defRPr>
            </a:pPr>
            <a:r>
              <a:rPr sz="1500">
                <a:solidFill>
                  <a:srgbClr val="263244"/>
                </a:solidFill>
                <a:latin typeface="Arial"/>
                <a:ea typeface="Arial"/>
                <a:cs typeface="Arial"/>
              </a:rPr>
              <a:t>• Deployment realism: Timing came from sequential single-host runs. No wide-area deployment or physical TDX/SEV-SNP cluster was tested.</a:t>
            </a:r>
          </a:p>
          <a:p xmlns:a="http://schemas.openxmlformats.org/drawingml/2006/main">
            <a:pPr marL="254000" indent="-127000" algn="l">
              <a:spcAft>
                <a:spcPts val="1000"/>
              </a:spcAft>
              <a:buChar char="•"/>
              <a:defRPr sz="1500">
                <a:solidFill>
                  <a:srgbClr val="263244"/>
                </a:solidFill>
                <a:latin typeface="Arial"/>
                <a:ea typeface="Arial"/>
                <a:cs typeface="Arial"/>
              </a:defRPr>
            </a:pPr>
            <a:r>
              <a:rPr sz="1500">
                <a:solidFill>
                  <a:srgbClr val="263244"/>
                </a:solidFill>
                <a:latin typeface="Arial"/>
                <a:ea typeface="Arial"/>
                <a:cs typeface="Arial"/>
              </a:rPr>
              <a:t>• Evaluation scope: Privacy and poisoning conclusions cover only the registered attacks, five seeds, and evaluated trust assumptions.</a:t>
            </a:r>
          </a:p>
        </p:txBody>
      </p:sp>
      <p:sp>
        <p:nvSpPr>
          <p:cNvPr id="221" name="limitations-close">
            <a:extLst xmlns:a="http://schemas.openxmlformats.org/drawingml/2006/main">
              <a:ext uri="{FF2B5EF4-FFF2-40B4-BE49-F238E27FC236}">
                <a16:creationId xmlns:a16="http://schemas.microsoft.com/office/drawing/2014/main" id="{93C4C268-4512-4584-BECF-715A2CCF774A}"/>
              </a:ext>
            </a:extLst>
          </p:cNvPr>
          <p:cNvSpPr>
            <a:spLocks xmlns:a="http://schemas.openxmlformats.org/drawingml/2006/main" noGrp="1"/>
          </p:cNvSpPr>
          <p:nvPr/>
        </p:nvSpPr>
        <p:spPr>
          <a:xfrm xmlns:a="http://schemas.openxmlformats.org/drawingml/2006/main">
            <a:off x="1381125" y="5572125"/>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lnSpcReduction="10000"/>
          </a:bodyPr>
          <a:lstStyle xmlns:a="http://schemas.openxmlformats.org/drawingml/2006/main"/>
          <a:p xmlns:a="http://schemas.openxmlformats.org/drawingml/2006/main">
            <a:pPr algn="ctr">
              <a:buNone/>
              <a:defRPr sz="1313" b="1" i="0">
                <a:solidFill>
                  <a:srgbClr val="C00000"/>
                </a:solidFill>
                <a:latin typeface="Arial"/>
                <a:ea typeface="Arial"/>
                <a:cs typeface="Arial"/>
              </a:defRPr>
            </a:pPr>
            <a:r>
              <a:rPr sz="1313" b="1" i="0">
                <a:solidFill>
                  <a:srgbClr val="C00000"/>
                </a:solidFill>
                <a:latin typeface="Arial"/>
                <a:ea typeface="Arial"/>
                <a:cs typeface="Arial"/>
              </a:rPr>
              <a:t>Evidence supports bounded protocol-level claims. Clinical and production-security validation remain future work.</a:t>
            </a:r>
          </a:p>
        </p:txBody>
      </p:sp>
      <p:sp>
        <p:nvSpPr>
          <p:cNvPr id="224" name="visible-footer-date-26">
            <a:extLst xmlns:a="http://schemas.openxmlformats.org/drawingml/2006/main">
              <a:ext uri="{FF2B5EF4-FFF2-40B4-BE49-F238E27FC236}">
                <a16:creationId xmlns:a16="http://schemas.microsoft.com/office/drawing/2014/main" id="{37B6C764-FE79-41A7-B5D0-D4EC72E1AE7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34" name="Picture 1"/>
          <p:cNvPicPr>
            <a:picLocks xmlns:a="http://schemas.openxmlformats.org/drawingml/2006/main" noChangeAspect="1"/>
          </p:cNvPicPr>
          <p:nvPr/>
        </p:nvPicPr>
        <p:blipFill>
          <a:blip xmlns:r="http://schemas.openxmlformats.org/officeDocument/2006/relationships" xmlns:a="http://schemas.openxmlformats.org/drawingml/2006/main" r:embed="Rdfe95d5aa9974eb7"/>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3961040222"/>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EE1420B-D505-7F3F-F820-A0568A0EF77B}"/>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Future Work</a:t>
            </a:r>
            <a:endParaRPr/>
          </a:p>
        </p:txBody>
      </p:sp>
      <p:sp>
        <p:nvSpPr>
          <p:cNvPr id="212" name="Google Shape;212;p28">
            <a:extLst xmlns:a="http://schemas.openxmlformats.org/drawingml/2006/main">
              <a:ext uri="{FF2B5EF4-FFF2-40B4-BE49-F238E27FC236}">
                <a16:creationId xmlns:a16="http://schemas.microsoft.com/office/drawing/2014/main" id="{DEFBA6C7-8677-BA99-896A-D45BF6267A3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35</a:t>
            </a:r>
            <a:endParaRPr sz="2800"/>
          </a:p>
        </p:txBody>
      </p:sp>
      <p:pic>
        <p:nvPicPr>
          <p:cNvPr id="24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ddf8df408ad415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E7B3C8F-E948-A1D6-7FC6-3DFC5D71625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future-heading-0">
            <a:extLst xmlns:a="http://schemas.openxmlformats.org/drawingml/2006/main">
              <a:ext uri="{FF2B5EF4-FFF2-40B4-BE49-F238E27FC236}">
                <a16:creationId xmlns:a16="http://schemas.microsoft.com/office/drawing/2014/main" id="{F2ECD84B-E76C-4495-B9CA-4D1D6AFB6122}"/>
              </a:ext>
            </a:extLst>
          </p:cNvPr>
          <p:cNvSpPr>
            <a:spLocks xmlns:a="http://schemas.openxmlformats.org/drawingml/2006/main" noGrp="1"/>
          </p:cNvSpPr>
          <p:nvPr/>
        </p:nvSpPr>
        <p:spPr>
          <a:xfrm xmlns:a="http://schemas.openxmlformats.org/drawingml/2006/main">
            <a:off x="952500" y="12382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Threshold custody</a:t>
            </a:r>
          </a:p>
        </p:txBody>
      </p:sp>
      <p:sp>
        <p:nvSpPr>
          <p:cNvPr id="221" name="future-body-0">
            <a:extLst xmlns:a="http://schemas.openxmlformats.org/drawingml/2006/main">
              <a:ext uri="{FF2B5EF4-FFF2-40B4-BE49-F238E27FC236}">
                <a16:creationId xmlns:a16="http://schemas.microsoft.com/office/drawing/2014/main" id="{1765C348-CDF5-4D16-952C-9760DDF9ECBE}"/>
              </a:ext>
            </a:extLst>
          </p:cNvPr>
          <p:cNvSpPr>
            <a:spLocks xmlns:a="http://schemas.openxmlformats.org/drawingml/2006/main" noGrp="1"/>
          </p:cNvSpPr>
          <p:nvPr/>
        </p:nvSpPr>
        <p:spPr>
          <a:xfrm xmlns:a="http://schemas.openxmlformats.org/drawingml/2006/main">
            <a:off x="3714750" y="12382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Integrate dropout-tolerant t-of-n decryption with networked independent custodians.</a:t>
            </a:r>
          </a:p>
        </p:txBody>
      </p:sp>
      <p:sp>
        <p:nvSpPr>
          <p:cNvPr id="222" name="rule-100-202">
            <a:extLst xmlns:a="http://schemas.openxmlformats.org/drawingml/2006/main">
              <a:ext uri="{FF2B5EF4-FFF2-40B4-BE49-F238E27FC236}">
                <a16:creationId xmlns:a16="http://schemas.microsoft.com/office/drawing/2014/main" id="{D1B4CE68-A843-47DE-A326-0F8CD92B6A5F}"/>
              </a:ext>
            </a:extLst>
          </p:cNvPr>
          <p:cNvSpPr>
            <a:spLocks xmlns:a="http://schemas.openxmlformats.org/drawingml/2006/main" noGrp="1"/>
          </p:cNvSpPr>
          <p:nvPr/>
        </p:nvSpPr>
        <p:spPr>
          <a:xfrm xmlns:a="http://schemas.openxmlformats.org/drawingml/2006/main">
            <a:off x="952500" y="19240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future-heading-1">
            <a:extLst xmlns:a="http://schemas.openxmlformats.org/drawingml/2006/main">
              <a:ext uri="{FF2B5EF4-FFF2-40B4-BE49-F238E27FC236}">
                <a16:creationId xmlns:a16="http://schemas.microsoft.com/office/drawing/2014/main" id="{568495B0-C246-4E92-A3A4-897C78E24B8B}"/>
              </a:ext>
            </a:extLst>
          </p:cNvPr>
          <p:cNvSpPr>
            <a:spLocks xmlns:a="http://schemas.openxmlformats.org/drawingml/2006/main" noGrp="1"/>
          </p:cNvSpPr>
          <p:nvPr/>
        </p:nvSpPr>
        <p:spPr>
          <a:xfrm xmlns:a="http://schemas.openxmlformats.org/drawingml/2006/main">
            <a:off x="952500" y="21717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626"/>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Encrypted robustness</a:t>
            </a:r>
          </a:p>
        </p:txBody>
      </p:sp>
      <p:sp>
        <p:nvSpPr>
          <p:cNvPr id="224" name="future-body-1">
            <a:extLst xmlns:a="http://schemas.openxmlformats.org/drawingml/2006/main">
              <a:ext uri="{FF2B5EF4-FFF2-40B4-BE49-F238E27FC236}">
                <a16:creationId xmlns:a16="http://schemas.microsoft.com/office/drawing/2014/main" id="{79E69313-3063-41C9-97D9-3260C1BA5A1D}"/>
              </a:ext>
            </a:extLst>
          </p:cNvPr>
          <p:cNvSpPr>
            <a:spLocks xmlns:a="http://schemas.openxmlformats.org/drawingml/2006/main" noGrp="1"/>
          </p:cNvSpPr>
          <p:nvPr/>
        </p:nvSpPr>
        <p:spPr>
          <a:xfrm xmlns:a="http://schemas.openxmlformats.org/drawingml/2006/main">
            <a:off x="3714750" y="21717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Develop secure robust statistics that do not require exposing individual plaintext updates.</a:t>
            </a:r>
          </a:p>
        </p:txBody>
      </p:sp>
      <p:sp>
        <p:nvSpPr>
          <p:cNvPr id="225" name="rule-100-300">
            <a:extLst xmlns:a="http://schemas.openxmlformats.org/drawingml/2006/main">
              <a:ext uri="{FF2B5EF4-FFF2-40B4-BE49-F238E27FC236}">
                <a16:creationId xmlns:a16="http://schemas.microsoft.com/office/drawing/2014/main" id="{ED8913E1-5FCF-43AE-AF34-B1BE0DC35E50}"/>
              </a:ext>
            </a:extLst>
          </p:cNvPr>
          <p:cNvSpPr>
            <a:spLocks xmlns:a="http://schemas.openxmlformats.org/drawingml/2006/main" noGrp="1"/>
          </p:cNvSpPr>
          <p:nvPr/>
        </p:nvSpPr>
        <p:spPr>
          <a:xfrm xmlns:a="http://schemas.openxmlformats.org/drawingml/2006/main">
            <a:off x="952500" y="28575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future-heading-2">
            <a:extLst xmlns:a="http://schemas.openxmlformats.org/drawingml/2006/main">
              <a:ext uri="{FF2B5EF4-FFF2-40B4-BE49-F238E27FC236}">
                <a16:creationId xmlns:a16="http://schemas.microsoft.com/office/drawing/2014/main" id="{78D8A5C4-F2F6-4295-9470-8454CA08421A}"/>
              </a:ext>
            </a:extLst>
          </p:cNvPr>
          <p:cNvSpPr>
            <a:spLocks xmlns:a="http://schemas.openxmlformats.org/drawingml/2006/main" noGrp="1"/>
          </p:cNvSpPr>
          <p:nvPr/>
        </p:nvSpPr>
        <p:spPr>
          <a:xfrm xmlns:a="http://schemas.openxmlformats.org/drawingml/2006/main">
            <a:off x="952500" y="31051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lnSpcReduction="2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Production deployment</a:t>
            </a:r>
          </a:p>
        </p:txBody>
      </p:sp>
      <p:sp>
        <p:nvSpPr>
          <p:cNvPr id="227" name="future-body-2">
            <a:extLst xmlns:a="http://schemas.openxmlformats.org/drawingml/2006/main">
              <a:ext uri="{FF2B5EF4-FFF2-40B4-BE49-F238E27FC236}">
                <a16:creationId xmlns:a16="http://schemas.microsoft.com/office/drawing/2014/main" id="{E9104F83-5B73-4D84-9A61-93FFD3BDFBE0}"/>
              </a:ext>
            </a:extLst>
          </p:cNvPr>
          <p:cNvSpPr>
            <a:spLocks xmlns:a="http://schemas.openxmlformats.org/drawingml/2006/main" noGrp="1"/>
          </p:cNvSpPr>
          <p:nvPr/>
        </p:nvSpPr>
        <p:spPr>
          <a:xfrm xmlns:a="http://schemas.openxmlformats.org/drawingml/2006/main">
            <a:off x="3714750" y="31051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Run concurrent multi-host WAN experiments and physical TDX or SEV-SNP attestation.</a:t>
            </a:r>
          </a:p>
        </p:txBody>
      </p:sp>
      <p:sp>
        <p:nvSpPr>
          <p:cNvPr id="228" name="rule-100-398">
            <a:extLst xmlns:a="http://schemas.openxmlformats.org/drawingml/2006/main">
              <a:ext uri="{FF2B5EF4-FFF2-40B4-BE49-F238E27FC236}">
                <a16:creationId xmlns:a16="http://schemas.microsoft.com/office/drawing/2014/main" id="{CD4C655C-3676-4349-9C17-A269F31B71C9}"/>
              </a:ext>
            </a:extLst>
          </p:cNvPr>
          <p:cNvSpPr>
            <a:spLocks xmlns:a="http://schemas.openxmlformats.org/drawingml/2006/main" noGrp="1"/>
          </p:cNvSpPr>
          <p:nvPr/>
        </p:nvSpPr>
        <p:spPr>
          <a:xfrm xmlns:a="http://schemas.openxmlformats.org/drawingml/2006/main">
            <a:off x="952500" y="37909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future-heading-3">
            <a:extLst xmlns:a="http://schemas.openxmlformats.org/drawingml/2006/main">
              <a:ext uri="{FF2B5EF4-FFF2-40B4-BE49-F238E27FC236}">
                <a16:creationId xmlns:a16="http://schemas.microsoft.com/office/drawing/2014/main" id="{B534CBAC-79B1-4870-8F32-30613F27B2DA}"/>
              </a:ext>
            </a:extLst>
          </p:cNvPr>
          <p:cNvSpPr>
            <a:spLocks xmlns:a="http://schemas.openxmlformats.org/drawingml/2006/main" noGrp="1"/>
          </p:cNvSpPr>
          <p:nvPr/>
        </p:nvSpPr>
        <p:spPr>
          <a:xfrm xmlns:a="http://schemas.openxmlformats.org/drawingml/2006/main">
            <a:off x="952500" y="40386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362"/>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Clinical generalization</a:t>
            </a:r>
          </a:p>
        </p:txBody>
      </p:sp>
      <p:sp>
        <p:nvSpPr>
          <p:cNvPr id="230" name="future-body-3">
            <a:extLst xmlns:a="http://schemas.openxmlformats.org/drawingml/2006/main">
              <a:ext uri="{FF2B5EF4-FFF2-40B4-BE49-F238E27FC236}">
                <a16:creationId xmlns:a16="http://schemas.microsoft.com/office/drawing/2014/main" id="{03245E0B-7FD7-4653-B3E8-DADF827963BB}"/>
              </a:ext>
            </a:extLst>
          </p:cNvPr>
          <p:cNvSpPr>
            <a:spLocks xmlns:a="http://schemas.openxmlformats.org/drawingml/2006/main" noGrp="1"/>
          </p:cNvSpPr>
          <p:nvPr/>
        </p:nvSpPr>
        <p:spPr>
          <a:xfrm xmlns:a="http://schemas.openxmlformats.org/drawingml/2006/main">
            <a:off x="3714750" y="40386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Evaluate additional institutions, diseases, model families, fairness endpoints, and prospective workflows.</a:t>
            </a:r>
          </a:p>
        </p:txBody>
      </p:sp>
      <p:sp>
        <p:nvSpPr>
          <p:cNvPr id="231" name="rule-100-496">
            <a:extLst xmlns:a="http://schemas.openxmlformats.org/drawingml/2006/main">
              <a:ext uri="{FF2B5EF4-FFF2-40B4-BE49-F238E27FC236}">
                <a16:creationId xmlns:a16="http://schemas.microsoft.com/office/drawing/2014/main" id="{52FB6D97-7A77-4E9E-9850-066828288E2F}"/>
              </a:ext>
            </a:extLst>
          </p:cNvPr>
          <p:cNvSpPr>
            <a:spLocks xmlns:a="http://schemas.openxmlformats.org/drawingml/2006/main" noGrp="1"/>
          </p:cNvSpPr>
          <p:nvPr/>
        </p:nvSpPr>
        <p:spPr>
          <a:xfrm xmlns:a="http://schemas.openxmlformats.org/drawingml/2006/main">
            <a:off x="952500" y="47244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future-heading-4">
            <a:extLst xmlns:a="http://schemas.openxmlformats.org/drawingml/2006/main">
              <a:ext uri="{FF2B5EF4-FFF2-40B4-BE49-F238E27FC236}">
                <a16:creationId xmlns:a16="http://schemas.microsoft.com/office/drawing/2014/main" id="{E998B5CE-32BD-4323-8567-B6FA18FAE274}"/>
              </a:ext>
            </a:extLst>
          </p:cNvPr>
          <p:cNvSpPr>
            <a:spLocks xmlns:a="http://schemas.openxmlformats.org/drawingml/2006/main" noGrp="1"/>
          </p:cNvSpPr>
          <p:nvPr/>
        </p:nvSpPr>
        <p:spPr>
          <a:xfrm xmlns:a="http://schemas.openxmlformats.org/drawingml/2006/main">
            <a:off x="952500" y="49720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lnSpcReduction="2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Independent assurance</a:t>
            </a:r>
          </a:p>
        </p:txBody>
      </p:sp>
      <p:sp>
        <p:nvSpPr>
          <p:cNvPr id="233" name="future-body-4">
            <a:extLst xmlns:a="http://schemas.openxmlformats.org/drawingml/2006/main">
              <a:ext uri="{FF2B5EF4-FFF2-40B4-BE49-F238E27FC236}">
                <a16:creationId xmlns:a16="http://schemas.microsoft.com/office/drawing/2014/main" id="{9483DACB-F39A-44B7-BC69-6391486F16C4}"/>
              </a:ext>
            </a:extLst>
          </p:cNvPr>
          <p:cNvSpPr>
            <a:spLocks xmlns:a="http://schemas.openxmlformats.org/drawingml/2006/main" noGrp="1"/>
          </p:cNvSpPr>
          <p:nvPr/>
        </p:nvSpPr>
        <p:spPr>
          <a:xfrm xmlns:a="http://schemas.openxmlformats.org/drawingml/2006/main">
            <a:off x="3714750" y="49720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Audit secure randomness, cryptographic configuration, governance logic, and threat-control evidence.</a:t>
            </a:r>
          </a:p>
        </p:txBody>
      </p:sp>
      <p:sp>
        <p:nvSpPr>
          <p:cNvPr id="236" name="visible-footer-date-27">
            <a:extLst xmlns:a="http://schemas.openxmlformats.org/drawingml/2006/main">
              <a:ext uri="{FF2B5EF4-FFF2-40B4-BE49-F238E27FC236}">
                <a16:creationId xmlns:a16="http://schemas.microsoft.com/office/drawing/2014/main" id="{A06A22BD-BF09-481E-8BEA-555507DFCF2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58" name="Picture 1"/>
          <p:cNvPicPr>
            <a:picLocks xmlns:a="http://schemas.openxmlformats.org/drawingml/2006/main" noChangeAspect="1"/>
          </p:cNvPicPr>
          <p:nvPr/>
        </p:nvPicPr>
        <p:blipFill>
          <a:blip xmlns:r="http://schemas.openxmlformats.org/officeDocument/2006/relationships" xmlns:a="http://schemas.openxmlformats.org/drawingml/2006/main" r:embed="R524e218bf4944255"/>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3557563943"/>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EE1420B-D505-7F3F-F820-A0568A0EF77B}"/>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Conclusion</a:t>
            </a:r>
            <a:endParaRPr/>
          </a:p>
        </p:txBody>
      </p:sp>
      <p:sp>
        <p:nvSpPr>
          <p:cNvPr id="212" name="Google Shape;212;p28">
            <a:extLst xmlns:a="http://schemas.openxmlformats.org/drawingml/2006/main">
              <a:ext uri="{FF2B5EF4-FFF2-40B4-BE49-F238E27FC236}">
                <a16:creationId xmlns:a16="http://schemas.microsoft.com/office/drawing/2014/main" id="{DEFBA6C7-8677-BA99-896A-D45BF6267A3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36</a:t>
            </a:r>
            <a:endParaRPr sz="2800"/>
          </a:p>
        </p:txBody>
      </p:sp>
      <p:pic>
        <p:nvPicPr>
          <p:cNvPr id="26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c11c0f0859d4c4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E7B3C8F-E948-A1D6-7FC6-3DFC5D71625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future-heading-0">
            <a:extLst xmlns:a="http://schemas.openxmlformats.org/drawingml/2006/main">
              <a:ext uri="{FF2B5EF4-FFF2-40B4-BE49-F238E27FC236}">
                <a16:creationId xmlns:a16="http://schemas.microsoft.com/office/drawing/2014/main" id="{F2ECD84B-E76C-4495-B9CA-4D1D6AFB6122}"/>
              </a:ext>
            </a:extLst>
          </p:cNvPr>
          <p:cNvSpPr>
            <a:spLocks xmlns:a="http://schemas.openxmlformats.org/drawingml/2006/main" noGrp="1"/>
          </p:cNvSpPr>
          <p:nvPr/>
        </p:nvSpPr>
        <p:spPr>
          <a:xfrm xmlns:a="http://schemas.openxmlformats.org/drawingml/2006/main">
            <a:off x="952500" y="12382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Threshold custody</a:t>
            </a:r>
          </a:p>
        </p:txBody>
      </p:sp>
      <p:sp>
        <p:nvSpPr>
          <p:cNvPr id="221" name="future-body-0">
            <a:extLst xmlns:a="http://schemas.openxmlformats.org/drawingml/2006/main">
              <a:ext uri="{FF2B5EF4-FFF2-40B4-BE49-F238E27FC236}">
                <a16:creationId xmlns:a16="http://schemas.microsoft.com/office/drawing/2014/main" id="{1765C348-CDF5-4D16-952C-9760DDF9ECBE}"/>
              </a:ext>
            </a:extLst>
          </p:cNvPr>
          <p:cNvSpPr>
            <a:spLocks xmlns:a="http://schemas.openxmlformats.org/drawingml/2006/main" noGrp="1"/>
          </p:cNvSpPr>
          <p:nvPr/>
        </p:nvSpPr>
        <p:spPr>
          <a:xfrm xmlns:a="http://schemas.openxmlformats.org/drawingml/2006/main">
            <a:off x="3714750" y="12382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Integrate dropout-tolerant t-of-n decryption with networked independent custodians.</a:t>
            </a:r>
          </a:p>
        </p:txBody>
      </p:sp>
      <p:sp>
        <p:nvSpPr>
          <p:cNvPr id="222" name="rule-100-202">
            <a:extLst xmlns:a="http://schemas.openxmlformats.org/drawingml/2006/main">
              <a:ext uri="{FF2B5EF4-FFF2-40B4-BE49-F238E27FC236}">
                <a16:creationId xmlns:a16="http://schemas.microsoft.com/office/drawing/2014/main" id="{D1B4CE68-A843-47DE-A326-0F8CD92B6A5F}"/>
              </a:ext>
            </a:extLst>
          </p:cNvPr>
          <p:cNvSpPr>
            <a:spLocks xmlns:a="http://schemas.openxmlformats.org/drawingml/2006/main" noGrp="1"/>
          </p:cNvSpPr>
          <p:nvPr/>
        </p:nvSpPr>
        <p:spPr>
          <a:xfrm xmlns:a="http://schemas.openxmlformats.org/drawingml/2006/main">
            <a:off x="952500" y="19240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future-heading-1">
            <a:extLst xmlns:a="http://schemas.openxmlformats.org/drawingml/2006/main">
              <a:ext uri="{FF2B5EF4-FFF2-40B4-BE49-F238E27FC236}">
                <a16:creationId xmlns:a16="http://schemas.microsoft.com/office/drawing/2014/main" id="{568495B0-C246-4E92-A3A4-897C78E24B8B}"/>
              </a:ext>
            </a:extLst>
          </p:cNvPr>
          <p:cNvSpPr>
            <a:spLocks xmlns:a="http://schemas.openxmlformats.org/drawingml/2006/main" noGrp="1"/>
          </p:cNvSpPr>
          <p:nvPr/>
        </p:nvSpPr>
        <p:spPr>
          <a:xfrm xmlns:a="http://schemas.openxmlformats.org/drawingml/2006/main">
            <a:off x="952500" y="21717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626"/>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Encrypted robustness</a:t>
            </a:r>
          </a:p>
        </p:txBody>
      </p:sp>
      <p:sp>
        <p:nvSpPr>
          <p:cNvPr id="224" name="future-body-1">
            <a:extLst xmlns:a="http://schemas.openxmlformats.org/drawingml/2006/main">
              <a:ext uri="{FF2B5EF4-FFF2-40B4-BE49-F238E27FC236}">
                <a16:creationId xmlns:a16="http://schemas.microsoft.com/office/drawing/2014/main" id="{79E69313-3063-41C9-97D9-3260C1BA5A1D}"/>
              </a:ext>
            </a:extLst>
          </p:cNvPr>
          <p:cNvSpPr>
            <a:spLocks xmlns:a="http://schemas.openxmlformats.org/drawingml/2006/main" noGrp="1"/>
          </p:cNvSpPr>
          <p:nvPr/>
        </p:nvSpPr>
        <p:spPr>
          <a:xfrm xmlns:a="http://schemas.openxmlformats.org/drawingml/2006/main">
            <a:off x="3714750" y="21717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Develop secure robust statistics that do not require exposing individual plaintext updates.</a:t>
            </a:r>
          </a:p>
        </p:txBody>
      </p:sp>
      <p:sp>
        <p:nvSpPr>
          <p:cNvPr id="225" name="rule-100-300">
            <a:extLst xmlns:a="http://schemas.openxmlformats.org/drawingml/2006/main">
              <a:ext uri="{FF2B5EF4-FFF2-40B4-BE49-F238E27FC236}">
                <a16:creationId xmlns:a16="http://schemas.microsoft.com/office/drawing/2014/main" id="{ED8913E1-5FCF-43AE-AF34-B1BE0DC35E50}"/>
              </a:ext>
            </a:extLst>
          </p:cNvPr>
          <p:cNvSpPr>
            <a:spLocks xmlns:a="http://schemas.openxmlformats.org/drawingml/2006/main" noGrp="1"/>
          </p:cNvSpPr>
          <p:nvPr/>
        </p:nvSpPr>
        <p:spPr>
          <a:xfrm xmlns:a="http://schemas.openxmlformats.org/drawingml/2006/main">
            <a:off x="952500" y="28575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future-heading-2">
            <a:extLst xmlns:a="http://schemas.openxmlformats.org/drawingml/2006/main">
              <a:ext uri="{FF2B5EF4-FFF2-40B4-BE49-F238E27FC236}">
                <a16:creationId xmlns:a16="http://schemas.microsoft.com/office/drawing/2014/main" id="{78D8A5C4-F2F6-4295-9470-8454CA08421A}"/>
              </a:ext>
            </a:extLst>
          </p:cNvPr>
          <p:cNvSpPr>
            <a:spLocks xmlns:a="http://schemas.openxmlformats.org/drawingml/2006/main" noGrp="1"/>
          </p:cNvSpPr>
          <p:nvPr/>
        </p:nvSpPr>
        <p:spPr>
          <a:xfrm xmlns:a="http://schemas.openxmlformats.org/drawingml/2006/main">
            <a:off x="952500" y="31051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lnSpcReduction="2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Production deployment</a:t>
            </a:r>
          </a:p>
        </p:txBody>
      </p:sp>
      <p:sp>
        <p:nvSpPr>
          <p:cNvPr id="227" name="future-body-2">
            <a:extLst xmlns:a="http://schemas.openxmlformats.org/drawingml/2006/main">
              <a:ext uri="{FF2B5EF4-FFF2-40B4-BE49-F238E27FC236}">
                <a16:creationId xmlns:a16="http://schemas.microsoft.com/office/drawing/2014/main" id="{E9104F83-5B73-4D84-9A61-93FFD3BDFBE0}"/>
              </a:ext>
            </a:extLst>
          </p:cNvPr>
          <p:cNvSpPr>
            <a:spLocks xmlns:a="http://schemas.openxmlformats.org/drawingml/2006/main" noGrp="1"/>
          </p:cNvSpPr>
          <p:nvPr/>
        </p:nvSpPr>
        <p:spPr>
          <a:xfrm xmlns:a="http://schemas.openxmlformats.org/drawingml/2006/main">
            <a:off x="3714750" y="31051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Run concurrent multi-host WAN experiments and physical TDX or SEV-SNP attestation.</a:t>
            </a:r>
          </a:p>
        </p:txBody>
      </p:sp>
      <p:sp>
        <p:nvSpPr>
          <p:cNvPr id="228" name="rule-100-398">
            <a:extLst xmlns:a="http://schemas.openxmlformats.org/drawingml/2006/main">
              <a:ext uri="{FF2B5EF4-FFF2-40B4-BE49-F238E27FC236}">
                <a16:creationId xmlns:a16="http://schemas.microsoft.com/office/drawing/2014/main" id="{CD4C655C-3676-4349-9C17-A269F31B71C9}"/>
              </a:ext>
            </a:extLst>
          </p:cNvPr>
          <p:cNvSpPr>
            <a:spLocks xmlns:a="http://schemas.openxmlformats.org/drawingml/2006/main" noGrp="1"/>
          </p:cNvSpPr>
          <p:nvPr/>
        </p:nvSpPr>
        <p:spPr>
          <a:xfrm xmlns:a="http://schemas.openxmlformats.org/drawingml/2006/main">
            <a:off x="952500" y="37909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future-heading-3">
            <a:extLst xmlns:a="http://schemas.openxmlformats.org/drawingml/2006/main">
              <a:ext uri="{FF2B5EF4-FFF2-40B4-BE49-F238E27FC236}">
                <a16:creationId xmlns:a16="http://schemas.microsoft.com/office/drawing/2014/main" id="{B534CBAC-79B1-4870-8F32-30613F27B2DA}"/>
              </a:ext>
            </a:extLst>
          </p:cNvPr>
          <p:cNvSpPr>
            <a:spLocks xmlns:a="http://schemas.openxmlformats.org/drawingml/2006/main" noGrp="1"/>
          </p:cNvSpPr>
          <p:nvPr/>
        </p:nvSpPr>
        <p:spPr>
          <a:xfrm xmlns:a="http://schemas.openxmlformats.org/drawingml/2006/main">
            <a:off x="952500" y="40386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362"/>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Clinical generalization</a:t>
            </a:r>
          </a:p>
        </p:txBody>
      </p:sp>
      <p:sp>
        <p:nvSpPr>
          <p:cNvPr id="230" name="future-body-3">
            <a:extLst xmlns:a="http://schemas.openxmlformats.org/drawingml/2006/main">
              <a:ext uri="{FF2B5EF4-FFF2-40B4-BE49-F238E27FC236}">
                <a16:creationId xmlns:a16="http://schemas.microsoft.com/office/drawing/2014/main" id="{03245E0B-7FD7-4653-B3E8-DADF827963BB}"/>
              </a:ext>
            </a:extLst>
          </p:cNvPr>
          <p:cNvSpPr>
            <a:spLocks xmlns:a="http://schemas.openxmlformats.org/drawingml/2006/main" noGrp="1"/>
          </p:cNvSpPr>
          <p:nvPr/>
        </p:nvSpPr>
        <p:spPr>
          <a:xfrm xmlns:a="http://schemas.openxmlformats.org/drawingml/2006/main">
            <a:off x="3714750" y="40386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Evaluate additional institutions, diseases, model families, fairness endpoints, and prospective workflows.</a:t>
            </a:r>
          </a:p>
        </p:txBody>
      </p:sp>
      <p:sp>
        <p:nvSpPr>
          <p:cNvPr id="231" name="rule-100-496">
            <a:extLst xmlns:a="http://schemas.openxmlformats.org/drawingml/2006/main">
              <a:ext uri="{FF2B5EF4-FFF2-40B4-BE49-F238E27FC236}">
                <a16:creationId xmlns:a16="http://schemas.microsoft.com/office/drawing/2014/main" id="{52FB6D97-7A77-4E9E-9850-066828288E2F}"/>
              </a:ext>
            </a:extLst>
          </p:cNvPr>
          <p:cNvSpPr>
            <a:spLocks xmlns:a="http://schemas.openxmlformats.org/drawingml/2006/main" noGrp="1"/>
          </p:cNvSpPr>
          <p:nvPr/>
        </p:nvSpPr>
        <p:spPr>
          <a:xfrm xmlns:a="http://schemas.openxmlformats.org/drawingml/2006/main">
            <a:off x="952500" y="47244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future-heading-4">
            <a:extLst xmlns:a="http://schemas.openxmlformats.org/drawingml/2006/main">
              <a:ext uri="{FF2B5EF4-FFF2-40B4-BE49-F238E27FC236}">
                <a16:creationId xmlns:a16="http://schemas.microsoft.com/office/drawing/2014/main" id="{E998B5CE-32BD-4323-8567-B6FA18FAE274}"/>
              </a:ext>
            </a:extLst>
          </p:cNvPr>
          <p:cNvSpPr>
            <a:spLocks xmlns:a="http://schemas.openxmlformats.org/drawingml/2006/main" noGrp="1"/>
          </p:cNvSpPr>
          <p:nvPr/>
        </p:nvSpPr>
        <p:spPr>
          <a:xfrm xmlns:a="http://schemas.openxmlformats.org/drawingml/2006/main">
            <a:off x="952500" y="49720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lnSpcReduction="2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Independent assurance</a:t>
            </a:r>
          </a:p>
        </p:txBody>
      </p:sp>
      <p:sp>
        <p:nvSpPr>
          <p:cNvPr id="233" name="future-body-4">
            <a:extLst xmlns:a="http://schemas.openxmlformats.org/drawingml/2006/main">
              <a:ext uri="{FF2B5EF4-FFF2-40B4-BE49-F238E27FC236}">
                <a16:creationId xmlns:a16="http://schemas.microsoft.com/office/drawing/2014/main" id="{9483DACB-F39A-44B7-BC69-6391486F16C4}"/>
              </a:ext>
            </a:extLst>
          </p:cNvPr>
          <p:cNvSpPr>
            <a:spLocks xmlns:a="http://schemas.openxmlformats.org/drawingml/2006/main" noGrp="1"/>
          </p:cNvSpPr>
          <p:nvPr/>
        </p:nvSpPr>
        <p:spPr>
          <a:xfrm xmlns:a="http://schemas.openxmlformats.org/drawingml/2006/main">
            <a:off x="3714750" y="49720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Audit secure randomness, cryptographic configuration, governance logic, and threat-control evidence.</a:t>
            </a:r>
          </a:p>
        </p:txBody>
      </p:sp>
      <p:sp>
        <p:nvSpPr>
          <p:cNvPr id="236" name="visible-footer-date-27">
            <a:extLst xmlns:a="http://schemas.openxmlformats.org/drawingml/2006/main">
              <a:ext uri="{FF2B5EF4-FFF2-40B4-BE49-F238E27FC236}">
                <a16:creationId xmlns:a16="http://schemas.microsoft.com/office/drawing/2014/main" id="{A06A22BD-BF09-481E-8BEA-555507DFCF2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9" name="final-conclusion-content-cover">
            <a:extLst xmlns:a="http://schemas.openxmlformats.org/drawingml/2006/main">
              <a:ext uri="{FF2B5EF4-FFF2-40B4-BE49-F238E27FC236}">
                <a16:creationId xmlns:a16="http://schemas.microsoft.com/office/drawing/2014/main" id="{50E68349-A6A5-4612-9F21-F3E7A4C4D983}"/>
              </a:ext>
            </a:extLst>
          </p:cNvPr>
          <p:cNvSpPr>
            <a:spLocks xmlns:a="http://schemas.openxmlformats.org/drawingml/2006/main" noGrp="1"/>
          </p:cNvSpPr>
          <p:nvPr/>
        </p:nvSpPr>
        <p:spPr>
          <a:xfrm xmlns:a="http://schemas.openxmlformats.org/drawingml/2006/main">
            <a:off x="619125" y="1190625"/>
            <a:ext cx="10953750" cy="49053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40" name="final-conclusion-subtitle">
            <a:extLst xmlns:a="http://schemas.openxmlformats.org/drawingml/2006/main">
              <a:ext uri="{FF2B5EF4-FFF2-40B4-BE49-F238E27FC236}">
                <a16:creationId xmlns:a16="http://schemas.microsoft.com/office/drawing/2014/main" id="{2BC6AE6C-64EB-41C7-9D00-661205D21167}"/>
              </a:ext>
            </a:extLst>
          </p:cNvPr>
          <p:cNvSpPr>
            <a:spLocks xmlns:a="http://schemas.openxmlformats.org/drawingml/2006/main" noGrp="1"/>
          </p:cNvSpPr>
          <p:nvPr/>
        </p:nvSpPr>
        <p:spPr>
          <a:xfrm xmlns:a="http://schemas.openxmlformats.org/drawingml/2006/main">
            <a:off x="1428750" y="1219200"/>
            <a:ext cx="933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275" i="1">
                <a:solidFill>
                  <a:srgbClr val="5B677A"/>
                </a:solidFill>
                <a:latin typeface="Arial"/>
                <a:ea typeface="Arial"/>
                <a:cs typeface="Arial"/>
              </a:defRPr>
            </a:pPr>
            <a:r>
              <a:rPr sz="1275" i="1">
                <a:solidFill>
                  <a:srgbClr val="5B677A"/>
                </a:solidFill>
                <a:latin typeface="Arial"/>
                <a:ea typeface="Arial"/>
                <a:cs typeface="Arial"/>
              </a:rPr>
              <a:t>The study demonstrates an integrated and empirically evaluated approach to secure multi-institutional federated learning.</a:t>
            </a:r>
          </a:p>
        </p:txBody>
      </p:sp>
      <p:sp>
        <p:nvSpPr>
          <p:cNvPr id="241" name="conclusion-label-1">
            <a:extLst xmlns:a="http://schemas.openxmlformats.org/drawingml/2006/main">
              <a:ext uri="{FF2B5EF4-FFF2-40B4-BE49-F238E27FC236}">
                <a16:creationId xmlns:a16="http://schemas.microsoft.com/office/drawing/2014/main" id="{55301C9E-74C9-48F0-B8EB-051138288CE2}"/>
              </a:ext>
            </a:extLst>
          </p:cNvPr>
          <p:cNvSpPr>
            <a:spLocks xmlns:a="http://schemas.openxmlformats.org/drawingml/2006/main" noGrp="1"/>
          </p:cNvSpPr>
          <p:nvPr/>
        </p:nvSpPr>
        <p:spPr>
          <a:xfrm xmlns:a="http://schemas.openxmlformats.org/drawingml/2006/main">
            <a:off x="1000125" y="1762125"/>
            <a:ext cx="2619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650" b="1">
                <a:solidFill>
                  <a:srgbClr val="008A46"/>
                </a:solidFill>
                <a:latin typeface="Arial"/>
                <a:ea typeface="Arial"/>
                <a:cs typeface="Arial"/>
              </a:defRPr>
            </a:pPr>
            <a:r>
              <a:rPr sz="1650" b="1">
                <a:solidFill>
                  <a:srgbClr val="008A46"/>
                </a:solidFill>
                <a:latin typeface="Arial"/>
                <a:ea typeface="Arial"/>
                <a:cs typeface="Arial"/>
              </a:rPr>
              <a:t>Integrated framework</a:t>
            </a:r>
          </a:p>
        </p:txBody>
      </p:sp>
      <p:sp>
        <p:nvSpPr>
          <p:cNvPr id="242" name="conclusion-text-1">
            <a:extLst xmlns:a="http://schemas.openxmlformats.org/drawingml/2006/main">
              <a:ext uri="{FF2B5EF4-FFF2-40B4-BE49-F238E27FC236}">
                <a16:creationId xmlns:a16="http://schemas.microsoft.com/office/drawing/2014/main" id="{9203BA06-2C18-44F9-AF9A-8926F3C28993}"/>
              </a:ext>
            </a:extLst>
          </p:cNvPr>
          <p:cNvSpPr>
            <a:spLocks xmlns:a="http://schemas.openxmlformats.org/drawingml/2006/main" noGrp="1"/>
          </p:cNvSpPr>
          <p:nvPr/>
        </p:nvSpPr>
        <p:spPr>
          <a:xfrm xmlns:a="http://schemas.openxmlformats.org/drawingml/2006/main">
            <a:off x="3810000" y="1762125"/>
            <a:ext cx="7477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350">
                <a:solidFill>
                  <a:srgbClr val="263244"/>
                </a:solidFill>
                <a:latin typeface="Arial"/>
                <a:ea typeface="Arial"/>
                <a:cs typeface="Arial"/>
              </a:defRPr>
            </a:pPr>
            <a:r>
              <a:rPr sz="1350">
                <a:solidFill>
                  <a:srgbClr val="263244"/>
                </a:solidFill>
                <a:latin typeface="Arial"/>
                <a:ea typeface="Arial"/>
                <a:cs typeface="Arial"/>
              </a:rPr>
              <a:t>CAABC-FL combines record-level privacy, ciphertext-aligned compression, CKKS-protected aggregation, controlled model release and auditable governance in one workflow.</a:t>
            </a:r>
          </a:p>
        </p:txBody>
      </p:sp>
      <p:sp>
        <p:nvSpPr>
          <p:cNvPr id="243" name="conclusion-rule-1">
            <a:extLst xmlns:a="http://schemas.openxmlformats.org/drawingml/2006/main">
              <a:ext uri="{FF2B5EF4-FFF2-40B4-BE49-F238E27FC236}">
                <a16:creationId xmlns:a16="http://schemas.microsoft.com/office/drawing/2014/main" id="{4EEC5555-25D0-4A7B-9555-631907CE1AA9}"/>
              </a:ext>
            </a:extLst>
          </p:cNvPr>
          <p:cNvSpPr>
            <a:spLocks xmlns:a="http://schemas.openxmlformats.org/drawingml/2006/main" noGrp="1"/>
          </p:cNvSpPr>
          <p:nvPr/>
        </p:nvSpPr>
        <p:spPr>
          <a:xfrm xmlns:a="http://schemas.openxmlformats.org/drawingml/2006/main">
            <a:off x="904875" y="2486025"/>
            <a:ext cx="10382250" cy="11430"/>
          </a:xfrm>
          <a:prstGeom xmlns:a="http://schemas.openxmlformats.org/drawingml/2006/main" prst="rect">
            <a:avLst/>
          </a:prstGeom>
          <a:solidFill xmlns:a="http://schemas.openxmlformats.org/drawingml/2006/main">
            <a:srgbClr val="C8D3DF"/>
          </a:solidFill>
          <a:ln xmlns:a="http://schemas.openxmlformats.org/drawingml/2006/main" w="0">
            <a:noFill/>
          </a:ln>
        </p:spPr>
      </p:sp>
      <p:sp>
        <p:nvSpPr>
          <p:cNvPr id="244" name="conclusion-label-2">
            <a:extLst xmlns:a="http://schemas.openxmlformats.org/drawingml/2006/main">
              <a:ext uri="{FF2B5EF4-FFF2-40B4-BE49-F238E27FC236}">
                <a16:creationId xmlns:a16="http://schemas.microsoft.com/office/drawing/2014/main" id="{0F568816-CA8C-4564-9B39-0858575AA86D}"/>
              </a:ext>
            </a:extLst>
          </p:cNvPr>
          <p:cNvSpPr>
            <a:spLocks xmlns:a="http://schemas.openxmlformats.org/drawingml/2006/main" noGrp="1"/>
          </p:cNvSpPr>
          <p:nvPr/>
        </p:nvSpPr>
        <p:spPr>
          <a:xfrm xmlns:a="http://schemas.openxmlformats.org/drawingml/2006/main">
            <a:off x="1000125" y="2667000"/>
            <a:ext cx="2619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650" b="1">
                <a:solidFill>
                  <a:srgbClr val="17365D"/>
                </a:solidFill>
                <a:latin typeface="Arial"/>
                <a:ea typeface="Arial"/>
                <a:cs typeface="Arial"/>
              </a:defRPr>
            </a:pPr>
            <a:r>
              <a:rPr sz="1650" b="1">
                <a:solidFill>
                  <a:srgbClr val="17365D"/>
                </a:solidFill>
                <a:latin typeface="Arial"/>
                <a:ea typeface="Arial"/>
                <a:cs typeface="Arial"/>
              </a:rPr>
              <a:t>Experimental evidence</a:t>
            </a:r>
          </a:p>
        </p:txBody>
      </p:sp>
      <p:sp>
        <p:nvSpPr>
          <p:cNvPr id="245" name="conclusion-text-2">
            <a:extLst xmlns:a="http://schemas.openxmlformats.org/drawingml/2006/main">
              <a:ext uri="{FF2B5EF4-FFF2-40B4-BE49-F238E27FC236}">
                <a16:creationId xmlns:a16="http://schemas.microsoft.com/office/drawing/2014/main" id="{E768B45E-A1C0-4488-B9DD-6E0B2F66E259}"/>
              </a:ext>
            </a:extLst>
          </p:cNvPr>
          <p:cNvSpPr>
            <a:spLocks xmlns:a="http://schemas.openxmlformats.org/drawingml/2006/main" noGrp="1"/>
          </p:cNvSpPr>
          <p:nvPr/>
        </p:nvSpPr>
        <p:spPr>
          <a:xfrm xmlns:a="http://schemas.openxmlformats.org/drawingml/2006/main">
            <a:off x="3810000" y="2667000"/>
            <a:ext cx="7477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350">
                <a:solidFill>
                  <a:srgbClr val="263244"/>
                </a:solidFill>
                <a:latin typeface="Arial"/>
                <a:ea typeface="Arial"/>
                <a:cs typeface="Arial"/>
              </a:defRPr>
            </a:pPr>
            <a:r>
              <a:rPr sz="1350">
                <a:solidFill>
                  <a:srgbClr val="263244"/>
                </a:solidFill>
                <a:latin typeface="Arial"/>
                <a:ea typeface="Arial"/>
                <a:cs typeface="Arial"/>
              </a:rPr>
              <a:t>The registered experiments retained comparable predictive utility, reduced serialized encrypted upload, and limited membership and reconstruction exposure under the tested settings.</a:t>
            </a:r>
          </a:p>
        </p:txBody>
      </p:sp>
      <p:sp>
        <p:nvSpPr>
          <p:cNvPr id="246" name="conclusion-rule-2">
            <a:extLst xmlns:a="http://schemas.openxmlformats.org/drawingml/2006/main">
              <a:ext uri="{FF2B5EF4-FFF2-40B4-BE49-F238E27FC236}">
                <a16:creationId xmlns:a16="http://schemas.microsoft.com/office/drawing/2014/main" id="{27686754-AAB5-4C53-A24A-891ECCEC6F40}"/>
              </a:ext>
            </a:extLst>
          </p:cNvPr>
          <p:cNvSpPr>
            <a:spLocks xmlns:a="http://schemas.openxmlformats.org/drawingml/2006/main" noGrp="1"/>
          </p:cNvSpPr>
          <p:nvPr/>
        </p:nvSpPr>
        <p:spPr>
          <a:xfrm xmlns:a="http://schemas.openxmlformats.org/drawingml/2006/main">
            <a:off x="904875" y="3390900"/>
            <a:ext cx="10382250" cy="11430"/>
          </a:xfrm>
          <a:prstGeom xmlns:a="http://schemas.openxmlformats.org/drawingml/2006/main" prst="rect">
            <a:avLst/>
          </a:prstGeom>
          <a:solidFill xmlns:a="http://schemas.openxmlformats.org/drawingml/2006/main">
            <a:srgbClr val="C8D3DF"/>
          </a:solidFill>
          <a:ln xmlns:a="http://schemas.openxmlformats.org/drawingml/2006/main" w="0">
            <a:noFill/>
          </a:ln>
        </p:spPr>
      </p:sp>
      <p:sp>
        <p:nvSpPr>
          <p:cNvPr id="247" name="conclusion-label-3">
            <a:extLst xmlns:a="http://schemas.openxmlformats.org/drawingml/2006/main">
              <a:ext uri="{FF2B5EF4-FFF2-40B4-BE49-F238E27FC236}">
                <a16:creationId xmlns:a16="http://schemas.microsoft.com/office/drawing/2014/main" id="{9C9379D0-AC92-4052-B686-80553A665FAB}"/>
              </a:ext>
            </a:extLst>
          </p:cNvPr>
          <p:cNvSpPr>
            <a:spLocks xmlns:a="http://schemas.openxmlformats.org/drawingml/2006/main" noGrp="1"/>
          </p:cNvSpPr>
          <p:nvPr/>
        </p:nvSpPr>
        <p:spPr>
          <a:xfrm xmlns:a="http://schemas.openxmlformats.org/drawingml/2006/main">
            <a:off x="1000125" y="3571875"/>
            <a:ext cx="2619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650" b="1">
                <a:solidFill>
                  <a:srgbClr val="008A46"/>
                </a:solidFill>
                <a:latin typeface="Arial"/>
                <a:ea typeface="Arial"/>
                <a:cs typeface="Arial"/>
              </a:defRPr>
            </a:pPr>
            <a:r>
              <a:rPr sz="1650" b="1">
                <a:solidFill>
                  <a:srgbClr val="008A46"/>
                </a:solidFill>
                <a:latin typeface="Arial"/>
                <a:ea typeface="Arial"/>
                <a:cs typeface="Arial"/>
              </a:rPr>
              <a:t>Robust collaboration</a:t>
            </a:r>
          </a:p>
        </p:txBody>
      </p:sp>
      <p:sp>
        <p:nvSpPr>
          <p:cNvPr id="248" name="conclusion-text-3">
            <a:extLst xmlns:a="http://schemas.openxmlformats.org/drawingml/2006/main">
              <a:ext uri="{FF2B5EF4-FFF2-40B4-BE49-F238E27FC236}">
                <a16:creationId xmlns:a16="http://schemas.microsoft.com/office/drawing/2014/main" id="{0524D455-E99B-4935-991A-AABA968123A2}"/>
              </a:ext>
            </a:extLst>
          </p:cNvPr>
          <p:cNvSpPr>
            <a:spLocks xmlns:a="http://schemas.openxmlformats.org/drawingml/2006/main" noGrp="1"/>
          </p:cNvSpPr>
          <p:nvPr/>
        </p:nvSpPr>
        <p:spPr>
          <a:xfrm xmlns:a="http://schemas.openxmlformats.org/drawingml/2006/main">
            <a:off x="3810000" y="3571875"/>
            <a:ext cx="7477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350">
                <a:solidFill>
                  <a:srgbClr val="263244"/>
                </a:solidFill>
                <a:latin typeface="Arial"/>
                <a:ea typeface="Arial"/>
                <a:cs typeface="Arial"/>
              </a:defRPr>
            </a:pPr>
            <a:r>
              <a:rPr sz="1350">
                <a:solidFill>
                  <a:srgbClr val="263244"/>
                </a:solidFill>
                <a:latin typeface="Arial"/>
                <a:ea typeface="Arial"/>
                <a:cs typeface="Arial"/>
              </a:rPr>
              <a:t>Validation, reputation, rollback and audit controls improved resilience under the evaluated poisoning scenarios while preserving the protected aggregation path.</a:t>
            </a:r>
          </a:p>
        </p:txBody>
      </p:sp>
      <p:sp>
        <p:nvSpPr>
          <p:cNvPr id="249" name="conclusion-rule-3">
            <a:extLst xmlns:a="http://schemas.openxmlformats.org/drawingml/2006/main">
              <a:ext uri="{FF2B5EF4-FFF2-40B4-BE49-F238E27FC236}">
                <a16:creationId xmlns:a16="http://schemas.microsoft.com/office/drawing/2014/main" id="{466410C8-6CA1-4F80-B7C4-95089CAFD4E3}"/>
              </a:ext>
            </a:extLst>
          </p:cNvPr>
          <p:cNvSpPr>
            <a:spLocks xmlns:a="http://schemas.openxmlformats.org/drawingml/2006/main" noGrp="1"/>
          </p:cNvSpPr>
          <p:nvPr/>
        </p:nvSpPr>
        <p:spPr>
          <a:xfrm xmlns:a="http://schemas.openxmlformats.org/drawingml/2006/main">
            <a:off x="904875" y="4295775"/>
            <a:ext cx="10382250" cy="11430"/>
          </a:xfrm>
          <a:prstGeom xmlns:a="http://schemas.openxmlformats.org/drawingml/2006/main" prst="rect">
            <a:avLst/>
          </a:prstGeom>
          <a:solidFill xmlns:a="http://schemas.openxmlformats.org/drawingml/2006/main">
            <a:srgbClr val="C8D3DF"/>
          </a:solidFill>
          <a:ln xmlns:a="http://schemas.openxmlformats.org/drawingml/2006/main" w="0">
            <a:noFill/>
          </a:ln>
        </p:spPr>
      </p:sp>
      <p:sp>
        <p:nvSpPr>
          <p:cNvPr id="250" name="conclusion-label-4">
            <a:extLst xmlns:a="http://schemas.openxmlformats.org/drawingml/2006/main">
              <a:ext uri="{FF2B5EF4-FFF2-40B4-BE49-F238E27FC236}">
                <a16:creationId xmlns:a16="http://schemas.microsoft.com/office/drawing/2014/main" id="{12411998-3451-485E-AAB6-3E660EF5F96F}"/>
              </a:ext>
            </a:extLst>
          </p:cNvPr>
          <p:cNvSpPr>
            <a:spLocks xmlns:a="http://schemas.openxmlformats.org/drawingml/2006/main" noGrp="1"/>
          </p:cNvSpPr>
          <p:nvPr/>
        </p:nvSpPr>
        <p:spPr>
          <a:xfrm xmlns:a="http://schemas.openxmlformats.org/drawingml/2006/main">
            <a:off x="1000125" y="4476750"/>
            <a:ext cx="2619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650" b="1">
                <a:solidFill>
                  <a:srgbClr val="17365D"/>
                </a:solidFill>
                <a:latin typeface="Arial"/>
                <a:ea typeface="Arial"/>
                <a:cs typeface="Arial"/>
              </a:defRPr>
            </a:pPr>
            <a:r>
              <a:rPr sz="1650" b="1">
                <a:solidFill>
                  <a:srgbClr val="17365D"/>
                </a:solidFill>
                <a:latin typeface="Arial"/>
                <a:ea typeface="Arial"/>
                <a:cs typeface="Arial"/>
              </a:rPr>
              <a:t>Claim boundary</a:t>
            </a:r>
          </a:p>
        </p:txBody>
      </p:sp>
      <p:sp>
        <p:nvSpPr>
          <p:cNvPr id="251" name="conclusion-text-4">
            <a:extLst xmlns:a="http://schemas.openxmlformats.org/drawingml/2006/main">
              <a:ext uri="{FF2B5EF4-FFF2-40B4-BE49-F238E27FC236}">
                <a16:creationId xmlns:a16="http://schemas.microsoft.com/office/drawing/2014/main" id="{F34CFDE2-6AB9-4104-BC0D-718F99F35090}"/>
              </a:ext>
            </a:extLst>
          </p:cNvPr>
          <p:cNvSpPr>
            <a:spLocks xmlns:a="http://schemas.openxmlformats.org/drawingml/2006/main" noGrp="1"/>
          </p:cNvSpPr>
          <p:nvPr/>
        </p:nvSpPr>
        <p:spPr>
          <a:xfrm xmlns:a="http://schemas.openxmlformats.org/drawingml/2006/main">
            <a:off x="3810000" y="4476750"/>
            <a:ext cx="7477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350">
                <a:solidFill>
                  <a:srgbClr val="263244"/>
                </a:solidFill>
                <a:latin typeface="Arial"/>
                <a:ea typeface="Arial"/>
                <a:cs typeface="Arial"/>
              </a:defRPr>
            </a:pPr>
            <a:r>
              <a:rPr sz="1350">
                <a:solidFill>
                  <a:srgbClr val="263244"/>
                </a:solidFill>
                <a:latin typeface="Arial"/>
                <a:ea typeface="Arial"/>
                <a:cs typeface="Arial"/>
              </a:rPr>
              <a:t>The results support a defensible research system rather than universal security or production readiness; broader clinical, threshold-custody and multi-host validation remains necessary.</a:t>
            </a:r>
          </a:p>
        </p:txBody>
      </p:sp>
      <p:sp>
        <p:nvSpPr>
          <p:cNvPr id="252" name="final-conclusion-takeaway-box">
            <a:extLst xmlns:a="http://schemas.openxmlformats.org/drawingml/2006/main">
              <a:ext uri="{FF2B5EF4-FFF2-40B4-BE49-F238E27FC236}">
                <a16:creationId xmlns:a16="http://schemas.microsoft.com/office/drawing/2014/main" id="{93A03521-FD85-4E02-BDBD-F814A62381B3}"/>
              </a:ext>
            </a:extLst>
          </p:cNvPr>
          <p:cNvSpPr>
            <a:spLocks xmlns:a="http://schemas.openxmlformats.org/drawingml/2006/main" noGrp="1"/>
          </p:cNvSpPr>
          <p:nvPr/>
        </p:nvSpPr>
        <p:spPr>
          <a:xfrm xmlns:a="http://schemas.openxmlformats.org/drawingml/2006/main">
            <a:off x="1476375" y="5391150"/>
            <a:ext cx="9239250" cy="619125"/>
          </a:xfrm>
          <a:prstGeom xmlns:a="http://schemas.openxmlformats.org/drawingml/2006/main" prst="roundRect">
            <a:avLst>
              <a:gd name="adj" fmla="val 12308"/>
            </a:avLst>
          </a:prstGeom>
          <a:solidFill xmlns:a="http://schemas.openxmlformats.org/drawingml/2006/main">
            <a:srgbClr val="E8F4EE"/>
          </a:solidFill>
          <a:ln xmlns:a="http://schemas.openxmlformats.org/drawingml/2006/main" w="15240">
            <a:solidFill>
              <a:srgbClr val="008A46"/>
            </a:solidFill>
          </a:ln>
        </p:spPr>
      </p:sp>
      <p:sp>
        <p:nvSpPr>
          <p:cNvPr id="253" name="final-conclusion-takeaway">
            <a:extLst xmlns:a="http://schemas.openxmlformats.org/drawingml/2006/main">
              <a:ext uri="{FF2B5EF4-FFF2-40B4-BE49-F238E27FC236}">
                <a16:creationId xmlns:a16="http://schemas.microsoft.com/office/drawing/2014/main" id="{FFBA74EA-F6D6-4A91-9CEB-D8D4A2E86B04}"/>
              </a:ext>
            </a:extLst>
          </p:cNvPr>
          <p:cNvSpPr>
            <a:spLocks xmlns:a="http://schemas.openxmlformats.org/drawingml/2006/main" noGrp="1"/>
          </p:cNvSpPr>
          <p:nvPr/>
        </p:nvSpPr>
        <p:spPr>
          <a:xfrm xmlns:a="http://schemas.openxmlformats.org/drawingml/2006/main">
            <a:off x="1762125" y="5467350"/>
            <a:ext cx="866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389" lnSpcReduction="10000"/>
          </a:bodyPr>
          <a:lstStyle xmlns:a="http://schemas.openxmlformats.org/drawingml/2006/main"/>
          <a:p xmlns:a="http://schemas.openxmlformats.org/drawingml/2006/main">
            <a:pPr algn="ctr">
              <a:buNone/>
              <a:defRPr sz="1350" b="1">
                <a:solidFill>
                  <a:srgbClr val="17365D"/>
                </a:solidFill>
                <a:latin typeface="Arial"/>
                <a:ea typeface="Arial"/>
                <a:cs typeface="Arial"/>
              </a:defRPr>
            </a:pPr>
            <a:r>
              <a:rPr sz="1350" b="1">
                <a:solidFill>
                  <a:srgbClr val="17365D"/>
                </a:solidFill>
                <a:latin typeface="Arial"/>
                <a:ea typeface="Arial"/>
                <a:cs typeface="Arial"/>
              </a:rPr>
              <a:t>CAABC-FL shows that privacy, encrypted communication efficiency, poisoning resilience and accountability can be evaluated together within one multi-institutional learning protocol.</a:t>
            </a:r>
          </a:p>
        </p:txBody>
      </p:sp>
      <p:sp>
        <p:nvSpPr>
          <p:cNvPr id="256" name="single-paragraph-conclusion-cover">
            <a:extLst xmlns:a="http://schemas.openxmlformats.org/drawingml/2006/main">
              <a:ext uri="{FF2B5EF4-FFF2-40B4-BE49-F238E27FC236}">
                <a16:creationId xmlns:a16="http://schemas.microsoft.com/office/drawing/2014/main" id="{AA2F1210-C3F2-464B-90AB-E3BF8155DA48}"/>
              </a:ext>
            </a:extLst>
          </p:cNvPr>
          <p:cNvSpPr>
            <a:spLocks xmlns:a="http://schemas.openxmlformats.org/drawingml/2006/main" noGrp="1"/>
          </p:cNvSpPr>
          <p:nvPr/>
        </p:nvSpPr>
        <p:spPr>
          <a:xfrm xmlns:a="http://schemas.openxmlformats.org/drawingml/2006/main">
            <a:off x="619125" y="1190625"/>
            <a:ext cx="10953750" cy="49053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57" name="single-paragraph-conclusion">
            <a:extLst xmlns:a="http://schemas.openxmlformats.org/drawingml/2006/main">
              <a:ext uri="{FF2B5EF4-FFF2-40B4-BE49-F238E27FC236}">
                <a16:creationId xmlns:a16="http://schemas.microsoft.com/office/drawing/2014/main" id="{A3A3039E-D759-4431-B294-D81D3AD9C089}"/>
              </a:ext>
            </a:extLst>
          </p:cNvPr>
          <p:cNvSpPr>
            <a:spLocks xmlns:a="http://schemas.openxmlformats.org/drawingml/2006/main" noGrp="1"/>
          </p:cNvSpPr>
          <p:nvPr/>
        </p:nvSpPr>
        <p:spPr>
          <a:xfrm xmlns:a="http://schemas.openxmlformats.org/drawingml/2006/main">
            <a:off x="1381125" y="1952625"/>
            <a:ext cx="94297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just">
              <a:buNone/>
              <a:defRPr sz="1725">
                <a:solidFill>
                  <a:srgbClr val="263244"/>
                </a:solidFill>
                <a:latin typeface="Arial"/>
                <a:ea typeface="Arial"/>
                <a:cs typeface="Arial"/>
              </a:defRPr>
            </a:pPr>
            <a:r>
              <a:rPr sz="1725">
                <a:solidFill>
                  <a:srgbClr val="263244"/>
                </a:solidFill>
                <a:latin typeface="Arial"/>
                <a:ea typeface="Arial"/>
                <a:cs typeface="Arial"/>
              </a:rPr>
              <a:t>This thesis developed CAABC-FL as an integrated framework for secure multi-institutional federated learning. The system combines record-level differential privacy, ciphertext-aligned adaptive compression, CKKS-protected aggregation, controlled model release, poisoning-aware validation, and auditable governance within a single workflow. Across the registered experiments, CAABC-FL maintained comparable predictive utility, reduced serialized encrypted upload, limited membership-inference and gradient-reconstruction exposure, and improved resilience under the evaluated poisoning scenarios. These findings demonstrate that privacy, communication efficiency, robustness, and accountability can be addressed together, while broader clinical validation, real multi-host deployment, and dropout-tolerant threshold custody remain necessary before production use.</a:t>
            </a:r>
          </a:p>
        </p:txBody>
      </p:sp>
      <p:pic>
        <p:nvPicPr>
          <p:cNvPr id="296" name="Picture 1"/>
          <p:cNvPicPr>
            <a:picLocks xmlns:a="http://schemas.openxmlformats.org/drawingml/2006/main" noChangeAspect="1"/>
          </p:cNvPicPr>
          <p:nvPr/>
        </p:nvPicPr>
        <p:blipFill>
          <a:blip xmlns:r="http://schemas.openxmlformats.org/officeDocument/2006/relationships" xmlns:a="http://schemas.openxmlformats.org/drawingml/2006/main" r:embed="R5b5a1a68b8384b20"/>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3557563943"/>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E2344E4-1A22-60C2-AFF0-304AE3DCA42D}"/>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(1/2)</a:t>
            </a:r>
            <a:endParaRPr/>
          </a:p>
        </p:txBody>
      </p:sp>
      <p:sp>
        <p:nvSpPr>
          <p:cNvPr id="212" name="Google Shape;212;p28">
            <a:extLst xmlns:a="http://schemas.openxmlformats.org/drawingml/2006/main">
              <a:ext uri="{FF2B5EF4-FFF2-40B4-BE49-F238E27FC236}">
                <a16:creationId xmlns:a16="http://schemas.microsoft.com/office/drawing/2014/main" id="{FFFFB3C5-9869-C9B2-9CA3-CEB218044FF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37</a:t>
            </a:r>
            <a:endParaRPr sz="2800"/>
          </a:p>
        </p:txBody>
      </p:sp>
      <p:pic>
        <p:nvPicPr>
          <p:cNvPr id="235"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37a8fd0619b84e2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D3DE624-6115-A665-B7B3-FA10FA71AE1B}"/>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reference-28-0">
            <a:extLst xmlns:a="http://schemas.openxmlformats.org/drawingml/2006/main">
              <a:ext uri="{FF2B5EF4-FFF2-40B4-BE49-F238E27FC236}">
                <a16:creationId xmlns:a16="http://schemas.microsoft.com/office/drawing/2014/main" id="{A0904099-BC47-48DD-9FC7-D316955AC3E0}"/>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 H. B. McMahan et al., 'Communication-Efficient Learning of Deep Networks from Decentralized Data,' AISTATS, 2017.</a:t>
            </a:r>
          </a:p>
        </p:txBody>
      </p:sp>
      <p:sp>
        <p:nvSpPr>
          <p:cNvPr id="221" name="reference-28-1">
            <a:extLst xmlns:a="http://schemas.openxmlformats.org/drawingml/2006/main">
              <a:ext uri="{FF2B5EF4-FFF2-40B4-BE49-F238E27FC236}">
                <a16:creationId xmlns:a16="http://schemas.microsoft.com/office/drawing/2014/main" id="{9AA22853-C5D3-4E4D-BEA1-5FB35A4D455D}"/>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[2] M. J. Sheller et al., 'Federated Learning in Medicine,' Scientific Reports, vol. 10, 2020.</a:t>
            </a:r>
          </a:p>
        </p:txBody>
      </p:sp>
      <p:sp>
        <p:nvSpPr>
          <p:cNvPr id="222" name="reference-28-2">
            <a:extLst xmlns:a="http://schemas.openxmlformats.org/drawingml/2006/main">
              <a:ext uri="{FF2B5EF4-FFF2-40B4-BE49-F238E27FC236}">
                <a16:creationId xmlns:a16="http://schemas.microsoft.com/office/drawing/2014/main" id="{E59A6721-22D0-4840-981D-9DB09BD0AB56}"/>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[3] I. Dayan et al., 'Federated Learning for Predicting Clinical Outcomes in Patients with COVID-19,' Nature Medicine, 2021.</a:t>
            </a:r>
          </a:p>
        </p:txBody>
      </p:sp>
      <p:sp>
        <p:nvSpPr>
          <p:cNvPr id="223" name="reference-28-3">
            <a:extLst xmlns:a="http://schemas.openxmlformats.org/drawingml/2006/main">
              <a:ext uri="{FF2B5EF4-FFF2-40B4-BE49-F238E27FC236}">
                <a16:creationId xmlns:a16="http://schemas.microsoft.com/office/drawing/2014/main" id="{C69B131B-3082-4FFA-B58A-55201112CC76}"/>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[4] R. Shokri et al., 'Membership Inference Attacks Against Machine Learning Models,' IEEE S&amp;P, 2017.</a:t>
            </a:r>
          </a:p>
        </p:txBody>
      </p:sp>
      <p:sp>
        <p:nvSpPr>
          <p:cNvPr id="224" name="reference-28-4">
            <a:extLst xmlns:a="http://schemas.openxmlformats.org/drawingml/2006/main">
              <a:ext uri="{FF2B5EF4-FFF2-40B4-BE49-F238E27FC236}">
                <a16:creationId xmlns:a16="http://schemas.microsoft.com/office/drawing/2014/main" id="{05EABF6C-6284-465D-AF53-D60D1CF7452B}"/>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[5] L. Zhu, Z. Liu, and S. Han, 'Deep Leakage from Gradients,' NeurIPS, 2019.</a:t>
            </a:r>
          </a:p>
        </p:txBody>
      </p:sp>
      <p:sp>
        <p:nvSpPr>
          <p:cNvPr id="225" name="reference-28-5">
            <a:extLst xmlns:a="http://schemas.openxmlformats.org/drawingml/2006/main">
              <a:ext uri="{FF2B5EF4-FFF2-40B4-BE49-F238E27FC236}">
                <a16:creationId xmlns:a16="http://schemas.microsoft.com/office/drawing/2014/main" id="{9D247F58-02B2-4B19-9361-1F69FAE13E2D}"/>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[6] J. Geiping et al., 'Inverting Gradients - How Easy Is It to Break Privacy in Federated Learning?' NeurIPS, 2020.</a:t>
            </a:r>
          </a:p>
        </p:txBody>
      </p:sp>
      <p:sp>
        <p:nvSpPr>
          <p:cNvPr id="226" name="reference-28-6">
            <a:extLst xmlns:a="http://schemas.openxmlformats.org/drawingml/2006/main">
              <a:ext uri="{FF2B5EF4-FFF2-40B4-BE49-F238E27FC236}">
                <a16:creationId xmlns:a16="http://schemas.microsoft.com/office/drawing/2014/main" id="{32590E15-6E4E-419E-A8E8-E5787E778FE6}"/>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[7] C. Dwork et al., 'Calibrating Noise to Sensitivity in Private Data Analysis,' TCC, 2006.</a:t>
            </a:r>
          </a:p>
        </p:txBody>
      </p:sp>
      <p:sp>
        <p:nvSpPr>
          <p:cNvPr id="227" name="reference-28-7">
            <a:extLst xmlns:a="http://schemas.openxmlformats.org/drawingml/2006/main">
              <a:ext uri="{FF2B5EF4-FFF2-40B4-BE49-F238E27FC236}">
                <a16:creationId xmlns:a16="http://schemas.microsoft.com/office/drawing/2014/main" id="{B323B6D2-81E3-4645-8F35-DD0FD8668298}"/>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[8] M. Abadi et al., 'Deep Learning with Differential Privacy,' ACM CCS, 2016.</a:t>
            </a:r>
          </a:p>
        </p:txBody>
      </p:sp>
      <p:sp>
        <p:nvSpPr>
          <p:cNvPr id="230" name="visible-footer-date-28">
            <a:extLst xmlns:a="http://schemas.openxmlformats.org/drawingml/2006/main">
              <a:ext uri="{FF2B5EF4-FFF2-40B4-BE49-F238E27FC236}">
                <a16:creationId xmlns:a16="http://schemas.microsoft.com/office/drawing/2014/main" id="{0F0451F1-6B73-4633-9F09-522DF5783B2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46" name="Picture 1"/>
          <p:cNvPicPr>
            <a:picLocks xmlns:a="http://schemas.openxmlformats.org/drawingml/2006/main" noChangeAspect="1"/>
          </p:cNvPicPr>
          <p:nvPr/>
        </p:nvPicPr>
        <p:blipFill>
          <a:blip xmlns:r="http://schemas.openxmlformats.org/officeDocument/2006/relationships" xmlns:a="http://schemas.openxmlformats.org/drawingml/2006/main" r:embed="R85dc079ea04f4967"/>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1942205720"/>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C2DD68F-AB1C-3D5D-DF80-8BB6117EDD7A}"/>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(2/2)</a:t>
            </a:r>
            <a:endParaRPr/>
          </a:p>
        </p:txBody>
      </p:sp>
      <p:sp>
        <p:nvSpPr>
          <p:cNvPr id="212" name="Google Shape;212;p28">
            <a:extLst xmlns:a="http://schemas.openxmlformats.org/drawingml/2006/main">
              <a:ext uri="{FF2B5EF4-FFF2-40B4-BE49-F238E27FC236}">
                <a16:creationId xmlns:a16="http://schemas.microsoft.com/office/drawing/2014/main" id="{393189EB-7FA1-8916-432D-45E7E59377B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38</a:t>
            </a:r>
            <a:endParaRPr sz="2800"/>
          </a:p>
        </p:txBody>
      </p:sp>
      <p:pic>
        <p:nvPicPr>
          <p:cNvPr id="235"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73882785712d4ae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A2DBA02-EB63-E4A9-87A4-4B734A102E12}"/>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reference-29-0">
            <a:extLst xmlns:a="http://schemas.openxmlformats.org/drawingml/2006/main">
              <a:ext uri="{FF2B5EF4-FFF2-40B4-BE49-F238E27FC236}">
                <a16:creationId xmlns:a16="http://schemas.microsoft.com/office/drawing/2014/main" id="{A2142EB4-CEE1-41A8-9608-5F83BE112E7C}"/>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[9] K. Bonawitz et al., 'Practical Secure Aggregation for Privacy-Preserving Machine Learning,' ACM CCS, 2017.</a:t>
            </a:r>
          </a:p>
        </p:txBody>
      </p:sp>
      <p:sp>
        <p:nvSpPr>
          <p:cNvPr id="221" name="reference-29-1">
            <a:extLst xmlns:a="http://schemas.openxmlformats.org/drawingml/2006/main">
              <a:ext uri="{FF2B5EF4-FFF2-40B4-BE49-F238E27FC236}">
                <a16:creationId xmlns:a16="http://schemas.microsoft.com/office/drawing/2014/main" id="{8C0CE6AE-36A7-45F2-9DFC-7EED13DC9638}"/>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[10] J. H. Cheon et al., 'Homomorphic Encryption for Arithmetic of Approximate Numbers,' ASIACRYPT, 2017.</a:t>
            </a:r>
          </a:p>
        </p:txBody>
      </p:sp>
      <p:sp>
        <p:nvSpPr>
          <p:cNvPr id="222" name="reference-29-2">
            <a:extLst xmlns:a="http://schemas.openxmlformats.org/drawingml/2006/main">
              <a:ext uri="{FF2B5EF4-FFF2-40B4-BE49-F238E27FC236}">
                <a16:creationId xmlns:a16="http://schemas.microsoft.com/office/drawing/2014/main" id="{8EFA07C1-5F7E-4E6B-BF1D-2EF7DC637EB9}"/>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[11] T. Stevens et al., 'Efficient Differentially Private Secure Aggregation for Federated Learning,' USENIX Security, 2022.</a:t>
            </a:r>
          </a:p>
        </p:txBody>
      </p:sp>
      <p:sp>
        <p:nvSpPr>
          <p:cNvPr id="223" name="reference-29-3">
            <a:extLst xmlns:a="http://schemas.openxmlformats.org/drawingml/2006/main">
              <a:ext uri="{FF2B5EF4-FFF2-40B4-BE49-F238E27FC236}">
                <a16:creationId xmlns:a16="http://schemas.microsoft.com/office/drawing/2014/main" id="{AD8F6965-0F28-4E37-AEEE-0229DDC34CE9}"/>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[12] D. Froelicher et al., 'Truly Privacy-Preserving Federated Analytics for Precision Medicine,' Nature Communications, 2021.</a:t>
            </a:r>
          </a:p>
        </p:txBody>
      </p:sp>
      <p:sp>
        <p:nvSpPr>
          <p:cNvPr id="224" name="reference-29-4">
            <a:extLst xmlns:a="http://schemas.openxmlformats.org/drawingml/2006/main">
              <a:ext uri="{FF2B5EF4-FFF2-40B4-BE49-F238E27FC236}">
                <a16:creationId xmlns:a16="http://schemas.microsoft.com/office/drawing/2014/main" id="{AEEAED04-E5C3-4021-852E-D0AC7A2AF494}"/>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[13] Z. Li et al., 'SoteriaFL,' NeurIPS, 2022.   [14] X. Li and P. Li, 'Analysis and Enhancement of Federated Learning with Biased Compression,' ICML, 2023.</a:t>
            </a:r>
          </a:p>
        </p:txBody>
      </p:sp>
      <p:sp>
        <p:nvSpPr>
          <p:cNvPr id="225" name="reference-29-5">
            <a:extLst xmlns:a="http://schemas.openxmlformats.org/drawingml/2006/main">
              <a:ext uri="{FF2B5EF4-FFF2-40B4-BE49-F238E27FC236}">
                <a16:creationId xmlns:a16="http://schemas.microsoft.com/office/drawing/2014/main" id="{4F2574DD-0A40-48A4-854E-D03067D93C23}"/>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[15] X. Cao et al., 'FLTrust,' NDSS, 2021.   [16] R. Xu et al., 'Dual Defense,' NeurIPS, 2024.</a:t>
            </a:r>
          </a:p>
        </p:txBody>
      </p:sp>
      <p:sp>
        <p:nvSpPr>
          <p:cNvPr id="226" name="reference-29-6">
            <a:extLst xmlns:a="http://schemas.openxmlformats.org/drawingml/2006/main">
              <a:ext uri="{FF2B5EF4-FFF2-40B4-BE49-F238E27FC236}">
                <a16:creationId xmlns:a16="http://schemas.microsoft.com/office/drawing/2014/main" id="{9C630596-65E6-4BF9-91B1-AC65554EF9FD}"/>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[17] X. Gu, M. Li, and L. Xiong, 'DP-BREM,' USENIX Security, 2025.   [18] H. Asi et al., 'PREAMBLE,' NeurIPS, 2025.</a:t>
            </a:r>
          </a:p>
        </p:txBody>
      </p:sp>
      <p:sp>
        <p:nvSpPr>
          <p:cNvPr id="227" name="reference-29-7">
            <a:extLst xmlns:a="http://schemas.openxmlformats.org/drawingml/2006/main">
              <a:ext uri="{FF2B5EF4-FFF2-40B4-BE49-F238E27FC236}">
                <a16:creationId xmlns:a16="http://schemas.microsoft.com/office/drawing/2014/main" id="{F19B9063-46BF-4F12-8672-7E4DD622D342}"/>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[19] M. A. Reyna et al., 'Early Prediction of Sepsis from Clinical Data,' Critical Care Medicine, 2020.</a:t>
            </a:r>
          </a:p>
        </p:txBody>
      </p:sp>
      <p:sp>
        <p:nvSpPr>
          <p:cNvPr id="230" name="visible-footer-date-29">
            <a:extLst xmlns:a="http://schemas.openxmlformats.org/drawingml/2006/main">
              <a:ext uri="{FF2B5EF4-FFF2-40B4-BE49-F238E27FC236}">
                <a16:creationId xmlns:a16="http://schemas.microsoft.com/office/drawing/2014/main" id="{9EF3CE28-3C42-45BA-8462-0A5184EC31B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46" name="Picture 1"/>
          <p:cNvPicPr>
            <a:picLocks xmlns:a="http://schemas.openxmlformats.org/drawingml/2006/main" noChangeAspect="1"/>
          </p:cNvPicPr>
          <p:nvPr/>
        </p:nvPicPr>
        <p:blipFill>
          <a:blip xmlns:r="http://schemas.openxmlformats.org/officeDocument/2006/relationships" xmlns:a="http://schemas.openxmlformats.org/drawingml/2006/main" r:embed="R55b7c4b95694446b"/>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243780179"/>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Thesis Timeline</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39</a:t>
            </a:r>
            <a:endParaRPr sz="2800"/>
          </a:p>
        </p:txBody>
      </p:sp>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0dfa071df8845c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Research phases from proposal to final defense</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GANTT SUMMARY. Completed project milestones</a:t>
            </a:r>
          </a:p>
        </p:txBody>
      </p:sp>
      <p:graphicFrame>
        <p:nvGraphicFramePr>
          <p:cNvPr id="237" name="Table 238"/>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Phase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Period</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Status</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Proposal, literature review, and research design</a:t>
                      </a:r>
                    </a:p>
                  </a:txBody>
                  <a:tcPr marL="66675" marR="66675" marT="47625" marB="47625" anchor="ctr">
                    <a:solidFill>
                      <a:srgbClr val="FFFFFF"/>
                    </a:solidFill>
                  </a:tcPr>
                </a:tc>
                <a:tc>
                  <a:txBody>
                    <a:bodyPr/>
                    <a:lstStyle/>
                    <a:p>
                      <a:r>
                        <a:rPr sz="1350">
                          <a:solidFill>
                            <a:srgbClr val="1F2937"/>
                          </a:solidFill>
                          <a:latin typeface="Arial"/>
                          <a:ea typeface="Arial"/>
                          <a:cs typeface="Arial"/>
                        </a:rPr>
                        <a:t>Jun–Nov 2025</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Framework implementation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Dec 2025–Mar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Security, privacy, poisoning, and statistical evaluation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Apr–Jul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Report writing, revision, and defense preparation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Jul–Sep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bl>
          </a:graphicData>
        </a:graphic>
      </p:graphicFrame>
      <p:sp>
        <p:nvSpPr>
          <p:cNvPr id="223" name="budget-note">
            <a:extLst xmlns:a="http://schemas.openxmlformats.org/drawingml/2006/main">
              <a:ext uri="{FF2B5EF4-FFF2-40B4-BE49-F238E27FC236}">
                <a16:creationId xmlns:a16="http://schemas.microsoft.com/office/drawing/2014/main" id="{0C7FFF23-BDBF-4879-ACBD-CC6DCB51F554}"/>
              </a:ext>
            </a:extLst>
          </p:cNvPr>
          <p:cNvSpPr>
            <a:spLocks xmlns:a="http://schemas.openxmlformats.org/drawingml/2006/main" noGrp="1"/>
          </p:cNvSpPr>
          <p:nvPr/>
        </p:nvSpPr>
        <p:spPr>
          <a:xfrm xmlns:a="http://schemas.openxmlformats.org/drawingml/2006/main">
            <a:off x="1619250" y="557212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575" b="0" i="1">
                <a:solidFill>
                  <a:srgbClr val="5B6573"/>
                </a:solidFill>
                <a:latin typeface="Arial"/>
                <a:ea typeface="Arial"/>
                <a:cs typeface="Arial"/>
              </a:defRPr>
            </a:pPr>
            <a:r>
              <a:rPr sz="1575" b="0" i="1">
                <a:solidFill>
                  <a:srgbClr val="5B6573"/>
                </a:solidFill>
                <a:latin typeface="Arial"/>
                <a:ea typeface="Arial"/>
                <a:cs typeface="Arial"/>
              </a:rPr>
              <a:t>Final defense: 25 September 2026</a:t>
            </a:r>
          </a:p>
        </p:txBody>
      </p:sp>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40" name="Picture 1"/>
          <p:cNvPicPr>
            <a:picLocks xmlns:a="http://schemas.openxmlformats.org/drawingml/2006/main" noChangeAspect="1"/>
          </p:cNvPicPr>
          <p:nvPr/>
        </p:nvPicPr>
        <p:blipFill>
          <a:blip xmlns:r="http://schemas.openxmlformats.org/officeDocument/2006/relationships" xmlns:a="http://schemas.openxmlformats.org/drawingml/2006/main" r:embed="R1aa92e3b7eba4c87"/>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970286495"/>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4960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Abbreviations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40</a:t>
            </a:r>
            <a:endParaRPr sz="2800"/>
          </a:p>
        </p:txBody>
      </p:sp>
      <p:pic>
        <p:nvPicPr>
          <p:cNvPr id="239"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1516f2cb934c469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Framework and privacy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CAABC-FL: Ciphertext-Aligned Adaptive Block Compression for Federated Learning</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FL: Federated Learning</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DP: Differential Privacy</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Cryptography and systems</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CKKS: Approximate homomorphic encryption</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HE: Homomorphic Encryption</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TEE: Trusted Execution Environment</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Evaluation</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AUROC: Area Under the ROC Curve</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AUPRC: Area Under the Precision-Recall Curve</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MCC: Matthews Correlation Coefficient</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Attacks and deployment</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MIA: Membership Inference Attack</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LiRA/RMIA: Membership inference tests</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ASR: Attack Success Rate</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TPR/FPR: True-/False-Positive Rate</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WAN: Wide-Area Network</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54" name="Picture 2"/>
          <p:cNvPicPr>
            <a:picLocks xmlns:a="http://schemas.openxmlformats.org/drawingml/2006/main" noChangeAspect="1"/>
          </p:cNvPicPr>
          <p:nvPr/>
        </p:nvPicPr>
        <p:blipFill>
          <a:blip xmlns:r="http://schemas.openxmlformats.org/officeDocument/2006/relationships" xmlns:a="http://schemas.openxmlformats.org/drawingml/2006/main" r:embed="Re48a7d2b532f49e8"/>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970286495"/>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F2F3A18-3D4A-89E9-DF3C-2CD6AD919AEA}"/>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Q&amp;A Session</a:t>
            </a:r>
            <a:endParaRPr/>
          </a:p>
        </p:txBody>
      </p:sp>
      <p:sp>
        <p:nvSpPr>
          <p:cNvPr id="212" name="Google Shape;212;p28">
            <a:extLst xmlns:a="http://schemas.openxmlformats.org/drawingml/2006/main">
              <a:ext uri="{FF2B5EF4-FFF2-40B4-BE49-F238E27FC236}">
                <a16:creationId xmlns:a16="http://schemas.microsoft.com/office/drawing/2014/main" id="{9E209038-E0AD-56EF-CCF5-260B133795F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41</a:t>
            </a:r>
            <a:endParaRPr sz="2800"/>
          </a:p>
        </p:txBody>
      </p:sp>
      <p:pic>
        <p:nvPicPr>
          <p:cNvPr id="22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384fa39f5ad427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30135F10-9448-D0E1-E18F-F2F3234362E9}"/>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pic>
        <p:nvPicPr>
          <p:cNvPr id="229" name="Google Shape;614;p60"/>
          <p:cNvPicPr>
            <a:picLocks xmlns:a="http://schemas.openxmlformats.org/drawingml/2006/main" noChangeAspect="1"/>
          </p:cNvPicPr>
          <p:nvPr/>
        </p:nvPicPr>
        <p:blipFill rotWithShape="1">
          <a:blip xmlns:r="http://schemas.openxmlformats.org/officeDocument/2006/relationships" xmlns:a="http://schemas.openxmlformats.org/drawingml/2006/main" r:embed="R29455b1388b34856">
            <a:alphaModFix/>
          </a:blip>
          <a:srcRect xmlns:a="http://schemas.openxmlformats.org/drawingml/2006/main" l="0" t="0" r="0" b="0"/>
          <a:stretch xmlns:a="http://schemas.openxmlformats.org/drawingml/2006/main"/>
        </p:blipFill>
        <p:spPr>
          <a:xfrm xmlns:a="http://schemas.openxmlformats.org/drawingml/2006/main">
            <a:off x="4754485" y="1899759"/>
            <a:ext cx="2683029" cy="2543938"/>
          </a:xfrm>
          <a:prstGeom xmlns:a="http://schemas.openxmlformats.org/drawingml/2006/main" prst="rect">
            <a:avLst/>
          </a:prstGeom>
          <a:ln xmlns:a="http://schemas.openxmlformats.org/drawingml/2006/main">
            <a:noFill/>
          </a:ln>
        </p:spPr>
      </p:pic>
      <p:sp>
        <p:nvSpPr>
          <p:cNvPr id="3" name="Google Shape;615;p60">
            <a:extLst xmlns:a="http://schemas.openxmlformats.org/drawingml/2006/main">
              <a:ext uri="{FF2B5EF4-FFF2-40B4-BE49-F238E27FC236}">
                <a16:creationId xmlns:a16="http://schemas.microsoft.com/office/drawing/2014/main" id="{84610837-AC87-0B4A-F256-6FFB0ABA363C}"/>
              </a:ext>
            </a:extLst>
          </p:cNvPr>
          <p:cNvSpPr>
            <a:spLocks xmlns:a="http://schemas.openxmlformats.org/drawingml/2006/main" noGrp="1"/>
          </p:cNvSpPr>
          <p:nvPr/>
        </p:nvSpPr>
        <p:spPr>
          <a:xfrm xmlns:a="http://schemas.openxmlformats.org/drawingml/2006/main">
            <a:off x="1047746" y="4443697"/>
            <a:ext cx="10675917" cy="10156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900"/>
              <a:buFont typeface="Arial"/>
              <a:buNone/>
            </a:pPr>
            <a:r>
              <a:rPr sz="5400" b="1" i="0" u="none" cap="none">
                <a:solidFill>
                  <a:srgbClr val="00B0F0"/>
                </a:solidFill>
                <a:latin typeface="Arial"/>
                <a:ea typeface="Arial"/>
                <a:cs typeface="Arial"/>
              </a:rPr>
              <a:t>Questions and Discussion</a:t>
            </a:r>
          </a:p>
        </p:txBody>
      </p:sp>
      <p:sp>
        <p:nvSpPr>
          <p:cNvPr id="221" name="visible-footer-date-30">
            <a:extLst xmlns:a="http://schemas.openxmlformats.org/drawingml/2006/main">
              <a:ext uri="{FF2B5EF4-FFF2-40B4-BE49-F238E27FC236}">
                <a16:creationId xmlns:a16="http://schemas.microsoft.com/office/drawing/2014/main" id="{121E6093-7387-46A2-A79C-636EB6C0933C}"/>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32" name="Picture 1"/>
          <p:cNvPicPr>
            <a:picLocks xmlns:a="http://schemas.openxmlformats.org/drawingml/2006/main" noChangeAspect="1"/>
          </p:cNvPicPr>
          <p:nvPr/>
        </p:nvPicPr>
        <p:blipFill>
          <a:blip xmlns:r="http://schemas.openxmlformats.org/officeDocument/2006/relationships" xmlns:a="http://schemas.openxmlformats.org/drawingml/2006/main" r:embed="Rc7ee7553cc47497e"/>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1909310205"/>
      </p:ext>
    </p:extLst>
  </p:cSld>
</p:sld>
</file>

<file path=ppt/slides/slide42.xml><?xml version="1.0" encoding="utf-8"?>
<p:sld xmlns:p="http://schemas.openxmlformats.org/presentationml/2006/main">
  <p:cSld>
    <p:spTree>
      <p:nvGrpSpPr>
        <p:cNvPr id="1" name=""/>
        <p:cNvGrpSpPr/>
        <p:nvPr/>
      </p:nvGrpSpPr>
      <p:grpSpPr>
        <a:xfrm xmlns:a="http://schemas.openxmlformats.org/drawingml/2006/main"/>
      </p:grpSpPr>
      <p:pic>
        <p:nvPicPr>
          <p:cNvPr id="612" name="Google Shape;157;p13"/>
          <p:cNvPicPr>
            <a:picLocks xmlns:a="http://schemas.openxmlformats.org/drawingml/2006/main" noChangeAspect="1"/>
          </p:cNvPicPr>
          <p:nvPr/>
        </p:nvPicPr>
        <p:blipFill rotWithShape="1">
          <a:blip xmlns:r="http://schemas.openxmlformats.org/officeDocument/2006/relationships" xmlns:a="http://schemas.openxmlformats.org/drawingml/2006/main" r:embed="Rd2e9c669930f440b">
            <a:alphaModFix/>
          </a:blip>
          <a:srcRect xmlns:a="http://schemas.openxmlformats.org/drawingml/2006/main" l="0" t="0" r="0" b="0"/>
          <a:stretch xmlns:a="http://schemas.openxmlformats.org/drawingml/2006/main"/>
        </p:blipFill>
        <p:spPr>
          <a:xfrm xmlns:a="http://schemas.openxmlformats.org/drawingml/2006/main">
            <a:off x="3763389" y="610325"/>
            <a:ext cx="4597090" cy="3186975"/>
          </a:xfrm>
          <a:prstGeom xmlns:a="http://schemas.openxmlformats.org/drawingml/2006/main" prst="rect">
            <a:avLst/>
          </a:prstGeom>
          <a:ln xmlns:a="http://schemas.openxmlformats.org/drawingml/2006/main">
            <a:noFill/>
          </a:ln>
        </p:spPr>
      </p:pic>
      <p:sp>
        <p:nvSpPr>
          <p:cNvPr id="9" name="Google Shape;158;p13">
            <a:extLst xmlns:a="http://schemas.openxmlformats.org/drawingml/2006/main">
              <a:ext uri="{FF2B5EF4-FFF2-40B4-BE49-F238E27FC236}">
                <a16:creationId xmlns:a16="http://schemas.microsoft.com/office/drawing/2014/main" id="{2D8B1C7A-65C6-C8DC-AC78-9534DDE706B0}"/>
              </a:ext>
            </a:extLst>
          </p:cNvPr>
          <p:cNvSpPr>
            <a:spLocks xmlns:a="http://schemas.openxmlformats.org/drawingml/2006/main" noGrp="1"/>
          </p:cNvSpPr>
          <p:nvPr>
            <p:ph type="title" idx="0"/>
          </p:nvPr>
        </p:nvSpPr>
        <p:spPr>
          <a:xfrm xmlns:a="http://schemas.openxmlformats.org/drawingml/2006/main">
            <a:off x="2520012" y="3849079"/>
            <a:ext cx="7340600" cy="114202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vert="horz" wrap="square" lIns="137150" tIns="68550" rIns="137150" bIns="68550" anchor="ctr">
            <a:normAutofit/>
          </a:bodyPr>
          <a:lstStyle xmlns:a="http://schemas.openxmlformats.org/drawingml/2006/main"/>
          <a:p xmlns:a="http://schemas.openxmlformats.org/drawingml/2006/main">
            <a:pPr algn="ctr">
              <a:lnSpc>
                <a:spcPct val="90000"/>
              </a:lnSpc>
              <a:spcBef>
                <a:spcPts val="0"/>
              </a:spcBef>
              <a:buClr>
                <a:schemeClr val="dk1"/>
              </a:buClr>
              <a:buSzPts val="4200"/>
              <a:buNone/>
              <a:defRPr sz="3600" b="1">
                <a:solidFill>
                  <a:srgbClr val="17365D"/>
                </a:solidFill>
                <a:latin typeface="Arial"/>
                <a:ea typeface="Arial"/>
                <a:cs typeface="Arial"/>
              </a:defRPr>
            </a:pPr>
            <a:r>
              <a:rPr sz="3600" b="1">
                <a:solidFill>
                  <a:srgbClr val="17365D"/>
                </a:solidFill>
                <a:latin typeface="Arial"/>
                <a:ea typeface="Arial"/>
                <a:cs typeface="Arial"/>
              </a:rPr>
              <a:t>Thank You</a:t>
            </a:r>
            <a:endParaRPr sz="6000" b="1">
              <a:latin typeface="Bookman Old Style"/>
              <a:ea typeface="Bookman Old Style"/>
              <a:cs typeface="Bookman Old Style"/>
            </a:endParaRPr>
          </a:p>
        </p:txBody>
      </p:sp>
      <p:sp>
        <p:nvSpPr>
          <p:cNvPr id="10" name="Google Shape;160;p13">
            <a:extLst xmlns:a="http://schemas.openxmlformats.org/drawingml/2006/main">
              <a:ext uri="{FF2B5EF4-FFF2-40B4-BE49-F238E27FC236}">
                <a16:creationId xmlns:a16="http://schemas.microsoft.com/office/drawing/2014/main" id="{92C7E31B-48F1-10E0-622E-5B5B1647541E}"/>
              </a:ext>
            </a:extLst>
          </p:cNvPr>
          <p:cNvSpPr>
            <a:spLocks xmlns:a="http://schemas.openxmlformats.org/drawingml/2006/main" noGrp="1"/>
          </p:cNvSpPr>
          <p:nvPr/>
        </p:nvSpPr>
        <p:spPr>
          <a:xfrm xmlns:a="http://schemas.openxmlformats.org/drawingml/2006/main">
            <a:off x="2865500" y="5042879"/>
            <a:ext cx="7340600" cy="74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37150" tIns="68550" rIns="137150" bIns="68550" anchor="ctr">
            <a:normAutofit/>
          </a:bodyPr>
          <a:lstStyle xmlns:a="http://schemas.openxmlformats.org/drawingml/2006/main"/>
          <a:p xmlns:a="http://schemas.openxmlformats.org/drawingml/2006/main">
            <a:pPr algn="ctr">
              <a:lnSpc>
                <a:spcPct val="90000"/>
              </a:lnSpc>
              <a:buClr>
                <a:schemeClr val="dk1"/>
              </a:buClr>
              <a:buSzPts val="1400"/>
              <a:buNone/>
              <a:defRPr sz="1800" b="1">
                <a:solidFill>
                  <a:srgbClr val="1F2937"/>
                </a:solidFill>
                <a:latin typeface="Arial"/>
                <a:ea typeface="Arial"/>
                <a:cs typeface="Arial"/>
              </a:defRPr>
            </a:pPr>
            <a:r>
              <a:rPr sz="1800" b="1">
                <a:solidFill>
                  <a:srgbClr val="1F2937"/>
                </a:solidFill>
                <a:latin typeface="Arial"/>
                <a:ea typeface="Arial"/>
                <a:cs typeface="Arial"/>
              </a:rPr>
              <a:t>CAABC-FL: Secure collaboration with explicit trust boundaries</a:t>
            </a:r>
            <a:endParaRPr sz="2800" b="1">
              <a:solidFill>
                <a:schemeClr val="dk1"/>
              </a:solidFill>
              <a:latin typeface="Bookman Old Style"/>
              <a:ea typeface="Bookman Old Style"/>
              <a:cs typeface="Bookman Old Style"/>
            </a:endParaRPr>
          </a:p>
        </p:txBody>
      </p:sp>
      <p:pic>
        <p:nvPicPr>
          <p:cNvPr id="615"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d6a4b8150b97408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12" name="Google Shape;216;p28">
            <a:extLst xmlns:a="http://schemas.openxmlformats.org/drawingml/2006/main">
              <a:ext uri="{FF2B5EF4-FFF2-40B4-BE49-F238E27FC236}">
                <a16:creationId xmlns:a16="http://schemas.microsoft.com/office/drawing/2014/main" id="{BAE9B701-0B71-3DF7-9134-3C31531BBDE1}"/>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13" name="Google Shape;212;p28">
            <a:extLst xmlns:a="http://schemas.openxmlformats.org/drawingml/2006/main">
              <a:ext uri="{FF2B5EF4-FFF2-40B4-BE49-F238E27FC236}">
                <a16:creationId xmlns:a16="http://schemas.microsoft.com/office/drawing/2014/main" id="{C48B2691-E39A-6C8C-B995-3D935B990D5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42</a:t>
            </a:r>
            <a:endParaRPr sz="2800"/>
          </a:p>
        </p:txBody>
      </p:sp>
      <p:sp>
        <p:nvSpPr>
          <p:cNvPr id="608" name="visible-footer-date-31">
            <a:extLst xmlns:a="http://schemas.openxmlformats.org/drawingml/2006/main">
              <a:ext uri="{FF2B5EF4-FFF2-40B4-BE49-F238E27FC236}">
                <a16:creationId xmlns:a16="http://schemas.microsoft.com/office/drawing/2014/main" id="{84DACE26-F993-4C93-AA06-D9765FE9F8E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619" name="Picture 1"/>
          <p:cNvPicPr>
            <a:picLocks xmlns:a="http://schemas.openxmlformats.org/drawingml/2006/main" noChangeAspect="1"/>
          </p:cNvPicPr>
          <p:nvPr/>
        </p:nvPicPr>
        <p:blipFill>
          <a:blip xmlns:r="http://schemas.openxmlformats.org/officeDocument/2006/relationships" xmlns:a="http://schemas.openxmlformats.org/drawingml/2006/main" r:embed="R02500a5c82f6428f"/>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1718927550"/>
      </p:ext>
    </p:extLst>
  </p:cSld>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2026-09-24T17:58:26.3250000Z</dcterms:created>
  <dcterms:modified xsi:type="dcterms:W3CDTF">2026-09-24T17:58:26.3250000Z</dcterms:modified>
</coreProperties>
</file>