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slides/charts/chart2.xml" ContentType="application/vnd.openxmlformats-officedocument.drawingml.chart+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425b463e6d4558" /><Relationship Type="http://schemas.openxmlformats.org/officeDocument/2006/relationships/extended-properties" Target="/docProps/app.xml" Id="R6408bdb8699d42cd" /><Relationship Type="http://schemas.openxmlformats.org/officeDocument/2006/relationships/officeDocument" Target="/ppt/presentation.xml" Id="R07dc7cb9ba4149cf" /></Relationships>
</file>

<file path=ppt/presentation.xml><?xml version="1.0" encoding="utf-8"?>
<p:presentation xmlns:p="http://schemas.openxmlformats.org/presentationml/2006/main">
  <p:sldMasterIdLst>
    <p:sldMasterId xmlns:r="http://schemas.openxmlformats.org/officeDocument/2006/relationships" id="2147483648" r:id="R02c7eead48dc4cdc"/>
  </p:sldMasterIdLst>
  <p:notesMasterIdLst>
    <p:notesMasterId xmlns:r="http://schemas.openxmlformats.org/officeDocument/2006/relationships" r:id="R2613b40393844cc6"/>
  </p:notesMasterIdLst>
  <p:sldIdLst>
    <p:sldId xmlns:r="http://schemas.openxmlformats.org/officeDocument/2006/relationships" id="256" r:id="Re0b87b4d675a40ea"/>
    <p:sldId xmlns:r="http://schemas.openxmlformats.org/officeDocument/2006/relationships" id="257" r:id="R35ba495dc8b44949"/>
    <p:sldId xmlns:r="http://schemas.openxmlformats.org/officeDocument/2006/relationships" id="258" r:id="R896d0053542b47ab"/>
    <p:sldId xmlns:r="http://schemas.openxmlformats.org/officeDocument/2006/relationships" id="259" r:id="R6c1523c386384631"/>
    <p:sldId xmlns:r="http://schemas.openxmlformats.org/officeDocument/2006/relationships" id="260" r:id="Rbfe995ac8a6e45ba"/>
    <p:sldId xmlns:r="http://schemas.openxmlformats.org/officeDocument/2006/relationships" id="261" r:id="Rfe8dfd745ab24625"/>
    <p:sldId xmlns:r="http://schemas.openxmlformats.org/officeDocument/2006/relationships" id="262" r:id="R927b05597c734a7f"/>
    <p:sldId xmlns:r="http://schemas.openxmlformats.org/officeDocument/2006/relationships" id="263" r:id="R447d08c8709b48b8"/>
    <p:sldId xmlns:r="http://schemas.openxmlformats.org/officeDocument/2006/relationships" id="264" r:id="R970ce08472a74a4e"/>
    <p:sldId xmlns:r="http://schemas.openxmlformats.org/officeDocument/2006/relationships" id="265" r:id="R5d90243f99af4eb6"/>
    <p:sldId xmlns:r="http://schemas.openxmlformats.org/officeDocument/2006/relationships" id="266" r:id="R3795a65697c04f2a"/>
    <p:sldId xmlns:r="http://schemas.openxmlformats.org/officeDocument/2006/relationships" id="267" r:id="R0c313977cf1e42a3"/>
    <p:sldId xmlns:r="http://schemas.openxmlformats.org/officeDocument/2006/relationships" id="268" r:id="R41543e9f15084b21"/>
    <p:sldId xmlns:r="http://schemas.openxmlformats.org/officeDocument/2006/relationships" id="269" r:id="Rd9635dfc1c4e4f13"/>
    <p:sldId xmlns:r="http://schemas.openxmlformats.org/officeDocument/2006/relationships" id="270" r:id="R536a99c37ec6441e"/>
    <p:sldId xmlns:r="http://schemas.openxmlformats.org/officeDocument/2006/relationships" id="271" r:id="Rc6f986e3b36541f0"/>
    <p:sldId xmlns:r="http://schemas.openxmlformats.org/officeDocument/2006/relationships" id="272" r:id="R686dc6aee2bc4228"/>
    <p:sldId xmlns:r="http://schemas.openxmlformats.org/officeDocument/2006/relationships" id="273" r:id="Rc70018d560604e8a"/>
    <p:sldId xmlns:r="http://schemas.openxmlformats.org/officeDocument/2006/relationships" id="274" r:id="Rf5428f5827a64cf7"/>
    <p:sldId xmlns:r="http://schemas.openxmlformats.org/officeDocument/2006/relationships" id="275" r:id="R033e71b0a0b845b5"/>
    <p:sldId xmlns:r="http://schemas.openxmlformats.org/officeDocument/2006/relationships" id="276" r:id="Reccb3f983cac4a1d"/>
    <p:sldId xmlns:r="http://schemas.openxmlformats.org/officeDocument/2006/relationships" id="277" r:id="Rc217fafe922947ac"/>
    <p:sldId xmlns:r="http://schemas.openxmlformats.org/officeDocument/2006/relationships" id="278" r:id="Rb7a4f147d71e4ddd"/>
    <p:sldId xmlns:r="http://schemas.openxmlformats.org/officeDocument/2006/relationships" id="279" r:id="R7dff12e238cf4bfc"/>
    <p:sldId xmlns:r="http://schemas.openxmlformats.org/officeDocument/2006/relationships" id="280" r:id="R4f4a9e2ad41b4888"/>
    <p:sldId xmlns:r="http://schemas.openxmlformats.org/officeDocument/2006/relationships" id="281" r:id="Ra9c46361747648c6"/>
    <p:sldId xmlns:r="http://schemas.openxmlformats.org/officeDocument/2006/relationships" id="282" r:id="R8f39062924a947eb"/>
    <p:sldId xmlns:r="http://schemas.openxmlformats.org/officeDocument/2006/relationships" id="283" r:id="R6c0caf1f993140d0"/>
    <p:sldId xmlns:r="http://schemas.openxmlformats.org/officeDocument/2006/relationships" id="284" r:id="Rd764286008f34b32"/>
    <p:sldId xmlns:r="http://schemas.openxmlformats.org/officeDocument/2006/relationships" id="285" r:id="Ra87d740ba4494e74"/>
    <p:sldId xmlns:r="http://schemas.openxmlformats.org/officeDocument/2006/relationships" id="286" r:id="Rc4f2accbaaa94143"/>
    <p:sldId xmlns:r="http://schemas.openxmlformats.org/officeDocument/2006/relationships" id="287" r:id="R53b54311f5054354"/>
    <p:sldId xmlns:r="http://schemas.openxmlformats.org/officeDocument/2006/relationships" id="288" r:id="R11543008020947c4"/>
    <p:sldId xmlns:r="http://schemas.openxmlformats.org/officeDocument/2006/relationships" id="289" r:id="R35c429dc6b8b47a0"/>
    <p:sldId xmlns:r="http://schemas.openxmlformats.org/officeDocument/2006/relationships" id="290" r:id="Rf1aaee1b0f294cae"/>
    <p:sldId xmlns:r="http://schemas.openxmlformats.org/officeDocument/2006/relationships" id="291" r:id="R0d09e29a04e148fb"/>
    <p:sldId xmlns:r="http://schemas.openxmlformats.org/officeDocument/2006/relationships" id="292" r:id="Rd06a955c8fe04c06"/>
    <p:sldId xmlns:r="http://schemas.openxmlformats.org/officeDocument/2006/relationships" id="293" r:id="Rffa1610246b74e96"/>
    <p:sldId xmlns:r="http://schemas.openxmlformats.org/officeDocument/2006/relationships" id="294" r:id="R47706a9c21964482"/>
    <p:sldId xmlns:r="http://schemas.openxmlformats.org/officeDocument/2006/relationships" id="295" r:id="R8b84ddcc8a894d1e"/>
    <p:sldId xmlns:r="http://schemas.openxmlformats.org/officeDocument/2006/relationships" id="296" r:id="Rfda1ed423a744750"/>
    <p:sldId xmlns:r="http://schemas.openxmlformats.org/officeDocument/2006/relationships" id="297" r:id="R2c50847b588b47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2230bb51d62498b" /><Relationship Type="http://schemas.openxmlformats.org/officeDocument/2006/relationships/slideMaster" Target="/ppt/slideMasters/slideMaster1.xml" Id="R02c7eead48dc4cdc" /><Relationship Type="http://schemas.openxmlformats.org/officeDocument/2006/relationships/notesMaster" Target="/ppt/notesMasters/notesMaster1.xml" Id="R2613b40393844cc6" /><Relationship Type="http://schemas.openxmlformats.org/officeDocument/2006/relationships/presProps" Target="/ppt/presProps.xml" Id="R39752dff37c341a3" /><Relationship Type="http://schemas.openxmlformats.org/officeDocument/2006/relationships/viewProps" Target="/ppt/viewProps.xml" Id="Rb5c39d927cbf4637" /><Relationship Type="http://schemas.openxmlformats.org/officeDocument/2006/relationships/tableStyles" Target="/ppt/tableStyles.xml" Id="Rfb7d1dcf715e438c" /><Relationship Type="http://schemas.openxmlformats.org/officeDocument/2006/relationships/slide" Target="/ppt/slides/slide1.xml" Id="Re0b87b4d675a40ea" /><Relationship Type="http://schemas.openxmlformats.org/officeDocument/2006/relationships/slide" Target="/ppt/slides/slide2.xml" Id="R35ba495dc8b44949" /><Relationship Type="http://schemas.openxmlformats.org/officeDocument/2006/relationships/slide" Target="/ppt/slides/slide3.xml" Id="R896d0053542b47ab" /><Relationship Type="http://schemas.openxmlformats.org/officeDocument/2006/relationships/slide" Target="/ppt/slides/slide4.xml" Id="R6c1523c386384631" /><Relationship Type="http://schemas.openxmlformats.org/officeDocument/2006/relationships/slide" Target="/ppt/slides/slide5.xml" Id="Rbfe995ac8a6e45ba" /><Relationship Type="http://schemas.openxmlformats.org/officeDocument/2006/relationships/slide" Target="/ppt/slides/slide6.xml" Id="Rfe8dfd745ab24625" /><Relationship Type="http://schemas.openxmlformats.org/officeDocument/2006/relationships/slide" Target="/ppt/slides/slide7.xml" Id="R927b05597c734a7f" /><Relationship Type="http://schemas.openxmlformats.org/officeDocument/2006/relationships/slide" Target="/ppt/slides/slide8.xml" Id="R447d08c8709b48b8" /><Relationship Type="http://schemas.openxmlformats.org/officeDocument/2006/relationships/slide" Target="/ppt/slides/slide9.xml" Id="R970ce08472a74a4e" /><Relationship Type="http://schemas.openxmlformats.org/officeDocument/2006/relationships/slide" Target="/ppt/slides/slide10.xml" Id="R5d90243f99af4eb6" /><Relationship Type="http://schemas.openxmlformats.org/officeDocument/2006/relationships/slide" Target="/ppt/slides/slide11.xml" Id="R3795a65697c04f2a" /><Relationship Type="http://schemas.openxmlformats.org/officeDocument/2006/relationships/slide" Target="/ppt/slides/slide12.xml" Id="R0c313977cf1e42a3" /><Relationship Type="http://schemas.openxmlformats.org/officeDocument/2006/relationships/slide" Target="/ppt/slides/slide13.xml" Id="R41543e9f15084b21" /><Relationship Type="http://schemas.openxmlformats.org/officeDocument/2006/relationships/slide" Target="/ppt/slides/slide14.xml" Id="Rd9635dfc1c4e4f13" /><Relationship Type="http://schemas.openxmlformats.org/officeDocument/2006/relationships/slide" Target="/ppt/slides/slide15.xml" Id="R536a99c37ec6441e" /><Relationship Type="http://schemas.openxmlformats.org/officeDocument/2006/relationships/slide" Target="/ppt/slides/slide16.xml" Id="Rc6f986e3b36541f0" /><Relationship Type="http://schemas.openxmlformats.org/officeDocument/2006/relationships/slide" Target="/ppt/slides/slide17.xml" Id="R686dc6aee2bc4228" /><Relationship Type="http://schemas.openxmlformats.org/officeDocument/2006/relationships/slide" Target="/ppt/slides/slide18.xml" Id="Rc70018d560604e8a" /><Relationship Type="http://schemas.openxmlformats.org/officeDocument/2006/relationships/slide" Target="/ppt/slides/slide19.xml" Id="Rf5428f5827a64cf7" /><Relationship Type="http://schemas.openxmlformats.org/officeDocument/2006/relationships/slide" Target="/ppt/slides/slide20.xml" Id="R033e71b0a0b845b5" /><Relationship Type="http://schemas.openxmlformats.org/officeDocument/2006/relationships/slide" Target="/ppt/slides/slide21.xml" Id="Reccb3f983cac4a1d" /><Relationship Type="http://schemas.openxmlformats.org/officeDocument/2006/relationships/slide" Target="/ppt/slides/slide22.xml" Id="Rc217fafe922947ac" /><Relationship Type="http://schemas.openxmlformats.org/officeDocument/2006/relationships/slide" Target="/ppt/slides/slide23.xml" Id="Rb7a4f147d71e4ddd" /><Relationship Type="http://schemas.openxmlformats.org/officeDocument/2006/relationships/slide" Target="/ppt/slides/slide24.xml" Id="R7dff12e238cf4bfc" /><Relationship Type="http://schemas.openxmlformats.org/officeDocument/2006/relationships/slide" Target="/ppt/slides/slide25.xml" Id="R4f4a9e2ad41b4888" /><Relationship Type="http://schemas.openxmlformats.org/officeDocument/2006/relationships/slide" Target="/ppt/slides/slide26.xml" Id="Ra9c46361747648c6" /><Relationship Type="http://schemas.openxmlformats.org/officeDocument/2006/relationships/slide" Target="/ppt/slides/slide27.xml" Id="R8f39062924a947eb" /><Relationship Type="http://schemas.openxmlformats.org/officeDocument/2006/relationships/slide" Target="/ppt/slides/slide28.xml" Id="R6c0caf1f993140d0" /><Relationship Type="http://schemas.openxmlformats.org/officeDocument/2006/relationships/slide" Target="/ppt/slides/slide29.xml" Id="Rd764286008f34b32" /><Relationship Type="http://schemas.openxmlformats.org/officeDocument/2006/relationships/slide" Target="/ppt/slides/slide30.xml" Id="Ra87d740ba4494e74" /><Relationship Type="http://schemas.openxmlformats.org/officeDocument/2006/relationships/slide" Target="/ppt/slides/slide31.xml" Id="Rc4f2accbaaa94143" /><Relationship Type="http://schemas.openxmlformats.org/officeDocument/2006/relationships/slide" Target="/ppt/slides/slide32.xml" Id="R53b54311f5054354" /><Relationship Type="http://schemas.openxmlformats.org/officeDocument/2006/relationships/slide" Target="/ppt/slides/slide33.xml" Id="R11543008020947c4" /><Relationship Type="http://schemas.openxmlformats.org/officeDocument/2006/relationships/slide" Target="/ppt/slides/slide34.xml" Id="R35c429dc6b8b47a0" /><Relationship Type="http://schemas.openxmlformats.org/officeDocument/2006/relationships/slide" Target="/ppt/slides/slide35.xml" Id="Rf1aaee1b0f294cae" /><Relationship Type="http://schemas.openxmlformats.org/officeDocument/2006/relationships/slide" Target="/ppt/slides/slide36.xml" Id="R0d09e29a04e148fb" /><Relationship Type="http://schemas.openxmlformats.org/officeDocument/2006/relationships/slide" Target="/ppt/slides/slide37.xml" Id="Rd06a955c8fe04c06" /><Relationship Type="http://schemas.openxmlformats.org/officeDocument/2006/relationships/slide" Target="/ppt/slides/slide38.xml" Id="Rffa1610246b74e96" /><Relationship Type="http://schemas.openxmlformats.org/officeDocument/2006/relationships/slide" Target="/ppt/slides/slide39.xml" Id="R47706a9c21964482" /><Relationship Type="http://schemas.openxmlformats.org/officeDocument/2006/relationships/slide" Target="/ppt/slides/slide40.xml" Id="R8b84ddcc8a894d1e" /><Relationship Type="http://schemas.openxmlformats.org/officeDocument/2006/relationships/slide" Target="/ppt/slides/slide41.xml" Id="Rfda1ed423a744750" /><Relationship Type="http://schemas.openxmlformats.org/officeDocument/2006/relationships/slide" Target="/ppt/slides/slide42.xml" Id="R2c50847b588b47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b53f63f7a34c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3c13a234c441eb" /><Relationship Type="http://schemas.openxmlformats.org/officeDocument/2006/relationships/notesMaster" Target="/ppt/notesMasters/notesMaster1.xml" Id="Rec8113dde18243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e2d9fc655c4565" /><Relationship Type="http://schemas.openxmlformats.org/officeDocument/2006/relationships/notesMaster" Target="/ppt/notesMasters/notesMaster1.xml" Id="R009376cef9f147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b42c22071a46ca" /><Relationship Type="http://schemas.openxmlformats.org/officeDocument/2006/relationships/notesMaster" Target="/ppt/notesMasters/notesMaster1.xml" Id="Rdfa238e979354e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0ae80ad1764688" /><Relationship Type="http://schemas.openxmlformats.org/officeDocument/2006/relationships/notesMaster" Target="/ppt/notesMasters/notesMaster1.xml" Id="R1bb9511f35c14d2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04e0a1d13740b7" /><Relationship Type="http://schemas.openxmlformats.org/officeDocument/2006/relationships/notesMaster" Target="/ppt/notesMasters/notesMaster1.xml" Id="R11a386956a764d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a1f878cd8d4a96" /><Relationship Type="http://schemas.openxmlformats.org/officeDocument/2006/relationships/notesMaster" Target="/ppt/notesMasters/notesMaster1.xml" Id="R2b23f383bcf741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fc014d8302408e" /><Relationship Type="http://schemas.openxmlformats.org/officeDocument/2006/relationships/notesMaster" Target="/ppt/notesMasters/notesMaster1.xml" Id="R6906164a684641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b0e688817c448e" /><Relationship Type="http://schemas.openxmlformats.org/officeDocument/2006/relationships/notesMaster" Target="/ppt/notesMasters/notesMaster1.xml" Id="Rf294965832a04f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366aed680ed0440f" /><Relationship Type="http://schemas.openxmlformats.org/officeDocument/2006/relationships/notesMaster" Target="/ppt/notesMasters/notesMaster1.xml" Id="R150477dd077b4cb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5ea3ece03094845" /><Relationship Type="http://schemas.openxmlformats.org/officeDocument/2006/relationships/notesMaster" Target="/ppt/notesMasters/notesMaster1.xml" Id="R74a693408cae49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8a5eebe665499d" /><Relationship Type="http://schemas.openxmlformats.org/officeDocument/2006/relationships/notesMaster" Target="/ppt/notesMasters/notesMaster1.xml" Id="R54d8b85c2cc04d9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efa5d4d48b4f1b" /><Relationship Type="http://schemas.openxmlformats.org/officeDocument/2006/relationships/notesMaster" Target="/ppt/notesMasters/notesMaster1.xml" Id="R4705f152cb0844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651d0326ecc4fd7" /><Relationship Type="http://schemas.openxmlformats.org/officeDocument/2006/relationships/notesMaster" Target="/ppt/notesMasters/notesMaster1.xml" Id="R214ed3537dc14c8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43116acb3e84de1" /><Relationship Type="http://schemas.openxmlformats.org/officeDocument/2006/relationships/notesMaster" Target="/ppt/notesMasters/notesMaster1.xml" Id="R52140d838de148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277eed1f4b4653" /><Relationship Type="http://schemas.openxmlformats.org/officeDocument/2006/relationships/notesMaster" Target="/ppt/notesMasters/notesMaster1.xml" Id="R3b3f1681de5d450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d00b6a58114c9a" /><Relationship Type="http://schemas.openxmlformats.org/officeDocument/2006/relationships/notesMaster" Target="/ppt/notesMasters/notesMaster1.xml" Id="R22858a39d5ca4d9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5f4dc1b7e1e4c17" /><Relationship Type="http://schemas.openxmlformats.org/officeDocument/2006/relationships/notesMaster" Target="/ppt/notesMasters/notesMaster1.xml" Id="Re1d587c495714ae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014d1df943940c7" /><Relationship Type="http://schemas.openxmlformats.org/officeDocument/2006/relationships/notesMaster" Target="/ppt/notesMasters/notesMaster1.xml" Id="Raba6f526dcf94b1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9605fc0236b4840" /><Relationship Type="http://schemas.openxmlformats.org/officeDocument/2006/relationships/notesMaster" Target="/ppt/notesMasters/notesMaster1.xml" Id="R78199ff0b5ed474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5281c048f6849b2" /><Relationship Type="http://schemas.openxmlformats.org/officeDocument/2006/relationships/notesMaster" Target="/ppt/notesMasters/notesMaster1.xml" Id="R7988ef212a5b419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2355ed7b6444666" /><Relationship Type="http://schemas.openxmlformats.org/officeDocument/2006/relationships/notesMaster" Target="/ppt/notesMasters/notesMaster1.xml" Id="R6e3fa7ecbe9c461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e6f2de66e8b4f9b" /><Relationship Type="http://schemas.openxmlformats.org/officeDocument/2006/relationships/notesMaster" Target="/ppt/notesMasters/notesMaster1.xml" Id="R83ae4176fd9747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0cc74cffa5ef4322" /><Relationship Type="http://schemas.openxmlformats.org/officeDocument/2006/relationships/notesMaster" Target="/ppt/notesMasters/notesMaster1.xml" Id="Radd916a672b64c5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4178229eb0409e" /><Relationship Type="http://schemas.openxmlformats.org/officeDocument/2006/relationships/notesMaster" Target="/ppt/notesMasters/notesMaster1.xml" Id="R73887434c3384bf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2c6a946206740a5" /><Relationship Type="http://schemas.openxmlformats.org/officeDocument/2006/relationships/notesMaster" Target="/ppt/notesMasters/notesMaster1.xml" Id="Ra8b27acacba548cf"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361f4dcc23145f3" /><Relationship Type="http://schemas.openxmlformats.org/officeDocument/2006/relationships/notesMaster" Target="/ppt/notesMasters/notesMaster1.xml" Id="R9e4356b8e4854c8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afcd9abb37744e0" /><Relationship Type="http://schemas.openxmlformats.org/officeDocument/2006/relationships/notesMaster" Target="/ppt/notesMasters/notesMaster1.xml" Id="Rf054151106db4f0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941fd1038cd4409" /><Relationship Type="http://schemas.openxmlformats.org/officeDocument/2006/relationships/notesMaster" Target="/ppt/notesMasters/notesMaster1.xml" Id="R9d06c6bcde944c6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8dc025f821b4682" /><Relationship Type="http://schemas.openxmlformats.org/officeDocument/2006/relationships/notesMaster" Target="/ppt/notesMasters/notesMaster1.xml" Id="Radb433c613364fc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826819eaacc4223" /><Relationship Type="http://schemas.openxmlformats.org/officeDocument/2006/relationships/notesMaster" Target="/ppt/notesMasters/notesMaster1.xml" Id="R10a11c47ba21413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69a20d9343944da" /><Relationship Type="http://schemas.openxmlformats.org/officeDocument/2006/relationships/notesMaster" Target="/ppt/notesMasters/notesMaster1.xml" Id="R8c1e909d32e149f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8abde97cc24fce" /><Relationship Type="http://schemas.openxmlformats.org/officeDocument/2006/relationships/notesMaster" Target="/ppt/notesMasters/notesMaster1.xml" Id="R2d829f9ab38d410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e33e2173234689" /><Relationship Type="http://schemas.openxmlformats.org/officeDocument/2006/relationships/notesMaster" Target="/ppt/notesMasters/notesMaster1.xml" Id="Rfc4e21bcadf547a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7c18680052e4c2d" /><Relationship Type="http://schemas.openxmlformats.org/officeDocument/2006/relationships/notesMaster" Target="/ppt/notesMasters/notesMaster1.xml" Id="R43134903ee2e417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22cebef26b84d5b" /><Relationship Type="http://schemas.openxmlformats.org/officeDocument/2006/relationships/notesMaster" Target="/ppt/notesMasters/notesMaster1.xml" Id="Rbde9a53298b14535"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4cc428c09814ce0" /><Relationship Type="http://schemas.openxmlformats.org/officeDocument/2006/relationships/notesMaster" Target="/ppt/notesMasters/notesMaster1.xml" Id="R48c7adffa5a843d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5105dec10bf430a" /><Relationship Type="http://schemas.openxmlformats.org/officeDocument/2006/relationships/notesMaster" Target="/ppt/notesMasters/notesMaster1.xml" Id="R8ed308c27da144fe"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44a1a94f42e4992" /><Relationship Type="http://schemas.openxmlformats.org/officeDocument/2006/relationships/notesMaster" Target="/ppt/notesMasters/notesMaster1.xml" Id="R7e5849e94aca4fa6"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ac863d19c2c4909" /><Relationship Type="http://schemas.openxmlformats.org/officeDocument/2006/relationships/notesMaster" Target="/ppt/notesMasters/notesMaster1.xml" Id="R02549e35ed684d19"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d75e192499241c6" /><Relationship Type="http://schemas.openxmlformats.org/officeDocument/2006/relationships/notesMaster" Target="/ppt/notesMasters/notesMaster1.xml" Id="Ra4c2b06d47cd452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704fb20704444de" /><Relationship Type="http://schemas.openxmlformats.org/officeDocument/2006/relationships/notesMaster" Target="/ppt/notesMasters/notesMaster1.xml" Id="Re22b59db3e8e48dd"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99468c0d7364d75" /><Relationship Type="http://schemas.openxmlformats.org/officeDocument/2006/relationships/notesMaster" Target="/ppt/notesMasters/notesMaster1.xml" Id="R43be45e9fb0248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begins with the research context, problem statement, research questions, and objectives. It then reviews related studies and the identified gap before presenting the conceptual framework and proposed methodology. The final part reports utility, privacy, robustness, communication, and system results, followed by the conclusion, references, and the question-and-answer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The illustration summarizes the setting: hospitals retain their data, protected model updates support collaborative learning, and the system produces a shared model. This thesis studies update protection, encrypted transport, poisoning response, and release governance. Sources: McMahan et al. [1], Sheller et al. [2], Dayan et al. [3], Shokri et al. [4], Zhu et al. [5], and Geiping et al. [6]. The illustration is conceptual and does not represent an experimental result.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keeps source records local, but exchanged updates can still leak information. CKKS improves confidentiality while increasing communication cost and hiding the update geometry used by many poisoning defenses. Centralized decryption, unverified aggregation, and limited audit evidence create additional trust concerns. The thesis therefore treats privacy, efficiency, adversarial resilience, and release governance as one engineering problem.</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Published healthcare studies motivate multi-institutional learning. Sheller et al. reported that federated training across 10 institutions reached 99% of the model quality achieved with centralized data. The EXAM study trained on 16,148 cases from 20 clinical sites across four continents and reported an average local-test AUC increase from 0.795 for local models to 0.920 for the federated model. These results establish the value of collaboration, while this thesis addresses the remaining privacy, encrypted communication, poisoning, and governance challenges. Sources: Sheller et al., Scientific Reports 10, 12598 (2020), doi:10.1038/s41598-020-69250-1; Dayan et al., Nature Medicine 27, 1735–1743 (2021), doi:10.1038/s41591-021-01506-3.</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DDFed is one of the closest integrated studies because it addresses both privacy and poisoning. It uses fully homomorphic encryption and a two-phase anomaly detector based on secure similarity computation and feedback-driven collaborative selection. Its experiments cover model-poisoning attacks in cross-device and cross-silo federated learning. Relative to this thesis, DDFed does not provide record-level differential privacy, ciphertext-aligned adaptive compression, threshold-governed release, or an external permissioned audit trail. Source: https://proceedings.neurips.cc/paper_files/paper/2024/hash/824f98c4e9bb301b0b96fa2ae071360b-Abstract-Conference.html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DP-BREM and DP-BREM+ jointly address differential privacy and Byzantine robustness in cross-silo federated learning. Client momentum averages each client's updates over time, reducing honest-client variance and making accumulated malicious perturbations easier to detect. DP-BREM assumes a trusted server; DP-BREM+ removes that assumption with secure aggregation and client-generated distributed noise. Relative to this thesis, it does not address ciphertext-aware adaptive compression, healthcare deployment evidence, independently verified aggregation, or external audit logging. Source: https://www.usenix.org/conference/usenixsecurity25/presentation/gu-xiaolan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PREAMBLE addresses private aggregation of high-dimensional vectors in a two-server architecture. It uses block-sparse distributed point functions, random sampling, and privacy amplification so that communication and computation depend more strongly on active blocks than on the full vector dimension. Its formal analysis is a strong example of co-designing representation and privacy transport. Relative to this thesis, PREAMBLE assumes two non-colluding servers, targets private vector aggregation rather than iterative CKKS healthcare training, and does not study poisoning or release governance. Source: https://proceedings.neurips.cc/paper_files/paper/2025/hash/1d3c1c0bade7b2b1974d3120ab6232b0-Abstract-Conference.html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table compares five anchor studies that contribute directly to the design space of this thesis. FLDP and FAMHE establish protected aggregation and biomedical multiparty computation. DDFed and DP-BREM+ integrate privacy with poisoning or Byzantine robustness. PREAMBLE aligns block sparsity with private transport. The table reports scope rather than a numerical ranking because the studies use different datasets, cryptographic assumptions, and threat models. Sources: Stevens et al., USENIX Security 2022; Froelicher et al., Nature Communications 2021; Xu et al., NeurIPS 2024; Gu et al., USENIX Security 2025; Asi et al., NeurIPS 2025.</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conceptual framework links the research problem to the proposed intervention and the evaluation plan. Distributed hospital data, non-IID partitions, privacy threats, poisoning risk, and encrypted communication cost define the research context. The hybrid intervention combines record-level differential privacy, CAABC-FL block compression, CKKS-protected updates, and governance controls. These mechanisms support protected local training, authenticated update exchange, verified homomorphic aggregation, and threshold-governed release. The study evaluates predictive utility, privacy exposure, poisoning resilience, communication cost, and runtime overhead under the stated threat and trust assumptions.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each institution constructs a protected model update. Governance establishes identity, consent, and policy. Patient records remain inside each hospital during preprocessing and training. The consortium creates a collective CKKS public key while independent custodians protect threshold shares. Each hospital clips per-record gradients, adds calibrated differential-privacy noise, applies CAABC-FL block compression, encrypts the result, and signs the submission.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explains our main algorithmic contribution, CAABC-FL. Each hospital first adds the previous compression residual to its patient-level differentially private update. The method divides that effective update into contiguous 256-coordinate blocks and scores block energy only after privatization. Every fifth round, the hospitals derive one common support from aggregate block scores, subject to a two-ciphertext packing budget. Each hospital projects onto the same support and retains omitted information as the next residual. The selected blocks occupy aligned CKKS slots, so the coordinator can add ciphertexts without learning client-specific sparse indices. This shared support is the central novelty because it converts logical sparsity into measured encrypted-wire reduction. Formal privacy still comes from the differential privacy accountant, not from compression.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shows how the framework transports, aggregates, validates, and releases a model. Mutual TLS and signed round metadata authenticate every submission. The permissioned ledger stores hashes and status, while model ciphertexts remain off-chain. The coordinator performs reputation-weighted homomorphic aggregation and custodians decrypt only the aggregate. Validation either accepts the candidate model or triggers rollback and quarantine. Hospitals verify the signed model hash before starting the next round. Clinical inference follows the same authorization and controlled-decryption policy.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formulation has four parts. First, the global objective is the sample-weighted average of hospital losses, where n_k is the number of records at hospital k and N is the total across participating hospitals. Second, each gradient is clipped to norm C, Gaussian noise z_k^t provides record-level differential privacy, and the residual e_k^t preserves information lost by CAABC-FL compression Q_s_t. Third, the accepted client set A_t contributes encrypted updates to the CKKS sum c_t. Threshold custodians decrypt only this aggregate, and eta_t is the global learning rate. Finally, the design must reduce predictive loss and serialized communication while satisfying privacy, integrity, threshold-release, and audit requirements.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slide summarizes the frozen experimental protocol. We used the full 40,336-patient PhysioNet 2019 sepsis cohort and preserved its two natural hospital partitions. Every paired method used the same patient split, initialization seed, model, and 20-round training budget. The private path used patient-level clipping, Gaussian noise, RDP accounting, and real TenSEAL CKKS. The security evaluation included powered membership inference, 300-step gradient reconstruction, and poisoning experiments with up to 40 percent malicious clients. The model seed is the statistical unit. Core protected methods used ten paired seeds, while secondary and security comparisons used five paired seeds. The test partition remained locked until the protocol and decision rules were frozen.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Gradient-reconstruction evidence: under the registered 300-step attack, RMSE increased from 0.684 for plaintext-exact exposure to 2.763 for DP plus CAABC-FL. Higher RMSE means the attacker recovered the input features less accurately. This result is attack-specific empirical evidence; the differential privacy accountant provides the formal privacy guarantee.</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a:t>
            </a:r>
            <a:r>
              <a:rPr sz="1800" b="1" i="0" u="none">
                <a:solidFill>
                  <a:srgbClr val="000000"/>
                </a:solidFill>
                <a:latin typeface="Arial"/>
                <a:ea typeface="Arial"/>
                <a:cs typeface="Arial"/>
              </a:rPr>
              <a:t>FLTrust</a:t>
            </a:r>
            <a:r>
              <a:rPr sz="1800" b="1" i="0" u="none">
                <a:solidFill>
                  <a:srgbClr val="000000"/>
                </a:solidFill>
                <a:latin typeface="Arial"/>
                <a:ea typeface="Arial"/>
                <a:cs typeface="Arial"/>
              </a:rPr>
              <a: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CAABC-FL brings privacy protection, encrypted aggregation, communication reduction, poisoning-aware controls, and accountable governance into one multi-institutional learning workflow. The experiments support comparable predictive utility, lower serialized encrypted upload, limited exposure under the evaluated privacy attacks, and stronger resilience under the tested poisoning scenarios. The conclusion remains bounded to the registered datasets, attacks, seeds, and deployment environment. Production use requires broader clinical validation, a real multi-host deployment, and dropout-tolerant threshold custody.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d18e0de19f447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d2ae21d1e8425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617bb53f57b46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0c03886ecdd47b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7cfdb05e4b43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9dd01533c184733"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be9a79201cb4f6f"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3d2b6b21a748420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9640e4ff2f34bd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45f622b5e6cf4d3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ff6a044829b4342"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78"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165"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1b13cf23134059" /><Relationship Type="http://schemas.openxmlformats.org/officeDocument/2006/relationships/slideLayout" Target="/ppt/slideLayouts/slideLayout1.xml" Id="R5265ff773a994c25" /><Relationship Type="http://schemas.openxmlformats.org/officeDocument/2006/relationships/slideLayout" Target="/ppt/slideLayouts/slideLayout2.xml" Id="R8426b46b950d4776" /><Relationship Type="http://schemas.openxmlformats.org/officeDocument/2006/relationships/slideLayout" Target="/ppt/slideLayouts/slideLayout3.xml" Id="Recf490862bc341f3" /><Relationship Type="http://schemas.openxmlformats.org/officeDocument/2006/relationships/slideLayout" Target="/ppt/slideLayouts/slideLayout4.xml" Id="R4d0ba4f2bcfe4df0" /><Relationship Type="http://schemas.openxmlformats.org/officeDocument/2006/relationships/slideLayout" Target="/ppt/slideLayouts/slideLayout5.xml" Id="Rab646ed71c114b95" /><Relationship Type="http://schemas.openxmlformats.org/officeDocument/2006/relationships/slideLayout" Target="/ppt/slideLayouts/slideLayout6.xml" Id="Rdc242c6535ea4fdd" /><Relationship Type="http://schemas.openxmlformats.org/officeDocument/2006/relationships/slideLayout" Target="/ppt/slideLayouts/slideLayout7.xml" Id="R3659144bf1b24cec" /><Relationship Type="http://schemas.openxmlformats.org/officeDocument/2006/relationships/slideLayout" Target="/ppt/slideLayouts/slideLayout8.xml" Id="R1ec94611f6164f92" /><Relationship Type="http://schemas.openxmlformats.org/officeDocument/2006/relationships/slideLayout" Target="/ppt/slideLayouts/slideLayout9.xml" Id="Ree10157c362046d0" /><Relationship Type="http://schemas.openxmlformats.org/officeDocument/2006/relationships/slideLayout" Target="/ppt/slideLayouts/slideLayout10.xml" Id="Rb698d7e9b52b493f" /><Relationship Type="http://schemas.openxmlformats.org/officeDocument/2006/relationships/slideLayout" Target="/ppt/slideLayouts/slideLayout11.xml" Id="R84767de56e654b6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265ff773a994c25"/>
    <p:sldLayoutId xmlns:r="http://schemas.openxmlformats.org/officeDocument/2006/relationships" id="2147483650" r:id="R8426b46b950d4776"/>
    <p:sldLayoutId xmlns:r="http://schemas.openxmlformats.org/officeDocument/2006/relationships" id="2147483651" r:id="Recf490862bc341f3"/>
    <p:sldLayoutId xmlns:r="http://schemas.openxmlformats.org/officeDocument/2006/relationships" id="2147483652" r:id="R4d0ba4f2bcfe4df0"/>
    <p:sldLayoutId xmlns:r="http://schemas.openxmlformats.org/officeDocument/2006/relationships" id="2147483653" r:id="Rab646ed71c114b95"/>
    <p:sldLayoutId xmlns:r="http://schemas.openxmlformats.org/officeDocument/2006/relationships" id="2147483654" r:id="Rdc242c6535ea4fdd"/>
    <p:sldLayoutId xmlns:r="http://schemas.openxmlformats.org/officeDocument/2006/relationships" id="2147483655" r:id="R3659144bf1b24cec"/>
    <p:sldLayoutId xmlns:r="http://schemas.openxmlformats.org/officeDocument/2006/relationships" id="2147483656" r:id="R1ec94611f6164f92"/>
    <p:sldLayoutId xmlns:r="http://schemas.openxmlformats.org/officeDocument/2006/relationships" id="2147483657" r:id="Ree10157c362046d0"/>
    <p:sldLayoutId xmlns:r="http://schemas.openxmlformats.org/officeDocument/2006/relationships" id="2147483658" r:id="Rb698d7e9b52b493f"/>
    <p:sldLayoutId xmlns:r="http://schemas.openxmlformats.org/officeDocument/2006/relationships" id="2147483659" r:id="R84767de56e654b6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97cd49218c4039" /><Relationship Type="http://schemas.openxmlformats.org/officeDocument/2006/relationships/image" Target="/ppt/media/image.png" Id="Rd33c0e5632fd4aa6" /><Relationship Type="http://schemas.openxmlformats.org/officeDocument/2006/relationships/image" Target="/ppt/media/image2.png" Id="R1dd22211f1fb4bb9" /><Relationship Type="http://schemas.openxmlformats.org/officeDocument/2006/relationships/notesSlide" Target="/ppt/notesSlides/notesSlide1.xml" Id="Rf0996e04dfa146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0586330edb4f84" /><Relationship Type="http://schemas.openxmlformats.org/officeDocument/2006/relationships/image" Target="/ppt/media/image.jpeg" Id="Red960f5548e6473f" /><Relationship Type="http://schemas.openxmlformats.org/officeDocument/2006/relationships/image" Target="/ppt/media/image2.png" Id="Rf28dd06b3c9a4139" /><Relationship Type="http://schemas.openxmlformats.org/officeDocument/2006/relationships/notesSlide" Target="/ppt/notesSlides/notesSlide2.xml" Id="Rdc078f4b04104d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f042810bef64b72" /><Relationship Type="http://schemas.openxmlformats.org/officeDocument/2006/relationships/image" Target="/ppt/media/image.jpeg" Id="R331c6a26ea1747e0" /><Relationship Type="http://schemas.openxmlformats.org/officeDocument/2006/relationships/image" Target="/ppt/media/image2.png" Id="Rd32724b4780c4667" /><Relationship Type="http://schemas.openxmlformats.org/officeDocument/2006/relationships/image" Target="/ppt/media/image3.png" Id="R26a5f62ac09b499e" /><Relationship Type="http://schemas.openxmlformats.org/officeDocument/2006/relationships/image" Target="/ppt/media/image4.png" Id="Rb2b0ba3ea94f438d" /><Relationship Type="http://schemas.openxmlformats.org/officeDocument/2006/relationships/notesSlide" Target="/ppt/notesSlides/notesSlide3.xml" Id="Rd9698c145efe40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0e0ab10b9e4669" /><Relationship Type="http://schemas.openxmlformats.org/officeDocument/2006/relationships/image" Target="/ppt/media/image.jpeg" Id="R01b1e0bf34ee4a27" /><Relationship Type="http://schemas.openxmlformats.org/officeDocument/2006/relationships/image" Target="/ppt/media/image2.png" Id="R66af8e2528e543b2" /><Relationship Type="http://schemas.openxmlformats.org/officeDocument/2006/relationships/image" Target="/ppt/media/image5.png" Id="R858da90840fb4562" /><Relationship Type="http://schemas.openxmlformats.org/officeDocument/2006/relationships/notesSlide" Target="/ppt/notesSlides/notesSlide4.xml" Id="Ra2f7dfaef97a4f2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15c2991dd174a4d" /><Relationship Type="http://schemas.openxmlformats.org/officeDocument/2006/relationships/image" Target="/ppt/media/image.jpeg" Id="R4719ffe00cfd4f43" /><Relationship Type="http://schemas.openxmlformats.org/officeDocument/2006/relationships/image" Target="/ppt/media/image2.png" Id="Rda0f091ce45f49a4" /><Relationship Type="http://schemas.openxmlformats.org/officeDocument/2006/relationships/notesSlide" Target="/ppt/notesSlides/notesSlide5.xml" Id="R812aff02d9504b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af8d897ac8d439e" /><Relationship Type="http://schemas.openxmlformats.org/officeDocument/2006/relationships/image" Target="/ppt/media/image.jpeg" Id="R90a4097a318e4774" /><Relationship Type="http://schemas.openxmlformats.org/officeDocument/2006/relationships/image" Target="/ppt/media/image2.png" Id="R40691757de274a48" /><Relationship Type="http://schemas.openxmlformats.org/officeDocument/2006/relationships/notesSlide" Target="/ppt/notesSlides/notesSlide6.xml" Id="Rd8cebccc13a1468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a7df409fab4e2b" /><Relationship Type="http://schemas.openxmlformats.org/officeDocument/2006/relationships/image" Target="/ppt/media/image.jpeg" Id="R2b7ee0c7307740f0" /><Relationship Type="http://schemas.openxmlformats.org/officeDocument/2006/relationships/image" Target="/ppt/media/image2.png" Id="R091615b73c544079" /><Relationship Type="http://schemas.openxmlformats.org/officeDocument/2006/relationships/chart" Target="/ppt/slides/charts/chart1.xml" Id="Rf7b49fa633f64b11" /><Relationship Type="http://schemas.openxmlformats.org/officeDocument/2006/relationships/notesSlide" Target="/ppt/notesSlides/notesSlide7.xml" Id="Rb716be916a0a43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a76a6d909d4199" /><Relationship Type="http://schemas.openxmlformats.org/officeDocument/2006/relationships/image" Target="/ppt/media/image.jpeg" Id="Rc9793daa1b59449a" /><Relationship Type="http://schemas.openxmlformats.org/officeDocument/2006/relationships/image" Target="/ppt/media/image2.png" Id="R85ae454b05e84891" /><Relationship Type="http://schemas.openxmlformats.org/officeDocument/2006/relationships/notesSlide" Target="/ppt/notesSlides/notesSlide8.xml" Id="Rd6d62142f0274fc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758338595044f06" /><Relationship Type="http://schemas.openxmlformats.org/officeDocument/2006/relationships/image" Target="/ppt/media/image.jpeg" Id="R5197a25d28e240d4" /><Relationship Type="http://schemas.openxmlformats.org/officeDocument/2006/relationships/image" Target="/ppt/media/image2.png" Id="R86b1fb6d752f4b4f" /><Relationship Type="http://schemas.openxmlformats.org/officeDocument/2006/relationships/notesSlide" Target="/ppt/notesSlides/notesSlide9.xml" Id="R9c9e2d559f5740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878cb264063434a" /><Relationship Type="http://schemas.openxmlformats.org/officeDocument/2006/relationships/image" Target="/ppt/media/image.jpeg" Id="Rcb2ca307b6af4968" /><Relationship Type="http://schemas.openxmlformats.org/officeDocument/2006/relationships/image" Target="/ppt/media/image2.png" Id="R65a0573f514f4ab8" /><Relationship Type="http://schemas.openxmlformats.org/officeDocument/2006/relationships/image" Target="/ppt/media/image3.png" Id="R363cd9412eb4422d" /><Relationship Type="http://schemas.openxmlformats.org/officeDocument/2006/relationships/image" Target="/ppt/media/image6.png" Id="R3aa472e0e8424652" /><Relationship Type="http://schemas.openxmlformats.org/officeDocument/2006/relationships/notesSlide" Target="/ppt/notesSlides/notesSlide10.xml" Id="R6c4d96e9902145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66eb178949488f" /><Relationship Type="http://schemas.openxmlformats.org/officeDocument/2006/relationships/image" Target="/ppt/media/image.jpeg" Id="Rd2844c11308f4720" /><Relationship Type="http://schemas.openxmlformats.org/officeDocument/2006/relationships/image" Target="/ppt/media/image2.png" Id="Rcb8a258e919a4ba3" /><Relationship Type="http://schemas.openxmlformats.org/officeDocument/2006/relationships/notesSlide" Target="/ppt/notesSlides/notesSlide11.xml" Id="Ra49f6976e979493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dd86156950b4089" /><Relationship Type="http://schemas.openxmlformats.org/officeDocument/2006/relationships/image" Target="/ppt/media/image.jpeg" Id="R723b12ced2704b2c" /><Relationship Type="http://schemas.openxmlformats.org/officeDocument/2006/relationships/image" Target="/ppt/media/image2.png" Id="R7fc07270685244d3" /><Relationship Type="http://schemas.openxmlformats.org/officeDocument/2006/relationships/notesSlide" Target="/ppt/notesSlides/notesSlide12.xml" Id="Rae4efc0c078748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9a352bea364d02" /><Relationship Type="http://schemas.openxmlformats.org/officeDocument/2006/relationships/image" Target="/ppt/media/image.jpeg" Id="R760779f19eb54d1a" /><Relationship Type="http://schemas.openxmlformats.org/officeDocument/2006/relationships/image" Target="/ppt/media/image2.png" Id="R01c000b458cb4b6c" /><Relationship Type="http://schemas.openxmlformats.org/officeDocument/2006/relationships/notesSlide" Target="/ppt/notesSlides/notesSlide13.xml" Id="R5a3005a0bc9f436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8f473edeabe4a5f" /><Relationship Type="http://schemas.openxmlformats.org/officeDocument/2006/relationships/image" Target="/ppt/media/image.jpeg" Id="Re2926db6cd754ce1" /><Relationship Type="http://schemas.openxmlformats.org/officeDocument/2006/relationships/image" Target="/ppt/media/image2.png" Id="R685bdb932b4047e8" /><Relationship Type="http://schemas.openxmlformats.org/officeDocument/2006/relationships/notesSlide" Target="/ppt/notesSlides/notesSlide14.xml" Id="R3dbc0fc814cd46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f742d7fae084449" /><Relationship Type="http://schemas.openxmlformats.org/officeDocument/2006/relationships/image" Target="/ppt/media/image.jpeg" Id="R5f1a04076d234bad" /><Relationship Type="http://schemas.openxmlformats.org/officeDocument/2006/relationships/image" Target="/ppt/media/image2.png" Id="Ra40d700d01ab46ca" /><Relationship Type="http://schemas.openxmlformats.org/officeDocument/2006/relationships/notesSlide" Target="/ppt/notesSlides/notesSlide15.xml" Id="Rba8737c7dbb546b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7821ce7b8dc4652" /><Relationship Type="http://schemas.openxmlformats.org/officeDocument/2006/relationships/image" Target="/ppt/media/image.jpeg" Id="R8a487ea93407400b" /><Relationship Type="http://schemas.openxmlformats.org/officeDocument/2006/relationships/image" Target="/ppt/media/image2.png" Id="R019e97ea7e1e412d" /><Relationship Type="http://schemas.openxmlformats.org/officeDocument/2006/relationships/notesSlide" Target="/ppt/notesSlides/notesSlide16.xml" Id="R6e398492fc1c448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31cc58432b954c54" /><Relationship Type="http://schemas.openxmlformats.org/officeDocument/2006/relationships/image" Target="/ppt/media/image.jpeg" Id="R92a2c121edba488f" /><Relationship Type="http://schemas.openxmlformats.org/officeDocument/2006/relationships/image" Target="/ppt/media/image2.png" Id="R74e5856ef7fa4f72" /><Relationship Type="http://schemas.openxmlformats.org/officeDocument/2006/relationships/image" Target="/ppt/media/image3.png" Id="Ra71526ec61ff4cd0" /><Relationship Type="http://schemas.openxmlformats.org/officeDocument/2006/relationships/image" Target="/ppt/media/image7.png" Id="Ra5277a21b6c74b7a" /><Relationship Type="http://schemas.openxmlformats.org/officeDocument/2006/relationships/notesSlide" Target="/ppt/notesSlides/notesSlide17.xml" Id="R55adf76bb0e64d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b1fa8ba06e244f0" /><Relationship Type="http://schemas.openxmlformats.org/officeDocument/2006/relationships/image" Target="/ppt/media/image.jpeg" Id="Ra345e2b0614340a5" /><Relationship Type="http://schemas.openxmlformats.org/officeDocument/2006/relationships/image" Target="/ppt/media/image2.png" Id="R3bfe2e9a2624474d" /><Relationship Type="http://schemas.openxmlformats.org/officeDocument/2006/relationships/image" Target="/ppt/media/image8.png" Id="R623a07d7a39c4b35" /><Relationship Type="http://schemas.openxmlformats.org/officeDocument/2006/relationships/image" Target="/ppt/media/image9.png" Id="Rd86cd39c36954918" /><Relationship Type="http://schemas.openxmlformats.org/officeDocument/2006/relationships/notesSlide" Target="/ppt/notesSlides/notesSlide18.xml" Id="R61e6d435eb9d428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63deba4f5644fdc" /><Relationship Type="http://schemas.openxmlformats.org/officeDocument/2006/relationships/image" Target="/ppt/media/image.jpeg" Id="R313abdacb2b64701" /><Relationship Type="http://schemas.openxmlformats.org/officeDocument/2006/relationships/image" Target="/ppt/media/image2.png" Id="R4fff1d5e7f2d48f0" /><Relationship Type="http://schemas.openxmlformats.org/officeDocument/2006/relationships/image" Target="/ppt/media/image8.png" Id="R9bc767bbacda4e76" /><Relationship Type="http://schemas.openxmlformats.org/officeDocument/2006/relationships/image" Target="/ppt/media/image9.png" Id="R126cd978c5624bf5" /><Relationship Type="http://schemas.openxmlformats.org/officeDocument/2006/relationships/image" Target="/ppt/media/image2.jpeg" Id="R0c3948c52c56491f" /><Relationship Type="http://schemas.openxmlformats.org/officeDocument/2006/relationships/image" Target="/ppt/media/image10.png" Id="R2f490e70049f40c8" /><Relationship Type="http://schemas.openxmlformats.org/officeDocument/2006/relationships/notesSlide" Target="/ppt/notesSlides/notesSlide19.xml" Id="R4739510468cd48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3b55af6cb444351" /><Relationship Type="http://schemas.openxmlformats.org/officeDocument/2006/relationships/image" Target="/ppt/media/image.jpeg" Id="Race6676566fe4c79" /><Relationship Type="http://schemas.openxmlformats.org/officeDocument/2006/relationships/image" Target="/ppt/media/image2.png" Id="Rc5b9136ee88449dc" /><Relationship Type="http://schemas.openxmlformats.org/officeDocument/2006/relationships/image" Target="/ppt/media/image8.png" Id="R8cf57fad01dc4548" /><Relationship Type="http://schemas.openxmlformats.org/officeDocument/2006/relationships/image" Target="/ppt/media/image11.png" Id="Re22a956bf98f4d94" /><Relationship Type="http://schemas.openxmlformats.org/officeDocument/2006/relationships/notesSlide" Target="/ppt/notesSlides/notesSlide20.xml" Id="R8631e40b3a97439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49cbf5958674006" /><Relationship Type="http://schemas.openxmlformats.org/officeDocument/2006/relationships/image" Target="/ppt/media/image.jpeg" Id="Rebffa8a8a1164446" /><Relationship Type="http://schemas.openxmlformats.org/officeDocument/2006/relationships/image" Target="/ppt/media/image2.png" Id="R1e148a8ff9514796" /><Relationship Type="http://schemas.openxmlformats.org/officeDocument/2006/relationships/notesSlide" Target="/ppt/notesSlides/notesSlide21.xml" Id="R161c9faf9d6a4df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41fbeb32f7e4865" /><Relationship Type="http://schemas.openxmlformats.org/officeDocument/2006/relationships/image" Target="/ppt/media/image.jpeg" Id="Rfe90fe586c5d4aba" /><Relationship Type="http://schemas.openxmlformats.org/officeDocument/2006/relationships/image" Target="/ppt/media/image2.png" Id="Ree5b5607421f4d62" /><Relationship Type="http://schemas.openxmlformats.org/officeDocument/2006/relationships/notesSlide" Target="/ppt/notesSlides/notesSlide22.xml" Id="R1135ad2a803d458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487a06bd0b824622" /><Relationship Type="http://schemas.openxmlformats.org/officeDocument/2006/relationships/image" Target="/ppt/media/image.jpeg" Id="Rcb97acac7b34443e" /><Relationship Type="http://schemas.openxmlformats.org/officeDocument/2006/relationships/image" Target="/ppt/media/image2.png" Id="Rf15045be32a34c1f" /><Relationship Type="http://schemas.openxmlformats.org/officeDocument/2006/relationships/notesSlide" Target="/ppt/notesSlides/notesSlide23.xml" Id="Ra93bf49c560f467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49d431358cf4323" /><Relationship Type="http://schemas.openxmlformats.org/officeDocument/2006/relationships/image" Target="/ppt/media/image.jpeg" Id="R9fac49e162724b2a" /><Relationship Type="http://schemas.openxmlformats.org/officeDocument/2006/relationships/image" Target="/ppt/media/image2.png" Id="R369f2abebe054aea" /><Relationship Type="http://schemas.openxmlformats.org/officeDocument/2006/relationships/notesSlide" Target="/ppt/notesSlides/notesSlide24.xml" Id="Rfa789e2c866c443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72deeed30304020" /><Relationship Type="http://schemas.openxmlformats.org/officeDocument/2006/relationships/image" Target="/ppt/media/image.jpeg" Id="Ra710d9c937a94642" /><Relationship Type="http://schemas.openxmlformats.org/officeDocument/2006/relationships/image" Target="/ppt/media/image2.png" Id="Rb3f0864b05174f01" /><Relationship Type="http://schemas.openxmlformats.org/officeDocument/2006/relationships/notesSlide" Target="/ppt/notesSlides/notesSlide25.xml" Id="Rdae16e6341884cf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8819904ed58644ac" /><Relationship Type="http://schemas.openxmlformats.org/officeDocument/2006/relationships/image" Target="/ppt/media/image.jpeg" Id="R9491a1bed95b48d2" /><Relationship Type="http://schemas.openxmlformats.org/officeDocument/2006/relationships/image" Target="/ppt/media/image2.png" Id="Ra667379cca754ff6" /><Relationship Type="http://schemas.openxmlformats.org/officeDocument/2006/relationships/notesSlide" Target="/ppt/notesSlides/notesSlide26.xml" Id="R86e51315098d4cd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983c91c3ed32435d" /><Relationship Type="http://schemas.openxmlformats.org/officeDocument/2006/relationships/image" Target="/ppt/media/image.jpeg" Id="R2ead01f028c44d1e" /><Relationship Type="http://schemas.openxmlformats.org/officeDocument/2006/relationships/image" Target="/ppt/media/image2.png" Id="R503809a71679429d" /><Relationship Type="http://schemas.openxmlformats.org/officeDocument/2006/relationships/image" Target="/ppt/media/image3.png" Id="R70eb589bb62f4a68" /><Relationship Type="http://schemas.openxmlformats.org/officeDocument/2006/relationships/image" Target="/ppt/media/image12.png" Id="R355aaf6df4284c32" /><Relationship Type="http://schemas.openxmlformats.org/officeDocument/2006/relationships/notesSlide" Target="/ppt/notesSlides/notesSlide27.xml" Id="R8f6caefb744c4c5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3e0599a3a8dd44c8" /><Relationship Type="http://schemas.openxmlformats.org/officeDocument/2006/relationships/image" Target="/ppt/media/image.jpeg" Id="R51bdb5677e904437" /><Relationship Type="http://schemas.openxmlformats.org/officeDocument/2006/relationships/image" Target="/ppt/media/image2.png" Id="R6c01bc3166234f45" /><Relationship Type="http://schemas.openxmlformats.org/officeDocument/2006/relationships/notesSlide" Target="/ppt/notesSlides/notesSlide28.xml" Id="R63b48b813fe84f3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6cc398989f345dd" /><Relationship Type="http://schemas.openxmlformats.org/officeDocument/2006/relationships/image" Target="/ppt/media/image.jpeg" Id="R28b243f9a65547ab" /><Relationship Type="http://schemas.openxmlformats.org/officeDocument/2006/relationships/image" Target="/ppt/media/image2.png" Id="Rd8b71b3c0f6b475c" /><Relationship Type="http://schemas.openxmlformats.org/officeDocument/2006/relationships/chart" Target="/ppt/slides/charts/chart2.xml" Id="Rb6165f0fa3f74267" /><Relationship Type="http://schemas.openxmlformats.org/officeDocument/2006/relationships/notesSlide" Target="/ppt/notesSlides/notesSlide29.xml" Id="Rd5a8707555bf41b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92d2bb63eb3457d" /><Relationship Type="http://schemas.openxmlformats.org/officeDocument/2006/relationships/image" Target="/ppt/media/image.jpeg" Id="Rdf6893f7020e436e" /><Relationship Type="http://schemas.openxmlformats.org/officeDocument/2006/relationships/image" Target="/ppt/media/image2.png" Id="Ref7609b1501d499c" /><Relationship Type="http://schemas.openxmlformats.org/officeDocument/2006/relationships/image" Target="/ppt/media/image13.png" Id="R98c8c05e6ffc413f" /><Relationship Type="http://schemas.openxmlformats.org/officeDocument/2006/relationships/image" Target="/ppt/media/image14.png" Id="Re92ca704ca5c4a59" /><Relationship Type="http://schemas.openxmlformats.org/officeDocument/2006/relationships/notesSlide" Target="/ppt/notesSlides/notesSlide30.xml" Id="R142e2229475e449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a19e4afc5f9b473e" /><Relationship Type="http://schemas.openxmlformats.org/officeDocument/2006/relationships/image" Target="/ppt/media/image.jpeg" Id="R2d3e01697a234737" /><Relationship Type="http://schemas.openxmlformats.org/officeDocument/2006/relationships/image" Target="/ppt/media/image2.png" Id="R18873606a32c48b6" /><Relationship Type="http://schemas.openxmlformats.org/officeDocument/2006/relationships/image" Target="/ppt/media/image3.png" Id="Ra040edaf2f9f4c5c" /><Relationship Type="http://schemas.openxmlformats.org/officeDocument/2006/relationships/image" Target="/ppt/media/image15.png" Id="R27f082222f644a31" /><Relationship Type="http://schemas.openxmlformats.org/officeDocument/2006/relationships/notesSlide" Target="/ppt/notesSlides/notesSlide31.xml" Id="R0191d387d50d471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f1b73a75e03449a" /><Relationship Type="http://schemas.openxmlformats.org/officeDocument/2006/relationships/image" Target="/ppt/media/image.jpeg" Id="R22bc031faa6a4ce9" /><Relationship Type="http://schemas.openxmlformats.org/officeDocument/2006/relationships/image" Target="/ppt/media/image2.png" Id="Re3cb27291a37454e" /><Relationship Type="http://schemas.openxmlformats.org/officeDocument/2006/relationships/notesSlide" Target="/ppt/notesSlides/notesSlide32.xml" Id="Re916b33cd73746e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53c7608cef904400" /><Relationship Type="http://schemas.openxmlformats.org/officeDocument/2006/relationships/image" Target="/ppt/media/image.jpeg" Id="R23db87306e99455a" /><Relationship Type="http://schemas.openxmlformats.org/officeDocument/2006/relationships/image" Target="/ppt/media/image2.png" Id="R5eb25f2ce844415b" /><Relationship Type="http://schemas.openxmlformats.org/officeDocument/2006/relationships/notesSlide" Target="/ppt/notesSlides/notesSlide33.xml" Id="R185d6bfea845433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544cc4b5936c47f4" /><Relationship Type="http://schemas.openxmlformats.org/officeDocument/2006/relationships/image" Target="/ppt/media/image.jpeg" Id="R64bd012e2a0744c6" /><Relationship Type="http://schemas.openxmlformats.org/officeDocument/2006/relationships/image" Target="/ppt/media/image2.png" Id="Rc429e164a0504008" /><Relationship Type="http://schemas.openxmlformats.org/officeDocument/2006/relationships/notesSlide" Target="/ppt/notesSlides/notesSlide34.xml" Id="R3f9169c418a3489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d0a468d7049e4b62" /><Relationship Type="http://schemas.openxmlformats.org/officeDocument/2006/relationships/image" Target="/ppt/media/image.jpeg" Id="R8e1ce26669e24a5f" /><Relationship Type="http://schemas.openxmlformats.org/officeDocument/2006/relationships/image" Target="/ppt/media/image2.png" Id="R2d5dc55ce1d54c48" /><Relationship Type="http://schemas.openxmlformats.org/officeDocument/2006/relationships/notesSlide" Target="/ppt/notesSlides/notesSlide35.xml" Id="R7af47c9693bd410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c45e2ab1d472400b" /><Relationship Type="http://schemas.openxmlformats.org/officeDocument/2006/relationships/image" Target="/ppt/media/image.jpeg" Id="Rd38a7204d9af46cb" /><Relationship Type="http://schemas.openxmlformats.org/officeDocument/2006/relationships/image" Target="/ppt/media/image2.png" Id="Rd238718f99b64570" /><Relationship Type="http://schemas.openxmlformats.org/officeDocument/2006/relationships/notesSlide" Target="/ppt/notesSlides/notesSlide36.xml" Id="Rbcdfacb730d24ea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45424616df04210" /><Relationship Type="http://schemas.openxmlformats.org/officeDocument/2006/relationships/image" Target="/ppt/media/image.jpeg" Id="R2681adf5eb484fa2" /><Relationship Type="http://schemas.openxmlformats.org/officeDocument/2006/relationships/image" Target="/ppt/media/image2.png" Id="Ra58e4c283ead496f" /><Relationship Type="http://schemas.openxmlformats.org/officeDocument/2006/relationships/notesSlide" Target="/ppt/notesSlides/notesSlide37.xml" Id="R75e8084415664e9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00de57033e748c7" /><Relationship Type="http://schemas.openxmlformats.org/officeDocument/2006/relationships/image" Target="/ppt/media/image.jpeg" Id="Rd928ca604bfb40ac" /><Relationship Type="http://schemas.openxmlformats.org/officeDocument/2006/relationships/image" Target="/ppt/media/image2.png" Id="Re83e72919dd64d9a" /><Relationship Type="http://schemas.openxmlformats.org/officeDocument/2006/relationships/notesSlide" Target="/ppt/notesSlides/notesSlide38.xml" Id="R09a2c8dad69e477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67538832ab242b7" /><Relationship Type="http://schemas.openxmlformats.org/officeDocument/2006/relationships/image" Target="/ppt/media/image.jpeg" Id="R9ac9c76204d347fb" /><Relationship Type="http://schemas.openxmlformats.org/officeDocument/2006/relationships/image" Target="/ppt/media/image2.png" Id="R3ad8210840de4ce7" /><Relationship Type="http://schemas.openxmlformats.org/officeDocument/2006/relationships/notesSlide" Target="/ppt/notesSlides/notesSlide39.xml" Id="R11906df315a54265"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bee841c350e4502" /><Relationship Type="http://schemas.openxmlformats.org/officeDocument/2006/relationships/image" Target="/ppt/media/image.jpeg" Id="R872e6fd175cd43de" /><Relationship Type="http://schemas.openxmlformats.org/officeDocument/2006/relationships/image" Target="/ppt/media/image2.png" Id="R0675baae00074de3" /><Relationship Type="http://schemas.openxmlformats.org/officeDocument/2006/relationships/notesSlide" Target="/ppt/notesSlides/notesSlide40.xml" Id="Ra7c58e124879421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8897d1ddea2400a" /><Relationship Type="http://schemas.openxmlformats.org/officeDocument/2006/relationships/image" Target="/ppt/media/image.jpeg" Id="R14519e06e8734a3e" /><Relationship Type="http://schemas.openxmlformats.org/officeDocument/2006/relationships/image" Target="/ppt/media/image2.png" Id="Ra6c7a20ecefb433c" /><Relationship Type="http://schemas.openxmlformats.org/officeDocument/2006/relationships/image" Target="/ppt/media/image16.png" Id="Rf752fb8a78994342" /><Relationship Type="http://schemas.openxmlformats.org/officeDocument/2006/relationships/notesSlide" Target="/ppt/notesSlides/notesSlide41.xml" Id="R43f3f595825544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0768296c2fa84dfc" /><Relationship Type="http://schemas.openxmlformats.org/officeDocument/2006/relationships/image" Target="/ppt/media/image.jpeg" Id="R8733b0e50b9f40a8" /><Relationship Type="http://schemas.openxmlformats.org/officeDocument/2006/relationships/image" Target="/ppt/media/image.gif" Id="R9636e4bd8f7e4b80" /><Relationship Type="http://schemas.openxmlformats.org/officeDocument/2006/relationships/image" Target="/ppt/media/image2.png" Id="Rc928883c21e743b7" /><Relationship Type="http://schemas.openxmlformats.org/officeDocument/2006/relationships/notesSlide" Target="/ppt/notesSlides/notesSlide42.xml" Id="R8018f606da214486"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875" b="1">
                <a:solidFill>
                  <a:srgbClr val="1E3A5F"/>
                </a:solidFill>
                <a:latin typeface="Arial"/>
                <a:ea typeface="Arial"/>
                <a:cs typeface="Arial"/>
              </a:rPr>
              <a:t>Average AUC on participating sites</a:t>
            </a:r>
          </a:p>
        </c:rich>
      </c:tx>
      <c:overlay val="0"/>
      <c:txPr>
        <a:bodyPr xmlns:a="http://schemas.openxmlformats.org/drawingml/2006/main" anchorCtr="1"/>
        <a:lstStyle xmlns:a="http://schemas.openxmlformats.org/drawingml/2006/main"/>
        <a:p xmlns:a="http://schemas.openxmlformats.org/drawingml/2006/main">
          <a:pPr>
            <a:defRPr sz="1875" b="1">
              <a:solidFill>
                <a:srgbClr val="1E3A5F"/>
              </a:solidFill>
              <a:latin typeface="Arial"/>
              <a:ea typeface="Arial"/>
              <a:cs typeface="Arial"/>
            </a:defRPr>
          </a:pPr>
        </a:p>
      </c:txPr>
    </c:title>
    <c:autoTitleDeleted val="0"/>
    <c:plotArea>
      <c:barChart>
        <c:barDir val="col"/>
        <c:grouping val="clustered"/>
        <c:varyColors val="1"/>
        <c:ser>
          <c:idx val="0"/>
          <c:order val="0"/>
          <c:tx>
            <c:v>AUC</c:v>
          </c:tx>
          <c:spPr>
            <a:solidFill xmlns:a="http://schemas.openxmlformats.org/drawingml/2006/main">
              <a:srgbClr val="1E3A5F"/>
            </a:solidFill>
          </c:spPr>
          <c:dPt>
            <c:idx val="1"/>
            <c:invertIfNegative val="0"/>
            <c:spPr>
              <a:solidFill xmlns:a="http://schemas.openxmlformats.org/drawingml/2006/main">
                <a:srgbClr val="008A46"/>
              </a:solidFill>
            </c:spPr>
          </c:dPt>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500"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2"/>
              <c:pt idx="0">
                <c:v>Local models</c:v>
              </c:pt>
              <c:pt idx="1">
                <c:v>EXAM federated model</c:v>
              </c:pt>
            </c:strLit>
          </c:cat>
          <c:val>
            <c:numLit>
              <c:formatCode>0.000</c:formatCode>
              <c:ptCount val="2"/>
              <c:pt idx="0">
                <c:v>0.795</c:v>
              </c:pt>
              <c:pt idx="1">
                <c:v>0.92</c:v>
              </c:pt>
            </c:numLit>
          </c:val>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425">
                <a:solidFill>
                  <a:srgbClr val="1F2937"/>
                </a:solidFill>
                <a:latin typeface="Arial"/>
                <a:ea typeface="Arial"/>
                <a:cs typeface="Arial"/>
              </a:defRPr>
            </a:pPr>
          </a:p>
        </c:txPr>
        <c:crossAx val="48672768"/>
        <c:crosses val="autoZero"/>
        <c:lblOffset val="100"/>
      </c:catAx>
      <c:valAx>
        <c:axId val="48672768"/>
        <c:scaling>
          <c:orientation val="minMax"/>
          <c:max val="1"/>
          <c:min val="0.7"/>
        </c:scaling>
        <c:delete val="0"/>
        <c:axPos val="l"/>
        <c:majorGridlines>
          <c:spPr>
            <a:ln xmlns:a="http://schemas.openxmlformats.org/drawingml/2006/main" w="9525">
              <a:solidFill>
                <a:srgbClr val="E2E8F0"/>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475569"/>
                    </a:solidFill>
                    <a:latin typeface="Arial"/>
                    <a:ea typeface="Arial"/>
                    <a:cs typeface="Arial"/>
                  </a:rPr>
                  <a:t>AUC</a:t>
                </a:r>
              </a:p>
            </c:rich>
          </c:tx>
          <c:overlay val="0"/>
          <c:txPr>
            <a:bodyPr xmlns:a="http://schemas.openxmlformats.org/drawingml/2006/main" anchorCtr="1"/>
            <a:lstStyle xmlns:a="http://schemas.openxmlformats.org/drawingml/2006/main"/>
            <a:p xmlns:a="http://schemas.openxmlformats.org/drawingml/2006/main">
              <a:pPr>
                <a:defRPr sz="1350">
                  <a:solidFill>
                    <a:srgbClr val="475569"/>
                  </a:solidFill>
                  <a:latin typeface="Arial"/>
                  <a:ea typeface="Arial"/>
                  <a:cs typeface="Arial"/>
                </a:defRPr>
              </a:pPr>
            </a:p>
          </c:txPr>
        </c:title>
        <c:numFmt formatCode="0.000" sourceLinked="1"/>
        <c:majorTickMark val="none"/>
        <c:minorTickMark val="none"/>
        <c:tickLblPos val="nextTo"/>
        <c:spPr>
          <a:ln xmlns:a="http://schemas.openxmlformats.org/drawingml/2006/main" w="9525">
            <a:solidFill>
              <a:srgbClr val="94A3B8"/>
            </a:solidFill>
            <a:prstDash val="solid"/>
          </a:ln>
        </c:spPr>
        <c:txPr>
          <a:bodyPr xmlns:a="http://schemas.openxmlformats.org/drawingml/2006/main" anchorCtr="1"/>
          <a:lstStyle xmlns:a="http://schemas.openxmlformats.org/drawingml/2006/main"/>
          <a:p xmlns:a="http://schemas.openxmlformats.org/drawingml/2006/main">
            <a:pPr>
              <a:defRPr sz="1200">
                <a:solidFill>
                  <a:srgbClr val="475569"/>
                </a:solidFill>
                <a:latin typeface="Arial"/>
                <a:ea typeface="Arial"/>
                <a:cs typeface="Arial"/>
              </a:defRPr>
            </a:pPr>
          </a:p>
        </c:txPr>
        <c:crossAx val="48650112"/>
        <c:crosses val="autoZero"/>
        <c:crossBetween val="between"/>
        <c:majorUnit val="0.05"/>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autoTitleDeleted val="0"/>
    <c:plotArea>
      <c:barChart>
        <c:barDir val="bar"/>
        <c:grouping val="clustered"/>
        <c:varyColors val="0"/>
        <c:ser>
          <c:idx val="0"/>
          <c:order val="0"/>
          <c:tx>
            <c:v>Reduction</c:v>
          </c:tx>
          <c:spPr>
            <a:solidFill xmlns:a="http://schemas.openxmlformats.org/drawingml/2006/main">
              <a:srgbClr val="00843D"/>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dLblPos val="outEnd"/>
          <c:showLegendKey val="0"/>
          <c:showVal val="1"/>
          <c:showCatName val="0"/>
          <c:showSerName val="0"/>
          <c:showPercent val="0"/>
          <c:showBubbleSize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rosses val="autoZero"/>
        <c:lblOffset val="100"/>
      </c:catAx>
      <c:valAx>
        <c:axId val="48672768"/>
        <c:scaling>
          <c:orientation val="minMax"/>
        </c:scaling>
        <c:delete val="0"/>
        <c:axPos val="b"/>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es val="autoZero"/>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d33c0e5632fd4aa6">
            <a:alphaModFix amt="25000"/>
          </a:blip>
          <a:srcRect xmlns:a="http://schemas.openxmlformats.org/drawingml/2006/main" l="0" t="0" r="0" b="0"/>
          <a:stretch xmlns:a="http://schemas.openxmlformats.org/drawingml/2006/main"/>
        </p:blipFill>
        <p:spPr>
          <a:xfrm xmlns:a="http://schemas.openxmlformats.org/drawingml/2006/main">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815671" y="1419007"/>
            <a:ext cx="10668000" cy="1226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536488"/>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89"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1dd22211f1fb4bb9">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a:t>
            </a:r>
            <a:r>
              <a:rPr sz="2000">
                <a:solidFill>
                  <a:srgbClr val="00B0F0"/>
                </a:solidFill>
              </a:rPr>
              <a:t>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375254" y="6396928"/>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1" name="Picture 67"/>
          <p:cNvPicPr>
            <a:picLocks xmlns:a="http://schemas.openxmlformats.org/drawingml/2006/main" noChangeAspect="1"/>
          </p:cNvPicPr>
          <p:nvPr/>
        </p:nvPicPr>
        <p:blipFill>
          <a:blip xmlns:r="http://schemas.openxmlformats.org/officeDocument/2006/relationships" xmlns:a="http://schemas.openxmlformats.org/drawingml/2006/main" r:embed="Red960f5548e6473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72" name="Picture 68"/>
          <p:cNvPicPr>
            <a:picLocks xmlns:a="http://schemas.openxmlformats.org/drawingml/2006/main" noChangeAspect="1"/>
          </p:cNvPicPr>
          <p:nvPr/>
        </p:nvPicPr>
        <p:blipFill>
          <a:blip xmlns:r="http://schemas.openxmlformats.org/officeDocument/2006/relationships" xmlns:a="http://schemas.openxmlformats.org/drawingml/2006/main" r:embed="Rf28dd06b3c9a4139"/>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57475" y="66294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i="0">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endParaRPr sz="2250" b="1" i="0">
              <a:solidFill>
                <a:srgbClr val="17365D"/>
              </a:solidFill>
              <a:latin typeface="Arial"/>
              <a:ea typeface="Arial"/>
              <a:cs typeface="Arial"/>
            </a:endParaRP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6" name="toc-layout-cover">
            <a:extLst xmlns:a="http://schemas.openxmlformats.org/drawingml/2006/main">
              <a:ext uri="{FF2B5EF4-FFF2-40B4-BE49-F238E27FC236}">
                <a16:creationId xmlns:a16="http://schemas.microsoft.com/office/drawing/2014/main" id="{EB85D7A0-B89B-4FC5-AE09-E11CB4F7A0E2}"/>
              </a:ext>
            </a:extLst>
          </p:cNvPr>
          <p:cNvSpPr>
            <a:spLocks xmlns:a="http://schemas.openxmlformats.org/drawingml/2006/main" noGrp="1"/>
          </p:cNvSpPr>
          <p:nvPr/>
        </p:nvSpPr>
        <p:spPr>
          <a:xfrm xmlns:a="http://schemas.openxmlformats.org/drawingml/2006/main">
            <a:off x="428625" y="1143000"/>
            <a:ext cx="11430000" cy="50958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17" name="toc-center-divider">
            <a:extLst xmlns:a="http://schemas.openxmlformats.org/drawingml/2006/main">
              <a:ext uri="{FF2B5EF4-FFF2-40B4-BE49-F238E27FC236}">
                <a16:creationId xmlns:a16="http://schemas.microsoft.com/office/drawing/2014/main" id="{8DB92A33-CCD2-422E-8493-D154849ECFDC}"/>
              </a:ext>
            </a:extLst>
          </p:cNvPr>
          <p:cNvSpPr>
            <a:spLocks xmlns:a="http://schemas.openxmlformats.org/drawingml/2006/main" noGrp="1"/>
          </p:cNvSpPr>
          <p:nvPr/>
        </p:nvSpPr>
        <p:spPr>
          <a:xfrm xmlns:a="http://schemas.openxmlformats.org/drawingml/2006/main">
            <a:off x="6076950" y="1428750"/>
            <a:ext cx="19050" cy="4476750"/>
          </a:xfrm>
          <a:prstGeom xmlns:a="http://schemas.openxmlformats.org/drawingml/2006/main" prst="rect">
            <a:avLst/>
          </a:prstGeom>
          <a:solidFill xmlns:a="http://schemas.openxmlformats.org/drawingml/2006/main">
            <a:srgbClr val="DDE8E1"/>
          </a:solidFill>
          <a:ln xmlns:a="http://schemas.openxmlformats.org/drawingml/2006/main" w="0">
            <a:noFill/>
          </a:ln>
        </p:spPr>
      </p:sp>
      <p:sp>
        <p:nvSpPr>
          <p:cNvPr id="18" name="toc-center-divider-accent">
            <a:extLst xmlns:a="http://schemas.openxmlformats.org/drawingml/2006/main">
              <a:ext uri="{FF2B5EF4-FFF2-40B4-BE49-F238E27FC236}">
                <a16:creationId xmlns:a16="http://schemas.microsoft.com/office/drawing/2014/main" id="{B7AE5AE8-CF65-4B0B-B076-13FF885AA7DA}"/>
              </a:ext>
            </a:extLst>
          </p:cNvPr>
          <p:cNvSpPr>
            <a:spLocks xmlns:a="http://schemas.openxmlformats.org/drawingml/2006/main" noGrp="1"/>
          </p:cNvSpPr>
          <p:nvPr/>
        </p:nvSpPr>
        <p:spPr>
          <a:xfrm xmlns:a="http://schemas.openxmlformats.org/drawingml/2006/main">
            <a:off x="6076950" y="2190750"/>
            <a:ext cx="19050" cy="290512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19" name="toc-introduction-marker">
            <a:extLst xmlns:a="http://schemas.openxmlformats.org/drawingml/2006/main">
              <a:ext uri="{FF2B5EF4-FFF2-40B4-BE49-F238E27FC236}">
                <a16:creationId xmlns:a16="http://schemas.microsoft.com/office/drawing/2014/main" id="{20AFD810-0237-4509-A6EB-39DDD85DE7C5}"/>
              </a:ext>
            </a:extLst>
          </p:cNvPr>
          <p:cNvSpPr>
            <a:spLocks xmlns:a="http://schemas.openxmlformats.org/drawingml/2006/main" noGrp="1"/>
          </p:cNvSpPr>
          <p:nvPr/>
        </p:nvSpPr>
        <p:spPr>
          <a:xfrm xmlns:a="http://schemas.openxmlformats.org/drawingml/2006/main">
            <a:off x="781050"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0" name="toc-introduction-title">
            <a:extLst xmlns:a="http://schemas.openxmlformats.org/drawingml/2006/main">
              <a:ext uri="{FF2B5EF4-FFF2-40B4-BE49-F238E27FC236}">
                <a16:creationId xmlns:a16="http://schemas.microsoft.com/office/drawing/2014/main" id="{C6A1879B-2B24-461C-9404-8457990A0544}"/>
              </a:ext>
            </a:extLst>
          </p:cNvPr>
          <p:cNvSpPr>
            <a:spLocks xmlns:a="http://schemas.openxmlformats.org/drawingml/2006/main" noGrp="1"/>
          </p:cNvSpPr>
          <p:nvPr/>
        </p:nvSpPr>
        <p:spPr>
          <a:xfrm xmlns:a="http://schemas.openxmlformats.org/drawingml/2006/main">
            <a:off x="1047750"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Introduction</a:t>
            </a:r>
          </a:p>
        </p:txBody>
      </p:sp>
      <p:sp>
        <p:nvSpPr>
          <p:cNvPr id="21" name="toc-introduction-chevron-1">
            <a:extLst xmlns:a="http://schemas.openxmlformats.org/drawingml/2006/main">
              <a:ext uri="{FF2B5EF4-FFF2-40B4-BE49-F238E27FC236}">
                <a16:creationId xmlns:a16="http://schemas.microsoft.com/office/drawing/2014/main" id="{ED46F73D-DEEE-4AD4-8C83-7A6B27775D16}"/>
              </a:ext>
            </a:extLst>
          </p:cNvPr>
          <p:cNvSpPr>
            <a:spLocks xmlns:a="http://schemas.openxmlformats.org/drawingml/2006/main" noGrp="1"/>
          </p:cNvSpPr>
          <p:nvPr/>
        </p:nvSpPr>
        <p:spPr>
          <a:xfrm xmlns:a="http://schemas.openxmlformats.org/drawingml/2006/main">
            <a:off x="1181100"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2" name="toc-introduction-item-1">
            <a:extLst xmlns:a="http://schemas.openxmlformats.org/drawingml/2006/main">
              <a:ext uri="{FF2B5EF4-FFF2-40B4-BE49-F238E27FC236}">
                <a16:creationId xmlns:a16="http://schemas.microsoft.com/office/drawing/2014/main" id="{5B518010-3BC3-43DB-B63D-A1BB68F41DA9}"/>
              </a:ext>
            </a:extLst>
          </p:cNvPr>
          <p:cNvSpPr>
            <a:spLocks xmlns:a="http://schemas.openxmlformats.org/drawingml/2006/main" noGrp="1"/>
          </p:cNvSpPr>
          <p:nvPr/>
        </p:nvSpPr>
        <p:spPr>
          <a:xfrm xmlns:a="http://schemas.openxmlformats.org/drawingml/2006/main">
            <a:off x="1466850"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Background and motivation</a:t>
            </a:r>
          </a:p>
        </p:txBody>
      </p:sp>
      <p:sp>
        <p:nvSpPr>
          <p:cNvPr id="23" name="toc-introduction-chevron-2">
            <a:extLst xmlns:a="http://schemas.openxmlformats.org/drawingml/2006/main">
              <a:ext uri="{FF2B5EF4-FFF2-40B4-BE49-F238E27FC236}">
                <a16:creationId xmlns:a16="http://schemas.microsoft.com/office/drawing/2014/main" id="{CDD3684C-4BC1-4792-B7ED-E18200CF7B2A}"/>
              </a:ext>
            </a:extLst>
          </p:cNvPr>
          <p:cNvSpPr>
            <a:spLocks xmlns:a="http://schemas.openxmlformats.org/drawingml/2006/main" noGrp="1"/>
          </p:cNvSpPr>
          <p:nvPr/>
        </p:nvSpPr>
        <p:spPr>
          <a:xfrm xmlns:a="http://schemas.openxmlformats.org/drawingml/2006/main">
            <a:off x="1181100"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4" name="toc-introduction-item-2">
            <a:extLst xmlns:a="http://schemas.openxmlformats.org/drawingml/2006/main">
              <a:ext uri="{FF2B5EF4-FFF2-40B4-BE49-F238E27FC236}">
                <a16:creationId xmlns:a16="http://schemas.microsoft.com/office/drawing/2014/main" id="{CBC16602-1DCD-4A1A-AC3A-726BDBAD88BF}"/>
              </a:ext>
            </a:extLst>
          </p:cNvPr>
          <p:cNvSpPr>
            <a:spLocks xmlns:a="http://schemas.openxmlformats.org/drawingml/2006/main" noGrp="1"/>
          </p:cNvSpPr>
          <p:nvPr/>
        </p:nvSpPr>
        <p:spPr>
          <a:xfrm xmlns:a="http://schemas.openxmlformats.org/drawingml/2006/main">
            <a:off x="1466850"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Problem statement</a:t>
            </a:r>
          </a:p>
        </p:txBody>
      </p:sp>
      <p:sp>
        <p:nvSpPr>
          <p:cNvPr id="25" name="toc-introduction-chevron-3">
            <a:extLst xmlns:a="http://schemas.openxmlformats.org/drawingml/2006/main">
              <a:ext uri="{FF2B5EF4-FFF2-40B4-BE49-F238E27FC236}">
                <a16:creationId xmlns:a16="http://schemas.microsoft.com/office/drawing/2014/main" id="{590FA40F-1F68-46F6-B7AF-2CC09442BC4C}"/>
              </a:ext>
            </a:extLst>
          </p:cNvPr>
          <p:cNvSpPr>
            <a:spLocks xmlns:a="http://schemas.openxmlformats.org/drawingml/2006/main" noGrp="1"/>
          </p:cNvSpPr>
          <p:nvPr/>
        </p:nvSpPr>
        <p:spPr>
          <a:xfrm xmlns:a="http://schemas.openxmlformats.org/drawingml/2006/main">
            <a:off x="1181100"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26" name="toc-introduction-item-3">
            <a:extLst xmlns:a="http://schemas.openxmlformats.org/drawingml/2006/main">
              <a:ext uri="{FF2B5EF4-FFF2-40B4-BE49-F238E27FC236}">
                <a16:creationId xmlns:a16="http://schemas.microsoft.com/office/drawing/2014/main" id="{299ED237-5381-4798-9870-64C2CFB74A21}"/>
              </a:ext>
            </a:extLst>
          </p:cNvPr>
          <p:cNvSpPr>
            <a:spLocks xmlns:a="http://schemas.openxmlformats.org/drawingml/2006/main" noGrp="1"/>
          </p:cNvSpPr>
          <p:nvPr/>
        </p:nvSpPr>
        <p:spPr>
          <a:xfrm xmlns:a="http://schemas.openxmlformats.org/drawingml/2006/main">
            <a:off x="1466850"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Research questions and objectives</a:t>
            </a:r>
          </a:p>
        </p:txBody>
      </p:sp>
      <p:sp>
        <p:nvSpPr>
          <p:cNvPr id="27" name="toc-literature-marker">
            <a:extLst xmlns:a="http://schemas.openxmlformats.org/drawingml/2006/main">
              <a:ext uri="{FF2B5EF4-FFF2-40B4-BE49-F238E27FC236}">
                <a16:creationId xmlns:a16="http://schemas.microsoft.com/office/drawing/2014/main" id="{B4EDC459-3AC7-4E59-8671-97041EC83181}"/>
              </a:ext>
            </a:extLst>
          </p:cNvPr>
          <p:cNvSpPr>
            <a:spLocks xmlns:a="http://schemas.openxmlformats.org/drawingml/2006/main" noGrp="1"/>
          </p:cNvSpPr>
          <p:nvPr/>
        </p:nvSpPr>
        <p:spPr>
          <a:xfrm xmlns:a="http://schemas.openxmlformats.org/drawingml/2006/main">
            <a:off x="781050"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28" name="toc-literature-title">
            <a:extLst xmlns:a="http://schemas.openxmlformats.org/drawingml/2006/main">
              <a:ext uri="{FF2B5EF4-FFF2-40B4-BE49-F238E27FC236}">
                <a16:creationId xmlns:a16="http://schemas.microsoft.com/office/drawing/2014/main" id="{E7394B6E-47C3-4AF2-90B0-522DAB160513}"/>
              </a:ext>
            </a:extLst>
          </p:cNvPr>
          <p:cNvSpPr>
            <a:spLocks xmlns:a="http://schemas.openxmlformats.org/drawingml/2006/main" noGrp="1"/>
          </p:cNvSpPr>
          <p:nvPr/>
        </p:nvSpPr>
        <p:spPr>
          <a:xfrm xmlns:a="http://schemas.openxmlformats.org/drawingml/2006/main">
            <a:off x="1047750"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Literature Review</a:t>
            </a:r>
          </a:p>
        </p:txBody>
      </p:sp>
      <p:sp>
        <p:nvSpPr>
          <p:cNvPr id="29" name="toc-literature-chevron-1">
            <a:extLst xmlns:a="http://schemas.openxmlformats.org/drawingml/2006/main">
              <a:ext uri="{FF2B5EF4-FFF2-40B4-BE49-F238E27FC236}">
                <a16:creationId xmlns:a16="http://schemas.microsoft.com/office/drawing/2014/main" id="{E4C5ABD3-54F1-4BC4-B308-386E8F69A498}"/>
              </a:ext>
            </a:extLst>
          </p:cNvPr>
          <p:cNvSpPr>
            <a:spLocks xmlns:a="http://schemas.openxmlformats.org/drawingml/2006/main" noGrp="1"/>
          </p:cNvSpPr>
          <p:nvPr/>
        </p:nvSpPr>
        <p:spPr>
          <a:xfrm xmlns:a="http://schemas.openxmlformats.org/drawingml/2006/main">
            <a:off x="1181100" y="310515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0" name="toc-literature-item-1">
            <a:extLst xmlns:a="http://schemas.openxmlformats.org/drawingml/2006/main">
              <a:ext uri="{FF2B5EF4-FFF2-40B4-BE49-F238E27FC236}">
                <a16:creationId xmlns:a16="http://schemas.microsoft.com/office/drawing/2014/main" id="{896A1579-0C62-4F0D-955B-2B7F7F9C5DA3}"/>
              </a:ext>
            </a:extLst>
          </p:cNvPr>
          <p:cNvSpPr>
            <a:spLocks xmlns:a="http://schemas.openxmlformats.org/drawingml/2006/main" noGrp="1"/>
          </p:cNvSpPr>
          <p:nvPr/>
        </p:nvSpPr>
        <p:spPr>
          <a:xfrm xmlns:a="http://schemas.openxmlformats.org/drawingml/2006/main">
            <a:off x="1466850" y="310515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Related studies</a:t>
            </a:r>
          </a:p>
        </p:txBody>
      </p:sp>
      <p:sp>
        <p:nvSpPr>
          <p:cNvPr id="31" name="toc-literature-chevron-2">
            <a:extLst xmlns:a="http://schemas.openxmlformats.org/drawingml/2006/main">
              <a:ext uri="{FF2B5EF4-FFF2-40B4-BE49-F238E27FC236}">
                <a16:creationId xmlns:a16="http://schemas.microsoft.com/office/drawing/2014/main" id="{41B4E2B3-6349-45F6-AF64-EDE8B9C36B3A}"/>
              </a:ext>
            </a:extLst>
          </p:cNvPr>
          <p:cNvSpPr>
            <a:spLocks xmlns:a="http://schemas.openxmlformats.org/drawingml/2006/main" noGrp="1"/>
          </p:cNvSpPr>
          <p:nvPr/>
        </p:nvSpPr>
        <p:spPr>
          <a:xfrm xmlns:a="http://schemas.openxmlformats.org/drawingml/2006/main">
            <a:off x="1181100" y="33623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2" name="toc-literature-item-2">
            <a:extLst xmlns:a="http://schemas.openxmlformats.org/drawingml/2006/main">
              <a:ext uri="{FF2B5EF4-FFF2-40B4-BE49-F238E27FC236}">
                <a16:creationId xmlns:a16="http://schemas.microsoft.com/office/drawing/2014/main" id="{73660351-7D0D-4CBF-BA91-51537F803DD0}"/>
              </a:ext>
            </a:extLst>
          </p:cNvPr>
          <p:cNvSpPr>
            <a:spLocks xmlns:a="http://schemas.openxmlformats.org/drawingml/2006/main" noGrp="1"/>
          </p:cNvSpPr>
          <p:nvPr/>
        </p:nvSpPr>
        <p:spPr>
          <a:xfrm xmlns:a="http://schemas.openxmlformats.org/drawingml/2006/main">
            <a:off x="1466850" y="33623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Comparative analysis and research gap</a:t>
            </a:r>
          </a:p>
        </p:txBody>
      </p:sp>
      <p:sp>
        <p:nvSpPr>
          <p:cNvPr id="33" name="toc-framework-marker">
            <a:extLst xmlns:a="http://schemas.openxmlformats.org/drawingml/2006/main">
              <a:ext uri="{FF2B5EF4-FFF2-40B4-BE49-F238E27FC236}">
                <a16:creationId xmlns:a16="http://schemas.microsoft.com/office/drawing/2014/main" id="{9E45591D-DBA9-4DFF-B49C-96CED4E389A3}"/>
              </a:ext>
            </a:extLst>
          </p:cNvPr>
          <p:cNvSpPr>
            <a:spLocks xmlns:a="http://schemas.openxmlformats.org/drawingml/2006/main" noGrp="1"/>
          </p:cNvSpPr>
          <p:nvPr/>
        </p:nvSpPr>
        <p:spPr>
          <a:xfrm xmlns:a="http://schemas.openxmlformats.org/drawingml/2006/main">
            <a:off x="781050" y="39243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34" name="toc-framework-title">
            <a:extLst xmlns:a="http://schemas.openxmlformats.org/drawingml/2006/main">
              <a:ext uri="{FF2B5EF4-FFF2-40B4-BE49-F238E27FC236}">
                <a16:creationId xmlns:a16="http://schemas.microsoft.com/office/drawing/2014/main" id="{C0CF9239-0025-45BA-8295-AB7670CE8FF0}"/>
              </a:ext>
            </a:extLst>
          </p:cNvPr>
          <p:cNvSpPr>
            <a:spLocks xmlns:a="http://schemas.openxmlformats.org/drawingml/2006/main" noGrp="1"/>
          </p:cNvSpPr>
          <p:nvPr/>
        </p:nvSpPr>
        <p:spPr>
          <a:xfrm xmlns:a="http://schemas.openxmlformats.org/drawingml/2006/main">
            <a:off x="1047750" y="38576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Conceptual Framework</a:t>
            </a:r>
          </a:p>
        </p:txBody>
      </p:sp>
      <p:sp>
        <p:nvSpPr>
          <p:cNvPr id="35" name="toc-framework-chevron-1">
            <a:extLst xmlns:a="http://schemas.openxmlformats.org/drawingml/2006/main">
              <a:ext uri="{FF2B5EF4-FFF2-40B4-BE49-F238E27FC236}">
                <a16:creationId xmlns:a16="http://schemas.microsoft.com/office/drawing/2014/main" id="{D0FFF833-C244-4FFB-BDB4-FC5B51B2B08C}"/>
              </a:ext>
            </a:extLst>
          </p:cNvPr>
          <p:cNvSpPr>
            <a:spLocks xmlns:a="http://schemas.openxmlformats.org/drawingml/2006/main" noGrp="1"/>
          </p:cNvSpPr>
          <p:nvPr/>
        </p:nvSpPr>
        <p:spPr>
          <a:xfrm xmlns:a="http://schemas.openxmlformats.org/drawingml/2006/main">
            <a:off x="1181100" y="42005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6" name="toc-framework-item-1">
            <a:extLst xmlns:a="http://schemas.openxmlformats.org/drawingml/2006/main">
              <a:ext uri="{FF2B5EF4-FFF2-40B4-BE49-F238E27FC236}">
                <a16:creationId xmlns:a16="http://schemas.microsoft.com/office/drawing/2014/main" id="{9D73A5DB-6464-41A2-ABB6-869DC835F3DE}"/>
              </a:ext>
            </a:extLst>
          </p:cNvPr>
          <p:cNvSpPr>
            <a:spLocks xmlns:a="http://schemas.openxmlformats.org/drawingml/2006/main" noGrp="1"/>
          </p:cNvSpPr>
          <p:nvPr/>
        </p:nvSpPr>
        <p:spPr>
          <a:xfrm xmlns:a="http://schemas.openxmlformats.org/drawingml/2006/main">
            <a:off x="1466850" y="42005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Security goals and system components</a:t>
            </a:r>
          </a:p>
        </p:txBody>
      </p:sp>
      <p:sp>
        <p:nvSpPr>
          <p:cNvPr id="37" name="toc-framework-chevron-2">
            <a:extLst xmlns:a="http://schemas.openxmlformats.org/drawingml/2006/main">
              <a:ext uri="{FF2B5EF4-FFF2-40B4-BE49-F238E27FC236}">
                <a16:creationId xmlns:a16="http://schemas.microsoft.com/office/drawing/2014/main" id="{5BB24590-6216-4280-98FE-C18B441BC7F4}"/>
              </a:ext>
            </a:extLst>
          </p:cNvPr>
          <p:cNvSpPr>
            <a:spLocks xmlns:a="http://schemas.openxmlformats.org/drawingml/2006/main" noGrp="1"/>
          </p:cNvSpPr>
          <p:nvPr/>
        </p:nvSpPr>
        <p:spPr>
          <a:xfrm xmlns:a="http://schemas.openxmlformats.org/drawingml/2006/main">
            <a:off x="1181100" y="44577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38" name="toc-framework-item-2">
            <a:extLst xmlns:a="http://schemas.openxmlformats.org/drawingml/2006/main">
              <a:ext uri="{FF2B5EF4-FFF2-40B4-BE49-F238E27FC236}">
                <a16:creationId xmlns:a16="http://schemas.microsoft.com/office/drawing/2014/main" id="{F3066673-B4A1-4684-8DBC-4C576160F543}"/>
              </a:ext>
            </a:extLst>
          </p:cNvPr>
          <p:cNvSpPr>
            <a:spLocks xmlns:a="http://schemas.openxmlformats.org/drawingml/2006/main" noGrp="1"/>
          </p:cNvSpPr>
          <p:nvPr/>
        </p:nvSpPr>
        <p:spPr>
          <a:xfrm xmlns:a="http://schemas.openxmlformats.org/drawingml/2006/main">
            <a:off x="1466850" y="44577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Threat model and trust assumptions</a:t>
            </a:r>
          </a:p>
        </p:txBody>
      </p:sp>
      <p:sp>
        <p:nvSpPr>
          <p:cNvPr id="39" name="toc-methodology-marker">
            <a:extLst xmlns:a="http://schemas.openxmlformats.org/drawingml/2006/main">
              <a:ext uri="{FF2B5EF4-FFF2-40B4-BE49-F238E27FC236}">
                <a16:creationId xmlns:a16="http://schemas.microsoft.com/office/drawing/2014/main" id="{C4BCB746-101E-49D2-8084-E8C997B2C69F}"/>
              </a:ext>
            </a:extLst>
          </p:cNvPr>
          <p:cNvSpPr>
            <a:spLocks xmlns:a="http://schemas.openxmlformats.org/drawingml/2006/main" noGrp="1"/>
          </p:cNvSpPr>
          <p:nvPr/>
        </p:nvSpPr>
        <p:spPr>
          <a:xfrm xmlns:a="http://schemas.openxmlformats.org/drawingml/2006/main">
            <a:off x="6524625" y="1447800"/>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0" name="toc-methodology-title">
            <a:extLst xmlns:a="http://schemas.openxmlformats.org/drawingml/2006/main">
              <a:ext uri="{FF2B5EF4-FFF2-40B4-BE49-F238E27FC236}">
                <a16:creationId xmlns:a16="http://schemas.microsoft.com/office/drawing/2014/main" id="{EC150210-A53B-4565-8800-36B55907378A}"/>
              </a:ext>
            </a:extLst>
          </p:cNvPr>
          <p:cNvSpPr>
            <a:spLocks xmlns:a="http://schemas.openxmlformats.org/drawingml/2006/main" noGrp="1"/>
          </p:cNvSpPr>
          <p:nvPr/>
        </p:nvSpPr>
        <p:spPr>
          <a:xfrm xmlns:a="http://schemas.openxmlformats.org/drawingml/2006/main">
            <a:off x="6791325" y="1381125"/>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806" lnSpcReduction="10000"/>
          </a:bodyPr>
          <a:lstStyle xmlns:a="http://schemas.openxmlformats.org/drawingml/2006/main"/>
          <a:p xmlns:a="http://schemas.openxmlformats.org/drawingml/2006/main">
            <a:pPr>
              <a:buNone/>
              <a:defRPr sz="1800" b="1">
                <a:solidFill>
                  <a:srgbClr val="111111"/>
                </a:solidFill>
                <a:latin typeface="Arial"/>
                <a:ea typeface="Arial"/>
                <a:cs typeface="Arial"/>
              </a:defRPr>
            </a:pPr>
            <a:r>
              <a:rPr sz="1800" b="1">
                <a:solidFill>
                  <a:srgbClr val="111111"/>
                </a:solidFill>
                <a:latin typeface="Arial"/>
                <a:ea typeface="Arial"/>
                <a:cs typeface="Arial"/>
              </a:rPr>
              <a:t>Proposed Methodology</a:t>
            </a:r>
          </a:p>
        </p:txBody>
      </p:sp>
      <p:sp>
        <p:nvSpPr>
          <p:cNvPr id="41" name="toc-methodology-chevron-1">
            <a:extLst xmlns:a="http://schemas.openxmlformats.org/drawingml/2006/main">
              <a:ext uri="{FF2B5EF4-FFF2-40B4-BE49-F238E27FC236}">
                <a16:creationId xmlns:a16="http://schemas.microsoft.com/office/drawing/2014/main" id="{898D85A8-87C8-4B49-8783-4EE9E608ED37}"/>
              </a:ext>
            </a:extLst>
          </p:cNvPr>
          <p:cNvSpPr>
            <a:spLocks xmlns:a="http://schemas.openxmlformats.org/drawingml/2006/main" noGrp="1"/>
          </p:cNvSpPr>
          <p:nvPr/>
        </p:nvSpPr>
        <p:spPr>
          <a:xfrm xmlns:a="http://schemas.openxmlformats.org/drawingml/2006/main">
            <a:off x="6924675" y="172402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2" name="toc-methodology-item-1">
            <a:extLst xmlns:a="http://schemas.openxmlformats.org/drawingml/2006/main">
              <a:ext uri="{FF2B5EF4-FFF2-40B4-BE49-F238E27FC236}">
                <a16:creationId xmlns:a16="http://schemas.microsoft.com/office/drawing/2014/main" id="{A4CFF20D-157F-454F-B635-EECE68EEF869}"/>
              </a:ext>
            </a:extLst>
          </p:cNvPr>
          <p:cNvSpPr>
            <a:spLocks xmlns:a="http://schemas.openxmlformats.org/drawingml/2006/main" noGrp="1"/>
          </p:cNvSpPr>
          <p:nvPr/>
        </p:nvSpPr>
        <p:spPr>
          <a:xfrm xmlns:a="http://schemas.openxmlformats.org/drawingml/2006/main">
            <a:off x="7210425" y="172402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System architecture</a:t>
            </a:r>
          </a:p>
        </p:txBody>
      </p:sp>
      <p:sp>
        <p:nvSpPr>
          <p:cNvPr id="43" name="toc-methodology-chevron-2">
            <a:extLst xmlns:a="http://schemas.openxmlformats.org/drawingml/2006/main">
              <a:ext uri="{FF2B5EF4-FFF2-40B4-BE49-F238E27FC236}">
                <a16:creationId xmlns:a16="http://schemas.microsoft.com/office/drawing/2014/main" id="{F61EACBB-1BD7-4BA3-A3C2-0179FCD97A8A}"/>
              </a:ext>
            </a:extLst>
          </p:cNvPr>
          <p:cNvSpPr>
            <a:spLocks xmlns:a="http://schemas.openxmlformats.org/drawingml/2006/main" noGrp="1"/>
          </p:cNvSpPr>
          <p:nvPr/>
        </p:nvSpPr>
        <p:spPr>
          <a:xfrm xmlns:a="http://schemas.openxmlformats.org/drawingml/2006/main">
            <a:off x="6924675" y="1981200"/>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4" name="toc-methodology-item-2">
            <a:extLst xmlns:a="http://schemas.openxmlformats.org/drawingml/2006/main">
              <a:ext uri="{FF2B5EF4-FFF2-40B4-BE49-F238E27FC236}">
                <a16:creationId xmlns:a16="http://schemas.microsoft.com/office/drawing/2014/main" id="{0AB78B8E-96B5-4C39-8107-F8733EE99738}"/>
              </a:ext>
            </a:extLst>
          </p:cNvPr>
          <p:cNvSpPr>
            <a:spLocks xmlns:a="http://schemas.openxmlformats.org/drawingml/2006/main" noGrp="1"/>
          </p:cNvSpPr>
          <p:nvPr/>
        </p:nvSpPr>
        <p:spPr>
          <a:xfrm xmlns:a="http://schemas.openxmlformats.org/drawingml/2006/main">
            <a:off x="7210425" y="1981200"/>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CAABC-FL compression workflow</a:t>
            </a:r>
          </a:p>
        </p:txBody>
      </p:sp>
      <p:sp>
        <p:nvSpPr>
          <p:cNvPr id="45" name="toc-methodology-chevron-3">
            <a:extLst xmlns:a="http://schemas.openxmlformats.org/drawingml/2006/main">
              <a:ext uri="{FF2B5EF4-FFF2-40B4-BE49-F238E27FC236}">
                <a16:creationId xmlns:a16="http://schemas.microsoft.com/office/drawing/2014/main" id="{4ED3A77D-BA0C-47C6-83DA-B54E214538E2}"/>
              </a:ext>
            </a:extLst>
          </p:cNvPr>
          <p:cNvSpPr>
            <a:spLocks xmlns:a="http://schemas.openxmlformats.org/drawingml/2006/main" noGrp="1"/>
          </p:cNvSpPr>
          <p:nvPr/>
        </p:nvSpPr>
        <p:spPr>
          <a:xfrm xmlns:a="http://schemas.openxmlformats.org/drawingml/2006/main">
            <a:off x="6924675" y="2238375"/>
            <a:ext cx="209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2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46" name="toc-methodology-item-3">
            <a:extLst xmlns:a="http://schemas.openxmlformats.org/drawingml/2006/main">
              <a:ext uri="{FF2B5EF4-FFF2-40B4-BE49-F238E27FC236}">
                <a16:creationId xmlns:a16="http://schemas.microsoft.com/office/drawing/2014/main" id="{D52C2A79-AA2D-463E-BBAE-36212F64B884}"/>
              </a:ext>
            </a:extLst>
          </p:cNvPr>
          <p:cNvSpPr>
            <a:spLocks xmlns:a="http://schemas.openxmlformats.org/drawingml/2006/main" noGrp="1"/>
          </p:cNvSpPr>
          <p:nvPr/>
        </p:nvSpPr>
        <p:spPr>
          <a:xfrm xmlns:a="http://schemas.openxmlformats.org/drawingml/2006/main">
            <a:off x="7210425" y="2238375"/>
            <a:ext cx="4095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lnSpcReduction="10000"/>
          </a:bodyPr>
          <a:lstStyle xmlns:a="http://schemas.openxmlformats.org/drawingml/2006/main"/>
          <a:p xmlns:a="http://schemas.openxmlformats.org/drawingml/2006/main">
            <a:pPr>
              <a:buNone/>
              <a:defRPr sz="1275">
                <a:solidFill>
                  <a:srgbClr val="163F7A"/>
                </a:solidFill>
                <a:latin typeface="Arial"/>
                <a:ea typeface="Arial"/>
                <a:cs typeface="Arial"/>
              </a:defRPr>
            </a:pPr>
            <a:r>
              <a:rPr sz="1275">
                <a:solidFill>
                  <a:srgbClr val="163F7A"/>
                </a:solidFill>
                <a:latin typeface="Arial"/>
                <a:ea typeface="Arial"/>
                <a:cs typeface="Arial"/>
              </a:rPr>
              <a:t>Secure aggregation and governance</a:t>
            </a:r>
          </a:p>
        </p:txBody>
      </p:sp>
      <p:sp>
        <p:nvSpPr>
          <p:cNvPr id="47" name="toc-results-marker">
            <a:extLst xmlns:a="http://schemas.openxmlformats.org/drawingml/2006/main">
              <a:ext uri="{FF2B5EF4-FFF2-40B4-BE49-F238E27FC236}">
                <a16:creationId xmlns:a16="http://schemas.microsoft.com/office/drawing/2014/main" id="{10C2522C-44D0-4082-AF42-04C34462661A}"/>
              </a:ext>
            </a:extLst>
          </p:cNvPr>
          <p:cNvSpPr>
            <a:spLocks xmlns:a="http://schemas.openxmlformats.org/drawingml/2006/main" noGrp="1"/>
          </p:cNvSpPr>
          <p:nvPr/>
        </p:nvSpPr>
        <p:spPr>
          <a:xfrm xmlns:a="http://schemas.openxmlformats.org/drawingml/2006/main">
            <a:off x="6524625" y="28289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48" name="toc-results-title">
            <a:extLst xmlns:a="http://schemas.openxmlformats.org/drawingml/2006/main">
              <a:ext uri="{FF2B5EF4-FFF2-40B4-BE49-F238E27FC236}">
                <a16:creationId xmlns:a16="http://schemas.microsoft.com/office/drawing/2014/main" id="{2FC1BAEF-4BA9-41A4-8397-2D1A99E7B213}"/>
              </a:ext>
            </a:extLst>
          </p:cNvPr>
          <p:cNvSpPr>
            <a:spLocks xmlns:a="http://schemas.openxmlformats.org/drawingml/2006/main" noGrp="1"/>
          </p:cNvSpPr>
          <p:nvPr/>
        </p:nvSpPr>
        <p:spPr>
          <a:xfrm xmlns:a="http://schemas.openxmlformats.org/drawingml/2006/main">
            <a:off x="6791325" y="27622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Results and Discussion</a:t>
            </a:r>
          </a:p>
        </p:txBody>
      </p:sp>
      <p:sp>
        <p:nvSpPr>
          <p:cNvPr id="49" name="toc-results-chevron-1">
            <a:extLst xmlns:a="http://schemas.openxmlformats.org/drawingml/2006/main">
              <a:ext uri="{FF2B5EF4-FFF2-40B4-BE49-F238E27FC236}">
                <a16:creationId xmlns:a16="http://schemas.microsoft.com/office/drawing/2014/main" id="{BFE3A178-048D-45B4-895A-B74FDA4A9D96}"/>
              </a:ext>
            </a:extLst>
          </p:cNvPr>
          <p:cNvSpPr>
            <a:spLocks xmlns:a="http://schemas.openxmlformats.org/drawingml/2006/main" noGrp="1"/>
          </p:cNvSpPr>
          <p:nvPr/>
        </p:nvSpPr>
        <p:spPr>
          <a:xfrm xmlns:a="http://schemas.openxmlformats.org/drawingml/2006/main">
            <a:off x="6924675" y="31051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0" name="toc-results-item-1">
            <a:extLst xmlns:a="http://schemas.openxmlformats.org/drawingml/2006/main">
              <a:ext uri="{FF2B5EF4-FFF2-40B4-BE49-F238E27FC236}">
                <a16:creationId xmlns:a16="http://schemas.microsoft.com/office/drawing/2014/main" id="{59FB2C84-3D9F-4C7A-8EE0-3CCC7A9763D0}"/>
              </a:ext>
            </a:extLst>
          </p:cNvPr>
          <p:cNvSpPr>
            <a:spLocks xmlns:a="http://schemas.openxmlformats.org/drawingml/2006/main" noGrp="1"/>
          </p:cNvSpPr>
          <p:nvPr/>
        </p:nvSpPr>
        <p:spPr>
          <a:xfrm xmlns:a="http://schemas.openxmlformats.org/drawingml/2006/main">
            <a:off x="7210425" y="31051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Utility and SOTA comparison</a:t>
            </a:r>
          </a:p>
        </p:txBody>
      </p:sp>
      <p:sp>
        <p:nvSpPr>
          <p:cNvPr id="51" name="toc-results-chevron-2">
            <a:extLst xmlns:a="http://schemas.openxmlformats.org/drawingml/2006/main">
              <a:ext uri="{FF2B5EF4-FFF2-40B4-BE49-F238E27FC236}">
                <a16:creationId xmlns:a16="http://schemas.microsoft.com/office/drawing/2014/main" id="{693A6055-41BE-4002-867C-2A2D93478222}"/>
              </a:ext>
            </a:extLst>
          </p:cNvPr>
          <p:cNvSpPr>
            <a:spLocks xmlns:a="http://schemas.openxmlformats.org/drawingml/2006/main" noGrp="1"/>
          </p:cNvSpPr>
          <p:nvPr/>
        </p:nvSpPr>
        <p:spPr>
          <a:xfrm xmlns:a="http://schemas.openxmlformats.org/drawingml/2006/main">
            <a:off x="6924675" y="33242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2" name="toc-results-item-2">
            <a:extLst xmlns:a="http://schemas.openxmlformats.org/drawingml/2006/main">
              <a:ext uri="{FF2B5EF4-FFF2-40B4-BE49-F238E27FC236}">
                <a16:creationId xmlns:a16="http://schemas.microsoft.com/office/drawing/2014/main" id="{A9C286A5-3429-4610-BB13-5B91C42F687F}"/>
              </a:ext>
            </a:extLst>
          </p:cNvPr>
          <p:cNvSpPr>
            <a:spLocks xmlns:a="http://schemas.openxmlformats.org/drawingml/2006/main" noGrp="1"/>
          </p:cNvSpPr>
          <p:nvPr/>
        </p:nvSpPr>
        <p:spPr>
          <a:xfrm xmlns:a="http://schemas.openxmlformats.org/drawingml/2006/main">
            <a:off x="7210425" y="33242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Privacy and poisoning evaluation</a:t>
            </a:r>
          </a:p>
        </p:txBody>
      </p:sp>
      <p:sp>
        <p:nvSpPr>
          <p:cNvPr id="53" name="toc-results-chevron-3">
            <a:extLst xmlns:a="http://schemas.openxmlformats.org/drawingml/2006/main">
              <a:ext uri="{FF2B5EF4-FFF2-40B4-BE49-F238E27FC236}">
                <a16:creationId xmlns:a16="http://schemas.microsoft.com/office/drawing/2014/main" id="{965104E0-9FAC-4234-A276-285EB9B8EC51}"/>
              </a:ext>
            </a:extLst>
          </p:cNvPr>
          <p:cNvSpPr>
            <a:spLocks xmlns:a="http://schemas.openxmlformats.org/drawingml/2006/main" noGrp="1"/>
          </p:cNvSpPr>
          <p:nvPr/>
        </p:nvSpPr>
        <p:spPr>
          <a:xfrm xmlns:a="http://schemas.openxmlformats.org/drawingml/2006/main">
            <a:off x="6924675" y="354330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4" name="toc-results-item-3">
            <a:extLst xmlns:a="http://schemas.openxmlformats.org/drawingml/2006/main">
              <a:ext uri="{FF2B5EF4-FFF2-40B4-BE49-F238E27FC236}">
                <a16:creationId xmlns:a16="http://schemas.microsoft.com/office/drawing/2014/main" id="{C80C7BED-AA16-4BD3-8F0C-27F907CEC263}"/>
              </a:ext>
            </a:extLst>
          </p:cNvPr>
          <p:cNvSpPr>
            <a:spLocks xmlns:a="http://schemas.openxmlformats.org/drawingml/2006/main" noGrp="1"/>
          </p:cNvSpPr>
          <p:nvPr/>
        </p:nvSpPr>
        <p:spPr>
          <a:xfrm xmlns:a="http://schemas.openxmlformats.org/drawingml/2006/main">
            <a:off x="7210425" y="354330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Communication and system overhead</a:t>
            </a:r>
          </a:p>
        </p:txBody>
      </p:sp>
      <p:sp>
        <p:nvSpPr>
          <p:cNvPr id="55" name="toc-conclusion-marker">
            <a:extLst xmlns:a="http://schemas.openxmlformats.org/drawingml/2006/main">
              <a:ext uri="{FF2B5EF4-FFF2-40B4-BE49-F238E27FC236}">
                <a16:creationId xmlns:a16="http://schemas.microsoft.com/office/drawing/2014/main" id="{69B61DB8-2141-478A-BD1C-8BA90B396F02}"/>
              </a:ext>
            </a:extLst>
          </p:cNvPr>
          <p:cNvSpPr>
            <a:spLocks xmlns:a="http://schemas.openxmlformats.org/drawingml/2006/main" noGrp="1"/>
          </p:cNvSpPr>
          <p:nvPr/>
        </p:nvSpPr>
        <p:spPr>
          <a:xfrm xmlns:a="http://schemas.openxmlformats.org/drawingml/2006/main">
            <a:off x="6524625" y="4162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56" name="toc-conclusion-title">
            <a:extLst xmlns:a="http://schemas.openxmlformats.org/drawingml/2006/main">
              <a:ext uri="{FF2B5EF4-FFF2-40B4-BE49-F238E27FC236}">
                <a16:creationId xmlns:a16="http://schemas.microsoft.com/office/drawing/2014/main" id="{72296C49-88E0-4107-B8EA-B34F6D405042}"/>
              </a:ext>
            </a:extLst>
          </p:cNvPr>
          <p:cNvSpPr>
            <a:spLocks xmlns:a="http://schemas.openxmlformats.org/drawingml/2006/main" noGrp="1"/>
          </p:cNvSpPr>
          <p:nvPr/>
        </p:nvSpPr>
        <p:spPr>
          <a:xfrm xmlns:a="http://schemas.openxmlformats.org/drawingml/2006/main">
            <a:off x="6791325" y="4095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Conclusion</a:t>
            </a:r>
          </a:p>
        </p:txBody>
      </p:sp>
      <p:sp>
        <p:nvSpPr>
          <p:cNvPr id="57" name="toc-conclusion-chevron-1">
            <a:extLst xmlns:a="http://schemas.openxmlformats.org/drawingml/2006/main">
              <a:ext uri="{FF2B5EF4-FFF2-40B4-BE49-F238E27FC236}">
                <a16:creationId xmlns:a16="http://schemas.microsoft.com/office/drawing/2014/main" id="{4A76E59A-9CB9-4AF6-ADB7-E14E5A9DC204}"/>
              </a:ext>
            </a:extLst>
          </p:cNvPr>
          <p:cNvSpPr>
            <a:spLocks xmlns:a="http://schemas.openxmlformats.org/drawingml/2006/main" noGrp="1"/>
          </p:cNvSpPr>
          <p:nvPr/>
        </p:nvSpPr>
        <p:spPr>
          <a:xfrm xmlns:a="http://schemas.openxmlformats.org/drawingml/2006/main">
            <a:off x="6924675" y="44386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58" name="toc-conclusion-item-1">
            <a:extLst xmlns:a="http://schemas.openxmlformats.org/drawingml/2006/main">
              <a:ext uri="{FF2B5EF4-FFF2-40B4-BE49-F238E27FC236}">
                <a16:creationId xmlns:a16="http://schemas.microsoft.com/office/drawing/2014/main" id="{B1322131-542A-43F3-BA4B-C08C786C5051}"/>
              </a:ext>
            </a:extLst>
          </p:cNvPr>
          <p:cNvSpPr>
            <a:spLocks xmlns:a="http://schemas.openxmlformats.org/drawingml/2006/main" noGrp="1"/>
          </p:cNvSpPr>
          <p:nvPr/>
        </p:nvSpPr>
        <p:spPr>
          <a:xfrm xmlns:a="http://schemas.openxmlformats.org/drawingml/2006/main">
            <a:off x="7210425" y="44386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Key findings</a:t>
            </a:r>
          </a:p>
        </p:txBody>
      </p:sp>
      <p:sp>
        <p:nvSpPr>
          <p:cNvPr id="59" name="toc-conclusion-chevron-2">
            <a:extLst xmlns:a="http://schemas.openxmlformats.org/drawingml/2006/main">
              <a:ext uri="{FF2B5EF4-FFF2-40B4-BE49-F238E27FC236}">
                <a16:creationId xmlns:a16="http://schemas.microsoft.com/office/drawing/2014/main" id="{28B5A2B1-4640-4306-A03B-C5F7A291ECC1}"/>
              </a:ext>
            </a:extLst>
          </p:cNvPr>
          <p:cNvSpPr>
            <a:spLocks xmlns:a="http://schemas.openxmlformats.org/drawingml/2006/main" noGrp="1"/>
          </p:cNvSpPr>
          <p:nvPr/>
        </p:nvSpPr>
        <p:spPr>
          <a:xfrm xmlns:a="http://schemas.openxmlformats.org/drawingml/2006/main">
            <a:off x="6924675" y="4657725"/>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7970" lnSpcReduction="1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a:t>
            </a:r>
          </a:p>
        </p:txBody>
      </p:sp>
      <p:sp>
        <p:nvSpPr>
          <p:cNvPr id="60" name="toc-conclusion-item-2">
            <a:extLst xmlns:a="http://schemas.openxmlformats.org/drawingml/2006/main">
              <a:ext uri="{FF2B5EF4-FFF2-40B4-BE49-F238E27FC236}">
                <a16:creationId xmlns:a16="http://schemas.microsoft.com/office/drawing/2014/main" id="{6AA1D49E-53B4-4560-9562-067B62F7742C}"/>
              </a:ext>
            </a:extLst>
          </p:cNvPr>
          <p:cNvSpPr>
            <a:spLocks xmlns:a="http://schemas.openxmlformats.org/drawingml/2006/main" noGrp="1"/>
          </p:cNvSpPr>
          <p:nvPr/>
        </p:nvSpPr>
        <p:spPr>
          <a:xfrm xmlns:a="http://schemas.openxmlformats.org/drawingml/2006/main">
            <a:off x="7210425" y="4657725"/>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00">
                <a:solidFill>
                  <a:srgbClr val="163F7A"/>
                </a:solidFill>
                <a:latin typeface="Arial"/>
                <a:ea typeface="Arial"/>
                <a:cs typeface="Arial"/>
              </a:defRPr>
            </a:pPr>
            <a:r>
              <a:rPr sz="1100">
                <a:solidFill>
                  <a:srgbClr val="163F7A"/>
                </a:solidFill>
                <a:latin typeface="Arial"/>
                <a:ea typeface="Arial"/>
                <a:cs typeface="Arial"/>
              </a:rPr>
              <a:t>Limitations and future work</a:t>
            </a:r>
          </a:p>
        </p:txBody>
      </p:sp>
      <p:sp>
        <p:nvSpPr>
          <p:cNvPr id="61" name="toc-references-marker">
            <a:extLst xmlns:a="http://schemas.openxmlformats.org/drawingml/2006/main">
              <a:ext uri="{FF2B5EF4-FFF2-40B4-BE49-F238E27FC236}">
                <a16:creationId xmlns:a16="http://schemas.microsoft.com/office/drawing/2014/main" id="{56E7E56D-00A8-47B6-8CB6-E2520A4A7ABC}"/>
              </a:ext>
            </a:extLst>
          </p:cNvPr>
          <p:cNvSpPr>
            <a:spLocks xmlns:a="http://schemas.openxmlformats.org/drawingml/2006/main" noGrp="1"/>
          </p:cNvSpPr>
          <p:nvPr/>
        </p:nvSpPr>
        <p:spPr>
          <a:xfrm xmlns:a="http://schemas.openxmlformats.org/drawingml/2006/main">
            <a:off x="6524625" y="530542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2" name="toc-references-title">
            <a:extLst xmlns:a="http://schemas.openxmlformats.org/drawingml/2006/main">
              <a:ext uri="{FF2B5EF4-FFF2-40B4-BE49-F238E27FC236}">
                <a16:creationId xmlns:a16="http://schemas.microsoft.com/office/drawing/2014/main" id="{053741A0-E53F-4F38-9194-182EC15568D1}"/>
              </a:ext>
            </a:extLst>
          </p:cNvPr>
          <p:cNvSpPr>
            <a:spLocks xmlns:a="http://schemas.openxmlformats.org/drawingml/2006/main" noGrp="1"/>
          </p:cNvSpPr>
          <p:nvPr/>
        </p:nvSpPr>
        <p:spPr>
          <a:xfrm xmlns:a="http://schemas.openxmlformats.org/drawingml/2006/main">
            <a:off x="6791325" y="523875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References</a:t>
            </a:r>
          </a:p>
        </p:txBody>
      </p:sp>
      <p:sp>
        <p:nvSpPr>
          <p:cNvPr id="63" name="toc-qa-marker">
            <a:extLst xmlns:a="http://schemas.openxmlformats.org/drawingml/2006/main">
              <a:ext uri="{FF2B5EF4-FFF2-40B4-BE49-F238E27FC236}">
                <a16:creationId xmlns:a16="http://schemas.microsoft.com/office/drawing/2014/main" id="{50E564AC-0AD9-43EF-9688-9300AF44AA2E}"/>
              </a:ext>
            </a:extLst>
          </p:cNvPr>
          <p:cNvSpPr>
            <a:spLocks xmlns:a="http://schemas.openxmlformats.org/drawingml/2006/main" noGrp="1"/>
          </p:cNvSpPr>
          <p:nvPr/>
        </p:nvSpPr>
        <p:spPr>
          <a:xfrm xmlns:a="http://schemas.openxmlformats.org/drawingml/2006/main">
            <a:off x="6524625" y="5705475"/>
            <a:ext cx="133350" cy="133350"/>
          </a:xfrm>
          <a:prstGeom xmlns:a="http://schemas.openxmlformats.org/drawingml/2006/main" prst="rect">
            <a:avLst/>
          </a:prstGeom>
          <a:solidFill xmlns:a="http://schemas.openxmlformats.org/drawingml/2006/main">
            <a:srgbClr val="FFFFFF"/>
          </a:solidFill>
          <a:ln xmlns:a="http://schemas.openxmlformats.org/drawingml/2006/main" w="15240">
            <a:solidFill>
              <a:srgbClr val="008A46"/>
            </a:solidFill>
          </a:ln>
        </p:spPr>
      </p:sp>
      <p:sp>
        <p:nvSpPr>
          <p:cNvPr id="64" name="toc-qa-title">
            <a:extLst xmlns:a="http://schemas.openxmlformats.org/drawingml/2006/main">
              <a:ext uri="{FF2B5EF4-FFF2-40B4-BE49-F238E27FC236}">
                <a16:creationId xmlns:a16="http://schemas.microsoft.com/office/drawing/2014/main" id="{13AECCC3-356B-4082-B658-74DDFEF6FB2B}"/>
              </a:ext>
            </a:extLst>
          </p:cNvPr>
          <p:cNvSpPr>
            <a:spLocks xmlns:a="http://schemas.openxmlformats.org/drawingml/2006/main" noGrp="1"/>
          </p:cNvSpPr>
          <p:nvPr/>
        </p:nvSpPr>
        <p:spPr>
          <a:xfrm xmlns:a="http://schemas.openxmlformats.org/drawingml/2006/main">
            <a:off x="6791325" y="5638800"/>
            <a:ext cx="4667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561" lnSpcReduction="20000"/>
          </a:bodyPr>
          <a:lstStyle xmlns:a="http://schemas.openxmlformats.org/drawingml/2006/main"/>
          <a:p xmlns:a="http://schemas.openxmlformats.org/drawingml/2006/main">
            <a:pPr>
              <a:buNone/>
              <a:defRPr sz="1650" b="1">
                <a:solidFill>
                  <a:srgbClr val="111111"/>
                </a:solidFill>
                <a:latin typeface="Arial"/>
                <a:ea typeface="Arial"/>
                <a:cs typeface="Arial"/>
              </a:defRPr>
            </a:pPr>
            <a:r>
              <a:rPr sz="1650" b="1">
                <a:solidFill>
                  <a:srgbClr val="111111"/>
                </a:solidFill>
                <a:latin typeface="Arial"/>
                <a:ea typeface="Arial"/>
                <a:cs typeface="Arial"/>
              </a:rPr>
              <a:t>Question and Answer Session</a:t>
            </a:r>
          </a:p>
        </p:txBody>
      </p:sp>
      <p:sp>
        <p:nvSpPr>
          <p:cNvPr id="67" name="toc-methodology-chevron-4">
            <a:extLst xmlns:a="http://schemas.openxmlformats.org/drawingml/2006/main">
              <a:ext uri="{FF2B5EF4-FFF2-40B4-BE49-F238E27FC236}">
                <a16:creationId xmlns:a16="http://schemas.microsoft.com/office/drawing/2014/main" id="{C2E9D660-0BA0-4C17-A6BF-4720A13BED54}"/>
              </a:ext>
            </a:extLst>
          </p:cNvPr>
          <p:cNvSpPr>
            <a:spLocks xmlns:a="http://schemas.openxmlformats.org/drawingml/2006/main" noGrp="1"/>
          </p:cNvSpPr>
          <p:nvPr/>
        </p:nvSpPr>
        <p:spPr>
          <a:xfrm xmlns:a="http://schemas.openxmlformats.org/drawingml/2006/main">
            <a:off x="6924675" y="2495550"/>
            <a:ext cx="209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41217"/>
          </a:bodyPr>
          <a:lstStyle xmlns:a="http://schemas.openxmlformats.org/drawingml/2006/main"/>
          <a:p xmlns:a="http://schemas.openxmlformats.org/drawingml/2006/main">
            <a:pPr>
              <a:buNone/>
              <a:defRPr sz="1500">
                <a:solidFill>
                  <a:srgbClr val="062B6F"/>
                </a:solidFill>
                <a:latin typeface="Arial"/>
                <a:ea typeface="Arial"/>
                <a:cs typeface="Arial"/>
              </a:defRPr>
            </a:pPr>
            <a:r>
              <a:rPr sz="1500">
                <a:solidFill>
                  <a:srgbClr val="062B6F"/>
                </a:solidFill>
                <a:latin typeface="Arial"/>
                <a:ea typeface="Arial"/>
                <a:cs typeface="Arial"/>
              </a:rPr>
              <a:t>›</a:t>
            </a:r>
          </a:p>
        </p:txBody>
      </p:sp>
      <p:sp>
        <p:nvSpPr>
          <p:cNvPr id="68" name="toc-methodology-item-4">
            <a:extLst xmlns:a="http://schemas.openxmlformats.org/drawingml/2006/main">
              <a:ext uri="{FF2B5EF4-FFF2-40B4-BE49-F238E27FC236}">
                <a16:creationId xmlns:a16="http://schemas.microsoft.com/office/drawing/2014/main" id="{3EEF4DBE-7521-41BB-B778-0D9CA8F443FD}"/>
              </a:ext>
            </a:extLst>
          </p:cNvPr>
          <p:cNvSpPr>
            <a:spLocks xmlns:a="http://schemas.openxmlformats.org/drawingml/2006/main" noGrp="1"/>
          </p:cNvSpPr>
          <p:nvPr/>
        </p:nvSpPr>
        <p:spPr>
          <a:xfrm xmlns:a="http://schemas.openxmlformats.org/drawingml/2006/main">
            <a:off x="7210425" y="2495550"/>
            <a:ext cx="4095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buNone/>
              <a:defRPr sz="1275">
                <a:solidFill>
                  <a:srgbClr val="062B6F"/>
                </a:solidFill>
                <a:latin typeface="Arial"/>
                <a:ea typeface="Arial"/>
                <a:cs typeface="Arial"/>
              </a:defRPr>
            </a:pPr>
            <a:r>
              <a:rPr sz="1100">
                <a:solidFill>
                  <a:srgbClr val="062B6F"/>
                </a:solidFill>
                <a:latin typeface="Arial"/>
                <a:ea typeface="Arial"/>
                <a:cs typeface="Arial"/>
              </a:rPr>
              <a:t>Experimental setup</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39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331c6a26ea1747e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0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d32724b4780c466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0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26a5f62ac09b499e">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40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b2b0ba3ea94f438d">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40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a:t>
            </a:r>
            <a:endParaRPr sz="2800"/>
          </a:p>
        </p:txBody>
      </p:sp>
      <p:pic>
        <p:nvPicPr>
          <p:cNvPr id="23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1b1e0bf34ee4a2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6af8e2528e543b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876300" y="1543050"/>
            <a:ext cx="476250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Hospitals hold complementary clinical data, but direct pooling raises privacy, ownership, and breach risks.</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Federated learning keeps patient records local, yet model updates may still expose membership or training features [1]–[6].</a:t>
            </a:r>
          </a:p>
          <a:p xmlns:a="http://schemas.openxmlformats.org/drawingml/2006/main">
            <a:pPr marL="254000" indent="-127000">
              <a:spcAft>
                <a:spcPts val="1400"/>
              </a:spcAft>
              <a:buChar char="•"/>
              <a:defRPr sz="1650">
                <a:solidFill>
                  <a:srgbClr val="1F2937"/>
                </a:solidFill>
                <a:latin typeface="Arial"/>
                <a:ea typeface="Arial"/>
                <a:cs typeface="Arial"/>
              </a:defRPr>
            </a:pPr>
            <a:r>
              <a:rPr sz="1650">
                <a:solidFill>
                  <a:srgbClr val="1F2937"/>
                </a:solidFill>
                <a:latin typeface="Arial"/>
                <a:ea typeface="Arial"/>
                <a:cs typeface="Arial"/>
              </a:rPr>
              <a:t>Encryption protects update values, but it increases communication cost and limits plaintext poisoning defenses.</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952500" y="5000625"/>
            <a:ext cx="4714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500" b="1" i="0">
                <a:solidFill>
                  <a:srgbClr val="008A46"/>
                </a:solidFill>
                <a:latin typeface="Arial"/>
                <a:ea typeface="Arial"/>
                <a:cs typeface="Arial"/>
              </a:defRPr>
            </a:pPr>
            <a:r>
              <a:rPr sz="1500" b="1" i="0">
                <a:solidFill>
                  <a:srgbClr val="008A46"/>
                </a:solidFill>
                <a:latin typeface="Arial"/>
                <a:ea typeface="Arial"/>
                <a:cs typeface="Arial"/>
              </a:rPr>
              <a:t>Research gap: Existing work usually evaluates privacy, communication efficiency, robustness, and governance as separate problems.</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pic>
        <p:nvPicPr>
          <p:cNvPr id="236" name="Picture 236"/>
          <p:cNvPicPr>
            <a:picLocks xmlns:a="http://schemas.openxmlformats.org/drawingml/2006/main" noChangeAspect="1"/>
          </p:cNvPicPr>
          <p:nvPr/>
        </p:nvPicPr>
        <p:blipFill>
          <a:blip xmlns:r="http://schemas.openxmlformats.org/officeDocument/2006/relationships" xmlns:a="http://schemas.openxmlformats.org/drawingml/2006/main" r:embed="R858da90840fb4562"/>
          <a:stretch xmlns:a="http://schemas.openxmlformats.org/drawingml/2006/main"/>
        </p:blipFill>
        <p:spPr>
          <a:xfrm xmlns:a="http://schemas.openxmlformats.org/drawingml/2006/main">
            <a:off x="5905500" y="1568450"/>
            <a:ext cx="5667375" cy="3778250"/>
          </a:xfrm>
          <a:prstGeom xmlns:a="http://schemas.openxmlformats.org/drawingml/2006/main" prst="rect">
            <a:avLst/>
          </a:prstGeom>
        </p:spPr>
      </p:pic>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5</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719ffe00cfd4f4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a0f091ce45f49a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714875"/>
            <a:ext cx="9906000" cy="109537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Research question</a:t>
            </a:r>
          </a:p>
          <a:p xmlns:a="http://schemas.openxmlformats.org/drawingml/2006/main">
            <a:pPr algn="ctr">
              <a:buNone/>
              <a:defRPr sz="1725" b="1">
                <a:solidFill>
                  <a:srgbClr val="1E3A5F"/>
                </a:solidFill>
                <a:latin typeface="Arial"/>
                <a:ea typeface="Arial"/>
                <a:cs typeface="Arial"/>
              </a:defRPr>
            </a:pPr>
            <a:r>
              <a:rPr sz="1725" b="1">
                <a:solidFill>
                  <a:srgbClr val="1E3A5F"/>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problem-paragraph">
            <a:extLst xmlns:a="http://schemas.openxmlformats.org/drawingml/2006/main">
              <a:ext uri="{FF2B5EF4-FFF2-40B4-BE49-F238E27FC236}">
                <a16:creationId xmlns:a16="http://schemas.microsoft.com/office/drawing/2014/main" id="{948838D7-D613-4BEB-8C00-F91DA90BFDC9}"/>
              </a:ext>
            </a:extLst>
          </p:cNvPr>
          <p:cNvSpPr>
            <a:spLocks xmlns:a="http://schemas.openxmlformats.org/drawingml/2006/main" noGrp="1"/>
          </p:cNvSpPr>
          <p:nvPr/>
        </p:nvSpPr>
        <p:spPr>
          <a:xfrm xmlns:a="http://schemas.openxmlformats.org/drawingml/2006/main">
            <a:off x="1000125" y="1476375"/>
            <a:ext cx="10191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800">
                <a:solidFill>
                  <a:srgbClr val="1F2937"/>
                </a:solidFill>
                <a:latin typeface="Arial"/>
                <a:ea typeface="Arial"/>
                <a:cs typeface="Arial"/>
              </a:defRPr>
            </a:pPr>
            <a:r>
              <a:rPr sz="1800">
                <a:solidFill>
                  <a:srgbClr val="1F2937"/>
                </a:solidFill>
                <a:latin typeface="Arial"/>
                <a:ea typeface="Arial"/>
                <a:cs typeface="Arial"/>
              </a:rPr>
              <a:t>Although federated learning keeps patient records within each institution, the gradients and model updates exchanged during training may still expose sensitive information through membership inference or reconstruction attacks. Applying CKKS encryption protects update values, but it increases the serialized communication payload and prevents many poisoning defenses from examining individual plaintext updates. Existing systems may also depend on centralized decryption, unverifiable aggregation, or limited audit evidence, which concentrates trust and reduces accountability. Current approaches therefore seldom provide record-level privacy, practical encrypted communication, poisoning resilience, and independently verifiable governance within one evaluated multi-institutional healthcare framework.</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(1/2)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0a4097a318e477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0691757de274a4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374"/>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lnSpcReduction="10000"/>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833" lnSpcReduction="1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 (2/2)</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7</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b7ee0c7307740f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1615b73c5440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8" name="evidence-sites-number">
            <a:extLst xmlns:a="http://schemas.openxmlformats.org/drawingml/2006/main">
              <a:ext uri="{FF2B5EF4-FFF2-40B4-BE49-F238E27FC236}">
                <a16:creationId xmlns:a16="http://schemas.microsoft.com/office/drawing/2014/main" id="{F80BD4C4-9B17-4656-B580-1C5E24E17728}"/>
              </a:ext>
            </a:extLst>
          </p:cNvPr>
          <p:cNvSpPr>
            <a:spLocks xmlns:a="http://schemas.openxmlformats.org/drawingml/2006/main" noGrp="1"/>
          </p:cNvSpPr>
          <p:nvPr/>
        </p:nvSpPr>
        <p:spPr>
          <a:xfrm xmlns:a="http://schemas.openxmlformats.org/drawingml/2006/main">
            <a:off x="904875" y="1428750"/>
            <a:ext cx="2238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5400" b="1">
                <a:solidFill>
                  <a:srgbClr val="008A46"/>
                </a:solidFill>
                <a:latin typeface="Arial"/>
                <a:ea typeface="Arial"/>
                <a:cs typeface="Arial"/>
              </a:defRPr>
            </a:pPr>
            <a:r>
              <a:rPr sz="5400" b="1">
                <a:solidFill>
                  <a:srgbClr val="008A46"/>
                </a:solidFill>
                <a:latin typeface="Arial"/>
                <a:ea typeface="Arial"/>
                <a:cs typeface="Arial"/>
              </a:rPr>
              <a:t>20</a:t>
            </a:r>
          </a:p>
        </p:txBody>
      </p:sp>
      <p:sp>
        <p:nvSpPr>
          <p:cNvPr id="239" name="evidence-sites-label">
            <a:extLst xmlns:a="http://schemas.openxmlformats.org/drawingml/2006/main">
              <a:ext uri="{FF2B5EF4-FFF2-40B4-BE49-F238E27FC236}">
                <a16:creationId xmlns:a16="http://schemas.microsoft.com/office/drawing/2014/main" id="{D525C1F9-E8B8-42D8-ADFA-C90C85B7882E}"/>
              </a:ext>
            </a:extLst>
          </p:cNvPr>
          <p:cNvSpPr>
            <a:spLocks xmlns:a="http://schemas.openxmlformats.org/drawingml/2006/main" noGrp="1"/>
          </p:cNvSpPr>
          <p:nvPr/>
        </p:nvSpPr>
        <p:spPr>
          <a:xfrm xmlns:a="http://schemas.openxmlformats.org/drawingml/2006/main">
            <a:off x="762000" y="2476500"/>
            <a:ext cx="2571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00" b="1">
                <a:solidFill>
                  <a:srgbClr val="1E3A5F"/>
                </a:solidFill>
                <a:latin typeface="Arial"/>
                <a:ea typeface="Arial"/>
                <a:cs typeface="Arial"/>
              </a:defRPr>
            </a:pPr>
            <a:r>
              <a:rPr sz="1800" b="1">
                <a:solidFill>
                  <a:srgbClr val="1E3A5F"/>
                </a:solidFill>
                <a:latin typeface="Arial"/>
                <a:ea typeface="Arial"/>
                <a:cs typeface="Arial"/>
              </a:rPr>
              <a:t>clinical sites across four continents</a:t>
            </a:r>
          </a:p>
        </p:txBody>
      </p:sp>
      <p:sp>
        <p:nvSpPr>
          <p:cNvPr id="240" name="evidence-cases-number">
            <a:extLst xmlns:a="http://schemas.openxmlformats.org/drawingml/2006/main">
              <a:ext uri="{FF2B5EF4-FFF2-40B4-BE49-F238E27FC236}">
                <a16:creationId xmlns:a16="http://schemas.microsoft.com/office/drawing/2014/main" id="{5BDE55EC-8B7A-4BD4-B392-42A1B22514F1}"/>
              </a:ext>
            </a:extLst>
          </p:cNvPr>
          <p:cNvSpPr>
            <a:spLocks xmlns:a="http://schemas.openxmlformats.org/drawingml/2006/main" noGrp="1"/>
          </p:cNvSpPr>
          <p:nvPr/>
        </p:nvSpPr>
        <p:spPr>
          <a:xfrm xmlns:a="http://schemas.openxmlformats.org/drawingml/2006/main">
            <a:off x="666750" y="3333750"/>
            <a:ext cx="276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4050" b="1">
                <a:solidFill>
                  <a:srgbClr val="1E3A5F"/>
                </a:solidFill>
                <a:latin typeface="Arial"/>
                <a:ea typeface="Arial"/>
                <a:cs typeface="Arial"/>
              </a:defRPr>
            </a:pPr>
            <a:r>
              <a:rPr sz="4050" b="1">
                <a:solidFill>
                  <a:srgbClr val="1E3A5F"/>
                </a:solidFill>
                <a:latin typeface="Arial"/>
                <a:ea typeface="Arial"/>
                <a:cs typeface="Arial"/>
              </a:rPr>
              <a:t>16,148</a:t>
            </a:r>
          </a:p>
        </p:txBody>
      </p:sp>
      <p:sp>
        <p:nvSpPr>
          <p:cNvPr id="241" name="evidence-cases-label">
            <a:extLst xmlns:a="http://schemas.openxmlformats.org/drawingml/2006/main">
              <a:ext uri="{FF2B5EF4-FFF2-40B4-BE49-F238E27FC236}">
                <a16:creationId xmlns:a16="http://schemas.microsoft.com/office/drawing/2014/main" id="{4C297428-7B2C-4AFF-AC11-EBA045220558}"/>
              </a:ext>
            </a:extLst>
          </p:cNvPr>
          <p:cNvSpPr>
            <a:spLocks xmlns:a="http://schemas.openxmlformats.org/drawingml/2006/main" noGrp="1"/>
          </p:cNvSpPr>
          <p:nvPr/>
        </p:nvSpPr>
        <p:spPr>
          <a:xfrm xmlns:a="http://schemas.openxmlformats.org/drawingml/2006/main">
            <a:off x="762000" y="4191000"/>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a:solidFill>
                  <a:srgbClr val="1F2937"/>
                </a:solidFill>
                <a:latin typeface="Arial"/>
                <a:ea typeface="Arial"/>
                <a:cs typeface="Arial"/>
              </a:defRPr>
            </a:pPr>
            <a:r>
              <a:rPr sz="1650">
                <a:solidFill>
                  <a:srgbClr val="1F2937"/>
                </a:solidFill>
                <a:latin typeface="Arial"/>
                <a:ea typeface="Arial"/>
                <a:cs typeface="Arial"/>
              </a:rPr>
              <a:t>cases in the EXAM federated cohort [3]</a:t>
            </a:r>
          </a:p>
        </p:txBody>
      </p:sp>
      <p:sp>
        <p:nvSpPr>
          <p:cNvPr id="242" name="evidence-separator">
            <a:extLst xmlns:a="http://schemas.openxmlformats.org/drawingml/2006/main">
              <a:ext uri="{FF2B5EF4-FFF2-40B4-BE49-F238E27FC236}">
                <a16:creationId xmlns:a16="http://schemas.microsoft.com/office/drawing/2014/main" id="{D276F0AC-9520-4A08-A98D-BA7EB40375B9}"/>
              </a:ext>
            </a:extLst>
          </p:cNvPr>
          <p:cNvSpPr>
            <a:spLocks xmlns:a="http://schemas.openxmlformats.org/drawingml/2006/main" noGrp="1"/>
          </p:cNvSpPr>
          <p:nvPr/>
        </p:nvSpPr>
        <p:spPr>
          <a:xfrm xmlns:a="http://schemas.openxmlformats.org/drawingml/2006/main">
            <a:off x="3857625" y="1428750"/>
            <a:ext cx="28575" cy="3476625"/>
          </a:xfrm>
          <a:prstGeom xmlns:a="http://schemas.openxmlformats.org/drawingml/2006/main" prst="rect">
            <a:avLst/>
          </a:prstGeom>
          <a:solidFill xmlns:a="http://schemas.openxmlformats.org/drawingml/2006/main">
            <a:srgbClr val="008A46"/>
          </a:solidFill>
          <a:ln xmlns:a="http://schemas.openxmlformats.org/drawingml/2006/main" w="0">
            <a:noFill/>
          </a:ln>
        </p:spPr>
      </p:sp>
      <p:graphicFrame>
        <p:nvGraphicFramePr>
          <p:cNvPr id="260" name="Chart"/>
          <p:cNvGraphicFramePr/>
          <p:nvPr/>
        </p:nvGraphicFramePr>
        <p:xfrm>
          <a:off xmlns:a="http://schemas.openxmlformats.org/drawingml/2006/main" x="4429125" y="1333500"/>
          <a:ext xmlns:a="http://schemas.openxmlformats.org/drawingml/2006/main" cx="6953250" cy="3524250"/>
        </p:xfrm>
        <a:graphic xmlns:a="http://schemas.openxmlformats.org/drawingml/2006/main">
          <a:graphicData uri="http://schemas.openxmlformats.org/drawingml/2006/chart">
            <c:chart xmlns:r="http://schemas.openxmlformats.org/officeDocument/2006/relationships" xmlns:c="http://schemas.openxmlformats.org/drawingml/2006/chart" r:id="Rf7b49fa633f64b11"/>
          </a:graphicData>
        </a:graphic>
      </p:graphicFrame>
      <p:sp>
        <p:nvSpPr>
          <p:cNvPr id="244" name="evidence-chart-caption">
            <a:extLst xmlns:a="http://schemas.openxmlformats.org/drawingml/2006/main">
              <a:ext uri="{FF2B5EF4-FFF2-40B4-BE49-F238E27FC236}">
                <a16:creationId xmlns:a16="http://schemas.microsoft.com/office/drawing/2014/main" id="{36ABC351-6F5A-4A46-AAD3-22A27C9B53B0}"/>
              </a:ext>
            </a:extLst>
          </p:cNvPr>
          <p:cNvSpPr>
            <a:spLocks xmlns:a="http://schemas.openxmlformats.org/drawingml/2006/main" noGrp="1"/>
          </p:cNvSpPr>
          <p:nvPr/>
        </p:nvSpPr>
        <p:spPr>
          <a:xfrm xmlns:a="http://schemas.openxmlformats.org/drawingml/2006/main">
            <a:off x="4762500" y="476250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475569"/>
                </a:solidFill>
                <a:latin typeface="Arial"/>
                <a:ea typeface="Arial"/>
                <a:cs typeface="Arial"/>
              </a:defRPr>
            </a:pPr>
            <a:r>
              <a:rPr sz="1350" i="1">
                <a:solidFill>
                  <a:srgbClr val="475569"/>
                </a:solidFill>
                <a:latin typeface="Arial"/>
                <a:ea typeface="Arial"/>
                <a:cs typeface="Arial"/>
              </a:rPr>
              <a:t>EXAM improved the mean site-level AUC from 0.795 to 0.920 [3].</a:t>
            </a:r>
          </a:p>
        </p:txBody>
      </p:sp>
      <p:sp>
        <p:nvSpPr>
          <p:cNvPr id="245" name="evidence-sheller">
            <a:extLst xmlns:a="http://schemas.openxmlformats.org/drawingml/2006/main">
              <a:ext uri="{FF2B5EF4-FFF2-40B4-BE49-F238E27FC236}">
                <a16:creationId xmlns:a16="http://schemas.microsoft.com/office/drawing/2014/main" id="{16CD3232-E527-451F-A197-B3ED178E6510}"/>
              </a:ext>
            </a:extLst>
          </p:cNvPr>
          <p:cNvSpPr>
            <a:spLocks xmlns:a="http://schemas.openxmlformats.org/drawingml/2006/main" noGrp="1"/>
          </p:cNvSpPr>
          <p:nvPr/>
        </p:nvSpPr>
        <p:spPr>
          <a:xfrm xmlns:a="http://schemas.openxmlformats.org/drawingml/2006/main">
            <a:off x="952500" y="5381625"/>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725" b="1">
                <a:solidFill>
                  <a:srgbClr val="008A46"/>
                </a:solidFill>
                <a:latin typeface="Arial"/>
                <a:ea typeface="Arial"/>
                <a:cs typeface="Arial"/>
              </a:defRPr>
            </a:pPr>
            <a:r>
              <a:rPr sz="1725" b="1">
                <a:solidFill>
                  <a:srgbClr val="008A46"/>
                </a:solidFill>
                <a:latin typeface="Arial"/>
                <a:ea typeface="Arial"/>
                <a:cs typeface="Arial"/>
              </a:rPr>
              <a:t>Federated training across 10 institutions reached 99% of centralized model quality [2].</a:t>
            </a:r>
          </a:p>
        </p:txBody>
      </p:sp>
    </p:spTree>
    <p:extLst>
      <p:ext uri="{BB962C8B-B14F-4D97-AF65-F5344CB8AC3E}">
        <p14:creationId xmlns:p14="http://schemas.microsoft.com/office/powerpoint/2010/main" val="354845371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9793daa1b59449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5ae454b05e8489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197a25d28e240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6b1fb6d752f4b4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46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cb2ca307b6af496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7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65a0573f514f4ab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7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363cd9412eb4422d">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47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3aa472e0e8424652">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47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10</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11</a:t>
            </a:r>
            <a:endParaRPr sz="2800"/>
          </a:p>
        </p:txBody>
      </p:sp>
      <p:pic>
        <p:nvPicPr>
          <p:cNvPr id="25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2844c11308f472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b8a258e919a4ba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56" name="Table 256"/>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1">
            <a:extLst xmlns:a="http://schemas.openxmlformats.org/drawingml/2006/main">
              <a:ext uri="{FF2B5EF4-FFF2-40B4-BE49-F238E27FC236}">
                <a16:creationId xmlns:a16="http://schemas.microsoft.com/office/drawing/2014/main" id="{028A2637-CAE4-4BC8-942E-3B3342A75586}"/>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1">
            <a:extLst xmlns:a="http://schemas.openxmlformats.org/drawingml/2006/main">
              <a:ext uri="{FF2B5EF4-FFF2-40B4-BE49-F238E27FC236}">
                <a16:creationId xmlns:a16="http://schemas.microsoft.com/office/drawing/2014/main" id="{7E77261A-536E-44B7-9BCC-4BDEFE972951}"/>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Dual Defense: Enhancing Privacy and Mitigating Poisoning Attacks in Federated Learning [16]</a:t>
            </a:r>
          </a:p>
        </p:txBody>
      </p:sp>
      <p:sp>
        <p:nvSpPr>
          <p:cNvPr id="232" name="paper-summary-1">
            <a:extLst xmlns:a="http://schemas.openxmlformats.org/drawingml/2006/main">
              <a:ext uri="{FF2B5EF4-FFF2-40B4-BE49-F238E27FC236}">
                <a16:creationId xmlns:a16="http://schemas.microsoft.com/office/drawing/2014/main" id="{19A3D53A-677F-49AE-ACF6-213B173FE6BA}"/>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DDFed combines fully homomorphic encryption with a two-phase anomaly detector so that protected updates can be screened before aggregation under both cross-device and cross-silo settings.</a:t>
            </a:r>
          </a:p>
        </p:txBody>
      </p:sp>
      <p:sp>
        <p:nvSpPr>
          <p:cNvPr id="233" name="paper-source-1">
            <a:extLst xmlns:a="http://schemas.openxmlformats.org/drawingml/2006/main">
              <a:ext uri="{FF2B5EF4-FFF2-40B4-BE49-F238E27FC236}">
                <a16:creationId xmlns:a16="http://schemas.microsoft.com/office/drawing/2014/main" id="{D1A5B505-0A97-4F1A-8BB0-56FED1DEF0CF}"/>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Xu et al., NeurIPS 2024 [16].</a:t>
            </a:r>
          </a:p>
        </p:txBody>
      </p:sp>
      <p:sp>
        <p:nvSpPr>
          <p:cNvPr id="234" name="ddfed-strengths-heading">
            <a:extLst xmlns:a="http://schemas.openxmlformats.org/drawingml/2006/main">
              <a:ext uri="{FF2B5EF4-FFF2-40B4-BE49-F238E27FC236}">
                <a16:creationId xmlns:a16="http://schemas.microsoft.com/office/drawing/2014/main" id="{E444180A-DAAF-414F-BB31-6E24807F0BE2}"/>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ddfed-strengths-bullets">
            <a:extLst xmlns:a="http://schemas.openxmlformats.org/drawingml/2006/main">
              <a:ext uri="{FF2B5EF4-FFF2-40B4-BE49-F238E27FC236}">
                <a16:creationId xmlns:a16="http://schemas.microsoft.com/office/drawing/2014/main" id="{8BF2E617-C52C-4931-A79E-3C6D68E00E8C}"/>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Addresses update confidentiality and model poisoning in one framework.</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secure similarity analysis and collaborative anomaly selection.</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Evaluates multiple poisoning attacks across two FL settings.</a:t>
            </a:r>
          </a:p>
        </p:txBody>
      </p:sp>
      <p:sp>
        <p:nvSpPr>
          <p:cNvPr id="236" name="ddfed-limits-heading">
            <a:extLst xmlns:a="http://schemas.openxmlformats.org/drawingml/2006/main">
              <a:ext uri="{FF2B5EF4-FFF2-40B4-BE49-F238E27FC236}">
                <a16:creationId xmlns:a16="http://schemas.microsoft.com/office/drawing/2014/main" id="{01A067EE-5B88-4E40-9AD7-3AE02617BB33}"/>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ddfed-limits-bullets">
            <a:extLst xmlns:a="http://schemas.openxmlformats.org/drawingml/2006/main">
              <a:ext uri="{FF2B5EF4-FFF2-40B4-BE49-F238E27FC236}">
                <a16:creationId xmlns:a16="http://schemas.microsoft.com/office/drawing/2014/main" id="{B42EC1C5-77B9-4D6C-ABEC-C66DD3E9BCCF}"/>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provide a formal record-level differential-privacy guarantee.</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Its FHE and anomaly pipeline differs from a sum-only CKKS workflow.</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ciphertext-aligned adaptive compression or external audit layer.</a:t>
            </a:r>
          </a:p>
        </p:txBody>
      </p:sp>
      <p:sp>
        <p:nvSpPr>
          <p:cNvPr id="238" name="ddfed-flow-title">
            <a:extLst xmlns:a="http://schemas.openxmlformats.org/drawingml/2006/main">
              <a:ext uri="{FF2B5EF4-FFF2-40B4-BE49-F238E27FC236}">
                <a16:creationId xmlns:a16="http://schemas.microsoft.com/office/drawing/2014/main" id="{8CB8BE2E-0ED9-45FA-B725-4AF686E5772A}"/>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DDFed conceptual workflow</a:t>
            </a:r>
          </a:p>
        </p:txBody>
      </p:sp>
      <p:sp>
        <p:nvSpPr>
          <p:cNvPr id="239" name="ddfed-box-1">
            <a:extLst xmlns:a="http://schemas.openxmlformats.org/drawingml/2006/main">
              <a:ext uri="{FF2B5EF4-FFF2-40B4-BE49-F238E27FC236}">
                <a16:creationId xmlns:a16="http://schemas.microsoft.com/office/drawing/2014/main" id="{6963A159-2939-4A1B-90B6-627A21FBD7E2}"/>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Hospitals train locally</a:t>
            </a:r>
          </a:p>
        </p:txBody>
      </p:sp>
      <p:sp>
        <p:nvSpPr>
          <p:cNvPr id="240" name="ddfed-arrow-1">
            <a:extLst xmlns:a="http://schemas.openxmlformats.org/drawingml/2006/main">
              <a:ext uri="{FF2B5EF4-FFF2-40B4-BE49-F238E27FC236}">
                <a16:creationId xmlns:a16="http://schemas.microsoft.com/office/drawing/2014/main" id="{4C0890BD-7D76-4D38-B647-32B578D171D0}"/>
              </a:ext>
            </a:extLst>
          </p:cNvPr>
          <p:cNvSpPr>
            <a:spLocks xmlns:a="http://schemas.openxmlformats.org/drawingml/2006/main" noGrp="1"/>
          </p:cNvSpPr>
          <p:nvPr/>
        </p:nvSpPr>
        <p:spPr>
          <a:xfrm xmlns:a="http://schemas.openxmlformats.org/drawingml/2006/main">
            <a:off x="9096375" y="26670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1" name="ddfed-box-2">
            <a:extLst xmlns:a="http://schemas.openxmlformats.org/drawingml/2006/main">
              <a:ext uri="{FF2B5EF4-FFF2-40B4-BE49-F238E27FC236}">
                <a16:creationId xmlns:a16="http://schemas.microsoft.com/office/drawing/2014/main" id="{C4AFBC31-DAE7-4E40-85D7-AACF96A0ACC2}"/>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FHE-encrypted updates</a:t>
            </a:r>
          </a:p>
        </p:txBody>
      </p:sp>
      <p:sp>
        <p:nvSpPr>
          <p:cNvPr id="242" name="ddfed-arrow-2">
            <a:extLst xmlns:a="http://schemas.openxmlformats.org/drawingml/2006/main">
              <a:ext uri="{FF2B5EF4-FFF2-40B4-BE49-F238E27FC236}">
                <a16:creationId xmlns:a16="http://schemas.microsoft.com/office/drawing/2014/main" id="{6F51285A-95D1-4F0F-98CA-779F521FA531}"/>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3" name="ddfed-box-3">
            <a:extLst xmlns:a="http://schemas.openxmlformats.org/drawingml/2006/main">
              <a:ext uri="{FF2B5EF4-FFF2-40B4-BE49-F238E27FC236}">
                <a16:creationId xmlns:a16="http://schemas.microsoft.com/office/drawing/2014/main" id="{449AEF2C-F6D7-4466-9BC2-451E0B3A47B4}"/>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Secure similarity + anomaly selection</a:t>
            </a:r>
          </a:p>
        </p:txBody>
      </p:sp>
      <p:sp>
        <p:nvSpPr>
          <p:cNvPr id="244" name="ddfed-arrow-3">
            <a:extLst xmlns:a="http://schemas.openxmlformats.org/drawingml/2006/main">
              <a:ext uri="{FF2B5EF4-FFF2-40B4-BE49-F238E27FC236}">
                <a16:creationId xmlns:a16="http://schemas.microsoft.com/office/drawing/2014/main" id="{A4D045CB-845D-498B-98E0-16B67FCEE9B7}"/>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245" name="ddfed-box-4">
            <a:extLst xmlns:a="http://schemas.openxmlformats.org/drawingml/2006/main">
              <a:ext uri="{FF2B5EF4-FFF2-40B4-BE49-F238E27FC236}">
                <a16:creationId xmlns:a16="http://schemas.microsoft.com/office/drawing/2014/main" id="{093C5A3E-4826-4DE4-85FA-FC1CDCE16914}"/>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Accepted global update</a:t>
            </a:r>
          </a:p>
        </p:txBody>
      </p:sp>
      <p:sp>
        <p:nvSpPr>
          <p:cNvPr id="246" name="ddfed-diagram-caption">
            <a:extLst xmlns:a="http://schemas.openxmlformats.org/drawingml/2006/main">
              <a:ext uri="{FF2B5EF4-FFF2-40B4-BE49-F238E27FC236}">
                <a16:creationId xmlns:a16="http://schemas.microsoft.com/office/drawing/2014/main" id="{939B91A4-0599-47E4-8778-2AA81A2BFC90}"/>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837"/>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Privacy and anomaly detection are co-designed [16].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1" name="Picture 40"/>
          <p:cNvPicPr>
            <a:picLocks xmlns:a="http://schemas.openxmlformats.org/drawingml/2006/main" noChangeAspect="1"/>
          </p:cNvPicPr>
          <p:nvPr/>
        </p:nvPicPr>
        <p:blipFill>
          <a:blip xmlns:r="http://schemas.openxmlformats.org/officeDocument/2006/relationships" xmlns:a="http://schemas.openxmlformats.org/drawingml/2006/main" r:embed="R723b12ced2704b2c"/>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42" name="Picture 41"/>
          <p:cNvPicPr>
            <a:picLocks xmlns:a="http://schemas.openxmlformats.org/drawingml/2006/main" noChangeAspect="1"/>
          </p:cNvPicPr>
          <p:nvPr/>
        </p:nvPicPr>
        <p:blipFill>
          <a:blip xmlns:r="http://schemas.openxmlformats.org/officeDocument/2006/relationships" xmlns:a="http://schemas.openxmlformats.org/drawingml/2006/main" r:embed="R7fc07270685244d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endParaRP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27923" y="6637215"/>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1200" b="0" i="0">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250" b="1" i="0">
                <a:solidFill>
                  <a:srgbClr val="062B6F"/>
                </a:solidFill>
                <a:latin typeface="Arial"/>
                <a:ea typeface="Arial"/>
                <a:cs typeface="Arial"/>
              </a:defRPr>
            </a:pPr>
            <a:r>
              <a:rPr sz="2250" b="1" i="0">
                <a:solidFill>
                  <a:srgbClr val="062B6F"/>
                </a:solidFill>
                <a:latin typeface="Arial"/>
                <a:ea typeface="Arial"/>
                <a:cs typeface="Arial"/>
              </a:rPr>
              <a:t>12</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47" name="Table 47"/>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48" lnSpcReduction="10000"/>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18" name="related-study-title-cover-2">
            <a:extLst xmlns:a="http://schemas.openxmlformats.org/drawingml/2006/main">
              <a:ext uri="{FF2B5EF4-FFF2-40B4-BE49-F238E27FC236}">
                <a16:creationId xmlns:a16="http://schemas.microsoft.com/office/drawing/2014/main" id="{1ADE9605-CB6F-4717-B1C7-DA8274CFBD20}"/>
              </a:ext>
            </a:extLst>
          </p:cNvPr>
          <p:cNvSpPr>
            <a:spLocks xmlns:a="http://schemas.openxmlformats.org/drawingml/2006/main" noGrp="1"/>
          </p:cNvSpPr>
          <p:nvPr/>
        </p:nvSpPr>
        <p:spPr>
          <a:xfrm xmlns:a="http://schemas.openxmlformats.org/drawingml/2006/main">
            <a:off x="1524000" y="323850"/>
            <a:ext cx="8382000" cy="7429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related-study-title-2">
            <a:extLst xmlns:a="http://schemas.openxmlformats.org/drawingml/2006/main">
              <a:ext uri="{FF2B5EF4-FFF2-40B4-BE49-F238E27FC236}">
                <a16:creationId xmlns:a16="http://schemas.microsoft.com/office/drawing/2014/main" id="{6EBA2491-6518-4087-ABCA-04604C76317A}"/>
              </a:ext>
            </a:extLst>
          </p:cNvPr>
          <p:cNvSpPr>
            <a:spLocks xmlns:a="http://schemas.openxmlformats.org/drawingml/2006/main" noGrp="1"/>
          </p:cNvSpPr>
          <p:nvPr/>
        </p:nvSpPr>
        <p:spPr>
          <a:xfrm xmlns:a="http://schemas.openxmlformats.org/drawingml/2006/main">
            <a:off x="2000250" y="311640"/>
            <a:ext cx="7810500" cy="628650"/>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3300" b="1">
                <a:solidFill>
                  <a:srgbClr val="062B6F"/>
                </a:solidFill>
                <a:latin typeface="Arial"/>
                <a:ea typeface="Arial"/>
                <a:cs typeface="Arial"/>
              </a:defRPr>
            </a:pPr>
            <a:r>
              <a:rPr sz="3300" b="1">
                <a:solidFill>
                  <a:srgbClr val="062B6F"/>
                </a:solidFill>
                <a:latin typeface="Arial"/>
                <a:ea typeface="Arial"/>
                <a:cs typeface="Arial"/>
              </a:rPr>
              <a:t>Related Studies (2/3)</a:t>
            </a:r>
          </a:p>
        </p:txBody>
      </p:sp>
      <p:sp>
        <p:nvSpPr>
          <p:cNvPr id="21" name="related-study-cover-2">
            <a:extLst xmlns:a="http://schemas.openxmlformats.org/drawingml/2006/main">
              <a:ext uri="{FF2B5EF4-FFF2-40B4-BE49-F238E27FC236}">
                <a16:creationId xmlns:a16="http://schemas.microsoft.com/office/drawing/2014/main" id="{9A41AA70-677B-46BE-BBAD-CBA4B067A8D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 name="paper-title-2">
            <a:extLst xmlns:a="http://schemas.openxmlformats.org/drawingml/2006/main">
              <a:ext uri="{FF2B5EF4-FFF2-40B4-BE49-F238E27FC236}">
                <a16:creationId xmlns:a16="http://schemas.microsoft.com/office/drawing/2014/main" id="{8A306287-C155-419A-850A-F6841720E23F}"/>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598"/>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DP-BREM: Differentially-Private and Byzantine-Robust Federated Learning with Client Momentum [17]</a:t>
            </a:r>
          </a:p>
        </p:txBody>
      </p:sp>
      <p:sp>
        <p:nvSpPr>
          <p:cNvPr id="23" name="paper-summary-2">
            <a:extLst xmlns:a="http://schemas.openxmlformats.org/drawingml/2006/main">
              <a:ext uri="{FF2B5EF4-FFF2-40B4-BE49-F238E27FC236}">
                <a16:creationId xmlns:a16="http://schemas.microsoft.com/office/drawing/2014/main" id="{9504971E-646A-48CF-BE67-BA1AC23CA447}"/>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734"/>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DP-BREM learns from client history: momentum reduces honest-update variance and exposes small malicious perturbations. DP-BREM+ removes the trusted-server assumption through secure aggregation and jointly generated noise.</a:t>
            </a:r>
          </a:p>
        </p:txBody>
      </p:sp>
      <p:sp>
        <p:nvSpPr>
          <p:cNvPr id="24" name="paper-source-2">
            <a:extLst xmlns:a="http://schemas.openxmlformats.org/drawingml/2006/main">
              <a:ext uri="{FF2B5EF4-FFF2-40B4-BE49-F238E27FC236}">
                <a16:creationId xmlns:a16="http://schemas.microsoft.com/office/drawing/2014/main" id="{9C9690AD-BFC7-42AE-8171-3AB172CB9F5B}"/>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Gu, Li, and Xiong, USENIX Security 2025 [17].</a:t>
            </a:r>
          </a:p>
        </p:txBody>
      </p:sp>
      <p:sp>
        <p:nvSpPr>
          <p:cNvPr id="25" name="dpbrem-strengths-heading">
            <a:extLst xmlns:a="http://schemas.openxmlformats.org/drawingml/2006/main">
              <a:ext uri="{FF2B5EF4-FFF2-40B4-BE49-F238E27FC236}">
                <a16:creationId xmlns:a16="http://schemas.microsoft.com/office/drawing/2014/main" id="{3226CF28-E297-4854-9F27-F0ADFC6CE885}"/>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6" name="dpbrem-strengths-bullets">
            <a:extLst xmlns:a="http://schemas.openxmlformats.org/drawingml/2006/main">
              <a:ext uri="{FF2B5EF4-FFF2-40B4-BE49-F238E27FC236}">
                <a16:creationId xmlns:a16="http://schemas.microsoft.com/office/drawing/2014/main" id="{2BEC5F65-9039-4C51-8D75-DCE5257BC6DA}"/>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Combines formal differential privacy with Byzantine robustness.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Uses longitudinal client momentum rather than one-round evidence only.</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DP-BREM+ protects updates and distributes DP-noise generation.</a:t>
            </a:r>
          </a:p>
        </p:txBody>
      </p:sp>
      <p:sp>
        <p:nvSpPr>
          <p:cNvPr id="27" name="dpbrem-limits-heading">
            <a:extLst xmlns:a="http://schemas.openxmlformats.org/drawingml/2006/main">
              <a:ext uri="{FF2B5EF4-FFF2-40B4-BE49-F238E27FC236}">
                <a16:creationId xmlns:a16="http://schemas.microsoft.com/office/drawing/2014/main" id="{7F5ADE2B-7DAA-40E7-A26B-881AE9713F3D}"/>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8" name="dpbrem-limits-bullets">
            <a:extLst xmlns:a="http://schemas.openxmlformats.org/drawingml/2006/main">
              <a:ext uri="{FF2B5EF4-FFF2-40B4-BE49-F238E27FC236}">
                <a16:creationId xmlns:a16="http://schemas.microsoft.com/office/drawing/2014/main" id="{D70AFC31-2F3B-4376-9C4B-77CADBBA7201}"/>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cryptography-aware method for reducing encrypted wire payload.</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Robustness depends on client history and the stated Byzantine model.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No clinical cohort, independent verifier, or external audit ledger.</a:t>
            </a:r>
          </a:p>
        </p:txBody>
      </p:sp>
      <p:sp>
        <p:nvSpPr>
          <p:cNvPr id="29" name="dpbrem-flow-title">
            <a:extLst xmlns:a="http://schemas.openxmlformats.org/drawingml/2006/main">
              <a:ext uri="{FF2B5EF4-FFF2-40B4-BE49-F238E27FC236}">
                <a16:creationId xmlns:a16="http://schemas.microsoft.com/office/drawing/2014/main" id="{B6A98EC0-9903-4A7D-A1D4-EE3552F6E2F8}"/>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DP-BREM+ conceptual workflow</a:t>
            </a:r>
          </a:p>
        </p:txBody>
      </p:sp>
      <p:sp>
        <p:nvSpPr>
          <p:cNvPr id="30" name="dpbrem-box-1">
            <a:extLst xmlns:a="http://schemas.openxmlformats.org/drawingml/2006/main">
              <a:ext uri="{FF2B5EF4-FFF2-40B4-BE49-F238E27FC236}">
                <a16:creationId xmlns:a16="http://schemas.microsoft.com/office/drawing/2014/main" id="{85AD0CC3-6582-47EC-AFD5-193500F7E74A}"/>
              </a:ext>
            </a:extLst>
          </p:cNvPr>
          <p:cNvSpPr>
            <a:spLocks xmlns:a="http://schemas.openxmlformats.org/drawingml/2006/main" noGrp="1"/>
          </p:cNvSpPr>
          <p:nvPr/>
        </p:nvSpPr>
        <p:spPr>
          <a:xfrm xmlns:a="http://schemas.openxmlformats.org/drawingml/2006/main">
            <a:off x="8143875" y="2190750"/>
            <a:ext cx="2809875" cy="47625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Current client update</a:t>
            </a:r>
          </a:p>
        </p:txBody>
      </p:sp>
      <p:sp>
        <p:nvSpPr>
          <p:cNvPr id="31" name="dpbrem-arrow-1">
            <a:extLst xmlns:a="http://schemas.openxmlformats.org/drawingml/2006/main">
              <a:ext uri="{FF2B5EF4-FFF2-40B4-BE49-F238E27FC236}">
                <a16:creationId xmlns:a16="http://schemas.microsoft.com/office/drawing/2014/main" id="{FAC0B191-6093-4CC0-B157-6C9D9FBD46AF}"/>
              </a:ext>
            </a:extLst>
          </p:cNvPr>
          <p:cNvSpPr>
            <a:spLocks xmlns:a="http://schemas.openxmlformats.org/drawingml/2006/main" noGrp="1"/>
          </p:cNvSpPr>
          <p:nvPr/>
        </p:nvSpPr>
        <p:spPr>
          <a:xfrm xmlns:a="http://schemas.openxmlformats.org/drawingml/2006/main">
            <a:off x="8858250" y="2667000"/>
            <a:ext cx="1381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lnSpcReduction="10000"/>
          </a:bodyPr>
          <a:lstStyle xmlns:a="http://schemas.openxmlformats.org/drawingml/2006/main"/>
          <a:p xmlns:a="http://schemas.openxmlformats.org/drawingml/2006/main">
            <a:pPr algn="ctr">
              <a:buNone/>
              <a:defRPr sz="1425" b="1">
                <a:solidFill>
                  <a:srgbClr val="008A46"/>
                </a:solidFill>
                <a:latin typeface="Arial"/>
                <a:ea typeface="Arial"/>
                <a:cs typeface="Arial"/>
              </a:defRPr>
            </a:pPr>
            <a:r>
              <a:rPr sz="1425" b="1">
                <a:solidFill>
                  <a:srgbClr val="008A46"/>
                </a:solidFill>
                <a:latin typeface="Arial"/>
                <a:ea typeface="Arial"/>
                <a:cs typeface="Arial"/>
              </a:rPr>
              <a:t>+ history ↓</a:t>
            </a:r>
          </a:p>
        </p:txBody>
      </p:sp>
      <p:sp>
        <p:nvSpPr>
          <p:cNvPr id="32" name="dpbrem-box-2">
            <a:extLst xmlns:a="http://schemas.openxmlformats.org/drawingml/2006/main">
              <a:ext uri="{FF2B5EF4-FFF2-40B4-BE49-F238E27FC236}">
                <a16:creationId xmlns:a16="http://schemas.microsoft.com/office/drawing/2014/main" id="{489914B5-E8C6-46A0-894A-1B6B972621A9}"/>
              </a:ext>
            </a:extLst>
          </p:cNvPr>
          <p:cNvSpPr>
            <a:spLocks xmlns:a="http://schemas.openxmlformats.org/drawingml/2006/main" noGrp="1"/>
          </p:cNvSpPr>
          <p:nvPr/>
        </p:nvSpPr>
        <p:spPr>
          <a:xfrm xmlns:a="http://schemas.openxmlformats.org/drawingml/2006/main">
            <a:off x="8143875" y="2933700"/>
            <a:ext cx="2809875" cy="4762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D97706"/>
                </a:solidFill>
                <a:latin typeface="Arial"/>
                <a:ea typeface="Arial"/>
                <a:cs typeface="Arial"/>
              </a:defRPr>
            </a:pPr>
            <a:r>
              <a:rPr sz="1275" b="1">
                <a:solidFill>
                  <a:srgbClr val="D97706"/>
                </a:solidFill>
                <a:latin typeface="Arial"/>
                <a:ea typeface="Arial"/>
                <a:cs typeface="Arial"/>
              </a:rPr>
              <a:t>Client momentum</a:t>
            </a:r>
          </a:p>
        </p:txBody>
      </p:sp>
      <p:sp>
        <p:nvSpPr>
          <p:cNvPr id="33" name="dpbrem-arrow-2">
            <a:extLst xmlns:a="http://schemas.openxmlformats.org/drawingml/2006/main">
              <a:ext uri="{FF2B5EF4-FFF2-40B4-BE49-F238E27FC236}">
                <a16:creationId xmlns:a16="http://schemas.microsoft.com/office/drawing/2014/main" id="{DBFF3B59-114D-4424-855D-3E8FC3254FA2}"/>
              </a:ext>
            </a:extLst>
          </p:cNvPr>
          <p:cNvSpPr>
            <a:spLocks xmlns:a="http://schemas.openxmlformats.org/drawingml/2006/main" noGrp="1"/>
          </p:cNvSpPr>
          <p:nvPr/>
        </p:nvSpPr>
        <p:spPr>
          <a:xfrm xmlns:a="http://schemas.openxmlformats.org/drawingml/2006/main">
            <a:off x="9096375" y="340995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4" name="dpbrem-box-3">
            <a:extLst xmlns:a="http://schemas.openxmlformats.org/drawingml/2006/main">
              <a:ext uri="{FF2B5EF4-FFF2-40B4-BE49-F238E27FC236}">
                <a16:creationId xmlns:a16="http://schemas.microsoft.com/office/drawing/2014/main" id="{76EFEE9B-8AD6-49EB-A7CD-54177B73592C}"/>
              </a:ext>
            </a:extLst>
          </p:cNvPr>
          <p:cNvSpPr>
            <a:spLocks xmlns:a="http://schemas.openxmlformats.org/drawingml/2006/main" noGrp="1"/>
          </p:cNvSpPr>
          <p:nvPr/>
        </p:nvSpPr>
        <p:spPr>
          <a:xfrm xmlns:a="http://schemas.openxmlformats.org/drawingml/2006/main">
            <a:off x="8143875" y="3676650"/>
            <a:ext cx="2809875" cy="5905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008A46"/>
                </a:solidFill>
                <a:latin typeface="Arial"/>
                <a:ea typeface="Arial"/>
                <a:cs typeface="Arial"/>
              </a:defRPr>
            </a:pPr>
            <a:r>
              <a:rPr sz="1200" b="1">
                <a:solidFill>
                  <a:srgbClr val="008A46"/>
                </a:solidFill>
                <a:latin typeface="Arial"/>
                <a:ea typeface="Arial"/>
                <a:cs typeface="Arial"/>
              </a:rPr>
              <a:t>Secure aggregation + jointly generated DP noise</a:t>
            </a:r>
          </a:p>
        </p:txBody>
      </p:sp>
      <p:sp>
        <p:nvSpPr>
          <p:cNvPr id="35" name="dpbrem-arrow-3">
            <a:extLst xmlns:a="http://schemas.openxmlformats.org/drawingml/2006/main">
              <a:ext uri="{FF2B5EF4-FFF2-40B4-BE49-F238E27FC236}">
                <a16:creationId xmlns:a16="http://schemas.microsoft.com/office/drawing/2014/main" id="{57140725-AD0A-4D8B-9323-4116EDEABB38}"/>
              </a:ext>
            </a:extLst>
          </p:cNvPr>
          <p:cNvSpPr>
            <a:spLocks xmlns:a="http://schemas.openxmlformats.org/drawingml/2006/main" noGrp="1"/>
          </p:cNvSpPr>
          <p:nvPr/>
        </p:nvSpPr>
        <p:spPr>
          <a:xfrm xmlns:a="http://schemas.openxmlformats.org/drawingml/2006/main">
            <a:off x="9096375" y="4267200"/>
            <a:ext cx="904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3889" lnSpcReduction="10000"/>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a:t>
            </a:r>
          </a:p>
        </p:txBody>
      </p:sp>
      <p:sp>
        <p:nvSpPr>
          <p:cNvPr id="36" name="dpbrem-box-4">
            <a:extLst xmlns:a="http://schemas.openxmlformats.org/drawingml/2006/main">
              <a:ext uri="{FF2B5EF4-FFF2-40B4-BE49-F238E27FC236}">
                <a16:creationId xmlns:a16="http://schemas.microsoft.com/office/drawing/2014/main" id="{9D79AF4E-D1A8-429E-8E4C-A777FAA393AA}"/>
              </a:ext>
            </a:extLst>
          </p:cNvPr>
          <p:cNvSpPr>
            <a:spLocks xmlns:a="http://schemas.openxmlformats.org/drawingml/2006/main" noGrp="1"/>
          </p:cNvSpPr>
          <p:nvPr/>
        </p:nvSpPr>
        <p:spPr>
          <a:xfrm xmlns:a="http://schemas.openxmlformats.org/drawingml/2006/main">
            <a:off x="8143875" y="4533900"/>
            <a:ext cx="2809875" cy="49530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Private, robust global model</a:t>
            </a:r>
          </a:p>
        </p:txBody>
      </p:sp>
      <p:sp>
        <p:nvSpPr>
          <p:cNvPr id="37" name="dpbrem-diagram-caption">
            <a:extLst xmlns:a="http://schemas.openxmlformats.org/drawingml/2006/main">
              <a:ext uri="{FF2B5EF4-FFF2-40B4-BE49-F238E27FC236}">
                <a16:creationId xmlns:a16="http://schemas.microsoft.com/office/drawing/2014/main" id="{B65D6B49-D9FB-4BB7-8903-DA30D5465A73}"/>
              </a:ext>
            </a:extLst>
          </p:cNvPr>
          <p:cNvSpPr>
            <a:spLocks xmlns:a="http://schemas.openxmlformats.org/drawingml/2006/main" noGrp="1"/>
          </p:cNvSpPr>
          <p:nvPr/>
        </p:nvSpPr>
        <p:spPr>
          <a:xfrm xmlns:a="http://schemas.openxmlformats.org/drawingml/2006/main">
            <a:off x="7810500" y="5162550"/>
            <a:ext cx="3476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History, privacy, and robustness are linked [17].</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13</a:t>
            </a:r>
            <a:endParaRPr sz="2800"/>
          </a:p>
        </p:txBody>
      </p:sp>
      <p:pic>
        <p:nvPicPr>
          <p:cNvPr id="25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60779f19eb54d1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5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c000b458cb4b6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55" name="Table 255"/>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Tree>
    <p:extLst>
      <p:ext uri="{BB962C8B-B14F-4D97-AF65-F5344CB8AC3E}">
        <p14:creationId xmlns:p14="http://schemas.microsoft.com/office/powerpoint/2010/main" val="97028649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Comparison of Related Studies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14</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2926db6cd754ce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85bdb932b4047e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70" name="Table 270"/>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0" name="related-study-cover-3">
            <a:extLst xmlns:a="http://schemas.openxmlformats.org/drawingml/2006/main">
              <a:ext uri="{FF2B5EF4-FFF2-40B4-BE49-F238E27FC236}">
                <a16:creationId xmlns:a16="http://schemas.microsoft.com/office/drawing/2014/main" id="{D497C4B0-9EA7-4670-A3B0-930037AA052F}"/>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1" name="paper-title-3">
            <a:extLst xmlns:a="http://schemas.openxmlformats.org/drawingml/2006/main">
              <a:ext uri="{FF2B5EF4-FFF2-40B4-BE49-F238E27FC236}">
                <a16:creationId xmlns:a16="http://schemas.microsoft.com/office/drawing/2014/main" id="{5ED14AEF-C3C5-4B85-8F43-F00DDB2BF860}"/>
              </a:ext>
            </a:extLst>
          </p:cNvPr>
          <p:cNvSpPr>
            <a:spLocks xmlns:a="http://schemas.openxmlformats.org/drawingml/2006/main" noGrp="1"/>
          </p:cNvSpPr>
          <p:nvPr/>
        </p:nvSpPr>
        <p:spPr>
          <a:xfrm xmlns:a="http://schemas.openxmlformats.org/drawingml/2006/main">
            <a:off x="666750" y="112395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00" b="1">
                <a:solidFill>
                  <a:srgbClr val="008A46"/>
                </a:solidFill>
                <a:latin typeface="Arial"/>
                <a:ea typeface="Arial"/>
                <a:cs typeface="Arial"/>
              </a:defRPr>
            </a:pPr>
            <a:r>
              <a:rPr sz="1800" b="1">
                <a:solidFill>
                  <a:srgbClr val="008A46"/>
                </a:solidFill>
                <a:latin typeface="Arial"/>
                <a:ea typeface="Arial"/>
                <a:cs typeface="Arial"/>
              </a:rPr>
              <a:t>PREAMBLE: Private and Efficient Aggregation via Block Sparse Vectors [18]</a:t>
            </a:r>
          </a:p>
        </p:txBody>
      </p:sp>
      <p:sp>
        <p:nvSpPr>
          <p:cNvPr id="232" name="paper-summary-3">
            <a:extLst xmlns:a="http://schemas.openxmlformats.org/drawingml/2006/main">
              <a:ext uri="{FF2B5EF4-FFF2-40B4-BE49-F238E27FC236}">
                <a16:creationId xmlns:a16="http://schemas.microsoft.com/office/drawing/2014/main" id="{63420EE7-E716-40DE-912F-1D4814E18315}"/>
              </a:ext>
            </a:extLst>
          </p:cNvPr>
          <p:cNvSpPr>
            <a:spLocks xmlns:a="http://schemas.openxmlformats.org/drawingml/2006/main" noGrp="1"/>
          </p:cNvSpPr>
          <p:nvPr/>
        </p:nvSpPr>
        <p:spPr>
          <a:xfrm xmlns:a="http://schemas.openxmlformats.org/drawingml/2006/main">
            <a:off x="666750" y="1714500"/>
            <a:ext cx="657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a:solidFill>
                  <a:srgbClr val="1F2937"/>
                </a:solidFill>
                <a:latin typeface="Arial"/>
                <a:ea typeface="Arial"/>
                <a:cs typeface="Arial"/>
              </a:defRPr>
            </a:pPr>
            <a:r>
              <a:rPr sz="1425">
                <a:solidFill>
                  <a:srgbClr val="1F2937"/>
                </a:solidFill>
                <a:latin typeface="Arial"/>
                <a:ea typeface="Arial"/>
                <a:cs typeface="Arial"/>
              </a:rPr>
              <a:t>PREAMBLE co-designs a two-server private-aggregation protocol with block-sparse vectors, distributed point functions, sampling, and privacy amplification to reduce high-dimensional communication.</a:t>
            </a:r>
          </a:p>
        </p:txBody>
      </p:sp>
      <p:sp>
        <p:nvSpPr>
          <p:cNvPr id="233" name="paper-source-3">
            <a:extLst xmlns:a="http://schemas.openxmlformats.org/drawingml/2006/main">
              <a:ext uri="{FF2B5EF4-FFF2-40B4-BE49-F238E27FC236}">
                <a16:creationId xmlns:a16="http://schemas.microsoft.com/office/drawing/2014/main" id="{6ECDB239-EFD8-48A5-8284-10E99DFADF9C}"/>
              </a:ext>
            </a:extLst>
          </p:cNvPr>
          <p:cNvSpPr>
            <a:spLocks xmlns:a="http://schemas.openxmlformats.org/drawingml/2006/main" noGrp="1"/>
          </p:cNvSpPr>
          <p:nvPr/>
        </p:nvSpPr>
        <p:spPr>
          <a:xfrm xmlns:a="http://schemas.openxmlformats.org/drawingml/2006/main">
            <a:off x="666750" y="582930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013" i="1">
                <a:solidFill>
                  <a:srgbClr val="52606D"/>
                </a:solidFill>
                <a:latin typeface="Arial"/>
                <a:ea typeface="Arial"/>
                <a:cs typeface="Arial"/>
              </a:defRPr>
            </a:pPr>
            <a:r>
              <a:rPr sz="1013" i="1">
                <a:solidFill>
                  <a:srgbClr val="52606D"/>
                </a:solidFill>
                <a:latin typeface="Arial"/>
                <a:ea typeface="Arial"/>
                <a:cs typeface="Arial"/>
              </a:rPr>
              <a:t>Source: Asi et al., NeurIPS 2025 [18].</a:t>
            </a:r>
          </a:p>
        </p:txBody>
      </p:sp>
      <p:sp>
        <p:nvSpPr>
          <p:cNvPr id="234" name="preamble-strengths-heading">
            <a:extLst xmlns:a="http://schemas.openxmlformats.org/drawingml/2006/main">
              <a:ext uri="{FF2B5EF4-FFF2-40B4-BE49-F238E27FC236}">
                <a16:creationId xmlns:a16="http://schemas.microsoft.com/office/drawing/2014/main" id="{4A5652FD-A1B3-4E80-8D03-0F9199010238}"/>
              </a:ext>
            </a:extLst>
          </p:cNvPr>
          <p:cNvSpPr>
            <a:spLocks xmlns:a="http://schemas.openxmlformats.org/drawingml/2006/main" noGrp="1"/>
          </p:cNvSpPr>
          <p:nvPr/>
        </p:nvSpPr>
        <p:spPr>
          <a:xfrm xmlns:a="http://schemas.openxmlformats.org/drawingml/2006/main">
            <a:off x="647700" y="2590800"/>
            <a:ext cx="6572250" cy="323850"/>
          </a:xfrm>
          <a:prstGeom xmlns:a="http://schemas.openxmlformats.org/drawingml/2006/main" prst="rect">
            <a:avLst/>
          </a:prstGeom>
          <a:solidFill xmlns:a="http://schemas.openxmlformats.org/drawingml/2006/main">
            <a:srgbClr val="EAF7F0"/>
          </a:solidFill>
          <a:ln xmlns:a="http://schemas.openxmlformats.org/drawingml/2006/main" w="10478">
            <a:solidFill>
              <a:srgbClr val="008A46"/>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008A46"/>
                </a:solidFill>
                <a:latin typeface="Arial"/>
                <a:ea typeface="Arial"/>
                <a:cs typeface="Arial"/>
              </a:defRPr>
            </a:pPr>
            <a:r>
              <a:rPr sz="1650" b="1">
                <a:solidFill>
                  <a:srgbClr val="008A46"/>
                </a:solidFill>
                <a:latin typeface="Arial"/>
                <a:ea typeface="Arial"/>
                <a:cs typeface="Arial"/>
              </a:rPr>
              <a:t>Strengths</a:t>
            </a:r>
          </a:p>
        </p:txBody>
      </p:sp>
      <p:sp>
        <p:nvSpPr>
          <p:cNvPr id="235" name="preamble-strengths-bullets">
            <a:extLst xmlns:a="http://schemas.openxmlformats.org/drawingml/2006/main">
              <a:ext uri="{FF2B5EF4-FFF2-40B4-BE49-F238E27FC236}">
                <a16:creationId xmlns:a16="http://schemas.microsoft.com/office/drawing/2014/main" id="{F391703E-3566-48C2-927F-F2AEA5369EA1}"/>
              </a:ext>
            </a:extLst>
          </p:cNvPr>
          <p:cNvSpPr>
            <a:spLocks xmlns:a="http://schemas.openxmlformats.org/drawingml/2006/main" noGrp="1"/>
          </p:cNvSpPr>
          <p:nvPr/>
        </p:nvSpPr>
        <p:spPr>
          <a:xfrm xmlns:a="http://schemas.openxmlformats.org/drawingml/2006/main">
            <a:off x="876300" y="294322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Aligns the sparse representation with its protected transport protocol.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Reduces communication and computation for block-sparse vectors.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Provides formal privacy–utility analysis with low added noise overhead.</a:t>
            </a:r>
          </a:p>
        </p:txBody>
      </p:sp>
      <p:sp>
        <p:nvSpPr>
          <p:cNvPr id="236" name="preamble-limits-heading">
            <a:extLst xmlns:a="http://schemas.openxmlformats.org/drawingml/2006/main">
              <a:ext uri="{FF2B5EF4-FFF2-40B4-BE49-F238E27FC236}">
                <a16:creationId xmlns:a16="http://schemas.microsoft.com/office/drawing/2014/main" id="{4B8A7FFE-404D-41FC-99EE-43E4C50CAC78}"/>
              </a:ext>
            </a:extLst>
          </p:cNvPr>
          <p:cNvSpPr>
            <a:spLocks xmlns:a="http://schemas.openxmlformats.org/drawingml/2006/main" noGrp="1"/>
          </p:cNvSpPr>
          <p:nvPr/>
        </p:nvSpPr>
        <p:spPr>
          <a:xfrm xmlns:a="http://schemas.openxmlformats.org/drawingml/2006/main">
            <a:off x="647700" y="4095750"/>
            <a:ext cx="6572250" cy="323850"/>
          </a:xfrm>
          <a:prstGeom xmlns:a="http://schemas.openxmlformats.org/drawingml/2006/main" prst="rect">
            <a:avLst/>
          </a:prstGeom>
          <a:solidFill xmlns:a="http://schemas.openxmlformats.org/drawingml/2006/main">
            <a:srgbClr val="FFF0EE"/>
          </a:solidFill>
          <a:ln xmlns:a="http://schemas.openxmlformats.org/drawingml/2006/main" w="10478">
            <a:solidFill>
              <a:srgbClr val="B42318"/>
            </a:solidFill>
          </a:ln>
        </p:spPr>
        <p:txBody>
          <a:bodyPr xmlns:a="http://schemas.openxmlformats.org/drawingml/2006/main" anchor="ctr">
            <a:normAutofit fontScale="99924" lnSpcReduction="10000"/>
          </a:bodyPr>
          <a:lstStyle xmlns:a="http://schemas.openxmlformats.org/drawingml/2006/main"/>
          <a:p xmlns:a="http://schemas.openxmlformats.org/drawingml/2006/main">
            <a:pPr algn="l">
              <a:buNone/>
              <a:defRPr sz="1650" b="1">
                <a:solidFill>
                  <a:srgbClr val="B42318"/>
                </a:solidFill>
                <a:latin typeface="Arial"/>
                <a:ea typeface="Arial"/>
                <a:cs typeface="Arial"/>
              </a:defRPr>
            </a:pPr>
            <a:r>
              <a:rPr sz="1650" b="1">
                <a:solidFill>
                  <a:srgbClr val="B42318"/>
                </a:solidFill>
                <a:latin typeface="Arial"/>
                <a:ea typeface="Arial"/>
                <a:cs typeface="Arial"/>
              </a:rPr>
              <a:t>Limitations relative to this thesis</a:t>
            </a:r>
          </a:p>
        </p:txBody>
      </p:sp>
      <p:sp>
        <p:nvSpPr>
          <p:cNvPr id="237" name="preamble-limits-bullets">
            <a:extLst xmlns:a="http://schemas.openxmlformats.org/drawingml/2006/main">
              <a:ext uri="{FF2B5EF4-FFF2-40B4-BE49-F238E27FC236}">
                <a16:creationId xmlns:a16="http://schemas.microsoft.com/office/drawing/2014/main" id="{7243B988-B459-4C0B-80B6-9984718F584B}"/>
              </a:ext>
            </a:extLst>
          </p:cNvPr>
          <p:cNvSpPr>
            <a:spLocks xmlns:a="http://schemas.openxmlformats.org/drawingml/2006/main" noGrp="1"/>
          </p:cNvSpPr>
          <p:nvPr/>
        </p:nvSpPr>
        <p:spPr>
          <a:xfrm xmlns:a="http://schemas.openxmlformats.org/drawingml/2006/main">
            <a:off x="876300" y="4448175"/>
            <a:ext cx="64293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Requires two non-colluding aggregation servers.</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Targets vector aggregation rather than iterative CKKS clinical FL.</a:t>
            </a:r>
          </a:p>
          <a:p xmlns:a="http://schemas.openxmlformats.org/drawingml/2006/main">
            <a:pPr algn="l">
              <a:buNone/>
              <a:defRPr sz="1388">
                <a:solidFill>
                  <a:srgbClr val="1F2937"/>
                </a:solidFill>
                <a:latin typeface="Arial"/>
                <a:ea typeface="Arial"/>
                <a:cs typeface="Arial"/>
              </a:defRPr>
            </a:pPr>
            <a:r>
              <a:rPr sz="1388">
                <a:solidFill>
                  <a:srgbClr val="1F2937"/>
                </a:solidFill>
                <a:latin typeface="Arial"/>
                <a:ea typeface="Arial"/>
                <a:cs typeface="Arial"/>
              </a:rPr>
              <a:t>•  Does not evaluate poisoning, release governance, or healthcare utility.</a:t>
            </a:r>
          </a:p>
        </p:txBody>
      </p:sp>
      <p:sp>
        <p:nvSpPr>
          <p:cNvPr id="238" name="preamble-flow-title">
            <a:extLst xmlns:a="http://schemas.openxmlformats.org/drawingml/2006/main">
              <a:ext uri="{FF2B5EF4-FFF2-40B4-BE49-F238E27FC236}">
                <a16:creationId xmlns:a16="http://schemas.microsoft.com/office/drawing/2014/main" id="{D73159F9-3ED5-44AA-8396-BFC2D15520CB}"/>
              </a:ext>
            </a:extLst>
          </p:cNvPr>
          <p:cNvSpPr>
            <a:spLocks xmlns:a="http://schemas.openxmlformats.org/drawingml/2006/main" noGrp="1"/>
          </p:cNvSpPr>
          <p:nvPr/>
        </p:nvSpPr>
        <p:spPr>
          <a:xfrm xmlns:a="http://schemas.openxmlformats.org/drawingml/2006/main">
            <a:off x="7810500" y="1790700"/>
            <a:ext cx="347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algn="ctr">
              <a:buNone/>
              <a:defRPr sz="1500" b="1">
                <a:solidFill>
                  <a:srgbClr val="1E3A5F"/>
                </a:solidFill>
                <a:latin typeface="Arial"/>
                <a:ea typeface="Arial"/>
                <a:cs typeface="Arial"/>
              </a:defRPr>
            </a:pPr>
            <a:r>
              <a:rPr sz="1500" b="1">
                <a:solidFill>
                  <a:srgbClr val="1E3A5F"/>
                </a:solidFill>
                <a:latin typeface="Arial"/>
                <a:ea typeface="Arial"/>
                <a:cs typeface="Arial"/>
              </a:rPr>
              <a:t>PREAMBLE conceptual workflow</a:t>
            </a:r>
          </a:p>
        </p:txBody>
      </p:sp>
      <p:sp>
        <p:nvSpPr>
          <p:cNvPr id="239" name="preamble-box-1">
            <a:extLst xmlns:a="http://schemas.openxmlformats.org/drawingml/2006/main">
              <a:ext uri="{FF2B5EF4-FFF2-40B4-BE49-F238E27FC236}">
                <a16:creationId xmlns:a16="http://schemas.microsoft.com/office/drawing/2014/main" id="{7AE7E345-6275-4DDE-B112-20A1C4E5EE2C}"/>
              </a:ext>
            </a:extLst>
          </p:cNvPr>
          <p:cNvSpPr>
            <a:spLocks xmlns:a="http://schemas.openxmlformats.org/drawingml/2006/main" noGrp="1"/>
          </p:cNvSpPr>
          <p:nvPr/>
        </p:nvSpPr>
        <p:spPr>
          <a:xfrm xmlns:a="http://schemas.openxmlformats.org/drawingml/2006/main">
            <a:off x="8143875" y="2190750"/>
            <a:ext cx="2809875" cy="495300"/>
          </a:xfrm>
          <a:prstGeom xmlns:a="http://schemas.openxmlformats.org/drawingml/2006/main" prst="rect">
            <a:avLst/>
          </a:prstGeom>
          <a:solidFill xmlns:a="http://schemas.openxmlformats.org/drawingml/2006/main">
            <a:srgbClr val="EAF4F8"/>
          </a:solidFill>
          <a:ln xmlns:a="http://schemas.openxmlformats.org/drawingml/2006/main" w="13335">
            <a:solidFill>
              <a:srgbClr val="1E3A5F"/>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1E3A5F"/>
                </a:solidFill>
                <a:latin typeface="Arial"/>
                <a:ea typeface="Arial"/>
                <a:cs typeface="Arial"/>
              </a:defRPr>
            </a:pPr>
            <a:r>
              <a:rPr sz="1275" b="1">
                <a:solidFill>
                  <a:srgbClr val="1E3A5F"/>
                </a:solidFill>
                <a:latin typeface="Arial"/>
                <a:ea typeface="Arial"/>
                <a:cs typeface="Arial"/>
              </a:rPr>
              <a:t>Block-sparse client vector</a:t>
            </a:r>
          </a:p>
        </p:txBody>
      </p:sp>
      <p:sp>
        <p:nvSpPr>
          <p:cNvPr id="240" name="preamble-arrow-split">
            <a:extLst xmlns:a="http://schemas.openxmlformats.org/drawingml/2006/main">
              <a:ext uri="{FF2B5EF4-FFF2-40B4-BE49-F238E27FC236}">
                <a16:creationId xmlns:a16="http://schemas.microsoft.com/office/drawing/2014/main" id="{62DA6507-6552-4E74-B474-DC3158F16F8B}"/>
              </a:ext>
            </a:extLst>
          </p:cNvPr>
          <p:cNvSpPr>
            <a:spLocks xmlns:a="http://schemas.openxmlformats.org/drawingml/2006/main" noGrp="1"/>
          </p:cNvSpPr>
          <p:nvPr/>
        </p:nvSpPr>
        <p:spPr>
          <a:xfrm xmlns:a="http://schemas.openxmlformats.org/drawingml/2006/main">
            <a:off x="8239125" y="2686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1" name="preamble-box-2a">
            <a:extLst xmlns:a="http://schemas.openxmlformats.org/drawingml/2006/main">
              <a:ext uri="{FF2B5EF4-FFF2-40B4-BE49-F238E27FC236}">
                <a16:creationId xmlns:a16="http://schemas.microsoft.com/office/drawing/2014/main" id="{03A81E5E-2B15-4CC5-A311-935D6D1EE146}"/>
              </a:ext>
            </a:extLst>
          </p:cNvPr>
          <p:cNvSpPr>
            <a:spLocks xmlns:a="http://schemas.openxmlformats.org/drawingml/2006/main" noGrp="1"/>
          </p:cNvSpPr>
          <p:nvPr/>
        </p:nvSpPr>
        <p:spPr>
          <a:xfrm xmlns:a="http://schemas.openxmlformats.org/drawingml/2006/main">
            <a:off x="785812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A</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2" name="preamble-box-2b">
            <a:extLst xmlns:a="http://schemas.openxmlformats.org/drawingml/2006/main">
              <a:ext uri="{FF2B5EF4-FFF2-40B4-BE49-F238E27FC236}">
                <a16:creationId xmlns:a16="http://schemas.microsoft.com/office/drawing/2014/main" id="{DEF78BC3-25C5-43C6-BBB5-3872DA823F18}"/>
              </a:ext>
            </a:extLst>
          </p:cNvPr>
          <p:cNvSpPr>
            <a:spLocks xmlns:a="http://schemas.openxmlformats.org/drawingml/2006/main" noGrp="1"/>
          </p:cNvSpPr>
          <p:nvPr/>
        </p:nvSpPr>
        <p:spPr>
          <a:xfrm xmlns:a="http://schemas.openxmlformats.org/drawingml/2006/main">
            <a:off x="9667875" y="3067050"/>
            <a:ext cx="1571625" cy="742950"/>
          </a:xfrm>
          <a:prstGeom xmlns:a="http://schemas.openxmlformats.org/drawingml/2006/main" prst="rect">
            <a:avLst/>
          </a:prstGeom>
          <a:solidFill xmlns:a="http://schemas.openxmlformats.org/drawingml/2006/main">
            <a:srgbClr val="EAF7F0"/>
          </a:solidFill>
          <a:ln xmlns:a="http://schemas.openxmlformats.org/drawingml/2006/main" w="13335">
            <a:solidFill>
              <a:srgbClr val="008A46"/>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Server B</a:t>
            </a:r>
          </a:p>
          <a:p xmlns:a="http://schemas.openxmlformats.org/drawingml/2006/main">
            <a:pPr algn="ctr">
              <a:buNone/>
              <a:defRPr sz="1275" b="1">
                <a:solidFill>
                  <a:srgbClr val="008A46"/>
                </a:solidFill>
                <a:latin typeface="Arial"/>
                <a:ea typeface="Arial"/>
                <a:cs typeface="Arial"/>
              </a:defRPr>
            </a:pPr>
            <a:r>
              <a:rPr sz="1275" b="1">
                <a:solidFill>
                  <a:srgbClr val="008A46"/>
                </a:solidFill>
                <a:latin typeface="Arial"/>
                <a:ea typeface="Arial"/>
                <a:cs typeface="Arial"/>
              </a:rPr>
              <a:t>DPF share</a:t>
            </a:r>
          </a:p>
        </p:txBody>
      </p:sp>
      <p:sp>
        <p:nvSpPr>
          <p:cNvPr id="243" name="preamble-arrow-merge">
            <a:extLst xmlns:a="http://schemas.openxmlformats.org/drawingml/2006/main">
              <a:ext uri="{FF2B5EF4-FFF2-40B4-BE49-F238E27FC236}">
                <a16:creationId xmlns:a16="http://schemas.microsoft.com/office/drawing/2014/main" id="{03DA5FE3-5395-4C45-9B7C-E980A0E09B62}"/>
              </a:ext>
            </a:extLst>
          </p:cNvPr>
          <p:cNvSpPr>
            <a:spLocks xmlns:a="http://schemas.openxmlformats.org/drawingml/2006/main" noGrp="1"/>
          </p:cNvSpPr>
          <p:nvPr/>
        </p:nvSpPr>
        <p:spPr>
          <a:xfrm xmlns:a="http://schemas.openxmlformats.org/drawingml/2006/main">
            <a:off x="8239125" y="3829050"/>
            <a:ext cx="26193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33" lnSpcReduction="20000"/>
          </a:bodyPr>
          <a:lstStyle xmlns:a="http://schemas.openxmlformats.org/drawingml/2006/main"/>
          <a:p xmlns:a="http://schemas.openxmlformats.org/drawingml/2006/main">
            <a:pPr algn="ctr">
              <a:buNone/>
              <a:defRPr sz="1875" b="1">
                <a:solidFill>
                  <a:srgbClr val="008A46"/>
                </a:solidFill>
                <a:latin typeface="Arial"/>
                <a:ea typeface="Arial"/>
                <a:cs typeface="Arial"/>
              </a:defRPr>
            </a:pPr>
            <a:r>
              <a:rPr sz="1875" b="1">
                <a:solidFill>
                  <a:srgbClr val="008A46"/>
                </a:solidFill>
                <a:latin typeface="Arial"/>
                <a:ea typeface="Arial"/>
                <a:cs typeface="Arial"/>
              </a:rPr>
              <a:t>↘                 ↙</a:t>
            </a:r>
          </a:p>
        </p:txBody>
      </p:sp>
      <p:sp>
        <p:nvSpPr>
          <p:cNvPr id="244" name="preamble-box-3">
            <a:extLst xmlns:a="http://schemas.openxmlformats.org/drawingml/2006/main">
              <a:ext uri="{FF2B5EF4-FFF2-40B4-BE49-F238E27FC236}">
                <a16:creationId xmlns:a16="http://schemas.microsoft.com/office/drawing/2014/main" id="{B1EB8236-E9B0-4813-B69C-33061CE128C8}"/>
              </a:ext>
            </a:extLst>
          </p:cNvPr>
          <p:cNvSpPr>
            <a:spLocks xmlns:a="http://schemas.openxmlformats.org/drawingml/2006/main" noGrp="1"/>
          </p:cNvSpPr>
          <p:nvPr/>
        </p:nvSpPr>
        <p:spPr>
          <a:xfrm xmlns:a="http://schemas.openxmlformats.org/drawingml/2006/main">
            <a:off x="8143875" y="4248150"/>
            <a:ext cx="2809875" cy="590550"/>
          </a:xfrm>
          <a:prstGeom xmlns:a="http://schemas.openxmlformats.org/drawingml/2006/main" prst="rect">
            <a:avLst/>
          </a:prstGeom>
          <a:solidFill xmlns:a="http://schemas.openxmlformats.org/drawingml/2006/main">
            <a:srgbClr val="FFF4E5"/>
          </a:solidFill>
          <a:ln xmlns:a="http://schemas.openxmlformats.org/drawingml/2006/main" w="13335">
            <a:solidFill>
              <a:srgbClr val="D97706"/>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D97706"/>
                </a:solidFill>
                <a:latin typeface="Arial"/>
                <a:ea typeface="Arial"/>
                <a:cs typeface="Arial"/>
              </a:defRPr>
            </a:pPr>
            <a:r>
              <a:rPr sz="1200" b="1">
                <a:solidFill>
                  <a:srgbClr val="D97706"/>
                </a:solidFill>
                <a:latin typeface="Arial"/>
                <a:ea typeface="Arial"/>
                <a:cs typeface="Arial"/>
              </a:rPr>
              <a:t>Private block-sparse aggregate</a:t>
            </a:r>
          </a:p>
        </p:txBody>
      </p:sp>
      <p:sp>
        <p:nvSpPr>
          <p:cNvPr id="245" name="preamble-diagram-caption">
            <a:extLst xmlns:a="http://schemas.openxmlformats.org/drawingml/2006/main">
              <a:ext uri="{FF2B5EF4-FFF2-40B4-BE49-F238E27FC236}">
                <a16:creationId xmlns:a16="http://schemas.microsoft.com/office/drawing/2014/main" id="{E103B243-C93A-4A36-8D33-AB0AB78BC5BB}"/>
              </a:ext>
            </a:extLst>
          </p:cNvPr>
          <p:cNvSpPr>
            <a:spLocks xmlns:a="http://schemas.openxmlformats.org/drawingml/2006/main" noGrp="1"/>
          </p:cNvSpPr>
          <p:nvPr/>
        </p:nvSpPr>
        <p:spPr>
          <a:xfrm xmlns:a="http://schemas.openxmlformats.org/drawingml/2006/main">
            <a:off x="7762875" y="5048250"/>
            <a:ext cx="3571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25" i="1">
                <a:solidFill>
                  <a:srgbClr val="52606D"/>
                </a:solidFill>
                <a:latin typeface="Arial"/>
                <a:ea typeface="Arial"/>
                <a:cs typeface="Arial"/>
              </a:defRPr>
            </a:pPr>
            <a:r>
              <a:rPr sz="1125" i="1">
                <a:solidFill>
                  <a:srgbClr val="52606D"/>
                </a:solidFill>
                <a:latin typeface="Arial"/>
                <a:ea typeface="Arial"/>
                <a:cs typeface="Arial"/>
              </a:rPr>
              <a:t>Efficiency relies on a two-server non-collusion model [18].</a:t>
            </a:r>
          </a:p>
        </p:txBody>
      </p:sp>
      <p:sp>
        <p:nvSpPr>
          <p:cNvPr id="249" name="related-comparison-cover">
            <a:extLst xmlns:a="http://schemas.openxmlformats.org/drawingml/2006/main">
              <a:ext uri="{FF2B5EF4-FFF2-40B4-BE49-F238E27FC236}">
                <a16:creationId xmlns:a16="http://schemas.microsoft.com/office/drawing/2014/main" id="{E3799B93-7326-4544-B17C-639EED2DC534}"/>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0" name="related-comparison-caption">
            <a:extLst xmlns:a="http://schemas.openxmlformats.org/drawingml/2006/main">
              <a:ext uri="{FF2B5EF4-FFF2-40B4-BE49-F238E27FC236}">
                <a16:creationId xmlns:a16="http://schemas.microsoft.com/office/drawing/2014/main" id="{D5E7070B-AA26-4FD4-82E8-7DFB674D4BD6}"/>
              </a:ext>
            </a:extLst>
          </p:cNvPr>
          <p:cNvSpPr>
            <a:spLocks xmlns:a="http://schemas.openxmlformats.org/drawingml/2006/main" noGrp="1"/>
          </p:cNvSpPr>
          <p:nvPr/>
        </p:nvSpPr>
        <p:spPr>
          <a:xfrm xmlns:a="http://schemas.openxmlformats.org/drawingml/2006/main">
            <a:off x="904875" y="11430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350" i="1">
                <a:solidFill>
                  <a:srgbClr val="1E3A5F"/>
                </a:solidFill>
                <a:latin typeface="Arial"/>
                <a:ea typeface="Arial"/>
                <a:cs typeface="Arial"/>
              </a:defRPr>
            </a:pPr>
            <a:r>
              <a:rPr sz="1350" i="1">
                <a:solidFill>
                  <a:srgbClr val="1E3A5F"/>
                </a:solidFill>
                <a:latin typeface="Arial"/>
                <a:ea typeface="Arial"/>
                <a:cs typeface="Arial"/>
              </a:rPr>
              <a:t>TABLE I. Comparison of the closest privacy-preserving federated-learning studies</a:t>
            </a:r>
          </a:p>
        </p:txBody>
      </p:sp>
      <p:graphicFrame>
        <p:nvGraphicFramePr>
          <p:cNvPr id="291" name="Table 291"/>
          <p:cNvGraphicFramePr/>
          <p:nvPr/>
        </p:nvGraphicFramePr>
        <p:xfrm>
          <a:off xmlns:a="http://schemas.openxmlformats.org/drawingml/2006/main" x="523875" y="1524000"/>
          <a:ext xmlns:a="http://schemas.openxmlformats.org/drawingml/2006/main" cx="11144250" cy="4000500"/>
        </p:xfrm>
        <a:graphic xmlns:a="http://schemas.openxmlformats.org/drawingml/2006/main">
          <a:graphicData uri="http://schemas.openxmlformats.org/drawingml/2006/table">
            <a:tbl>
              <a:tblPr firstRow="1" bandRow="1"/>
              <a:tblGrid>
                <a:gridCol w="1666875"/>
                <a:gridCol w="742950"/>
                <a:gridCol w="2143125"/>
                <a:gridCol w="3190875"/>
                <a:gridCol w="3400425"/>
              </a:tblGrid>
              <a:tr h="666750">
                <a:tc>
                  <a:txBody>
                    <a:bodyPr/>
                    <a:lstStyle/>
                    <a:p>
                      <a:r>
                        <a:rPr sz="1163" b="1">
                          <a:solidFill>
                            <a:srgbClr val="FFFFFF"/>
                          </a:solidFill>
                          <a:latin typeface="Arial"/>
                          <a:ea typeface="Arial"/>
                          <a:cs typeface="Arial"/>
                        </a:rPr>
                        <a:t>Study</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Year</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Method</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Main contribution</a:t>
                      </a:r>
                    </a:p>
                  </a:txBody>
                  <a:tcPr marL="57150" marR="57150" marT="38100" marB="38100" anchor="ctr">
                    <a:solidFill>
                      <a:srgbClr val="1E3A5F"/>
                    </a:solidFill>
                  </a:tcPr>
                </a:tc>
                <a:tc>
                  <a:txBody>
                    <a:bodyPr/>
                    <a:lstStyle/>
                    <a:p>
                      <a:r>
                        <a:rPr sz="1163" b="1">
                          <a:solidFill>
                            <a:srgbClr val="FFFFFF"/>
                          </a:solidFill>
                          <a:latin typeface="Arial"/>
                          <a:ea typeface="Arial"/>
                          <a:cs typeface="Arial"/>
                        </a:rPr>
                        <a:t>Limitation relative to this thesis</a:t>
                      </a:r>
                    </a:p>
                  </a:txBody>
                  <a:tcPr marL="57150" marR="57150" marT="38100" marB="38100" anchor="ctr">
                    <a:solidFill>
                      <a:srgbClr val="1E3A5F"/>
                    </a:solidFill>
                  </a:tcPr>
                </a:tc>
              </a:tr>
              <a:tr h="666750">
                <a:tc>
                  <a:txBody>
                    <a:bodyPr/>
                    <a:lstStyle/>
                    <a:p>
                      <a:r>
                        <a:rPr sz="1110" b="1">
                          <a:solidFill>
                            <a:srgbClr val="1E3A5F"/>
                          </a:solidFill>
                          <a:latin typeface="Arial"/>
                          <a:ea typeface="Arial"/>
                          <a:cs typeface="Arial"/>
                        </a:rPr>
                        <a:t>Stevens et al.</a:t>
                      </a:r>
                    </a:p>
                    <a:p>
                      <a:r>
                        <a:rPr sz="1110" b="1">
                          <a:solidFill>
                            <a:srgbClr val="1E3A5F"/>
                          </a:solidFill>
                          <a:latin typeface="Arial"/>
                          <a:ea typeface="Arial"/>
                          <a:cs typeface="Arial"/>
                        </a:rPr>
                        <a:t>FLDP [11]</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2022</a:t>
                      </a:r>
                    </a:p>
                  </a:txBody>
                  <a:tcPr marL="57150" marR="57150" marT="38100" marB="38100" anchor="ctr">
                    <a:solidFill>
                      <a:srgbClr val="F2F5F7"/>
                    </a:solidFill>
                  </a:tcPr>
                </a:tc>
                <a:tc>
                  <a:txBody>
                    <a:bodyPr/>
                    <a:lstStyle/>
                    <a:p>
                      <a:r>
                        <a:rPr sz="1110">
                          <a:solidFill>
                            <a:srgbClr val="1F2937"/>
                          </a:solidFill>
                          <a:latin typeface="Arial"/>
                          <a:ea typeface="Arial"/>
                          <a:cs typeface="Arial"/>
                        </a:rPr>
                        <a:t>LWE secure aggregation with distributed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Malicious-secure private aggregation with measured communication and server cost</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poisoning defence; non-clinical benchmarks and a different cryptographic path</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Froelicher et al.</a:t>
                      </a:r>
                    </a:p>
                    <a:p>
                      <a:r>
                        <a:rPr sz="1110" b="1">
                          <a:solidFill>
                            <a:srgbClr val="1E3A5F"/>
                          </a:solidFill>
                          <a:latin typeface="Arial"/>
                          <a:ea typeface="Arial"/>
                          <a:cs typeface="Arial"/>
                        </a:rPr>
                        <a:t>FAMHE [12]</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2021</a:t>
                      </a:r>
                    </a:p>
                  </a:txBody>
                  <a:tcPr marL="57150" marR="57150" marT="38100" marB="38100" anchor="ctr">
                    <a:solidFill>
                      <a:srgbClr val="F2F5F7"/>
                    </a:solidFill>
                  </a:tcPr>
                </a:tc>
                <a:tc>
                  <a:txBody>
                    <a:bodyPr/>
                    <a:lstStyle/>
                    <a:p>
                      <a:r>
                        <a:rPr sz="1110">
                          <a:solidFill>
                            <a:srgbClr val="1F2937"/>
                          </a:solidFill>
                          <a:latin typeface="Arial"/>
                          <a:ea typeface="Arial"/>
                          <a:cs typeface="Arial"/>
                        </a:rPr>
                        <a:t>Multiparty homomorphic encryption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Protected biomedical survival and genomic analytics without a central decryptor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Not iterative neural FL; no adaptive compression or poisoning evaluation</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Xu et al.</a:t>
                      </a:r>
                    </a:p>
                    <a:p>
                      <a:r>
                        <a:rPr sz="1110" b="1">
                          <a:solidFill>
                            <a:srgbClr val="1E3A5F"/>
                          </a:solidFill>
                          <a:latin typeface="Arial"/>
                          <a:ea typeface="Arial"/>
                          <a:cs typeface="Arial"/>
                        </a:rPr>
                        <a:t>DDFed [16]</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2024</a:t>
                      </a:r>
                    </a:p>
                  </a:txBody>
                  <a:tcPr marL="57150" marR="57150" marT="38100" marB="38100" anchor="ctr">
                    <a:solidFill>
                      <a:srgbClr val="F2F5F7"/>
                    </a:solidFill>
                  </a:tcPr>
                </a:tc>
                <a:tc>
                  <a:txBody>
                    <a:bodyPr/>
                    <a:lstStyle/>
                    <a:p>
                      <a:r>
                        <a:rPr sz="1110">
                          <a:solidFill>
                            <a:srgbClr val="1F2937"/>
                          </a:solidFill>
                          <a:latin typeface="Arial"/>
                          <a:ea typeface="Arial"/>
                          <a:cs typeface="Arial"/>
                        </a:rPr>
                        <a:t>FHE with encrypted anomaly detection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update confidentiality with poisoning detection in cross-device and cross-silo FL</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formal record-level DP, ciphertext-aware compression, or external governance</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Gu et al.</a:t>
                      </a:r>
                    </a:p>
                    <a:p>
                      <a:r>
                        <a:rPr sz="1110" b="1">
                          <a:solidFill>
                            <a:srgbClr val="1E3A5F"/>
                          </a:solidFill>
                          <a:latin typeface="Arial"/>
                          <a:ea typeface="Arial"/>
                          <a:cs typeface="Arial"/>
                        </a:rPr>
                        <a:t>DP-BREM+ [17]</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Secure aggregation, client momentum, and DP</a:t>
                      </a:r>
                    </a:p>
                  </a:txBody>
                  <a:tcPr marL="57150" marR="57150" marT="38100" marB="38100" anchor="ctr">
                    <a:solidFill>
                      <a:srgbClr val="FFFFFF"/>
                    </a:solidFill>
                  </a:tcPr>
                </a:tc>
                <a:tc>
                  <a:txBody>
                    <a:bodyPr/>
                    <a:lstStyle/>
                    <a:p>
                      <a:r>
                        <a:rPr sz="1110">
                          <a:solidFill>
                            <a:srgbClr val="1F2937"/>
                          </a:solidFill>
                          <a:latin typeface="Arial"/>
                          <a:ea typeface="Arial"/>
                          <a:cs typeface="Arial"/>
                        </a:rPr>
                        <a:t>Combines formal privacy and Byzantine robustness without a trusted server</a:t>
                      </a:r>
                    </a:p>
                  </a:txBody>
                  <a:tcPr marL="57150" marR="57150" marT="38100" marB="38100" anchor="ctr">
                    <a:solidFill>
                      <a:srgbClr val="FFFFFF"/>
                    </a:solidFill>
                  </a:tcPr>
                </a:tc>
                <a:tc>
                  <a:txBody>
                    <a:bodyPr/>
                    <a:lstStyle/>
                    <a:p>
                      <a:r>
                        <a:rPr sz="1110">
                          <a:solidFill>
                            <a:srgbClr val="1F2937"/>
                          </a:solidFill>
                          <a:latin typeface="Arial"/>
                          <a:ea typeface="Arial"/>
                          <a:cs typeface="Arial"/>
                        </a:rPr>
                        <a:t>No encrypted wire-reduction method, clinical cohort, or external audit ledger</a:t>
                      </a:r>
                    </a:p>
                  </a:txBody>
                  <a:tcPr marL="57150" marR="57150" marT="38100" marB="38100" anchor="ctr">
                    <a:solidFill>
                      <a:srgbClr val="FFFFFF"/>
                    </a:solidFill>
                  </a:tcPr>
                </a:tc>
              </a:tr>
              <a:tr h="666750">
                <a:tc>
                  <a:txBody>
                    <a:bodyPr/>
                    <a:lstStyle/>
                    <a:p>
                      <a:r>
                        <a:rPr sz="1110" b="1">
                          <a:solidFill>
                            <a:srgbClr val="1E3A5F"/>
                          </a:solidFill>
                          <a:latin typeface="Arial"/>
                          <a:ea typeface="Arial"/>
                          <a:cs typeface="Arial"/>
                        </a:rPr>
                        <a:t>Asi et al.</a:t>
                      </a:r>
                    </a:p>
                    <a:p>
                      <a:r>
                        <a:rPr sz="1110" b="1">
                          <a:solidFill>
                            <a:srgbClr val="1E3A5F"/>
                          </a:solidFill>
                          <a:latin typeface="Arial"/>
                          <a:ea typeface="Arial"/>
                          <a:cs typeface="Arial"/>
                        </a:rPr>
                        <a:t>PREAMBLE [18]</a:t>
                      </a:r>
                    </a:p>
                  </a:txBody>
                  <a:tcPr marL="57150" marR="57150" marT="38100" marB="38100" anchor="ctr">
                    <a:solidFill>
                      <a:srgbClr val="EAF4F8"/>
                    </a:solidFill>
                  </a:tcPr>
                </a:tc>
                <a:tc>
                  <a:txBody>
                    <a:bodyPr/>
                    <a:lstStyle/>
                    <a:p>
                      <a:r>
                        <a:rPr sz="1110">
                          <a:solidFill>
                            <a:srgbClr val="1F2937"/>
                          </a:solidFill>
                          <a:latin typeface="Arial"/>
                          <a:ea typeface="Arial"/>
                          <a:cs typeface="Arial"/>
                        </a:rPr>
                        <a:t>2025</a:t>
                      </a:r>
                    </a:p>
                  </a:txBody>
                  <a:tcPr marL="57150" marR="57150" marT="38100" marB="38100" anchor="ctr">
                    <a:solidFill>
                      <a:srgbClr val="F2F5F7"/>
                    </a:solidFill>
                  </a:tcPr>
                </a:tc>
                <a:tc>
                  <a:txBody>
                    <a:bodyPr/>
                    <a:lstStyle/>
                    <a:p>
                      <a:r>
                        <a:rPr sz="1110">
                          <a:solidFill>
                            <a:srgbClr val="1F2937"/>
                          </a:solidFill>
                          <a:latin typeface="Arial"/>
                          <a:ea typeface="Arial"/>
                          <a:cs typeface="Arial"/>
                        </a:rPr>
                        <a:t>Two-server block-sparse private aggregation</a:t>
                      </a:r>
                    </a:p>
                  </a:txBody>
                  <a:tcPr marL="57150" marR="57150" marT="38100" marB="38100" anchor="ctr">
                    <a:solidFill>
                      <a:srgbClr val="FFFFFF"/>
                    </a:solidFill>
                  </a:tcPr>
                </a:tc>
                <a:tc>
                  <a:txBody>
                    <a:bodyPr/>
                    <a:lstStyle/>
                    <a:p>
                      <a:r>
                        <a:rPr sz="1110">
                          <a:solidFill>
                            <a:srgbClr val="1F2937"/>
                          </a:solidFill>
                          <a:latin typeface="Arial"/>
                          <a:ea typeface="Arial"/>
                          <a:cs typeface="Arial"/>
                        </a:rPr>
                        <a:t>Co-designs block sparsity and protected transport for high-dimensional vectors</a:t>
                      </a:r>
                    </a:p>
                  </a:txBody>
                  <a:tcPr marL="57150" marR="57150" marT="38100" marB="38100" anchor="ctr">
                    <a:solidFill>
                      <a:srgbClr val="FFFFFF"/>
                    </a:solidFill>
                  </a:tcPr>
                </a:tc>
                <a:tc>
                  <a:txBody>
                    <a:bodyPr/>
                    <a:lstStyle/>
                    <a:p>
                      <a:r>
                        <a:rPr sz="1110">
                          <a:solidFill>
                            <a:srgbClr val="1F2937"/>
                          </a:solidFill>
                          <a:latin typeface="Arial"/>
                          <a:ea typeface="Arial"/>
                          <a:cs typeface="Arial"/>
                        </a:rPr>
                        <a:t>Requires non-colluding servers; no poisoning or end-to-end clinical FL</a:t>
                      </a:r>
                    </a:p>
                  </a:txBody>
                  <a:tcPr marL="57150" marR="57150" marT="38100" marB="38100" anchor="ctr">
                    <a:solidFill>
                      <a:srgbClr val="FFFFFF"/>
                    </a:solidFill>
                  </a:tcPr>
                </a:tc>
              </a:tr>
            </a:tbl>
          </a:graphicData>
        </a:graphic>
      </p:graphicFrame>
      <p:sp>
        <p:nvSpPr>
          <p:cNvPr id="252" name="related-comparison-note">
            <a:extLst xmlns:a="http://schemas.openxmlformats.org/drawingml/2006/main">
              <a:ext uri="{FF2B5EF4-FFF2-40B4-BE49-F238E27FC236}">
                <a16:creationId xmlns:a16="http://schemas.microsoft.com/office/drawing/2014/main" id="{EEA77285-8E95-45D8-AA77-13B2B157C036}"/>
              </a:ext>
            </a:extLst>
          </p:cNvPr>
          <p:cNvSpPr>
            <a:spLocks xmlns:a="http://schemas.openxmlformats.org/drawingml/2006/main" noGrp="1"/>
          </p:cNvSpPr>
          <p:nvPr/>
        </p:nvSpPr>
        <p:spPr>
          <a:xfrm xmlns:a="http://schemas.openxmlformats.org/drawingml/2006/main">
            <a:off x="904875" y="5667375"/>
            <a:ext cx="1038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52606D"/>
                </a:solidFill>
                <a:latin typeface="Arial"/>
                <a:ea typeface="Arial"/>
                <a:cs typeface="Arial"/>
              </a:defRPr>
            </a:pPr>
            <a:r>
              <a:rPr sz="1163" i="1">
                <a:solidFill>
                  <a:srgbClr val="52606D"/>
                </a:solidFill>
                <a:latin typeface="Arial"/>
                <a:ea typeface="Arial"/>
                <a:cs typeface="Arial"/>
              </a:rPr>
              <a:t>The studies use different datasets, privacy definitions, and threat models; the table compares scope rather than rank.</a:t>
            </a:r>
          </a:p>
        </p:txBody>
      </p:sp>
      <p:sp>
        <p:nvSpPr>
          <p:cNvPr id="254" name="related-comparison-footer-rule">
            <a:extLst xmlns:a="http://schemas.openxmlformats.org/drawingml/2006/main">
              <a:ext uri="{FF2B5EF4-FFF2-40B4-BE49-F238E27FC236}">
                <a16:creationId xmlns:a16="http://schemas.microsoft.com/office/drawing/2014/main" id="{509A58D0-ABF3-4437-85DF-C353E9E73395}"/>
              </a:ext>
            </a:extLst>
          </p:cNvPr>
          <p:cNvSpPr>
            <a:spLocks xmlns:a="http://schemas.openxmlformats.org/drawingml/2006/main" noGrp="1"/>
          </p:cNvSpPr>
          <p:nvPr/>
        </p:nvSpPr>
        <p:spPr>
          <a:xfrm xmlns:a="http://schemas.openxmlformats.org/drawingml/2006/main">
            <a:off x="343879" y="6015037"/>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pic>
        <p:nvPicPr>
          <p:cNvPr id="294" name="Picture 295"/>
          <p:cNvPicPr>
            <a:picLocks xmlns:a="http://schemas.openxmlformats.org/drawingml/2006/main" noChangeAspect="1"/>
          </p:cNvPicPr>
          <p:nvPr/>
        </p:nvPicPr>
        <p:blipFill>
          <a:blip xmlns:r="http://schemas.openxmlformats.org/officeDocument/2006/relationships" xmlns:a="http://schemas.openxmlformats.org/drawingml/2006/main" r:embed="Re2926db6cd754ce1"/>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95" name="Picture 296"/>
          <p:cNvPicPr>
            <a:picLocks xmlns:a="http://schemas.openxmlformats.org/drawingml/2006/main" noChangeAspect="1"/>
          </p:cNvPicPr>
          <p:nvPr/>
        </p:nvPicPr>
        <p:blipFill>
          <a:blip xmlns:r="http://schemas.openxmlformats.org/officeDocument/2006/relationships" xmlns:a="http://schemas.openxmlformats.org/drawingml/2006/main" r:embed="R685bdb932b4047e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57" name="related-comparison-date">
            <a:extLst xmlns:a="http://schemas.openxmlformats.org/drawingml/2006/main">
              <a:ext uri="{FF2B5EF4-FFF2-40B4-BE49-F238E27FC236}">
                <a16:creationId xmlns:a16="http://schemas.microsoft.com/office/drawing/2014/main" id="{11BFE405-CAC3-4071-8F9F-2AD117222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buNone/>
              <a:defRPr sz="900">
                <a:solidFill>
                  <a:srgbClr val="1E3A5F"/>
                </a:solidFill>
                <a:latin typeface="Arial"/>
                <a:ea typeface="Arial"/>
                <a:cs typeface="Arial"/>
              </a:defRPr>
            </a:pPr>
            <a:r>
              <a:rPr sz="900">
                <a:solidFill>
                  <a:srgbClr val="1E3A5F"/>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f1a04076d234ba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40d700d01ab46c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chrome-title-16">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Conceptual Framework</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16</a:t>
            </a:r>
            <a:endParaRPr sz="2800"/>
          </a:p>
        </p:txBody>
      </p:sp>
      <p:pic>
        <p:nvPicPr>
          <p:cNvPr id="41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a487ea93407400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1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9e97ea7e1e412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7" name="conceptual-framework-content-cover">
            <a:extLst xmlns:a="http://schemas.openxmlformats.org/drawingml/2006/main">
              <a:ext uri="{FF2B5EF4-FFF2-40B4-BE49-F238E27FC236}">
                <a16:creationId xmlns:a16="http://schemas.microsoft.com/office/drawing/2014/main" id="{96288690-7E6F-43DB-B354-2B1AEDCC0CAF}"/>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28" name="conceptual-framework-subtitle">
            <a:extLst xmlns:a="http://schemas.openxmlformats.org/drawingml/2006/main">
              <a:ext uri="{FF2B5EF4-FFF2-40B4-BE49-F238E27FC236}">
                <a16:creationId xmlns:a16="http://schemas.microsoft.com/office/drawing/2014/main" id="{95AFBCF6-6857-4EBC-B361-C0A3164B5B85}"/>
              </a:ext>
            </a:extLst>
          </p:cNvPr>
          <p:cNvSpPr>
            <a:spLocks xmlns:a="http://schemas.openxmlformats.org/drawingml/2006/main" noGrp="1"/>
          </p:cNvSpPr>
          <p:nvPr/>
        </p:nvSpPr>
        <p:spPr>
          <a:xfrm xmlns:a="http://schemas.openxmlformats.org/drawingml/2006/main">
            <a:off x="1381125" y="1190625"/>
            <a:ext cx="942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00" i="1">
                <a:solidFill>
                  <a:srgbClr val="5B677A"/>
                </a:solidFill>
                <a:latin typeface="Arial"/>
                <a:ea typeface="Arial"/>
                <a:cs typeface="Arial"/>
              </a:defRPr>
            </a:pPr>
            <a:r>
              <a:rPr sz="1200" i="1">
                <a:solidFill>
                  <a:srgbClr val="5B677A"/>
                </a:solidFill>
                <a:latin typeface="Arial"/>
                <a:ea typeface="Arial"/>
                <a:cs typeface="Arial"/>
              </a:rPr>
              <a:t>Conceptual relationship between the research problem, integrated controls, collaboration process and evaluation outcomes</a:t>
            </a:r>
          </a:p>
        </p:txBody>
      </p:sp>
      <p:sp>
        <p:nvSpPr>
          <p:cNvPr id="229" name="framework-context-box">
            <a:extLst xmlns:a="http://schemas.openxmlformats.org/drawingml/2006/main">
              <a:ext uri="{FF2B5EF4-FFF2-40B4-BE49-F238E27FC236}">
                <a16:creationId xmlns:a16="http://schemas.microsoft.com/office/drawing/2014/main" id="{3B658E35-1310-4B15-8AFF-3E603B55CE5F}"/>
              </a:ext>
            </a:extLst>
          </p:cNvPr>
          <p:cNvSpPr>
            <a:spLocks xmlns:a="http://schemas.openxmlformats.org/drawingml/2006/main" noGrp="1"/>
          </p:cNvSpPr>
          <p:nvPr/>
        </p:nvSpPr>
        <p:spPr>
          <a:xfrm xmlns:a="http://schemas.openxmlformats.org/drawingml/2006/main">
            <a:off x="714375" y="1762125"/>
            <a:ext cx="2286000" cy="1885950"/>
          </a:xfrm>
          <a:prstGeom xmlns:a="http://schemas.openxmlformats.org/drawingml/2006/main" prst="roundRect">
            <a:avLst>
              <a:gd name="adj" fmla="val 4040"/>
            </a:avLst>
          </a:prstGeom>
          <a:solidFill xmlns:a="http://schemas.openxmlformats.org/drawingml/2006/main">
            <a:srgbClr val="EEF4FA"/>
          </a:solidFill>
          <a:ln xmlns:a="http://schemas.openxmlformats.org/drawingml/2006/main" w="16193">
            <a:solidFill>
              <a:srgbClr val="2E75B6"/>
            </a:solidFill>
          </a:ln>
        </p:spPr>
      </p:sp>
      <p:sp>
        <p:nvSpPr>
          <p:cNvPr id="230" name="framework-context-accent">
            <a:extLst xmlns:a="http://schemas.openxmlformats.org/drawingml/2006/main">
              <a:ext uri="{FF2B5EF4-FFF2-40B4-BE49-F238E27FC236}">
                <a16:creationId xmlns:a16="http://schemas.microsoft.com/office/drawing/2014/main" id="{D4A4FBCD-7904-4E90-B778-C061EAC28D10}"/>
              </a:ext>
            </a:extLst>
          </p:cNvPr>
          <p:cNvSpPr>
            <a:spLocks xmlns:a="http://schemas.openxmlformats.org/drawingml/2006/main" noGrp="1"/>
          </p:cNvSpPr>
          <p:nvPr/>
        </p:nvSpPr>
        <p:spPr>
          <a:xfrm xmlns:a="http://schemas.openxmlformats.org/drawingml/2006/main">
            <a:off x="714375" y="1762125"/>
            <a:ext cx="2286000" cy="409575"/>
          </a:xfrm>
          <a:prstGeom xmlns:a="http://schemas.openxmlformats.org/drawingml/2006/main" prst="rect">
            <a:avLst/>
          </a:prstGeom>
          <a:solidFill xmlns:a="http://schemas.openxmlformats.org/drawingml/2006/main">
            <a:srgbClr val="2E75B6"/>
          </a:solidFill>
          <a:ln xmlns:a="http://schemas.openxmlformats.org/drawingml/2006/main" w="0">
            <a:noFill/>
          </a:ln>
        </p:spPr>
      </p:sp>
      <p:sp>
        <p:nvSpPr>
          <p:cNvPr id="231" name="framework-context-title">
            <a:extLst xmlns:a="http://schemas.openxmlformats.org/drawingml/2006/main">
              <a:ext uri="{FF2B5EF4-FFF2-40B4-BE49-F238E27FC236}">
                <a16:creationId xmlns:a16="http://schemas.microsoft.com/office/drawing/2014/main" id="{E2C47E08-7616-4859-BCE8-E12FC18382B8}"/>
              </a:ext>
            </a:extLst>
          </p:cNvPr>
          <p:cNvSpPr>
            <a:spLocks xmlns:a="http://schemas.openxmlformats.org/drawingml/2006/main" noGrp="1"/>
          </p:cNvSpPr>
          <p:nvPr/>
        </p:nvSpPr>
        <p:spPr>
          <a:xfrm xmlns:a="http://schemas.openxmlformats.org/drawingml/2006/main">
            <a:off x="80962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Research context</a:t>
            </a:r>
          </a:p>
        </p:txBody>
      </p:sp>
      <p:sp>
        <p:nvSpPr>
          <p:cNvPr id="232" name="framework-context-body">
            <a:extLst xmlns:a="http://schemas.openxmlformats.org/drawingml/2006/main">
              <a:ext uri="{FF2B5EF4-FFF2-40B4-BE49-F238E27FC236}">
                <a16:creationId xmlns:a16="http://schemas.microsoft.com/office/drawing/2014/main" id="{4C225EF8-BACD-402B-9AF5-AEB7E591762B}"/>
              </a:ext>
            </a:extLst>
          </p:cNvPr>
          <p:cNvSpPr>
            <a:spLocks xmlns:a="http://schemas.openxmlformats.org/drawingml/2006/main" noGrp="1"/>
          </p:cNvSpPr>
          <p:nvPr/>
        </p:nvSpPr>
        <p:spPr>
          <a:xfrm xmlns:a="http://schemas.openxmlformats.org/drawingml/2006/main">
            <a:off x="86677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Distributed hospital data</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Non-IID client partitions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and poisoning threats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High encrypted communication cost</a:t>
            </a:r>
          </a:p>
        </p:txBody>
      </p:sp>
      <p:sp>
        <p:nvSpPr>
          <p:cNvPr id="233" name="framework-intervention-box">
            <a:extLst xmlns:a="http://schemas.openxmlformats.org/drawingml/2006/main">
              <a:ext uri="{FF2B5EF4-FFF2-40B4-BE49-F238E27FC236}">
                <a16:creationId xmlns:a16="http://schemas.microsoft.com/office/drawing/2014/main" id="{5F8C42AB-3F4F-4105-B15E-5AF572B806B6}"/>
              </a:ext>
            </a:extLst>
          </p:cNvPr>
          <p:cNvSpPr>
            <a:spLocks xmlns:a="http://schemas.openxmlformats.org/drawingml/2006/main" noGrp="1"/>
          </p:cNvSpPr>
          <p:nvPr/>
        </p:nvSpPr>
        <p:spPr>
          <a:xfrm xmlns:a="http://schemas.openxmlformats.org/drawingml/2006/main">
            <a:off x="3524250" y="1762125"/>
            <a:ext cx="2286000" cy="1885950"/>
          </a:xfrm>
          <a:prstGeom xmlns:a="http://schemas.openxmlformats.org/drawingml/2006/main" prst="roundRect">
            <a:avLst>
              <a:gd name="adj" fmla="val 4040"/>
            </a:avLst>
          </a:prstGeom>
          <a:solidFill xmlns:a="http://schemas.openxmlformats.org/drawingml/2006/main">
            <a:srgbClr val="EBF7F2"/>
          </a:solidFill>
          <a:ln xmlns:a="http://schemas.openxmlformats.org/drawingml/2006/main" w="16193">
            <a:solidFill>
              <a:srgbClr val="008A46"/>
            </a:solidFill>
          </a:ln>
        </p:spPr>
      </p:sp>
      <p:sp>
        <p:nvSpPr>
          <p:cNvPr id="234" name="framework-intervention-accent">
            <a:extLst xmlns:a="http://schemas.openxmlformats.org/drawingml/2006/main">
              <a:ext uri="{FF2B5EF4-FFF2-40B4-BE49-F238E27FC236}">
                <a16:creationId xmlns:a16="http://schemas.microsoft.com/office/drawing/2014/main" id="{779CD5EF-DFD1-422F-985C-3CBE83E6AB7E}"/>
              </a:ext>
            </a:extLst>
          </p:cNvPr>
          <p:cNvSpPr>
            <a:spLocks xmlns:a="http://schemas.openxmlformats.org/drawingml/2006/main" noGrp="1"/>
          </p:cNvSpPr>
          <p:nvPr/>
        </p:nvSpPr>
        <p:spPr>
          <a:xfrm xmlns:a="http://schemas.openxmlformats.org/drawingml/2006/main">
            <a:off x="3524250" y="1762125"/>
            <a:ext cx="2286000" cy="409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35" name="framework-intervention-title">
            <a:extLst xmlns:a="http://schemas.openxmlformats.org/drawingml/2006/main">
              <a:ext uri="{FF2B5EF4-FFF2-40B4-BE49-F238E27FC236}">
                <a16:creationId xmlns:a16="http://schemas.microsoft.com/office/drawing/2014/main" id="{73EB110A-BAB9-49D9-ADFB-1358A9ECA51A}"/>
              </a:ext>
            </a:extLst>
          </p:cNvPr>
          <p:cNvSpPr>
            <a:spLocks xmlns:a="http://schemas.openxmlformats.org/drawingml/2006/main" noGrp="1"/>
          </p:cNvSpPr>
          <p:nvPr/>
        </p:nvSpPr>
        <p:spPr>
          <a:xfrm xmlns:a="http://schemas.openxmlformats.org/drawingml/2006/main">
            <a:off x="361950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Hybrid intervention</a:t>
            </a:r>
          </a:p>
        </p:txBody>
      </p:sp>
      <p:sp>
        <p:nvSpPr>
          <p:cNvPr id="236" name="framework-intervention-body">
            <a:extLst xmlns:a="http://schemas.openxmlformats.org/drawingml/2006/main">
              <a:ext uri="{FF2B5EF4-FFF2-40B4-BE49-F238E27FC236}">
                <a16:creationId xmlns:a16="http://schemas.microsoft.com/office/drawing/2014/main" id="{40C6F4B1-4BE5-4BE2-AC95-342C5A09A6F8}"/>
              </a:ext>
            </a:extLst>
          </p:cNvPr>
          <p:cNvSpPr>
            <a:spLocks xmlns:a="http://schemas.openxmlformats.org/drawingml/2006/main" noGrp="1"/>
          </p:cNvSpPr>
          <p:nvPr/>
        </p:nvSpPr>
        <p:spPr>
          <a:xfrm xmlns:a="http://schemas.openxmlformats.org/drawingml/2006/main">
            <a:off x="367665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Record-level differential privacy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CAABC-FL block compression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CKKS-protected updates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and audit governance</a:t>
            </a:r>
          </a:p>
        </p:txBody>
      </p:sp>
      <p:sp>
        <p:nvSpPr>
          <p:cNvPr id="237" name="framework-process-box">
            <a:extLst xmlns:a="http://schemas.openxmlformats.org/drawingml/2006/main">
              <a:ext uri="{FF2B5EF4-FFF2-40B4-BE49-F238E27FC236}">
                <a16:creationId xmlns:a16="http://schemas.microsoft.com/office/drawing/2014/main" id="{55EA8B73-4B99-4BB8-AD38-52D3C83A49D2}"/>
              </a:ext>
            </a:extLst>
          </p:cNvPr>
          <p:cNvSpPr>
            <a:spLocks xmlns:a="http://schemas.openxmlformats.org/drawingml/2006/main" noGrp="1"/>
          </p:cNvSpPr>
          <p:nvPr/>
        </p:nvSpPr>
        <p:spPr>
          <a:xfrm xmlns:a="http://schemas.openxmlformats.org/drawingml/2006/main">
            <a:off x="6334125" y="1762125"/>
            <a:ext cx="2286000" cy="1885950"/>
          </a:xfrm>
          <a:prstGeom xmlns:a="http://schemas.openxmlformats.org/drawingml/2006/main" prst="roundRect">
            <a:avLst>
              <a:gd name="adj" fmla="val 4040"/>
            </a:avLst>
          </a:prstGeom>
          <a:solidFill xmlns:a="http://schemas.openxmlformats.org/drawingml/2006/main">
            <a:srgbClr val="EFF8F7"/>
          </a:solidFill>
          <a:ln xmlns:a="http://schemas.openxmlformats.org/drawingml/2006/main" w="16193">
            <a:solidFill>
              <a:srgbClr val="2F807B"/>
            </a:solidFill>
          </a:ln>
        </p:spPr>
      </p:sp>
      <p:sp>
        <p:nvSpPr>
          <p:cNvPr id="238" name="framework-process-accent">
            <a:extLst xmlns:a="http://schemas.openxmlformats.org/drawingml/2006/main">
              <a:ext uri="{FF2B5EF4-FFF2-40B4-BE49-F238E27FC236}">
                <a16:creationId xmlns:a16="http://schemas.microsoft.com/office/drawing/2014/main" id="{73085FC3-06C2-415B-BB13-957A3C463D6F}"/>
              </a:ext>
            </a:extLst>
          </p:cNvPr>
          <p:cNvSpPr>
            <a:spLocks xmlns:a="http://schemas.openxmlformats.org/drawingml/2006/main" noGrp="1"/>
          </p:cNvSpPr>
          <p:nvPr/>
        </p:nvSpPr>
        <p:spPr>
          <a:xfrm xmlns:a="http://schemas.openxmlformats.org/drawingml/2006/main">
            <a:off x="6334125" y="1762125"/>
            <a:ext cx="2286000" cy="409575"/>
          </a:xfrm>
          <a:prstGeom xmlns:a="http://schemas.openxmlformats.org/drawingml/2006/main" prst="rect">
            <a:avLst/>
          </a:prstGeom>
          <a:solidFill xmlns:a="http://schemas.openxmlformats.org/drawingml/2006/main">
            <a:srgbClr val="2F807B"/>
          </a:solidFill>
          <a:ln xmlns:a="http://schemas.openxmlformats.org/drawingml/2006/main" w="0">
            <a:noFill/>
          </a:ln>
        </p:spPr>
      </p:sp>
      <p:sp>
        <p:nvSpPr>
          <p:cNvPr id="239" name="framework-process-title">
            <a:extLst xmlns:a="http://schemas.openxmlformats.org/drawingml/2006/main">
              <a:ext uri="{FF2B5EF4-FFF2-40B4-BE49-F238E27FC236}">
                <a16:creationId xmlns:a16="http://schemas.microsoft.com/office/drawing/2014/main" id="{AA9562BE-DE76-43CC-BE42-00230C2F90AA}"/>
              </a:ext>
            </a:extLst>
          </p:cNvPr>
          <p:cNvSpPr>
            <a:spLocks xmlns:a="http://schemas.openxmlformats.org/drawingml/2006/main" noGrp="1"/>
          </p:cNvSpPr>
          <p:nvPr/>
        </p:nvSpPr>
        <p:spPr>
          <a:xfrm xmlns:a="http://schemas.openxmlformats.org/drawingml/2006/main">
            <a:off x="6429375"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42"/>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Collaboration process</a:t>
            </a:r>
          </a:p>
        </p:txBody>
      </p:sp>
      <p:sp>
        <p:nvSpPr>
          <p:cNvPr id="240" name="framework-process-body">
            <a:extLst xmlns:a="http://schemas.openxmlformats.org/drawingml/2006/main">
              <a:ext uri="{FF2B5EF4-FFF2-40B4-BE49-F238E27FC236}">
                <a16:creationId xmlns:a16="http://schemas.microsoft.com/office/drawing/2014/main" id="{EEE3B869-7708-4F8C-8BBE-DA23BAB5C6C2}"/>
              </a:ext>
            </a:extLst>
          </p:cNvPr>
          <p:cNvSpPr>
            <a:spLocks xmlns:a="http://schemas.openxmlformats.org/drawingml/2006/main" noGrp="1"/>
          </p:cNvSpPr>
          <p:nvPr/>
        </p:nvSpPr>
        <p:spPr>
          <a:xfrm xmlns:a="http://schemas.openxmlformats.org/drawingml/2006/main">
            <a:off x="6486525"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556" lnSpcReduction="10000"/>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Protected local training</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update exchange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Verified homomorphic aggregation</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Threshold-governed model release</a:t>
            </a:r>
          </a:p>
        </p:txBody>
      </p:sp>
      <p:sp>
        <p:nvSpPr>
          <p:cNvPr id="241" name="framework-outcomes-box">
            <a:extLst xmlns:a="http://schemas.openxmlformats.org/drawingml/2006/main">
              <a:ext uri="{FF2B5EF4-FFF2-40B4-BE49-F238E27FC236}">
                <a16:creationId xmlns:a16="http://schemas.microsoft.com/office/drawing/2014/main" id="{3BB61328-13C4-495F-890D-578990787C92}"/>
              </a:ext>
            </a:extLst>
          </p:cNvPr>
          <p:cNvSpPr>
            <a:spLocks xmlns:a="http://schemas.openxmlformats.org/drawingml/2006/main" noGrp="1"/>
          </p:cNvSpPr>
          <p:nvPr/>
        </p:nvSpPr>
        <p:spPr>
          <a:xfrm xmlns:a="http://schemas.openxmlformats.org/drawingml/2006/main">
            <a:off x="9144000" y="1762125"/>
            <a:ext cx="2286000" cy="1885950"/>
          </a:xfrm>
          <a:prstGeom xmlns:a="http://schemas.openxmlformats.org/drawingml/2006/main" prst="roundRect">
            <a:avLst>
              <a:gd name="adj" fmla="val 4040"/>
            </a:avLst>
          </a:prstGeom>
          <a:solidFill xmlns:a="http://schemas.openxmlformats.org/drawingml/2006/main">
            <a:srgbClr val="F3EEF9"/>
          </a:solidFill>
          <a:ln xmlns:a="http://schemas.openxmlformats.org/drawingml/2006/main" w="16193">
            <a:solidFill>
              <a:srgbClr val="6B4BB5"/>
            </a:solidFill>
          </a:ln>
        </p:spPr>
      </p:sp>
      <p:sp>
        <p:nvSpPr>
          <p:cNvPr id="242" name="framework-outcomes-accent">
            <a:extLst xmlns:a="http://schemas.openxmlformats.org/drawingml/2006/main">
              <a:ext uri="{FF2B5EF4-FFF2-40B4-BE49-F238E27FC236}">
                <a16:creationId xmlns:a16="http://schemas.microsoft.com/office/drawing/2014/main" id="{162202BB-AC31-4299-AF61-D3604F5D5A72}"/>
              </a:ext>
            </a:extLst>
          </p:cNvPr>
          <p:cNvSpPr>
            <a:spLocks xmlns:a="http://schemas.openxmlformats.org/drawingml/2006/main" noGrp="1"/>
          </p:cNvSpPr>
          <p:nvPr/>
        </p:nvSpPr>
        <p:spPr>
          <a:xfrm xmlns:a="http://schemas.openxmlformats.org/drawingml/2006/main">
            <a:off x="9144000" y="1762125"/>
            <a:ext cx="2286000" cy="409575"/>
          </a:xfrm>
          <a:prstGeom xmlns:a="http://schemas.openxmlformats.org/drawingml/2006/main" prst="rect">
            <a:avLst/>
          </a:prstGeom>
          <a:solidFill xmlns:a="http://schemas.openxmlformats.org/drawingml/2006/main">
            <a:srgbClr val="6B4BB5"/>
          </a:solidFill>
          <a:ln xmlns:a="http://schemas.openxmlformats.org/drawingml/2006/main" w="0">
            <a:noFill/>
          </a:ln>
        </p:spPr>
      </p:sp>
      <p:sp>
        <p:nvSpPr>
          <p:cNvPr id="243" name="framework-outcomes-title">
            <a:extLst xmlns:a="http://schemas.openxmlformats.org/drawingml/2006/main">
              <a:ext uri="{FF2B5EF4-FFF2-40B4-BE49-F238E27FC236}">
                <a16:creationId xmlns:a16="http://schemas.microsoft.com/office/drawing/2014/main" id="{234DF05C-6027-417F-9176-9F268E97DD7D}"/>
              </a:ext>
            </a:extLst>
          </p:cNvPr>
          <p:cNvSpPr>
            <a:spLocks xmlns:a="http://schemas.openxmlformats.org/drawingml/2006/main" noGrp="1"/>
          </p:cNvSpPr>
          <p:nvPr/>
        </p:nvSpPr>
        <p:spPr>
          <a:xfrm xmlns:a="http://schemas.openxmlformats.org/drawingml/2006/main">
            <a:off x="9239250" y="1790700"/>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Measured outcomes</a:t>
            </a:r>
          </a:p>
        </p:txBody>
      </p:sp>
      <p:sp>
        <p:nvSpPr>
          <p:cNvPr id="244" name="framework-outcomes-body">
            <a:extLst xmlns:a="http://schemas.openxmlformats.org/drawingml/2006/main">
              <a:ext uri="{FF2B5EF4-FFF2-40B4-BE49-F238E27FC236}">
                <a16:creationId xmlns:a16="http://schemas.microsoft.com/office/drawing/2014/main" id="{B8F143C6-443F-4D3E-9EA9-1108E07B0BF5}"/>
              </a:ext>
            </a:extLst>
          </p:cNvPr>
          <p:cNvSpPr>
            <a:spLocks xmlns:a="http://schemas.openxmlformats.org/drawingml/2006/main" noGrp="1"/>
          </p:cNvSpPr>
          <p:nvPr/>
        </p:nvSpPr>
        <p:spPr>
          <a:xfrm xmlns:a="http://schemas.openxmlformats.org/drawingml/2006/main">
            <a:off x="9296400" y="2266950"/>
            <a:ext cx="1981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Predictive utility</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Privacy attack exposure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Poisoning resilience</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Serialized upload and runtime cost</a:t>
            </a:r>
          </a:p>
        </p:txBody>
      </p:sp>
      <p:cxnSp>
        <p:nvCxnSpPr>
          <p:cNvPr id="436" name="Straight Arrow Connector 373"/>
          <p:cNvCxnSpPr>
            <a:stCxn xmlns:a="http://schemas.openxmlformats.org/drawingml/2006/main" id="229" idx="3"/>
            <a:endCxn xmlns:a="http://schemas.openxmlformats.org/drawingml/2006/main" id="233" idx="1"/>
          </p:cNvCxnSpPr>
          <p:nvPr/>
        </p:nvCxnSpPr>
        <p:spPr>
          <a:xfrm xmlns:a="http://schemas.openxmlformats.org/drawingml/2006/main">
            <a:off x="300037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437" name="Straight Arrow Connector 374"/>
          <p:cNvCxnSpPr>
            <a:stCxn xmlns:a="http://schemas.openxmlformats.org/drawingml/2006/main" id="233" idx="3"/>
            <a:endCxn xmlns:a="http://schemas.openxmlformats.org/drawingml/2006/main" id="237" idx="1"/>
          </p:cNvCxnSpPr>
          <p:nvPr/>
        </p:nvCxnSpPr>
        <p:spPr>
          <a:xfrm xmlns:a="http://schemas.openxmlformats.org/drawingml/2006/main">
            <a:off x="5810250"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cxnSp>
        <p:nvCxnSpPr>
          <p:cNvPr id="438" name="Straight Arrow Connector 375"/>
          <p:cNvCxnSpPr>
            <a:stCxn xmlns:a="http://schemas.openxmlformats.org/drawingml/2006/main" id="237" idx="3"/>
            <a:endCxn xmlns:a="http://schemas.openxmlformats.org/drawingml/2006/main" id="241" idx="1"/>
          </p:cNvCxnSpPr>
          <p:nvPr/>
        </p:nvCxnSpPr>
        <p:spPr>
          <a:xfrm xmlns:a="http://schemas.openxmlformats.org/drawingml/2006/main">
            <a:off x="8620125" y="2705100"/>
            <a:ext cx="523875" cy="0"/>
          </a:xfrm>
          <a:prstGeom xmlns:a="http://schemas.openxmlformats.org/drawingml/2006/main" prst="straightConnector1">
            <a:avLst/>
          </a:prstGeom>
          <a:ln xmlns:a="http://schemas.openxmlformats.org/drawingml/2006/main" w="19050">
            <a:solidFill>
              <a:srgbClr val="17365D"/>
            </a:solidFill>
            <a:prstDash val="solid"/>
            <a:tailEnd type="triangle" w="med" len="med"/>
          </a:ln>
        </p:spPr>
      </p:cxnSp>
      <p:sp>
        <p:nvSpPr>
          <p:cNvPr id="248" name="framework-assumptions-band">
            <a:extLst xmlns:a="http://schemas.openxmlformats.org/drawingml/2006/main">
              <a:ext uri="{FF2B5EF4-FFF2-40B4-BE49-F238E27FC236}">
                <a16:creationId xmlns:a16="http://schemas.microsoft.com/office/drawing/2014/main" id="{C93DB946-639A-4F33-A4D7-DDC6014142FD}"/>
              </a:ext>
            </a:extLst>
          </p:cNvPr>
          <p:cNvSpPr>
            <a:spLocks xmlns:a="http://schemas.openxmlformats.org/drawingml/2006/main" noGrp="1"/>
          </p:cNvSpPr>
          <p:nvPr/>
        </p:nvSpPr>
        <p:spPr>
          <a:xfrm xmlns:a="http://schemas.openxmlformats.org/drawingml/2006/main">
            <a:off x="714375" y="4000500"/>
            <a:ext cx="10715625" cy="1123950"/>
          </a:xfrm>
          <a:prstGeom xmlns:a="http://schemas.openxmlformats.org/drawingml/2006/main" prst="roundRect">
            <a:avLst>
              <a:gd name="adj" fmla="val 6780"/>
            </a:avLst>
          </a:prstGeom>
          <a:solidFill xmlns:a="http://schemas.openxmlformats.org/drawingml/2006/main">
            <a:srgbClr val="F7F9FC"/>
          </a:solidFill>
          <a:ln xmlns:a="http://schemas.openxmlformats.org/drawingml/2006/main" w="11430">
            <a:solidFill>
              <a:srgbClr val="AAB6C5"/>
            </a:solidFill>
          </a:ln>
        </p:spPr>
      </p:sp>
      <p:sp>
        <p:nvSpPr>
          <p:cNvPr id="249" name="framework-assumptions-title">
            <a:extLst xmlns:a="http://schemas.openxmlformats.org/drawingml/2006/main">
              <a:ext uri="{FF2B5EF4-FFF2-40B4-BE49-F238E27FC236}">
                <a16:creationId xmlns:a16="http://schemas.microsoft.com/office/drawing/2014/main" id="{85376BA5-2184-4751-AE7A-2CFD958B1ED9}"/>
              </a:ext>
            </a:extLst>
          </p:cNvPr>
          <p:cNvSpPr>
            <a:spLocks xmlns:a="http://schemas.openxmlformats.org/drawingml/2006/main" noGrp="1"/>
          </p:cNvSpPr>
          <p:nvPr/>
        </p:nvSpPr>
        <p:spPr>
          <a:xfrm xmlns:a="http://schemas.openxmlformats.org/drawingml/2006/main">
            <a:off x="952500" y="4086225"/>
            <a:ext cx="10239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lgn="ctr">
              <a:buNone/>
              <a:defRPr sz="1500" b="1">
                <a:solidFill>
                  <a:srgbClr val="17365D"/>
                </a:solidFill>
                <a:latin typeface="Arial"/>
                <a:ea typeface="Arial"/>
                <a:cs typeface="Arial"/>
              </a:defRPr>
            </a:pPr>
            <a:r>
              <a:rPr sz="1500" b="1">
                <a:solidFill>
                  <a:srgbClr val="17365D"/>
                </a:solidFill>
                <a:latin typeface="Arial"/>
                <a:ea typeface="Arial"/>
                <a:cs typeface="Arial"/>
              </a:rPr>
              <a:t>Cross-cutting threats and trust assumptions</a:t>
            </a:r>
          </a:p>
        </p:txBody>
      </p:sp>
      <p:sp>
        <p:nvSpPr>
          <p:cNvPr id="250" name="framework-threats">
            <a:extLst xmlns:a="http://schemas.openxmlformats.org/drawingml/2006/main">
              <a:ext uri="{FF2B5EF4-FFF2-40B4-BE49-F238E27FC236}">
                <a16:creationId xmlns:a16="http://schemas.microsoft.com/office/drawing/2014/main" id="{DB226214-2B62-4B5C-AE44-CE6E6485DA48}"/>
              </a:ext>
            </a:extLst>
          </p:cNvPr>
          <p:cNvSpPr>
            <a:spLocks xmlns:a="http://schemas.openxmlformats.org/drawingml/2006/main" noGrp="1"/>
          </p:cNvSpPr>
          <p:nvPr/>
        </p:nvSpPr>
        <p:spPr>
          <a:xfrm xmlns:a="http://schemas.openxmlformats.org/drawingml/2006/main">
            <a:off x="100012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Threats considered</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Gradient leakage, membership inference, malicious updates, communication tampering and client dropout</a:t>
            </a:r>
          </a:p>
        </p:txBody>
      </p:sp>
      <p:sp>
        <p:nvSpPr>
          <p:cNvPr id="251" name="framework-trust-assumptions">
            <a:extLst xmlns:a="http://schemas.openxmlformats.org/drawingml/2006/main">
              <a:ext uri="{FF2B5EF4-FFF2-40B4-BE49-F238E27FC236}">
                <a16:creationId xmlns:a16="http://schemas.microsoft.com/office/drawing/2014/main" id="{179E13D1-434D-4FB5-8923-75DB417F8555}"/>
              </a:ext>
            </a:extLst>
          </p:cNvPr>
          <p:cNvSpPr>
            <a:spLocks xmlns:a="http://schemas.openxmlformats.org/drawingml/2006/main" noGrp="1"/>
          </p:cNvSpPr>
          <p:nvPr/>
        </p:nvSpPr>
        <p:spPr>
          <a:xfrm xmlns:a="http://schemas.openxmlformats.org/drawingml/2006/main">
            <a:off x="6429375" y="44100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3333"/>
          </a:bodyPr>
          <a:lstStyle xmlns:a="http://schemas.openxmlformats.org/drawingml/2006/main"/>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Trust assumptions</a:t>
            </a:r>
          </a:p>
          <a:p xmlns:a="http://schemas.openxmlformats.org/drawingml/2006/main">
            <a:pPr marL="171450" indent="-171450">
              <a:buFont typeface="Arial"/>
              <a:buChar char="•"/>
              <a:defRPr sz="1125">
                <a:solidFill>
                  <a:srgbClr val="263244"/>
                </a:solidFill>
                <a:latin typeface="Arial"/>
                <a:ea typeface="Arial"/>
                <a:cs typeface="Arial"/>
              </a:defRPr>
            </a:pPr>
            <a:r>
              <a:rPr sz="1125">
                <a:solidFill>
                  <a:srgbClr val="263244"/>
                </a:solidFill>
                <a:latin typeface="Arial"/>
                <a:ea typeface="Arial"/>
                <a:cs typeface="Arial"/>
              </a:rPr>
              <a:t>Authenticated institutions, honest-but-curious coordinator, threshold custodians and permissioned audit participants</a:t>
            </a:r>
          </a:p>
        </p:txBody>
      </p:sp>
      <p:sp>
        <p:nvSpPr>
          <p:cNvPr id="252" name="framework-assumptions-divider">
            <a:extLst xmlns:a="http://schemas.openxmlformats.org/drawingml/2006/main">
              <a:ext uri="{FF2B5EF4-FFF2-40B4-BE49-F238E27FC236}">
                <a16:creationId xmlns:a16="http://schemas.microsoft.com/office/drawing/2014/main" id="{DC368890-3967-4923-A964-AEA3CE138177}"/>
              </a:ext>
            </a:extLst>
          </p:cNvPr>
          <p:cNvSpPr>
            <a:spLocks xmlns:a="http://schemas.openxmlformats.org/drawingml/2006/main" noGrp="1"/>
          </p:cNvSpPr>
          <p:nvPr/>
        </p:nvSpPr>
        <p:spPr>
          <a:xfrm xmlns:a="http://schemas.openxmlformats.org/drawingml/2006/main">
            <a:off x="6076950" y="4410075"/>
            <a:ext cx="14288" cy="542925"/>
          </a:xfrm>
          <a:prstGeom xmlns:a="http://schemas.openxmlformats.org/drawingml/2006/main" prst="rect">
            <a:avLst/>
          </a:prstGeom>
          <a:solidFill xmlns:a="http://schemas.openxmlformats.org/drawingml/2006/main">
            <a:srgbClr val="CCD5DF"/>
          </a:solidFill>
          <a:ln xmlns:a="http://schemas.openxmlformats.org/drawingml/2006/main" w="0">
            <a:noFill/>
          </a:ln>
        </p:spPr>
      </p:sp>
      <p:sp>
        <p:nvSpPr>
          <p:cNvPr id="253" name="framework-principle-box">
            <a:extLst xmlns:a="http://schemas.openxmlformats.org/drawingml/2006/main">
              <a:ext uri="{FF2B5EF4-FFF2-40B4-BE49-F238E27FC236}">
                <a16:creationId xmlns:a16="http://schemas.microsoft.com/office/drawing/2014/main" id="{74EAE2CF-77CF-4F77-B3A3-ACB23B803CC4}"/>
              </a:ext>
            </a:extLst>
          </p:cNvPr>
          <p:cNvSpPr>
            <a:spLocks xmlns:a="http://schemas.openxmlformats.org/drawingml/2006/main" noGrp="1"/>
          </p:cNvSpPr>
          <p:nvPr/>
        </p:nvSpPr>
        <p:spPr>
          <a:xfrm xmlns:a="http://schemas.openxmlformats.org/drawingml/2006/main">
            <a:off x="1714500" y="5334000"/>
            <a:ext cx="8763000" cy="590550"/>
          </a:xfrm>
          <a:prstGeom xmlns:a="http://schemas.openxmlformats.org/drawingml/2006/main" prst="roundRect">
            <a:avLst>
              <a:gd name="adj" fmla="val 12903"/>
            </a:avLst>
          </a:prstGeom>
          <a:solidFill xmlns:a="http://schemas.openxmlformats.org/drawingml/2006/main">
            <a:srgbClr val="E8F4EE"/>
          </a:solidFill>
          <a:ln xmlns:a="http://schemas.openxmlformats.org/drawingml/2006/main" w="14288">
            <a:solidFill>
              <a:srgbClr val="008A46"/>
            </a:solidFill>
          </a:ln>
        </p:spPr>
      </p:sp>
      <p:sp>
        <p:nvSpPr>
          <p:cNvPr id="254" name="framework-principle">
            <a:extLst xmlns:a="http://schemas.openxmlformats.org/drawingml/2006/main">
              <a:ext uri="{FF2B5EF4-FFF2-40B4-BE49-F238E27FC236}">
                <a16:creationId xmlns:a16="http://schemas.microsoft.com/office/drawing/2014/main" id="{326D5A41-5020-45AA-BA2B-2715379B75A1}"/>
              </a:ext>
            </a:extLst>
          </p:cNvPr>
          <p:cNvSpPr>
            <a:spLocks xmlns:a="http://schemas.openxmlformats.org/drawingml/2006/main" noGrp="1"/>
          </p:cNvSpPr>
          <p:nvPr/>
        </p:nvSpPr>
        <p:spPr>
          <a:xfrm xmlns:a="http://schemas.openxmlformats.org/drawingml/2006/main">
            <a:off x="1952625" y="54102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216"/>
          </a:bodyPr>
          <a:lstStyle xmlns:a="http://schemas.openxmlformats.org/drawingml/2006/main"/>
          <a:p xmlns:a="http://schemas.openxmlformats.org/drawingml/2006/main">
            <a:pPr algn="ctr">
              <a:buNone/>
              <a:defRPr sz="1275" b="1">
                <a:solidFill>
                  <a:srgbClr val="17365D"/>
                </a:solidFill>
                <a:latin typeface="Arial"/>
                <a:ea typeface="Arial"/>
                <a:cs typeface="Arial"/>
              </a:defRPr>
            </a:pPr>
            <a:r>
              <a:rPr sz="1275" b="1">
                <a:solidFill>
                  <a:srgbClr val="17365D"/>
                </a:solidFill>
                <a:latin typeface="Arial"/>
                <a:ea typeface="Arial"/>
                <a:cs typeface="Arial"/>
              </a:rPr>
              <a:t>Core principle: patient records remain inside each institution; only protected updates enter the collaboration, and only a validated global model is released.</a:t>
            </a:r>
          </a:p>
        </p:txBody>
      </p:sp>
    </p:spTree>
    <p:extLst>
      <p:ext uri="{BB962C8B-B14F-4D97-AF65-F5344CB8AC3E}">
        <p14:creationId xmlns:p14="http://schemas.microsoft.com/office/powerpoint/2010/main" val="102666196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614"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92a2c121edba488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5"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74e5856ef7fa4f7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16"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a71526ec61ff4cd0">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618"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a5277a21b6c74b7a">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17</a:t>
            </a:r>
            <a:endParaRPr sz="2800"/>
          </a:p>
        </p:txBody>
      </p:sp>
      <p:cxnSp>
        <p:nvCxnSpPr>
          <p:cNvPr id="621"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Local Privacy Pipeline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18</a:t>
            </a:r>
            <a:endParaRPr sz="2800"/>
          </a:p>
        </p:txBody>
      </p:sp>
      <p:pic>
        <p:nvPicPr>
          <p:cNvPr id="79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345e2b0614340a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9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bfe2e9a2624474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801" name="Picture 458"/>
          <p:cNvPicPr>
            <a:picLocks xmlns:a="http://schemas.openxmlformats.org/drawingml/2006/main" noChangeAspect="1"/>
          </p:cNvPicPr>
          <p:nvPr/>
        </p:nvPicPr>
        <p:blipFill>
          <a:blip xmlns:r="http://schemas.openxmlformats.org/officeDocument/2006/relationships" xmlns:a="http://schemas.openxmlformats.org/drawingml/2006/main" r:embed="R623a07d7a39c4b35"/>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05" name="Picture 462"/>
          <p:cNvPicPr>
            <a:picLocks xmlns:a="http://schemas.openxmlformats.org/drawingml/2006/main" noChangeAspect="1"/>
          </p:cNvPicPr>
          <p:nvPr/>
        </p:nvPicPr>
        <p:blipFill>
          <a:blip xmlns:r="http://schemas.openxmlformats.org/officeDocument/2006/relationships" xmlns:a="http://schemas.openxmlformats.org/drawingml/2006/main" r:embed="Rd86cd39c36954918"/>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820"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21"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826"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27"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28"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833"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4"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35"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841"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42"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43"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44"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45"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46"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47"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48"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Tree>
    <p:extLst>
      <p:ext uri="{BB962C8B-B14F-4D97-AF65-F5344CB8AC3E}">
        <p14:creationId xmlns:p14="http://schemas.microsoft.com/office/powerpoint/2010/main" val="22446828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defRPr sz="3000" b="1">
                <a:solidFill>
                  <a:srgbClr val="062B6F"/>
                </a:solidFill>
                <a:latin typeface="Arial"/>
                <a:ea typeface="Arial"/>
                <a:cs typeface="Arial"/>
              </a:defRPr>
            </a:pPr>
            <a:r>
              <a:rPr sz="3000" b="1">
                <a:solidFill>
                  <a:srgbClr val="062B6F"/>
                </a:solidFill>
                <a:latin typeface="Arial"/>
                <a:ea typeface="Arial"/>
                <a:cs typeface="Arial"/>
              </a:rPr>
              <a:t>CAABC-FL Algorithm</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19</a:t>
            </a:r>
            <a:endParaRPr sz="2800"/>
          </a:p>
        </p:txBody>
      </p:sp>
      <p:pic>
        <p:nvPicPr>
          <p:cNvPr id="8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13abdacb2b6470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8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fff1d5e7f2d48f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842" name="Picture 458"/>
          <p:cNvPicPr>
            <a:picLocks xmlns:a="http://schemas.openxmlformats.org/drawingml/2006/main" noChangeAspect="1"/>
          </p:cNvPicPr>
          <p:nvPr/>
        </p:nvPicPr>
        <p:blipFill>
          <a:blip xmlns:r="http://schemas.openxmlformats.org/officeDocument/2006/relationships" xmlns:a="http://schemas.openxmlformats.org/drawingml/2006/main" r:embed="R9bc767bbacda4e76"/>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top-cover">
            <a:extLst xmlns:a="http://schemas.openxmlformats.org/drawingml/2006/main">
              <a:ext uri="{FF2B5EF4-FFF2-40B4-BE49-F238E27FC236}">
                <a16:creationId xmlns:a16="http://schemas.microsoft.com/office/drawing/2014/main" id="{9DF7472F-2598-4AB1-8E9A-98E970C1D43C}"/>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46" name="Picture 462"/>
          <p:cNvPicPr>
            <a:picLocks xmlns:a="http://schemas.openxmlformats.org/drawingml/2006/main" noChangeAspect="1"/>
          </p:cNvPicPr>
          <p:nvPr/>
        </p:nvPicPr>
        <p:blipFill>
          <a:blip xmlns:r="http://schemas.openxmlformats.org/officeDocument/2006/relationships" xmlns:a="http://schemas.openxmlformats.org/drawingml/2006/main" r:embed="R126cd978c5624bf5"/>
          <a:stretch xmlns:a="http://schemas.openxmlformats.org/drawingml/2006/main"/>
        </p:blipFill>
        <p:spPr>
          <a:xfrm xmlns:a="http://schemas.openxmlformats.org/drawingml/2006/main">
            <a:off x="671232" y="1238250"/>
            <a:ext cx="10849535" cy="3924300"/>
          </a:xfrm>
          <a:prstGeom xmlns:a="http://schemas.openxmlformats.org/drawingml/2006/main" prst="rect">
            <a:avLst/>
          </a:prstGeom>
        </p:spPr>
      </p:pic>
      <p:sp>
        <p:nvSpPr>
          <p:cNvPr id="231" name="system-approach-caption-part-1">
            <a:extLst xmlns:a="http://schemas.openxmlformats.org/drawingml/2006/main">
              <a:ext uri="{FF2B5EF4-FFF2-40B4-BE49-F238E27FC236}">
                <a16:creationId xmlns:a16="http://schemas.microsoft.com/office/drawing/2014/main" id="{2C738972-09F0-47FD-A1B0-410E3A3EA558}"/>
              </a:ext>
            </a:extLst>
          </p:cNvPr>
          <p:cNvSpPr>
            <a:spLocks xmlns:a="http://schemas.openxmlformats.org/drawingml/2006/main" noGrp="1"/>
          </p:cNvSpPr>
          <p:nvPr/>
        </p:nvSpPr>
        <p:spPr>
          <a:xfrm xmlns:a="http://schemas.openxmlformats.org/drawingml/2006/main">
            <a:off x="1095375" y="53149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1(a). Governance, local data handling, distributed CKKS setup, DP training, CAABC-FL compression, encryption, and signed submission.</a:t>
            </a:r>
          </a:p>
        </p:txBody>
      </p:sp>
      <p:sp>
        <p:nvSpPr>
          <p:cNvPr id="236" name="native-local-pipeline-cover">
            <a:extLst xmlns:a="http://schemas.openxmlformats.org/drawingml/2006/main">
              <a:ext uri="{FF2B5EF4-FFF2-40B4-BE49-F238E27FC236}">
                <a16:creationId xmlns:a16="http://schemas.microsoft.com/office/drawing/2014/main" id="{63076E54-EF4F-4E7E-9F2D-BF83042568CD}"/>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7" name="local-system-header">
            <a:extLst xmlns:a="http://schemas.openxmlformats.org/drawingml/2006/main">
              <a:ext uri="{FF2B5EF4-FFF2-40B4-BE49-F238E27FC236}">
                <a16:creationId xmlns:a16="http://schemas.microsoft.com/office/drawing/2014/main" id="{706016C4-DA04-40BC-858F-5CF33415A322}"/>
              </a:ext>
            </a:extLst>
          </p:cNvPr>
          <p:cNvSpPr>
            <a:spLocks xmlns:a="http://schemas.openxmlformats.org/drawingml/2006/main" noGrp="1"/>
          </p:cNvSpPr>
          <p:nvPr/>
        </p:nvSpPr>
        <p:spPr>
          <a:xfrm xmlns:a="http://schemas.openxmlformats.org/drawingml/2006/main">
            <a:off x="3000375" y="1133475"/>
            <a:ext cx="6191250" cy="361950"/>
          </a:xfrm>
          <a:prstGeom xmlns:a="http://schemas.openxmlformats.org/drawingml/2006/main" prst="roundRect">
            <a:avLst>
              <a:gd name="adj" fmla="val 21053"/>
            </a:avLst>
          </a:prstGeom>
          <a:solidFill xmlns:a="http://schemas.openxmlformats.org/drawingml/2006/main">
            <a:srgbClr val="F4F7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350" b="1">
                <a:solidFill>
                  <a:srgbClr val="1F2937"/>
                </a:solidFill>
                <a:latin typeface="Arial"/>
                <a:ea typeface="Arial"/>
                <a:cs typeface="Arial"/>
              </a:defRPr>
            </a:pPr>
            <a:r>
              <a:rPr sz="1350" b="1">
                <a:solidFill>
                  <a:srgbClr val="1F2937"/>
                </a:solidFill>
                <a:latin typeface="Arial"/>
                <a:ea typeface="Arial"/>
                <a:cs typeface="Arial"/>
              </a:rPr>
              <a:t>Secure Multi-Institutional Healthcare Federated Learning</a:t>
            </a:r>
          </a:p>
        </p:txBody>
      </p:sp>
      <p:sp>
        <p:nvSpPr>
          <p:cNvPr id="238" name="L0-lane-background">
            <a:extLst xmlns:a="http://schemas.openxmlformats.org/drawingml/2006/main">
              <a:ext uri="{FF2B5EF4-FFF2-40B4-BE49-F238E27FC236}">
                <a16:creationId xmlns:a16="http://schemas.microsoft.com/office/drawing/2014/main" id="{73FB87CA-14E0-4603-9DDE-A364A0014D62}"/>
              </a:ext>
            </a:extLst>
          </p:cNvPr>
          <p:cNvSpPr>
            <a:spLocks xmlns:a="http://schemas.openxmlformats.org/drawingml/2006/main" noGrp="1"/>
          </p:cNvSpPr>
          <p:nvPr/>
        </p:nvSpPr>
        <p:spPr>
          <a:xfrm xmlns:a="http://schemas.openxmlformats.org/drawingml/2006/main">
            <a:off x="819150" y="1619250"/>
            <a:ext cx="10572750" cy="876300"/>
          </a:xfrm>
          <a:prstGeom xmlns:a="http://schemas.openxmlformats.org/drawingml/2006/main" prst="roundRect">
            <a:avLst>
              <a:gd name="adj" fmla="val 8696"/>
            </a:avLst>
          </a:prstGeom>
          <a:solidFill xmlns:a="http://schemas.openxmlformats.org/drawingml/2006/main">
            <a:srgbClr val="EEF4FB"/>
          </a:solidFill>
          <a:ln xmlns:a="http://schemas.openxmlformats.org/drawingml/2006/main" w="9525">
            <a:solidFill>
              <a:srgbClr val="D8E0E8"/>
            </a:solidFill>
          </a:ln>
        </p:spPr>
      </p:sp>
      <p:sp>
        <p:nvSpPr>
          <p:cNvPr id="239" name="L0-lane-label">
            <a:extLst xmlns:a="http://schemas.openxmlformats.org/drawingml/2006/main">
              <a:ext uri="{FF2B5EF4-FFF2-40B4-BE49-F238E27FC236}">
                <a16:creationId xmlns:a16="http://schemas.microsoft.com/office/drawing/2014/main" id="{5BB1BD96-5C24-4BE4-B530-145BE438678A}"/>
              </a:ext>
            </a:extLst>
          </p:cNvPr>
          <p:cNvSpPr>
            <a:spLocks xmlns:a="http://schemas.openxmlformats.org/drawingml/2006/main" noGrp="1"/>
          </p:cNvSpPr>
          <p:nvPr/>
        </p:nvSpPr>
        <p:spPr>
          <a:xfrm xmlns:a="http://schemas.openxmlformats.org/drawingml/2006/main">
            <a:off x="914400" y="1714500"/>
            <a:ext cx="1381125" cy="685800"/>
          </a:xfrm>
          <a:prstGeom xmlns:a="http://schemas.openxmlformats.org/drawingml/2006/main" prst="roundRect">
            <a:avLst>
              <a:gd name="adj" fmla="val 11111"/>
            </a:avLst>
          </a:prstGeom>
          <a:solidFill xmlns:a="http://schemas.openxmlformats.org/drawingml/2006/main">
            <a:srgbClr val="2F6690"/>
          </a:solidFill>
          <a:ln xmlns:a="http://schemas.openxmlformats.org/drawingml/2006/main" w="952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L0</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Governance</a:t>
            </a:r>
          </a:p>
        </p:txBody>
      </p:sp>
      <p:sp>
        <p:nvSpPr>
          <p:cNvPr id="240" name="L1-lane-background">
            <a:extLst xmlns:a="http://schemas.openxmlformats.org/drawingml/2006/main">
              <a:ext uri="{FF2B5EF4-FFF2-40B4-BE49-F238E27FC236}">
                <a16:creationId xmlns:a16="http://schemas.microsoft.com/office/drawing/2014/main" id="{4C3E122E-BFCA-4BAA-8878-DB569979C7E0}"/>
              </a:ext>
            </a:extLst>
          </p:cNvPr>
          <p:cNvSpPr>
            <a:spLocks xmlns:a="http://schemas.openxmlformats.org/drawingml/2006/main" noGrp="1"/>
          </p:cNvSpPr>
          <p:nvPr/>
        </p:nvSpPr>
        <p:spPr>
          <a:xfrm xmlns:a="http://schemas.openxmlformats.org/drawingml/2006/main">
            <a:off x="819150" y="2590800"/>
            <a:ext cx="10572750" cy="876300"/>
          </a:xfrm>
          <a:prstGeom xmlns:a="http://schemas.openxmlformats.org/drawingml/2006/main" prst="roundRect">
            <a:avLst>
              <a:gd name="adj" fmla="val 8696"/>
            </a:avLst>
          </a:prstGeom>
          <a:solidFill xmlns:a="http://schemas.openxmlformats.org/drawingml/2006/main">
            <a:srgbClr val="F1F6FB"/>
          </a:solidFill>
          <a:ln xmlns:a="http://schemas.openxmlformats.org/drawingml/2006/main" w="9525">
            <a:solidFill>
              <a:srgbClr val="D8E0E8"/>
            </a:solidFill>
          </a:ln>
        </p:spPr>
      </p:sp>
      <p:sp>
        <p:nvSpPr>
          <p:cNvPr id="241" name="L1-lane-label">
            <a:extLst xmlns:a="http://schemas.openxmlformats.org/drawingml/2006/main">
              <a:ext uri="{FF2B5EF4-FFF2-40B4-BE49-F238E27FC236}">
                <a16:creationId xmlns:a16="http://schemas.microsoft.com/office/drawing/2014/main" id="{C17F811D-0B4B-446F-8551-3A4BEE966D2C}"/>
              </a:ext>
            </a:extLst>
          </p:cNvPr>
          <p:cNvSpPr>
            <a:spLocks xmlns:a="http://schemas.openxmlformats.org/drawingml/2006/main" noGrp="1"/>
          </p:cNvSpPr>
          <p:nvPr/>
        </p:nvSpPr>
        <p:spPr>
          <a:xfrm xmlns:a="http://schemas.openxmlformats.org/drawingml/2006/main">
            <a:off x="914400" y="2686050"/>
            <a:ext cx="1381125" cy="685800"/>
          </a:xfrm>
          <a:prstGeom xmlns:a="http://schemas.openxmlformats.org/drawingml/2006/main" prst="roundRect">
            <a:avLst>
              <a:gd name="adj" fmla="val 11111"/>
            </a:avLst>
          </a:prstGeom>
          <a:solidFill xmlns:a="http://schemas.openxmlformats.org/drawingml/2006/main">
            <a:srgbClr val="3C78A8"/>
          </a:solidFill>
          <a:ln xmlns:a="http://schemas.openxmlformats.org/drawingml/2006/main" w="952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L1</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Local data</a:t>
            </a:r>
          </a:p>
        </p:txBody>
      </p:sp>
      <p:sp>
        <p:nvSpPr>
          <p:cNvPr id="242" name="L2-lane-background">
            <a:extLst xmlns:a="http://schemas.openxmlformats.org/drawingml/2006/main">
              <a:ext uri="{FF2B5EF4-FFF2-40B4-BE49-F238E27FC236}">
                <a16:creationId xmlns:a16="http://schemas.microsoft.com/office/drawing/2014/main" id="{11D9D8EC-208A-44C2-99D8-1BFA83FBBA10}"/>
              </a:ext>
            </a:extLst>
          </p:cNvPr>
          <p:cNvSpPr>
            <a:spLocks xmlns:a="http://schemas.openxmlformats.org/drawingml/2006/main" noGrp="1"/>
          </p:cNvSpPr>
          <p:nvPr/>
        </p:nvSpPr>
        <p:spPr>
          <a:xfrm xmlns:a="http://schemas.openxmlformats.org/drawingml/2006/main">
            <a:off x="819150" y="3562350"/>
            <a:ext cx="10572750" cy="876300"/>
          </a:xfrm>
          <a:prstGeom xmlns:a="http://schemas.openxmlformats.org/drawingml/2006/main" prst="roundRect">
            <a:avLst>
              <a:gd name="adj" fmla="val 8696"/>
            </a:avLst>
          </a:prstGeom>
          <a:solidFill xmlns:a="http://schemas.openxmlformats.org/drawingml/2006/main">
            <a:srgbClr val="ECF7F5"/>
          </a:solidFill>
          <a:ln xmlns:a="http://schemas.openxmlformats.org/drawingml/2006/main" w="9525">
            <a:solidFill>
              <a:srgbClr val="D8E0E8"/>
            </a:solidFill>
          </a:ln>
        </p:spPr>
      </p:sp>
      <p:sp>
        <p:nvSpPr>
          <p:cNvPr id="243" name="L2-lane-label">
            <a:extLst xmlns:a="http://schemas.openxmlformats.org/drawingml/2006/main">
              <a:ext uri="{FF2B5EF4-FFF2-40B4-BE49-F238E27FC236}">
                <a16:creationId xmlns:a16="http://schemas.microsoft.com/office/drawing/2014/main" id="{C47C850B-9B12-437C-B8D9-64382B989158}"/>
              </a:ext>
            </a:extLst>
          </p:cNvPr>
          <p:cNvSpPr>
            <a:spLocks xmlns:a="http://schemas.openxmlformats.org/drawingml/2006/main" noGrp="1"/>
          </p:cNvSpPr>
          <p:nvPr/>
        </p:nvSpPr>
        <p:spPr>
          <a:xfrm xmlns:a="http://schemas.openxmlformats.org/drawingml/2006/main">
            <a:off x="914400" y="3657600"/>
            <a:ext cx="1381125" cy="685800"/>
          </a:xfrm>
          <a:prstGeom xmlns:a="http://schemas.openxmlformats.org/drawingml/2006/main" prst="roundRect">
            <a:avLst>
              <a:gd name="adj" fmla="val 11111"/>
            </a:avLst>
          </a:prstGeom>
          <a:solidFill xmlns:a="http://schemas.openxmlformats.org/drawingml/2006/main">
            <a:srgbClr val="2F7F77"/>
          </a:solidFill>
          <a:ln xmlns:a="http://schemas.openxmlformats.org/drawingml/2006/main" w="952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L2</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Key setup</a:t>
            </a:r>
          </a:p>
        </p:txBody>
      </p:sp>
      <p:sp>
        <p:nvSpPr>
          <p:cNvPr id="244" name="L3-lane-background">
            <a:extLst xmlns:a="http://schemas.openxmlformats.org/drawingml/2006/main">
              <a:ext uri="{FF2B5EF4-FFF2-40B4-BE49-F238E27FC236}">
                <a16:creationId xmlns:a16="http://schemas.microsoft.com/office/drawing/2014/main" id="{94F6A69F-501C-48C1-8825-928751ADFFC1}"/>
              </a:ext>
            </a:extLst>
          </p:cNvPr>
          <p:cNvSpPr>
            <a:spLocks xmlns:a="http://schemas.openxmlformats.org/drawingml/2006/main" noGrp="1"/>
          </p:cNvSpPr>
          <p:nvPr/>
        </p:nvSpPr>
        <p:spPr>
          <a:xfrm xmlns:a="http://schemas.openxmlformats.org/drawingml/2006/main">
            <a:off x="819150" y="4533900"/>
            <a:ext cx="10572750" cy="1028700"/>
          </a:xfrm>
          <a:prstGeom xmlns:a="http://schemas.openxmlformats.org/drawingml/2006/main" prst="roundRect">
            <a:avLst>
              <a:gd name="adj" fmla="val 7407"/>
            </a:avLst>
          </a:prstGeom>
          <a:solidFill xmlns:a="http://schemas.openxmlformats.org/drawingml/2006/main">
            <a:srgbClr val="F3EFFB"/>
          </a:solidFill>
          <a:ln xmlns:a="http://schemas.openxmlformats.org/drawingml/2006/main" w="9525">
            <a:solidFill>
              <a:srgbClr val="D8E0E8"/>
            </a:solidFill>
          </a:ln>
        </p:spPr>
      </p:sp>
      <p:sp>
        <p:nvSpPr>
          <p:cNvPr id="245" name="L3-lane-label">
            <a:extLst xmlns:a="http://schemas.openxmlformats.org/drawingml/2006/main">
              <a:ext uri="{FF2B5EF4-FFF2-40B4-BE49-F238E27FC236}">
                <a16:creationId xmlns:a16="http://schemas.microsoft.com/office/drawing/2014/main" id="{2D5828D6-DB9F-45DB-BC22-4BD155E3FC98}"/>
              </a:ext>
            </a:extLst>
          </p:cNvPr>
          <p:cNvSpPr>
            <a:spLocks xmlns:a="http://schemas.openxmlformats.org/drawingml/2006/main" noGrp="1"/>
          </p:cNvSpPr>
          <p:nvPr/>
        </p:nvSpPr>
        <p:spPr>
          <a:xfrm xmlns:a="http://schemas.openxmlformats.org/drawingml/2006/main">
            <a:off x="914400" y="4629150"/>
            <a:ext cx="1381125" cy="838200"/>
          </a:xfrm>
          <a:prstGeom xmlns:a="http://schemas.openxmlformats.org/drawingml/2006/main" prst="roundRect">
            <a:avLst>
              <a:gd name="adj" fmla="val 9091"/>
            </a:avLst>
          </a:prstGeom>
          <a:solidFill xmlns:a="http://schemas.openxmlformats.org/drawingml/2006/main">
            <a:srgbClr val="6B4FB3"/>
          </a:solidFill>
          <a:ln xmlns:a="http://schemas.openxmlformats.org/drawingml/2006/main" w="952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L3</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training</a:t>
            </a:r>
          </a:p>
        </p:txBody>
      </p:sp>
      <p:sp>
        <p:nvSpPr>
          <p:cNvPr id="246" name="l0-ca">
            <a:extLst xmlns:a="http://schemas.openxmlformats.org/drawingml/2006/main">
              <a:ext uri="{FF2B5EF4-FFF2-40B4-BE49-F238E27FC236}">
                <a16:creationId xmlns:a16="http://schemas.microsoft.com/office/drawing/2014/main" id="{49D62A80-8525-4CEE-BC31-FE6B83B9645C}"/>
              </a:ext>
            </a:extLst>
          </p:cNvPr>
          <p:cNvSpPr>
            <a:spLocks xmlns:a="http://schemas.openxmlformats.org/drawingml/2006/main" noGrp="1"/>
          </p:cNvSpPr>
          <p:nvPr/>
        </p:nvSpPr>
        <p:spPr>
          <a:xfrm xmlns:a="http://schemas.openxmlformats.org/drawingml/2006/main">
            <a:off x="2714625"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Consortium CA</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identity and roles</a:t>
            </a:r>
          </a:p>
        </p:txBody>
      </p:sp>
      <p:sp>
        <p:nvSpPr>
          <p:cNvPr id="247" name="l0-consent">
            <a:extLst xmlns:a="http://schemas.openxmlformats.org/drawingml/2006/main">
              <a:ext uri="{FF2B5EF4-FFF2-40B4-BE49-F238E27FC236}">
                <a16:creationId xmlns:a16="http://schemas.microsoft.com/office/drawing/2014/main" id="{93D5C538-A757-4153-B299-F28807A2E010}"/>
              </a:ext>
            </a:extLst>
          </p:cNvPr>
          <p:cNvSpPr>
            <a:spLocks xmlns:a="http://schemas.openxmlformats.org/drawingml/2006/main" noGrp="1"/>
          </p:cNvSpPr>
          <p:nvPr/>
        </p:nvSpPr>
        <p:spPr>
          <a:xfrm xmlns:a="http://schemas.openxmlformats.org/drawingml/2006/main">
            <a:off x="5238750" y="1809750"/>
            <a:ext cx="1952625"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registry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scope and revocation</a:t>
            </a:r>
          </a:p>
        </p:txBody>
      </p:sp>
      <p:sp>
        <p:nvSpPr>
          <p:cNvPr id="248" name="l0-policy">
            <a:extLst xmlns:a="http://schemas.openxmlformats.org/drawingml/2006/main">
              <a:ext uri="{FF2B5EF4-FFF2-40B4-BE49-F238E27FC236}">
                <a16:creationId xmlns:a16="http://schemas.microsoft.com/office/drawing/2014/main" id="{1D18C00B-88DB-46CA-9626-DC45E40B8562}"/>
              </a:ext>
            </a:extLst>
          </p:cNvPr>
          <p:cNvSpPr>
            <a:spLocks xmlns:a="http://schemas.openxmlformats.org/drawingml/2006/main" noGrp="1"/>
          </p:cNvSpPr>
          <p:nvPr/>
        </p:nvSpPr>
        <p:spPr>
          <a:xfrm xmlns:a="http://schemas.openxmlformats.org/drawingml/2006/main">
            <a:off x="7762875" y="1809750"/>
            <a:ext cx="2190750" cy="504825"/>
          </a:xfrm>
          <a:prstGeom xmlns:a="http://schemas.openxmlformats.org/drawingml/2006/main" prst="roundRect">
            <a:avLst>
              <a:gd name="adj" fmla="val 15094"/>
            </a:avLst>
          </a:prstGeom>
          <a:solidFill xmlns:a="http://schemas.openxmlformats.org/drawingml/2006/main">
            <a:srgbClr val="EEF4FB"/>
          </a:solidFill>
          <a:ln xmlns:a="http://schemas.openxmlformats.org/drawingml/2006/main" w="13335">
            <a:solidFill>
              <a:srgbClr val="2F6690"/>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Governance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access and incident rules</a:t>
            </a:r>
          </a:p>
        </p:txBody>
      </p:sp>
      <p:cxnSp>
        <p:nvCxnSpPr>
          <p:cNvPr id="861" name="Straight Arrow Connector 477"/>
          <p:cNvCxnSpPr>
            <a:stCxn xmlns:a="http://schemas.openxmlformats.org/drawingml/2006/main" id="246" idx="3"/>
            <a:endCxn xmlns:a="http://schemas.openxmlformats.org/drawingml/2006/main" id="247" idx="1"/>
          </p:cNvCxnSpPr>
          <p:nvPr/>
        </p:nvCxnSpPr>
        <p:spPr>
          <a:xfrm xmlns:a="http://schemas.openxmlformats.org/drawingml/2006/main">
            <a:off x="4667250"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62" name="Straight Arrow Connector 478"/>
          <p:cNvCxnSpPr>
            <a:stCxn xmlns:a="http://schemas.openxmlformats.org/drawingml/2006/main" id="247" idx="3"/>
            <a:endCxn xmlns:a="http://schemas.openxmlformats.org/drawingml/2006/main" id="248" idx="1"/>
          </p:cNvCxnSpPr>
          <p:nvPr/>
        </p:nvCxnSpPr>
        <p:spPr>
          <a:xfrm xmlns:a="http://schemas.openxmlformats.org/drawingml/2006/main">
            <a:off x="7191375" y="2062163"/>
            <a:ext cx="57150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1" name="l1-hospitals">
            <a:extLst xmlns:a="http://schemas.openxmlformats.org/drawingml/2006/main">
              <a:ext uri="{FF2B5EF4-FFF2-40B4-BE49-F238E27FC236}">
                <a16:creationId xmlns:a16="http://schemas.microsoft.com/office/drawing/2014/main" id="{20F84B98-B76E-47ED-A284-094A3FE6371F}"/>
              </a:ext>
            </a:extLst>
          </p:cNvPr>
          <p:cNvSpPr>
            <a:spLocks xmlns:a="http://schemas.openxmlformats.org/drawingml/2006/main" noGrp="1"/>
          </p:cNvSpPr>
          <p:nvPr/>
        </p:nvSpPr>
        <p:spPr>
          <a:xfrm xmlns:a="http://schemas.openxmlformats.org/drawingml/2006/main">
            <a:off x="2552700" y="2781300"/>
            <a:ext cx="157162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 B, C, ... N</a:t>
            </a:r>
          </a:p>
        </p:txBody>
      </p:sp>
      <p:sp>
        <p:nvSpPr>
          <p:cNvPr id="252" name="l1-check">
            <a:extLst xmlns:a="http://schemas.openxmlformats.org/drawingml/2006/main">
              <a:ext uri="{FF2B5EF4-FFF2-40B4-BE49-F238E27FC236}">
                <a16:creationId xmlns:a16="http://schemas.microsoft.com/office/drawing/2014/main" id="{F9F867D4-41EB-43F7-B63B-3DE5F01E2C51}"/>
              </a:ext>
            </a:extLst>
          </p:cNvPr>
          <p:cNvSpPr>
            <a:spLocks xmlns:a="http://schemas.openxmlformats.org/drawingml/2006/main" noGrp="1"/>
          </p:cNvSpPr>
          <p:nvPr/>
        </p:nvSpPr>
        <p:spPr>
          <a:xfrm xmlns:a="http://schemas.openxmlformats.org/drawingml/2006/main">
            <a:off x="4524375" y="2781300"/>
            <a:ext cx="1666875"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purpose check</a:t>
            </a:r>
          </a:p>
        </p:txBody>
      </p:sp>
      <p:sp>
        <p:nvSpPr>
          <p:cNvPr id="253" name="l1-preprocess">
            <a:extLst xmlns:a="http://schemas.openxmlformats.org/drawingml/2006/main">
              <a:ext uri="{FF2B5EF4-FFF2-40B4-BE49-F238E27FC236}">
                <a16:creationId xmlns:a16="http://schemas.microsoft.com/office/drawing/2014/main" id="{5BB3347D-AF57-44BC-BDED-8E79B69F46C4}"/>
              </a:ext>
            </a:extLst>
          </p:cNvPr>
          <p:cNvSpPr>
            <a:spLocks xmlns:a="http://schemas.openxmlformats.org/drawingml/2006/main" noGrp="1"/>
          </p:cNvSpPr>
          <p:nvPr/>
        </p:nvSpPr>
        <p:spPr>
          <a:xfrm xmlns:a="http://schemas.openxmlformats.org/drawingml/2006/main">
            <a:off x="65913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Preprocess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normalize features</a:t>
            </a:r>
          </a:p>
        </p:txBody>
      </p:sp>
      <p:sp>
        <p:nvSpPr>
          <p:cNvPr id="254" name="l1-onsite">
            <a:extLst xmlns:a="http://schemas.openxmlformats.org/drawingml/2006/main">
              <a:ext uri="{FF2B5EF4-FFF2-40B4-BE49-F238E27FC236}">
                <a16:creationId xmlns:a16="http://schemas.microsoft.com/office/drawing/2014/main" id="{0FB41C00-15F1-42F5-A268-172C7A2681BC}"/>
              </a:ext>
            </a:extLst>
          </p:cNvPr>
          <p:cNvSpPr>
            <a:spLocks xmlns:a="http://schemas.openxmlformats.org/drawingml/2006/main" noGrp="1"/>
          </p:cNvSpPr>
          <p:nvPr/>
        </p:nvSpPr>
        <p:spPr>
          <a:xfrm xmlns:a="http://schemas.openxmlformats.org/drawingml/2006/main">
            <a:off x="8801100" y="2781300"/>
            <a:ext cx="1809750" cy="504825"/>
          </a:xfrm>
          <a:prstGeom xmlns:a="http://schemas.openxmlformats.org/drawingml/2006/main" prst="roundRect">
            <a:avLst>
              <a:gd name="adj" fmla="val 15094"/>
            </a:avLst>
          </a:prstGeom>
          <a:solidFill xmlns:a="http://schemas.openxmlformats.org/drawingml/2006/main">
            <a:srgbClr val="F1F6FB"/>
          </a:solidFill>
          <a:ln xmlns:a="http://schemas.openxmlformats.org/drawingml/2006/main" w="13335">
            <a:solidFill>
              <a:srgbClr val="3C78A8"/>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dataset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remains at hospital</a:t>
            </a:r>
          </a:p>
        </p:txBody>
      </p:sp>
      <p:cxnSp>
        <p:nvCxnSpPr>
          <p:cNvPr id="867" name="Straight Arrow Connector 483"/>
          <p:cNvCxnSpPr>
            <a:stCxn xmlns:a="http://schemas.openxmlformats.org/drawingml/2006/main" id="251" idx="3"/>
            <a:endCxn xmlns:a="http://schemas.openxmlformats.org/drawingml/2006/main" id="252" idx="1"/>
          </p:cNvCxnSpPr>
          <p:nvPr/>
        </p:nvCxnSpPr>
        <p:spPr>
          <a:xfrm xmlns:a="http://schemas.openxmlformats.org/drawingml/2006/main">
            <a:off x="4124325"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68" name="Straight Arrow Connector 484"/>
          <p:cNvCxnSpPr>
            <a:stCxn xmlns:a="http://schemas.openxmlformats.org/drawingml/2006/main" id="252" idx="3"/>
            <a:endCxn xmlns:a="http://schemas.openxmlformats.org/drawingml/2006/main" id="253" idx="1"/>
          </p:cNvCxnSpPr>
          <p:nvPr/>
        </p:nvCxnSpPr>
        <p:spPr>
          <a:xfrm xmlns:a="http://schemas.openxmlformats.org/drawingml/2006/main">
            <a:off x="61912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69" name="Straight Arrow Connector 485"/>
          <p:cNvCxnSpPr>
            <a:stCxn xmlns:a="http://schemas.openxmlformats.org/drawingml/2006/main" id="253" idx="3"/>
            <a:endCxn xmlns:a="http://schemas.openxmlformats.org/drawingml/2006/main" id="254" idx="1"/>
          </p:cNvCxnSpPr>
          <p:nvPr/>
        </p:nvCxnSpPr>
        <p:spPr>
          <a:xfrm xmlns:a="http://schemas.openxmlformats.org/drawingml/2006/main">
            <a:off x="8401050" y="3033713"/>
            <a:ext cx="4000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8" name="l2-rotate">
            <a:extLst xmlns:a="http://schemas.openxmlformats.org/drawingml/2006/main">
              <a:ext uri="{FF2B5EF4-FFF2-40B4-BE49-F238E27FC236}">
                <a16:creationId xmlns:a16="http://schemas.microsoft.com/office/drawing/2014/main" id="{F9DC976F-7649-4EF9-8FF2-DD28B4D06F3B}"/>
              </a:ext>
            </a:extLst>
          </p:cNvPr>
          <p:cNvSpPr>
            <a:spLocks xmlns:a="http://schemas.openxmlformats.org/drawingml/2006/main" noGrp="1"/>
          </p:cNvSpPr>
          <p:nvPr/>
        </p:nvSpPr>
        <p:spPr>
          <a:xfrm xmlns:a="http://schemas.openxmlformats.org/drawingml/2006/main">
            <a:off x="255270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rotation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revocation</a:t>
            </a:r>
          </a:p>
        </p:txBody>
      </p:sp>
      <p:sp>
        <p:nvSpPr>
          <p:cNvPr id="259" name="l2-keygen">
            <a:extLst xmlns:a="http://schemas.openxmlformats.org/drawingml/2006/main">
              <a:ext uri="{FF2B5EF4-FFF2-40B4-BE49-F238E27FC236}">
                <a16:creationId xmlns:a16="http://schemas.microsoft.com/office/drawing/2014/main" id="{3582771A-D1DB-4D60-9C2B-E888F5770CA9}"/>
              </a:ext>
            </a:extLst>
          </p:cNvPr>
          <p:cNvSpPr>
            <a:spLocks xmlns:a="http://schemas.openxmlformats.org/drawingml/2006/main" noGrp="1"/>
          </p:cNvSpPr>
          <p:nvPr/>
        </p:nvSpPr>
        <p:spPr>
          <a:xfrm xmlns:a="http://schemas.openxmlformats.org/drawingml/2006/main">
            <a:off x="4629150" y="3752850"/>
            <a:ext cx="166687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Distributed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key generation</a:t>
            </a:r>
          </a:p>
        </p:txBody>
      </p:sp>
      <p:sp>
        <p:nvSpPr>
          <p:cNvPr id="260" name="l2-pubkey">
            <a:extLst xmlns:a="http://schemas.openxmlformats.org/drawingml/2006/main">
              <a:ext uri="{FF2B5EF4-FFF2-40B4-BE49-F238E27FC236}">
                <a16:creationId xmlns:a16="http://schemas.microsoft.com/office/drawing/2014/main" id="{13168765-EBBB-4719-985C-A7481E663919}"/>
              </a:ext>
            </a:extLst>
          </p:cNvPr>
          <p:cNvSpPr>
            <a:spLocks xmlns:a="http://schemas.openxmlformats.org/drawingml/2006/main" noGrp="1"/>
          </p:cNvSpPr>
          <p:nvPr/>
        </p:nvSpPr>
        <p:spPr>
          <a:xfrm xmlns:a="http://schemas.openxmlformats.org/drawingml/2006/main">
            <a:off x="6705600" y="3752850"/>
            <a:ext cx="1714500"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Collective CKKS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public key</a:t>
            </a:r>
          </a:p>
        </p:txBody>
      </p:sp>
      <p:sp>
        <p:nvSpPr>
          <p:cNvPr id="261" name="l2-shares">
            <a:extLst xmlns:a="http://schemas.openxmlformats.org/drawingml/2006/main">
              <a:ext uri="{FF2B5EF4-FFF2-40B4-BE49-F238E27FC236}">
                <a16:creationId xmlns:a16="http://schemas.microsoft.com/office/drawing/2014/main" id="{5C5432F7-54F8-4FD3-8D47-BB7CB95A332C}"/>
              </a:ext>
            </a:extLst>
          </p:cNvPr>
          <p:cNvSpPr>
            <a:spLocks xmlns:a="http://schemas.openxmlformats.org/drawingml/2006/main" noGrp="1"/>
          </p:cNvSpPr>
          <p:nvPr/>
        </p:nvSpPr>
        <p:spPr>
          <a:xfrm xmlns:a="http://schemas.openxmlformats.org/drawingml/2006/main">
            <a:off x="8829675" y="3752850"/>
            <a:ext cx="1952625" cy="504825"/>
          </a:xfrm>
          <a:prstGeom xmlns:a="http://schemas.openxmlformats.org/drawingml/2006/main" prst="roundRect">
            <a:avLst>
              <a:gd name="adj" fmla="val 15094"/>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shares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protected by custodians</a:t>
            </a:r>
          </a:p>
        </p:txBody>
      </p:sp>
      <p:cxnSp>
        <p:nvCxnSpPr>
          <p:cNvPr id="874" name="Straight Arrow Connector 490"/>
          <p:cNvCxnSpPr>
            <a:stCxn xmlns:a="http://schemas.openxmlformats.org/drawingml/2006/main" id="258" idx="3"/>
            <a:endCxn xmlns:a="http://schemas.openxmlformats.org/drawingml/2006/main" id="259" idx="1"/>
          </p:cNvCxnSpPr>
          <p:nvPr/>
        </p:nvCxnSpPr>
        <p:spPr>
          <a:xfrm xmlns:a="http://schemas.openxmlformats.org/drawingml/2006/main">
            <a:off x="421957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75" name="Straight Arrow Connector 491"/>
          <p:cNvCxnSpPr>
            <a:stCxn xmlns:a="http://schemas.openxmlformats.org/drawingml/2006/main" id="259" idx="3"/>
            <a:endCxn xmlns:a="http://schemas.openxmlformats.org/drawingml/2006/main" id="260" idx="1"/>
          </p:cNvCxnSpPr>
          <p:nvPr/>
        </p:nvCxnSpPr>
        <p:spPr>
          <a:xfrm xmlns:a="http://schemas.openxmlformats.org/drawingml/2006/main">
            <a:off x="6296025"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76" name="Straight Arrow Connector 492"/>
          <p:cNvCxnSpPr>
            <a:stCxn xmlns:a="http://schemas.openxmlformats.org/drawingml/2006/main" id="260" idx="3"/>
            <a:endCxn xmlns:a="http://schemas.openxmlformats.org/drawingml/2006/main" id="261" idx="1"/>
          </p:cNvCxnSpPr>
          <p:nvPr/>
        </p:nvCxnSpPr>
        <p:spPr>
          <a:xfrm xmlns:a="http://schemas.openxmlformats.org/drawingml/2006/main">
            <a:off x="8420100" y="4005263"/>
            <a:ext cx="4095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5" name="l3-train">
            <a:extLst xmlns:a="http://schemas.openxmlformats.org/drawingml/2006/main">
              <a:ext uri="{FF2B5EF4-FFF2-40B4-BE49-F238E27FC236}">
                <a16:creationId xmlns:a16="http://schemas.microsoft.com/office/drawing/2014/main" id="{A7BAEA67-2B8B-45CA-83A3-0A0965124C38}"/>
              </a:ext>
            </a:extLst>
          </p:cNvPr>
          <p:cNvSpPr>
            <a:spLocks xmlns:a="http://schemas.openxmlformats.org/drawingml/2006/main" noGrp="1"/>
          </p:cNvSpPr>
          <p:nvPr/>
        </p:nvSpPr>
        <p:spPr>
          <a:xfrm xmlns:a="http://schemas.openxmlformats.org/drawingml/2006/main">
            <a:off x="24193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Local 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training</a:t>
            </a:r>
          </a:p>
        </p:txBody>
      </p:sp>
      <p:sp>
        <p:nvSpPr>
          <p:cNvPr id="266" name="l3-clip">
            <a:extLst xmlns:a="http://schemas.openxmlformats.org/drawingml/2006/main">
              <a:ext uri="{FF2B5EF4-FFF2-40B4-BE49-F238E27FC236}">
                <a16:creationId xmlns:a16="http://schemas.microsoft.com/office/drawing/2014/main" id="{E17737D8-BFC8-4D94-98C6-4BD580CFF17F}"/>
              </a:ext>
            </a:extLst>
          </p:cNvPr>
          <p:cNvSpPr>
            <a:spLocks xmlns:a="http://schemas.openxmlformats.org/drawingml/2006/main" noGrp="1"/>
          </p:cNvSpPr>
          <p:nvPr/>
        </p:nvSpPr>
        <p:spPr>
          <a:xfrm xmlns:a="http://schemas.openxmlformats.org/drawingml/2006/main">
            <a:off x="40195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Clip per-record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gradients</a:t>
            </a:r>
          </a:p>
        </p:txBody>
      </p:sp>
      <p:sp>
        <p:nvSpPr>
          <p:cNvPr id="267" name="l3-noise">
            <a:extLst xmlns:a="http://schemas.openxmlformats.org/drawingml/2006/main">
              <a:ext uri="{FF2B5EF4-FFF2-40B4-BE49-F238E27FC236}">
                <a16:creationId xmlns:a16="http://schemas.microsoft.com/office/drawing/2014/main" id="{D6B0E17B-FE12-46B7-A038-B555D641EF95}"/>
              </a:ext>
            </a:extLst>
          </p:cNvPr>
          <p:cNvSpPr>
            <a:spLocks xmlns:a="http://schemas.openxmlformats.org/drawingml/2006/main" noGrp="1"/>
          </p:cNvSpPr>
          <p:nvPr/>
        </p:nvSpPr>
        <p:spPr>
          <a:xfrm xmlns:a="http://schemas.openxmlformats.org/drawingml/2006/main">
            <a:off x="5619750" y="4810125"/>
            <a:ext cx="138112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Add calibrated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DP noise</a:t>
            </a:r>
          </a:p>
        </p:txBody>
      </p:sp>
      <p:sp>
        <p:nvSpPr>
          <p:cNvPr id="268" name="l3-caabc">
            <a:extLst xmlns:a="http://schemas.openxmlformats.org/drawingml/2006/main">
              <a:ext uri="{FF2B5EF4-FFF2-40B4-BE49-F238E27FC236}">
                <a16:creationId xmlns:a16="http://schemas.microsoft.com/office/drawing/2014/main" id="{6FA4D302-A99A-4791-9FF6-6249DCDCDED1}"/>
              </a:ext>
            </a:extLst>
          </p:cNvPr>
          <p:cNvSpPr>
            <a:spLocks xmlns:a="http://schemas.openxmlformats.org/drawingml/2006/main" noGrp="1"/>
          </p:cNvSpPr>
          <p:nvPr/>
        </p:nvSpPr>
        <p:spPr>
          <a:xfrm xmlns:a="http://schemas.openxmlformats.org/drawingml/2006/main">
            <a:off x="7219950" y="4810125"/>
            <a:ext cx="1476375" cy="523875"/>
          </a:xfrm>
          <a:prstGeom xmlns:a="http://schemas.openxmlformats.org/drawingml/2006/main" prst="roundRect">
            <a:avLst>
              <a:gd name="adj" fmla="val 14545"/>
            </a:avLst>
          </a:prstGeom>
          <a:solidFill xmlns:a="http://schemas.openxmlformats.org/drawingml/2006/main">
            <a:srgbClr val="F3EFFB"/>
          </a:solidFill>
          <a:ln xmlns:a="http://schemas.openxmlformats.org/drawingml/2006/main" w="13335">
            <a:solidFill>
              <a:srgbClr val="6B4FB3"/>
            </a:solidFill>
          </a:ln>
        </p:spPr>
        <p:txBody>
          <a:bodyPr xmlns:a="http://schemas.openxmlformats.org/drawingml/2006/main" anchor="ctr">
            <a:normAutofit/>
          </a:bodyPr>
          <a:lstStyle xmlns:a="http://schemas.openxmlformats.org/drawingml/2006/main"/>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CAABC-FL block</a:t>
            </a:r>
          </a:p>
          <a:p xmlns:a="http://schemas.openxmlformats.org/drawingml/2006/main">
            <a:pPr algn="ctr">
              <a:buNone/>
              <a:defRPr sz="1200" b="1">
                <a:solidFill>
                  <a:srgbClr val="1F2937"/>
                </a:solidFill>
                <a:latin typeface="Arial"/>
                <a:ea typeface="Arial"/>
                <a:cs typeface="Arial"/>
              </a:defRPr>
            </a:pPr>
            <a:r>
              <a:rPr sz="1200" b="1">
                <a:solidFill>
                  <a:srgbClr val="1F2937"/>
                </a:solidFill>
                <a:latin typeface="Arial"/>
                <a:ea typeface="Arial"/>
                <a:cs typeface="Arial"/>
              </a:rPr>
              <a:t>compression</a:t>
            </a:r>
          </a:p>
        </p:txBody>
      </p:sp>
      <p:sp>
        <p:nvSpPr>
          <p:cNvPr id="269" name="l3-encrypt">
            <a:extLst xmlns:a="http://schemas.openxmlformats.org/drawingml/2006/main">
              <a:ext uri="{FF2B5EF4-FFF2-40B4-BE49-F238E27FC236}">
                <a16:creationId xmlns:a16="http://schemas.microsoft.com/office/drawing/2014/main" id="{5E2B45AA-9696-4B00-BC33-367E23267FC6}"/>
              </a:ext>
            </a:extLst>
          </p:cNvPr>
          <p:cNvSpPr>
            <a:spLocks xmlns:a="http://schemas.openxmlformats.org/drawingml/2006/main" noGrp="1"/>
          </p:cNvSpPr>
          <p:nvPr/>
        </p:nvSpPr>
        <p:spPr>
          <a:xfrm xmlns:a="http://schemas.openxmlformats.org/drawingml/2006/main">
            <a:off x="8915400" y="4810125"/>
            <a:ext cx="1571625" cy="523875"/>
          </a:xfrm>
          <a:prstGeom xmlns:a="http://schemas.openxmlformats.org/drawingml/2006/main" prst="roundRect">
            <a:avLst>
              <a:gd name="adj" fmla="val 14545"/>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CKKS encrypt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sign update</a:t>
            </a:r>
          </a:p>
        </p:txBody>
      </p:sp>
      <p:cxnSp>
        <p:nvCxnSpPr>
          <p:cNvPr id="882" name="Straight Arrow Connector 498"/>
          <p:cNvCxnSpPr>
            <a:stCxn xmlns:a="http://schemas.openxmlformats.org/drawingml/2006/main" id="265" idx="3"/>
            <a:endCxn xmlns:a="http://schemas.openxmlformats.org/drawingml/2006/main" id="266" idx="1"/>
          </p:cNvCxnSpPr>
          <p:nvPr/>
        </p:nvCxnSpPr>
        <p:spPr>
          <a:xfrm xmlns:a="http://schemas.openxmlformats.org/drawingml/2006/main">
            <a:off x="38004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83" name="Straight Arrow Connector 499"/>
          <p:cNvCxnSpPr>
            <a:stCxn xmlns:a="http://schemas.openxmlformats.org/drawingml/2006/main" id="266" idx="3"/>
            <a:endCxn xmlns:a="http://schemas.openxmlformats.org/drawingml/2006/main" id="267" idx="1"/>
          </p:cNvCxnSpPr>
          <p:nvPr/>
        </p:nvCxnSpPr>
        <p:spPr>
          <a:xfrm xmlns:a="http://schemas.openxmlformats.org/drawingml/2006/main">
            <a:off x="54006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84" name="Straight Arrow Connector 500"/>
          <p:cNvCxnSpPr>
            <a:stCxn xmlns:a="http://schemas.openxmlformats.org/drawingml/2006/main" id="267" idx="3"/>
            <a:endCxn xmlns:a="http://schemas.openxmlformats.org/drawingml/2006/main" id="268" idx="1"/>
          </p:cNvCxnSpPr>
          <p:nvPr/>
        </p:nvCxnSpPr>
        <p:spPr>
          <a:xfrm xmlns:a="http://schemas.openxmlformats.org/drawingml/2006/main">
            <a:off x="700087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85" name="Straight Arrow Connector 501"/>
          <p:cNvCxnSpPr>
            <a:stCxn xmlns:a="http://schemas.openxmlformats.org/drawingml/2006/main" id="268" idx="3"/>
            <a:endCxn xmlns:a="http://schemas.openxmlformats.org/drawingml/2006/main" id="269" idx="1"/>
          </p:cNvCxnSpPr>
          <p:nvPr/>
        </p:nvCxnSpPr>
        <p:spPr>
          <a:xfrm xmlns:a="http://schemas.openxmlformats.org/drawingml/2006/main">
            <a:off x="8696325" y="5072063"/>
            <a:ext cx="2190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886" name="Connector: Elbow 502"/>
          <p:cNvCxnSpPr>
            <a:stCxn xmlns:a="http://schemas.openxmlformats.org/drawingml/2006/main" id="237" idx="2"/>
            <a:endCxn xmlns:a="http://schemas.openxmlformats.org/drawingml/2006/main" id="247" idx="0"/>
          </p:cNvCxnSpPr>
          <p:nvPr/>
        </p:nvCxnSpPr>
        <p:spPr>
          <a:xfrm xmlns:a="http://schemas.openxmlformats.org/drawingml/2006/main">
            <a:off x="6096000" y="1495425"/>
            <a:ext cx="119063" cy="3143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87" name="Connector: Elbow 503"/>
          <p:cNvCxnSpPr>
            <a:stCxn xmlns:a="http://schemas.openxmlformats.org/drawingml/2006/main" id="247" idx="2"/>
            <a:endCxn xmlns:a="http://schemas.openxmlformats.org/drawingml/2006/main" id="252" idx="0"/>
          </p:cNvCxnSpPr>
          <p:nvPr/>
        </p:nvCxnSpPr>
        <p:spPr>
          <a:xfrm xmlns:a="http://schemas.openxmlformats.org/drawingml/2006/main" flipH="1">
            <a:off x="5357813" y="2314575"/>
            <a:ext cx="857250"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88" name="Connector: Elbow 504"/>
          <p:cNvCxnSpPr>
            <a:stCxn xmlns:a="http://schemas.openxmlformats.org/drawingml/2006/main" id="254" idx="2"/>
            <a:endCxn xmlns:a="http://schemas.openxmlformats.org/drawingml/2006/main" id="260" idx="0"/>
          </p:cNvCxnSpPr>
          <p:nvPr/>
        </p:nvCxnSpPr>
        <p:spPr>
          <a:xfrm xmlns:a="http://schemas.openxmlformats.org/drawingml/2006/main" flipH="1">
            <a:off x="7562850" y="3286125"/>
            <a:ext cx="2143125" cy="466725"/>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889" name="Connector: Elbow 505"/>
          <p:cNvCxnSpPr>
            <a:stCxn xmlns:a="http://schemas.openxmlformats.org/drawingml/2006/main" id="261" idx="2"/>
            <a:endCxn xmlns:a="http://schemas.openxmlformats.org/drawingml/2006/main" id="269" idx="0"/>
          </p:cNvCxnSpPr>
          <p:nvPr/>
        </p:nvCxnSpPr>
        <p:spPr>
          <a:xfrm xmlns:a="http://schemas.openxmlformats.org/drawingml/2006/main" flipH="1">
            <a:off x="9701213" y="4257675"/>
            <a:ext cx="104775" cy="55245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sp>
        <p:nvSpPr>
          <p:cNvPr id="278" name="diagram-outcome-note">
            <a:extLst xmlns:a="http://schemas.openxmlformats.org/drawingml/2006/main">
              <a:ext uri="{FF2B5EF4-FFF2-40B4-BE49-F238E27FC236}">
                <a16:creationId xmlns:a16="http://schemas.microsoft.com/office/drawing/2014/main" id="{57242147-2845-48CD-8D35-0B7EFEC99455}"/>
              </a:ext>
            </a:extLst>
          </p:cNvPr>
          <p:cNvSpPr>
            <a:spLocks xmlns:a="http://schemas.openxmlformats.org/drawingml/2006/main" noGrp="1"/>
          </p:cNvSpPr>
          <p:nvPr/>
        </p:nvSpPr>
        <p:spPr>
          <a:xfrm xmlns:a="http://schemas.openxmlformats.org/drawingml/2006/main">
            <a:off x="3000375" y="5686425"/>
            <a:ext cx="6191250" cy="342900"/>
          </a:xfrm>
          <a:prstGeom xmlns:a="http://schemas.openxmlformats.org/drawingml/2006/main" prst="roundRect">
            <a:avLst>
              <a:gd name="adj" fmla="val 22222"/>
            </a:avLst>
          </a:prstGeom>
          <a:solidFill xmlns:a="http://schemas.openxmlformats.org/drawingml/2006/main">
            <a:srgbClr val="ECF7F5"/>
          </a:solidFill>
          <a:ln xmlns:a="http://schemas.openxmlformats.org/drawingml/2006/main" w="11430">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75" b="1">
                <a:solidFill>
                  <a:srgbClr val="2F7F77"/>
                </a:solidFill>
                <a:latin typeface="Arial"/>
                <a:ea typeface="Arial"/>
                <a:cs typeface="Arial"/>
              </a:defRPr>
            </a:pPr>
            <a:r>
              <a:rPr sz="1275" b="1">
                <a:solidFill>
                  <a:srgbClr val="2F7F77"/>
                </a:solidFill>
                <a:latin typeface="Arial"/>
                <a:ea typeface="Arial"/>
                <a:cs typeface="Arial"/>
              </a:rPr>
              <a:t>Output: encrypted, compressed and signed client update</a:t>
            </a:r>
          </a:p>
        </p:txBody>
      </p:sp>
      <p:sp>
        <p:nvSpPr>
          <p:cNvPr id="739" name="caabc-algorithm-body-cover">
            <a:extLst xmlns:a="http://schemas.openxmlformats.org/drawingml/2006/main">
              <a:ext uri="{FF2B5EF4-FFF2-40B4-BE49-F238E27FC236}">
                <a16:creationId xmlns:a16="http://schemas.microsoft.com/office/drawing/2014/main" id="{783CD6EB-B6F5-417D-A099-1B0C6A0AC88E}"/>
              </a:ext>
            </a:extLst>
          </p:cNvPr>
          <p:cNvSpPr>
            <a:spLocks xmlns:a="http://schemas.openxmlformats.org/drawingml/2006/main" noGrp="1"/>
          </p:cNvSpPr>
          <p:nvPr/>
        </p:nvSpPr>
        <p:spPr>
          <a:xfrm xmlns:a="http://schemas.openxmlformats.org/drawingml/2006/main">
            <a:off x="457200" y="1000125"/>
            <a:ext cx="11277600" cy="5048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0" name="caabc-algorithm-subtitle">
            <a:extLst xmlns:a="http://schemas.openxmlformats.org/drawingml/2006/main">
              <a:ext uri="{FF2B5EF4-FFF2-40B4-BE49-F238E27FC236}">
                <a16:creationId xmlns:a16="http://schemas.microsoft.com/office/drawing/2014/main" id="{4A5571C0-7F85-45AB-BA31-7E6963B17D95}"/>
              </a:ext>
            </a:extLst>
          </p:cNvPr>
          <p:cNvSpPr>
            <a:spLocks xmlns:a="http://schemas.openxmlformats.org/drawingml/2006/main" noGrp="1"/>
          </p:cNvSpPr>
          <p:nvPr/>
        </p:nvSpPr>
        <p:spPr>
          <a:xfrm xmlns:a="http://schemas.openxmlformats.org/drawingml/2006/main">
            <a:off x="1524000" y="10668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buNone/>
              <a:defRPr sz="1350" i="1">
                <a:solidFill>
                  <a:srgbClr val="5B677A"/>
                </a:solidFill>
                <a:latin typeface="Arial"/>
                <a:ea typeface="Arial"/>
                <a:cs typeface="Arial"/>
              </a:defRPr>
            </a:pPr>
            <a:r>
              <a:rPr sz="1350" i="1">
                <a:solidFill>
                  <a:srgbClr val="5B677A"/>
                </a:solidFill>
                <a:latin typeface="Arial"/>
                <a:ea typeface="Arial"/>
                <a:cs typeface="Arial"/>
              </a:rPr>
              <a:t>Adaptive common-block compression aligned with CKKS packing</a:t>
            </a:r>
          </a:p>
        </p:txBody>
      </p:sp>
      <p:sp>
        <p:nvSpPr>
          <p:cNvPr id="741" name="caabc-algorithm-inputs">
            <a:extLst xmlns:a="http://schemas.openxmlformats.org/drawingml/2006/main">
              <a:ext uri="{FF2B5EF4-FFF2-40B4-BE49-F238E27FC236}">
                <a16:creationId xmlns:a16="http://schemas.microsoft.com/office/drawing/2014/main" id="{510728B5-C692-4BC9-8DCA-3F8485935618}"/>
              </a:ext>
            </a:extLst>
          </p:cNvPr>
          <p:cNvSpPr>
            <a:spLocks xmlns:a="http://schemas.openxmlformats.org/drawingml/2006/main" noGrp="1"/>
          </p:cNvSpPr>
          <p:nvPr/>
        </p:nvSpPr>
        <p:spPr>
          <a:xfrm xmlns:a="http://schemas.openxmlformats.org/drawingml/2006/main">
            <a:off x="1162050" y="1438275"/>
            <a:ext cx="9867900" cy="409575"/>
          </a:xfrm>
          <a:prstGeom xmlns:a="http://schemas.openxmlformats.org/drawingml/2006/main" prst="roundRect">
            <a:avLst>
              <a:gd name="adj" fmla="val 18605"/>
            </a:avLst>
          </a:prstGeom>
          <a:solidFill xmlns:a="http://schemas.openxmlformats.org/drawingml/2006/main">
            <a:srgbClr val="F2F6FA"/>
          </a:solidFill>
          <a:ln xmlns:a="http://schemas.openxmlformats.org/drawingml/2006/main" w="10478">
            <a:solidFill>
              <a:srgbClr val="AFC1D5"/>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00" b="1">
                <a:solidFill>
                  <a:srgbClr val="062B6F"/>
                </a:solidFill>
                <a:latin typeface="Arial"/>
                <a:ea typeface="Arial"/>
                <a:cs typeface="Arial"/>
              </a:defRPr>
            </a:pPr>
            <a:r>
              <a:rPr sz="1200" b="1">
                <a:solidFill>
                  <a:srgbClr val="062B6F"/>
                </a:solidFill>
                <a:latin typeface="Arial"/>
                <a:ea typeface="Arial"/>
                <a:cs typeface="Arial"/>
              </a:rPr>
              <a:t>Inputs: privatized client update Δ̃ₖ,ₜ   residual rₖ,ₜ   block size B = 256   chunk budget c = 2   refresh interval τ = 5</a:t>
            </a:r>
          </a:p>
        </p:txBody>
      </p:sp>
      <p:sp>
        <p:nvSpPr>
          <p:cNvPr id="742" name="caabc-step-1">
            <a:extLst xmlns:a="http://schemas.openxmlformats.org/drawingml/2006/main">
              <a:ext uri="{FF2B5EF4-FFF2-40B4-BE49-F238E27FC236}">
                <a16:creationId xmlns:a16="http://schemas.microsoft.com/office/drawing/2014/main" id="{53A088B0-2312-443C-95B6-94343FFFF8C5}"/>
              </a:ext>
            </a:extLst>
          </p:cNvPr>
          <p:cNvSpPr>
            <a:spLocks xmlns:a="http://schemas.openxmlformats.org/drawingml/2006/main" noGrp="1"/>
          </p:cNvSpPr>
          <p:nvPr/>
        </p:nvSpPr>
        <p:spPr>
          <a:xfrm xmlns:a="http://schemas.openxmlformats.org/drawingml/2006/main">
            <a:off x="876300" y="2171700"/>
            <a:ext cx="1752600" cy="2143125"/>
          </a:xfrm>
          <a:prstGeom xmlns:a="http://schemas.openxmlformats.org/drawingml/2006/main" prst="roundRect">
            <a:avLst>
              <a:gd name="adj" fmla="val 4348"/>
            </a:avLst>
          </a:prstGeom>
          <a:solidFill xmlns:a="http://schemas.openxmlformats.org/drawingml/2006/main">
            <a:srgbClr val="F5F0FC"/>
          </a:solidFill>
          <a:ln xmlns:a="http://schemas.openxmlformats.org/drawingml/2006/main" w="15240">
            <a:solidFill>
              <a:srgbClr val="6F52B5"/>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PRIVATE UPDATE + RESIDUAL</a:t>
            </a:r>
          </a:p>
          <a:p xmlns:a="http://schemas.openxmlformats.org/drawingml/2006/main">
            <a:r>
              <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uₖ,ₜ = Δ̃ₖ,ₜ + rₖ,ₜ</a:t>
            </a:r>
          </a:p>
          <a:p xmlns:a="http://schemas.openxmlformats.org/drawingml/2006/main">
            <a:r>
              <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Carry omitted information into the current round</a:t>
            </a:r>
          </a:p>
        </p:txBody>
      </p:sp>
      <p:sp>
        <p:nvSpPr>
          <p:cNvPr id="743" name="caabc-step-1-number">
            <a:extLst xmlns:a="http://schemas.openxmlformats.org/drawingml/2006/main">
              <a:ext uri="{FF2B5EF4-FFF2-40B4-BE49-F238E27FC236}">
                <a16:creationId xmlns:a16="http://schemas.microsoft.com/office/drawing/2014/main" id="{566F45FD-EC0D-49D5-8A8B-80439103BC2C}"/>
              </a:ext>
            </a:extLst>
          </p:cNvPr>
          <p:cNvSpPr>
            <a:spLocks xmlns:a="http://schemas.openxmlformats.org/drawingml/2006/main" noGrp="1"/>
          </p:cNvSpPr>
          <p:nvPr/>
        </p:nvSpPr>
        <p:spPr>
          <a:xfrm xmlns:a="http://schemas.openxmlformats.org/drawingml/2006/main">
            <a:off x="1552575" y="1943100"/>
            <a:ext cx="400050" cy="400050"/>
          </a:xfrm>
          <a:prstGeom xmlns:a="http://schemas.openxmlformats.org/drawingml/2006/main" prst="ellipse">
            <a:avLst/>
          </a:prstGeom>
          <a:solidFill xmlns:a="http://schemas.openxmlformats.org/drawingml/2006/main">
            <a:srgbClr val="6F52B5"/>
          </a:solidFill>
          <a:ln xmlns:a="http://schemas.openxmlformats.org/drawingml/2006/main" w="9525">
            <a:solidFill>
              <a:srgbClr val="6F52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1</a:t>
            </a:r>
          </a:p>
        </p:txBody>
      </p:sp>
      <p:sp>
        <p:nvSpPr>
          <p:cNvPr id="744" name="caabc-step-2">
            <a:extLst xmlns:a="http://schemas.openxmlformats.org/drawingml/2006/main">
              <a:ext uri="{FF2B5EF4-FFF2-40B4-BE49-F238E27FC236}">
                <a16:creationId xmlns:a16="http://schemas.microsoft.com/office/drawing/2014/main" id="{36DD9DF8-F287-4520-80E0-6C36EA772FD1}"/>
              </a:ext>
            </a:extLst>
          </p:cNvPr>
          <p:cNvSpPr>
            <a:spLocks xmlns:a="http://schemas.openxmlformats.org/drawingml/2006/main" noGrp="1"/>
          </p:cNvSpPr>
          <p:nvPr/>
        </p:nvSpPr>
        <p:spPr>
          <a:xfrm xmlns:a="http://schemas.openxmlformats.org/drawingml/2006/main">
            <a:off x="3067050" y="2171700"/>
            <a:ext cx="1752600" cy="2143125"/>
          </a:xfrm>
          <a:prstGeom xmlns:a="http://schemas.openxmlformats.org/drawingml/2006/main" prst="roundRect">
            <a:avLst>
              <a:gd name="adj" fmla="val 4348"/>
            </a:avLst>
          </a:prstGeom>
          <a:solidFill xmlns:a="http://schemas.openxmlformats.org/drawingml/2006/main">
            <a:srgbClr val="EEF5FC"/>
          </a:solidFill>
          <a:ln xmlns:a="http://schemas.openxmlformats.org/drawingml/2006/main" w="15240">
            <a:solidFill>
              <a:srgbClr val="2F75B5"/>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BLOCK SCORING</a:t>
            </a:r>
          </a:p>
          <a:p xmlns:a="http://schemas.openxmlformats.org/drawingml/2006/main">
            <a:r>
              <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Partition uₖ,ₜ into contiguous 256-coordinate blocks</a:t>
            </a:r>
          </a:p>
          <a:p xmlns:a="http://schemas.openxmlformats.org/drawingml/2006/main">
            <a:r>
              <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Score block energy from privatized updates</a:t>
            </a:r>
          </a:p>
        </p:txBody>
      </p:sp>
      <p:sp>
        <p:nvSpPr>
          <p:cNvPr id="745" name="caabc-step-2-number">
            <a:extLst xmlns:a="http://schemas.openxmlformats.org/drawingml/2006/main">
              <a:ext uri="{FF2B5EF4-FFF2-40B4-BE49-F238E27FC236}">
                <a16:creationId xmlns:a16="http://schemas.microsoft.com/office/drawing/2014/main" id="{B53628C5-B256-4324-968D-80747EA8181C}"/>
              </a:ext>
            </a:extLst>
          </p:cNvPr>
          <p:cNvSpPr>
            <a:spLocks xmlns:a="http://schemas.openxmlformats.org/drawingml/2006/main" noGrp="1"/>
          </p:cNvSpPr>
          <p:nvPr/>
        </p:nvSpPr>
        <p:spPr>
          <a:xfrm xmlns:a="http://schemas.openxmlformats.org/drawingml/2006/main">
            <a:off x="3743325" y="1943100"/>
            <a:ext cx="400050" cy="400050"/>
          </a:xfrm>
          <a:prstGeom xmlns:a="http://schemas.openxmlformats.org/drawingml/2006/main" prst="ellipse">
            <a:avLst/>
          </a:prstGeom>
          <a:solidFill xmlns:a="http://schemas.openxmlformats.org/drawingml/2006/main">
            <a:srgbClr val="2F75B5"/>
          </a:solidFill>
          <a:ln xmlns:a="http://schemas.openxmlformats.org/drawingml/2006/main" w="9525">
            <a:solidFill>
              <a:srgbClr val="2F75B5"/>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2</a:t>
            </a:r>
          </a:p>
        </p:txBody>
      </p:sp>
      <p:sp>
        <p:nvSpPr>
          <p:cNvPr id="746" name="caabc-step-3">
            <a:extLst xmlns:a="http://schemas.openxmlformats.org/drawingml/2006/main">
              <a:ext uri="{FF2B5EF4-FFF2-40B4-BE49-F238E27FC236}">
                <a16:creationId xmlns:a16="http://schemas.microsoft.com/office/drawing/2014/main" id="{5FC53C08-1ADF-49F4-BBEA-D27B51AB3571}"/>
              </a:ext>
            </a:extLst>
          </p:cNvPr>
          <p:cNvSpPr>
            <a:spLocks xmlns:a="http://schemas.openxmlformats.org/drawingml/2006/main" noGrp="1"/>
          </p:cNvSpPr>
          <p:nvPr/>
        </p:nvSpPr>
        <p:spPr>
          <a:xfrm xmlns:a="http://schemas.openxmlformats.org/drawingml/2006/main">
            <a:off x="5257800" y="2171700"/>
            <a:ext cx="1752600" cy="2143125"/>
          </a:xfrm>
          <a:prstGeom xmlns:a="http://schemas.openxmlformats.org/drawingml/2006/main" prst="roundRect">
            <a:avLst>
              <a:gd name="adj" fmla="val 4348"/>
            </a:avLst>
          </a:prstGeom>
          <a:solidFill xmlns:a="http://schemas.openxmlformats.org/drawingml/2006/main">
            <a:srgbClr val="FFF6E4"/>
          </a:solidFill>
          <a:ln xmlns:a="http://schemas.openxmlformats.org/drawingml/2006/main" w="15240">
            <a:solidFill>
              <a:srgbClr val="B97800"/>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COMMON SUPPORT</a:t>
            </a:r>
          </a:p>
          <a:p xmlns:a="http://schemas.openxmlformats.org/drawingml/2006/main">
            <a:r>
              <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Select Sₜ from aggregate block scores</a:t>
            </a:r>
          </a:p>
          <a:p xmlns:a="http://schemas.openxmlformats.org/drawingml/2006/main">
            <a:r>
              <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Refresh every five rounds and fit within two CKKS chunks</a:t>
            </a:r>
          </a:p>
        </p:txBody>
      </p:sp>
      <p:sp>
        <p:nvSpPr>
          <p:cNvPr id="747" name="caabc-step-3-number">
            <a:extLst xmlns:a="http://schemas.openxmlformats.org/drawingml/2006/main">
              <a:ext uri="{FF2B5EF4-FFF2-40B4-BE49-F238E27FC236}">
                <a16:creationId xmlns:a16="http://schemas.microsoft.com/office/drawing/2014/main" id="{45792009-A199-42E5-9C09-EB70524692C1}"/>
              </a:ext>
            </a:extLst>
          </p:cNvPr>
          <p:cNvSpPr>
            <a:spLocks xmlns:a="http://schemas.openxmlformats.org/drawingml/2006/main" noGrp="1"/>
          </p:cNvSpPr>
          <p:nvPr/>
        </p:nvSpPr>
        <p:spPr>
          <a:xfrm xmlns:a="http://schemas.openxmlformats.org/drawingml/2006/main">
            <a:off x="5934075" y="1943100"/>
            <a:ext cx="400050" cy="400050"/>
          </a:xfrm>
          <a:prstGeom xmlns:a="http://schemas.openxmlformats.org/drawingml/2006/main" prst="ellipse">
            <a:avLst/>
          </a:prstGeom>
          <a:solidFill xmlns:a="http://schemas.openxmlformats.org/drawingml/2006/main">
            <a:srgbClr val="B97800"/>
          </a:solidFill>
          <a:ln xmlns:a="http://schemas.openxmlformats.org/drawingml/2006/main" w="9525">
            <a:solidFill>
              <a:srgbClr val="B97800"/>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3</a:t>
            </a:r>
          </a:p>
        </p:txBody>
      </p:sp>
      <p:sp>
        <p:nvSpPr>
          <p:cNvPr id="748" name="caabc-step-4">
            <a:extLst xmlns:a="http://schemas.openxmlformats.org/drawingml/2006/main">
              <a:ext uri="{FF2B5EF4-FFF2-40B4-BE49-F238E27FC236}">
                <a16:creationId xmlns:a16="http://schemas.microsoft.com/office/drawing/2014/main" id="{C563380E-C7EC-4E9D-AD94-C2392B991471}"/>
              </a:ext>
            </a:extLst>
          </p:cNvPr>
          <p:cNvSpPr>
            <a:spLocks xmlns:a="http://schemas.openxmlformats.org/drawingml/2006/main" noGrp="1"/>
          </p:cNvSpPr>
          <p:nvPr/>
        </p:nvSpPr>
        <p:spPr>
          <a:xfrm xmlns:a="http://schemas.openxmlformats.org/drawingml/2006/main">
            <a:off x="7448550" y="2171700"/>
            <a:ext cx="1752600" cy="2143125"/>
          </a:xfrm>
          <a:prstGeom xmlns:a="http://schemas.openxmlformats.org/drawingml/2006/main" prst="roundRect">
            <a:avLst>
              <a:gd name="adj" fmla="val 4348"/>
            </a:avLst>
          </a:prstGeom>
          <a:solidFill xmlns:a="http://schemas.openxmlformats.org/drawingml/2006/main">
            <a:srgbClr val="ECF7F0"/>
          </a:solidFill>
          <a:ln xmlns:a="http://schemas.openxmlformats.org/drawingml/2006/main" w="15240">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PROJECT + REMEMBER</a:t>
            </a:r>
          </a:p>
          <a:p xmlns:a="http://schemas.openxmlformats.org/drawingml/2006/main">
            <a:r>
              <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pₖ,ₜ = Pₛₜ(uₖ,ₜ)</a:t>
            </a:r>
          </a:p>
          <a:p xmlns:a="http://schemas.openxmlformats.org/drawingml/2006/main">
            <a:pPr algn="ctr">
              <a:buNone/>
              <a:defRPr sz="1163">
                <a:solidFill>
                  <a:srgbClr val="263244"/>
                </a:solidFill>
                <a:latin typeface="Arial"/>
                <a:ea typeface="Arial"/>
                <a:cs typeface="Arial"/>
              </a:defRPr>
            </a:pPr>
            <a:r>
              <a:rPr sz="1163">
                <a:solidFill>
                  <a:srgbClr val="263244"/>
                </a:solidFill>
                <a:latin typeface="Arial"/>
                <a:ea typeface="Arial"/>
                <a:cs typeface="Arial"/>
              </a:rPr>
              <a:t>rₖ,ₜ₊₁ = uₖ,ₜ − Pₛₜᵀpₖ,ₜ</a:t>
            </a:r>
          </a:p>
        </p:txBody>
      </p:sp>
      <p:sp>
        <p:nvSpPr>
          <p:cNvPr id="749" name="caabc-step-4-number">
            <a:extLst xmlns:a="http://schemas.openxmlformats.org/drawingml/2006/main">
              <a:ext uri="{FF2B5EF4-FFF2-40B4-BE49-F238E27FC236}">
                <a16:creationId xmlns:a16="http://schemas.microsoft.com/office/drawing/2014/main" id="{92EBFA0D-4908-44E3-8634-04AC3EBA1D07}"/>
              </a:ext>
            </a:extLst>
          </p:cNvPr>
          <p:cNvSpPr>
            <a:spLocks xmlns:a="http://schemas.openxmlformats.org/drawingml/2006/main" noGrp="1"/>
          </p:cNvSpPr>
          <p:nvPr/>
        </p:nvSpPr>
        <p:spPr>
          <a:xfrm xmlns:a="http://schemas.openxmlformats.org/drawingml/2006/main">
            <a:off x="8124825" y="1943100"/>
            <a:ext cx="400050" cy="400050"/>
          </a:xfrm>
          <a:prstGeom xmlns:a="http://schemas.openxmlformats.org/drawingml/2006/main" prst="ellipse">
            <a:avLst/>
          </a:prstGeom>
          <a:solidFill xmlns:a="http://schemas.openxmlformats.org/drawingml/2006/main">
            <a:srgbClr val="008A46"/>
          </a:solidFill>
          <a:ln xmlns:a="http://schemas.openxmlformats.org/drawingml/2006/main" w="9525">
            <a:solidFill>
              <a:srgbClr val="008A46"/>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4</a:t>
            </a:r>
          </a:p>
        </p:txBody>
      </p:sp>
      <p:sp>
        <p:nvSpPr>
          <p:cNvPr id="750" name="caabc-step-5">
            <a:extLst xmlns:a="http://schemas.openxmlformats.org/drawingml/2006/main">
              <a:ext uri="{FF2B5EF4-FFF2-40B4-BE49-F238E27FC236}">
                <a16:creationId xmlns:a16="http://schemas.microsoft.com/office/drawing/2014/main" id="{C449D170-6602-40AB-9B69-38339516E2C5}"/>
              </a:ext>
            </a:extLst>
          </p:cNvPr>
          <p:cNvSpPr>
            <a:spLocks xmlns:a="http://schemas.openxmlformats.org/drawingml/2006/main" noGrp="1"/>
          </p:cNvSpPr>
          <p:nvPr/>
        </p:nvSpPr>
        <p:spPr>
          <a:xfrm xmlns:a="http://schemas.openxmlformats.org/drawingml/2006/main">
            <a:off x="9639300" y="2171700"/>
            <a:ext cx="1752600" cy="2143125"/>
          </a:xfrm>
          <a:prstGeom xmlns:a="http://schemas.openxmlformats.org/drawingml/2006/main" prst="roundRect">
            <a:avLst>
              <a:gd name="adj" fmla="val 4348"/>
            </a:avLst>
          </a:prstGeom>
          <a:solidFill xmlns:a="http://schemas.openxmlformats.org/drawingml/2006/main">
            <a:srgbClr val="EAF6F5"/>
          </a:solidFill>
          <a:ln xmlns:a="http://schemas.openxmlformats.org/drawingml/2006/main" w="15240">
            <a:solidFill>
              <a:srgbClr val="2E867F"/>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 PROTECT</a:t>
            </a:r>
          </a:p>
          <a:p xmlns:a="http://schemas.openxmlformats.org/drawingml/2006/main">
            <a:r>
              <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Pack pₖ,ₜ into aligned slots</a:t>
            </a:r>
          </a:p>
          <a:p xmlns:a="http://schemas.openxmlformats.org/drawingml/2006/main">
            <a:pPr algn="ctr">
              <a:buNone/>
              <a:defRPr sz="1125">
                <a:solidFill>
                  <a:srgbClr val="263244"/>
                </a:solidFill>
                <a:latin typeface="Arial"/>
                <a:ea typeface="Arial"/>
                <a:cs typeface="Arial"/>
              </a:defRPr>
            </a:pPr>
            <a:r>
              <a:rPr sz="1125">
                <a:solidFill>
                  <a:srgbClr val="263244"/>
                </a:solidFill>
                <a:latin typeface="Arial"/>
                <a:ea typeface="Arial"/>
                <a:cs typeface="Arial"/>
              </a:rPr>
              <a:t>Encrypt, sign and homomorphically aggregate</a:t>
            </a:r>
          </a:p>
        </p:txBody>
      </p:sp>
      <p:sp>
        <p:nvSpPr>
          <p:cNvPr id="751" name="caabc-step-5-number">
            <a:extLst xmlns:a="http://schemas.openxmlformats.org/drawingml/2006/main">
              <a:ext uri="{FF2B5EF4-FFF2-40B4-BE49-F238E27FC236}">
                <a16:creationId xmlns:a16="http://schemas.microsoft.com/office/drawing/2014/main" id="{9251FEAF-D7D4-470E-B46E-D9E53F03BBBF}"/>
              </a:ext>
            </a:extLst>
          </p:cNvPr>
          <p:cNvSpPr>
            <a:spLocks xmlns:a="http://schemas.openxmlformats.org/drawingml/2006/main" noGrp="1"/>
          </p:cNvSpPr>
          <p:nvPr/>
        </p:nvSpPr>
        <p:spPr>
          <a:xfrm xmlns:a="http://schemas.openxmlformats.org/drawingml/2006/main">
            <a:off x="10315575" y="1943100"/>
            <a:ext cx="400050" cy="400050"/>
          </a:xfrm>
          <a:prstGeom xmlns:a="http://schemas.openxmlformats.org/drawingml/2006/main" prst="ellipse">
            <a:avLst/>
          </a:prstGeom>
          <a:solidFill xmlns:a="http://schemas.openxmlformats.org/drawingml/2006/main">
            <a:srgbClr val="2E867F"/>
          </a:solidFill>
          <a:ln xmlns:a="http://schemas.openxmlformats.org/drawingml/2006/main" w="9525">
            <a:solidFill>
              <a:srgbClr val="2E867F"/>
            </a:solid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5</a:t>
            </a:r>
          </a:p>
        </p:txBody>
      </p:sp>
      <p:cxnSp>
        <p:nvCxnSpPr>
          <p:cNvPr id="904" name=""/>
          <p:cNvCxnSpPr>
            <a:stCxn xmlns:a="http://schemas.openxmlformats.org/drawingml/2006/main" id="742" idx="3"/>
            <a:endCxn xmlns:a="http://schemas.openxmlformats.org/drawingml/2006/main" id="744" idx="1"/>
          </p:cNvCxnSpPr>
          <p:nvPr/>
        </p:nvCxnSpPr>
        <p:spPr>
          <a:xfrm xmlns:a="http://schemas.openxmlformats.org/drawingml/2006/main">
            <a:off x="26289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905" name=""/>
          <p:cNvCxnSpPr>
            <a:stCxn xmlns:a="http://schemas.openxmlformats.org/drawingml/2006/main" id="744" idx="3"/>
            <a:endCxn xmlns:a="http://schemas.openxmlformats.org/drawingml/2006/main" id="746" idx="1"/>
          </p:cNvCxnSpPr>
          <p:nvPr/>
        </p:nvCxnSpPr>
        <p:spPr>
          <a:xfrm xmlns:a="http://schemas.openxmlformats.org/drawingml/2006/main">
            <a:off x="48196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906" name=""/>
          <p:cNvCxnSpPr>
            <a:stCxn xmlns:a="http://schemas.openxmlformats.org/drawingml/2006/main" id="746" idx="3"/>
            <a:endCxn xmlns:a="http://schemas.openxmlformats.org/drawingml/2006/main" id="748" idx="1"/>
          </p:cNvCxnSpPr>
          <p:nvPr/>
        </p:nvCxnSpPr>
        <p:spPr>
          <a:xfrm xmlns:a="http://schemas.openxmlformats.org/drawingml/2006/main">
            <a:off x="701040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cxnSp>
        <p:nvCxnSpPr>
          <p:cNvPr id="907" name=""/>
          <p:cNvCxnSpPr>
            <a:stCxn xmlns:a="http://schemas.openxmlformats.org/drawingml/2006/main" id="748" idx="3"/>
            <a:endCxn xmlns:a="http://schemas.openxmlformats.org/drawingml/2006/main" id="750" idx="1"/>
          </p:cNvCxnSpPr>
          <p:nvPr/>
        </p:nvCxnSpPr>
        <p:spPr>
          <a:xfrm xmlns:a="http://schemas.openxmlformats.org/drawingml/2006/main">
            <a:off x="9201150" y="3243263"/>
            <a:ext cx="438150" cy="0"/>
          </a:xfrm>
          <a:prstGeom xmlns:a="http://schemas.openxmlformats.org/drawingml/2006/main" prst="straightConnector1">
            <a:avLst/>
          </a:prstGeom>
          <a:ln xmlns:a="http://schemas.openxmlformats.org/drawingml/2006/main" w="16193">
            <a:solidFill>
              <a:srgbClr val="6F849F"/>
            </a:solidFill>
            <a:prstDash val="solid"/>
            <a:headEnd type="none" w="med" len="med"/>
            <a:tailEnd type="triangle" w="sm" len="sm"/>
          </a:ln>
        </p:spPr>
      </p:cxnSp>
      <p:sp>
        <p:nvSpPr>
          <p:cNvPr id="756" name="caabc-algorithm-property">
            <a:extLst xmlns:a="http://schemas.openxmlformats.org/drawingml/2006/main">
              <a:ext uri="{FF2B5EF4-FFF2-40B4-BE49-F238E27FC236}">
                <a16:creationId xmlns:a16="http://schemas.microsoft.com/office/drawing/2014/main" id="{3C8C8297-3ADB-4BC4-9374-AF63F8A2387E}"/>
              </a:ext>
            </a:extLst>
          </p:cNvPr>
          <p:cNvSpPr>
            <a:spLocks xmlns:a="http://schemas.openxmlformats.org/drawingml/2006/main" noGrp="1"/>
          </p:cNvSpPr>
          <p:nvPr/>
        </p:nvSpPr>
        <p:spPr>
          <a:xfrm xmlns:a="http://schemas.openxmlformats.org/drawingml/2006/main">
            <a:off x="1066800" y="4591050"/>
            <a:ext cx="10058400" cy="590550"/>
          </a:xfrm>
          <a:prstGeom xmlns:a="http://schemas.openxmlformats.org/drawingml/2006/main" prst="roundRect">
            <a:avLst>
              <a:gd name="adj" fmla="val 12903"/>
            </a:avLst>
          </a:prstGeom>
          <a:solidFill xmlns:a="http://schemas.openxmlformats.org/drawingml/2006/main">
            <a:srgbClr val="EEF7F4"/>
          </a:solidFill>
          <a:ln xmlns:a="http://schemas.openxmlformats.org/drawingml/2006/main" w="11430">
            <a:solidFill>
              <a:srgbClr val="008A46"/>
            </a:solidFill>
          </a:ln>
        </p:spPr>
        <p:txBody>
          <a:bodyPr xmlns:a="http://schemas.openxmlformats.org/drawingml/2006/main" anchor="ctr">
            <a:normAutofit fontScale="100000"/>
          </a:bodyPr>
          <a:lstStyle xmlns:a="http://schemas.openxmlformats.org/drawingml/2006/main"/>
          <a:p xmlns:a="http://schemas.openxmlformats.org/drawingml/2006/main">
            <a:pPr algn="ctr">
              <a:buNone/>
              <a:defRPr sz="1275" b="1">
                <a:solidFill>
                  <a:srgbClr val="1F5B50"/>
                </a:solidFill>
                <a:latin typeface="Arial"/>
                <a:ea typeface="Arial"/>
                <a:cs typeface="Arial"/>
              </a:defRPr>
            </a:pPr>
            <a:r>
              <a:rPr sz="1275" b="1">
                <a:solidFill>
                  <a:srgbClr val="1F5B50"/>
                </a:solidFill>
                <a:latin typeface="Arial"/>
                <a:ea typeface="Arial"/>
                <a:cs typeface="Arial"/>
              </a:rPr>
              <a:t>Algorithmic contribution: one public support keeps every client ciphertext aligned, so logical block sparsity becomes a real reduction in serialized encrypted traffic.</a:t>
            </a:r>
          </a:p>
        </p:txBody>
      </p:sp>
      <p:sp>
        <p:nvSpPr>
          <p:cNvPr id="757" name="caabc-algorithm-output">
            <a:extLst xmlns:a="http://schemas.openxmlformats.org/drawingml/2006/main">
              <a:ext uri="{FF2B5EF4-FFF2-40B4-BE49-F238E27FC236}">
                <a16:creationId xmlns:a16="http://schemas.microsoft.com/office/drawing/2014/main" id="{204D9384-6038-4C97-86AC-9C669CAEAD3E}"/>
              </a:ext>
            </a:extLst>
          </p:cNvPr>
          <p:cNvSpPr>
            <a:spLocks xmlns:a="http://schemas.openxmlformats.org/drawingml/2006/main" noGrp="1"/>
          </p:cNvSpPr>
          <p:nvPr/>
        </p:nvSpPr>
        <p:spPr>
          <a:xfrm xmlns:a="http://schemas.openxmlformats.org/drawingml/2006/main">
            <a:off x="2247900" y="5353050"/>
            <a:ext cx="7696200" cy="457200"/>
          </a:xfrm>
          <a:prstGeom xmlns:a="http://schemas.openxmlformats.org/drawingml/2006/main" prst="roundRect">
            <a:avLst>
              <a:gd name="adj" fmla="val 16667"/>
            </a:avLst>
          </a:prstGeom>
          <a:solidFill xmlns:a="http://schemas.openxmlformats.org/drawingml/2006/main">
            <a:srgbClr val="F4F6FA"/>
          </a:solidFill>
          <a:ln xmlns:a="http://schemas.openxmlformats.org/drawingml/2006/main" w="10478">
            <a:solidFill>
              <a:srgbClr val="062B6F"/>
            </a:solidFill>
          </a:ln>
        </p:spPr>
        <p:txBody>
          <a:bodyPr xmlns:a="http://schemas.openxmlformats.org/drawingml/2006/main" anchor="ctr">
            <a:normAutofit fontScale="86223"/>
          </a:bodyPr>
          <a:lstStyle xmlns:a="http://schemas.openxmlformats.org/drawingml/2006/main"/>
          <a:p xmlns:a="http://schemas.openxmlformats.org/drawingml/2006/main">
            <a:pPr algn="ctr">
              <a:buNone/>
              <a:defRPr sz="1238" b="1">
                <a:solidFill>
                  <a:srgbClr val="062B6F"/>
                </a:solidFill>
                <a:latin typeface="Arial"/>
                <a:ea typeface="Arial"/>
                <a:cs typeface="Arial"/>
              </a:defRPr>
            </a:pPr>
            <a:r>
              <a:rPr sz="1238" b="1">
                <a:solidFill>
                  <a:srgbClr val="062B6F"/>
                </a:solidFill>
                <a:latin typeface="Arial"/>
                <a:ea typeface="Arial"/>
                <a:cs typeface="Arial"/>
              </a:rPr>
              <a:t>Output: two aligned CKKS ciphertext chunks, an updated residual, and an aggregation-compatible protected update</a:t>
            </a:r>
          </a:p>
        </p:txBody>
      </p:sp>
      <p:pic>
        <p:nvPicPr>
          <p:cNvPr id="910" name=""/>
          <p:cNvPicPr>
            <a:picLocks xmlns:a="http://schemas.openxmlformats.org/drawingml/2006/main" noChangeAspect="1"/>
          </p:cNvPicPr>
          <p:nvPr/>
        </p:nvPicPr>
        <p:blipFill>
          <a:blip xmlns:r="http://schemas.openxmlformats.org/officeDocument/2006/relationships" xmlns:a="http://schemas.openxmlformats.org/drawingml/2006/main" r:embed="R0c3948c52c56491f"/>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911" name=""/>
          <p:cNvPicPr>
            <a:picLocks xmlns:a="http://schemas.openxmlformats.org/drawingml/2006/main" noChangeAspect="1"/>
          </p:cNvPicPr>
          <p:nvPr/>
        </p:nvPicPr>
        <p:blipFill>
          <a:blip xmlns:r="http://schemas.openxmlformats.org/officeDocument/2006/relationships" xmlns:a="http://schemas.openxmlformats.org/drawingml/2006/main" r:embed="R2f490e70049f40c8"/>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Tree>
    <p:extLst>
      <p:ext uri="{BB962C8B-B14F-4D97-AF65-F5344CB8AC3E}">
        <p14:creationId xmlns:p14="http://schemas.microsoft.com/office/powerpoint/2010/main" val="224468282"/>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2700" b="1">
                <a:solidFill>
                  <a:srgbClr val="062B6F"/>
                </a:solidFill>
                <a:latin typeface="Arial"/>
                <a:ea typeface="Arial"/>
                <a:cs typeface="Arial"/>
              </a:defRPr>
            </a:pPr>
            <a:r>
              <a:rPr sz="2700" b="1">
                <a:solidFill>
                  <a:srgbClr val="062B6F"/>
                </a:solidFill>
                <a:latin typeface="Arial"/>
                <a:ea typeface="Arial"/>
                <a:cs typeface="Arial"/>
              </a:rPr>
              <a:t>System Approach: Trust and Model Release</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20</a:t>
            </a:r>
            <a:endParaRPr sz="2800"/>
          </a:p>
        </p:txBody>
      </p:sp>
      <p:pic>
        <p:nvPicPr>
          <p:cNvPr id="94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ce6676566fe4c7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94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5b9136ee88449d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946" name="Picture 518"/>
          <p:cNvPicPr>
            <a:picLocks xmlns:a="http://schemas.openxmlformats.org/drawingml/2006/main" noChangeAspect="1"/>
          </p:cNvPicPr>
          <p:nvPr/>
        </p:nvPicPr>
        <p:blipFill>
          <a:blip xmlns:r="http://schemas.openxmlformats.org/officeDocument/2006/relationships" xmlns:a="http://schemas.openxmlformats.org/drawingml/2006/main" r:embed="R8cf57fad01dc4548"/>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29" name="system-approach-bottom-cover">
            <a:extLst xmlns:a="http://schemas.openxmlformats.org/drawingml/2006/main">
              <a:ext uri="{FF2B5EF4-FFF2-40B4-BE49-F238E27FC236}">
                <a16:creationId xmlns:a16="http://schemas.microsoft.com/office/drawing/2014/main" id="{E3A906FD-7BF6-484C-BDB4-58637173EB14}"/>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950" name="Picture 522"/>
          <p:cNvPicPr>
            <a:picLocks xmlns:a="http://schemas.openxmlformats.org/drawingml/2006/main" noChangeAspect="1"/>
          </p:cNvPicPr>
          <p:nvPr/>
        </p:nvPicPr>
        <p:blipFill>
          <a:blip xmlns:r="http://schemas.openxmlformats.org/officeDocument/2006/relationships" xmlns:a="http://schemas.openxmlformats.org/drawingml/2006/main" r:embed="Re22a956bf98f4d94"/>
          <a:stretch xmlns:a="http://schemas.openxmlformats.org/drawingml/2006/main"/>
        </p:blipFill>
        <p:spPr>
          <a:xfrm xmlns:a="http://schemas.openxmlformats.org/drawingml/2006/main">
            <a:off x="667606" y="1276350"/>
            <a:ext cx="10856789" cy="3857625"/>
          </a:xfrm>
          <a:prstGeom xmlns:a="http://schemas.openxmlformats.org/drawingml/2006/main" prst="rect">
            <a:avLst/>
          </a:prstGeom>
        </p:spPr>
      </p:pic>
      <p:sp>
        <p:nvSpPr>
          <p:cNvPr id="231" name="system-approach-caption-part-2">
            <a:extLst xmlns:a="http://schemas.openxmlformats.org/drawingml/2006/main">
              <a:ext uri="{FF2B5EF4-FFF2-40B4-BE49-F238E27FC236}">
                <a16:creationId xmlns:a16="http://schemas.microsoft.com/office/drawing/2014/main" id="{18971FE5-D80A-483E-A284-E1BB231D4782}"/>
              </a:ext>
            </a:extLst>
          </p:cNvPr>
          <p:cNvSpPr>
            <a:spLocks xmlns:a="http://schemas.openxmlformats.org/drawingml/2006/main" noGrp="1"/>
          </p:cNvSpPr>
          <p:nvPr/>
        </p:nvSpPr>
        <p:spPr>
          <a:xfrm xmlns:a="http://schemas.openxmlformats.org/drawingml/2006/main">
            <a:off x="1095375" y="5276850"/>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425" i="1">
                <a:solidFill>
                  <a:srgbClr val="1F2937"/>
                </a:solidFill>
                <a:latin typeface="Arial"/>
                <a:ea typeface="Arial"/>
                <a:cs typeface="Arial"/>
              </a:defRPr>
            </a:pPr>
            <a:r>
              <a:rPr sz="1425" i="1">
                <a:solidFill>
                  <a:srgbClr val="1F2937"/>
                </a:solidFill>
                <a:latin typeface="Arial"/>
                <a:ea typeface="Arial"/>
                <a:cs typeface="Arial"/>
              </a:rPr>
              <a:t>Fig. 1(b). Authenticated transport, trust policy, encrypted aggregation, validation, threshold release, verified distribution, and private inference.</a:t>
            </a:r>
          </a:p>
        </p:txBody>
      </p:sp>
      <p:sp>
        <p:nvSpPr>
          <p:cNvPr id="232" name="system-split-border">
            <a:extLst xmlns:a="http://schemas.openxmlformats.org/drawingml/2006/main">
              <a:ext uri="{FF2B5EF4-FFF2-40B4-BE49-F238E27FC236}">
                <a16:creationId xmlns:a16="http://schemas.microsoft.com/office/drawing/2014/main" id="{9F2CC37C-0250-40E7-86DF-B4885E0E33BB}"/>
              </a:ext>
            </a:extLst>
          </p:cNvPr>
          <p:cNvSpPr>
            <a:spLocks xmlns:a="http://schemas.openxmlformats.org/drawingml/2006/main" noGrp="1"/>
          </p:cNvSpPr>
          <p:nvPr/>
        </p:nvSpPr>
        <p:spPr>
          <a:xfrm xmlns:a="http://schemas.openxmlformats.org/drawingml/2006/main">
            <a:off x="285750" y="295275"/>
            <a:ext cx="11811000" cy="6324600"/>
          </a:xfrm>
          <a:prstGeom xmlns:a="http://schemas.openxmlformats.org/drawingml/2006/main" prst="rect">
            <a:avLst/>
          </a:prstGeom>
          <a:noFill xmlns:a="http://schemas.openxmlformats.org/drawingml/2006/main"/>
          <a:ln xmlns:a="http://schemas.openxmlformats.org/drawingml/2006/main" w="11430">
            <a:solidFill>
              <a:srgbClr val="222222"/>
            </a:solidFill>
          </a:ln>
        </p:spPr>
      </p:sp>
      <p:pic>
        <p:nvPicPr>
          <p:cNvPr id="953" name="Picture 526"/>
          <p:cNvPicPr>
            <a:picLocks xmlns:a="http://schemas.openxmlformats.org/drawingml/2006/main" noChangeAspect="1"/>
          </p:cNvPicPr>
          <p:nvPr/>
        </p:nvPicPr>
        <p:blipFill>
          <a:blip xmlns:r="http://schemas.openxmlformats.org/officeDocument/2006/relationships" xmlns:a="http://schemas.openxmlformats.org/drawingml/2006/main" r:embed="Race6676566fe4c7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954" name="Picture 527"/>
          <p:cNvPicPr>
            <a:picLocks xmlns:a="http://schemas.openxmlformats.org/drawingml/2006/main" noChangeAspect="1"/>
          </p:cNvPicPr>
          <p:nvPr/>
        </p:nvPicPr>
        <p:blipFill>
          <a:blip xmlns:r="http://schemas.openxmlformats.org/officeDocument/2006/relationships" xmlns:a="http://schemas.openxmlformats.org/drawingml/2006/main" r:embed="Rc5b9136ee88449dc"/>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236" name="system-split-visible-date">
            <a:extLst xmlns:a="http://schemas.openxmlformats.org/drawingml/2006/main">
              <a:ext uri="{FF2B5EF4-FFF2-40B4-BE49-F238E27FC236}">
                <a16:creationId xmlns:a16="http://schemas.microsoft.com/office/drawing/2014/main" id="{327A7C41-1D12-4BBD-90CE-548504B079D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111" lnSpcReduction="10000"/>
          </a:bodyPr>
          <a:lstStyle xmlns:a="http://schemas.openxmlformats.org/drawingml/2006/main"/>
          <a:p xmlns:a="http://schemas.openxmlformats.org/drawingml/2006/main">
            <a:pPr algn="l">
              <a:buNone/>
              <a:defRPr sz="900">
                <a:solidFill>
                  <a:srgbClr val="062B6F"/>
                </a:solidFill>
                <a:latin typeface="Arial"/>
                <a:ea typeface="Arial"/>
                <a:cs typeface="Arial"/>
              </a:defRPr>
            </a:pPr>
            <a:r>
              <a:rPr sz="900">
                <a:solidFill>
                  <a:srgbClr val="062B6F"/>
                </a:solidFill>
                <a:latin typeface="Arial"/>
                <a:ea typeface="Arial"/>
                <a:cs typeface="Arial"/>
              </a:rPr>
              <a:t>25 September 2026</a:t>
            </a:r>
          </a:p>
        </p:txBody>
      </p:sp>
      <p:sp>
        <p:nvSpPr>
          <p:cNvPr id="243" name="native-release-pipeline-cover">
            <a:extLst xmlns:a="http://schemas.openxmlformats.org/drawingml/2006/main">
              <a:ext uri="{FF2B5EF4-FFF2-40B4-BE49-F238E27FC236}">
                <a16:creationId xmlns:a16="http://schemas.microsoft.com/office/drawing/2014/main" id="{B1AC3206-E032-4B91-9184-F82DCF820FF1}"/>
              </a:ext>
            </a:extLst>
          </p:cNvPr>
          <p:cNvSpPr>
            <a:spLocks xmlns:a="http://schemas.openxmlformats.org/drawingml/2006/main" noGrp="1"/>
          </p:cNvSpPr>
          <p:nvPr/>
        </p:nvSpPr>
        <p:spPr>
          <a:xfrm xmlns:a="http://schemas.openxmlformats.org/drawingml/2006/main">
            <a:off x="400050" y="1066800"/>
            <a:ext cx="1139190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4" name="L4-lane-background">
            <a:extLst xmlns:a="http://schemas.openxmlformats.org/drawingml/2006/main">
              <a:ext uri="{FF2B5EF4-FFF2-40B4-BE49-F238E27FC236}">
                <a16:creationId xmlns:a16="http://schemas.microsoft.com/office/drawing/2014/main" id="{09E3513A-5CB7-4816-AADC-B212D8729B78}"/>
              </a:ext>
            </a:extLst>
          </p:cNvPr>
          <p:cNvSpPr>
            <a:spLocks xmlns:a="http://schemas.openxmlformats.org/drawingml/2006/main" noGrp="1"/>
          </p:cNvSpPr>
          <p:nvPr/>
        </p:nvSpPr>
        <p:spPr>
          <a:xfrm xmlns:a="http://schemas.openxmlformats.org/drawingml/2006/main">
            <a:off x="819150" y="1333500"/>
            <a:ext cx="10572750" cy="895350"/>
          </a:xfrm>
          <a:prstGeom xmlns:a="http://schemas.openxmlformats.org/drawingml/2006/main" prst="roundRect">
            <a:avLst>
              <a:gd name="adj" fmla="val 8511"/>
            </a:avLst>
          </a:prstGeom>
          <a:solidFill xmlns:a="http://schemas.openxmlformats.org/drawingml/2006/main">
            <a:srgbClr val="FFF6E3"/>
          </a:solidFill>
          <a:ln xmlns:a="http://schemas.openxmlformats.org/drawingml/2006/main" w="9525">
            <a:solidFill>
              <a:srgbClr val="D8E0E8"/>
            </a:solidFill>
          </a:ln>
        </p:spPr>
      </p:sp>
      <p:sp>
        <p:nvSpPr>
          <p:cNvPr id="245" name="L4-lane-label">
            <a:extLst xmlns:a="http://schemas.openxmlformats.org/drawingml/2006/main">
              <a:ext uri="{FF2B5EF4-FFF2-40B4-BE49-F238E27FC236}">
                <a16:creationId xmlns:a16="http://schemas.microsoft.com/office/drawing/2014/main" id="{5674893F-4486-4B37-AABF-42C9CE8ABEFA}"/>
              </a:ext>
            </a:extLst>
          </p:cNvPr>
          <p:cNvSpPr>
            <a:spLocks xmlns:a="http://schemas.openxmlformats.org/drawingml/2006/main" noGrp="1"/>
          </p:cNvSpPr>
          <p:nvPr/>
        </p:nvSpPr>
        <p:spPr>
          <a:xfrm xmlns:a="http://schemas.openxmlformats.org/drawingml/2006/main">
            <a:off x="914400" y="1428750"/>
            <a:ext cx="1381125" cy="704850"/>
          </a:xfrm>
          <a:prstGeom xmlns:a="http://schemas.openxmlformats.org/drawingml/2006/main" prst="roundRect">
            <a:avLst>
              <a:gd name="adj" fmla="val 10811"/>
            </a:avLst>
          </a:prstGeom>
          <a:solidFill xmlns:a="http://schemas.openxmlformats.org/drawingml/2006/main">
            <a:srgbClr val="A66F0A"/>
          </a:solidFill>
          <a:ln xmlns:a="http://schemas.openxmlformats.org/drawingml/2006/main" w="952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L4</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Trust and transport</a:t>
            </a:r>
          </a:p>
        </p:txBody>
      </p:sp>
      <p:sp>
        <p:nvSpPr>
          <p:cNvPr id="246" name="L5-lane-background">
            <a:extLst xmlns:a="http://schemas.openxmlformats.org/drawingml/2006/main">
              <a:ext uri="{FF2B5EF4-FFF2-40B4-BE49-F238E27FC236}">
                <a16:creationId xmlns:a16="http://schemas.microsoft.com/office/drawing/2014/main" id="{35B580AB-35F2-4E62-8572-D443B5922050}"/>
              </a:ext>
            </a:extLst>
          </p:cNvPr>
          <p:cNvSpPr>
            <a:spLocks xmlns:a="http://schemas.openxmlformats.org/drawingml/2006/main" noGrp="1"/>
          </p:cNvSpPr>
          <p:nvPr/>
        </p:nvSpPr>
        <p:spPr>
          <a:xfrm xmlns:a="http://schemas.openxmlformats.org/drawingml/2006/main">
            <a:off x="819150" y="2324100"/>
            <a:ext cx="10572750" cy="1333500"/>
          </a:xfrm>
          <a:prstGeom xmlns:a="http://schemas.openxmlformats.org/drawingml/2006/main" prst="roundRect">
            <a:avLst>
              <a:gd name="adj" fmla="val 5714"/>
            </a:avLst>
          </a:prstGeom>
          <a:solidFill xmlns:a="http://schemas.openxmlformats.org/drawingml/2006/main">
            <a:srgbClr val="EDF7F0"/>
          </a:solidFill>
          <a:ln xmlns:a="http://schemas.openxmlformats.org/drawingml/2006/main" w="9525">
            <a:solidFill>
              <a:srgbClr val="D8E0E8"/>
            </a:solidFill>
          </a:ln>
        </p:spPr>
      </p:sp>
      <p:sp>
        <p:nvSpPr>
          <p:cNvPr id="247" name="L5-lane-label">
            <a:extLst xmlns:a="http://schemas.openxmlformats.org/drawingml/2006/main">
              <a:ext uri="{FF2B5EF4-FFF2-40B4-BE49-F238E27FC236}">
                <a16:creationId xmlns:a16="http://schemas.microsoft.com/office/drawing/2014/main" id="{DBBDB24D-534D-4864-B96F-CF722C78DAD3}"/>
              </a:ext>
            </a:extLst>
          </p:cNvPr>
          <p:cNvSpPr>
            <a:spLocks xmlns:a="http://schemas.openxmlformats.org/drawingml/2006/main" noGrp="1"/>
          </p:cNvSpPr>
          <p:nvPr/>
        </p:nvSpPr>
        <p:spPr>
          <a:xfrm xmlns:a="http://schemas.openxmlformats.org/drawingml/2006/main">
            <a:off x="914400" y="2419350"/>
            <a:ext cx="1381125" cy="1143000"/>
          </a:xfrm>
          <a:prstGeom xmlns:a="http://schemas.openxmlformats.org/drawingml/2006/main" prst="roundRect">
            <a:avLst>
              <a:gd name="adj" fmla="val 6667"/>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L5</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Secure aggregation</a:t>
            </a:r>
          </a:p>
        </p:txBody>
      </p:sp>
      <p:sp>
        <p:nvSpPr>
          <p:cNvPr id="248" name="L6-lane-background">
            <a:extLst xmlns:a="http://schemas.openxmlformats.org/drawingml/2006/main">
              <a:ext uri="{FF2B5EF4-FFF2-40B4-BE49-F238E27FC236}">
                <a16:creationId xmlns:a16="http://schemas.microsoft.com/office/drawing/2014/main" id="{0C0B051A-D6CA-45B1-A268-E52798527E74}"/>
              </a:ext>
            </a:extLst>
          </p:cNvPr>
          <p:cNvSpPr>
            <a:spLocks xmlns:a="http://schemas.openxmlformats.org/drawingml/2006/main" noGrp="1"/>
          </p:cNvSpPr>
          <p:nvPr/>
        </p:nvSpPr>
        <p:spPr>
          <a:xfrm xmlns:a="http://schemas.openxmlformats.org/drawingml/2006/main">
            <a:off x="819150" y="3752850"/>
            <a:ext cx="10572750" cy="876300"/>
          </a:xfrm>
          <a:prstGeom xmlns:a="http://schemas.openxmlformats.org/drawingml/2006/main" prst="roundRect">
            <a:avLst>
              <a:gd name="adj" fmla="val 8696"/>
            </a:avLst>
          </a:prstGeom>
          <a:solidFill xmlns:a="http://schemas.openxmlformats.org/drawingml/2006/main">
            <a:srgbClr val="EDF7F0"/>
          </a:solidFill>
          <a:ln xmlns:a="http://schemas.openxmlformats.org/drawingml/2006/main" w="9525">
            <a:solidFill>
              <a:srgbClr val="D8E0E8"/>
            </a:solidFill>
          </a:ln>
        </p:spPr>
      </p:sp>
      <p:sp>
        <p:nvSpPr>
          <p:cNvPr id="249" name="L6-lane-label">
            <a:extLst xmlns:a="http://schemas.openxmlformats.org/drawingml/2006/main">
              <a:ext uri="{FF2B5EF4-FFF2-40B4-BE49-F238E27FC236}">
                <a16:creationId xmlns:a16="http://schemas.microsoft.com/office/drawing/2014/main" id="{E9543AEF-D764-406C-A3A0-010F4F0FD0FF}"/>
              </a:ext>
            </a:extLst>
          </p:cNvPr>
          <p:cNvSpPr>
            <a:spLocks xmlns:a="http://schemas.openxmlformats.org/drawingml/2006/main" noGrp="1"/>
          </p:cNvSpPr>
          <p:nvPr/>
        </p:nvSpPr>
        <p:spPr>
          <a:xfrm xmlns:a="http://schemas.openxmlformats.org/drawingml/2006/main">
            <a:off x="914400" y="3848100"/>
            <a:ext cx="1381125" cy="685800"/>
          </a:xfrm>
          <a:prstGeom xmlns:a="http://schemas.openxmlformats.org/drawingml/2006/main" prst="roundRect">
            <a:avLst>
              <a:gd name="adj" fmla="val 11111"/>
            </a:avLst>
          </a:prstGeom>
          <a:solidFill xmlns:a="http://schemas.openxmlformats.org/drawingml/2006/main">
            <a:srgbClr val="2E7D4F"/>
          </a:solidFill>
          <a:ln xmlns:a="http://schemas.openxmlformats.org/drawingml/2006/main" w="952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L6</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Verified release</a:t>
            </a:r>
          </a:p>
        </p:txBody>
      </p:sp>
      <p:sp>
        <p:nvSpPr>
          <p:cNvPr id="250" name="L7-lane-background">
            <a:extLst xmlns:a="http://schemas.openxmlformats.org/drawingml/2006/main">
              <a:ext uri="{FF2B5EF4-FFF2-40B4-BE49-F238E27FC236}">
                <a16:creationId xmlns:a16="http://schemas.microsoft.com/office/drawing/2014/main" id="{D9321302-1A93-489F-BC90-BAB44DCB630C}"/>
              </a:ext>
            </a:extLst>
          </p:cNvPr>
          <p:cNvSpPr>
            <a:spLocks xmlns:a="http://schemas.openxmlformats.org/drawingml/2006/main" noGrp="1"/>
          </p:cNvSpPr>
          <p:nvPr/>
        </p:nvSpPr>
        <p:spPr>
          <a:xfrm xmlns:a="http://schemas.openxmlformats.org/drawingml/2006/main">
            <a:off x="819150" y="4724400"/>
            <a:ext cx="10572750" cy="876300"/>
          </a:xfrm>
          <a:prstGeom xmlns:a="http://schemas.openxmlformats.org/drawingml/2006/main" prst="roundRect">
            <a:avLst>
              <a:gd name="adj" fmla="val 8696"/>
            </a:avLst>
          </a:prstGeom>
          <a:solidFill xmlns:a="http://schemas.openxmlformats.org/drawingml/2006/main">
            <a:srgbClr val="ECF7F6"/>
          </a:solidFill>
          <a:ln xmlns:a="http://schemas.openxmlformats.org/drawingml/2006/main" w="9525">
            <a:solidFill>
              <a:srgbClr val="D8E0E8"/>
            </a:solidFill>
          </a:ln>
        </p:spPr>
      </p:sp>
      <p:sp>
        <p:nvSpPr>
          <p:cNvPr id="251" name="L7-lane-label">
            <a:extLst xmlns:a="http://schemas.openxmlformats.org/drawingml/2006/main">
              <a:ext uri="{FF2B5EF4-FFF2-40B4-BE49-F238E27FC236}">
                <a16:creationId xmlns:a16="http://schemas.microsoft.com/office/drawing/2014/main" id="{E2D74EF4-B0D2-4F6B-AAC3-912FAAE1EFF7}"/>
              </a:ext>
            </a:extLst>
          </p:cNvPr>
          <p:cNvSpPr>
            <a:spLocks xmlns:a="http://schemas.openxmlformats.org/drawingml/2006/main" noGrp="1"/>
          </p:cNvSpPr>
          <p:nvPr/>
        </p:nvSpPr>
        <p:spPr>
          <a:xfrm xmlns:a="http://schemas.openxmlformats.org/drawingml/2006/main">
            <a:off x="914400" y="4819650"/>
            <a:ext cx="1381125" cy="685800"/>
          </a:xfrm>
          <a:prstGeom xmlns:a="http://schemas.openxmlformats.org/drawingml/2006/main" prst="roundRect">
            <a:avLst>
              <a:gd name="adj" fmla="val 11111"/>
            </a:avLst>
          </a:prstGeom>
          <a:solidFill xmlns:a="http://schemas.openxmlformats.org/drawingml/2006/main">
            <a:srgbClr val="287D78"/>
          </a:solidFill>
          <a:ln xmlns:a="http://schemas.openxmlformats.org/drawingml/2006/main" w="9525">
            <a:solidFill>
              <a:srgbClr val="287D78"/>
            </a:solidFill>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L7</a:t>
            </a:r>
          </a:p>
          <a:p xmlns:a="http://schemas.openxmlformats.org/drawingml/2006/main">
            <a:pPr algn="ctr">
              <a:buNone/>
              <a:defRPr sz="1125" b="1">
                <a:solidFill>
                  <a:srgbClr val="FFFFFF"/>
                </a:solidFill>
                <a:latin typeface="Arial"/>
                <a:ea typeface="Arial"/>
                <a:cs typeface="Arial"/>
              </a:defRPr>
            </a:pPr>
            <a:r>
              <a:rPr sz="1125" b="1">
                <a:solidFill>
                  <a:srgbClr val="FFFFFF"/>
                </a:solidFill>
                <a:latin typeface="Arial"/>
                <a:ea typeface="Arial"/>
                <a:cs typeface="Arial"/>
              </a:rPr>
              <a:t>Private inference</a:t>
            </a:r>
          </a:p>
        </p:txBody>
      </p:sp>
      <p:sp>
        <p:nvSpPr>
          <p:cNvPr id="252" name="l4-mtls">
            <a:extLst xmlns:a="http://schemas.openxmlformats.org/drawingml/2006/main">
              <a:ext uri="{FF2B5EF4-FFF2-40B4-BE49-F238E27FC236}">
                <a16:creationId xmlns:a16="http://schemas.microsoft.com/office/drawing/2014/main" id="{EB74CFD5-298D-495C-BD1C-035783E5DBCB}"/>
              </a:ext>
            </a:extLst>
          </p:cNvPr>
          <p:cNvSpPr>
            <a:spLocks xmlns:a="http://schemas.openxmlformats.org/drawingml/2006/main" noGrp="1"/>
          </p:cNvSpPr>
          <p:nvPr/>
        </p:nvSpPr>
        <p:spPr>
          <a:xfrm xmlns:a="http://schemas.openxmlformats.org/drawingml/2006/main">
            <a:off x="2476500" y="1524000"/>
            <a:ext cx="16192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Mutual TLS</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secure channel</a:t>
            </a:r>
          </a:p>
        </p:txBody>
      </p:sp>
      <p:sp>
        <p:nvSpPr>
          <p:cNvPr id="253" name="l4-verify">
            <a:extLst xmlns:a="http://schemas.openxmlformats.org/drawingml/2006/main">
              <a:ext uri="{FF2B5EF4-FFF2-40B4-BE49-F238E27FC236}">
                <a16:creationId xmlns:a16="http://schemas.microsoft.com/office/drawing/2014/main" id="{5C443436-7287-45F4-BD19-8E4A19BAC0B2}"/>
              </a:ext>
            </a:extLst>
          </p:cNvPr>
          <p:cNvSpPr>
            <a:spLocks xmlns:a="http://schemas.openxmlformats.org/drawingml/2006/main" noGrp="1"/>
          </p:cNvSpPr>
          <p:nvPr/>
        </p:nvSpPr>
        <p:spPr>
          <a:xfrm xmlns:a="http://schemas.openxmlformats.org/drawingml/2006/main">
            <a:off x="4524375" y="1524000"/>
            <a:ext cx="185737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Verify identity, signature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round freshness</a:t>
            </a:r>
          </a:p>
        </p:txBody>
      </p:sp>
      <p:sp>
        <p:nvSpPr>
          <p:cNvPr id="254" name="l4-admit">
            <a:extLst xmlns:a="http://schemas.openxmlformats.org/drawingml/2006/main">
              <a:ext uri="{FF2B5EF4-FFF2-40B4-BE49-F238E27FC236}">
                <a16:creationId xmlns:a16="http://schemas.microsoft.com/office/drawing/2014/main" id="{53CE035A-2A77-4748-955D-E940258CE5D1}"/>
              </a:ext>
            </a:extLst>
          </p:cNvPr>
          <p:cNvSpPr>
            <a:spLocks xmlns:a="http://schemas.openxmlformats.org/drawingml/2006/main" noGrp="1"/>
          </p:cNvSpPr>
          <p:nvPr/>
        </p:nvSpPr>
        <p:spPr>
          <a:xfrm xmlns:a="http://schemas.openxmlformats.org/drawingml/2006/main">
            <a:off x="6810375" y="1524000"/>
            <a:ext cx="1809750"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Admission policy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reputation check</a:t>
            </a:r>
          </a:p>
        </p:txBody>
      </p:sp>
      <p:sp>
        <p:nvSpPr>
          <p:cNvPr id="255" name="l4-ledger">
            <a:extLst xmlns:a="http://schemas.openxmlformats.org/drawingml/2006/main">
              <a:ext uri="{FF2B5EF4-FFF2-40B4-BE49-F238E27FC236}">
                <a16:creationId xmlns:a16="http://schemas.microsoft.com/office/drawing/2014/main" id="{CF8EC2A1-4D15-4565-9680-ED14178B4034}"/>
              </a:ext>
            </a:extLst>
          </p:cNvPr>
          <p:cNvSpPr>
            <a:spLocks xmlns:a="http://schemas.openxmlformats.org/drawingml/2006/main" noGrp="1"/>
          </p:cNvSpPr>
          <p:nvPr/>
        </p:nvSpPr>
        <p:spPr>
          <a:xfrm xmlns:a="http://schemas.openxmlformats.org/drawingml/2006/main">
            <a:off x="9048750" y="1524000"/>
            <a:ext cx="1952625" cy="514350"/>
          </a:xfrm>
          <a:prstGeom xmlns:a="http://schemas.openxmlformats.org/drawingml/2006/main" prst="roundRect">
            <a:avLst>
              <a:gd name="adj" fmla="val 14815"/>
            </a:avLst>
          </a:prstGeom>
          <a:solidFill xmlns:a="http://schemas.openxmlformats.org/drawingml/2006/main">
            <a:srgbClr val="FFF6E3"/>
          </a:solidFill>
          <a:ln xmlns:a="http://schemas.openxmlformats.org/drawingml/2006/main" w="13335">
            <a:solidFill>
              <a:srgbClr val="A66F0A"/>
            </a:solidFill>
          </a:ln>
        </p:spPr>
        <p:txBody>
          <a:bodyPr xmlns:a="http://schemas.openxmlformats.org/drawingml/2006/main" anchor="ctr">
            <a:normAutofit fontScale="908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Ciphertext off-chain</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 and status on ledger</a:t>
            </a:r>
          </a:p>
        </p:txBody>
      </p:sp>
      <p:cxnSp>
        <p:nvCxnSpPr>
          <p:cNvPr id="969" name="Straight Arrow Connector 542"/>
          <p:cNvCxnSpPr>
            <a:stCxn xmlns:a="http://schemas.openxmlformats.org/drawingml/2006/main" id="252" idx="3"/>
            <a:endCxn xmlns:a="http://schemas.openxmlformats.org/drawingml/2006/main" id="253" idx="1"/>
          </p:cNvCxnSpPr>
          <p:nvPr/>
        </p:nvCxnSpPr>
        <p:spPr>
          <a:xfrm xmlns:a="http://schemas.openxmlformats.org/drawingml/2006/main">
            <a:off x="4095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70" name="Straight Arrow Connector 543"/>
          <p:cNvCxnSpPr>
            <a:stCxn xmlns:a="http://schemas.openxmlformats.org/drawingml/2006/main" id="253" idx="3"/>
            <a:endCxn xmlns:a="http://schemas.openxmlformats.org/drawingml/2006/main" id="254" idx="1"/>
          </p:cNvCxnSpPr>
          <p:nvPr/>
        </p:nvCxnSpPr>
        <p:spPr>
          <a:xfrm xmlns:a="http://schemas.openxmlformats.org/drawingml/2006/main">
            <a:off x="6381750"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71" name="Straight Arrow Connector 544"/>
          <p:cNvCxnSpPr>
            <a:stCxn xmlns:a="http://schemas.openxmlformats.org/drawingml/2006/main" id="254" idx="3"/>
            <a:endCxn xmlns:a="http://schemas.openxmlformats.org/drawingml/2006/main" id="255" idx="1"/>
          </p:cNvCxnSpPr>
          <p:nvPr/>
        </p:nvCxnSpPr>
        <p:spPr>
          <a:xfrm xmlns:a="http://schemas.openxmlformats.org/drawingml/2006/main">
            <a:off x="8620125" y="1781175"/>
            <a:ext cx="4286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59" name="l5-quorum">
            <a:extLst xmlns:a="http://schemas.openxmlformats.org/drawingml/2006/main">
              <a:ext uri="{FF2B5EF4-FFF2-40B4-BE49-F238E27FC236}">
                <a16:creationId xmlns:a16="http://schemas.microsoft.com/office/drawing/2014/main" id="{6A773FF3-EE2F-493E-9D55-9E2EFF3A0419}"/>
              </a:ext>
            </a:extLst>
          </p:cNvPr>
          <p:cNvSpPr>
            <a:spLocks xmlns:a="http://schemas.openxmlformats.org/drawingml/2006/main" noGrp="1"/>
          </p:cNvSpPr>
          <p:nvPr/>
        </p:nvSpPr>
        <p:spPr>
          <a:xfrm xmlns:a="http://schemas.openxmlformats.org/drawingml/2006/main">
            <a:off x="2343150" y="2724150"/>
            <a:ext cx="1381125"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Quorum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dropout handling</a:t>
            </a:r>
          </a:p>
        </p:txBody>
      </p:sp>
      <p:sp>
        <p:nvSpPr>
          <p:cNvPr id="260" name="l5-fedavg">
            <a:extLst xmlns:a="http://schemas.openxmlformats.org/drawingml/2006/main">
              <a:ext uri="{FF2B5EF4-FFF2-40B4-BE49-F238E27FC236}">
                <a16:creationId xmlns:a16="http://schemas.microsoft.com/office/drawing/2014/main" id="{80102FEA-2126-4AE3-A615-5B3CD4D47D7A}"/>
              </a:ext>
            </a:extLst>
          </p:cNvPr>
          <p:cNvSpPr>
            <a:spLocks xmlns:a="http://schemas.openxmlformats.org/drawingml/2006/main" noGrp="1"/>
          </p:cNvSpPr>
          <p:nvPr/>
        </p:nvSpPr>
        <p:spPr>
          <a:xfrm xmlns:a="http://schemas.openxmlformats.org/drawingml/2006/main">
            <a:off x="4000500" y="2724150"/>
            <a:ext cx="161925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3147"/>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Reputation-weighted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homomorphic FedAvg</a:t>
            </a:r>
          </a:p>
        </p:txBody>
      </p:sp>
      <p:sp>
        <p:nvSpPr>
          <p:cNvPr id="261" name="l5-decrypt">
            <a:extLst xmlns:a="http://schemas.openxmlformats.org/drawingml/2006/main">
              <a:ext uri="{FF2B5EF4-FFF2-40B4-BE49-F238E27FC236}">
                <a16:creationId xmlns:a16="http://schemas.microsoft.com/office/drawing/2014/main" id="{ED1B2A6C-4649-4427-A1FE-873CB8B69D86}"/>
              </a:ext>
            </a:extLst>
          </p:cNvPr>
          <p:cNvSpPr>
            <a:spLocks xmlns:a="http://schemas.openxmlformats.org/drawingml/2006/main" noGrp="1"/>
          </p:cNvSpPr>
          <p:nvPr/>
        </p:nvSpPr>
        <p:spPr>
          <a:xfrm xmlns:a="http://schemas.openxmlformats.org/drawingml/2006/main">
            <a:off x="5895975" y="2724150"/>
            <a:ext cx="1476375" cy="533400"/>
          </a:xfrm>
          <a:prstGeom xmlns:a="http://schemas.openxmlformats.org/drawingml/2006/main" prst="roundRect">
            <a:avLst>
              <a:gd name="adj" fmla="val 14286"/>
            </a:avLst>
          </a:prstGeom>
          <a:solidFill xmlns:a="http://schemas.openxmlformats.org/drawingml/2006/main">
            <a:srgbClr val="ECF7F5"/>
          </a:solidFill>
          <a:ln xmlns:a="http://schemas.openxmlformats.org/drawingml/2006/main" w="13335">
            <a:solidFill>
              <a:srgbClr val="2F7F77"/>
            </a:solidFill>
          </a:ln>
        </p:spPr>
        <p:txBody>
          <a:bodyPr xmlns:a="http://schemas.openxmlformats.org/drawingml/2006/main" anchor="ctr">
            <a:normAutofit/>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Threshold decrypt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aggregate only</a:t>
            </a:r>
          </a:p>
        </p:txBody>
      </p:sp>
      <p:sp>
        <p:nvSpPr>
          <p:cNvPr id="262" name="l5-validate">
            <a:extLst xmlns:a="http://schemas.openxmlformats.org/drawingml/2006/main">
              <a:ext uri="{FF2B5EF4-FFF2-40B4-BE49-F238E27FC236}">
                <a16:creationId xmlns:a16="http://schemas.microsoft.com/office/drawing/2014/main" id="{EEB77686-D3D0-4666-8225-CCB147821891}"/>
              </a:ext>
            </a:extLst>
          </p:cNvPr>
          <p:cNvSpPr>
            <a:spLocks xmlns:a="http://schemas.openxmlformats.org/drawingml/2006/main" noGrp="1"/>
          </p:cNvSpPr>
          <p:nvPr/>
        </p:nvSpPr>
        <p:spPr>
          <a:xfrm xmlns:a="http://schemas.openxmlformats.org/drawingml/2006/main">
            <a:off x="7648575" y="2724150"/>
            <a:ext cx="1524000" cy="533400"/>
          </a:xfrm>
          <a:prstGeom xmlns:a="http://schemas.openxmlformats.org/drawingml/2006/main" prst="roundRect">
            <a:avLst>
              <a:gd name="adj" fmla="val 14286"/>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Validate utility, drift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anomaly checks</a:t>
            </a:r>
          </a:p>
        </p:txBody>
      </p:sp>
      <p:sp>
        <p:nvSpPr>
          <p:cNvPr id="263" name="l5-decision">
            <a:extLst xmlns:a="http://schemas.openxmlformats.org/drawingml/2006/main">
              <a:ext uri="{FF2B5EF4-FFF2-40B4-BE49-F238E27FC236}">
                <a16:creationId xmlns:a16="http://schemas.microsoft.com/office/drawing/2014/main" id="{BC3B00FA-F196-4BDF-9D42-CD87EEED5A18}"/>
              </a:ext>
            </a:extLst>
          </p:cNvPr>
          <p:cNvSpPr>
            <a:spLocks xmlns:a="http://schemas.openxmlformats.org/drawingml/2006/main" noGrp="1"/>
          </p:cNvSpPr>
          <p:nvPr/>
        </p:nvSpPr>
        <p:spPr>
          <a:xfrm xmlns:a="http://schemas.openxmlformats.org/drawingml/2006/main">
            <a:off x="9353550" y="2657475"/>
            <a:ext cx="838200" cy="666750"/>
          </a:xfrm>
          <a:prstGeom xmlns:a="http://schemas.openxmlformats.org/drawingml/2006/main" prst="diamond">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75595"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Pass?</a:t>
            </a:r>
          </a:p>
        </p:txBody>
      </p:sp>
      <p:cxnSp>
        <p:nvCxnSpPr>
          <p:cNvPr id="977" name="Straight Arrow Connector 550"/>
          <p:cNvCxnSpPr>
            <a:stCxn xmlns:a="http://schemas.openxmlformats.org/drawingml/2006/main" id="259" idx="3"/>
            <a:endCxn xmlns:a="http://schemas.openxmlformats.org/drawingml/2006/main" id="260" idx="1"/>
          </p:cNvCxnSpPr>
          <p:nvPr/>
        </p:nvCxnSpPr>
        <p:spPr>
          <a:xfrm xmlns:a="http://schemas.openxmlformats.org/drawingml/2006/main">
            <a:off x="3724275"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78" name="Straight Arrow Connector 551"/>
          <p:cNvCxnSpPr>
            <a:stCxn xmlns:a="http://schemas.openxmlformats.org/drawingml/2006/main" id="260" idx="3"/>
            <a:endCxn xmlns:a="http://schemas.openxmlformats.org/drawingml/2006/main" id="261" idx="1"/>
          </p:cNvCxnSpPr>
          <p:nvPr/>
        </p:nvCxnSpPr>
        <p:spPr>
          <a:xfrm xmlns:a="http://schemas.openxmlformats.org/drawingml/2006/main">
            <a:off x="56197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79" name="Straight Arrow Connector 552"/>
          <p:cNvCxnSpPr>
            <a:stCxn xmlns:a="http://schemas.openxmlformats.org/drawingml/2006/main" id="261" idx="3"/>
            <a:endCxn xmlns:a="http://schemas.openxmlformats.org/drawingml/2006/main" id="262" idx="1"/>
          </p:cNvCxnSpPr>
          <p:nvPr/>
        </p:nvCxnSpPr>
        <p:spPr>
          <a:xfrm xmlns:a="http://schemas.openxmlformats.org/drawingml/2006/main">
            <a:off x="7372350" y="2990850"/>
            <a:ext cx="27622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80" name="Straight Arrow Connector 553"/>
          <p:cNvCxnSpPr>
            <a:stCxn xmlns:a="http://schemas.openxmlformats.org/drawingml/2006/main" id="262" idx="3"/>
            <a:endCxn xmlns:a="http://schemas.openxmlformats.org/drawingml/2006/main" id="263" idx="1"/>
          </p:cNvCxnSpPr>
          <p:nvPr/>
        </p:nvCxnSpPr>
        <p:spPr>
          <a:xfrm xmlns:a="http://schemas.openxmlformats.org/drawingml/2006/main">
            <a:off x="9172575" y="2990850"/>
            <a:ext cx="1809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68" name="l5-accept">
            <a:extLst xmlns:a="http://schemas.openxmlformats.org/drawingml/2006/main">
              <a:ext uri="{FF2B5EF4-FFF2-40B4-BE49-F238E27FC236}">
                <a16:creationId xmlns:a16="http://schemas.microsoft.com/office/drawing/2014/main" id="{B290B1B0-3FD4-4DF9-80AB-79B80DF555A6}"/>
              </a:ext>
            </a:extLst>
          </p:cNvPr>
          <p:cNvSpPr>
            <a:spLocks xmlns:a="http://schemas.openxmlformats.org/drawingml/2006/main" noGrp="1"/>
          </p:cNvSpPr>
          <p:nvPr/>
        </p:nvSpPr>
        <p:spPr>
          <a:xfrm xmlns:a="http://schemas.openxmlformats.org/drawingml/2006/main">
            <a:off x="10382250" y="2447925"/>
            <a:ext cx="904875" cy="400050"/>
          </a:xfrm>
          <a:prstGeom xmlns:a="http://schemas.openxmlformats.org/drawingml/2006/main" prst="roundRect">
            <a:avLst>
              <a:gd name="adj" fmla="val 19048"/>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82481" lnSpcReduction="1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Accept model</a:t>
            </a:r>
          </a:p>
        </p:txBody>
      </p:sp>
      <p:sp>
        <p:nvSpPr>
          <p:cNvPr id="269" name="l5-reject">
            <a:extLst xmlns:a="http://schemas.openxmlformats.org/drawingml/2006/main">
              <a:ext uri="{FF2B5EF4-FFF2-40B4-BE49-F238E27FC236}">
                <a16:creationId xmlns:a16="http://schemas.microsoft.com/office/drawing/2014/main" id="{4189A42B-F3E3-4595-BD80-16F3C5CF3BAD}"/>
              </a:ext>
            </a:extLst>
          </p:cNvPr>
          <p:cNvSpPr>
            <a:spLocks xmlns:a="http://schemas.openxmlformats.org/drawingml/2006/main" noGrp="1"/>
          </p:cNvSpPr>
          <p:nvPr/>
        </p:nvSpPr>
        <p:spPr>
          <a:xfrm xmlns:a="http://schemas.openxmlformats.org/drawingml/2006/main">
            <a:off x="10382250" y="3105150"/>
            <a:ext cx="904875" cy="419100"/>
          </a:xfrm>
          <a:prstGeom xmlns:a="http://schemas.openxmlformats.org/drawingml/2006/main" prst="roundRect">
            <a:avLst>
              <a:gd name="adj" fmla="val 18182"/>
            </a:avLst>
          </a:prstGeom>
          <a:solidFill xmlns:a="http://schemas.openxmlformats.org/drawingml/2006/main">
            <a:srgbClr val="FDEEEE"/>
          </a:solidFill>
          <a:ln xmlns:a="http://schemas.openxmlformats.org/drawingml/2006/main" w="13335">
            <a:solidFill>
              <a:srgbClr val="C94B4B"/>
            </a:solidFill>
          </a:ln>
        </p:spPr>
        <p:txBody>
          <a:bodyPr xmlns:a="http://schemas.openxmlformats.org/drawingml/2006/main" anchor="ctr">
            <a:normAutofit fontScale="74025" lnSpcReduction="20000"/>
          </a:bodyPr>
          <a:lstStyle xmlns:a="http://schemas.openxmlformats.org/drawingml/2006/main"/>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Rollback and</a:t>
            </a:r>
          </a:p>
          <a:p xmlns:a="http://schemas.openxmlformats.org/drawingml/2006/main">
            <a:pPr algn="ctr">
              <a:buNone/>
              <a:defRPr sz="1050" b="1">
                <a:solidFill>
                  <a:srgbClr val="1F2937"/>
                </a:solidFill>
                <a:latin typeface="Arial"/>
                <a:ea typeface="Arial"/>
                <a:cs typeface="Arial"/>
              </a:defRPr>
            </a:pPr>
            <a:r>
              <a:rPr sz="1050" b="1">
                <a:solidFill>
                  <a:srgbClr val="1F2937"/>
                </a:solidFill>
                <a:latin typeface="Arial"/>
                <a:ea typeface="Arial"/>
                <a:cs typeface="Arial"/>
              </a:rPr>
              <a:t>quarantine</a:t>
            </a:r>
          </a:p>
        </p:txBody>
      </p:sp>
      <p:cxnSp>
        <p:nvCxnSpPr>
          <p:cNvPr id="983" name="Connector: Elbow 556"/>
          <p:cNvCxnSpPr>
            <a:stCxn xmlns:a="http://schemas.openxmlformats.org/drawingml/2006/main" id="263" idx="3"/>
            <a:endCxn xmlns:a="http://schemas.openxmlformats.org/drawingml/2006/main" id="268" idx="1"/>
          </p:cNvCxnSpPr>
          <p:nvPr/>
        </p:nvCxnSpPr>
        <p:spPr>
          <a:xfrm xmlns:a="http://schemas.openxmlformats.org/drawingml/2006/main" flipV="1">
            <a:off x="10191750" y="2647950"/>
            <a:ext cx="190500" cy="342900"/>
          </a:xfrm>
          <a:prstGeom xmlns:a="http://schemas.openxmlformats.org/drawingml/2006/main" prst="bentConnector3">
            <a:avLst>
              <a:gd name="adj1" fmla="val 50000"/>
            </a:avLst>
          </a:prstGeom>
          <a:ln xmlns:a="http://schemas.openxmlformats.org/drawingml/2006/main" w="16193">
            <a:solidFill>
              <a:srgbClr val="2E7D4F"/>
            </a:solidFill>
            <a:prstDash val="solid"/>
            <a:headEnd type="none" w="med" len="med"/>
            <a:tailEnd type="triangle" w="sm" len="sm"/>
          </a:ln>
        </p:spPr>
      </p:cxnSp>
      <p:cxnSp>
        <p:nvCxnSpPr>
          <p:cNvPr id="984" name="Connector: Elbow 557"/>
          <p:cNvCxnSpPr>
            <a:stCxn xmlns:a="http://schemas.openxmlformats.org/drawingml/2006/main" id="263" idx="2"/>
            <a:endCxn xmlns:a="http://schemas.openxmlformats.org/drawingml/2006/main" id="269" idx="1"/>
          </p:cNvCxnSpPr>
          <p:nvPr/>
        </p:nvCxnSpPr>
        <p:spPr>
          <a:xfrm xmlns:a="http://schemas.openxmlformats.org/drawingml/2006/main" flipV="1">
            <a:off x="9772650" y="3314700"/>
            <a:ext cx="609600" cy="9525"/>
          </a:xfrm>
          <a:prstGeom xmlns:a="http://schemas.openxmlformats.org/drawingml/2006/main" prst="bentConnector3">
            <a:avLst>
              <a:gd name="adj1" fmla="val 0"/>
            </a:avLst>
          </a:prstGeom>
          <a:ln xmlns:a="http://schemas.openxmlformats.org/drawingml/2006/main" w="16193">
            <a:solidFill>
              <a:srgbClr val="C94B4B"/>
            </a:solidFill>
            <a:prstDash val="solid"/>
            <a:headEnd type="none" w="med" len="med"/>
            <a:tailEnd type="triangle" w="sm" len="sm"/>
          </a:ln>
        </p:spPr>
      </p:cxnSp>
      <p:sp>
        <p:nvSpPr>
          <p:cNvPr id="272" name="accept-label">
            <a:extLst xmlns:a="http://schemas.openxmlformats.org/drawingml/2006/main">
              <a:ext uri="{FF2B5EF4-FFF2-40B4-BE49-F238E27FC236}">
                <a16:creationId xmlns:a16="http://schemas.microsoft.com/office/drawing/2014/main" id="{8E306D12-4090-4BF4-8EAA-7DABEB8CF822}"/>
              </a:ext>
            </a:extLst>
          </p:cNvPr>
          <p:cNvSpPr>
            <a:spLocks xmlns:a="http://schemas.openxmlformats.org/drawingml/2006/main" noGrp="1"/>
          </p:cNvSpPr>
          <p:nvPr/>
        </p:nvSpPr>
        <p:spPr>
          <a:xfrm xmlns:a="http://schemas.openxmlformats.org/drawingml/2006/main">
            <a:off x="10163175" y="24479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9523" lnSpcReduction="20000"/>
          </a:bodyPr>
          <a:lstStyle xmlns:a="http://schemas.openxmlformats.org/drawingml/2006/main"/>
          <a:p xmlns:a="http://schemas.openxmlformats.org/drawingml/2006/main">
            <a:pPr algn="ctr">
              <a:buNone/>
              <a:defRPr sz="825" b="1">
                <a:solidFill>
                  <a:srgbClr val="2E7D4F"/>
                </a:solidFill>
                <a:latin typeface="Arial"/>
                <a:ea typeface="Arial"/>
                <a:cs typeface="Arial"/>
              </a:defRPr>
            </a:pPr>
            <a:r>
              <a:rPr sz="825" b="1">
                <a:solidFill>
                  <a:srgbClr val="2E7D4F"/>
                </a:solidFill>
                <a:latin typeface="Arial"/>
                <a:ea typeface="Arial"/>
                <a:cs typeface="Arial"/>
              </a:rPr>
              <a:t>YES</a:t>
            </a:r>
          </a:p>
        </p:txBody>
      </p:sp>
      <p:sp>
        <p:nvSpPr>
          <p:cNvPr id="273" name="reject-label">
            <a:extLst xmlns:a="http://schemas.openxmlformats.org/drawingml/2006/main">
              <a:ext uri="{FF2B5EF4-FFF2-40B4-BE49-F238E27FC236}">
                <a16:creationId xmlns:a16="http://schemas.microsoft.com/office/drawing/2014/main" id="{2E444E79-6138-4BBB-86BD-6266C96D64E4}"/>
              </a:ext>
            </a:extLst>
          </p:cNvPr>
          <p:cNvSpPr>
            <a:spLocks xmlns:a="http://schemas.openxmlformats.org/drawingml/2006/main" noGrp="1"/>
          </p:cNvSpPr>
          <p:nvPr/>
        </p:nvSpPr>
        <p:spPr>
          <a:xfrm xmlns:a="http://schemas.openxmlformats.org/drawingml/2006/main">
            <a:off x="10086975" y="3257550"/>
            <a:ext cx="28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777" lnSpcReduction="10000"/>
          </a:bodyPr>
          <a:lstStyle xmlns:a="http://schemas.openxmlformats.org/drawingml/2006/main"/>
          <a:p xmlns:a="http://schemas.openxmlformats.org/drawingml/2006/main">
            <a:pPr algn="ctr">
              <a:buNone/>
              <a:defRPr sz="825" b="1">
                <a:solidFill>
                  <a:srgbClr val="C94B4B"/>
                </a:solidFill>
                <a:latin typeface="Arial"/>
                <a:ea typeface="Arial"/>
                <a:cs typeface="Arial"/>
              </a:defRPr>
            </a:pPr>
            <a:r>
              <a:rPr sz="825" b="1">
                <a:solidFill>
                  <a:srgbClr val="C94B4B"/>
                </a:solidFill>
                <a:latin typeface="Arial"/>
                <a:ea typeface="Arial"/>
                <a:cs typeface="Arial"/>
              </a:rPr>
              <a:t>NO</a:t>
            </a:r>
          </a:p>
        </p:txBody>
      </p:sp>
      <p:sp>
        <p:nvSpPr>
          <p:cNvPr id="274" name="l6-record">
            <a:extLst xmlns:a="http://schemas.openxmlformats.org/drawingml/2006/main">
              <a:ext uri="{FF2B5EF4-FFF2-40B4-BE49-F238E27FC236}">
                <a16:creationId xmlns:a16="http://schemas.microsoft.com/office/drawing/2014/main" id="{DDD347D4-BDDF-4091-B408-4538BFC7CC55}"/>
              </a:ext>
            </a:extLst>
          </p:cNvPr>
          <p:cNvSpPr>
            <a:spLocks xmlns:a="http://schemas.openxmlformats.org/drawingml/2006/main" noGrp="1"/>
          </p:cNvSpPr>
          <p:nvPr/>
        </p:nvSpPr>
        <p:spPr>
          <a:xfrm xmlns:a="http://schemas.openxmlformats.org/drawingml/2006/main">
            <a:off x="263842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Record global-model</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hash</a:t>
            </a:r>
          </a:p>
        </p:txBody>
      </p:sp>
      <p:sp>
        <p:nvSpPr>
          <p:cNvPr id="275" name="l6-broadcast">
            <a:extLst xmlns:a="http://schemas.openxmlformats.org/drawingml/2006/main">
              <a:ext uri="{FF2B5EF4-FFF2-40B4-BE49-F238E27FC236}">
                <a16:creationId xmlns:a16="http://schemas.microsoft.com/office/drawing/2014/main" id="{81870695-226F-4D05-8587-02783712BD68}"/>
              </a:ext>
            </a:extLst>
          </p:cNvPr>
          <p:cNvSpPr>
            <a:spLocks xmlns:a="http://schemas.openxmlformats.org/drawingml/2006/main" noGrp="1"/>
          </p:cNvSpPr>
          <p:nvPr/>
        </p:nvSpPr>
        <p:spPr>
          <a:xfrm xmlns:a="http://schemas.openxmlformats.org/drawingml/2006/main">
            <a:off x="4781550"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Signed secure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broadcast</a:t>
            </a:r>
          </a:p>
        </p:txBody>
      </p:sp>
      <p:sp>
        <p:nvSpPr>
          <p:cNvPr id="276" name="l6-verify">
            <a:extLst xmlns:a="http://schemas.openxmlformats.org/drawingml/2006/main">
              <a:ext uri="{FF2B5EF4-FFF2-40B4-BE49-F238E27FC236}">
                <a16:creationId xmlns:a16="http://schemas.microsoft.com/office/drawing/2014/main" id="{603F78C0-586C-4CEC-8D06-A0742952D251}"/>
              </a:ext>
            </a:extLst>
          </p:cNvPr>
          <p:cNvSpPr>
            <a:spLocks xmlns:a="http://schemas.openxmlformats.org/drawingml/2006/main" noGrp="1"/>
          </p:cNvSpPr>
          <p:nvPr/>
        </p:nvSpPr>
        <p:spPr>
          <a:xfrm xmlns:a="http://schemas.openxmlformats.org/drawingml/2006/main">
            <a:off x="6924675" y="3943350"/>
            <a:ext cx="16668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Hospitals verify</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version and hash</a:t>
            </a:r>
          </a:p>
        </p:txBody>
      </p:sp>
      <p:sp>
        <p:nvSpPr>
          <p:cNvPr id="277" name="l6-next">
            <a:extLst xmlns:a="http://schemas.openxmlformats.org/drawingml/2006/main">
              <a:ext uri="{FF2B5EF4-FFF2-40B4-BE49-F238E27FC236}">
                <a16:creationId xmlns:a16="http://schemas.microsoft.com/office/drawing/2014/main" id="{A68478F7-87A2-4FBC-B7FF-369AF12D4132}"/>
              </a:ext>
            </a:extLst>
          </p:cNvPr>
          <p:cNvSpPr>
            <a:spLocks xmlns:a="http://schemas.openxmlformats.org/drawingml/2006/main" noGrp="1"/>
          </p:cNvSpPr>
          <p:nvPr/>
        </p:nvSpPr>
        <p:spPr>
          <a:xfrm xmlns:a="http://schemas.openxmlformats.org/drawingml/2006/main">
            <a:off x="9067800" y="3943350"/>
            <a:ext cx="1476375" cy="495300"/>
          </a:xfrm>
          <a:prstGeom xmlns:a="http://schemas.openxmlformats.org/drawingml/2006/main" prst="roundRect">
            <a:avLst>
              <a:gd name="adj" fmla="val 15385"/>
            </a:avLst>
          </a:prstGeom>
          <a:solidFill xmlns:a="http://schemas.openxmlformats.org/drawingml/2006/main">
            <a:srgbClr val="EDF7F0"/>
          </a:solidFill>
          <a:ln xmlns:a="http://schemas.openxmlformats.org/drawingml/2006/main" w="13335">
            <a:solidFill>
              <a:srgbClr val="2E7D4F"/>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Begin next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FL round</a:t>
            </a:r>
          </a:p>
        </p:txBody>
      </p:sp>
      <p:cxnSp>
        <p:nvCxnSpPr>
          <p:cNvPr id="991" name="Straight Arrow Connector 564"/>
          <p:cNvCxnSpPr>
            <a:stCxn xmlns:a="http://schemas.openxmlformats.org/drawingml/2006/main" id="274" idx="3"/>
            <a:endCxn xmlns:a="http://schemas.openxmlformats.org/drawingml/2006/main" id="275" idx="1"/>
          </p:cNvCxnSpPr>
          <p:nvPr/>
        </p:nvCxnSpPr>
        <p:spPr>
          <a:xfrm xmlns:a="http://schemas.openxmlformats.org/drawingml/2006/main">
            <a:off x="430530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2" name="Straight Arrow Connector 565"/>
          <p:cNvCxnSpPr>
            <a:stCxn xmlns:a="http://schemas.openxmlformats.org/drawingml/2006/main" id="275" idx="3"/>
            <a:endCxn xmlns:a="http://schemas.openxmlformats.org/drawingml/2006/main" id="276" idx="1"/>
          </p:cNvCxnSpPr>
          <p:nvPr/>
        </p:nvCxnSpPr>
        <p:spPr>
          <a:xfrm xmlns:a="http://schemas.openxmlformats.org/drawingml/2006/main">
            <a:off x="6448425"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993" name="Straight Arrow Connector 566"/>
          <p:cNvCxnSpPr>
            <a:stCxn xmlns:a="http://schemas.openxmlformats.org/drawingml/2006/main" id="276" idx="3"/>
            <a:endCxn xmlns:a="http://schemas.openxmlformats.org/drawingml/2006/main" id="277" idx="1"/>
          </p:cNvCxnSpPr>
          <p:nvPr/>
        </p:nvCxnSpPr>
        <p:spPr>
          <a:xfrm xmlns:a="http://schemas.openxmlformats.org/drawingml/2006/main">
            <a:off x="8591550" y="4191000"/>
            <a:ext cx="476250"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sp>
        <p:nvSpPr>
          <p:cNvPr id="281" name="l7-auth">
            <a:extLst xmlns:a="http://schemas.openxmlformats.org/drawingml/2006/main">
              <a:ext uri="{FF2B5EF4-FFF2-40B4-BE49-F238E27FC236}">
                <a16:creationId xmlns:a16="http://schemas.microsoft.com/office/drawing/2014/main" id="{19409721-CEAB-43EC-B6AF-F948D7EFDB13}"/>
              </a:ext>
            </a:extLst>
          </p:cNvPr>
          <p:cNvSpPr>
            <a:spLocks xmlns:a="http://schemas.openxmlformats.org/drawingml/2006/main" noGrp="1"/>
          </p:cNvSpPr>
          <p:nvPr/>
        </p:nvSpPr>
        <p:spPr>
          <a:xfrm xmlns:a="http://schemas.openxmlformats.org/drawingml/2006/main">
            <a:off x="2343150" y="4914900"/>
            <a:ext cx="1381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Authenticate</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request</a:t>
            </a:r>
          </a:p>
        </p:txBody>
      </p:sp>
      <p:sp>
        <p:nvSpPr>
          <p:cNvPr id="282" name="l7-consent">
            <a:extLst xmlns:a="http://schemas.openxmlformats.org/drawingml/2006/main">
              <a:ext uri="{FF2B5EF4-FFF2-40B4-BE49-F238E27FC236}">
                <a16:creationId xmlns:a16="http://schemas.microsoft.com/office/drawing/2014/main" id="{DDB05C49-B6EE-4642-97F5-1CF0226CCCE5}"/>
              </a:ext>
            </a:extLst>
          </p:cNvPr>
          <p:cNvSpPr>
            <a:spLocks xmlns:a="http://schemas.openxmlformats.org/drawingml/2006/main" noGrp="1"/>
          </p:cNvSpPr>
          <p:nvPr/>
        </p:nvSpPr>
        <p:spPr>
          <a:xfrm xmlns:a="http://schemas.openxmlformats.org/drawingml/2006/main">
            <a:off x="3981450" y="4914900"/>
            <a:ext cx="14287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Consent and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authorization</a:t>
            </a:r>
          </a:p>
        </p:txBody>
      </p:sp>
      <p:sp>
        <p:nvSpPr>
          <p:cNvPr id="283" name="l7-infer">
            <a:extLst xmlns:a="http://schemas.openxmlformats.org/drawingml/2006/main">
              <a:ext uri="{FF2B5EF4-FFF2-40B4-BE49-F238E27FC236}">
                <a16:creationId xmlns:a16="http://schemas.microsoft.com/office/drawing/2014/main" id="{8F97F9D7-557C-4EC7-8ACC-3C7C633777BC}"/>
              </a:ext>
            </a:extLst>
          </p:cNvPr>
          <p:cNvSpPr>
            <a:spLocks xmlns:a="http://schemas.openxmlformats.org/drawingml/2006/main" noGrp="1"/>
          </p:cNvSpPr>
          <p:nvPr/>
        </p:nvSpPr>
        <p:spPr>
          <a:xfrm xmlns:a="http://schemas.openxmlformats.org/drawingml/2006/main">
            <a:off x="5667375" y="4914900"/>
            <a:ext cx="1619250"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88991"/>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Encrypted or</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confidential inference</a:t>
            </a:r>
          </a:p>
        </p:txBody>
      </p:sp>
      <p:sp>
        <p:nvSpPr>
          <p:cNvPr id="284" name="l7-decrypt">
            <a:extLst xmlns:a="http://schemas.openxmlformats.org/drawingml/2006/main">
              <a:ext uri="{FF2B5EF4-FFF2-40B4-BE49-F238E27FC236}">
                <a16:creationId xmlns:a16="http://schemas.microsoft.com/office/drawing/2014/main" id="{4F4AF1CD-710F-4C7B-B7AA-0799FF8D502B}"/>
              </a:ext>
            </a:extLst>
          </p:cNvPr>
          <p:cNvSpPr>
            <a:spLocks xmlns:a="http://schemas.openxmlformats.org/drawingml/2006/main" noGrp="1"/>
          </p:cNvSpPr>
          <p:nvPr/>
        </p:nvSpPr>
        <p:spPr>
          <a:xfrm xmlns:a="http://schemas.openxmlformats.org/drawingml/2006/main">
            <a:off x="7543800" y="4914900"/>
            <a:ext cx="147637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Controlled result</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decryption</a:t>
            </a:r>
          </a:p>
        </p:txBody>
      </p:sp>
      <p:sp>
        <p:nvSpPr>
          <p:cNvPr id="285" name="l7-output">
            <a:extLst xmlns:a="http://schemas.openxmlformats.org/drawingml/2006/main">
              <a:ext uri="{FF2B5EF4-FFF2-40B4-BE49-F238E27FC236}">
                <a16:creationId xmlns:a16="http://schemas.microsoft.com/office/drawing/2014/main" id="{754DEA59-7302-40AB-B1C4-EE419E527356}"/>
              </a:ext>
            </a:extLst>
          </p:cNvPr>
          <p:cNvSpPr>
            <a:spLocks xmlns:a="http://schemas.openxmlformats.org/drawingml/2006/main" noGrp="1"/>
          </p:cNvSpPr>
          <p:nvPr/>
        </p:nvSpPr>
        <p:spPr>
          <a:xfrm xmlns:a="http://schemas.openxmlformats.org/drawingml/2006/main">
            <a:off x="9277350" y="4914900"/>
            <a:ext cx="1762125" cy="495300"/>
          </a:xfrm>
          <a:prstGeom xmlns:a="http://schemas.openxmlformats.org/drawingml/2006/main" prst="roundRect">
            <a:avLst>
              <a:gd name="adj" fmla="val 15385"/>
            </a:avLst>
          </a:prstGeom>
          <a:solidFill xmlns:a="http://schemas.openxmlformats.org/drawingml/2006/main">
            <a:srgbClr val="ECF7F6"/>
          </a:solidFill>
          <a:ln xmlns:a="http://schemas.openxmlformats.org/drawingml/2006/main" w="13335">
            <a:solidFill>
              <a:srgbClr val="287D78"/>
            </a:solidFill>
          </a:ln>
        </p:spPr>
        <p:txBody>
          <a:bodyPr xmlns:a="http://schemas.openxmlformats.org/drawingml/2006/main" anchor="ctr">
            <a:normAutofit fontScale="98213" lnSpcReduction="10000"/>
          </a:bodyPr>
          <a:lstStyle xmlns:a="http://schemas.openxmlformats.org/drawingml/2006/main"/>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Minimized, rate-limited</a:t>
            </a:r>
          </a:p>
          <a:p xmlns:a="http://schemas.openxmlformats.org/drawingml/2006/main">
            <a:pPr algn="ctr">
              <a:buNone/>
              <a:defRPr sz="1200" b="0">
                <a:solidFill>
                  <a:srgbClr val="1F2937"/>
                </a:solidFill>
                <a:latin typeface="Arial"/>
                <a:ea typeface="Arial"/>
                <a:cs typeface="Arial"/>
              </a:defRPr>
            </a:pPr>
            <a:r>
              <a:rPr sz="1200" b="0">
                <a:solidFill>
                  <a:srgbClr val="1F2937"/>
                </a:solidFill>
                <a:latin typeface="Arial"/>
                <a:ea typeface="Arial"/>
                <a:cs typeface="Arial"/>
              </a:rPr>
              <a:t>and audited output</a:t>
            </a:r>
          </a:p>
        </p:txBody>
      </p:sp>
      <p:cxnSp>
        <p:nvCxnSpPr>
          <p:cNvPr id="999" name="Straight Arrow Connector 572"/>
          <p:cNvCxnSpPr>
            <a:stCxn xmlns:a="http://schemas.openxmlformats.org/drawingml/2006/main" id="281" idx="3"/>
            <a:endCxn xmlns:a="http://schemas.openxmlformats.org/drawingml/2006/main" id="282" idx="1"/>
          </p:cNvCxnSpPr>
          <p:nvPr/>
        </p:nvCxnSpPr>
        <p:spPr>
          <a:xfrm xmlns:a="http://schemas.openxmlformats.org/drawingml/2006/main">
            <a:off x="37242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0" name="Straight Arrow Connector 573"/>
          <p:cNvCxnSpPr>
            <a:stCxn xmlns:a="http://schemas.openxmlformats.org/drawingml/2006/main" id="282" idx="3"/>
            <a:endCxn xmlns:a="http://schemas.openxmlformats.org/drawingml/2006/main" id="283" idx="1"/>
          </p:cNvCxnSpPr>
          <p:nvPr/>
        </p:nvCxnSpPr>
        <p:spPr>
          <a:xfrm xmlns:a="http://schemas.openxmlformats.org/drawingml/2006/main">
            <a:off x="5410200"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1" name="Straight Arrow Connector 574"/>
          <p:cNvCxnSpPr>
            <a:stCxn xmlns:a="http://schemas.openxmlformats.org/drawingml/2006/main" id="283" idx="3"/>
            <a:endCxn xmlns:a="http://schemas.openxmlformats.org/drawingml/2006/main" id="284" idx="1"/>
          </p:cNvCxnSpPr>
          <p:nvPr/>
        </p:nvCxnSpPr>
        <p:spPr>
          <a:xfrm xmlns:a="http://schemas.openxmlformats.org/drawingml/2006/main">
            <a:off x="728662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2" name="Straight Arrow Connector 575"/>
          <p:cNvCxnSpPr>
            <a:stCxn xmlns:a="http://schemas.openxmlformats.org/drawingml/2006/main" id="284" idx="3"/>
            <a:endCxn xmlns:a="http://schemas.openxmlformats.org/drawingml/2006/main" id="285" idx="1"/>
          </p:cNvCxnSpPr>
          <p:nvPr/>
        </p:nvCxnSpPr>
        <p:spPr>
          <a:xfrm xmlns:a="http://schemas.openxmlformats.org/drawingml/2006/main">
            <a:off x="9020175" y="5162550"/>
            <a:ext cx="257175" cy="0"/>
          </a:xfrm>
          <a:prstGeom xmlns:a="http://schemas.openxmlformats.org/drawingml/2006/main" prst="straightConnector1">
            <a:avLst/>
          </a:prstGeom>
          <a:ln xmlns:a="http://schemas.openxmlformats.org/drawingml/2006/main" w="16193">
            <a:solidFill>
              <a:srgbClr val="7A8DA5"/>
            </a:solidFill>
            <a:prstDash val="solid"/>
            <a:headEnd type="none" w="med" len="med"/>
            <a:tailEnd type="triangle" w="sm" len="sm"/>
          </a:ln>
        </p:spPr>
      </p:cxnSp>
      <p:cxnSp>
        <p:nvCxnSpPr>
          <p:cNvPr id="1003" name="Connector: Elbow 576"/>
          <p:cNvCxnSpPr>
            <a:stCxn xmlns:a="http://schemas.openxmlformats.org/drawingml/2006/main" id="255" idx="2"/>
            <a:endCxn xmlns:a="http://schemas.openxmlformats.org/drawingml/2006/main" id="259" idx="0"/>
          </p:cNvCxnSpPr>
          <p:nvPr/>
        </p:nvCxnSpPr>
        <p:spPr>
          <a:xfrm xmlns:a="http://schemas.openxmlformats.org/drawingml/2006/main" flipH="1">
            <a:off x="3033713" y="2038350"/>
            <a:ext cx="6991350" cy="685800"/>
          </a:xfrm>
          <a:prstGeom xmlns:a="http://schemas.openxmlformats.org/drawingml/2006/main" prst="bentConnector4">
            <a:avLst>
              <a:gd name="adj1" fmla="val 0"/>
              <a:gd name="adj2" fmla="val 50000"/>
            </a:avLst>
          </a:prstGeom>
          <a:ln xmlns:a="http://schemas.openxmlformats.org/drawingml/2006/main" w="16193">
            <a:solidFill>
              <a:srgbClr val="7A8DA5"/>
            </a:solidFill>
            <a:prstDash val="solid"/>
            <a:headEnd type="none" w="med" len="med"/>
            <a:tailEnd type="triangle" w="sm" len="sm"/>
          </a:ln>
        </p:spPr>
      </p:cxnSp>
      <p:cxnSp>
        <p:nvCxnSpPr>
          <p:cNvPr id="1004" name="Connector: Elbow 577"/>
          <p:cNvCxnSpPr>
            <a:stCxn xmlns:a="http://schemas.openxmlformats.org/drawingml/2006/main" id="268" idx="2"/>
            <a:endCxn xmlns:a="http://schemas.openxmlformats.org/drawingml/2006/main" id="274" idx="0"/>
          </p:cNvCxnSpPr>
          <p:nvPr/>
        </p:nvCxnSpPr>
        <p:spPr>
          <a:xfrm xmlns:a="http://schemas.openxmlformats.org/drawingml/2006/main" flipH="1">
            <a:off x="3471863" y="2847975"/>
            <a:ext cx="7362825" cy="1095375"/>
          </a:xfrm>
          <a:prstGeom xmlns:a="http://schemas.openxmlformats.org/drawingml/2006/main" prst="bentConnector4">
            <a:avLst>
              <a:gd name="adj1" fmla="val 0"/>
              <a:gd name="adj2" fmla="val 50000"/>
            </a:avLst>
          </a:prstGeom>
          <a:ln xmlns:a="http://schemas.openxmlformats.org/drawingml/2006/main" w="16193">
            <a:solidFill>
              <a:srgbClr val="2E7D4F"/>
            </a:solidFill>
            <a:prstDash val="solid"/>
            <a:headEnd type="none" w="med" len="med"/>
            <a:tailEnd type="triangle" w="sm" len="sm"/>
          </a:ln>
        </p:spPr>
      </p:cxnSp>
      <p:cxnSp>
        <p:nvCxnSpPr>
          <p:cNvPr id="1005" name="Connector: Elbow 578"/>
          <p:cNvCxnSpPr>
            <a:stCxn xmlns:a="http://schemas.openxmlformats.org/drawingml/2006/main" id="277" idx="2"/>
            <a:endCxn xmlns:a="http://schemas.openxmlformats.org/drawingml/2006/main" id="281" idx="0"/>
          </p:cNvCxnSpPr>
          <p:nvPr/>
        </p:nvCxnSpPr>
        <p:spPr>
          <a:xfrm xmlns:a="http://schemas.openxmlformats.org/drawingml/2006/main" flipH="1">
            <a:off x="3033713" y="4438650"/>
            <a:ext cx="6772275" cy="476250"/>
          </a:xfrm>
          <a:prstGeom xmlns:a="http://schemas.openxmlformats.org/drawingml/2006/main" prst="bentConnector4">
            <a:avLst>
              <a:gd name="adj1" fmla="val 0"/>
              <a:gd name="adj2" fmla="val 50000"/>
            </a:avLst>
          </a:prstGeom>
          <a:ln xmlns:a="http://schemas.openxmlformats.org/drawingml/2006/main" w="16193">
            <a:solidFill>
              <a:srgbClr val="287D78"/>
            </a:solidFill>
            <a:prstDash val="dash"/>
            <a:headEnd type="none" w="med" len="med"/>
            <a:tailEnd type="triangle" w="sm" len="sm"/>
          </a:ln>
        </p:spPr>
      </p:cxnSp>
      <p:sp>
        <p:nvSpPr>
          <p:cNvPr id="293" name="release-boundary-note">
            <a:extLst xmlns:a="http://schemas.openxmlformats.org/drawingml/2006/main">
              <a:ext uri="{FF2B5EF4-FFF2-40B4-BE49-F238E27FC236}">
                <a16:creationId xmlns:a16="http://schemas.microsoft.com/office/drawing/2014/main" id="{7E225858-8FF8-4DC9-944C-EB0B9F859513}"/>
              </a:ext>
            </a:extLst>
          </p:cNvPr>
          <p:cNvSpPr>
            <a:spLocks xmlns:a="http://schemas.openxmlformats.org/drawingml/2006/main" noGrp="1"/>
          </p:cNvSpPr>
          <p:nvPr/>
        </p:nvSpPr>
        <p:spPr>
          <a:xfrm xmlns:a="http://schemas.openxmlformats.org/drawingml/2006/main">
            <a:off x="2190750" y="5695950"/>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003"/>
          </a:bodyPr>
          <a:lstStyle xmlns:a="http://schemas.openxmlformats.org/drawingml/2006/main"/>
          <a:p xmlns:a="http://schemas.openxmlformats.org/drawingml/2006/main">
            <a:pPr algn="ctr">
              <a:buNone/>
              <a:defRPr sz="1200" i="1">
                <a:solidFill>
                  <a:srgbClr val="52606D"/>
                </a:solidFill>
                <a:latin typeface="Arial"/>
                <a:ea typeface="Arial"/>
                <a:cs typeface="Arial"/>
              </a:defRPr>
            </a:pPr>
            <a:r>
              <a:rPr sz="1200" i="1">
                <a:solidFill>
                  <a:srgbClr val="52606D"/>
                </a:solidFill>
                <a:latin typeface="Arial"/>
                <a:ea typeface="Arial"/>
                <a:cs typeface="Arial"/>
              </a:rPr>
              <a:t>Only the validated aggregate can become the global model. The audit ledger stores evidence, not model ciphertexts.</a:t>
            </a:r>
          </a:p>
        </p:txBody>
      </p:sp>
    </p:spTree>
    <p:extLst>
      <p:ext uri="{BB962C8B-B14F-4D97-AF65-F5344CB8AC3E}">
        <p14:creationId xmlns:p14="http://schemas.microsoft.com/office/powerpoint/2010/main" val="22446828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21</a:t>
            </a:r>
            <a:endParaRPr sz="2800"/>
          </a:p>
        </p:txBody>
      </p:sp>
      <p:pic>
        <p:nvPicPr>
          <p:cNvPr id="26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bffa8a8a116444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e148a8ff951479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oblem-formulation-explanation-cover">
            <a:extLst xmlns:a="http://schemas.openxmlformats.org/drawingml/2006/main">
              <a:ext uri="{FF2B5EF4-FFF2-40B4-BE49-F238E27FC236}">
                <a16:creationId xmlns:a16="http://schemas.microsoft.com/office/drawing/2014/main" id="{84699A72-0121-48F9-83F4-99E981AB73AF}"/>
              </a:ext>
            </a:extLst>
          </p:cNvPr>
          <p:cNvSpPr>
            <a:spLocks xmlns:a="http://schemas.openxmlformats.org/drawingml/2006/main" noGrp="1"/>
          </p:cNvSpPr>
          <p:nvPr/>
        </p:nvSpPr>
        <p:spPr>
          <a:xfrm xmlns:a="http://schemas.openxmlformats.org/drawingml/2006/main">
            <a:off x="400050" y="1200150"/>
            <a:ext cx="11391900" cy="4953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learning-objective-title">
            <a:extLst xmlns:a="http://schemas.openxmlformats.org/drawingml/2006/main">
              <a:ext uri="{FF2B5EF4-FFF2-40B4-BE49-F238E27FC236}">
                <a16:creationId xmlns:a16="http://schemas.microsoft.com/office/drawing/2014/main" id="{79B670E3-A9CD-4346-BE6C-9728D4174518}"/>
              </a:ext>
            </a:extLst>
          </p:cNvPr>
          <p:cNvSpPr>
            <a:spLocks xmlns:a="http://schemas.openxmlformats.org/drawingml/2006/main" noGrp="1"/>
          </p:cNvSpPr>
          <p:nvPr/>
        </p:nvSpPr>
        <p:spPr>
          <a:xfrm xmlns:a="http://schemas.openxmlformats.org/drawingml/2006/main">
            <a:off x="904875"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Learning objective</a:t>
            </a:r>
          </a:p>
        </p:txBody>
      </p:sp>
      <p:sp>
        <p:nvSpPr>
          <p:cNvPr id="239" name="learning-objective-rule">
            <a:extLst xmlns:a="http://schemas.openxmlformats.org/drawingml/2006/main">
              <a:ext uri="{FF2B5EF4-FFF2-40B4-BE49-F238E27FC236}">
                <a16:creationId xmlns:a16="http://schemas.microsoft.com/office/drawing/2014/main" id="{ACABD4A9-60F2-4789-9336-ACDD7ECA7737}"/>
              </a:ext>
            </a:extLst>
          </p:cNvPr>
          <p:cNvSpPr>
            <a:spLocks xmlns:a="http://schemas.openxmlformats.org/drawingml/2006/main" noGrp="1"/>
          </p:cNvSpPr>
          <p:nvPr/>
        </p:nvSpPr>
        <p:spPr>
          <a:xfrm xmlns:a="http://schemas.openxmlformats.org/drawingml/2006/main">
            <a:off x="904875" y="1762125"/>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40" name="learning-objective-equation">
            <a:extLst xmlns:a="http://schemas.openxmlformats.org/drawingml/2006/main">
              <a:ext uri="{FF2B5EF4-FFF2-40B4-BE49-F238E27FC236}">
                <a16:creationId xmlns:a16="http://schemas.microsoft.com/office/drawing/2014/main" id="{0C168608-0CA2-4D92-9DF3-4BCF50253E90}"/>
              </a:ext>
            </a:extLst>
          </p:cNvPr>
          <p:cNvSpPr>
            <a:spLocks xmlns:a="http://schemas.openxmlformats.org/drawingml/2006/main" noGrp="1"/>
          </p:cNvSpPr>
          <p:nvPr/>
        </p:nvSpPr>
        <p:spPr>
          <a:xfrm xmlns:a="http://schemas.openxmlformats.org/drawingml/2006/main">
            <a:off x="981075"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F(w) = Σₖ (nₖ/N)Fₖ(w)</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Fₖ(w) = (1/nₖ)Σᵢ ℓ(w; xᵢ, yᵢ)</a:t>
            </a:r>
          </a:p>
        </p:txBody>
      </p:sp>
      <p:sp>
        <p:nvSpPr>
          <p:cNvPr id="241" name="learning-objective-explanation">
            <a:extLst xmlns:a="http://schemas.openxmlformats.org/drawingml/2006/main">
              <a:ext uri="{FF2B5EF4-FFF2-40B4-BE49-F238E27FC236}">
                <a16:creationId xmlns:a16="http://schemas.microsoft.com/office/drawing/2014/main" id="{11211DA1-BE96-4A97-96F5-8CA3C652111F}"/>
              </a:ext>
            </a:extLst>
          </p:cNvPr>
          <p:cNvSpPr>
            <a:spLocks xmlns:a="http://schemas.openxmlformats.org/drawingml/2006/main" noGrp="1"/>
          </p:cNvSpPr>
          <p:nvPr/>
        </p:nvSpPr>
        <p:spPr>
          <a:xfrm xmlns:a="http://schemas.openxmlformats.org/drawingml/2006/main">
            <a:off x="981075"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Fₖ(w) is the empirical loss at hospital k. The ratio nₖ/N weights each hospital by its share of the combined training records.</a:t>
            </a:r>
          </a:p>
        </p:txBody>
      </p:sp>
      <p:sp>
        <p:nvSpPr>
          <p:cNvPr id="242" name="learning-objective-takeaway">
            <a:extLst xmlns:a="http://schemas.openxmlformats.org/drawingml/2006/main">
              <a:ext uri="{FF2B5EF4-FFF2-40B4-BE49-F238E27FC236}">
                <a16:creationId xmlns:a16="http://schemas.microsoft.com/office/drawing/2014/main" id="{EFB9FA41-E2DE-49D2-98AA-61CEF65BF54C}"/>
              </a:ext>
            </a:extLst>
          </p:cNvPr>
          <p:cNvSpPr>
            <a:spLocks xmlns:a="http://schemas.openxmlformats.org/drawingml/2006/main" noGrp="1"/>
          </p:cNvSpPr>
          <p:nvPr/>
        </p:nvSpPr>
        <p:spPr>
          <a:xfrm xmlns:a="http://schemas.openxmlformats.org/drawingml/2006/main">
            <a:off x="981075"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Goal: minimize weighted global loss while records remain local.</a:t>
            </a:r>
          </a:p>
        </p:txBody>
      </p:sp>
      <p:sp>
        <p:nvSpPr>
          <p:cNvPr id="243" name="protected-update-title">
            <a:extLst xmlns:a="http://schemas.openxmlformats.org/drawingml/2006/main">
              <a:ext uri="{FF2B5EF4-FFF2-40B4-BE49-F238E27FC236}">
                <a16:creationId xmlns:a16="http://schemas.microsoft.com/office/drawing/2014/main" id="{22CA2067-CE68-47A3-A909-EE970DC70D3F}"/>
              </a:ext>
            </a:extLst>
          </p:cNvPr>
          <p:cNvSpPr>
            <a:spLocks xmlns:a="http://schemas.openxmlformats.org/drawingml/2006/main" noGrp="1"/>
          </p:cNvSpPr>
          <p:nvPr/>
        </p:nvSpPr>
        <p:spPr>
          <a:xfrm xmlns:a="http://schemas.openxmlformats.org/drawingml/2006/main">
            <a:off x="6477000" y="13620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A9D6"/>
                </a:solidFill>
                <a:latin typeface="Arial"/>
                <a:ea typeface="Arial"/>
                <a:cs typeface="Arial"/>
              </a:defRPr>
            </a:pPr>
            <a:r>
              <a:rPr sz="2025" b="1">
                <a:solidFill>
                  <a:srgbClr val="00A9D6"/>
                </a:solidFill>
                <a:latin typeface="Arial"/>
                <a:ea typeface="Arial"/>
                <a:cs typeface="Arial"/>
              </a:rPr>
              <a:t>Protected local update</a:t>
            </a:r>
          </a:p>
        </p:txBody>
      </p:sp>
      <p:sp>
        <p:nvSpPr>
          <p:cNvPr id="244" name="protected-update-rule">
            <a:extLst xmlns:a="http://schemas.openxmlformats.org/drawingml/2006/main">
              <a:ext uri="{FF2B5EF4-FFF2-40B4-BE49-F238E27FC236}">
                <a16:creationId xmlns:a16="http://schemas.microsoft.com/office/drawing/2014/main" id="{5D9C9DC8-9CFF-42C5-A880-6946FCE14179}"/>
              </a:ext>
            </a:extLst>
          </p:cNvPr>
          <p:cNvSpPr>
            <a:spLocks xmlns:a="http://schemas.openxmlformats.org/drawingml/2006/main" noGrp="1"/>
          </p:cNvSpPr>
          <p:nvPr/>
        </p:nvSpPr>
        <p:spPr>
          <a:xfrm xmlns:a="http://schemas.openxmlformats.org/drawingml/2006/main">
            <a:off x="6477000" y="1762125"/>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45" name="protected-update-equation">
            <a:extLst xmlns:a="http://schemas.openxmlformats.org/drawingml/2006/main">
              <a:ext uri="{FF2B5EF4-FFF2-40B4-BE49-F238E27FC236}">
                <a16:creationId xmlns:a16="http://schemas.microsoft.com/office/drawing/2014/main" id="{C0589AB0-3A98-449D-8E96-D13B6CC80664}"/>
              </a:ext>
            </a:extLst>
          </p:cNvPr>
          <p:cNvSpPr>
            <a:spLocks xmlns:a="http://schemas.openxmlformats.org/drawingml/2006/main" noGrp="1"/>
          </p:cNvSpPr>
          <p:nvPr/>
        </p:nvSpPr>
        <p:spPr>
          <a:xfrm xmlns:a="http://schemas.openxmlformats.org/drawingml/2006/main">
            <a:off x="6553200" y="1885950"/>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ḡₖᵗ = gₖᵗ / max(1, ‖gₖᵗ‖₂/C)</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uₖᵗ = Qₛₜ(ḡₖᵗ + zₖᵗ + eₖᵗ)</a:t>
            </a:r>
          </a:p>
        </p:txBody>
      </p:sp>
      <p:sp>
        <p:nvSpPr>
          <p:cNvPr id="246" name="protected-update-explanation">
            <a:extLst xmlns:a="http://schemas.openxmlformats.org/drawingml/2006/main">
              <a:ext uri="{FF2B5EF4-FFF2-40B4-BE49-F238E27FC236}">
                <a16:creationId xmlns:a16="http://schemas.microsoft.com/office/drawing/2014/main" id="{C2870143-9667-4B0D-A93B-FA30BCC80606}"/>
              </a:ext>
            </a:extLst>
          </p:cNvPr>
          <p:cNvSpPr>
            <a:spLocks xmlns:a="http://schemas.openxmlformats.org/drawingml/2006/main" noGrp="1"/>
          </p:cNvSpPr>
          <p:nvPr/>
        </p:nvSpPr>
        <p:spPr>
          <a:xfrm xmlns:a="http://schemas.openxmlformats.org/drawingml/2006/main">
            <a:off x="6553200" y="2524125"/>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450"/>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C bounds each gradient. zₖᵗ adds Gaussian DP noise, eₖᵗ carries the compression residual, and Qₛₜ applies the CAABC-FL block compressor.</a:t>
            </a:r>
          </a:p>
        </p:txBody>
      </p:sp>
      <p:sp>
        <p:nvSpPr>
          <p:cNvPr id="247" name="protected-update-takeaway">
            <a:extLst xmlns:a="http://schemas.openxmlformats.org/drawingml/2006/main">
              <a:ext uri="{FF2B5EF4-FFF2-40B4-BE49-F238E27FC236}">
                <a16:creationId xmlns:a16="http://schemas.microsoft.com/office/drawing/2014/main" id="{CA0E8D0A-92C2-44FC-A191-959156B1795D}"/>
              </a:ext>
            </a:extLst>
          </p:cNvPr>
          <p:cNvSpPr>
            <a:spLocks xmlns:a="http://schemas.openxmlformats.org/drawingml/2006/main" noGrp="1"/>
          </p:cNvSpPr>
          <p:nvPr/>
        </p:nvSpPr>
        <p:spPr>
          <a:xfrm xmlns:a="http://schemas.openxmlformats.org/drawingml/2006/main">
            <a:off x="6553200" y="30670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125" b="1">
                <a:solidFill>
                  <a:srgbClr val="00A9D6"/>
                </a:solidFill>
                <a:latin typeface="Arial"/>
                <a:ea typeface="Arial"/>
                <a:cs typeface="Arial"/>
              </a:defRPr>
            </a:pPr>
            <a:r>
              <a:rPr sz="1125" b="1">
                <a:solidFill>
                  <a:srgbClr val="00A9D6"/>
                </a:solidFill>
                <a:latin typeface="Arial"/>
                <a:ea typeface="Arial"/>
                <a:cs typeface="Arial"/>
              </a:rPr>
              <a:t>Result: a bounded, private and compression-aware client update.</a:t>
            </a:r>
          </a:p>
        </p:txBody>
      </p:sp>
      <p:sp>
        <p:nvSpPr>
          <p:cNvPr id="248" name="encrypted-aggregation-title">
            <a:extLst xmlns:a="http://schemas.openxmlformats.org/drawingml/2006/main">
              <a:ext uri="{FF2B5EF4-FFF2-40B4-BE49-F238E27FC236}">
                <a16:creationId xmlns:a16="http://schemas.microsoft.com/office/drawing/2014/main" id="{4F565ACE-3B3B-4646-A107-E1AF767DE8FF}"/>
              </a:ext>
            </a:extLst>
          </p:cNvPr>
          <p:cNvSpPr>
            <a:spLocks xmlns:a="http://schemas.openxmlformats.org/drawingml/2006/main" noGrp="1"/>
          </p:cNvSpPr>
          <p:nvPr/>
        </p:nvSpPr>
        <p:spPr>
          <a:xfrm xmlns:a="http://schemas.openxmlformats.org/drawingml/2006/main">
            <a:off x="904875"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008A46"/>
                </a:solidFill>
                <a:latin typeface="Arial"/>
                <a:ea typeface="Arial"/>
                <a:cs typeface="Arial"/>
              </a:defRPr>
            </a:pPr>
            <a:r>
              <a:rPr sz="2025" b="1">
                <a:solidFill>
                  <a:srgbClr val="008A46"/>
                </a:solidFill>
                <a:latin typeface="Arial"/>
                <a:ea typeface="Arial"/>
                <a:cs typeface="Arial"/>
              </a:rPr>
              <a:t>Encrypted aggregation</a:t>
            </a:r>
          </a:p>
        </p:txBody>
      </p:sp>
      <p:sp>
        <p:nvSpPr>
          <p:cNvPr id="249" name="encrypted-aggregation-rule">
            <a:extLst xmlns:a="http://schemas.openxmlformats.org/drawingml/2006/main">
              <a:ext uri="{FF2B5EF4-FFF2-40B4-BE49-F238E27FC236}">
                <a16:creationId xmlns:a16="http://schemas.microsoft.com/office/drawing/2014/main" id="{D4E628CF-50B1-4E64-9A20-1090396E404A}"/>
              </a:ext>
            </a:extLst>
          </p:cNvPr>
          <p:cNvSpPr>
            <a:spLocks xmlns:a="http://schemas.openxmlformats.org/drawingml/2006/main" noGrp="1"/>
          </p:cNvSpPr>
          <p:nvPr/>
        </p:nvSpPr>
        <p:spPr>
          <a:xfrm xmlns:a="http://schemas.openxmlformats.org/drawingml/2006/main">
            <a:off x="904875" y="3924300"/>
            <a:ext cx="4810125" cy="28575"/>
          </a:xfrm>
          <a:prstGeom xmlns:a="http://schemas.openxmlformats.org/drawingml/2006/main" prst="rect">
            <a:avLst/>
          </a:prstGeom>
          <a:solidFill xmlns:a="http://schemas.openxmlformats.org/drawingml/2006/main">
            <a:srgbClr val="008A46"/>
          </a:solidFill>
          <a:ln xmlns:a="http://schemas.openxmlformats.org/drawingml/2006/main" w="0">
            <a:noFill/>
          </a:ln>
        </p:spPr>
      </p:sp>
      <p:sp>
        <p:nvSpPr>
          <p:cNvPr id="250" name="encrypted-aggregation-equation">
            <a:extLst xmlns:a="http://schemas.openxmlformats.org/drawingml/2006/main">
              <a:ext uri="{FF2B5EF4-FFF2-40B4-BE49-F238E27FC236}">
                <a16:creationId xmlns:a16="http://schemas.microsoft.com/office/drawing/2014/main" id="{4CCFADB6-34C0-4E2D-96BA-F1A38B975721}"/>
              </a:ext>
            </a:extLst>
          </p:cNvPr>
          <p:cNvSpPr>
            <a:spLocks xmlns:a="http://schemas.openxmlformats.org/drawingml/2006/main" noGrp="1"/>
          </p:cNvSpPr>
          <p:nvPr/>
        </p:nvSpPr>
        <p:spPr>
          <a:xfrm xmlns:a="http://schemas.openxmlformats.org/drawingml/2006/main">
            <a:off x="981075" y="4048125"/>
            <a:ext cx="4619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cₜ = ⊕ₖ∈Aₜ Encₚₖ(uₖᵗ)</a:t>
            </a:r>
          </a:p>
          <a:p xmlns:a="http://schemas.openxmlformats.org/drawingml/2006/main">
            <a:pPr>
              <a:buNone/>
              <a:defRPr sz="1725">
                <a:solidFill>
                  <a:srgbClr val="1F2937"/>
                </a:solidFill>
                <a:latin typeface="Arial"/>
                <a:ea typeface="Arial"/>
                <a:cs typeface="Arial"/>
              </a:defRPr>
            </a:pPr>
            <a:r>
              <a:rPr sz="1725">
                <a:solidFill>
                  <a:srgbClr val="1F2937"/>
                </a:solidFill>
                <a:latin typeface="Arial"/>
                <a:ea typeface="Arial"/>
                <a:cs typeface="Arial"/>
              </a:rPr>
              <a:t>wₜ₊₁ = wₜ − ηₜ Dec(cₜ)/|Aₜ|</a:t>
            </a:r>
          </a:p>
        </p:txBody>
      </p:sp>
      <p:sp>
        <p:nvSpPr>
          <p:cNvPr id="251" name="encrypted-aggregation-explanation">
            <a:extLst xmlns:a="http://schemas.openxmlformats.org/drawingml/2006/main">
              <a:ext uri="{FF2B5EF4-FFF2-40B4-BE49-F238E27FC236}">
                <a16:creationId xmlns:a16="http://schemas.microsoft.com/office/drawing/2014/main" id="{EE3EAF5F-FFB7-485D-A8DD-73C42CCDEE96}"/>
              </a:ext>
            </a:extLst>
          </p:cNvPr>
          <p:cNvSpPr>
            <a:spLocks xmlns:a="http://schemas.openxmlformats.org/drawingml/2006/main" noGrp="1"/>
          </p:cNvSpPr>
          <p:nvPr/>
        </p:nvSpPr>
        <p:spPr>
          <a:xfrm xmlns:a="http://schemas.openxmlformats.org/drawingml/2006/main">
            <a:off x="981075" y="4686300"/>
            <a:ext cx="46196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57"/>
          </a:bodyPr>
          <a:lstStyle xmlns:a="http://schemas.openxmlformats.org/drawingml/2006/main"/>
          <a:p xmlns:a="http://schemas.openxmlformats.org/drawingml/2006/main">
            <a:pPr>
              <a:buNone/>
              <a:defRPr sz="1125">
                <a:solidFill>
                  <a:srgbClr val="52606D"/>
                </a:solidFill>
                <a:latin typeface="Arial"/>
                <a:ea typeface="Arial"/>
                <a:cs typeface="Arial"/>
              </a:defRPr>
            </a:pPr>
            <a:r>
              <a:rPr sz="1125">
                <a:solidFill>
                  <a:srgbClr val="52606D"/>
                </a:solidFill>
                <a:latin typeface="Arial"/>
                <a:ea typeface="Arial"/>
                <a:cs typeface="Arial"/>
              </a:rPr>
              <a:t>Aₜ contains admitted clients. CKKS sums encrypted uₖᵗ values without exposing them. Custodians decrypt cₜ, the aggregate, rather than individual updates.</a:t>
            </a:r>
          </a:p>
        </p:txBody>
      </p:sp>
      <p:sp>
        <p:nvSpPr>
          <p:cNvPr id="252" name="encrypted-aggregation-takeaway">
            <a:extLst xmlns:a="http://schemas.openxmlformats.org/drawingml/2006/main">
              <a:ext uri="{FF2B5EF4-FFF2-40B4-BE49-F238E27FC236}">
                <a16:creationId xmlns:a16="http://schemas.microsoft.com/office/drawing/2014/main" id="{B1906C49-A301-4C72-8F3B-C2DF5C38CD68}"/>
              </a:ext>
            </a:extLst>
          </p:cNvPr>
          <p:cNvSpPr>
            <a:spLocks xmlns:a="http://schemas.openxmlformats.org/drawingml/2006/main" noGrp="1"/>
          </p:cNvSpPr>
          <p:nvPr/>
        </p:nvSpPr>
        <p:spPr>
          <a:xfrm xmlns:a="http://schemas.openxmlformats.org/drawingml/2006/main">
            <a:off x="981075" y="5229225"/>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863"/>
          </a:bodyPr>
          <a:lstStyle xmlns:a="http://schemas.openxmlformats.org/drawingml/2006/main"/>
          <a:p xmlns:a="http://schemas.openxmlformats.org/drawingml/2006/main">
            <a:pPr>
              <a:buNone/>
              <a:defRPr sz="1125" b="1">
                <a:solidFill>
                  <a:srgbClr val="008A46"/>
                </a:solidFill>
                <a:latin typeface="Arial"/>
                <a:ea typeface="Arial"/>
                <a:cs typeface="Arial"/>
              </a:defRPr>
            </a:pPr>
            <a:r>
              <a:rPr sz="1125" b="1">
                <a:solidFill>
                  <a:srgbClr val="008A46"/>
                </a:solidFill>
                <a:latin typeface="Arial"/>
                <a:ea typeface="Arial"/>
                <a:cs typeface="Arial"/>
              </a:rPr>
              <a:t>ηₜ controls the update step and |Aₜ| produces the mean aggregate.</a:t>
            </a:r>
          </a:p>
        </p:txBody>
      </p:sp>
      <p:sp>
        <p:nvSpPr>
          <p:cNvPr id="253" name="constraints-title">
            <a:extLst xmlns:a="http://schemas.openxmlformats.org/drawingml/2006/main">
              <a:ext uri="{FF2B5EF4-FFF2-40B4-BE49-F238E27FC236}">
                <a16:creationId xmlns:a16="http://schemas.microsoft.com/office/drawing/2014/main" id="{53DD9FDF-3741-493D-AB81-B019B35C7F35}"/>
              </a:ext>
            </a:extLst>
          </p:cNvPr>
          <p:cNvSpPr>
            <a:spLocks xmlns:a="http://schemas.openxmlformats.org/drawingml/2006/main" noGrp="1"/>
          </p:cNvSpPr>
          <p:nvPr/>
        </p:nvSpPr>
        <p:spPr>
          <a:xfrm xmlns:a="http://schemas.openxmlformats.org/drawingml/2006/main">
            <a:off x="6477000" y="3524250"/>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981" lnSpcReduction="10000"/>
          </a:bodyPr>
          <a:lstStyle xmlns:a="http://schemas.openxmlformats.org/drawingml/2006/main"/>
          <a:p xmlns:a="http://schemas.openxmlformats.org/drawingml/2006/main">
            <a:pPr>
              <a:buNone/>
              <a:defRPr sz="2025" b="1">
                <a:solidFill>
                  <a:srgbClr val="1E3A5F"/>
                </a:solidFill>
                <a:latin typeface="Arial"/>
                <a:ea typeface="Arial"/>
                <a:cs typeface="Arial"/>
              </a:defRPr>
            </a:pPr>
            <a:r>
              <a:rPr sz="2025" b="1">
                <a:solidFill>
                  <a:srgbClr val="1E3A5F"/>
                </a:solidFill>
                <a:latin typeface="Arial"/>
                <a:ea typeface="Arial"/>
                <a:cs typeface="Arial"/>
              </a:rPr>
              <a:t>Design constraints</a:t>
            </a:r>
          </a:p>
        </p:txBody>
      </p:sp>
      <p:sp>
        <p:nvSpPr>
          <p:cNvPr id="254" name="constraints-rule">
            <a:extLst xmlns:a="http://schemas.openxmlformats.org/drawingml/2006/main">
              <a:ext uri="{FF2B5EF4-FFF2-40B4-BE49-F238E27FC236}">
                <a16:creationId xmlns:a16="http://schemas.microsoft.com/office/drawing/2014/main" id="{ACDF0887-D9F8-4DAB-8E94-80F0BF5E7D67}"/>
              </a:ext>
            </a:extLst>
          </p:cNvPr>
          <p:cNvSpPr>
            <a:spLocks xmlns:a="http://schemas.openxmlformats.org/drawingml/2006/main" noGrp="1"/>
          </p:cNvSpPr>
          <p:nvPr/>
        </p:nvSpPr>
        <p:spPr>
          <a:xfrm xmlns:a="http://schemas.openxmlformats.org/drawingml/2006/main">
            <a:off x="6477000" y="3924300"/>
            <a:ext cx="4810125" cy="28575"/>
          </a:xfrm>
          <a:prstGeom xmlns:a="http://schemas.openxmlformats.org/drawingml/2006/main" prst="rect">
            <a:avLst/>
          </a:prstGeom>
          <a:solidFill xmlns:a="http://schemas.openxmlformats.org/drawingml/2006/main">
            <a:srgbClr val="00A9D6"/>
          </a:solidFill>
          <a:ln xmlns:a="http://schemas.openxmlformats.org/drawingml/2006/main" w="0">
            <a:noFill/>
          </a:ln>
        </p:spPr>
      </p:sp>
      <p:sp>
        <p:nvSpPr>
          <p:cNvPr id="255" name="constraints-objective">
            <a:extLst xmlns:a="http://schemas.openxmlformats.org/drawingml/2006/main">
              <a:ext uri="{FF2B5EF4-FFF2-40B4-BE49-F238E27FC236}">
                <a16:creationId xmlns:a16="http://schemas.microsoft.com/office/drawing/2014/main" id="{4E551B32-E413-4E20-A51F-2E73B6BAECD9}"/>
              </a:ext>
            </a:extLst>
          </p:cNvPr>
          <p:cNvSpPr>
            <a:spLocks xmlns:a="http://schemas.openxmlformats.org/drawingml/2006/main" noGrp="1"/>
          </p:cNvSpPr>
          <p:nvPr/>
        </p:nvSpPr>
        <p:spPr>
          <a:xfrm xmlns:a="http://schemas.openxmlformats.org/drawingml/2006/main">
            <a:off x="6553200" y="4067175"/>
            <a:ext cx="4619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225"/>
          </a:bodyPr>
          <a:lstStyle xmlns:a="http://schemas.openxmlformats.org/drawingml/2006/main"/>
          <a:p xmlns:a="http://schemas.openxmlformats.org/drawingml/2006/main">
            <a:pPr>
              <a:buNone/>
              <a:defRPr sz="1350" b="1">
                <a:solidFill>
                  <a:srgbClr val="1F2937"/>
                </a:solidFill>
                <a:latin typeface="Arial"/>
                <a:ea typeface="Arial"/>
                <a:cs typeface="Arial"/>
              </a:defRPr>
            </a:pPr>
            <a:r>
              <a:rPr sz="1350" b="1">
                <a:solidFill>
                  <a:srgbClr val="1F2937"/>
                </a:solidFill>
                <a:latin typeface="Arial"/>
                <a:ea typeface="Arial"/>
                <a:cs typeface="Arial"/>
              </a:rPr>
              <a:t>Minimize prediction loss and serialized upload subject to:</a:t>
            </a:r>
          </a:p>
        </p:txBody>
      </p:sp>
      <p:sp>
        <p:nvSpPr>
          <p:cNvPr id="256" name="constraints-list-left">
            <a:extLst xmlns:a="http://schemas.openxmlformats.org/drawingml/2006/main">
              <a:ext uri="{FF2B5EF4-FFF2-40B4-BE49-F238E27FC236}">
                <a16:creationId xmlns:a16="http://schemas.microsoft.com/office/drawing/2014/main" id="{9135BCB5-8D25-4202-887F-791C987F9F76}"/>
              </a:ext>
            </a:extLst>
          </p:cNvPr>
          <p:cNvSpPr>
            <a:spLocks xmlns:a="http://schemas.openxmlformats.org/drawingml/2006/main" noGrp="1"/>
          </p:cNvSpPr>
          <p:nvPr/>
        </p:nvSpPr>
        <p:spPr>
          <a:xfrm xmlns:a="http://schemas.openxmlformats.org/drawingml/2006/main">
            <a:off x="6553200" y="44386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Privacy</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Integrity</a:t>
            </a:r>
          </a:p>
        </p:txBody>
      </p:sp>
      <p:sp>
        <p:nvSpPr>
          <p:cNvPr id="257" name="constraints-values-left">
            <a:extLst xmlns:a="http://schemas.openxmlformats.org/drawingml/2006/main">
              <a:ext uri="{FF2B5EF4-FFF2-40B4-BE49-F238E27FC236}">
                <a16:creationId xmlns:a16="http://schemas.microsoft.com/office/drawing/2014/main" id="{88B4E04D-EB19-4B6C-96E9-37BF912A6A83}"/>
              </a:ext>
            </a:extLst>
          </p:cNvPr>
          <p:cNvSpPr>
            <a:spLocks xmlns:a="http://schemas.openxmlformats.org/drawingml/2006/main" noGrp="1"/>
          </p:cNvSpPr>
          <p:nvPr/>
        </p:nvSpPr>
        <p:spPr>
          <a:xfrm xmlns:a="http://schemas.openxmlformats.org/drawingml/2006/main">
            <a:off x="7620000" y="4438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Record-level differential privacy</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Independently checked aggregate</a:t>
            </a:r>
          </a:p>
        </p:txBody>
      </p:sp>
      <p:sp>
        <p:nvSpPr>
          <p:cNvPr id="258" name="constraints-list-right">
            <a:extLst xmlns:a="http://schemas.openxmlformats.org/drawingml/2006/main">
              <a:ext uri="{FF2B5EF4-FFF2-40B4-BE49-F238E27FC236}">
                <a16:creationId xmlns:a16="http://schemas.microsoft.com/office/drawing/2014/main" id="{6BB50B8B-1E53-42B5-9842-96AB03D06685}"/>
              </a:ext>
            </a:extLst>
          </p:cNvPr>
          <p:cNvSpPr>
            <a:spLocks xmlns:a="http://schemas.openxmlformats.org/drawingml/2006/main" noGrp="1"/>
          </p:cNvSpPr>
          <p:nvPr/>
        </p:nvSpPr>
        <p:spPr>
          <a:xfrm xmlns:a="http://schemas.openxmlformats.org/drawingml/2006/main">
            <a:off x="6553200" y="5010150"/>
            <a:ext cx="1095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Release</a:t>
            </a:r>
          </a:p>
          <a:p xmlns:a="http://schemas.openxmlformats.org/drawingml/2006/main">
            <a:pPr>
              <a:buNone/>
              <a:defRPr sz="1200" b="1">
                <a:solidFill>
                  <a:srgbClr val="1E3A5F"/>
                </a:solidFill>
                <a:latin typeface="Arial"/>
                <a:ea typeface="Arial"/>
                <a:cs typeface="Arial"/>
              </a:defRPr>
            </a:pPr>
            <a:r>
              <a:rPr sz="1200" b="1">
                <a:solidFill>
                  <a:srgbClr val="1E3A5F"/>
                </a:solidFill>
                <a:latin typeface="Arial"/>
                <a:ea typeface="Arial"/>
                <a:cs typeface="Arial"/>
              </a:rPr>
              <a:t>Audit</a:t>
            </a:r>
          </a:p>
        </p:txBody>
      </p:sp>
      <p:sp>
        <p:nvSpPr>
          <p:cNvPr id="259" name="constraints-values-right">
            <a:extLst xmlns:a="http://schemas.openxmlformats.org/drawingml/2006/main">
              <a:ext uri="{FF2B5EF4-FFF2-40B4-BE49-F238E27FC236}">
                <a16:creationId xmlns:a16="http://schemas.microsoft.com/office/drawing/2014/main" id="{752038E5-E065-462B-B6EA-84737D2DDB45}"/>
              </a:ext>
            </a:extLst>
          </p:cNvPr>
          <p:cNvSpPr>
            <a:spLocks xmlns:a="http://schemas.openxmlformats.org/drawingml/2006/main" noGrp="1"/>
          </p:cNvSpPr>
          <p:nvPr/>
        </p:nvSpPr>
        <p:spPr>
          <a:xfrm xmlns:a="http://schemas.openxmlformats.org/drawingml/2006/main">
            <a:off x="7620000" y="50101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Threshold authorization</a:t>
            </a:r>
          </a:p>
          <a:p xmlns:a="http://schemas.openxmlformats.org/drawingml/2006/main">
            <a:pPr>
              <a:buNone/>
              <a:defRPr sz="1200">
                <a:solidFill>
                  <a:srgbClr val="52606D"/>
                </a:solidFill>
                <a:latin typeface="Arial"/>
                <a:ea typeface="Arial"/>
                <a:cs typeface="Arial"/>
              </a:defRPr>
            </a:pPr>
            <a:r>
              <a:rPr sz="1200">
                <a:solidFill>
                  <a:srgbClr val="52606D"/>
                </a:solidFill>
                <a:latin typeface="Arial"/>
                <a:ea typeface="Arial"/>
                <a:cs typeface="Arial"/>
              </a:rPr>
              <a:t>Permissioned execution evidence</a:t>
            </a:r>
          </a:p>
        </p:txBody>
      </p:sp>
      <p:sp>
        <p:nvSpPr>
          <p:cNvPr id="260" name="problem-formulation-column-divider">
            <a:extLst xmlns:a="http://schemas.openxmlformats.org/drawingml/2006/main">
              <a:ext uri="{FF2B5EF4-FFF2-40B4-BE49-F238E27FC236}">
                <a16:creationId xmlns:a16="http://schemas.microsoft.com/office/drawing/2014/main" id="{B1D8E0C4-C8D6-4FC8-B6B9-1B62E7237EF6}"/>
              </a:ext>
            </a:extLst>
          </p:cNvPr>
          <p:cNvSpPr>
            <a:spLocks xmlns:a="http://schemas.openxmlformats.org/drawingml/2006/main" noGrp="1"/>
          </p:cNvSpPr>
          <p:nvPr/>
        </p:nvSpPr>
        <p:spPr>
          <a:xfrm xmlns:a="http://schemas.openxmlformats.org/drawingml/2006/main">
            <a:off x="6076950" y="1409700"/>
            <a:ext cx="14288" cy="4171950"/>
          </a:xfrm>
          <a:prstGeom xmlns:a="http://schemas.openxmlformats.org/drawingml/2006/main" prst="rect">
            <a:avLst/>
          </a:prstGeom>
          <a:solidFill xmlns:a="http://schemas.openxmlformats.org/drawingml/2006/main">
            <a:srgbClr val="D7DEE7"/>
          </a:solidFill>
          <a:ln xmlns:a="http://schemas.openxmlformats.org/drawingml/2006/main" w="0">
            <a:noFill/>
          </a:ln>
        </p:spPr>
      </p:sp>
      <p:sp>
        <p:nvSpPr>
          <p:cNvPr id="261" name="problem-formulation-round-summary">
            <a:extLst xmlns:a="http://schemas.openxmlformats.org/drawingml/2006/main">
              <a:ext uri="{FF2B5EF4-FFF2-40B4-BE49-F238E27FC236}">
                <a16:creationId xmlns:a16="http://schemas.microsoft.com/office/drawing/2014/main" id="{5FC43600-EC93-4CAA-8525-F78230726572}"/>
              </a:ext>
            </a:extLst>
          </p:cNvPr>
          <p:cNvSpPr>
            <a:spLocks xmlns:a="http://schemas.openxmlformats.org/drawingml/2006/main" noGrp="1"/>
          </p:cNvSpPr>
          <p:nvPr/>
        </p:nvSpPr>
        <p:spPr>
          <a:xfrm xmlns:a="http://schemas.openxmlformats.org/drawingml/2006/main">
            <a:off x="2143125" y="5715000"/>
            <a:ext cx="790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703"/>
          </a:bodyPr>
          <a:lstStyle xmlns:a="http://schemas.openxmlformats.org/drawingml/2006/main"/>
          <a:p xmlns:a="http://schemas.openxmlformats.org/drawingml/2006/main">
            <a:pPr algn="ctr">
              <a:buNone/>
              <a:defRPr sz="1200" i="1">
                <a:solidFill>
                  <a:srgbClr val="1E3A5F"/>
                </a:solidFill>
                <a:latin typeface="Arial"/>
                <a:ea typeface="Arial"/>
                <a:cs typeface="Arial"/>
              </a:defRPr>
            </a:pPr>
            <a:r>
              <a:rPr sz="1200" i="1">
                <a:solidFill>
                  <a:srgbClr val="1E3A5F"/>
                </a:solidFill>
                <a:latin typeface="Arial"/>
                <a:ea typeface="Arial"/>
                <a:cs typeface="Arial"/>
              </a:rPr>
              <a:t>One training round constructs protected local updates, aggregates ciphertexts, and releases only a validated global model.</a:t>
            </a:r>
          </a:p>
        </p:txBody>
      </p:sp>
    </p:spTree>
    <p:extLst>
      <p:ext uri="{BB962C8B-B14F-4D97-AF65-F5344CB8AC3E}">
        <p14:creationId xmlns:p14="http://schemas.microsoft.com/office/powerpoint/2010/main" val="97028649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e90fe586c5d4ab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e5b5607421f4d62">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23</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b97acac7b3444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15045be32a34c1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2336799"/>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3289299"/>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24</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fac49e162724b2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69f2abebe054ae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defRPr sz="3150" b="1">
                <a:solidFill>
                  <a:srgbClr val="062B6F"/>
                </a:solidFill>
                <a:latin typeface="Arial"/>
                <a:ea typeface="Arial"/>
                <a:cs typeface="Arial"/>
              </a:defRPr>
            </a:pPr>
            <a:r>
              <a:rPr sz="3150" b="1">
                <a:solidFill>
                  <a:srgbClr val="062B6F"/>
                </a:solidFill>
                <a:latin typeface="Arial"/>
                <a:ea typeface="Arial"/>
                <a:cs typeface="Arial"/>
              </a:rPr>
              <a:t>Experimental Setup</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25</a:t>
            </a:r>
            <a:endParaRPr sz="2800"/>
          </a:p>
        </p:txBody>
      </p:sp>
      <p:pic>
        <p:nvPicPr>
          <p:cNvPr id="248"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710d9c937a9464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9"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3f0864b05174f0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experimental-setup-cover">
            <a:extLst xmlns:a="http://schemas.openxmlformats.org/drawingml/2006/main">
              <a:ext uri="{FF2B5EF4-FFF2-40B4-BE49-F238E27FC236}">
                <a16:creationId xmlns:a16="http://schemas.microsoft.com/office/drawing/2014/main" id="{CDA198E3-4036-4AD7-AEDE-3C363622FD09}"/>
              </a:ext>
            </a:extLst>
          </p:cNvPr>
          <p:cNvSpPr>
            <a:spLocks xmlns:a="http://schemas.openxmlformats.org/drawingml/2006/main" noGrp="1"/>
          </p:cNvSpPr>
          <p:nvPr/>
        </p:nvSpPr>
        <p:spPr>
          <a:xfrm xmlns:a="http://schemas.openxmlformats.org/drawingml/2006/main">
            <a:off x="428625" y="1066800"/>
            <a:ext cx="11334750" cy="50958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8" name="experimental-setup-caption">
            <a:extLst xmlns:a="http://schemas.openxmlformats.org/drawingml/2006/main">
              <a:ext uri="{FF2B5EF4-FFF2-40B4-BE49-F238E27FC236}">
                <a16:creationId xmlns:a16="http://schemas.microsoft.com/office/drawing/2014/main" id="{E21722B4-E8C1-4EF1-B8D4-E369BFA02AAB}"/>
              </a:ext>
            </a:extLst>
          </p:cNvPr>
          <p:cNvSpPr>
            <a:spLocks xmlns:a="http://schemas.openxmlformats.org/drawingml/2006/main" noGrp="1"/>
          </p:cNvSpPr>
          <p:nvPr/>
        </p:nvSpPr>
        <p:spPr>
          <a:xfrm xmlns:a="http://schemas.openxmlformats.org/drawingml/2006/main">
            <a:off x="1047750" y="1123950"/>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Frozen protocol used for paired utility, privacy, robustness, and systems evaluation</a:t>
            </a:r>
          </a:p>
        </p:txBody>
      </p:sp>
      <p:graphicFrame>
        <p:nvGraphicFramePr>
          <p:cNvPr id="266" name="Table 262"/>
          <p:cNvGraphicFramePr/>
          <p:nvPr/>
        </p:nvGraphicFramePr>
        <p:xfrm>
          <a:off xmlns:a="http://schemas.openxmlformats.org/drawingml/2006/main" x="952500" y="1524000"/>
          <a:ext xmlns:a="http://schemas.openxmlformats.org/drawingml/2006/main" cx="10287000" cy="4095749"/>
        </p:xfrm>
        <a:graphic xmlns:a="http://schemas.openxmlformats.org/drawingml/2006/main">
          <a:graphicData uri="http://schemas.openxmlformats.org/drawingml/2006/table">
            <a:tbl>
              <a:tblPr firstRow="1" bandRow="1"/>
              <a:tblGrid>
                <a:gridCol w="2333625"/>
                <a:gridCol w="7953375"/>
              </a:tblGrid>
              <a:tr h="585107">
                <a:tc>
                  <a:txBody>
                    <a:bodyPr/>
                    <a:lstStyle/>
                    <a:p>
                      <a:r>
                        <a:rPr sz="1275" b="1">
                          <a:solidFill>
                            <a:srgbClr val="FFFFFF"/>
                          </a:solidFill>
                          <a:latin typeface="Arial"/>
                          <a:ea typeface="Arial"/>
                          <a:cs typeface="Arial"/>
                        </a:rPr>
                        <a:t>Component</a:t>
                      </a:r>
                    </a:p>
                  </a:txBody>
                  <a:tcPr marL="76200" marR="76200" marT="47625" marB="47625" anchor="ctr">
                    <a:solidFill>
                      <a:srgbClr val="17365D"/>
                    </a:solidFill>
                  </a:tcPr>
                </a:tc>
                <a:tc>
                  <a:txBody>
                    <a:bodyPr/>
                    <a:lstStyle/>
                    <a:p>
                      <a:r>
                        <a:rPr sz="1275" b="1">
                          <a:solidFill>
                            <a:srgbClr val="FFFFFF"/>
                          </a:solidFill>
                          <a:latin typeface="Arial"/>
                          <a:ea typeface="Arial"/>
                          <a:cs typeface="Arial"/>
                        </a:rPr>
                        <a:t>Registered configuration</a:t>
                      </a:r>
                    </a:p>
                  </a:txBody>
                  <a:tcPr marL="76200" marR="76200" marT="47625" marB="47625" anchor="ctr">
                    <a:solidFill>
                      <a:srgbClr val="17365D"/>
                    </a:solidFill>
                  </a:tcPr>
                </a:tc>
              </a:tr>
              <a:tr h="585107">
                <a:tc>
                  <a:txBody>
                    <a:bodyPr/>
                    <a:lstStyle/>
                    <a:p>
                      <a:r>
                        <a:rPr sz="1185" b="1">
                          <a:solidFill>
                            <a:srgbClr val="008A46"/>
                          </a:solidFill>
                          <a:latin typeface="Arial"/>
                          <a:ea typeface="Arial"/>
                          <a:cs typeface="Arial"/>
                        </a:rPr>
                        <a:t>Dataset and split</a:t>
                      </a:r>
                    </a:p>
                  </a:txBody>
                  <a:tcPr marL="76200" marR="76200" marT="47625" marB="47625" anchor="ctr">
                    <a:solidFill>
                      <a:srgbClr val="EAF4F0"/>
                    </a:solidFill>
                  </a:tcPr>
                </a:tc>
                <a:tc>
                  <a:txBody>
                    <a:bodyPr/>
                    <a:lstStyle/>
                    <a:p>
                      <a:r>
                        <a:rPr sz="1185">
                          <a:solidFill>
                            <a:srgbClr val="263244"/>
                          </a:solidFill>
                          <a:latin typeface="Arial"/>
                          <a:ea typeface="Arial"/>
                          <a:cs typeface="Arial"/>
                        </a:rPr>
                        <a:t>PhysioNet/</a:t>
                      </a:r>
                      <a:r>
                        <a:rPr sz="1185">
                          <a:solidFill>
                            <a:srgbClr val="263244"/>
                          </a:solidFill>
                          <a:latin typeface="Arial"/>
                          <a:ea typeface="Arial"/>
                          <a:cs typeface="Arial"/>
                        </a:rPr>
                        <a:t>CinC</a:t>
                      </a:r>
                      <a:r>
                        <a:rPr sz="1185">
                          <a:solidFill>
                            <a:srgbClr val="263244"/>
                          </a:solidFill>
                          <a:latin typeface="Arial"/>
                          <a:ea typeface="Arial"/>
                          <a:cs typeface="Arial"/>
                        </a:rPr>
                        <a:t> 2019 sepsis cohort: 40,336 patients from </a:t>
                      </a:r>
                      <a:r>
                        <a:rPr sz="1185">
                          <a:solidFill>
                            <a:srgbClr val="263244"/>
                          </a:solidFill>
                          <a:latin typeface="Arial"/>
                          <a:ea typeface="Arial"/>
                          <a:cs typeface="Arial"/>
                        </a:rPr>
                        <a:t>2</a:t>
                      </a:r>
                      <a:r>
                        <a:rPr sz="1185">
                          <a:solidFill>
                            <a:srgbClr val="263244"/>
                          </a:solidFill>
                          <a:latin typeface="Arial"/>
                          <a:ea typeface="Arial"/>
                          <a:cs typeface="Arial"/>
                        </a:rPr>
                        <a:t> natural hospitals; stratified 70/15/15 train, validation, and locked test partitions.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Model and training</a:t>
                      </a:r>
                    </a:p>
                  </a:txBody>
                  <a:tcPr marL="76200" marR="76200" marT="47625" marB="47625" anchor="ctr">
                    <a:solidFill>
                      <a:srgbClr val="EAF4F0"/>
                    </a:solidFill>
                  </a:tcPr>
                </a:tc>
                <a:tc>
                  <a:txBody>
                    <a:bodyPr/>
                    <a:lstStyle/>
                    <a:p>
                      <a:r>
                        <a:rPr sz="1185">
                          <a:solidFill>
                            <a:srgbClr val="263244"/>
                          </a:solidFill>
                          <a:latin typeface="Arial"/>
                          <a:ea typeface="Arial"/>
                          <a:cs typeface="Arial"/>
                        </a:rPr>
                        <a:t>280–64–1 multilayer perceptron with 18,049 parameters; 20 federated rounds, one local epoch, batch size 128, and learning rate 0.03.</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Privacy and encryption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Patient clipping C = 1.0, Gaussian noise multiplier σ = 1.2, δ = 10⁻⁵, and RDP accounting; TenSEAL CKKS with N = 8192 and scale 2⁴⁰.</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CAABC-FL configuration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256-coordinate blocks, two encrypted update chunks, support refresh every </a:t>
                      </a:r>
                      <a:r>
                        <a:rPr sz="1185">
                          <a:solidFill>
                            <a:srgbClr val="263244"/>
                          </a:solidFill>
                          <a:latin typeface="Arial"/>
                          <a:ea typeface="Arial"/>
                          <a:cs typeface="Arial"/>
                        </a:rPr>
                        <a:t>5</a:t>
                      </a:r>
                      <a:r>
                        <a:rPr sz="1185">
                          <a:solidFill>
                            <a:srgbClr val="263244"/>
                          </a:solidFill>
                          <a:latin typeface="Arial"/>
                          <a:ea typeface="Arial"/>
                          <a:cs typeface="Arial"/>
                        </a:rPr>
                        <a:t> rounds, and error feedback for discarded coordinates.</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Security evaluation</a:t>
                      </a:r>
                    </a:p>
                  </a:txBody>
                  <a:tcPr marL="76200" marR="76200" marT="47625" marB="47625" anchor="ctr">
                    <a:solidFill>
                      <a:srgbClr val="EAF4F0"/>
                    </a:solidFill>
                  </a:tcPr>
                </a:tc>
                <a:tc>
                  <a:txBody>
                    <a:bodyPr/>
                    <a:lstStyle/>
                    <a:p>
                      <a:r>
                        <a:rPr sz="1185">
                          <a:solidFill>
                            <a:srgbClr val="263244"/>
                          </a:solidFill>
                          <a:latin typeface="Arial"/>
                          <a:ea typeface="Arial"/>
                          <a:cs typeface="Arial"/>
                        </a:rPr>
                        <a:t>LiRA</a:t>
                      </a:r>
                      <a:r>
                        <a:rPr sz="1185">
                          <a:solidFill>
                            <a:srgbClr val="263244"/>
                          </a:solidFill>
                          <a:latin typeface="Arial"/>
                          <a:ea typeface="Arial"/>
                          <a:cs typeface="Arial"/>
                        </a:rPr>
                        <a:t> and RMIA with </a:t>
                      </a:r>
                      <a:r>
                        <a:rPr sz="1185">
                          <a:solidFill>
                            <a:srgbClr val="263244"/>
                          </a:solidFill>
                          <a:latin typeface="Arial"/>
                          <a:ea typeface="Arial"/>
                          <a:cs typeface="Arial"/>
                        </a:rPr>
                        <a:t>8</a:t>
                      </a:r>
                      <a:r>
                        <a:rPr sz="1185">
                          <a:solidFill>
                            <a:srgbClr val="263244"/>
                          </a:solidFill>
                          <a:latin typeface="Arial"/>
                          <a:ea typeface="Arial"/>
                          <a:cs typeface="Arial"/>
                        </a:rPr>
                        <a:t> reference models per seed; 300-step gradient reconstruction; 20 virtual clients, </a:t>
                      </a:r>
                      <a:r>
                        <a:rPr sz="1185">
                          <a:solidFill>
                            <a:srgbClr val="263244"/>
                          </a:solidFill>
                          <a:latin typeface="Arial"/>
                          <a:ea typeface="Arial"/>
                          <a:cs typeface="Arial"/>
                        </a:rPr>
                        <a:t>7</a:t>
                      </a:r>
                      <a:r>
                        <a:rPr sz="1185">
                          <a:solidFill>
                            <a:srgbClr val="263244"/>
                          </a:solidFill>
                          <a:latin typeface="Arial"/>
                          <a:ea typeface="Arial"/>
                          <a:cs typeface="Arial"/>
                        </a:rPr>
                        <a:t> poisoning attacks, and 10–40% malicious participation.</a:t>
                      </a:r>
                    </a:p>
                  </a:txBody>
                  <a:tcPr marL="76200" marR="76200" marT="47625" marB="47625" anchor="ctr">
                    <a:solidFill>
                      <a:srgbClr val="FFFFFF"/>
                    </a:solidFill>
                  </a:tcPr>
                </a:tc>
              </a:tr>
              <a:tr h="585107">
                <a:tc>
                  <a:txBody>
                    <a:bodyPr/>
                    <a:lstStyle/>
                    <a:p>
                      <a:r>
                        <a:rPr sz="1185" b="1">
                          <a:solidFill>
                            <a:srgbClr val="008A46"/>
                          </a:solidFill>
                          <a:latin typeface="Arial"/>
                          <a:ea typeface="Arial"/>
                          <a:cs typeface="Arial"/>
                        </a:rPr>
                        <a:t>Replication and analysis</a:t>
                      </a:r>
                    </a:p>
                  </a:txBody>
                  <a:tcPr marL="76200" marR="76200" marT="47625" marB="47625" anchor="ctr">
                    <a:solidFill>
                      <a:srgbClr val="EAF4F0"/>
                    </a:solidFill>
                  </a:tcPr>
                </a:tc>
                <a:tc>
                  <a:txBody>
                    <a:bodyPr/>
                    <a:lstStyle/>
                    <a:p>
                      <a:r>
                        <a:rPr sz="1185">
                          <a:solidFill>
                            <a:srgbClr val="263244"/>
                          </a:solidFill>
                          <a:latin typeface="Arial"/>
                          <a:ea typeface="Arial"/>
                          <a:cs typeface="Arial"/>
                        </a:rPr>
                        <a:t>10</a:t>
                      </a:r>
                      <a:r>
                        <a:rPr sz="1185">
                          <a:solidFill>
                            <a:srgbClr val="263244"/>
                          </a:solidFill>
                          <a:latin typeface="Arial"/>
                          <a:ea typeface="Arial"/>
                          <a:cs typeface="Arial"/>
                        </a:rPr>
                        <a:t> paired seeds for the core protected comparison and </a:t>
                      </a:r>
                      <a:r>
                        <a:rPr sz="1185">
                          <a:solidFill>
                            <a:srgbClr val="263244"/>
                          </a:solidFill>
                          <a:latin typeface="Arial"/>
                          <a:ea typeface="Arial"/>
                          <a:cs typeface="Arial"/>
                        </a:rPr>
                        <a:t>5</a:t>
                      </a:r>
                      <a:r>
                        <a:rPr sz="1185">
                          <a:solidFill>
                            <a:srgbClr val="263244"/>
                          </a:solidFill>
                          <a:latin typeface="Arial"/>
                          <a:ea typeface="Arial"/>
                          <a:cs typeface="Arial"/>
                        </a:rPr>
                        <a:t> for secondary security comparisons; paired 95% t intervals with Holm correction.</a:t>
                      </a:r>
                    </a:p>
                  </a:txBody>
                  <a:tcPr marL="76200" marR="76200" marT="47625" marB="47625" anchor="ctr">
                    <a:solidFill>
                      <a:srgbClr val="FFFFFF"/>
                    </a:solidFill>
                  </a:tcPr>
                </a:tc>
              </a:tr>
            </a:tbl>
          </a:graphicData>
        </a:graphic>
      </p:graphicFrame>
      <p:sp>
        <p:nvSpPr>
          <p:cNvPr id="240" name="experimental-setup-lock-note">
            <a:extLst xmlns:a="http://schemas.openxmlformats.org/drawingml/2006/main">
              <a:ext uri="{FF2B5EF4-FFF2-40B4-BE49-F238E27FC236}">
                <a16:creationId xmlns:a16="http://schemas.microsoft.com/office/drawing/2014/main" id="{7651E294-469B-451F-A65D-A63696400F1E}"/>
              </a:ext>
            </a:extLst>
          </p:cNvPr>
          <p:cNvSpPr>
            <a:spLocks xmlns:a="http://schemas.openxmlformats.org/drawingml/2006/main" noGrp="1"/>
          </p:cNvSpPr>
          <p:nvPr/>
        </p:nvSpPr>
        <p:spPr>
          <a:xfrm xmlns:a="http://schemas.openxmlformats.org/drawingml/2006/main">
            <a:off x="1095375" y="5715000"/>
            <a:ext cx="1000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163" i="1">
                <a:solidFill>
                  <a:srgbClr val="008A46"/>
                </a:solidFill>
                <a:latin typeface="Arial"/>
                <a:ea typeface="Arial"/>
                <a:cs typeface="Arial"/>
              </a:defRPr>
            </a:pPr>
            <a:r>
              <a:rPr sz="1163" i="1">
                <a:solidFill>
                  <a:srgbClr val="008A46"/>
                </a:solidFill>
                <a:latin typeface="Arial"/>
                <a:ea typeface="Arial"/>
                <a:cs typeface="Arial"/>
              </a:rPr>
              <a:t>The protocol, decision rules, and operating thresholds were frozen before confirmatory test access.</a:t>
            </a:r>
          </a:p>
        </p:txBody>
      </p:sp>
      <p:pic>
        <p:nvPicPr>
          <p:cNvPr id="268" name="Picture 264"/>
          <p:cNvPicPr>
            <a:picLocks xmlns:a="http://schemas.openxmlformats.org/drawingml/2006/main" noChangeAspect="1"/>
          </p:cNvPicPr>
          <p:nvPr/>
        </p:nvPicPr>
        <p:blipFill>
          <a:blip xmlns:r="http://schemas.openxmlformats.org/officeDocument/2006/relationships" xmlns:a="http://schemas.openxmlformats.org/drawingml/2006/main" r:embed="Ra710d9c937a94642"/>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269" name="Picture 265"/>
          <p:cNvPicPr>
            <a:picLocks xmlns:a="http://schemas.openxmlformats.org/drawingml/2006/main" noChangeAspect="1"/>
          </p:cNvPicPr>
          <p:nvPr/>
        </p:nvPicPr>
        <p:blipFill>
          <a:blip xmlns:r="http://schemas.openxmlformats.org/officeDocument/2006/relationships" xmlns:a="http://schemas.openxmlformats.org/drawingml/2006/main" r:embed="Rb3f0864b05174f01"/>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Tree>
    <p:extLst>
      <p:ext uri="{BB962C8B-B14F-4D97-AF65-F5344CB8AC3E}">
        <p14:creationId xmlns:p14="http://schemas.microsoft.com/office/powerpoint/2010/main" val="970286495"/>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26</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491a1bed95b48d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667379cca754ff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pic>
        <p:nvPicPr>
          <p:cNvPr id="68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2ead01f028c44d1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8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503809a71679429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68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70eb589bb62f4a68">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69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355aaf6df4284c32">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69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27</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28</a:t>
            </a:r>
            <a:endParaRPr sz="2800"/>
          </a:p>
        </p:txBody>
      </p:sp>
      <p:pic>
        <p:nvPicPr>
          <p:cNvPr id="24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1bdb5677e9044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01bc3166234f4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571625"/>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700" b="1" i="0">
                <a:solidFill>
                  <a:srgbClr val="123968"/>
                </a:solidFill>
                <a:latin typeface="Arial"/>
                <a:ea typeface="Arial"/>
                <a:cs typeface="Arial"/>
              </a:defRPr>
            </a:pPr>
            <a:r>
              <a:rPr sz="2700" b="1" i="0">
                <a:solidFill>
                  <a:srgbClr val="123968"/>
                </a:solidFill>
                <a:latin typeface="Arial"/>
                <a:ea typeface="Arial"/>
                <a:cs typeface="Arial"/>
              </a:rPr>
              <a:t>0.5035</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143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313" b="1" i="0">
                <a:solidFill>
                  <a:srgbClr val="123968"/>
                </a:solidFill>
                <a:latin typeface="Arial"/>
                <a:ea typeface="Arial"/>
                <a:cs typeface="Arial"/>
              </a:defRPr>
            </a:pPr>
            <a:r>
              <a:rPr sz="1313" b="1" i="0">
                <a:solidFill>
                  <a:srgbClr val="123968"/>
                </a:solidFill>
                <a:latin typeface="Arial"/>
                <a:ea typeface="Arial"/>
                <a:cs typeface="Arial"/>
              </a:rPr>
              <a:t>Membership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lnSpcReduction="10000"/>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7" name="privacy-metric-divider">
            <a:extLst xmlns:a="http://schemas.openxmlformats.org/drawingml/2006/main">
              <a:ext uri="{FF2B5EF4-FFF2-40B4-BE49-F238E27FC236}">
                <a16:creationId xmlns:a16="http://schemas.microsoft.com/office/drawing/2014/main" id="{8D45347A-18C2-40B8-A635-ABD90C51BFF1}"/>
              </a:ext>
            </a:extLst>
          </p:cNvPr>
          <p:cNvSpPr>
            <a:spLocks xmlns:a="http://schemas.openxmlformats.org/drawingml/2006/main" noGrp="1"/>
          </p:cNvSpPr>
          <p:nvPr/>
        </p:nvSpPr>
        <p:spPr>
          <a:xfrm xmlns:a="http://schemas.openxmlformats.org/drawingml/2006/main">
            <a:off x="9601200" y="2590800"/>
            <a:ext cx="1752600" cy="13335"/>
          </a:xfrm>
          <a:prstGeom xmlns:a="http://schemas.openxmlformats.org/drawingml/2006/main" prst="rect">
            <a:avLst/>
          </a:prstGeom>
          <a:solidFill xmlns:a="http://schemas.openxmlformats.org/drawingml/2006/main">
            <a:srgbClr val="B6C4D2"/>
          </a:solidFill>
          <a:ln xmlns:a="http://schemas.openxmlformats.org/drawingml/2006/main" w="0">
            <a:noFill/>
          </a:ln>
        </p:spPr>
      </p:sp>
      <p:sp>
        <p:nvSpPr>
          <p:cNvPr id="238" name="gradient-reconstruction-rmse-value">
            <a:extLst xmlns:a="http://schemas.openxmlformats.org/drawingml/2006/main">
              <a:ext uri="{FF2B5EF4-FFF2-40B4-BE49-F238E27FC236}">
                <a16:creationId xmlns:a16="http://schemas.microsoft.com/office/drawing/2014/main" id="{3DBC6A48-C221-47F5-8EE7-6E909DD7209F}"/>
              </a:ext>
            </a:extLst>
          </p:cNvPr>
          <p:cNvSpPr>
            <a:spLocks xmlns:a="http://schemas.openxmlformats.org/drawingml/2006/main" noGrp="1"/>
          </p:cNvSpPr>
          <p:nvPr/>
        </p:nvSpPr>
        <p:spPr>
          <a:xfrm xmlns:a="http://schemas.openxmlformats.org/drawingml/2006/main">
            <a:off x="9191625" y="2657475"/>
            <a:ext cx="257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008A46"/>
                </a:solidFill>
                <a:latin typeface="Arial"/>
                <a:ea typeface="Arial"/>
                <a:cs typeface="Arial"/>
              </a:defRPr>
            </a:pPr>
            <a:r>
              <a:rPr sz="2100" b="1">
                <a:solidFill>
                  <a:srgbClr val="008A46"/>
                </a:solidFill>
                <a:latin typeface="Arial"/>
                <a:ea typeface="Arial"/>
                <a:cs typeface="Arial"/>
              </a:rPr>
              <a:t>0.684 to 2.763</a:t>
            </a:r>
          </a:p>
        </p:txBody>
      </p:sp>
      <p:sp>
        <p:nvSpPr>
          <p:cNvPr id="239" name="gradient-reconstruction-rmse-label">
            <a:extLst xmlns:a="http://schemas.openxmlformats.org/drawingml/2006/main">
              <a:ext uri="{FF2B5EF4-FFF2-40B4-BE49-F238E27FC236}">
                <a16:creationId xmlns:a16="http://schemas.microsoft.com/office/drawing/2014/main" id="{5D1EB6B7-4BAC-42FA-B817-5A5C3FA401C6}"/>
              </a:ext>
            </a:extLst>
          </p:cNvPr>
          <p:cNvSpPr>
            <a:spLocks xmlns:a="http://schemas.openxmlformats.org/drawingml/2006/main" noGrp="1"/>
          </p:cNvSpPr>
          <p:nvPr/>
        </p:nvSpPr>
        <p:spPr>
          <a:xfrm xmlns:a="http://schemas.openxmlformats.org/drawingml/2006/main">
            <a:off x="9191625" y="3086100"/>
            <a:ext cx="257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76"/>
          </a:bodyPr>
          <a:lstStyle xmlns:a="http://schemas.openxmlformats.org/drawingml/2006/main"/>
          <a:p xmlns:a="http://schemas.openxmlformats.org/drawingml/2006/main">
            <a:pPr algn="ctr">
              <a:defRPr sz="1088" b="1">
                <a:solidFill>
                  <a:srgbClr val="123968"/>
                </a:solidFill>
                <a:latin typeface="Arial"/>
                <a:ea typeface="Arial"/>
                <a:cs typeface="Arial"/>
              </a:defRPr>
            </a:pPr>
            <a:r>
              <a:rPr sz="1088" b="1">
                <a:solidFill>
                  <a:srgbClr val="123968"/>
                </a:solidFill>
                <a:latin typeface="Arial"/>
                <a:ea typeface="Arial"/>
                <a:cs typeface="Arial"/>
              </a:rPr>
              <a:t>Reconstruction RMSE (300 steps)</a:t>
            </a:r>
          </a:p>
          <a:p xmlns:a="http://schemas.openxmlformats.org/drawingml/2006/main">
            <a:pPr algn="ctr">
              <a:defRPr sz="1088" b="1">
                <a:solidFill>
                  <a:srgbClr val="123968"/>
                </a:solidFill>
                <a:latin typeface="Arial"/>
                <a:ea typeface="Arial"/>
                <a:cs typeface="Arial"/>
              </a:defRPr>
            </a:pPr>
            <a:r>
              <a:rPr sz="1088" b="1">
                <a:solidFill>
                  <a:srgbClr val="123968"/>
                </a:solidFill>
                <a:latin typeface="Arial"/>
                <a:ea typeface="Arial"/>
                <a:cs typeface="Arial"/>
              </a:rPr>
              <a:t>Higher means less accurate recovery</a:t>
            </a:r>
          </a:p>
        </p:txBody>
      </p:sp>
    </p:spTree>
    <p:extLst>
      <p:ext uri="{BB962C8B-B14F-4D97-AF65-F5344CB8AC3E}">
        <p14:creationId xmlns:p14="http://schemas.microsoft.com/office/powerpoint/2010/main" val="1986240585"/>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29</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8b243f9a65547a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8b71b3c0f6b475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39" name="Table 239"/>
          <p:cNvGraphicFramePr/>
          <p:nvPr/>
        </p:nvGraphicFramePr>
        <p:xfrm>
          <a:off xmlns:a="http://schemas.openxmlformats.org/drawingml/2006/main" x="428625" y="1571625"/>
          <a:ext xmlns:a="http://schemas.openxmlformats.org/drawingml/2006/main" cx="6191250" cy="3667128"/>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a:t>
                      </a:r>
                      <a:r>
                        <a:rPr sz="1238">
                          <a:solidFill>
                            <a:srgbClr val="1F2937"/>
                          </a:solidFill>
                          <a:latin typeface="Arial"/>
                          <a:ea typeface="Arial"/>
                          <a:cs typeface="Arial"/>
                        </a:rPr>
                        <a:t>FedAvg</a:t>
                      </a:r>
                      <a:r>
                        <a:rPr sz="1238">
                          <a:solidFill>
                            <a:srgbClr val="1F2937"/>
                          </a:solidFill>
                          <a:latin typeface="Arial"/>
                          <a:ea typeface="Arial"/>
                          <a:cs typeface="Arial"/>
                        </a:rPr>
                        <a:t>-CKKS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b="1">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b="1">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0"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b6165f0fa3f74267"/>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366833"/>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9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30</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f6893f7020e436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f7609b1501d499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9" name="Picture 239"/>
          <p:cNvPicPr>
            <a:picLocks xmlns:a="http://schemas.openxmlformats.org/drawingml/2006/main" noChangeAspect="1"/>
          </p:cNvPicPr>
          <p:nvPr/>
        </p:nvPicPr>
        <p:blipFill>
          <a:blip xmlns:r="http://schemas.openxmlformats.org/officeDocument/2006/relationships" xmlns:a="http://schemas.openxmlformats.org/drawingml/2006/main" r:embed="R98c8c05e6ffc413f"/>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0" name="Picture 240"/>
          <p:cNvPicPr>
            <a:picLocks xmlns:a="http://schemas.openxmlformats.org/drawingml/2006/main" noChangeAspect="1"/>
          </p:cNvPicPr>
          <p:nvPr/>
        </p:nvPicPr>
        <p:blipFill>
          <a:blip xmlns:r="http://schemas.openxmlformats.org/officeDocument/2006/relationships" xmlns:a="http://schemas.openxmlformats.org/drawingml/2006/main" r:embed="Re92ca704ca5c4a59"/>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746" lnSpcReduction="10000"/>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pic>
        <p:nvPicPr>
          <p:cNvPr id="737"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2d3e01697a234737">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738"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18873606a32c48b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739"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a040edaf2f9f4c5c">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741"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27f082222f644a31">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74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31</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32</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2bc031faa6a4ce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3cb27291a3745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833" lnSpcReduction="1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3db87306e99455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b25f2ce844415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a:t>
            </a:r>
            <a:r>
              <a:rPr sz="1688" b="0" i="0">
                <a:solidFill>
                  <a:srgbClr val="1F2937"/>
                </a:solidFill>
                <a:latin typeface="Arial"/>
                <a:ea typeface="Arial"/>
                <a:cs typeface="Arial"/>
              </a:rPr>
              <a:t>LiRA</a:t>
            </a:r>
            <a:r>
              <a:rPr sz="1688" b="0" i="0">
                <a:solidFill>
                  <a:srgbClr val="1F2937"/>
                </a:solidFill>
                <a:latin typeface="Arial"/>
                <a:ea typeface="Arial"/>
                <a:cs typeface="Arial"/>
              </a:rPr>
              <a:t>/RMIA,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4bd012e2a0744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429e164a05040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080" lnSpcReduction="1000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35</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e1ce26669e24a5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d5dc55ce1d54c4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Conclusion</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36</a:t>
            </a:r>
            <a:endParaRPr sz="2800"/>
          </a:p>
        </p:txBody>
      </p:sp>
      <p:pic>
        <p:nvPicPr>
          <p:cNvPr id="26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8a7204d9af46c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6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238718f99b645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3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lnSpcReduction="2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lnSpcReduction="1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
        <p:nvSpPr>
          <p:cNvPr id="239" name="final-conclusion-content-cover">
            <a:extLst xmlns:a="http://schemas.openxmlformats.org/drawingml/2006/main">
              <a:ext uri="{FF2B5EF4-FFF2-40B4-BE49-F238E27FC236}">
                <a16:creationId xmlns:a16="http://schemas.microsoft.com/office/drawing/2014/main" id="{50E68349-A6A5-4612-9F21-F3E7A4C4D983}"/>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40" name="final-conclusion-subtitle">
            <a:extLst xmlns:a="http://schemas.openxmlformats.org/drawingml/2006/main">
              <a:ext uri="{FF2B5EF4-FFF2-40B4-BE49-F238E27FC236}">
                <a16:creationId xmlns:a16="http://schemas.microsoft.com/office/drawing/2014/main" id="{2BC6AE6C-64EB-41C7-9D00-661205D21167}"/>
              </a:ext>
            </a:extLst>
          </p:cNvPr>
          <p:cNvSpPr>
            <a:spLocks xmlns:a="http://schemas.openxmlformats.org/drawingml/2006/main" noGrp="1"/>
          </p:cNvSpPr>
          <p:nvPr/>
        </p:nvSpPr>
        <p:spPr>
          <a:xfrm xmlns:a="http://schemas.openxmlformats.org/drawingml/2006/main">
            <a:off x="1428750" y="121920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ctr">
              <a:buNone/>
              <a:defRPr sz="1275" i="1">
                <a:solidFill>
                  <a:srgbClr val="5B677A"/>
                </a:solidFill>
                <a:latin typeface="Arial"/>
                <a:ea typeface="Arial"/>
                <a:cs typeface="Arial"/>
              </a:defRPr>
            </a:pPr>
            <a:r>
              <a:rPr sz="1275" i="1">
                <a:solidFill>
                  <a:srgbClr val="5B677A"/>
                </a:solidFill>
                <a:latin typeface="Arial"/>
                <a:ea typeface="Arial"/>
                <a:cs typeface="Arial"/>
              </a:rPr>
              <a:t>The study demonstrates an integrated and empirically evaluated approach to secure multi-institutional federated learning.</a:t>
            </a:r>
          </a:p>
        </p:txBody>
      </p:sp>
      <p:sp>
        <p:nvSpPr>
          <p:cNvPr id="241" name="conclusion-label-1">
            <a:extLst xmlns:a="http://schemas.openxmlformats.org/drawingml/2006/main">
              <a:ext uri="{FF2B5EF4-FFF2-40B4-BE49-F238E27FC236}">
                <a16:creationId xmlns:a16="http://schemas.microsoft.com/office/drawing/2014/main" id="{55301C9E-74C9-48F0-B8EB-051138288CE2}"/>
              </a:ext>
            </a:extLst>
          </p:cNvPr>
          <p:cNvSpPr>
            <a:spLocks xmlns:a="http://schemas.openxmlformats.org/drawingml/2006/main" noGrp="1"/>
          </p:cNvSpPr>
          <p:nvPr/>
        </p:nvSpPr>
        <p:spPr>
          <a:xfrm xmlns:a="http://schemas.openxmlformats.org/drawingml/2006/main">
            <a:off x="1000125" y="176212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Integrated framework</a:t>
            </a:r>
          </a:p>
        </p:txBody>
      </p:sp>
      <p:sp>
        <p:nvSpPr>
          <p:cNvPr id="242" name="conclusion-text-1">
            <a:extLst xmlns:a="http://schemas.openxmlformats.org/drawingml/2006/main">
              <a:ext uri="{FF2B5EF4-FFF2-40B4-BE49-F238E27FC236}">
                <a16:creationId xmlns:a16="http://schemas.microsoft.com/office/drawing/2014/main" id="{9203BA06-2C18-44F9-AF9A-8926F3C28993}"/>
              </a:ext>
            </a:extLst>
          </p:cNvPr>
          <p:cNvSpPr>
            <a:spLocks xmlns:a="http://schemas.openxmlformats.org/drawingml/2006/main" noGrp="1"/>
          </p:cNvSpPr>
          <p:nvPr/>
        </p:nvSpPr>
        <p:spPr>
          <a:xfrm xmlns:a="http://schemas.openxmlformats.org/drawingml/2006/main">
            <a:off x="3810000" y="176212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CAABC-FL combines record-level privacy, ciphertext-aligned compression, CKKS-protected aggregation, controlled model release and auditable governance in one workflow.</a:t>
            </a:r>
          </a:p>
        </p:txBody>
      </p:sp>
      <p:sp>
        <p:nvSpPr>
          <p:cNvPr id="243" name="conclusion-rule-1">
            <a:extLst xmlns:a="http://schemas.openxmlformats.org/drawingml/2006/main">
              <a:ext uri="{FF2B5EF4-FFF2-40B4-BE49-F238E27FC236}">
                <a16:creationId xmlns:a16="http://schemas.microsoft.com/office/drawing/2014/main" id="{4EEC5555-25D0-4A7B-9555-631907CE1AA9}"/>
              </a:ext>
            </a:extLst>
          </p:cNvPr>
          <p:cNvSpPr>
            <a:spLocks xmlns:a="http://schemas.openxmlformats.org/drawingml/2006/main" noGrp="1"/>
          </p:cNvSpPr>
          <p:nvPr/>
        </p:nvSpPr>
        <p:spPr>
          <a:xfrm xmlns:a="http://schemas.openxmlformats.org/drawingml/2006/main">
            <a:off x="904875" y="248602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4" name="conclusion-label-2">
            <a:extLst xmlns:a="http://schemas.openxmlformats.org/drawingml/2006/main">
              <a:ext uri="{FF2B5EF4-FFF2-40B4-BE49-F238E27FC236}">
                <a16:creationId xmlns:a16="http://schemas.microsoft.com/office/drawing/2014/main" id="{0F568816-CA8C-4564-9B39-0858575AA86D}"/>
              </a:ext>
            </a:extLst>
          </p:cNvPr>
          <p:cNvSpPr>
            <a:spLocks xmlns:a="http://schemas.openxmlformats.org/drawingml/2006/main" noGrp="1"/>
          </p:cNvSpPr>
          <p:nvPr/>
        </p:nvSpPr>
        <p:spPr>
          <a:xfrm xmlns:a="http://schemas.openxmlformats.org/drawingml/2006/main">
            <a:off x="1000125" y="266700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Experimental evidence</a:t>
            </a:r>
          </a:p>
        </p:txBody>
      </p:sp>
      <p:sp>
        <p:nvSpPr>
          <p:cNvPr id="245" name="conclusion-text-2">
            <a:extLst xmlns:a="http://schemas.openxmlformats.org/drawingml/2006/main">
              <a:ext uri="{FF2B5EF4-FFF2-40B4-BE49-F238E27FC236}">
                <a16:creationId xmlns:a16="http://schemas.microsoft.com/office/drawing/2014/main" id="{E768B45E-A1C0-4488-B9DD-6E0B2F66E259}"/>
              </a:ext>
            </a:extLst>
          </p:cNvPr>
          <p:cNvSpPr>
            <a:spLocks xmlns:a="http://schemas.openxmlformats.org/drawingml/2006/main" noGrp="1"/>
          </p:cNvSpPr>
          <p:nvPr/>
        </p:nvSpPr>
        <p:spPr>
          <a:xfrm xmlns:a="http://schemas.openxmlformats.org/drawingml/2006/main">
            <a:off x="3810000" y="266700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registered experiments retained comparable predictive utility, reduced serialized encrypted upload, and limited membership and reconstruction exposure under the tested settings.</a:t>
            </a:r>
          </a:p>
        </p:txBody>
      </p:sp>
      <p:sp>
        <p:nvSpPr>
          <p:cNvPr id="246" name="conclusion-rule-2">
            <a:extLst xmlns:a="http://schemas.openxmlformats.org/drawingml/2006/main">
              <a:ext uri="{FF2B5EF4-FFF2-40B4-BE49-F238E27FC236}">
                <a16:creationId xmlns:a16="http://schemas.microsoft.com/office/drawing/2014/main" id="{27686754-AAB5-4C53-A24A-891ECCEC6F40}"/>
              </a:ext>
            </a:extLst>
          </p:cNvPr>
          <p:cNvSpPr>
            <a:spLocks xmlns:a="http://schemas.openxmlformats.org/drawingml/2006/main" noGrp="1"/>
          </p:cNvSpPr>
          <p:nvPr/>
        </p:nvSpPr>
        <p:spPr>
          <a:xfrm xmlns:a="http://schemas.openxmlformats.org/drawingml/2006/main">
            <a:off x="904875" y="3390900"/>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47" name="conclusion-label-3">
            <a:extLst xmlns:a="http://schemas.openxmlformats.org/drawingml/2006/main">
              <a:ext uri="{FF2B5EF4-FFF2-40B4-BE49-F238E27FC236}">
                <a16:creationId xmlns:a16="http://schemas.microsoft.com/office/drawing/2014/main" id="{9C9379D0-AC92-4052-B686-80553A665FAB}"/>
              </a:ext>
            </a:extLst>
          </p:cNvPr>
          <p:cNvSpPr>
            <a:spLocks xmlns:a="http://schemas.openxmlformats.org/drawingml/2006/main" noGrp="1"/>
          </p:cNvSpPr>
          <p:nvPr/>
        </p:nvSpPr>
        <p:spPr>
          <a:xfrm xmlns:a="http://schemas.openxmlformats.org/drawingml/2006/main">
            <a:off x="1000125" y="3571875"/>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008A46"/>
                </a:solidFill>
                <a:latin typeface="Arial"/>
                <a:ea typeface="Arial"/>
                <a:cs typeface="Arial"/>
              </a:defRPr>
            </a:pPr>
            <a:r>
              <a:rPr sz="1650" b="1">
                <a:solidFill>
                  <a:srgbClr val="008A46"/>
                </a:solidFill>
                <a:latin typeface="Arial"/>
                <a:ea typeface="Arial"/>
                <a:cs typeface="Arial"/>
              </a:rPr>
              <a:t>Robust collaboration</a:t>
            </a:r>
          </a:p>
        </p:txBody>
      </p:sp>
      <p:sp>
        <p:nvSpPr>
          <p:cNvPr id="248" name="conclusion-text-3">
            <a:extLst xmlns:a="http://schemas.openxmlformats.org/drawingml/2006/main">
              <a:ext uri="{FF2B5EF4-FFF2-40B4-BE49-F238E27FC236}">
                <a16:creationId xmlns:a16="http://schemas.microsoft.com/office/drawing/2014/main" id="{0524D455-E99B-4935-991A-AABA968123A2}"/>
              </a:ext>
            </a:extLst>
          </p:cNvPr>
          <p:cNvSpPr>
            <a:spLocks xmlns:a="http://schemas.openxmlformats.org/drawingml/2006/main" noGrp="1"/>
          </p:cNvSpPr>
          <p:nvPr/>
        </p:nvSpPr>
        <p:spPr>
          <a:xfrm xmlns:a="http://schemas.openxmlformats.org/drawingml/2006/main">
            <a:off x="3810000" y="3571875"/>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Validation, reputation, rollback and audit controls improved resilience under the evaluated poisoning scenarios while preserving the protected aggregation path.</a:t>
            </a:r>
          </a:p>
        </p:txBody>
      </p:sp>
      <p:sp>
        <p:nvSpPr>
          <p:cNvPr id="249" name="conclusion-rule-3">
            <a:extLst xmlns:a="http://schemas.openxmlformats.org/drawingml/2006/main">
              <a:ext uri="{FF2B5EF4-FFF2-40B4-BE49-F238E27FC236}">
                <a16:creationId xmlns:a16="http://schemas.microsoft.com/office/drawing/2014/main" id="{466410C8-6CA1-4F80-B7C4-95089CAFD4E3}"/>
              </a:ext>
            </a:extLst>
          </p:cNvPr>
          <p:cNvSpPr>
            <a:spLocks xmlns:a="http://schemas.openxmlformats.org/drawingml/2006/main" noGrp="1"/>
          </p:cNvSpPr>
          <p:nvPr/>
        </p:nvSpPr>
        <p:spPr>
          <a:xfrm xmlns:a="http://schemas.openxmlformats.org/drawingml/2006/main">
            <a:off x="904875" y="4295775"/>
            <a:ext cx="10382250" cy="11430"/>
          </a:xfrm>
          <a:prstGeom xmlns:a="http://schemas.openxmlformats.org/drawingml/2006/main" prst="rect">
            <a:avLst/>
          </a:prstGeom>
          <a:solidFill xmlns:a="http://schemas.openxmlformats.org/drawingml/2006/main">
            <a:srgbClr val="C8D3DF"/>
          </a:solidFill>
          <a:ln xmlns:a="http://schemas.openxmlformats.org/drawingml/2006/main" w="0">
            <a:noFill/>
          </a:ln>
        </p:spPr>
      </p:sp>
      <p:sp>
        <p:nvSpPr>
          <p:cNvPr id="250" name="conclusion-label-4">
            <a:extLst xmlns:a="http://schemas.openxmlformats.org/drawingml/2006/main">
              <a:ext uri="{FF2B5EF4-FFF2-40B4-BE49-F238E27FC236}">
                <a16:creationId xmlns:a16="http://schemas.microsoft.com/office/drawing/2014/main" id="{12411998-3451-485E-AAB6-3E660EF5F96F}"/>
              </a:ext>
            </a:extLst>
          </p:cNvPr>
          <p:cNvSpPr>
            <a:spLocks xmlns:a="http://schemas.openxmlformats.org/drawingml/2006/main" noGrp="1"/>
          </p:cNvSpPr>
          <p:nvPr/>
        </p:nvSpPr>
        <p:spPr>
          <a:xfrm xmlns:a="http://schemas.openxmlformats.org/drawingml/2006/main">
            <a:off x="1000125" y="4476750"/>
            <a:ext cx="2619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650" b="1">
                <a:solidFill>
                  <a:srgbClr val="17365D"/>
                </a:solidFill>
                <a:latin typeface="Arial"/>
                <a:ea typeface="Arial"/>
                <a:cs typeface="Arial"/>
              </a:defRPr>
            </a:pPr>
            <a:r>
              <a:rPr sz="1650" b="1">
                <a:solidFill>
                  <a:srgbClr val="17365D"/>
                </a:solidFill>
                <a:latin typeface="Arial"/>
                <a:ea typeface="Arial"/>
                <a:cs typeface="Arial"/>
              </a:rPr>
              <a:t>Claim boundary</a:t>
            </a:r>
          </a:p>
        </p:txBody>
      </p:sp>
      <p:sp>
        <p:nvSpPr>
          <p:cNvPr id="251" name="conclusion-text-4">
            <a:extLst xmlns:a="http://schemas.openxmlformats.org/drawingml/2006/main">
              <a:ext uri="{FF2B5EF4-FFF2-40B4-BE49-F238E27FC236}">
                <a16:creationId xmlns:a16="http://schemas.microsoft.com/office/drawing/2014/main" id="{F34CFDE2-6AB9-4104-BC0D-718F99F35090}"/>
              </a:ext>
            </a:extLst>
          </p:cNvPr>
          <p:cNvSpPr>
            <a:spLocks xmlns:a="http://schemas.openxmlformats.org/drawingml/2006/main" noGrp="1"/>
          </p:cNvSpPr>
          <p:nvPr/>
        </p:nvSpPr>
        <p:spPr>
          <a:xfrm xmlns:a="http://schemas.openxmlformats.org/drawingml/2006/main">
            <a:off x="3810000" y="4476750"/>
            <a:ext cx="7477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buNone/>
              <a:defRPr sz="1350">
                <a:solidFill>
                  <a:srgbClr val="263244"/>
                </a:solidFill>
                <a:latin typeface="Arial"/>
                <a:ea typeface="Arial"/>
                <a:cs typeface="Arial"/>
              </a:defRPr>
            </a:pPr>
            <a:r>
              <a:rPr sz="1350">
                <a:solidFill>
                  <a:srgbClr val="263244"/>
                </a:solidFill>
                <a:latin typeface="Arial"/>
                <a:ea typeface="Arial"/>
                <a:cs typeface="Arial"/>
              </a:rPr>
              <a:t>The results support a defensible research system rather than universal security or production readiness; broader clinical, threshold-custody and multi-host validation remains necessary.</a:t>
            </a:r>
          </a:p>
        </p:txBody>
      </p:sp>
      <p:sp>
        <p:nvSpPr>
          <p:cNvPr id="252" name="final-conclusion-takeaway-box">
            <a:extLst xmlns:a="http://schemas.openxmlformats.org/drawingml/2006/main">
              <a:ext uri="{FF2B5EF4-FFF2-40B4-BE49-F238E27FC236}">
                <a16:creationId xmlns:a16="http://schemas.microsoft.com/office/drawing/2014/main" id="{93A03521-FD85-4E02-BDBD-F814A62381B3}"/>
              </a:ext>
            </a:extLst>
          </p:cNvPr>
          <p:cNvSpPr>
            <a:spLocks xmlns:a="http://schemas.openxmlformats.org/drawingml/2006/main" noGrp="1"/>
          </p:cNvSpPr>
          <p:nvPr/>
        </p:nvSpPr>
        <p:spPr>
          <a:xfrm xmlns:a="http://schemas.openxmlformats.org/drawingml/2006/main">
            <a:off x="1476375" y="5391150"/>
            <a:ext cx="9239250" cy="619125"/>
          </a:xfrm>
          <a:prstGeom xmlns:a="http://schemas.openxmlformats.org/drawingml/2006/main" prst="roundRect">
            <a:avLst>
              <a:gd name="adj" fmla="val 12308"/>
            </a:avLst>
          </a:prstGeom>
          <a:solidFill xmlns:a="http://schemas.openxmlformats.org/drawingml/2006/main">
            <a:srgbClr val="E8F4EE"/>
          </a:solidFill>
          <a:ln xmlns:a="http://schemas.openxmlformats.org/drawingml/2006/main" w="15240">
            <a:solidFill>
              <a:srgbClr val="008A46"/>
            </a:solidFill>
          </a:ln>
        </p:spPr>
      </p:sp>
      <p:sp>
        <p:nvSpPr>
          <p:cNvPr id="253" name="final-conclusion-takeaway">
            <a:extLst xmlns:a="http://schemas.openxmlformats.org/drawingml/2006/main">
              <a:ext uri="{FF2B5EF4-FFF2-40B4-BE49-F238E27FC236}">
                <a16:creationId xmlns:a16="http://schemas.microsoft.com/office/drawing/2014/main" id="{FFBA74EA-F6D6-4A91-9CEB-D8D4A2E86B04}"/>
              </a:ext>
            </a:extLst>
          </p:cNvPr>
          <p:cNvSpPr>
            <a:spLocks xmlns:a="http://schemas.openxmlformats.org/drawingml/2006/main" noGrp="1"/>
          </p:cNvSpPr>
          <p:nvPr/>
        </p:nvSpPr>
        <p:spPr>
          <a:xfrm xmlns:a="http://schemas.openxmlformats.org/drawingml/2006/main">
            <a:off x="1762125" y="5467350"/>
            <a:ext cx="866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lgn="ctr">
              <a:buNone/>
              <a:defRPr sz="1350" b="1">
                <a:solidFill>
                  <a:srgbClr val="17365D"/>
                </a:solidFill>
                <a:latin typeface="Arial"/>
                <a:ea typeface="Arial"/>
                <a:cs typeface="Arial"/>
              </a:defRPr>
            </a:pPr>
            <a:r>
              <a:rPr sz="1350" b="1">
                <a:solidFill>
                  <a:srgbClr val="17365D"/>
                </a:solidFill>
                <a:latin typeface="Arial"/>
                <a:ea typeface="Arial"/>
                <a:cs typeface="Arial"/>
              </a:rPr>
              <a:t>CAABC-FL shows that privacy, encrypted communication efficiency, poisoning resilience and accountability can be evaluated together within one multi-institutional learning protocol.</a:t>
            </a:r>
          </a:p>
        </p:txBody>
      </p:sp>
      <p:sp>
        <p:nvSpPr>
          <p:cNvPr id="256" name="single-paragraph-conclusion-cover">
            <a:extLst xmlns:a="http://schemas.openxmlformats.org/drawingml/2006/main">
              <a:ext uri="{FF2B5EF4-FFF2-40B4-BE49-F238E27FC236}">
                <a16:creationId xmlns:a16="http://schemas.microsoft.com/office/drawing/2014/main" id="{AA2F1210-C3F2-464B-90AB-E3BF8155DA48}"/>
              </a:ext>
            </a:extLst>
          </p:cNvPr>
          <p:cNvSpPr>
            <a:spLocks xmlns:a="http://schemas.openxmlformats.org/drawingml/2006/main" noGrp="1"/>
          </p:cNvSpPr>
          <p:nvPr/>
        </p:nvSpPr>
        <p:spPr>
          <a:xfrm xmlns:a="http://schemas.openxmlformats.org/drawingml/2006/main">
            <a:off x="619125" y="1190625"/>
            <a:ext cx="10953750" cy="4905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57" name="single-paragraph-conclusion">
            <a:extLst xmlns:a="http://schemas.openxmlformats.org/drawingml/2006/main">
              <a:ext uri="{FF2B5EF4-FFF2-40B4-BE49-F238E27FC236}">
                <a16:creationId xmlns:a16="http://schemas.microsoft.com/office/drawing/2014/main" id="{A3A3039E-D759-4431-B294-D81D3AD9C089}"/>
              </a:ext>
            </a:extLst>
          </p:cNvPr>
          <p:cNvSpPr>
            <a:spLocks xmlns:a="http://schemas.openxmlformats.org/drawingml/2006/main" noGrp="1"/>
          </p:cNvSpPr>
          <p:nvPr/>
        </p:nvSpPr>
        <p:spPr>
          <a:xfrm xmlns:a="http://schemas.openxmlformats.org/drawingml/2006/main">
            <a:off x="1381125" y="1952625"/>
            <a:ext cx="9429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just">
              <a:buNone/>
              <a:defRPr sz="1725">
                <a:solidFill>
                  <a:srgbClr val="263244"/>
                </a:solidFill>
                <a:latin typeface="Arial"/>
                <a:ea typeface="Arial"/>
                <a:cs typeface="Arial"/>
              </a:defRPr>
            </a:pPr>
            <a:r>
              <a:rPr sz="1725">
                <a:solidFill>
                  <a:srgbClr val="263244"/>
                </a:solidFill>
                <a:latin typeface="Arial"/>
                <a:ea typeface="Arial"/>
                <a:cs typeface="Arial"/>
              </a:rPr>
              <a:t>This thesis developed CAABC-FL as an integrated framework for secure multi-institutional federated learning. The system combines record-level differential privacy, ciphertext-aligned adaptive compression, CKKS-protected aggregation, controlled model release, poisoning-aware validation, and auditable governance within a single workflow. Across the registered experiments, CAABC-FL maintained comparable predictive utility, reduced serialized encrypted upload, limited membership-inference and gradient-reconstruction exposure, and improved resilience under the evaluated poisoning scenarios. These findings demonstrate that privacy, communication efficiency, robustness, and accountability can be addressed together, while broader clinical validation, real multi-host deployment, and dropout-tolerant threshold custody remain necessary before production use.</a:t>
            </a:r>
          </a:p>
        </p:txBody>
      </p:sp>
    </p:spTree>
    <p:extLst>
      <p:ext uri="{BB962C8B-B14F-4D97-AF65-F5344CB8AC3E}">
        <p14:creationId xmlns:p14="http://schemas.microsoft.com/office/powerpoint/2010/main" val="355756394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37</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681adf5eb484fa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58e4c283ead496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23397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38</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928ca604bfb40a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83e72919dd64d9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Thesis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39</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ac9c76204d347f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ad8210840de4ce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8" name="Table 238"/>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24960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72e6fd175cd43d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675baae00074de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241785"/>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41</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4519e06e8734a3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6c7a20ecefb433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pic>
        <p:nvPicPr>
          <p:cNvPr id="230"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f752fb8a78994342">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8733b0e50b9f40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613"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9636e4bd8f7e4b80">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c928883c21e743b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8238"/>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marL="0" lvl="0" indent="0" algn="ctr">
              <a:lnSpc>
                <a:spcPct val="100000"/>
              </a:lnSpc>
              <a:spcBef>
                <a:spcPts val="0"/>
              </a:spcBef>
              <a:spcAft>
                <a:spcPts val="0"/>
              </a:spcAft>
              <a:buSzPts val="3600"/>
              <a:buNone/>
              <a:defRPr sz="2250">
                <a:solidFill>
                  <a:srgbClr val="062B6F"/>
                </a:solidFill>
                <a:latin typeface="Arial"/>
                <a:ea typeface="Arial"/>
                <a:cs typeface="Arial"/>
              </a:defRPr>
            </a:pPr>
            <a:r>
              <a:rPr sz="2250">
                <a:solidFill>
                  <a:srgbClr val="062B6F"/>
                </a:solidFill>
                <a:latin typeface="Arial"/>
                <a:ea typeface="Arial"/>
                <a:cs typeface="Arial"/>
              </a:rPr>
              <a:t>42</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lnSpcReduction="10000"/>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2026-09-24T15:25:51.5270000Z</dcterms:created>
  <dcterms:modified xsi:type="dcterms:W3CDTF">2026-09-24T15:25:51.5280000Z</dcterms:modified>
</coreProperties>
</file>