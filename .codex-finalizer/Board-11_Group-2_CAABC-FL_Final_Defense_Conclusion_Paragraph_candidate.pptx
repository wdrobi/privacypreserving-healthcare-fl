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2.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df9d606b064c62" /><Relationship Type="http://schemas.openxmlformats.org/officeDocument/2006/relationships/extended-properties" Target="/docProps/app.xml" Id="Re13f705b1ff149bb" /><Relationship Type="http://schemas.openxmlformats.org/officeDocument/2006/relationships/officeDocument" Target="/ppt/presentation.xml" Id="R6aeb50b837424579" /></Relationships>
</file>

<file path=ppt/presentation.xml><?xml version="1.0" encoding="utf-8"?>
<p:presentation xmlns:p="http://schemas.openxmlformats.org/presentationml/2006/main">
  <p:sldMasterIdLst>
    <p:sldMasterId xmlns:r="http://schemas.openxmlformats.org/officeDocument/2006/relationships" id="2147483648" r:id="Rb31bd51806054101"/>
  </p:sldMasterIdLst>
  <p:notesMasterIdLst>
    <p:notesMasterId xmlns:r="http://schemas.openxmlformats.org/officeDocument/2006/relationships" r:id="R58845e0f89294be7"/>
  </p:notesMasterIdLst>
  <p:sldIdLst>
    <p:sldId xmlns:r="http://schemas.openxmlformats.org/officeDocument/2006/relationships" id="256" r:id="R705add65b5e64f75"/>
    <p:sldId xmlns:r="http://schemas.openxmlformats.org/officeDocument/2006/relationships" id="257" r:id="R975add9e4ead4221"/>
    <p:sldId xmlns:r="http://schemas.openxmlformats.org/officeDocument/2006/relationships" id="258" r:id="R7dc1d9049c07445e"/>
    <p:sldId xmlns:r="http://schemas.openxmlformats.org/officeDocument/2006/relationships" id="259" r:id="Rffbde53ea85e4326"/>
    <p:sldId xmlns:r="http://schemas.openxmlformats.org/officeDocument/2006/relationships" id="260" r:id="Ra32522cc957244e3"/>
    <p:sldId xmlns:r="http://schemas.openxmlformats.org/officeDocument/2006/relationships" id="261" r:id="Rdee931677e04452c"/>
    <p:sldId xmlns:r="http://schemas.openxmlformats.org/officeDocument/2006/relationships" id="262" r:id="Rf568471bc9da4fed"/>
    <p:sldId xmlns:r="http://schemas.openxmlformats.org/officeDocument/2006/relationships" id="263" r:id="R81486213159c41e4"/>
    <p:sldId xmlns:r="http://schemas.openxmlformats.org/officeDocument/2006/relationships" id="264" r:id="Rc631cd3519cb44f1"/>
    <p:sldId xmlns:r="http://schemas.openxmlformats.org/officeDocument/2006/relationships" id="265" r:id="R74ad2fec14794dfe"/>
    <p:sldId xmlns:r="http://schemas.openxmlformats.org/officeDocument/2006/relationships" id="266" r:id="R41e2a10b151b4e51"/>
    <p:sldId xmlns:r="http://schemas.openxmlformats.org/officeDocument/2006/relationships" id="267" r:id="R9a4c30ab45404387"/>
    <p:sldId xmlns:r="http://schemas.openxmlformats.org/officeDocument/2006/relationships" id="268" r:id="Ref6d1103f7c24adb"/>
    <p:sldId xmlns:r="http://schemas.openxmlformats.org/officeDocument/2006/relationships" id="269" r:id="Rbb3e7f9ce5614c63"/>
    <p:sldId xmlns:r="http://schemas.openxmlformats.org/officeDocument/2006/relationships" id="270" r:id="R646bc37dd099402a"/>
    <p:sldId xmlns:r="http://schemas.openxmlformats.org/officeDocument/2006/relationships" id="271" r:id="Rad0b52d2ee2a49e0"/>
    <p:sldId xmlns:r="http://schemas.openxmlformats.org/officeDocument/2006/relationships" id="272" r:id="Rdc620890de73472a"/>
    <p:sldId xmlns:r="http://schemas.openxmlformats.org/officeDocument/2006/relationships" id="273" r:id="R3116d89bd310452a"/>
    <p:sldId xmlns:r="http://schemas.openxmlformats.org/officeDocument/2006/relationships" id="274" r:id="Rb5cf6a52e46d43f1"/>
    <p:sldId xmlns:r="http://schemas.openxmlformats.org/officeDocument/2006/relationships" id="275" r:id="Rc9e460c945e6472e"/>
    <p:sldId xmlns:r="http://schemas.openxmlformats.org/officeDocument/2006/relationships" id="276" r:id="Rba1a25dd67314f66"/>
    <p:sldId xmlns:r="http://schemas.openxmlformats.org/officeDocument/2006/relationships" id="277" r:id="Rb5e03f59a8c9457f"/>
    <p:sldId xmlns:r="http://schemas.openxmlformats.org/officeDocument/2006/relationships" id="278" r:id="R4afb46b03bf848ff"/>
    <p:sldId xmlns:r="http://schemas.openxmlformats.org/officeDocument/2006/relationships" id="279" r:id="R3c276f71b80d4480"/>
    <p:sldId xmlns:r="http://schemas.openxmlformats.org/officeDocument/2006/relationships" id="280" r:id="R3072d7f8b1964cb0"/>
    <p:sldId xmlns:r="http://schemas.openxmlformats.org/officeDocument/2006/relationships" id="281" r:id="Rcb352fe7b2494c89"/>
    <p:sldId xmlns:r="http://schemas.openxmlformats.org/officeDocument/2006/relationships" id="282" r:id="Rf97d0dd3b5204e9e"/>
    <p:sldId xmlns:r="http://schemas.openxmlformats.org/officeDocument/2006/relationships" id="283" r:id="R28151810a1f14d44"/>
    <p:sldId xmlns:r="http://schemas.openxmlformats.org/officeDocument/2006/relationships" id="284" r:id="R44366763c9524821"/>
    <p:sldId xmlns:r="http://schemas.openxmlformats.org/officeDocument/2006/relationships" id="285" r:id="Rd09f9a8622db4023"/>
    <p:sldId xmlns:r="http://schemas.openxmlformats.org/officeDocument/2006/relationships" id="286" r:id="R242554d7b4ad4d42"/>
    <p:sldId xmlns:r="http://schemas.openxmlformats.org/officeDocument/2006/relationships" id="287" r:id="R6e8d32fd44f24087"/>
    <p:sldId xmlns:r="http://schemas.openxmlformats.org/officeDocument/2006/relationships" id="288" r:id="R8e382eaf7d6a4f68"/>
    <p:sldId xmlns:r="http://schemas.openxmlformats.org/officeDocument/2006/relationships" id="289" r:id="R1bcbc88024fd4526"/>
    <p:sldId xmlns:r="http://schemas.openxmlformats.org/officeDocument/2006/relationships" id="290" r:id="R9bda386cb33b4d13"/>
    <p:sldId xmlns:r="http://schemas.openxmlformats.org/officeDocument/2006/relationships" id="291" r:id="R5bc51b815d7f4dd0"/>
    <p:sldId xmlns:r="http://schemas.openxmlformats.org/officeDocument/2006/relationships" id="292" r:id="Raeb111d187374e2d"/>
    <p:sldId xmlns:r="http://schemas.openxmlformats.org/officeDocument/2006/relationships" id="293" r:id="Rec026aad84ca4698"/>
    <p:sldId xmlns:r="http://schemas.openxmlformats.org/officeDocument/2006/relationships" id="294" r:id="Redde1b61a3f14a41"/>
    <p:sldId xmlns:r="http://schemas.openxmlformats.org/officeDocument/2006/relationships" id="295" r:id="R271197c8df9b47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cfe0cc95d8f47cb" /><Relationship Type="http://schemas.openxmlformats.org/officeDocument/2006/relationships/slideMaster" Target="/ppt/slideMasters/slideMaster1.xml" Id="Rb31bd51806054101" /><Relationship Type="http://schemas.openxmlformats.org/officeDocument/2006/relationships/notesMaster" Target="/ppt/notesMasters/notesMaster1.xml" Id="R58845e0f89294be7" /><Relationship Type="http://schemas.openxmlformats.org/officeDocument/2006/relationships/presProps" Target="/ppt/presProps.xml" Id="R8ff7093181ce482e" /><Relationship Type="http://schemas.openxmlformats.org/officeDocument/2006/relationships/viewProps" Target="/ppt/viewProps.xml" Id="Rfd3c0e99385e4c6f" /><Relationship Type="http://schemas.openxmlformats.org/officeDocument/2006/relationships/tableStyles" Target="/ppt/tableStyles.xml" Id="R62e096583a8744a9" /><Relationship Type="http://schemas.openxmlformats.org/officeDocument/2006/relationships/slide" Target="/ppt/slides/slide1.xml" Id="R705add65b5e64f75" /><Relationship Type="http://schemas.openxmlformats.org/officeDocument/2006/relationships/slide" Target="/ppt/slides/slide2.xml" Id="R975add9e4ead4221" /><Relationship Type="http://schemas.openxmlformats.org/officeDocument/2006/relationships/slide" Target="/ppt/slides/slide3.xml" Id="R7dc1d9049c07445e" /><Relationship Type="http://schemas.openxmlformats.org/officeDocument/2006/relationships/slide" Target="/ppt/slides/slide4.xml" Id="Rffbde53ea85e4326" /><Relationship Type="http://schemas.openxmlformats.org/officeDocument/2006/relationships/slide" Target="/ppt/slides/slide5.xml" Id="Ra32522cc957244e3" /><Relationship Type="http://schemas.openxmlformats.org/officeDocument/2006/relationships/slide" Target="/ppt/slides/slide6.xml" Id="Rdee931677e04452c" /><Relationship Type="http://schemas.openxmlformats.org/officeDocument/2006/relationships/slide" Target="/ppt/slides/slide7.xml" Id="Rf568471bc9da4fed" /><Relationship Type="http://schemas.openxmlformats.org/officeDocument/2006/relationships/slide" Target="/ppt/slides/slide8.xml" Id="R81486213159c41e4" /><Relationship Type="http://schemas.openxmlformats.org/officeDocument/2006/relationships/slide" Target="/ppt/slides/slide9.xml" Id="Rc631cd3519cb44f1" /><Relationship Type="http://schemas.openxmlformats.org/officeDocument/2006/relationships/slide" Target="/ppt/slides/slide10.xml" Id="R74ad2fec14794dfe" /><Relationship Type="http://schemas.openxmlformats.org/officeDocument/2006/relationships/slide" Target="/ppt/slides/slide11.xml" Id="R41e2a10b151b4e51" /><Relationship Type="http://schemas.openxmlformats.org/officeDocument/2006/relationships/slide" Target="/ppt/slides/slide12.xml" Id="R9a4c30ab45404387" /><Relationship Type="http://schemas.openxmlformats.org/officeDocument/2006/relationships/slide" Target="/ppt/slides/slide13.xml" Id="Ref6d1103f7c24adb" /><Relationship Type="http://schemas.openxmlformats.org/officeDocument/2006/relationships/slide" Target="/ppt/slides/slide14.xml" Id="Rbb3e7f9ce5614c63" /><Relationship Type="http://schemas.openxmlformats.org/officeDocument/2006/relationships/slide" Target="/ppt/slides/slide15.xml" Id="R646bc37dd099402a" /><Relationship Type="http://schemas.openxmlformats.org/officeDocument/2006/relationships/slide" Target="/ppt/slides/slide16.xml" Id="Rad0b52d2ee2a49e0" /><Relationship Type="http://schemas.openxmlformats.org/officeDocument/2006/relationships/slide" Target="/ppt/slides/slide17.xml" Id="Rdc620890de73472a" /><Relationship Type="http://schemas.openxmlformats.org/officeDocument/2006/relationships/slide" Target="/ppt/slides/slide18.xml" Id="R3116d89bd310452a" /><Relationship Type="http://schemas.openxmlformats.org/officeDocument/2006/relationships/slide" Target="/ppt/slides/slide19.xml" Id="Rb5cf6a52e46d43f1" /><Relationship Type="http://schemas.openxmlformats.org/officeDocument/2006/relationships/slide" Target="/ppt/slides/slide20.xml" Id="Rc9e460c945e6472e" /><Relationship Type="http://schemas.openxmlformats.org/officeDocument/2006/relationships/slide" Target="/ppt/slides/slide21.xml" Id="Rba1a25dd67314f66" /><Relationship Type="http://schemas.openxmlformats.org/officeDocument/2006/relationships/slide" Target="/ppt/slides/slide22.xml" Id="Rb5e03f59a8c9457f" /><Relationship Type="http://schemas.openxmlformats.org/officeDocument/2006/relationships/slide" Target="/ppt/slides/slide23.xml" Id="R4afb46b03bf848ff" /><Relationship Type="http://schemas.openxmlformats.org/officeDocument/2006/relationships/slide" Target="/ppt/slides/slide24.xml" Id="R3c276f71b80d4480" /><Relationship Type="http://schemas.openxmlformats.org/officeDocument/2006/relationships/slide" Target="/ppt/slides/slide25.xml" Id="R3072d7f8b1964cb0" /><Relationship Type="http://schemas.openxmlformats.org/officeDocument/2006/relationships/slide" Target="/ppt/slides/slide26.xml" Id="Rcb352fe7b2494c89" /><Relationship Type="http://schemas.openxmlformats.org/officeDocument/2006/relationships/slide" Target="/ppt/slides/slide27.xml" Id="Rf97d0dd3b5204e9e" /><Relationship Type="http://schemas.openxmlformats.org/officeDocument/2006/relationships/slide" Target="/ppt/slides/slide28.xml" Id="R28151810a1f14d44" /><Relationship Type="http://schemas.openxmlformats.org/officeDocument/2006/relationships/slide" Target="/ppt/slides/slide29.xml" Id="R44366763c9524821" /><Relationship Type="http://schemas.openxmlformats.org/officeDocument/2006/relationships/slide" Target="/ppt/slides/slide30.xml" Id="Rd09f9a8622db4023" /><Relationship Type="http://schemas.openxmlformats.org/officeDocument/2006/relationships/slide" Target="/ppt/slides/slide31.xml" Id="R242554d7b4ad4d42" /><Relationship Type="http://schemas.openxmlformats.org/officeDocument/2006/relationships/slide" Target="/ppt/slides/slide32.xml" Id="R6e8d32fd44f24087" /><Relationship Type="http://schemas.openxmlformats.org/officeDocument/2006/relationships/slide" Target="/ppt/slides/slide33.xml" Id="R8e382eaf7d6a4f68" /><Relationship Type="http://schemas.openxmlformats.org/officeDocument/2006/relationships/slide" Target="/ppt/slides/slide34.xml" Id="R1bcbc88024fd4526" /><Relationship Type="http://schemas.openxmlformats.org/officeDocument/2006/relationships/slide" Target="/ppt/slides/slide35.xml" Id="R9bda386cb33b4d13" /><Relationship Type="http://schemas.openxmlformats.org/officeDocument/2006/relationships/slide" Target="/ppt/slides/slide36.xml" Id="R5bc51b815d7f4dd0" /><Relationship Type="http://schemas.openxmlformats.org/officeDocument/2006/relationships/slide" Target="/ppt/slides/slide37.xml" Id="Raeb111d187374e2d" /><Relationship Type="http://schemas.openxmlformats.org/officeDocument/2006/relationships/slide" Target="/ppt/slides/slide38.xml" Id="Rec026aad84ca4698" /><Relationship Type="http://schemas.openxmlformats.org/officeDocument/2006/relationships/slide" Target="/ppt/slides/slide39.xml" Id="Redde1b61a3f14a41" /><Relationship Type="http://schemas.openxmlformats.org/officeDocument/2006/relationships/slide" Target="/ppt/slides/slide40.xml" Id="R271197c8df9b47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3bd2d331894e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b6743fb15f40a1" /><Relationship Type="http://schemas.openxmlformats.org/officeDocument/2006/relationships/notesMaster" Target="/ppt/notesMasters/notesMaster1.xml" Id="Rb14492476c7249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c1181feaf4449d" /><Relationship Type="http://schemas.openxmlformats.org/officeDocument/2006/relationships/notesMaster" Target="/ppt/notesMasters/notesMaster1.xml" Id="Rc437af130cf446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ec344faa8648af" /><Relationship Type="http://schemas.openxmlformats.org/officeDocument/2006/relationships/notesMaster" Target="/ppt/notesMasters/notesMaster1.xml" Id="R856dded957c34e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47432c43234a4b" /><Relationship Type="http://schemas.openxmlformats.org/officeDocument/2006/relationships/notesMaster" Target="/ppt/notesMasters/notesMaster1.xml" Id="R97a6d471fb8545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74066d29bb499d" /><Relationship Type="http://schemas.openxmlformats.org/officeDocument/2006/relationships/notesMaster" Target="/ppt/notesMasters/notesMaster1.xml" Id="R0757ddee9d554d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855a06c8314119" /><Relationship Type="http://schemas.openxmlformats.org/officeDocument/2006/relationships/notesMaster" Target="/ppt/notesMasters/notesMaster1.xml" Id="R1ae0b6c4a89848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b59321a2bb4c44" /><Relationship Type="http://schemas.openxmlformats.org/officeDocument/2006/relationships/notesMaster" Target="/ppt/notesMasters/notesMaster1.xml" Id="R93813478f1554c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5cd073f34b44e7" /><Relationship Type="http://schemas.openxmlformats.org/officeDocument/2006/relationships/notesMaster" Target="/ppt/notesMasters/notesMaster1.xml" Id="R7cca62d20dac45a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52de3f497e49bb" /><Relationship Type="http://schemas.openxmlformats.org/officeDocument/2006/relationships/notesMaster" Target="/ppt/notesMasters/notesMaster1.xml" Id="R478332e8fbe0499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0a6f7729874010" /><Relationship Type="http://schemas.openxmlformats.org/officeDocument/2006/relationships/notesMaster" Target="/ppt/notesMasters/notesMaster1.xml" Id="R83df4d15d68e4a5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d3ba7f9a8a49b4" /><Relationship Type="http://schemas.openxmlformats.org/officeDocument/2006/relationships/notesMaster" Target="/ppt/notesMasters/notesMaster1.xml" Id="Rf8712cb70f84403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e0b73442d184cf3" /><Relationship Type="http://schemas.openxmlformats.org/officeDocument/2006/relationships/notesMaster" Target="/ppt/notesMasters/notesMaster1.xml" Id="R80e9d5df2a4c48e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6364cb99427452b" /><Relationship Type="http://schemas.openxmlformats.org/officeDocument/2006/relationships/notesMaster" Target="/ppt/notesMasters/notesMaster1.xml" Id="Rd9ca967a5979452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5b021dff6ee40eb" /><Relationship Type="http://schemas.openxmlformats.org/officeDocument/2006/relationships/notesMaster" Target="/ppt/notesMasters/notesMaster1.xml" Id="Rf6b3d785f8fa4ef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559ec3beab245af" /><Relationship Type="http://schemas.openxmlformats.org/officeDocument/2006/relationships/notesMaster" Target="/ppt/notesMasters/notesMaster1.xml" Id="R841076b6e1c440e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a9aa8b4696648e2" /><Relationship Type="http://schemas.openxmlformats.org/officeDocument/2006/relationships/notesMaster" Target="/ppt/notesMasters/notesMaster1.xml" Id="Rb8c303bc0008418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ff76655d5764b96" /><Relationship Type="http://schemas.openxmlformats.org/officeDocument/2006/relationships/notesMaster" Target="/ppt/notesMasters/notesMaster1.xml" Id="R057d87ffc2894a3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661bf65e49149ef" /><Relationship Type="http://schemas.openxmlformats.org/officeDocument/2006/relationships/notesMaster" Target="/ppt/notesMasters/notesMaster1.xml" Id="R0ec9ee4efe464a6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c10449ad7d94f2b" /><Relationship Type="http://schemas.openxmlformats.org/officeDocument/2006/relationships/notesMaster" Target="/ppt/notesMasters/notesMaster1.xml" Id="Ra3e6c75dfc06464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2c785c3bb6a49f3" /><Relationship Type="http://schemas.openxmlformats.org/officeDocument/2006/relationships/notesMaster" Target="/ppt/notesMasters/notesMaster1.xml" Id="R0d870b04359e44a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dba9877d7714022" /><Relationship Type="http://schemas.openxmlformats.org/officeDocument/2006/relationships/notesMaster" Target="/ppt/notesMasters/notesMaster1.xml" Id="R72db3530f3bd481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68215135f0e42fa" /><Relationship Type="http://schemas.openxmlformats.org/officeDocument/2006/relationships/notesMaster" Target="/ppt/notesMasters/notesMaster1.xml" Id="R0a00a03cbb36414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9aea6fd345d4cf8" /><Relationship Type="http://schemas.openxmlformats.org/officeDocument/2006/relationships/notesMaster" Target="/ppt/notesMasters/notesMaster1.xml" Id="R9248f971f7c247a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dea3a8bcebb4aea" /><Relationship Type="http://schemas.openxmlformats.org/officeDocument/2006/relationships/notesMaster" Target="/ppt/notesMasters/notesMaster1.xml" Id="R12fdb312bf614e2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5cae22ef060493c" /><Relationship Type="http://schemas.openxmlformats.org/officeDocument/2006/relationships/notesMaster" Target="/ppt/notesMasters/notesMaster1.xml" Id="Re5f85188deee491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72ff03c88e243c7" /><Relationship Type="http://schemas.openxmlformats.org/officeDocument/2006/relationships/notesMaster" Target="/ppt/notesMasters/notesMaster1.xml" Id="R857235647761426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aaeece7f0b44f3f" /><Relationship Type="http://schemas.openxmlformats.org/officeDocument/2006/relationships/notesMaster" Target="/ppt/notesMasters/notesMaster1.xml" Id="Ra5e7fe3c2eda40a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e7775ee8b864134" /><Relationship Type="http://schemas.openxmlformats.org/officeDocument/2006/relationships/notesMaster" Target="/ppt/notesMasters/notesMaster1.xml" Id="R738ce8ba743c4af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1b7501594b74451" /><Relationship Type="http://schemas.openxmlformats.org/officeDocument/2006/relationships/notesMaster" Target="/ppt/notesMasters/notesMaster1.xml" Id="R8b52fa9e88bb421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6b22694bf984b33" /><Relationship Type="http://schemas.openxmlformats.org/officeDocument/2006/relationships/notesMaster" Target="/ppt/notesMasters/notesMaster1.xml" Id="R413530ffec134e8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e4f86ba05ac443c" /><Relationship Type="http://schemas.openxmlformats.org/officeDocument/2006/relationships/notesMaster" Target="/ppt/notesMasters/notesMaster1.xml" Id="R6b5662065f004bf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385208722974cfa" /><Relationship Type="http://schemas.openxmlformats.org/officeDocument/2006/relationships/notesMaster" Target="/ppt/notesMasters/notesMaster1.xml" Id="R2cc43fed7fcd4bb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45a485f379f4a09" /><Relationship Type="http://schemas.openxmlformats.org/officeDocument/2006/relationships/notesMaster" Target="/ppt/notesMasters/notesMaster1.xml" Id="Ra6f461c67ea1493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9cf5c53d33445ff" /><Relationship Type="http://schemas.openxmlformats.org/officeDocument/2006/relationships/notesMaster" Target="/ppt/notesMasters/notesMaster1.xml" Id="R42e4ce83e8f048a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5c5e0616c1447d4" /><Relationship Type="http://schemas.openxmlformats.org/officeDocument/2006/relationships/notesMaster" Target="/ppt/notesMasters/notesMaster1.xml" Id="R73ad89d3c7ab422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eb045cbeb5d4cf9" /><Relationship Type="http://schemas.openxmlformats.org/officeDocument/2006/relationships/notesMaster" Target="/ppt/notesMasters/notesMaster1.xml" Id="R7f272c8cd9224ce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0037bb5bf154245" /><Relationship Type="http://schemas.openxmlformats.org/officeDocument/2006/relationships/notesMaster" Target="/ppt/notesMasters/notesMaster1.xml" Id="R82f94dc5ba324cb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a4f4fb35f374e02" /><Relationship Type="http://schemas.openxmlformats.org/officeDocument/2006/relationships/notesMaster" Target="/ppt/notesMasters/notesMaster1.xml" Id="Radc77f414456465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3c54dc462d74258" /><Relationship Type="http://schemas.openxmlformats.org/officeDocument/2006/relationships/notesMaster" Target="/ppt/notesMasters/notesMaster1.xml" Id="Rb0a76fd42a04457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7616b57bbe1492c" /><Relationship Type="http://schemas.openxmlformats.org/officeDocument/2006/relationships/notesMaster" Target="/ppt/notesMasters/notesMaster1.xml" Id="R9797a633f2524b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begins with the research context, problem statement, research questions, and objectives. It then reviews related studies and the identified gap before presenting the conceptual framework and proposed methodology. The final part reports utility, privacy, robustness, communication, and system results, followed by the conclusion, references, and the question-and-answer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conceptual framework links the research problem to the proposed intervention and the evaluation plan. Distributed hospital data, non-IID partitions, privacy threats, poisoning risk, and encrypted communication cost define the research context. The hybrid intervention combines record-level differential privacy, CAABC-FL block compression, CKKS-protected updates, and governance controls. These mechanisms support protected local training, authenticated update exchange, verified homomorphic aggregation, and threshold-governed release. The study evaluates predictive utility, privacy exposure, poisoning resilience, communication cost, and runtime overhead under the stated threat and trust assumptions.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each institution constructs a protected model update. Governance establishes identity, consent, and policy. Patient records remain inside each hospital during preprocessing and training. The consortium creates a collective CKKS public key while independent custodians protect threshold shares. Each hospital clips per-record gradients, adds calibrated differential-privacy noise, applies CAABC-FL block compression, encrypts the result, and signs the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the framework transports, aggregates, validates, and releases a model. Mutual TLS and signed round metadata authenticate every submission. The permissioned ledger stores hashes and status, while model ciphertexts remain off-chain. The coordinator performs reputation-weighted homomorphic aggregation and custodians decrypt only the aggregate. Validation either accepts the candidate model or triggers rollback and quarantine. Hospitals verify the signed model hash before starting the next round. Clinical inference follows the same authorization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formulation has four parts. First, the global objective is the sample-weighted average of hospital losses, where n_k is the number of records at hospital k and N is the total across participating hospitals. Second, each gradient is clipped to norm C, Gaussian noise z_k^t provides record-level differential privacy, and the residual e_k^t preserves information lost by CAABC-FL compression Q_s_t. Third, the accepted client set A_t contributes encrypted updates to the CKKS sum c_t. Threshold custodians decrypt only this aggregate, and eta_t is the global learning rate. Finally, the design must reduce predictive loss and serialized communication while satisfying privacy, integrity, threshold-release, and audit requirements.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CAABC-FL brings privacy protection, encrypted aggregation, communication reduction, poisoning-aware controls, and accountable governance into one multi-institutional learning workflow. The experiments support comparable predictive utility, lower serialized encrypted upload, limited exposure under the evaluated privacy attacks, and stronger resilience under the tested poisoning scenarios. The conclusion remains bounded to the registered datasets, attacks, seeds, and deployment environment. Production use requires broader clinical validation, a real multi-host deployment, and dropout-tolerant threshold custody.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3ee7af841024e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d67fa72920e4af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ffa2e6617da489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44a02a945eb49b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89ea6210f504c1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ad531e94e12448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601c6bc6613463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4e16d775434438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888d460465d40a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2614a127a4148e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2f513288a764044"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57"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47"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df35735aeb41f7" /><Relationship Type="http://schemas.openxmlformats.org/officeDocument/2006/relationships/slideLayout" Target="/ppt/slideLayouts/slideLayout1.xml" Id="Rdc8e287acdbe438b" /><Relationship Type="http://schemas.openxmlformats.org/officeDocument/2006/relationships/slideLayout" Target="/ppt/slideLayouts/slideLayout2.xml" Id="R0e7d7c2f5fb64723" /><Relationship Type="http://schemas.openxmlformats.org/officeDocument/2006/relationships/slideLayout" Target="/ppt/slideLayouts/slideLayout3.xml" Id="R3fd7b32e78b04ca5" /><Relationship Type="http://schemas.openxmlformats.org/officeDocument/2006/relationships/slideLayout" Target="/ppt/slideLayouts/slideLayout4.xml" Id="R4eef759dd9c64833" /><Relationship Type="http://schemas.openxmlformats.org/officeDocument/2006/relationships/slideLayout" Target="/ppt/slideLayouts/slideLayout5.xml" Id="R1463753e8b134770" /><Relationship Type="http://schemas.openxmlformats.org/officeDocument/2006/relationships/slideLayout" Target="/ppt/slideLayouts/slideLayout6.xml" Id="Rc027a310c95d44da" /><Relationship Type="http://schemas.openxmlformats.org/officeDocument/2006/relationships/slideLayout" Target="/ppt/slideLayouts/slideLayout7.xml" Id="R40226ef1fed040a1" /><Relationship Type="http://schemas.openxmlformats.org/officeDocument/2006/relationships/slideLayout" Target="/ppt/slideLayouts/slideLayout8.xml" Id="R9e305ac9b1d74ef5" /><Relationship Type="http://schemas.openxmlformats.org/officeDocument/2006/relationships/slideLayout" Target="/ppt/slideLayouts/slideLayout9.xml" Id="R1fa99851e2a644f1" /><Relationship Type="http://schemas.openxmlformats.org/officeDocument/2006/relationships/slideLayout" Target="/ppt/slideLayouts/slideLayout10.xml" Id="R4c6b96cfeeea45b2" /><Relationship Type="http://schemas.openxmlformats.org/officeDocument/2006/relationships/slideLayout" Target="/ppt/slideLayouts/slideLayout11.xml" Id="R448c3d743f834946"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c8e287acdbe438b"/>
    <p:sldLayoutId xmlns:r="http://schemas.openxmlformats.org/officeDocument/2006/relationships" id="2147483650" r:id="R0e7d7c2f5fb64723"/>
    <p:sldLayoutId xmlns:r="http://schemas.openxmlformats.org/officeDocument/2006/relationships" id="2147483651" r:id="R3fd7b32e78b04ca5"/>
    <p:sldLayoutId xmlns:r="http://schemas.openxmlformats.org/officeDocument/2006/relationships" id="2147483652" r:id="R4eef759dd9c64833"/>
    <p:sldLayoutId xmlns:r="http://schemas.openxmlformats.org/officeDocument/2006/relationships" id="2147483653" r:id="R1463753e8b134770"/>
    <p:sldLayoutId xmlns:r="http://schemas.openxmlformats.org/officeDocument/2006/relationships" id="2147483654" r:id="Rc027a310c95d44da"/>
    <p:sldLayoutId xmlns:r="http://schemas.openxmlformats.org/officeDocument/2006/relationships" id="2147483655" r:id="R40226ef1fed040a1"/>
    <p:sldLayoutId xmlns:r="http://schemas.openxmlformats.org/officeDocument/2006/relationships" id="2147483656" r:id="R9e305ac9b1d74ef5"/>
    <p:sldLayoutId xmlns:r="http://schemas.openxmlformats.org/officeDocument/2006/relationships" id="2147483657" r:id="R1fa99851e2a644f1"/>
    <p:sldLayoutId xmlns:r="http://schemas.openxmlformats.org/officeDocument/2006/relationships" id="2147483658" r:id="R4c6b96cfeeea45b2"/>
    <p:sldLayoutId xmlns:r="http://schemas.openxmlformats.org/officeDocument/2006/relationships" id="2147483659" r:id="R448c3d743f834946"/>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e5d971853934f13" /><Relationship Type="http://schemas.openxmlformats.org/officeDocument/2006/relationships/image" Target="/ppt/media/image.png" Id="R97da724a0fbc4bb6" /><Relationship Type="http://schemas.openxmlformats.org/officeDocument/2006/relationships/image" Target="/ppt/media/image2.png" Id="R811ed35357af4f55" /><Relationship Type="http://schemas.openxmlformats.org/officeDocument/2006/relationships/notesSlide" Target="/ppt/notesSlides/notesSlide1.xml" Id="Rcdf730f09a2d4d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e7f0fe9541c45bf" /><Relationship Type="http://schemas.openxmlformats.org/officeDocument/2006/relationships/image" Target="/ppt/media/image.jpeg" Id="R01b89da0abeb470f" /><Relationship Type="http://schemas.openxmlformats.org/officeDocument/2006/relationships/image" Target="/ppt/media/image2.png" Id="Rc5ce123958ed48a6" /><Relationship Type="http://schemas.openxmlformats.org/officeDocument/2006/relationships/notesSlide" Target="/ppt/notesSlides/notesSlide2.xml" Id="Rad9a72eba85747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c7f9ab834264bb9" /><Relationship Type="http://schemas.openxmlformats.org/officeDocument/2006/relationships/image" Target="/ppt/media/image.jpeg" Id="R89e0c32b13c44744" /><Relationship Type="http://schemas.openxmlformats.org/officeDocument/2006/relationships/image" Target="/ppt/media/image2.png" Id="Rb0af14d1eb70495c" /><Relationship Type="http://schemas.openxmlformats.org/officeDocument/2006/relationships/image" Target="/ppt/media/image3.png" Id="Rfa5deb816b6c45a8" /><Relationship Type="http://schemas.openxmlformats.org/officeDocument/2006/relationships/image" Target="/ppt/media/image4.png" Id="R796a761b769b4d52" /><Relationship Type="http://schemas.openxmlformats.org/officeDocument/2006/relationships/notesSlide" Target="/ppt/notesSlides/notesSlide3.xml" Id="Rd0def12f24be41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2215a6203c94adf" /><Relationship Type="http://schemas.openxmlformats.org/officeDocument/2006/relationships/image" Target="/ppt/media/image.jpeg" Id="R5064a0ff10a94aa4" /><Relationship Type="http://schemas.openxmlformats.org/officeDocument/2006/relationships/image" Target="/ppt/media/image2.png" Id="Rd60fa2192ffc4316" /><Relationship Type="http://schemas.openxmlformats.org/officeDocument/2006/relationships/image" Target="/ppt/media/image5.png" Id="R84b478d7edb74ca9" /><Relationship Type="http://schemas.openxmlformats.org/officeDocument/2006/relationships/notesSlide" Target="/ppt/notesSlides/notesSlide4.xml" Id="Rd3d0b6d1410e42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e3ae7f0aa4c4eed" /><Relationship Type="http://schemas.openxmlformats.org/officeDocument/2006/relationships/image" Target="/ppt/media/image.jpeg" Id="Reb7b95a58ba24fe1" /><Relationship Type="http://schemas.openxmlformats.org/officeDocument/2006/relationships/image" Target="/ppt/media/image2.png" Id="Re036954182c741ea" /><Relationship Type="http://schemas.openxmlformats.org/officeDocument/2006/relationships/notesSlide" Target="/ppt/notesSlides/notesSlide5.xml" Id="R575b7559163149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4f67bdbecbc4bb5" /><Relationship Type="http://schemas.openxmlformats.org/officeDocument/2006/relationships/image" Target="/ppt/media/image.jpeg" Id="R05e303c202cc4050" /><Relationship Type="http://schemas.openxmlformats.org/officeDocument/2006/relationships/image" Target="/ppt/media/image2.png" Id="R4acbf3d5d58345bb" /><Relationship Type="http://schemas.openxmlformats.org/officeDocument/2006/relationships/notesSlide" Target="/ppt/notesSlides/notesSlide6.xml" Id="R83af3e457f814a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2639ddec0eb4f0f" /><Relationship Type="http://schemas.openxmlformats.org/officeDocument/2006/relationships/image" Target="/ppt/media/image.jpeg" Id="R947586a9f67f4817" /><Relationship Type="http://schemas.openxmlformats.org/officeDocument/2006/relationships/image" Target="/ppt/media/image2.png" Id="Rd85e7ca7d3314ff8" /><Relationship Type="http://schemas.openxmlformats.org/officeDocument/2006/relationships/chart" Target="/ppt/slides/charts/chart1.xml" Id="R2fa05ec7fcaa472c" /><Relationship Type="http://schemas.openxmlformats.org/officeDocument/2006/relationships/notesSlide" Target="/ppt/notesSlides/notesSlide7.xml" Id="Rd67e98999ecc47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39961aa41f44931" /><Relationship Type="http://schemas.openxmlformats.org/officeDocument/2006/relationships/image" Target="/ppt/media/image.jpeg" Id="R46b72e9dc9864fd3" /><Relationship Type="http://schemas.openxmlformats.org/officeDocument/2006/relationships/image" Target="/ppt/media/image2.png" Id="R37ee9dd2264c4b29" /><Relationship Type="http://schemas.openxmlformats.org/officeDocument/2006/relationships/notesSlide" Target="/ppt/notesSlides/notesSlide8.xml" Id="R1cafb5b02dd448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74dc066321040eb" /><Relationship Type="http://schemas.openxmlformats.org/officeDocument/2006/relationships/image" Target="/ppt/media/image.jpeg" Id="Rf3254c9799824b10" /><Relationship Type="http://schemas.openxmlformats.org/officeDocument/2006/relationships/image" Target="/ppt/media/image2.png" Id="Rab70d1d2b94b47ff" /><Relationship Type="http://schemas.openxmlformats.org/officeDocument/2006/relationships/notesSlide" Target="/ppt/notesSlides/notesSlide9.xml" Id="R20ef7f76d69241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6e0e0385deb4008" /><Relationship Type="http://schemas.openxmlformats.org/officeDocument/2006/relationships/image" Target="/ppt/media/image.jpeg" Id="Rdd67d6e4e94f4bde" /><Relationship Type="http://schemas.openxmlformats.org/officeDocument/2006/relationships/image" Target="/ppt/media/image2.png" Id="R6e4eddca55094253" /><Relationship Type="http://schemas.openxmlformats.org/officeDocument/2006/relationships/image" Target="/ppt/media/image3.png" Id="R73d4ec10933b4343" /><Relationship Type="http://schemas.openxmlformats.org/officeDocument/2006/relationships/image" Target="/ppt/media/image6.png" Id="R56706996ebb147d6" /><Relationship Type="http://schemas.openxmlformats.org/officeDocument/2006/relationships/notesSlide" Target="/ppt/notesSlides/notesSlide10.xml" Id="R3708b98e7e6941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3063a464e204679" /><Relationship Type="http://schemas.openxmlformats.org/officeDocument/2006/relationships/image" Target="/ppt/media/image.jpeg" Id="Rf92c1e22c3c949c0" /><Relationship Type="http://schemas.openxmlformats.org/officeDocument/2006/relationships/image" Target="/ppt/media/image2.png" Id="Rffeff43eadae465e" /><Relationship Type="http://schemas.openxmlformats.org/officeDocument/2006/relationships/notesSlide" Target="/ppt/notesSlides/notesSlide11.xml" Id="Rf75734b30e7e402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caff7f6689443b4" /><Relationship Type="http://schemas.openxmlformats.org/officeDocument/2006/relationships/image" Target="/ppt/media/image.jpeg" Id="Rb2c9ac5d9802453b" /><Relationship Type="http://schemas.openxmlformats.org/officeDocument/2006/relationships/image" Target="/ppt/media/image2.png" Id="Rcece5f37c46a4e34" /><Relationship Type="http://schemas.openxmlformats.org/officeDocument/2006/relationships/notesSlide" Target="/ppt/notesSlides/notesSlide12.xml" Id="R2c8f4859c88348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4778722f89a4211" /><Relationship Type="http://schemas.openxmlformats.org/officeDocument/2006/relationships/image" Target="/ppt/media/image.jpeg" Id="Re0f0ebd157544a51" /><Relationship Type="http://schemas.openxmlformats.org/officeDocument/2006/relationships/image" Target="/ppt/media/image2.png" Id="R2d44e363cd04410b" /><Relationship Type="http://schemas.openxmlformats.org/officeDocument/2006/relationships/notesSlide" Target="/ppt/notesSlides/notesSlide13.xml" Id="R7a60baf8043249d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cdd6bd8ccdc4399" /><Relationship Type="http://schemas.openxmlformats.org/officeDocument/2006/relationships/image" Target="/ppt/media/image.jpeg" Id="R88dab3b6bb5a4ab6" /><Relationship Type="http://schemas.openxmlformats.org/officeDocument/2006/relationships/image" Target="/ppt/media/image2.png" Id="R80ae8a3b85eb4ce8" /><Relationship Type="http://schemas.openxmlformats.org/officeDocument/2006/relationships/notesSlide" Target="/ppt/notesSlides/notesSlide14.xml" Id="Rcdc4f80e4a0c442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4f621cac21049dd" /><Relationship Type="http://schemas.openxmlformats.org/officeDocument/2006/relationships/image" Target="/ppt/media/image.jpeg" Id="Rcae25f4d0c5b4ee6" /><Relationship Type="http://schemas.openxmlformats.org/officeDocument/2006/relationships/image" Target="/ppt/media/image2.png" Id="R7b3f48f197534439" /><Relationship Type="http://schemas.openxmlformats.org/officeDocument/2006/relationships/notesSlide" Target="/ppt/notesSlides/notesSlide15.xml" Id="R89959dbaa3444b9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2b38c66aa994011" /><Relationship Type="http://schemas.openxmlformats.org/officeDocument/2006/relationships/image" Target="/ppt/media/image.jpeg" Id="R2264f2312f4e4be9" /><Relationship Type="http://schemas.openxmlformats.org/officeDocument/2006/relationships/image" Target="/ppt/media/image2.png" Id="Rd02974a36ab54fba" /><Relationship Type="http://schemas.openxmlformats.org/officeDocument/2006/relationships/notesSlide" Target="/ppt/notesSlides/notesSlide16.xml" Id="R034960f43a584da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065ee7a23d8b4d87" /><Relationship Type="http://schemas.openxmlformats.org/officeDocument/2006/relationships/image" Target="/ppt/media/image.jpeg" Id="Rdcc1e9cbdf5f48ae" /><Relationship Type="http://schemas.openxmlformats.org/officeDocument/2006/relationships/image" Target="/ppt/media/image2.png" Id="R9184633fe41648ab" /><Relationship Type="http://schemas.openxmlformats.org/officeDocument/2006/relationships/image" Target="/ppt/media/image3.png" Id="Rf1fea822c02247c6" /><Relationship Type="http://schemas.openxmlformats.org/officeDocument/2006/relationships/image" Target="/ppt/media/image7.png" Id="Rd2354b3e980742ca" /><Relationship Type="http://schemas.openxmlformats.org/officeDocument/2006/relationships/notesSlide" Target="/ppt/notesSlides/notesSlide17.xml" Id="R14187a9b042c4e6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29d0c69dd2e4c3f" /><Relationship Type="http://schemas.openxmlformats.org/officeDocument/2006/relationships/image" Target="/ppt/media/image.jpeg" Id="R0cf13263900c4229" /><Relationship Type="http://schemas.openxmlformats.org/officeDocument/2006/relationships/image" Target="/ppt/media/image2.png" Id="R1df9c13ad3f04364" /><Relationship Type="http://schemas.openxmlformats.org/officeDocument/2006/relationships/image" Target="/ppt/media/image8.png" Id="R4d24228a389443a1" /><Relationship Type="http://schemas.openxmlformats.org/officeDocument/2006/relationships/image" Target="/ppt/media/image9.png" Id="R2c21c07fbe764e29" /><Relationship Type="http://schemas.openxmlformats.org/officeDocument/2006/relationships/notesSlide" Target="/ppt/notesSlides/notesSlide18.xml" Id="R2ae59a7150064eb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8e4aa83e42f4ccc" /><Relationship Type="http://schemas.openxmlformats.org/officeDocument/2006/relationships/image" Target="/ppt/media/image.jpeg" Id="R480a720a64b74b76" /><Relationship Type="http://schemas.openxmlformats.org/officeDocument/2006/relationships/image" Target="/ppt/media/image2.png" Id="Ree45ad15d0d749be" /><Relationship Type="http://schemas.openxmlformats.org/officeDocument/2006/relationships/image" Target="/ppt/media/image8.png" Id="Rd8bf599baf6d41dc" /><Relationship Type="http://schemas.openxmlformats.org/officeDocument/2006/relationships/image" Target="/ppt/media/image10.png" Id="Rffe041f540d5475b" /><Relationship Type="http://schemas.openxmlformats.org/officeDocument/2006/relationships/notesSlide" Target="/ppt/notesSlides/notesSlide19.xml" Id="R99177b9515e1410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c1882814f2b4373" /><Relationship Type="http://schemas.openxmlformats.org/officeDocument/2006/relationships/image" Target="/ppt/media/image.jpeg" Id="R261107da653f488c" /><Relationship Type="http://schemas.openxmlformats.org/officeDocument/2006/relationships/image" Target="/ppt/media/image2.png" Id="Rb9e6836eeb80415c" /><Relationship Type="http://schemas.openxmlformats.org/officeDocument/2006/relationships/notesSlide" Target="/ppt/notesSlides/notesSlide20.xml" Id="Rb5a4e3d9ead34fb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98d1ca7996f4bba" /><Relationship Type="http://schemas.openxmlformats.org/officeDocument/2006/relationships/image" Target="/ppt/media/image.jpeg" Id="Rfd6e4c4219a04047" /><Relationship Type="http://schemas.openxmlformats.org/officeDocument/2006/relationships/image" Target="/ppt/media/image2.png" Id="Ra4442347bb5a43f8" /><Relationship Type="http://schemas.openxmlformats.org/officeDocument/2006/relationships/notesSlide" Target="/ppt/notesSlides/notesSlide21.xml" Id="R54199fe7ca7e460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b987b5f14cf44b4" /><Relationship Type="http://schemas.openxmlformats.org/officeDocument/2006/relationships/image" Target="/ppt/media/image.jpeg" Id="R7388d899200547eb" /><Relationship Type="http://schemas.openxmlformats.org/officeDocument/2006/relationships/image" Target="/ppt/media/image2.png" Id="Rff2b19bdfa83431a" /><Relationship Type="http://schemas.openxmlformats.org/officeDocument/2006/relationships/notesSlide" Target="/ppt/notesSlides/notesSlide22.xml" Id="Rbbbf8e72d905444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1255b3effcc45ea" /><Relationship Type="http://schemas.openxmlformats.org/officeDocument/2006/relationships/image" Target="/ppt/media/image.jpeg" Id="R58a66d64113a4e79" /><Relationship Type="http://schemas.openxmlformats.org/officeDocument/2006/relationships/image" Target="/ppt/media/image2.png" Id="Rf127b506b40b458f" /><Relationship Type="http://schemas.openxmlformats.org/officeDocument/2006/relationships/notesSlide" Target="/ppt/notesSlides/notesSlide23.xml" Id="R422d19719116443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f6e92b9116c4859" /><Relationship Type="http://schemas.openxmlformats.org/officeDocument/2006/relationships/image" Target="/ppt/media/image.jpeg" Id="R05be38336be24589" /><Relationship Type="http://schemas.openxmlformats.org/officeDocument/2006/relationships/image" Target="/ppt/media/image2.png" Id="R2b0aa9f8b85c4496" /><Relationship Type="http://schemas.openxmlformats.org/officeDocument/2006/relationships/notesSlide" Target="/ppt/notesSlides/notesSlide24.xml" Id="Rba57c9632e874f4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044b2671bbdd4668" /><Relationship Type="http://schemas.openxmlformats.org/officeDocument/2006/relationships/image" Target="/ppt/media/image.jpeg" Id="Red12fa2440e94b26" /><Relationship Type="http://schemas.openxmlformats.org/officeDocument/2006/relationships/image" Target="/ppt/media/image2.png" Id="R07009267934a4d48" /><Relationship Type="http://schemas.openxmlformats.org/officeDocument/2006/relationships/image" Target="/ppt/media/image3.png" Id="R7b1ed71bbab94a02" /><Relationship Type="http://schemas.openxmlformats.org/officeDocument/2006/relationships/image" Target="/ppt/media/image11.png" Id="R3f2ff0182b924459" /><Relationship Type="http://schemas.openxmlformats.org/officeDocument/2006/relationships/notesSlide" Target="/ppt/notesSlides/notesSlide25.xml" Id="Rce7a159fce7248d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9fd0173560c48dc" /><Relationship Type="http://schemas.openxmlformats.org/officeDocument/2006/relationships/image" Target="/ppt/media/image.jpeg" Id="R90ac4546ece244f6" /><Relationship Type="http://schemas.openxmlformats.org/officeDocument/2006/relationships/image" Target="/ppt/media/image2.png" Id="Rea6e8643982e41e0" /><Relationship Type="http://schemas.openxmlformats.org/officeDocument/2006/relationships/notesSlide" Target="/ppt/notesSlides/notesSlide26.xml" Id="R7b0dfe5cbd4541d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9837582a4984d83" /><Relationship Type="http://schemas.openxmlformats.org/officeDocument/2006/relationships/image" Target="/ppt/media/image.jpeg" Id="R07dcc3c96d7e4561" /><Relationship Type="http://schemas.openxmlformats.org/officeDocument/2006/relationships/image" Target="/ppt/media/image2.png" Id="R6c840f3c46d74eb3" /><Relationship Type="http://schemas.openxmlformats.org/officeDocument/2006/relationships/chart" Target="/ppt/slides/charts/chart2.xml" Id="Rb2e4d4e3d00c4399" /><Relationship Type="http://schemas.openxmlformats.org/officeDocument/2006/relationships/notesSlide" Target="/ppt/notesSlides/notesSlide27.xml" Id="R478aefecfbaa4d5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dc93b6fc85d44a5" /><Relationship Type="http://schemas.openxmlformats.org/officeDocument/2006/relationships/image" Target="/ppt/media/image.jpeg" Id="R9eacea759c08416d" /><Relationship Type="http://schemas.openxmlformats.org/officeDocument/2006/relationships/image" Target="/ppt/media/image2.png" Id="R315bd382d9d74bc9" /><Relationship Type="http://schemas.openxmlformats.org/officeDocument/2006/relationships/image" Target="/ppt/media/image12.png" Id="Rc6e5788c8cee4595" /><Relationship Type="http://schemas.openxmlformats.org/officeDocument/2006/relationships/image" Target="/ppt/media/image13.png" Id="Ra5323c0a4b7a4ae3" /><Relationship Type="http://schemas.openxmlformats.org/officeDocument/2006/relationships/notesSlide" Target="/ppt/notesSlides/notesSlide28.xml" Id="R8e0a69546f574ac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00d113a6dc404f98" /><Relationship Type="http://schemas.openxmlformats.org/officeDocument/2006/relationships/image" Target="/ppt/media/image.jpeg" Id="Rda62b27f77254342" /><Relationship Type="http://schemas.openxmlformats.org/officeDocument/2006/relationships/image" Target="/ppt/media/image2.png" Id="Rd622d3f5a2b94340" /><Relationship Type="http://schemas.openxmlformats.org/officeDocument/2006/relationships/image" Target="/ppt/media/image3.png" Id="R7227888b0a1d4a60" /><Relationship Type="http://schemas.openxmlformats.org/officeDocument/2006/relationships/image" Target="/ppt/media/image14.png" Id="R03cb4b8e69714cf9" /><Relationship Type="http://schemas.openxmlformats.org/officeDocument/2006/relationships/notesSlide" Target="/ppt/notesSlides/notesSlide29.xml" Id="R5b3574de78d6441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b9072d8f9af44ee" /><Relationship Type="http://schemas.openxmlformats.org/officeDocument/2006/relationships/image" Target="/ppt/media/image.jpeg" Id="R6f198e0738344ca7" /><Relationship Type="http://schemas.openxmlformats.org/officeDocument/2006/relationships/image" Target="/ppt/media/image2.png" Id="R0dd4a50e8e5440d3" /><Relationship Type="http://schemas.openxmlformats.org/officeDocument/2006/relationships/notesSlide" Target="/ppt/notesSlides/notesSlide30.xml" Id="Rab69c9045922449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df1f098ae8b41e1" /><Relationship Type="http://schemas.openxmlformats.org/officeDocument/2006/relationships/image" Target="/ppt/media/image.jpeg" Id="Rabf4d8355d29425b" /><Relationship Type="http://schemas.openxmlformats.org/officeDocument/2006/relationships/image" Target="/ppt/media/image2.png" Id="Rca483109bf024b2b" /><Relationship Type="http://schemas.openxmlformats.org/officeDocument/2006/relationships/notesSlide" Target="/ppt/notesSlides/notesSlide31.xml" Id="R0eaf512b6f3c452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a22c500e65547e9" /><Relationship Type="http://schemas.openxmlformats.org/officeDocument/2006/relationships/image" Target="/ppt/media/image.jpeg" Id="Rb630e6384a8847d5" /><Relationship Type="http://schemas.openxmlformats.org/officeDocument/2006/relationships/image" Target="/ppt/media/image2.png" Id="R8203f20fe4e04545" /><Relationship Type="http://schemas.openxmlformats.org/officeDocument/2006/relationships/notesSlide" Target="/ppt/notesSlides/notesSlide32.xml" Id="R87245b2d0ad2451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5cc11db6fd74f24" /><Relationship Type="http://schemas.openxmlformats.org/officeDocument/2006/relationships/image" Target="/ppt/media/image.jpeg" Id="R13e2fb2149134884" /><Relationship Type="http://schemas.openxmlformats.org/officeDocument/2006/relationships/image" Target="/ppt/media/image2.png" Id="Rde86c73f35d64bf0" /><Relationship Type="http://schemas.openxmlformats.org/officeDocument/2006/relationships/notesSlide" Target="/ppt/notesSlides/notesSlide33.xml" Id="Raff291d7500f489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c3042a361154f50" /><Relationship Type="http://schemas.openxmlformats.org/officeDocument/2006/relationships/image" Target="/ppt/media/image.jpeg" Id="R706444e5cd474ca2" /><Relationship Type="http://schemas.openxmlformats.org/officeDocument/2006/relationships/image" Target="/ppt/media/image2.png" Id="Rade684c2268a462b" /><Relationship Type="http://schemas.openxmlformats.org/officeDocument/2006/relationships/notesSlide" Target="/ppt/notesSlides/notesSlide34.xml" Id="Rdb6a654673cb4a8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5c92d7683404fbd" /><Relationship Type="http://schemas.openxmlformats.org/officeDocument/2006/relationships/image" Target="/ppt/media/image.jpeg" Id="R1c845bc52ad44130" /><Relationship Type="http://schemas.openxmlformats.org/officeDocument/2006/relationships/image" Target="/ppt/media/image2.png" Id="R0e2b1493e5534ed4" /><Relationship Type="http://schemas.openxmlformats.org/officeDocument/2006/relationships/notesSlide" Target="/ppt/notesSlides/notesSlide35.xml" Id="R6ec5d6d684b5435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7b7eb72f0b3499f" /><Relationship Type="http://schemas.openxmlformats.org/officeDocument/2006/relationships/image" Target="/ppt/media/image.jpeg" Id="R9bd57b6c40f14321" /><Relationship Type="http://schemas.openxmlformats.org/officeDocument/2006/relationships/image" Target="/ppt/media/image2.png" Id="Rc91976720eb742b1" /><Relationship Type="http://schemas.openxmlformats.org/officeDocument/2006/relationships/notesSlide" Target="/ppt/notesSlides/notesSlide36.xml" Id="R2908d7ca502343b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e61ccb6cb7649bd" /><Relationship Type="http://schemas.openxmlformats.org/officeDocument/2006/relationships/image" Target="/ppt/media/image.jpeg" Id="Rce81a8f62bc54feb" /><Relationship Type="http://schemas.openxmlformats.org/officeDocument/2006/relationships/image" Target="/ppt/media/image2.png" Id="Rc3ef2d45ec3d45f8" /><Relationship Type="http://schemas.openxmlformats.org/officeDocument/2006/relationships/notesSlide" Target="/ppt/notesSlides/notesSlide37.xml" Id="R8b7274a962bb423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39e7a6187a14e79" /><Relationship Type="http://schemas.openxmlformats.org/officeDocument/2006/relationships/image" Target="/ppt/media/image.jpeg" Id="R3aa17b74e7b54fe7" /><Relationship Type="http://schemas.openxmlformats.org/officeDocument/2006/relationships/image" Target="/ppt/media/image2.png" Id="R710f93c770f54a08" /><Relationship Type="http://schemas.openxmlformats.org/officeDocument/2006/relationships/notesSlide" Target="/ppt/notesSlides/notesSlide38.xml" Id="Ree250177bfd3428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feadabe6dd49409d" /><Relationship Type="http://schemas.openxmlformats.org/officeDocument/2006/relationships/image" Target="/ppt/media/image.jpeg" Id="R45ba25390ded4cc2" /><Relationship Type="http://schemas.openxmlformats.org/officeDocument/2006/relationships/image" Target="/ppt/media/image2.png" Id="R7146984510d1477c" /><Relationship Type="http://schemas.openxmlformats.org/officeDocument/2006/relationships/image" Target="/ppt/media/image15.png" Id="Rc7f0ed644ad24507" /><Relationship Type="http://schemas.openxmlformats.org/officeDocument/2006/relationships/notesSlide" Target="/ppt/notesSlides/notesSlide39.xml" Id="R61cdaf156b8d47f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b45e5dccaee54e1b" /><Relationship Type="http://schemas.openxmlformats.org/officeDocument/2006/relationships/image" Target="/ppt/media/image.jpeg" Id="R4fad16e780504cdd" /><Relationship Type="http://schemas.openxmlformats.org/officeDocument/2006/relationships/image" Target="/ppt/media/image.gif" Id="R523a46a105f04fe7" /><Relationship Type="http://schemas.openxmlformats.org/officeDocument/2006/relationships/image" Target="/ppt/media/image2.png" Id="Rb4de404ec1a54f4f" /><Relationship Type="http://schemas.openxmlformats.org/officeDocument/2006/relationships/notesSlide" Target="/ppt/notesSlides/notesSlide40.xml" Id="Rfbd934f924174ba0"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autoTitleDeleted val="0"/>
    <c:plotArea>
      <c:barChart>
        <c:barDir val="col"/>
        <c:grouping val="clustered"/>
        <c:varyColors val="1"/>
        <c:ser>
          <c:idx val="0"/>
          <c:order val="0"/>
          <c:tx>
            <c:v>AUC</c:v>
          </c:tx>
          <c:spPr>
            <a:solidFill xmlns:a="http://schemas.openxmlformats.org/drawingml/2006/main">
              <a:srgbClr val="1E3A5F"/>
            </a:solidFill>
          </c:spPr>
          <c:dPt>
            <c:idx val="1"/>
            <c:invertIfNegative val="0"/>
            <c:spPr>
              <a:solidFill xmlns:a="http://schemas.openxmlformats.org/drawingml/2006/main">
                <a:srgbClr val="008A46"/>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2"/>
              <c:pt idx="0">
                <c:v>Local models</c:v>
              </c:pt>
              <c:pt idx="1">
                <c:v>EXAM federated model</c:v>
              </c:pt>
            </c:strLit>
          </c:cat>
          <c:val>
            <c:numLit>
              <c:formatCode>0.000</c:formatCode>
              <c:ptCount val="2"/>
              <c:pt idx="0">
                <c:v>0.795</c:v>
              </c:pt>
              <c:pt idx="1">
                <c:v>0.92</c:v>
              </c:pt>
            </c:numLit>
          </c:val>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rosses val="autoZero"/>
        <c:lblOffset val="100"/>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0"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es val="autoZero"/>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autoTitleDeleted val="0"/>
    <c:plotArea>
      <c:barChart>
        <c:barDir val="bar"/>
        <c:grouping val="clustered"/>
        <c:varyColors val="0"/>
        <c:ser>
          <c:idx val="0"/>
          <c:order val="0"/>
          <c:tx>
            <c:v>Reduction</c:v>
          </c:tx>
          <c:spPr>
            <a:solidFill xmlns:a="http://schemas.openxmlformats.org/drawingml/2006/main">
              <a:srgbClr val="00843D"/>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rosses val="autoZero"/>
        <c:lblOffset val="100"/>
      </c:catAx>
      <c:valAx>
        <c:axId val="48672768"/>
        <c:scaling>
          <c:orientation val="minMax"/>
        </c:scaling>
        <c:delete val="0"/>
        <c:axPos val="b"/>
        <c:numFmt formatCode="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es val="autoZero"/>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97da724a0fbc4bb6">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815671" y="1419007"/>
            <a:ext cx="10668000" cy="122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536488"/>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9"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811ed35357af4f55">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375254" y="6396928"/>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7" name="Picture 67"/>
          <p:cNvPicPr>
            <a:picLocks xmlns:a="http://schemas.openxmlformats.org/drawingml/2006/main" noChangeAspect="1"/>
          </p:cNvPicPr>
          <p:nvPr/>
        </p:nvPicPr>
        <p:blipFill>
          <a:blip xmlns:r="http://schemas.openxmlformats.org/officeDocument/2006/relationships" xmlns:a="http://schemas.openxmlformats.org/drawingml/2006/main" r:embed="R01b89da0abeb470f"/>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68" name="Picture 68"/>
          <p:cNvPicPr>
            <a:picLocks xmlns:a="http://schemas.openxmlformats.org/drawingml/2006/main" noChangeAspect="1"/>
          </p:cNvPicPr>
          <p:nvPr/>
        </p:nvPicPr>
        <p:blipFill>
          <a:blip xmlns:r="http://schemas.openxmlformats.org/officeDocument/2006/relationships" xmlns:a="http://schemas.openxmlformats.org/drawingml/2006/main" r:embed="Rc5ce123958ed48a6"/>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57475" y="66294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i="0">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6" name="toc-layout-cover">
            <a:extLst xmlns:a="http://schemas.openxmlformats.org/drawingml/2006/main">
              <a:ext uri="{FF2B5EF4-FFF2-40B4-BE49-F238E27FC236}">
                <a16:creationId xmlns:a16="http://schemas.microsoft.com/office/drawing/2014/main" id="{EB85D7A0-B89B-4FC5-AE09-E11CB4F7A0E2}"/>
              </a:ext>
            </a:extLst>
          </p:cNvPr>
          <p:cNvSpPr>
            <a:spLocks xmlns:a="http://schemas.openxmlformats.org/drawingml/2006/main" noGrp="1"/>
          </p:cNvSpPr>
          <p:nvPr/>
        </p:nvSpPr>
        <p:spPr>
          <a:xfrm xmlns:a="http://schemas.openxmlformats.org/drawingml/2006/main">
            <a:off x="428625" y="1143000"/>
            <a:ext cx="11430000" cy="50958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toc-center-divider">
            <a:extLst xmlns:a="http://schemas.openxmlformats.org/drawingml/2006/main">
              <a:ext uri="{FF2B5EF4-FFF2-40B4-BE49-F238E27FC236}">
                <a16:creationId xmlns:a16="http://schemas.microsoft.com/office/drawing/2014/main" id="{8DB92A33-CCD2-422E-8493-D154849ECFDC}"/>
              </a:ext>
            </a:extLst>
          </p:cNvPr>
          <p:cNvSpPr>
            <a:spLocks xmlns:a="http://schemas.openxmlformats.org/drawingml/2006/main" noGrp="1"/>
          </p:cNvSpPr>
          <p:nvPr/>
        </p:nvSpPr>
        <p:spPr>
          <a:xfrm xmlns:a="http://schemas.openxmlformats.org/drawingml/2006/main">
            <a:off x="6076950" y="1428750"/>
            <a:ext cx="19050" cy="4476750"/>
          </a:xfrm>
          <a:prstGeom xmlns:a="http://schemas.openxmlformats.org/drawingml/2006/main" prst="rect">
            <a:avLst/>
          </a:prstGeom>
          <a:solidFill xmlns:a="http://schemas.openxmlformats.org/drawingml/2006/main">
            <a:srgbClr val="DDE8E1"/>
          </a:solidFill>
          <a:ln xmlns:a="http://schemas.openxmlformats.org/drawingml/2006/main" w="0">
            <a:noFill/>
          </a:ln>
        </p:spPr>
      </p:sp>
      <p:sp>
        <p:nvSpPr>
          <p:cNvPr id="18" name="toc-center-divider-accent">
            <a:extLst xmlns:a="http://schemas.openxmlformats.org/drawingml/2006/main">
              <a:ext uri="{FF2B5EF4-FFF2-40B4-BE49-F238E27FC236}">
                <a16:creationId xmlns:a16="http://schemas.microsoft.com/office/drawing/2014/main" id="{B7AE5AE8-CF65-4B0B-B076-13FF885AA7DA}"/>
              </a:ext>
            </a:extLst>
          </p:cNvPr>
          <p:cNvSpPr>
            <a:spLocks xmlns:a="http://schemas.openxmlformats.org/drawingml/2006/main" noGrp="1"/>
          </p:cNvSpPr>
          <p:nvPr/>
        </p:nvSpPr>
        <p:spPr>
          <a:xfrm xmlns:a="http://schemas.openxmlformats.org/drawingml/2006/main">
            <a:off x="6076950" y="2190750"/>
            <a:ext cx="19050" cy="290512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19" name="toc-introduction-marker">
            <a:extLst xmlns:a="http://schemas.openxmlformats.org/drawingml/2006/main">
              <a:ext uri="{FF2B5EF4-FFF2-40B4-BE49-F238E27FC236}">
                <a16:creationId xmlns:a16="http://schemas.microsoft.com/office/drawing/2014/main" id="{20AFD810-0237-4509-A6EB-39DDD85DE7C5}"/>
              </a:ext>
            </a:extLst>
          </p:cNvPr>
          <p:cNvSpPr>
            <a:spLocks xmlns:a="http://schemas.openxmlformats.org/drawingml/2006/main" noGrp="1"/>
          </p:cNvSpPr>
          <p:nvPr/>
        </p:nvSpPr>
        <p:spPr>
          <a:xfrm xmlns:a="http://schemas.openxmlformats.org/drawingml/2006/main">
            <a:off x="781050"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0" name="toc-introduction-title">
            <a:extLst xmlns:a="http://schemas.openxmlformats.org/drawingml/2006/main">
              <a:ext uri="{FF2B5EF4-FFF2-40B4-BE49-F238E27FC236}">
                <a16:creationId xmlns:a16="http://schemas.microsoft.com/office/drawing/2014/main" id="{C6A1879B-2B24-461C-9404-8457990A0544}"/>
              </a:ext>
            </a:extLst>
          </p:cNvPr>
          <p:cNvSpPr>
            <a:spLocks xmlns:a="http://schemas.openxmlformats.org/drawingml/2006/main" noGrp="1"/>
          </p:cNvSpPr>
          <p:nvPr/>
        </p:nvSpPr>
        <p:spPr>
          <a:xfrm xmlns:a="http://schemas.openxmlformats.org/drawingml/2006/main">
            <a:off x="1047750"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Introduction</a:t>
            </a:r>
          </a:p>
        </p:txBody>
      </p:sp>
      <p:sp>
        <p:nvSpPr>
          <p:cNvPr id="21" name="toc-introduction-chevron-1">
            <a:extLst xmlns:a="http://schemas.openxmlformats.org/drawingml/2006/main">
              <a:ext uri="{FF2B5EF4-FFF2-40B4-BE49-F238E27FC236}">
                <a16:creationId xmlns:a16="http://schemas.microsoft.com/office/drawing/2014/main" id="{ED46F73D-DEEE-4AD4-8C83-7A6B27775D16}"/>
              </a:ext>
            </a:extLst>
          </p:cNvPr>
          <p:cNvSpPr>
            <a:spLocks xmlns:a="http://schemas.openxmlformats.org/drawingml/2006/main" noGrp="1"/>
          </p:cNvSpPr>
          <p:nvPr/>
        </p:nvSpPr>
        <p:spPr>
          <a:xfrm xmlns:a="http://schemas.openxmlformats.org/drawingml/2006/main">
            <a:off x="1181100"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2" name="toc-introduction-item-1">
            <a:extLst xmlns:a="http://schemas.openxmlformats.org/drawingml/2006/main">
              <a:ext uri="{FF2B5EF4-FFF2-40B4-BE49-F238E27FC236}">
                <a16:creationId xmlns:a16="http://schemas.microsoft.com/office/drawing/2014/main" id="{5B518010-3BC3-43DB-B63D-A1BB68F41DA9}"/>
              </a:ext>
            </a:extLst>
          </p:cNvPr>
          <p:cNvSpPr>
            <a:spLocks xmlns:a="http://schemas.openxmlformats.org/drawingml/2006/main" noGrp="1"/>
          </p:cNvSpPr>
          <p:nvPr/>
        </p:nvSpPr>
        <p:spPr>
          <a:xfrm xmlns:a="http://schemas.openxmlformats.org/drawingml/2006/main">
            <a:off x="1466850"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Background and motivation</a:t>
            </a:r>
          </a:p>
        </p:txBody>
      </p:sp>
      <p:sp>
        <p:nvSpPr>
          <p:cNvPr id="23" name="toc-introduction-chevron-2">
            <a:extLst xmlns:a="http://schemas.openxmlformats.org/drawingml/2006/main">
              <a:ext uri="{FF2B5EF4-FFF2-40B4-BE49-F238E27FC236}">
                <a16:creationId xmlns:a16="http://schemas.microsoft.com/office/drawing/2014/main" id="{CDD3684C-4BC1-4792-B7ED-E18200CF7B2A}"/>
              </a:ext>
            </a:extLst>
          </p:cNvPr>
          <p:cNvSpPr>
            <a:spLocks xmlns:a="http://schemas.openxmlformats.org/drawingml/2006/main" noGrp="1"/>
          </p:cNvSpPr>
          <p:nvPr/>
        </p:nvSpPr>
        <p:spPr>
          <a:xfrm xmlns:a="http://schemas.openxmlformats.org/drawingml/2006/main">
            <a:off x="1181100"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4" name="toc-introduction-item-2">
            <a:extLst xmlns:a="http://schemas.openxmlformats.org/drawingml/2006/main">
              <a:ext uri="{FF2B5EF4-FFF2-40B4-BE49-F238E27FC236}">
                <a16:creationId xmlns:a16="http://schemas.microsoft.com/office/drawing/2014/main" id="{CBC16602-1DCD-4A1A-AC3A-726BDBAD88BF}"/>
              </a:ext>
            </a:extLst>
          </p:cNvPr>
          <p:cNvSpPr>
            <a:spLocks xmlns:a="http://schemas.openxmlformats.org/drawingml/2006/main" noGrp="1"/>
          </p:cNvSpPr>
          <p:nvPr/>
        </p:nvSpPr>
        <p:spPr>
          <a:xfrm xmlns:a="http://schemas.openxmlformats.org/drawingml/2006/main">
            <a:off x="1466850"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Problem statement</a:t>
            </a:r>
          </a:p>
        </p:txBody>
      </p:sp>
      <p:sp>
        <p:nvSpPr>
          <p:cNvPr id="25" name="toc-introduction-chevron-3">
            <a:extLst xmlns:a="http://schemas.openxmlformats.org/drawingml/2006/main">
              <a:ext uri="{FF2B5EF4-FFF2-40B4-BE49-F238E27FC236}">
                <a16:creationId xmlns:a16="http://schemas.microsoft.com/office/drawing/2014/main" id="{590FA40F-1F68-46F6-B7AF-2CC09442BC4C}"/>
              </a:ext>
            </a:extLst>
          </p:cNvPr>
          <p:cNvSpPr>
            <a:spLocks xmlns:a="http://schemas.openxmlformats.org/drawingml/2006/main" noGrp="1"/>
          </p:cNvSpPr>
          <p:nvPr/>
        </p:nvSpPr>
        <p:spPr>
          <a:xfrm xmlns:a="http://schemas.openxmlformats.org/drawingml/2006/main">
            <a:off x="1181100"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6" name="toc-introduction-item-3">
            <a:extLst xmlns:a="http://schemas.openxmlformats.org/drawingml/2006/main">
              <a:ext uri="{FF2B5EF4-FFF2-40B4-BE49-F238E27FC236}">
                <a16:creationId xmlns:a16="http://schemas.microsoft.com/office/drawing/2014/main" id="{299ED237-5381-4798-9870-64C2CFB74A21}"/>
              </a:ext>
            </a:extLst>
          </p:cNvPr>
          <p:cNvSpPr>
            <a:spLocks xmlns:a="http://schemas.openxmlformats.org/drawingml/2006/main" noGrp="1"/>
          </p:cNvSpPr>
          <p:nvPr/>
        </p:nvSpPr>
        <p:spPr>
          <a:xfrm xmlns:a="http://schemas.openxmlformats.org/drawingml/2006/main">
            <a:off x="1466850"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Research questions and objectives</a:t>
            </a:r>
          </a:p>
        </p:txBody>
      </p:sp>
      <p:sp>
        <p:nvSpPr>
          <p:cNvPr id="27" name="toc-literature-marker">
            <a:extLst xmlns:a="http://schemas.openxmlformats.org/drawingml/2006/main">
              <a:ext uri="{FF2B5EF4-FFF2-40B4-BE49-F238E27FC236}">
                <a16:creationId xmlns:a16="http://schemas.microsoft.com/office/drawing/2014/main" id="{B4EDC459-3AC7-4E59-8671-97041EC83181}"/>
              </a:ext>
            </a:extLst>
          </p:cNvPr>
          <p:cNvSpPr>
            <a:spLocks xmlns:a="http://schemas.openxmlformats.org/drawingml/2006/main" noGrp="1"/>
          </p:cNvSpPr>
          <p:nvPr/>
        </p:nvSpPr>
        <p:spPr>
          <a:xfrm xmlns:a="http://schemas.openxmlformats.org/drawingml/2006/main">
            <a:off x="781050"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8" name="toc-literature-title">
            <a:extLst xmlns:a="http://schemas.openxmlformats.org/drawingml/2006/main">
              <a:ext uri="{FF2B5EF4-FFF2-40B4-BE49-F238E27FC236}">
                <a16:creationId xmlns:a16="http://schemas.microsoft.com/office/drawing/2014/main" id="{E7394B6E-47C3-4AF2-90B0-522DAB160513}"/>
              </a:ext>
            </a:extLst>
          </p:cNvPr>
          <p:cNvSpPr>
            <a:spLocks xmlns:a="http://schemas.openxmlformats.org/drawingml/2006/main" noGrp="1"/>
          </p:cNvSpPr>
          <p:nvPr/>
        </p:nvSpPr>
        <p:spPr>
          <a:xfrm xmlns:a="http://schemas.openxmlformats.org/drawingml/2006/main">
            <a:off x="1047750"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Literature Review</a:t>
            </a:r>
          </a:p>
        </p:txBody>
      </p:sp>
      <p:sp>
        <p:nvSpPr>
          <p:cNvPr id="29" name="toc-literature-chevron-1">
            <a:extLst xmlns:a="http://schemas.openxmlformats.org/drawingml/2006/main">
              <a:ext uri="{FF2B5EF4-FFF2-40B4-BE49-F238E27FC236}">
                <a16:creationId xmlns:a16="http://schemas.microsoft.com/office/drawing/2014/main" id="{E4C5ABD3-54F1-4BC4-B308-386E8F69A498}"/>
              </a:ext>
            </a:extLst>
          </p:cNvPr>
          <p:cNvSpPr>
            <a:spLocks xmlns:a="http://schemas.openxmlformats.org/drawingml/2006/main" noGrp="1"/>
          </p:cNvSpPr>
          <p:nvPr/>
        </p:nvSpPr>
        <p:spPr>
          <a:xfrm xmlns:a="http://schemas.openxmlformats.org/drawingml/2006/main">
            <a:off x="1181100" y="310515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0" name="toc-literature-item-1">
            <a:extLst xmlns:a="http://schemas.openxmlformats.org/drawingml/2006/main">
              <a:ext uri="{FF2B5EF4-FFF2-40B4-BE49-F238E27FC236}">
                <a16:creationId xmlns:a16="http://schemas.microsoft.com/office/drawing/2014/main" id="{896A1579-0C62-4F0D-955B-2B7F7F9C5DA3}"/>
              </a:ext>
            </a:extLst>
          </p:cNvPr>
          <p:cNvSpPr>
            <a:spLocks xmlns:a="http://schemas.openxmlformats.org/drawingml/2006/main" noGrp="1"/>
          </p:cNvSpPr>
          <p:nvPr/>
        </p:nvSpPr>
        <p:spPr>
          <a:xfrm xmlns:a="http://schemas.openxmlformats.org/drawingml/2006/main">
            <a:off x="1466850" y="310515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Related studies</a:t>
            </a:r>
          </a:p>
        </p:txBody>
      </p:sp>
      <p:sp>
        <p:nvSpPr>
          <p:cNvPr id="31" name="toc-literature-chevron-2">
            <a:extLst xmlns:a="http://schemas.openxmlformats.org/drawingml/2006/main">
              <a:ext uri="{FF2B5EF4-FFF2-40B4-BE49-F238E27FC236}">
                <a16:creationId xmlns:a16="http://schemas.microsoft.com/office/drawing/2014/main" id="{41B4E2B3-6349-45F6-AF64-EDE8B9C36B3A}"/>
              </a:ext>
            </a:extLst>
          </p:cNvPr>
          <p:cNvSpPr>
            <a:spLocks xmlns:a="http://schemas.openxmlformats.org/drawingml/2006/main" noGrp="1"/>
          </p:cNvSpPr>
          <p:nvPr/>
        </p:nvSpPr>
        <p:spPr>
          <a:xfrm xmlns:a="http://schemas.openxmlformats.org/drawingml/2006/main">
            <a:off x="1181100" y="33623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2" name="toc-literature-item-2">
            <a:extLst xmlns:a="http://schemas.openxmlformats.org/drawingml/2006/main">
              <a:ext uri="{FF2B5EF4-FFF2-40B4-BE49-F238E27FC236}">
                <a16:creationId xmlns:a16="http://schemas.microsoft.com/office/drawing/2014/main" id="{73660351-7D0D-4CBF-BA91-51537F803DD0}"/>
              </a:ext>
            </a:extLst>
          </p:cNvPr>
          <p:cNvSpPr>
            <a:spLocks xmlns:a="http://schemas.openxmlformats.org/drawingml/2006/main" noGrp="1"/>
          </p:cNvSpPr>
          <p:nvPr/>
        </p:nvSpPr>
        <p:spPr>
          <a:xfrm xmlns:a="http://schemas.openxmlformats.org/drawingml/2006/main">
            <a:off x="1466850" y="33623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Comparative analysis and research gap</a:t>
            </a:r>
          </a:p>
        </p:txBody>
      </p:sp>
      <p:sp>
        <p:nvSpPr>
          <p:cNvPr id="33" name="toc-framework-marker">
            <a:extLst xmlns:a="http://schemas.openxmlformats.org/drawingml/2006/main">
              <a:ext uri="{FF2B5EF4-FFF2-40B4-BE49-F238E27FC236}">
                <a16:creationId xmlns:a16="http://schemas.microsoft.com/office/drawing/2014/main" id="{9E45591D-DBA9-4DFF-B49C-96CED4E389A3}"/>
              </a:ext>
            </a:extLst>
          </p:cNvPr>
          <p:cNvSpPr>
            <a:spLocks xmlns:a="http://schemas.openxmlformats.org/drawingml/2006/main" noGrp="1"/>
          </p:cNvSpPr>
          <p:nvPr/>
        </p:nvSpPr>
        <p:spPr>
          <a:xfrm xmlns:a="http://schemas.openxmlformats.org/drawingml/2006/main">
            <a:off x="781050" y="39243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34" name="toc-framework-title">
            <a:extLst xmlns:a="http://schemas.openxmlformats.org/drawingml/2006/main">
              <a:ext uri="{FF2B5EF4-FFF2-40B4-BE49-F238E27FC236}">
                <a16:creationId xmlns:a16="http://schemas.microsoft.com/office/drawing/2014/main" id="{C0CF9239-0025-45BA-8295-AB7670CE8FF0}"/>
              </a:ext>
            </a:extLst>
          </p:cNvPr>
          <p:cNvSpPr>
            <a:spLocks xmlns:a="http://schemas.openxmlformats.org/drawingml/2006/main" noGrp="1"/>
          </p:cNvSpPr>
          <p:nvPr/>
        </p:nvSpPr>
        <p:spPr>
          <a:xfrm xmlns:a="http://schemas.openxmlformats.org/drawingml/2006/main">
            <a:off x="1047750" y="38576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Conceptual Framework</a:t>
            </a:r>
          </a:p>
        </p:txBody>
      </p:sp>
      <p:sp>
        <p:nvSpPr>
          <p:cNvPr id="35" name="toc-framework-chevron-1">
            <a:extLst xmlns:a="http://schemas.openxmlformats.org/drawingml/2006/main">
              <a:ext uri="{FF2B5EF4-FFF2-40B4-BE49-F238E27FC236}">
                <a16:creationId xmlns:a16="http://schemas.microsoft.com/office/drawing/2014/main" id="{D0FFF833-C244-4FFB-BDB4-FC5B51B2B08C}"/>
              </a:ext>
            </a:extLst>
          </p:cNvPr>
          <p:cNvSpPr>
            <a:spLocks xmlns:a="http://schemas.openxmlformats.org/drawingml/2006/main" noGrp="1"/>
          </p:cNvSpPr>
          <p:nvPr/>
        </p:nvSpPr>
        <p:spPr>
          <a:xfrm xmlns:a="http://schemas.openxmlformats.org/drawingml/2006/main">
            <a:off x="1181100" y="42005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6" name="toc-framework-item-1">
            <a:extLst xmlns:a="http://schemas.openxmlformats.org/drawingml/2006/main">
              <a:ext uri="{FF2B5EF4-FFF2-40B4-BE49-F238E27FC236}">
                <a16:creationId xmlns:a16="http://schemas.microsoft.com/office/drawing/2014/main" id="{9D73A5DB-6464-41A2-ABB6-869DC835F3DE}"/>
              </a:ext>
            </a:extLst>
          </p:cNvPr>
          <p:cNvSpPr>
            <a:spLocks xmlns:a="http://schemas.openxmlformats.org/drawingml/2006/main" noGrp="1"/>
          </p:cNvSpPr>
          <p:nvPr/>
        </p:nvSpPr>
        <p:spPr>
          <a:xfrm xmlns:a="http://schemas.openxmlformats.org/drawingml/2006/main">
            <a:off x="1466850" y="42005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Security goals and system components</a:t>
            </a:r>
          </a:p>
        </p:txBody>
      </p:sp>
      <p:sp>
        <p:nvSpPr>
          <p:cNvPr id="37" name="toc-framework-chevron-2">
            <a:extLst xmlns:a="http://schemas.openxmlformats.org/drawingml/2006/main">
              <a:ext uri="{FF2B5EF4-FFF2-40B4-BE49-F238E27FC236}">
                <a16:creationId xmlns:a16="http://schemas.microsoft.com/office/drawing/2014/main" id="{5BB24590-6216-4280-98FE-C18B441BC7F4}"/>
              </a:ext>
            </a:extLst>
          </p:cNvPr>
          <p:cNvSpPr>
            <a:spLocks xmlns:a="http://schemas.openxmlformats.org/drawingml/2006/main" noGrp="1"/>
          </p:cNvSpPr>
          <p:nvPr/>
        </p:nvSpPr>
        <p:spPr>
          <a:xfrm xmlns:a="http://schemas.openxmlformats.org/drawingml/2006/main">
            <a:off x="1181100" y="44577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8" name="toc-framework-item-2">
            <a:extLst xmlns:a="http://schemas.openxmlformats.org/drawingml/2006/main">
              <a:ext uri="{FF2B5EF4-FFF2-40B4-BE49-F238E27FC236}">
                <a16:creationId xmlns:a16="http://schemas.microsoft.com/office/drawing/2014/main" id="{F3066673-B4A1-4684-8DBC-4C576160F543}"/>
              </a:ext>
            </a:extLst>
          </p:cNvPr>
          <p:cNvSpPr>
            <a:spLocks xmlns:a="http://schemas.openxmlformats.org/drawingml/2006/main" noGrp="1"/>
          </p:cNvSpPr>
          <p:nvPr/>
        </p:nvSpPr>
        <p:spPr>
          <a:xfrm xmlns:a="http://schemas.openxmlformats.org/drawingml/2006/main">
            <a:off x="1466850" y="44577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Threat model and trust assumptions</a:t>
            </a:r>
          </a:p>
        </p:txBody>
      </p:sp>
      <p:sp>
        <p:nvSpPr>
          <p:cNvPr id="39" name="toc-methodology-marker">
            <a:extLst xmlns:a="http://schemas.openxmlformats.org/drawingml/2006/main">
              <a:ext uri="{FF2B5EF4-FFF2-40B4-BE49-F238E27FC236}">
                <a16:creationId xmlns:a16="http://schemas.microsoft.com/office/drawing/2014/main" id="{C4BCB746-101E-49D2-8084-E8C997B2C69F}"/>
              </a:ext>
            </a:extLst>
          </p:cNvPr>
          <p:cNvSpPr>
            <a:spLocks xmlns:a="http://schemas.openxmlformats.org/drawingml/2006/main" noGrp="1"/>
          </p:cNvSpPr>
          <p:nvPr/>
        </p:nvSpPr>
        <p:spPr>
          <a:xfrm xmlns:a="http://schemas.openxmlformats.org/drawingml/2006/main">
            <a:off x="6524625"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0" name="toc-methodology-title">
            <a:extLst xmlns:a="http://schemas.openxmlformats.org/drawingml/2006/main">
              <a:ext uri="{FF2B5EF4-FFF2-40B4-BE49-F238E27FC236}">
                <a16:creationId xmlns:a16="http://schemas.microsoft.com/office/drawing/2014/main" id="{EC150210-A53B-4565-8800-36B55907378A}"/>
              </a:ext>
            </a:extLst>
          </p:cNvPr>
          <p:cNvSpPr>
            <a:spLocks xmlns:a="http://schemas.openxmlformats.org/drawingml/2006/main" noGrp="1"/>
          </p:cNvSpPr>
          <p:nvPr/>
        </p:nvSpPr>
        <p:spPr>
          <a:xfrm xmlns:a="http://schemas.openxmlformats.org/drawingml/2006/main">
            <a:off x="6791325"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Proposed Methodology</a:t>
            </a:r>
          </a:p>
        </p:txBody>
      </p:sp>
      <p:sp>
        <p:nvSpPr>
          <p:cNvPr id="41" name="toc-methodology-chevron-1">
            <a:extLst xmlns:a="http://schemas.openxmlformats.org/drawingml/2006/main">
              <a:ext uri="{FF2B5EF4-FFF2-40B4-BE49-F238E27FC236}">
                <a16:creationId xmlns:a16="http://schemas.microsoft.com/office/drawing/2014/main" id="{898D85A8-87C8-4B49-8783-4EE9E608ED37}"/>
              </a:ext>
            </a:extLst>
          </p:cNvPr>
          <p:cNvSpPr>
            <a:spLocks xmlns:a="http://schemas.openxmlformats.org/drawingml/2006/main" noGrp="1"/>
          </p:cNvSpPr>
          <p:nvPr/>
        </p:nvSpPr>
        <p:spPr>
          <a:xfrm xmlns:a="http://schemas.openxmlformats.org/drawingml/2006/main">
            <a:off x="6924675"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2" name="toc-methodology-item-1">
            <a:extLst xmlns:a="http://schemas.openxmlformats.org/drawingml/2006/main">
              <a:ext uri="{FF2B5EF4-FFF2-40B4-BE49-F238E27FC236}">
                <a16:creationId xmlns:a16="http://schemas.microsoft.com/office/drawing/2014/main" id="{A4CFF20D-157F-454F-B635-EECE68EEF869}"/>
              </a:ext>
            </a:extLst>
          </p:cNvPr>
          <p:cNvSpPr>
            <a:spLocks xmlns:a="http://schemas.openxmlformats.org/drawingml/2006/main" noGrp="1"/>
          </p:cNvSpPr>
          <p:nvPr/>
        </p:nvSpPr>
        <p:spPr>
          <a:xfrm xmlns:a="http://schemas.openxmlformats.org/drawingml/2006/main">
            <a:off x="7210425"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System architecture</a:t>
            </a:r>
          </a:p>
        </p:txBody>
      </p:sp>
      <p:sp>
        <p:nvSpPr>
          <p:cNvPr id="43" name="toc-methodology-chevron-2">
            <a:extLst xmlns:a="http://schemas.openxmlformats.org/drawingml/2006/main">
              <a:ext uri="{FF2B5EF4-FFF2-40B4-BE49-F238E27FC236}">
                <a16:creationId xmlns:a16="http://schemas.microsoft.com/office/drawing/2014/main" id="{F61EACBB-1BD7-4BA3-A3C2-0179FCD97A8A}"/>
              </a:ext>
            </a:extLst>
          </p:cNvPr>
          <p:cNvSpPr>
            <a:spLocks xmlns:a="http://schemas.openxmlformats.org/drawingml/2006/main" noGrp="1"/>
          </p:cNvSpPr>
          <p:nvPr/>
        </p:nvSpPr>
        <p:spPr>
          <a:xfrm xmlns:a="http://schemas.openxmlformats.org/drawingml/2006/main">
            <a:off x="6924675"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4" name="toc-methodology-item-2">
            <a:extLst xmlns:a="http://schemas.openxmlformats.org/drawingml/2006/main">
              <a:ext uri="{FF2B5EF4-FFF2-40B4-BE49-F238E27FC236}">
                <a16:creationId xmlns:a16="http://schemas.microsoft.com/office/drawing/2014/main" id="{0AB78B8E-96B5-4C39-8107-F8733EE99738}"/>
              </a:ext>
            </a:extLst>
          </p:cNvPr>
          <p:cNvSpPr>
            <a:spLocks xmlns:a="http://schemas.openxmlformats.org/drawingml/2006/main" noGrp="1"/>
          </p:cNvSpPr>
          <p:nvPr/>
        </p:nvSpPr>
        <p:spPr>
          <a:xfrm xmlns:a="http://schemas.openxmlformats.org/drawingml/2006/main">
            <a:off x="7210425"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CAABC-FL compression workflow</a:t>
            </a:r>
          </a:p>
        </p:txBody>
      </p:sp>
      <p:sp>
        <p:nvSpPr>
          <p:cNvPr id="45" name="toc-methodology-chevron-3">
            <a:extLst xmlns:a="http://schemas.openxmlformats.org/drawingml/2006/main">
              <a:ext uri="{FF2B5EF4-FFF2-40B4-BE49-F238E27FC236}">
                <a16:creationId xmlns:a16="http://schemas.microsoft.com/office/drawing/2014/main" id="{4ED3A77D-BA0C-47C6-83DA-B54E214538E2}"/>
              </a:ext>
            </a:extLst>
          </p:cNvPr>
          <p:cNvSpPr>
            <a:spLocks xmlns:a="http://schemas.openxmlformats.org/drawingml/2006/main" noGrp="1"/>
          </p:cNvSpPr>
          <p:nvPr/>
        </p:nvSpPr>
        <p:spPr>
          <a:xfrm xmlns:a="http://schemas.openxmlformats.org/drawingml/2006/main">
            <a:off x="6924675"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6" name="toc-methodology-item-3">
            <a:extLst xmlns:a="http://schemas.openxmlformats.org/drawingml/2006/main">
              <a:ext uri="{FF2B5EF4-FFF2-40B4-BE49-F238E27FC236}">
                <a16:creationId xmlns:a16="http://schemas.microsoft.com/office/drawing/2014/main" id="{D52C2A79-AA2D-463E-BBAE-36212F64B884}"/>
              </a:ext>
            </a:extLst>
          </p:cNvPr>
          <p:cNvSpPr>
            <a:spLocks xmlns:a="http://schemas.openxmlformats.org/drawingml/2006/main" noGrp="1"/>
          </p:cNvSpPr>
          <p:nvPr/>
        </p:nvSpPr>
        <p:spPr>
          <a:xfrm xmlns:a="http://schemas.openxmlformats.org/drawingml/2006/main">
            <a:off x="7210425"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Secure aggregation and governance</a:t>
            </a:r>
          </a:p>
        </p:txBody>
      </p:sp>
      <p:sp>
        <p:nvSpPr>
          <p:cNvPr id="47" name="toc-results-marker">
            <a:extLst xmlns:a="http://schemas.openxmlformats.org/drawingml/2006/main">
              <a:ext uri="{FF2B5EF4-FFF2-40B4-BE49-F238E27FC236}">
                <a16:creationId xmlns:a16="http://schemas.microsoft.com/office/drawing/2014/main" id="{10C2522C-44D0-4082-AF42-04C34462661A}"/>
              </a:ext>
            </a:extLst>
          </p:cNvPr>
          <p:cNvSpPr>
            <a:spLocks xmlns:a="http://schemas.openxmlformats.org/drawingml/2006/main" noGrp="1"/>
          </p:cNvSpPr>
          <p:nvPr/>
        </p:nvSpPr>
        <p:spPr>
          <a:xfrm xmlns:a="http://schemas.openxmlformats.org/drawingml/2006/main">
            <a:off x="6524625"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8" name="toc-results-title">
            <a:extLst xmlns:a="http://schemas.openxmlformats.org/drawingml/2006/main">
              <a:ext uri="{FF2B5EF4-FFF2-40B4-BE49-F238E27FC236}">
                <a16:creationId xmlns:a16="http://schemas.microsoft.com/office/drawing/2014/main" id="{2FC1BAEF-4BA9-41A4-8397-2D1A99E7B213}"/>
              </a:ext>
            </a:extLst>
          </p:cNvPr>
          <p:cNvSpPr>
            <a:spLocks xmlns:a="http://schemas.openxmlformats.org/drawingml/2006/main" noGrp="1"/>
          </p:cNvSpPr>
          <p:nvPr/>
        </p:nvSpPr>
        <p:spPr>
          <a:xfrm xmlns:a="http://schemas.openxmlformats.org/drawingml/2006/main">
            <a:off x="6791325"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Results and Discussion</a:t>
            </a:r>
          </a:p>
        </p:txBody>
      </p:sp>
      <p:sp>
        <p:nvSpPr>
          <p:cNvPr id="49" name="toc-results-chevron-1">
            <a:extLst xmlns:a="http://schemas.openxmlformats.org/drawingml/2006/main">
              <a:ext uri="{FF2B5EF4-FFF2-40B4-BE49-F238E27FC236}">
                <a16:creationId xmlns:a16="http://schemas.microsoft.com/office/drawing/2014/main" id="{BFE3A178-048D-45B4-895A-B74FDA4A9D96}"/>
              </a:ext>
            </a:extLst>
          </p:cNvPr>
          <p:cNvSpPr>
            <a:spLocks xmlns:a="http://schemas.openxmlformats.org/drawingml/2006/main" noGrp="1"/>
          </p:cNvSpPr>
          <p:nvPr/>
        </p:nvSpPr>
        <p:spPr>
          <a:xfrm xmlns:a="http://schemas.openxmlformats.org/drawingml/2006/main">
            <a:off x="6924675" y="31051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0" name="toc-results-item-1">
            <a:extLst xmlns:a="http://schemas.openxmlformats.org/drawingml/2006/main">
              <a:ext uri="{FF2B5EF4-FFF2-40B4-BE49-F238E27FC236}">
                <a16:creationId xmlns:a16="http://schemas.microsoft.com/office/drawing/2014/main" id="{59FB2C84-3D9F-4C7A-8EE0-3CCC7A9763D0}"/>
              </a:ext>
            </a:extLst>
          </p:cNvPr>
          <p:cNvSpPr>
            <a:spLocks xmlns:a="http://schemas.openxmlformats.org/drawingml/2006/main" noGrp="1"/>
          </p:cNvSpPr>
          <p:nvPr/>
        </p:nvSpPr>
        <p:spPr>
          <a:xfrm xmlns:a="http://schemas.openxmlformats.org/drawingml/2006/main">
            <a:off x="7210425" y="31051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Utility and SOTA comparison</a:t>
            </a:r>
          </a:p>
        </p:txBody>
      </p:sp>
      <p:sp>
        <p:nvSpPr>
          <p:cNvPr id="51" name="toc-results-chevron-2">
            <a:extLst xmlns:a="http://schemas.openxmlformats.org/drawingml/2006/main">
              <a:ext uri="{FF2B5EF4-FFF2-40B4-BE49-F238E27FC236}">
                <a16:creationId xmlns:a16="http://schemas.microsoft.com/office/drawing/2014/main" id="{693A6055-41BE-4002-867C-2A2D93478222}"/>
              </a:ext>
            </a:extLst>
          </p:cNvPr>
          <p:cNvSpPr>
            <a:spLocks xmlns:a="http://schemas.openxmlformats.org/drawingml/2006/main" noGrp="1"/>
          </p:cNvSpPr>
          <p:nvPr/>
        </p:nvSpPr>
        <p:spPr>
          <a:xfrm xmlns:a="http://schemas.openxmlformats.org/drawingml/2006/main">
            <a:off x="6924675" y="33242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2" name="toc-results-item-2">
            <a:extLst xmlns:a="http://schemas.openxmlformats.org/drawingml/2006/main">
              <a:ext uri="{FF2B5EF4-FFF2-40B4-BE49-F238E27FC236}">
                <a16:creationId xmlns:a16="http://schemas.microsoft.com/office/drawing/2014/main" id="{A9C286A5-3429-4610-BB13-5B91C42F687F}"/>
              </a:ext>
            </a:extLst>
          </p:cNvPr>
          <p:cNvSpPr>
            <a:spLocks xmlns:a="http://schemas.openxmlformats.org/drawingml/2006/main" noGrp="1"/>
          </p:cNvSpPr>
          <p:nvPr/>
        </p:nvSpPr>
        <p:spPr>
          <a:xfrm xmlns:a="http://schemas.openxmlformats.org/drawingml/2006/main">
            <a:off x="7210425" y="33242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Privacy and poisoning evaluation</a:t>
            </a:r>
          </a:p>
        </p:txBody>
      </p:sp>
      <p:sp>
        <p:nvSpPr>
          <p:cNvPr id="53" name="toc-results-chevron-3">
            <a:extLst xmlns:a="http://schemas.openxmlformats.org/drawingml/2006/main">
              <a:ext uri="{FF2B5EF4-FFF2-40B4-BE49-F238E27FC236}">
                <a16:creationId xmlns:a16="http://schemas.microsoft.com/office/drawing/2014/main" id="{965104E0-9FAC-4234-A276-285EB9B8EC51}"/>
              </a:ext>
            </a:extLst>
          </p:cNvPr>
          <p:cNvSpPr>
            <a:spLocks xmlns:a="http://schemas.openxmlformats.org/drawingml/2006/main" noGrp="1"/>
          </p:cNvSpPr>
          <p:nvPr/>
        </p:nvSpPr>
        <p:spPr>
          <a:xfrm xmlns:a="http://schemas.openxmlformats.org/drawingml/2006/main">
            <a:off x="6924675" y="354330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4" name="toc-results-item-3">
            <a:extLst xmlns:a="http://schemas.openxmlformats.org/drawingml/2006/main">
              <a:ext uri="{FF2B5EF4-FFF2-40B4-BE49-F238E27FC236}">
                <a16:creationId xmlns:a16="http://schemas.microsoft.com/office/drawing/2014/main" id="{C80C7BED-AA16-4BD3-8F0C-27F907CEC263}"/>
              </a:ext>
            </a:extLst>
          </p:cNvPr>
          <p:cNvSpPr>
            <a:spLocks xmlns:a="http://schemas.openxmlformats.org/drawingml/2006/main" noGrp="1"/>
          </p:cNvSpPr>
          <p:nvPr/>
        </p:nvSpPr>
        <p:spPr>
          <a:xfrm xmlns:a="http://schemas.openxmlformats.org/drawingml/2006/main">
            <a:off x="7210425" y="354330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Communication and system overhead</a:t>
            </a:r>
          </a:p>
        </p:txBody>
      </p:sp>
      <p:sp>
        <p:nvSpPr>
          <p:cNvPr id="55" name="toc-conclusion-marker">
            <a:extLst xmlns:a="http://schemas.openxmlformats.org/drawingml/2006/main">
              <a:ext uri="{FF2B5EF4-FFF2-40B4-BE49-F238E27FC236}">
                <a16:creationId xmlns:a16="http://schemas.microsoft.com/office/drawing/2014/main" id="{69B61DB8-2141-478A-BD1C-8BA90B396F02}"/>
              </a:ext>
            </a:extLst>
          </p:cNvPr>
          <p:cNvSpPr>
            <a:spLocks xmlns:a="http://schemas.openxmlformats.org/drawingml/2006/main" noGrp="1"/>
          </p:cNvSpPr>
          <p:nvPr/>
        </p:nvSpPr>
        <p:spPr>
          <a:xfrm xmlns:a="http://schemas.openxmlformats.org/drawingml/2006/main">
            <a:off x="6524625" y="4162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56" name="toc-conclusion-title">
            <a:extLst xmlns:a="http://schemas.openxmlformats.org/drawingml/2006/main">
              <a:ext uri="{FF2B5EF4-FFF2-40B4-BE49-F238E27FC236}">
                <a16:creationId xmlns:a16="http://schemas.microsoft.com/office/drawing/2014/main" id="{72296C49-88E0-4107-B8EA-B34F6D405042}"/>
              </a:ext>
            </a:extLst>
          </p:cNvPr>
          <p:cNvSpPr>
            <a:spLocks xmlns:a="http://schemas.openxmlformats.org/drawingml/2006/main" noGrp="1"/>
          </p:cNvSpPr>
          <p:nvPr/>
        </p:nvSpPr>
        <p:spPr>
          <a:xfrm xmlns:a="http://schemas.openxmlformats.org/drawingml/2006/main">
            <a:off x="6791325" y="4095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Conclusion</a:t>
            </a:r>
          </a:p>
        </p:txBody>
      </p:sp>
      <p:sp>
        <p:nvSpPr>
          <p:cNvPr id="57" name="toc-conclusion-chevron-1">
            <a:extLst xmlns:a="http://schemas.openxmlformats.org/drawingml/2006/main">
              <a:ext uri="{FF2B5EF4-FFF2-40B4-BE49-F238E27FC236}">
                <a16:creationId xmlns:a16="http://schemas.microsoft.com/office/drawing/2014/main" id="{4A76E59A-9CB9-4AF6-ADB7-E14E5A9DC204}"/>
              </a:ext>
            </a:extLst>
          </p:cNvPr>
          <p:cNvSpPr>
            <a:spLocks xmlns:a="http://schemas.openxmlformats.org/drawingml/2006/main" noGrp="1"/>
          </p:cNvSpPr>
          <p:nvPr/>
        </p:nvSpPr>
        <p:spPr>
          <a:xfrm xmlns:a="http://schemas.openxmlformats.org/drawingml/2006/main">
            <a:off x="6924675" y="44386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8" name="toc-conclusion-item-1">
            <a:extLst xmlns:a="http://schemas.openxmlformats.org/drawingml/2006/main">
              <a:ext uri="{FF2B5EF4-FFF2-40B4-BE49-F238E27FC236}">
                <a16:creationId xmlns:a16="http://schemas.microsoft.com/office/drawing/2014/main" id="{B1322131-542A-43F3-BA4B-C08C786C5051}"/>
              </a:ext>
            </a:extLst>
          </p:cNvPr>
          <p:cNvSpPr>
            <a:spLocks xmlns:a="http://schemas.openxmlformats.org/drawingml/2006/main" noGrp="1"/>
          </p:cNvSpPr>
          <p:nvPr/>
        </p:nvSpPr>
        <p:spPr>
          <a:xfrm xmlns:a="http://schemas.openxmlformats.org/drawingml/2006/main">
            <a:off x="7210425" y="44386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Key findings</a:t>
            </a:r>
          </a:p>
        </p:txBody>
      </p:sp>
      <p:sp>
        <p:nvSpPr>
          <p:cNvPr id="59" name="toc-conclusion-chevron-2">
            <a:extLst xmlns:a="http://schemas.openxmlformats.org/drawingml/2006/main">
              <a:ext uri="{FF2B5EF4-FFF2-40B4-BE49-F238E27FC236}">
                <a16:creationId xmlns:a16="http://schemas.microsoft.com/office/drawing/2014/main" id="{28B5A2B1-4640-4306-A03B-C5F7A291ECC1}"/>
              </a:ext>
            </a:extLst>
          </p:cNvPr>
          <p:cNvSpPr>
            <a:spLocks xmlns:a="http://schemas.openxmlformats.org/drawingml/2006/main" noGrp="1"/>
          </p:cNvSpPr>
          <p:nvPr/>
        </p:nvSpPr>
        <p:spPr>
          <a:xfrm xmlns:a="http://schemas.openxmlformats.org/drawingml/2006/main">
            <a:off x="6924675" y="46577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60" name="toc-conclusion-item-2">
            <a:extLst xmlns:a="http://schemas.openxmlformats.org/drawingml/2006/main">
              <a:ext uri="{FF2B5EF4-FFF2-40B4-BE49-F238E27FC236}">
                <a16:creationId xmlns:a16="http://schemas.microsoft.com/office/drawing/2014/main" id="{6AA1D49E-53B4-4560-9562-067B62F7742C}"/>
              </a:ext>
            </a:extLst>
          </p:cNvPr>
          <p:cNvSpPr>
            <a:spLocks xmlns:a="http://schemas.openxmlformats.org/drawingml/2006/main" noGrp="1"/>
          </p:cNvSpPr>
          <p:nvPr/>
        </p:nvSpPr>
        <p:spPr>
          <a:xfrm xmlns:a="http://schemas.openxmlformats.org/drawingml/2006/main">
            <a:off x="7210425" y="46577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Limitations and future work</a:t>
            </a:r>
          </a:p>
        </p:txBody>
      </p:sp>
      <p:sp>
        <p:nvSpPr>
          <p:cNvPr id="61" name="toc-references-marker">
            <a:extLst xmlns:a="http://schemas.openxmlformats.org/drawingml/2006/main">
              <a:ext uri="{FF2B5EF4-FFF2-40B4-BE49-F238E27FC236}">
                <a16:creationId xmlns:a16="http://schemas.microsoft.com/office/drawing/2014/main" id="{56E7E56D-00A8-47B6-8CB6-E2520A4A7ABC}"/>
              </a:ext>
            </a:extLst>
          </p:cNvPr>
          <p:cNvSpPr>
            <a:spLocks xmlns:a="http://schemas.openxmlformats.org/drawingml/2006/main" noGrp="1"/>
          </p:cNvSpPr>
          <p:nvPr/>
        </p:nvSpPr>
        <p:spPr>
          <a:xfrm xmlns:a="http://schemas.openxmlformats.org/drawingml/2006/main">
            <a:off x="6524625" y="5305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2" name="toc-references-title">
            <a:extLst xmlns:a="http://schemas.openxmlformats.org/drawingml/2006/main">
              <a:ext uri="{FF2B5EF4-FFF2-40B4-BE49-F238E27FC236}">
                <a16:creationId xmlns:a16="http://schemas.microsoft.com/office/drawing/2014/main" id="{053741A0-E53F-4F38-9194-182EC15568D1}"/>
              </a:ext>
            </a:extLst>
          </p:cNvPr>
          <p:cNvSpPr>
            <a:spLocks xmlns:a="http://schemas.openxmlformats.org/drawingml/2006/main" noGrp="1"/>
          </p:cNvSpPr>
          <p:nvPr/>
        </p:nvSpPr>
        <p:spPr>
          <a:xfrm xmlns:a="http://schemas.openxmlformats.org/drawingml/2006/main">
            <a:off x="6791325" y="5238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References</a:t>
            </a:r>
          </a:p>
        </p:txBody>
      </p:sp>
      <p:sp>
        <p:nvSpPr>
          <p:cNvPr id="63" name="toc-qa-marker">
            <a:extLst xmlns:a="http://schemas.openxmlformats.org/drawingml/2006/main">
              <a:ext uri="{FF2B5EF4-FFF2-40B4-BE49-F238E27FC236}">
                <a16:creationId xmlns:a16="http://schemas.microsoft.com/office/drawing/2014/main" id="{50E564AC-0AD9-43EF-9688-9300AF44AA2E}"/>
              </a:ext>
            </a:extLst>
          </p:cNvPr>
          <p:cNvSpPr>
            <a:spLocks xmlns:a="http://schemas.openxmlformats.org/drawingml/2006/main" noGrp="1"/>
          </p:cNvSpPr>
          <p:nvPr/>
        </p:nvSpPr>
        <p:spPr>
          <a:xfrm xmlns:a="http://schemas.openxmlformats.org/drawingml/2006/main">
            <a:off x="6524625" y="570547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4" name="toc-qa-title">
            <a:extLst xmlns:a="http://schemas.openxmlformats.org/drawingml/2006/main">
              <a:ext uri="{FF2B5EF4-FFF2-40B4-BE49-F238E27FC236}">
                <a16:creationId xmlns:a16="http://schemas.microsoft.com/office/drawing/2014/main" id="{13AECCC3-356B-4082-B658-74DDFEF6FB2B}"/>
              </a:ext>
            </a:extLst>
          </p:cNvPr>
          <p:cNvSpPr>
            <a:spLocks xmlns:a="http://schemas.openxmlformats.org/drawingml/2006/main" noGrp="1"/>
          </p:cNvSpPr>
          <p:nvPr/>
        </p:nvSpPr>
        <p:spPr>
          <a:xfrm xmlns:a="http://schemas.openxmlformats.org/drawingml/2006/main">
            <a:off x="6791325" y="563880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Question and Answer Session</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36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89e0c32b13c4474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7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b0af14d1eb70495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7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fa5deb816b6c45a8">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37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796a761b769b4d52">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37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064a0ff10a94aa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60fa2192ffc431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6" name="Picture 236"/>
          <p:cNvPicPr>
            <a:picLocks xmlns:a="http://schemas.openxmlformats.org/drawingml/2006/main" noChangeAspect="1"/>
          </p:cNvPicPr>
          <p:nvPr/>
        </p:nvPicPr>
        <p:blipFill>
          <a:blip xmlns:r="http://schemas.openxmlformats.org/officeDocument/2006/relationships" xmlns:a="http://schemas.openxmlformats.org/drawingml/2006/main" r:embed="R84b478d7edb74ca9"/>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b7b95a58ba24fe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036954182c741e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r>
              <a:rPr sz="4000" b="1">
                <a:solidFill>
                  <a:srgbClr val="002060"/>
                </a:solidFill>
                <a:latin typeface="Arial"/>
                <a:ea typeface="Arial"/>
                <a:cs typeface="Arial"/>
              </a:rPr>
              <a:t> (1/2)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5e303c202cc405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acbf3d5d58345b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833" lnSpcReduction="1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(2/2)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47586a9f67f481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85e7ca7d3314ff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0"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2fa05ec7fcaa472c"/>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6b72e9dc9864fd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7ee9dd2264c4b2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3254c9799824b1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b70d1d2b94b47f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43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dd67d6e4e94f4bd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4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6e4eddca5509425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4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73d4ec10933b4343">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44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56706996ebb147d6">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44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92c1e22c3c949c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feff43eadae465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6" name="Table 256"/>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Picture 40"/>
          <p:cNvPicPr>
            <a:picLocks xmlns:a="http://schemas.openxmlformats.org/drawingml/2006/main" noChangeAspect="1"/>
          </p:cNvPicPr>
          <p:nvPr/>
        </p:nvPicPr>
        <p:blipFill>
          <a:blip xmlns:r="http://schemas.openxmlformats.org/officeDocument/2006/relationships" xmlns:a="http://schemas.openxmlformats.org/drawingml/2006/main" r:embed="Rb2c9ac5d9802453b"/>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42" name="Picture 41"/>
          <p:cNvPicPr>
            <a:picLocks xmlns:a="http://schemas.openxmlformats.org/drawingml/2006/main" noChangeAspect="1"/>
          </p:cNvPicPr>
          <p:nvPr/>
        </p:nvPicPr>
        <p:blipFill>
          <a:blip xmlns:r="http://schemas.openxmlformats.org/officeDocument/2006/relationships" xmlns:a="http://schemas.openxmlformats.org/drawingml/2006/main" r:embed="Rcece5f37c46a4e34"/>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27923" y="6637215"/>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b="0" i="0">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7" name="Table 47"/>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48" lnSpcReduction="10000"/>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323850"/>
            <a:ext cx="8382000" cy="7429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1164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lnSpcReduction="10000"/>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0f0ebd157544a5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d44e363cd04410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5" name="Table 255"/>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8dab3b6bb5a4ab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0ae8a3b85eb4ce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70" name="Table 270"/>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91" name="Table 291"/>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343879" y="6015037"/>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4" name="Picture 295"/>
          <p:cNvPicPr>
            <a:picLocks xmlns:a="http://schemas.openxmlformats.org/drawingml/2006/main" noChangeAspect="1"/>
          </p:cNvPicPr>
          <p:nvPr/>
        </p:nvPicPr>
        <p:blipFill>
          <a:blip xmlns:r="http://schemas.openxmlformats.org/officeDocument/2006/relationships" xmlns:a="http://schemas.openxmlformats.org/drawingml/2006/main" r:embed="R88dab3b6bb5a4ab6"/>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95" name="Picture 296"/>
          <p:cNvPicPr>
            <a:picLocks xmlns:a="http://schemas.openxmlformats.org/drawingml/2006/main" noChangeAspect="1"/>
          </p:cNvPicPr>
          <p:nvPr/>
        </p:nvPicPr>
        <p:blipFill>
          <a:blip xmlns:r="http://schemas.openxmlformats.org/officeDocument/2006/relationships" xmlns:a="http://schemas.openxmlformats.org/drawingml/2006/main" r:embed="R80ae8a3b85eb4ce8"/>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ae25f4d0c5b4ee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b3f48f19753443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chrome-title-16">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Conceptual Framework</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31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264f2312f4e4be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2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02974a36ab54fb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conceptual-framework-content-cover">
            <a:extLst xmlns:a="http://schemas.openxmlformats.org/drawingml/2006/main">
              <a:ext uri="{FF2B5EF4-FFF2-40B4-BE49-F238E27FC236}">
                <a16:creationId xmlns:a16="http://schemas.microsoft.com/office/drawing/2014/main" id="{96288690-7E6F-43DB-B354-2B1AEDCC0CAF}"/>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8" name="conceptual-framework-subtitle">
            <a:extLst xmlns:a="http://schemas.openxmlformats.org/drawingml/2006/main">
              <a:ext uri="{FF2B5EF4-FFF2-40B4-BE49-F238E27FC236}">
                <a16:creationId xmlns:a16="http://schemas.microsoft.com/office/drawing/2014/main" id="{95AFBCF6-6857-4EBC-B361-C0A3164B5B85}"/>
              </a:ext>
            </a:extLst>
          </p:cNvPr>
          <p:cNvSpPr>
            <a:spLocks xmlns:a="http://schemas.openxmlformats.org/drawingml/2006/main" noGrp="1"/>
          </p:cNvSpPr>
          <p:nvPr/>
        </p:nvSpPr>
        <p:spPr>
          <a:xfrm xmlns:a="http://schemas.openxmlformats.org/drawingml/2006/main">
            <a:off x="1381125" y="1190625"/>
            <a:ext cx="942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i="1">
                <a:solidFill>
                  <a:srgbClr val="5B677A"/>
                </a:solidFill>
                <a:latin typeface="Arial"/>
                <a:ea typeface="Arial"/>
                <a:cs typeface="Arial"/>
              </a:defRPr>
            </a:pPr>
            <a:r>
              <a:rPr sz="1200" i="1">
                <a:solidFill>
                  <a:srgbClr val="5B677A"/>
                </a:solidFill>
                <a:latin typeface="Arial"/>
                <a:ea typeface="Arial"/>
                <a:cs typeface="Arial"/>
              </a:rPr>
              <a:t>Conceptual relationship between the research problem, integrated controls, collaboration process and evaluation outcomes</a:t>
            </a:r>
          </a:p>
        </p:txBody>
      </p:sp>
      <p:sp>
        <p:nvSpPr>
          <p:cNvPr id="229" name="framework-context-box">
            <a:extLst xmlns:a="http://schemas.openxmlformats.org/drawingml/2006/main">
              <a:ext uri="{FF2B5EF4-FFF2-40B4-BE49-F238E27FC236}">
                <a16:creationId xmlns:a16="http://schemas.microsoft.com/office/drawing/2014/main" id="{3B658E35-1310-4B15-8AFF-3E603B55CE5F}"/>
              </a:ext>
            </a:extLst>
          </p:cNvPr>
          <p:cNvSpPr>
            <a:spLocks xmlns:a="http://schemas.openxmlformats.org/drawingml/2006/main" noGrp="1"/>
          </p:cNvSpPr>
          <p:nvPr/>
        </p:nvSpPr>
        <p:spPr>
          <a:xfrm xmlns:a="http://schemas.openxmlformats.org/drawingml/2006/main">
            <a:off x="714375" y="1762125"/>
            <a:ext cx="2286000" cy="1885950"/>
          </a:xfrm>
          <a:prstGeom xmlns:a="http://schemas.openxmlformats.org/drawingml/2006/main" prst="roundRect">
            <a:avLst>
              <a:gd name="adj" fmla="val 4040"/>
            </a:avLst>
          </a:prstGeom>
          <a:solidFill xmlns:a="http://schemas.openxmlformats.org/drawingml/2006/main">
            <a:srgbClr val="EEF4FA"/>
          </a:solidFill>
          <a:ln xmlns:a="http://schemas.openxmlformats.org/drawingml/2006/main" w="16193">
            <a:solidFill>
              <a:srgbClr val="2E75B6"/>
            </a:solidFill>
          </a:ln>
        </p:spPr>
      </p:sp>
      <p:sp>
        <p:nvSpPr>
          <p:cNvPr id="230" name="framework-context-accent">
            <a:extLst xmlns:a="http://schemas.openxmlformats.org/drawingml/2006/main">
              <a:ext uri="{FF2B5EF4-FFF2-40B4-BE49-F238E27FC236}">
                <a16:creationId xmlns:a16="http://schemas.microsoft.com/office/drawing/2014/main" id="{D4A4FBCD-7904-4E90-B778-C061EAC28D10}"/>
              </a:ext>
            </a:extLst>
          </p:cNvPr>
          <p:cNvSpPr>
            <a:spLocks xmlns:a="http://schemas.openxmlformats.org/drawingml/2006/main" noGrp="1"/>
          </p:cNvSpPr>
          <p:nvPr/>
        </p:nvSpPr>
        <p:spPr>
          <a:xfrm xmlns:a="http://schemas.openxmlformats.org/drawingml/2006/main">
            <a:off x="714375" y="1762125"/>
            <a:ext cx="2286000" cy="409575"/>
          </a:xfrm>
          <a:prstGeom xmlns:a="http://schemas.openxmlformats.org/drawingml/2006/main" prst="rect">
            <a:avLst/>
          </a:prstGeom>
          <a:solidFill xmlns:a="http://schemas.openxmlformats.org/drawingml/2006/main">
            <a:srgbClr val="2E75B6"/>
          </a:solidFill>
          <a:ln xmlns:a="http://schemas.openxmlformats.org/drawingml/2006/main" w="0">
            <a:noFill/>
          </a:ln>
        </p:spPr>
      </p:sp>
      <p:sp>
        <p:nvSpPr>
          <p:cNvPr id="231" name="framework-context-title">
            <a:extLst xmlns:a="http://schemas.openxmlformats.org/drawingml/2006/main">
              <a:ext uri="{FF2B5EF4-FFF2-40B4-BE49-F238E27FC236}">
                <a16:creationId xmlns:a16="http://schemas.microsoft.com/office/drawing/2014/main" id="{E2C47E08-7616-4859-BCE8-E12FC18382B8}"/>
              </a:ext>
            </a:extLst>
          </p:cNvPr>
          <p:cNvSpPr>
            <a:spLocks xmlns:a="http://schemas.openxmlformats.org/drawingml/2006/main" noGrp="1"/>
          </p:cNvSpPr>
          <p:nvPr/>
        </p:nvSpPr>
        <p:spPr>
          <a:xfrm xmlns:a="http://schemas.openxmlformats.org/drawingml/2006/main">
            <a:off x="80962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Research context</a:t>
            </a:r>
          </a:p>
        </p:txBody>
      </p:sp>
      <p:sp>
        <p:nvSpPr>
          <p:cNvPr id="232" name="framework-context-body">
            <a:extLst xmlns:a="http://schemas.openxmlformats.org/drawingml/2006/main">
              <a:ext uri="{FF2B5EF4-FFF2-40B4-BE49-F238E27FC236}">
                <a16:creationId xmlns:a16="http://schemas.microsoft.com/office/drawing/2014/main" id="{4C225EF8-BACD-402B-9AF5-AEB7E591762B}"/>
              </a:ext>
            </a:extLst>
          </p:cNvPr>
          <p:cNvSpPr>
            <a:spLocks xmlns:a="http://schemas.openxmlformats.org/drawingml/2006/main" noGrp="1"/>
          </p:cNvSpPr>
          <p:nvPr/>
        </p:nvSpPr>
        <p:spPr>
          <a:xfrm xmlns:a="http://schemas.openxmlformats.org/drawingml/2006/main">
            <a:off x="86677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Distributed hospital data</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Non-IID client partitions</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Privacy and poisoning threats</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High encrypted communication cost</a:t>
            </a:r>
          </a:p>
        </p:txBody>
      </p:sp>
      <p:sp>
        <p:nvSpPr>
          <p:cNvPr id="233" name="framework-intervention-box">
            <a:extLst xmlns:a="http://schemas.openxmlformats.org/drawingml/2006/main">
              <a:ext uri="{FF2B5EF4-FFF2-40B4-BE49-F238E27FC236}">
                <a16:creationId xmlns:a16="http://schemas.microsoft.com/office/drawing/2014/main" id="{5F8C42AB-3F4F-4105-B15E-5AF572B806B6}"/>
              </a:ext>
            </a:extLst>
          </p:cNvPr>
          <p:cNvSpPr>
            <a:spLocks xmlns:a="http://schemas.openxmlformats.org/drawingml/2006/main" noGrp="1"/>
          </p:cNvSpPr>
          <p:nvPr/>
        </p:nvSpPr>
        <p:spPr>
          <a:xfrm xmlns:a="http://schemas.openxmlformats.org/drawingml/2006/main">
            <a:off x="3524250" y="1762125"/>
            <a:ext cx="2286000" cy="1885950"/>
          </a:xfrm>
          <a:prstGeom xmlns:a="http://schemas.openxmlformats.org/drawingml/2006/main" prst="roundRect">
            <a:avLst>
              <a:gd name="adj" fmla="val 4040"/>
            </a:avLst>
          </a:prstGeom>
          <a:solidFill xmlns:a="http://schemas.openxmlformats.org/drawingml/2006/main">
            <a:srgbClr val="EBF7F2"/>
          </a:solidFill>
          <a:ln xmlns:a="http://schemas.openxmlformats.org/drawingml/2006/main" w="16193">
            <a:solidFill>
              <a:srgbClr val="008A46"/>
            </a:solidFill>
          </a:ln>
        </p:spPr>
      </p:sp>
      <p:sp>
        <p:nvSpPr>
          <p:cNvPr id="234" name="framework-intervention-accent">
            <a:extLst xmlns:a="http://schemas.openxmlformats.org/drawingml/2006/main">
              <a:ext uri="{FF2B5EF4-FFF2-40B4-BE49-F238E27FC236}">
                <a16:creationId xmlns:a16="http://schemas.microsoft.com/office/drawing/2014/main" id="{779CD5EF-DFD1-422F-985C-3CBE83E6AB7E}"/>
              </a:ext>
            </a:extLst>
          </p:cNvPr>
          <p:cNvSpPr>
            <a:spLocks xmlns:a="http://schemas.openxmlformats.org/drawingml/2006/main" noGrp="1"/>
          </p:cNvSpPr>
          <p:nvPr/>
        </p:nvSpPr>
        <p:spPr>
          <a:xfrm xmlns:a="http://schemas.openxmlformats.org/drawingml/2006/main">
            <a:off x="3524250" y="1762125"/>
            <a:ext cx="2286000" cy="409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35" name="framework-intervention-title">
            <a:extLst xmlns:a="http://schemas.openxmlformats.org/drawingml/2006/main">
              <a:ext uri="{FF2B5EF4-FFF2-40B4-BE49-F238E27FC236}">
                <a16:creationId xmlns:a16="http://schemas.microsoft.com/office/drawing/2014/main" id="{73EB110A-BAB9-49D9-ADFB-1358A9ECA51A}"/>
              </a:ext>
            </a:extLst>
          </p:cNvPr>
          <p:cNvSpPr>
            <a:spLocks xmlns:a="http://schemas.openxmlformats.org/drawingml/2006/main" noGrp="1"/>
          </p:cNvSpPr>
          <p:nvPr/>
        </p:nvSpPr>
        <p:spPr>
          <a:xfrm xmlns:a="http://schemas.openxmlformats.org/drawingml/2006/main">
            <a:off x="361950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Hybrid intervention</a:t>
            </a:r>
          </a:p>
        </p:txBody>
      </p:sp>
      <p:sp>
        <p:nvSpPr>
          <p:cNvPr id="236" name="framework-intervention-body">
            <a:extLst xmlns:a="http://schemas.openxmlformats.org/drawingml/2006/main">
              <a:ext uri="{FF2B5EF4-FFF2-40B4-BE49-F238E27FC236}">
                <a16:creationId xmlns:a16="http://schemas.microsoft.com/office/drawing/2014/main" id="{40C6F4B1-4BE5-4BE2-AC95-342C5A09A6F8}"/>
              </a:ext>
            </a:extLst>
          </p:cNvPr>
          <p:cNvSpPr>
            <a:spLocks xmlns:a="http://schemas.openxmlformats.org/drawingml/2006/main" noGrp="1"/>
          </p:cNvSpPr>
          <p:nvPr/>
        </p:nvSpPr>
        <p:spPr>
          <a:xfrm xmlns:a="http://schemas.openxmlformats.org/drawingml/2006/main">
            <a:off x="367665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Record-level differential privacy</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CAABC-FL block compression</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CKKS-protected updates</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Trust and audit governance</a:t>
            </a:r>
          </a:p>
        </p:txBody>
      </p:sp>
      <p:sp>
        <p:nvSpPr>
          <p:cNvPr id="237" name="framework-process-box">
            <a:extLst xmlns:a="http://schemas.openxmlformats.org/drawingml/2006/main">
              <a:ext uri="{FF2B5EF4-FFF2-40B4-BE49-F238E27FC236}">
                <a16:creationId xmlns:a16="http://schemas.microsoft.com/office/drawing/2014/main" id="{55EA8B73-4B99-4BB8-AD38-52D3C83A49D2}"/>
              </a:ext>
            </a:extLst>
          </p:cNvPr>
          <p:cNvSpPr>
            <a:spLocks xmlns:a="http://schemas.openxmlformats.org/drawingml/2006/main" noGrp="1"/>
          </p:cNvSpPr>
          <p:nvPr/>
        </p:nvSpPr>
        <p:spPr>
          <a:xfrm xmlns:a="http://schemas.openxmlformats.org/drawingml/2006/main">
            <a:off x="6334125" y="1762125"/>
            <a:ext cx="2286000" cy="1885950"/>
          </a:xfrm>
          <a:prstGeom xmlns:a="http://schemas.openxmlformats.org/drawingml/2006/main" prst="roundRect">
            <a:avLst>
              <a:gd name="adj" fmla="val 4040"/>
            </a:avLst>
          </a:prstGeom>
          <a:solidFill xmlns:a="http://schemas.openxmlformats.org/drawingml/2006/main">
            <a:srgbClr val="EFF8F7"/>
          </a:solidFill>
          <a:ln xmlns:a="http://schemas.openxmlformats.org/drawingml/2006/main" w="16193">
            <a:solidFill>
              <a:srgbClr val="2F807B"/>
            </a:solidFill>
          </a:ln>
        </p:spPr>
      </p:sp>
      <p:sp>
        <p:nvSpPr>
          <p:cNvPr id="238" name="framework-process-accent">
            <a:extLst xmlns:a="http://schemas.openxmlformats.org/drawingml/2006/main">
              <a:ext uri="{FF2B5EF4-FFF2-40B4-BE49-F238E27FC236}">
                <a16:creationId xmlns:a16="http://schemas.microsoft.com/office/drawing/2014/main" id="{73085FC3-06C2-415B-BB13-957A3C463D6F}"/>
              </a:ext>
            </a:extLst>
          </p:cNvPr>
          <p:cNvSpPr>
            <a:spLocks xmlns:a="http://schemas.openxmlformats.org/drawingml/2006/main" noGrp="1"/>
          </p:cNvSpPr>
          <p:nvPr/>
        </p:nvSpPr>
        <p:spPr>
          <a:xfrm xmlns:a="http://schemas.openxmlformats.org/drawingml/2006/main">
            <a:off x="6334125" y="1762125"/>
            <a:ext cx="2286000" cy="409575"/>
          </a:xfrm>
          <a:prstGeom xmlns:a="http://schemas.openxmlformats.org/drawingml/2006/main" prst="rect">
            <a:avLst/>
          </a:prstGeom>
          <a:solidFill xmlns:a="http://schemas.openxmlformats.org/drawingml/2006/main">
            <a:srgbClr val="2F807B"/>
          </a:solidFill>
          <a:ln xmlns:a="http://schemas.openxmlformats.org/drawingml/2006/main" w="0">
            <a:noFill/>
          </a:ln>
        </p:spPr>
      </p:sp>
      <p:sp>
        <p:nvSpPr>
          <p:cNvPr id="239" name="framework-process-title">
            <a:extLst xmlns:a="http://schemas.openxmlformats.org/drawingml/2006/main">
              <a:ext uri="{FF2B5EF4-FFF2-40B4-BE49-F238E27FC236}">
                <a16:creationId xmlns:a16="http://schemas.microsoft.com/office/drawing/2014/main" id="{AA9562BE-DE76-43CC-BE42-00230C2F90AA}"/>
              </a:ext>
            </a:extLst>
          </p:cNvPr>
          <p:cNvSpPr>
            <a:spLocks xmlns:a="http://schemas.openxmlformats.org/drawingml/2006/main" noGrp="1"/>
          </p:cNvSpPr>
          <p:nvPr/>
        </p:nvSpPr>
        <p:spPr>
          <a:xfrm xmlns:a="http://schemas.openxmlformats.org/drawingml/2006/main">
            <a:off x="642937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42"/>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Collaboration process</a:t>
            </a:r>
          </a:p>
        </p:txBody>
      </p:sp>
      <p:sp>
        <p:nvSpPr>
          <p:cNvPr id="240" name="framework-process-body">
            <a:extLst xmlns:a="http://schemas.openxmlformats.org/drawingml/2006/main">
              <a:ext uri="{FF2B5EF4-FFF2-40B4-BE49-F238E27FC236}">
                <a16:creationId xmlns:a16="http://schemas.microsoft.com/office/drawing/2014/main" id="{EEE3B869-7708-4F8C-8BBE-DA23BAB5C6C2}"/>
              </a:ext>
            </a:extLst>
          </p:cNvPr>
          <p:cNvSpPr>
            <a:spLocks xmlns:a="http://schemas.openxmlformats.org/drawingml/2006/main" noGrp="1"/>
          </p:cNvSpPr>
          <p:nvPr/>
        </p:nvSpPr>
        <p:spPr>
          <a:xfrm xmlns:a="http://schemas.openxmlformats.org/drawingml/2006/main">
            <a:off x="648652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Protected local training</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Authenticated update exchange</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Verified homomorphic aggregation</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Threshold-governed model release</a:t>
            </a:r>
          </a:p>
        </p:txBody>
      </p:sp>
      <p:sp>
        <p:nvSpPr>
          <p:cNvPr id="241" name="framework-outcomes-box">
            <a:extLst xmlns:a="http://schemas.openxmlformats.org/drawingml/2006/main">
              <a:ext uri="{FF2B5EF4-FFF2-40B4-BE49-F238E27FC236}">
                <a16:creationId xmlns:a16="http://schemas.microsoft.com/office/drawing/2014/main" id="{3BB61328-13C4-495F-890D-578990787C92}"/>
              </a:ext>
            </a:extLst>
          </p:cNvPr>
          <p:cNvSpPr>
            <a:spLocks xmlns:a="http://schemas.openxmlformats.org/drawingml/2006/main" noGrp="1"/>
          </p:cNvSpPr>
          <p:nvPr/>
        </p:nvSpPr>
        <p:spPr>
          <a:xfrm xmlns:a="http://schemas.openxmlformats.org/drawingml/2006/main">
            <a:off x="9144000" y="1762125"/>
            <a:ext cx="2286000" cy="1885950"/>
          </a:xfrm>
          <a:prstGeom xmlns:a="http://schemas.openxmlformats.org/drawingml/2006/main" prst="roundRect">
            <a:avLst>
              <a:gd name="adj" fmla="val 4040"/>
            </a:avLst>
          </a:prstGeom>
          <a:solidFill xmlns:a="http://schemas.openxmlformats.org/drawingml/2006/main">
            <a:srgbClr val="F3EEF9"/>
          </a:solidFill>
          <a:ln xmlns:a="http://schemas.openxmlformats.org/drawingml/2006/main" w="16193">
            <a:solidFill>
              <a:srgbClr val="6B4BB5"/>
            </a:solidFill>
          </a:ln>
        </p:spPr>
      </p:sp>
      <p:sp>
        <p:nvSpPr>
          <p:cNvPr id="242" name="framework-outcomes-accent">
            <a:extLst xmlns:a="http://schemas.openxmlformats.org/drawingml/2006/main">
              <a:ext uri="{FF2B5EF4-FFF2-40B4-BE49-F238E27FC236}">
                <a16:creationId xmlns:a16="http://schemas.microsoft.com/office/drawing/2014/main" id="{162202BB-AC31-4299-AF61-D3604F5D5A72}"/>
              </a:ext>
            </a:extLst>
          </p:cNvPr>
          <p:cNvSpPr>
            <a:spLocks xmlns:a="http://schemas.openxmlformats.org/drawingml/2006/main" noGrp="1"/>
          </p:cNvSpPr>
          <p:nvPr/>
        </p:nvSpPr>
        <p:spPr>
          <a:xfrm xmlns:a="http://schemas.openxmlformats.org/drawingml/2006/main">
            <a:off x="9144000" y="1762125"/>
            <a:ext cx="2286000" cy="409575"/>
          </a:xfrm>
          <a:prstGeom xmlns:a="http://schemas.openxmlformats.org/drawingml/2006/main" prst="rect">
            <a:avLst/>
          </a:prstGeom>
          <a:solidFill xmlns:a="http://schemas.openxmlformats.org/drawingml/2006/main">
            <a:srgbClr val="6B4BB5"/>
          </a:solidFill>
          <a:ln xmlns:a="http://schemas.openxmlformats.org/drawingml/2006/main" w="0">
            <a:noFill/>
          </a:ln>
        </p:spPr>
      </p:sp>
      <p:sp>
        <p:nvSpPr>
          <p:cNvPr id="243" name="framework-outcomes-title">
            <a:extLst xmlns:a="http://schemas.openxmlformats.org/drawingml/2006/main">
              <a:ext uri="{FF2B5EF4-FFF2-40B4-BE49-F238E27FC236}">
                <a16:creationId xmlns:a16="http://schemas.microsoft.com/office/drawing/2014/main" id="{234DF05C-6027-417F-9176-9F268E97DD7D}"/>
              </a:ext>
            </a:extLst>
          </p:cNvPr>
          <p:cNvSpPr>
            <a:spLocks xmlns:a="http://schemas.openxmlformats.org/drawingml/2006/main" noGrp="1"/>
          </p:cNvSpPr>
          <p:nvPr/>
        </p:nvSpPr>
        <p:spPr>
          <a:xfrm xmlns:a="http://schemas.openxmlformats.org/drawingml/2006/main">
            <a:off x="923925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Measured outcomes</a:t>
            </a:r>
          </a:p>
        </p:txBody>
      </p:sp>
      <p:sp>
        <p:nvSpPr>
          <p:cNvPr id="244" name="framework-outcomes-body">
            <a:extLst xmlns:a="http://schemas.openxmlformats.org/drawingml/2006/main">
              <a:ext uri="{FF2B5EF4-FFF2-40B4-BE49-F238E27FC236}">
                <a16:creationId xmlns:a16="http://schemas.microsoft.com/office/drawing/2014/main" id="{B8F143C6-443F-4D3E-9EA9-1108E07B0BF5}"/>
              </a:ext>
            </a:extLst>
          </p:cNvPr>
          <p:cNvSpPr>
            <a:spLocks xmlns:a="http://schemas.openxmlformats.org/drawingml/2006/main" noGrp="1"/>
          </p:cNvSpPr>
          <p:nvPr/>
        </p:nvSpPr>
        <p:spPr>
          <a:xfrm xmlns:a="http://schemas.openxmlformats.org/drawingml/2006/main">
            <a:off x="929640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Predictive utility</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Privacy attack exposure</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Poisoning resilience</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Serialized upload and runtime cost</a:t>
            </a:r>
          </a:p>
        </p:txBody>
      </p:sp>
      <p:cxnSp>
        <p:nvCxnSpPr>
          <p:cNvPr id="343" name=""/>
          <p:cNvCxnSpPr>
            <a:stCxn xmlns:a="http://schemas.openxmlformats.org/drawingml/2006/main" id="229" idx="3"/>
            <a:endCxn xmlns:a="http://schemas.openxmlformats.org/drawingml/2006/main" id="233" idx="1"/>
          </p:cNvCxnSpPr>
          <p:nvPr/>
        </p:nvCxnSpPr>
        <p:spPr>
          <a:xfrm xmlns:a="http://schemas.openxmlformats.org/drawingml/2006/main">
            <a:off x="300037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344" name=""/>
          <p:cNvCxnSpPr>
            <a:stCxn xmlns:a="http://schemas.openxmlformats.org/drawingml/2006/main" id="233" idx="3"/>
            <a:endCxn xmlns:a="http://schemas.openxmlformats.org/drawingml/2006/main" id="237" idx="1"/>
          </p:cNvCxnSpPr>
          <p:nvPr/>
        </p:nvCxnSpPr>
        <p:spPr>
          <a:xfrm xmlns:a="http://schemas.openxmlformats.org/drawingml/2006/main">
            <a:off x="5810250"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345" name=""/>
          <p:cNvCxnSpPr>
            <a:stCxn xmlns:a="http://schemas.openxmlformats.org/drawingml/2006/main" id="237" idx="3"/>
            <a:endCxn xmlns:a="http://schemas.openxmlformats.org/drawingml/2006/main" id="241" idx="1"/>
          </p:cNvCxnSpPr>
          <p:nvPr/>
        </p:nvCxnSpPr>
        <p:spPr>
          <a:xfrm xmlns:a="http://schemas.openxmlformats.org/drawingml/2006/main">
            <a:off x="862012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sp>
        <p:nvSpPr>
          <p:cNvPr id="248" name="framework-assumptions-band">
            <a:extLst xmlns:a="http://schemas.openxmlformats.org/drawingml/2006/main">
              <a:ext uri="{FF2B5EF4-FFF2-40B4-BE49-F238E27FC236}">
                <a16:creationId xmlns:a16="http://schemas.microsoft.com/office/drawing/2014/main" id="{C93DB946-639A-4F33-A4D7-DDC6014142FD}"/>
              </a:ext>
            </a:extLst>
          </p:cNvPr>
          <p:cNvSpPr>
            <a:spLocks xmlns:a="http://schemas.openxmlformats.org/drawingml/2006/main" noGrp="1"/>
          </p:cNvSpPr>
          <p:nvPr/>
        </p:nvSpPr>
        <p:spPr>
          <a:xfrm xmlns:a="http://schemas.openxmlformats.org/drawingml/2006/main">
            <a:off x="714375" y="4000500"/>
            <a:ext cx="10715625" cy="1123950"/>
          </a:xfrm>
          <a:prstGeom xmlns:a="http://schemas.openxmlformats.org/drawingml/2006/main" prst="roundRect">
            <a:avLst>
              <a:gd name="adj" fmla="val 6780"/>
            </a:avLst>
          </a:prstGeom>
          <a:solidFill xmlns:a="http://schemas.openxmlformats.org/drawingml/2006/main">
            <a:srgbClr val="F7F9FC"/>
          </a:solidFill>
          <a:ln xmlns:a="http://schemas.openxmlformats.org/drawingml/2006/main" w="11430">
            <a:solidFill>
              <a:srgbClr val="AAB6C5"/>
            </a:solidFill>
          </a:ln>
        </p:spPr>
      </p:sp>
      <p:sp>
        <p:nvSpPr>
          <p:cNvPr id="249" name="framework-assumptions-title">
            <a:extLst xmlns:a="http://schemas.openxmlformats.org/drawingml/2006/main">
              <a:ext uri="{FF2B5EF4-FFF2-40B4-BE49-F238E27FC236}">
                <a16:creationId xmlns:a16="http://schemas.microsoft.com/office/drawing/2014/main" id="{85376BA5-2184-4751-AE7A-2CFD958B1ED9}"/>
              </a:ext>
            </a:extLst>
          </p:cNvPr>
          <p:cNvSpPr>
            <a:spLocks xmlns:a="http://schemas.openxmlformats.org/drawingml/2006/main" noGrp="1"/>
          </p:cNvSpPr>
          <p:nvPr/>
        </p:nvSpPr>
        <p:spPr>
          <a:xfrm xmlns:a="http://schemas.openxmlformats.org/drawingml/2006/main">
            <a:off x="952500" y="4086225"/>
            <a:ext cx="10239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833"/>
          </a:bodyPr>
          <a:lstStyle xmlns:a="http://schemas.openxmlformats.org/drawingml/2006/main"/>
          <a:p xmlns:a="http://schemas.openxmlformats.org/drawingml/2006/main">
            <a:pPr algn="ctr">
              <a:buNone/>
              <a:defRPr sz="1500" b="1">
                <a:solidFill>
                  <a:srgbClr val="17365D"/>
                </a:solidFill>
                <a:latin typeface="Arial"/>
                <a:ea typeface="Arial"/>
                <a:cs typeface="Arial"/>
              </a:defRPr>
            </a:pPr>
            <a:r>
              <a:rPr sz="1500" b="1">
                <a:solidFill>
                  <a:srgbClr val="17365D"/>
                </a:solidFill>
                <a:latin typeface="Arial"/>
                <a:ea typeface="Arial"/>
                <a:cs typeface="Arial"/>
              </a:rPr>
              <a:t>Cross-cutting threats and trust assumptions</a:t>
            </a:r>
          </a:p>
        </p:txBody>
      </p:sp>
      <p:sp>
        <p:nvSpPr>
          <p:cNvPr id="250" name="framework-threats">
            <a:extLst xmlns:a="http://schemas.openxmlformats.org/drawingml/2006/main">
              <a:ext uri="{FF2B5EF4-FFF2-40B4-BE49-F238E27FC236}">
                <a16:creationId xmlns:a16="http://schemas.microsoft.com/office/drawing/2014/main" id="{DB226214-2B62-4B5C-AE44-CE6E6485DA48}"/>
              </a:ext>
            </a:extLst>
          </p:cNvPr>
          <p:cNvSpPr>
            <a:spLocks xmlns:a="http://schemas.openxmlformats.org/drawingml/2006/main" noGrp="1"/>
          </p:cNvSpPr>
          <p:nvPr/>
        </p:nvSpPr>
        <p:spPr>
          <a:xfrm xmlns:a="http://schemas.openxmlformats.org/drawingml/2006/main">
            <a:off x="100012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Threats considered</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Gradient leakage, membership inference, malicious updates, communication tampering and client dropout</a:t>
            </a:r>
          </a:p>
        </p:txBody>
      </p:sp>
      <p:sp>
        <p:nvSpPr>
          <p:cNvPr id="251" name="framework-trust-assumptions">
            <a:extLst xmlns:a="http://schemas.openxmlformats.org/drawingml/2006/main">
              <a:ext uri="{FF2B5EF4-FFF2-40B4-BE49-F238E27FC236}">
                <a16:creationId xmlns:a16="http://schemas.microsoft.com/office/drawing/2014/main" id="{179E13D1-434D-4FB5-8923-75DB417F8555}"/>
              </a:ext>
            </a:extLst>
          </p:cNvPr>
          <p:cNvSpPr>
            <a:spLocks xmlns:a="http://schemas.openxmlformats.org/drawingml/2006/main" noGrp="1"/>
          </p:cNvSpPr>
          <p:nvPr/>
        </p:nvSpPr>
        <p:spPr>
          <a:xfrm xmlns:a="http://schemas.openxmlformats.org/drawingml/2006/main">
            <a:off x="642937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Trust assumptions</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Authenticated institutions, honest-but-curious coordinator, threshold custodians and permissioned audit participants</a:t>
            </a:r>
          </a:p>
        </p:txBody>
      </p:sp>
      <p:sp>
        <p:nvSpPr>
          <p:cNvPr id="252" name="framework-assumptions-divider">
            <a:extLst xmlns:a="http://schemas.openxmlformats.org/drawingml/2006/main">
              <a:ext uri="{FF2B5EF4-FFF2-40B4-BE49-F238E27FC236}">
                <a16:creationId xmlns:a16="http://schemas.microsoft.com/office/drawing/2014/main" id="{DC368890-3967-4923-A964-AEA3CE138177}"/>
              </a:ext>
            </a:extLst>
          </p:cNvPr>
          <p:cNvSpPr>
            <a:spLocks xmlns:a="http://schemas.openxmlformats.org/drawingml/2006/main" noGrp="1"/>
          </p:cNvSpPr>
          <p:nvPr/>
        </p:nvSpPr>
        <p:spPr>
          <a:xfrm xmlns:a="http://schemas.openxmlformats.org/drawingml/2006/main">
            <a:off x="6076950" y="4410075"/>
            <a:ext cx="14288" cy="542925"/>
          </a:xfrm>
          <a:prstGeom xmlns:a="http://schemas.openxmlformats.org/drawingml/2006/main" prst="rect">
            <a:avLst/>
          </a:prstGeom>
          <a:solidFill xmlns:a="http://schemas.openxmlformats.org/drawingml/2006/main">
            <a:srgbClr val="CCD5DF"/>
          </a:solidFill>
          <a:ln xmlns:a="http://schemas.openxmlformats.org/drawingml/2006/main" w="0">
            <a:noFill/>
          </a:ln>
        </p:spPr>
      </p:sp>
      <p:sp>
        <p:nvSpPr>
          <p:cNvPr id="253" name="framework-principle-box">
            <a:extLst xmlns:a="http://schemas.openxmlformats.org/drawingml/2006/main">
              <a:ext uri="{FF2B5EF4-FFF2-40B4-BE49-F238E27FC236}">
                <a16:creationId xmlns:a16="http://schemas.microsoft.com/office/drawing/2014/main" id="{74EAE2CF-77CF-4F77-B3A3-ACB23B803CC4}"/>
              </a:ext>
            </a:extLst>
          </p:cNvPr>
          <p:cNvSpPr>
            <a:spLocks xmlns:a="http://schemas.openxmlformats.org/drawingml/2006/main" noGrp="1"/>
          </p:cNvSpPr>
          <p:nvPr/>
        </p:nvSpPr>
        <p:spPr>
          <a:xfrm xmlns:a="http://schemas.openxmlformats.org/drawingml/2006/main">
            <a:off x="1714500" y="5334000"/>
            <a:ext cx="8763000" cy="590550"/>
          </a:xfrm>
          <a:prstGeom xmlns:a="http://schemas.openxmlformats.org/drawingml/2006/main" prst="roundRect">
            <a:avLst>
              <a:gd name="adj" fmla="val 12903"/>
            </a:avLst>
          </a:prstGeom>
          <a:solidFill xmlns:a="http://schemas.openxmlformats.org/drawingml/2006/main">
            <a:srgbClr val="E8F4EE"/>
          </a:solidFill>
          <a:ln xmlns:a="http://schemas.openxmlformats.org/drawingml/2006/main" w="14288">
            <a:solidFill>
              <a:srgbClr val="008A46"/>
            </a:solidFill>
          </a:ln>
        </p:spPr>
      </p:sp>
      <p:sp>
        <p:nvSpPr>
          <p:cNvPr id="254" name="framework-principle">
            <a:extLst xmlns:a="http://schemas.openxmlformats.org/drawingml/2006/main">
              <a:ext uri="{FF2B5EF4-FFF2-40B4-BE49-F238E27FC236}">
                <a16:creationId xmlns:a16="http://schemas.microsoft.com/office/drawing/2014/main" id="{326D5A41-5020-45AA-BA2B-2715379B75A1}"/>
              </a:ext>
            </a:extLst>
          </p:cNvPr>
          <p:cNvSpPr>
            <a:spLocks xmlns:a="http://schemas.openxmlformats.org/drawingml/2006/main" noGrp="1"/>
          </p:cNvSpPr>
          <p:nvPr/>
        </p:nvSpPr>
        <p:spPr>
          <a:xfrm xmlns:a="http://schemas.openxmlformats.org/drawingml/2006/main">
            <a:off x="1952625" y="5410200"/>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216"/>
          </a:bodyPr>
          <a:lstStyle xmlns:a="http://schemas.openxmlformats.org/drawingml/2006/main"/>
          <a:p xmlns:a="http://schemas.openxmlformats.org/drawingml/2006/main">
            <a:pPr algn="ctr">
              <a:buNone/>
              <a:defRPr sz="1275" b="1">
                <a:solidFill>
                  <a:srgbClr val="17365D"/>
                </a:solidFill>
                <a:latin typeface="Arial"/>
                <a:ea typeface="Arial"/>
                <a:cs typeface="Arial"/>
              </a:defRPr>
            </a:pPr>
            <a:r>
              <a:rPr sz="1275" b="1">
                <a:solidFill>
                  <a:srgbClr val="17365D"/>
                </a:solidFill>
                <a:latin typeface="Arial"/>
                <a:ea typeface="Arial"/>
                <a:cs typeface="Arial"/>
              </a:rPr>
              <a:t>Core principle: patient records remain inside each institution; only protected updates enter the collaboration, and only a validated global model is released.</a:t>
            </a:r>
          </a:p>
        </p:txBody>
      </p:sp>
    </p:spTree>
    <p:extLst>
      <p:ext uri="{BB962C8B-B14F-4D97-AF65-F5344CB8AC3E}">
        <p14:creationId xmlns:p14="http://schemas.microsoft.com/office/powerpoint/2010/main" val="102666196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578"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dcc1e9cbdf5f48a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79"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9184633fe41648a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80"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f1fea822c02247c6">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582"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d2354b3e980742ca">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cxnSp>
        <p:nvCxnSpPr>
          <p:cNvPr id="585"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6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cf13263900c422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df9c13ad3f0436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630" name="Picture 458"/>
          <p:cNvPicPr>
            <a:picLocks xmlns:a="http://schemas.openxmlformats.org/drawingml/2006/main" noChangeAspect="1"/>
          </p:cNvPicPr>
          <p:nvPr/>
        </p:nvPicPr>
        <p:blipFill>
          <a:blip xmlns:r="http://schemas.openxmlformats.org/officeDocument/2006/relationships" xmlns:a="http://schemas.openxmlformats.org/drawingml/2006/main" r:embed="R4d24228a389443a1"/>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634" name="Picture 462"/>
          <p:cNvPicPr>
            <a:picLocks xmlns:a="http://schemas.openxmlformats.org/drawingml/2006/main" noChangeAspect="1"/>
          </p:cNvPicPr>
          <p:nvPr/>
        </p:nvPicPr>
        <p:blipFill>
          <a:blip xmlns:r="http://schemas.openxmlformats.org/officeDocument/2006/relationships" xmlns:a="http://schemas.openxmlformats.org/drawingml/2006/main" r:embed="R2c21c07fbe764e29"/>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649"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50"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655"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56"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57"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662"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63"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64"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670"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71"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72"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73"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74"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675"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676"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677"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7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80a720a64b74b7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7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e45ad15d0d749b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733" name="Picture 518"/>
          <p:cNvPicPr>
            <a:picLocks xmlns:a="http://schemas.openxmlformats.org/drawingml/2006/main" noChangeAspect="1"/>
          </p:cNvPicPr>
          <p:nvPr/>
        </p:nvPicPr>
        <p:blipFill>
          <a:blip xmlns:r="http://schemas.openxmlformats.org/officeDocument/2006/relationships" xmlns:a="http://schemas.openxmlformats.org/drawingml/2006/main" r:embed="Rd8bf599baf6d41dc"/>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737" name="Picture 522"/>
          <p:cNvPicPr>
            <a:picLocks xmlns:a="http://schemas.openxmlformats.org/drawingml/2006/main" noChangeAspect="1"/>
          </p:cNvPicPr>
          <p:nvPr/>
        </p:nvPicPr>
        <p:blipFill>
          <a:blip xmlns:r="http://schemas.openxmlformats.org/officeDocument/2006/relationships" xmlns:a="http://schemas.openxmlformats.org/drawingml/2006/main" r:embed="Rffe041f540d5475b"/>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pic>
        <p:nvPicPr>
          <p:cNvPr id="740" name="Picture 526"/>
          <p:cNvPicPr>
            <a:picLocks xmlns:a="http://schemas.openxmlformats.org/drawingml/2006/main" noChangeAspect="1"/>
          </p:cNvPicPr>
          <p:nvPr/>
        </p:nvPicPr>
        <p:blipFill>
          <a:blip xmlns:r="http://schemas.openxmlformats.org/officeDocument/2006/relationships" xmlns:a="http://schemas.openxmlformats.org/drawingml/2006/main" r:embed="R480a720a64b74b76"/>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741" name="Picture 527"/>
          <p:cNvPicPr>
            <a:picLocks xmlns:a="http://schemas.openxmlformats.org/drawingml/2006/main" noChangeAspect="1"/>
          </p:cNvPicPr>
          <p:nvPr/>
        </p:nvPicPr>
        <p:blipFill>
          <a:blip xmlns:r="http://schemas.openxmlformats.org/officeDocument/2006/relationships" xmlns:a="http://schemas.openxmlformats.org/drawingml/2006/main" r:embed="Ree45ad15d0d749be"/>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lgn="l">
              <a:buNone/>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
        <p:nvSpPr>
          <p:cNvPr id="243" name="native-release-pipeline-cover">
            <a:extLst xmlns:a="http://schemas.openxmlformats.org/drawingml/2006/main">
              <a:ext uri="{FF2B5EF4-FFF2-40B4-BE49-F238E27FC236}">
                <a16:creationId xmlns:a16="http://schemas.microsoft.com/office/drawing/2014/main" id="{B1AC3206-E032-4B91-9184-F82DCF820FF1}"/>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4" name="L4-lane-background">
            <a:extLst xmlns:a="http://schemas.openxmlformats.org/drawingml/2006/main">
              <a:ext uri="{FF2B5EF4-FFF2-40B4-BE49-F238E27FC236}">
                <a16:creationId xmlns:a16="http://schemas.microsoft.com/office/drawing/2014/main" id="{09E3513A-5CB7-4816-AADC-B212D8729B78}"/>
              </a:ext>
            </a:extLst>
          </p:cNvPr>
          <p:cNvSpPr>
            <a:spLocks xmlns:a="http://schemas.openxmlformats.org/drawingml/2006/main" noGrp="1"/>
          </p:cNvSpPr>
          <p:nvPr/>
        </p:nvSpPr>
        <p:spPr>
          <a:xfrm xmlns:a="http://schemas.openxmlformats.org/drawingml/2006/main">
            <a:off x="819150" y="1333500"/>
            <a:ext cx="10572750" cy="895350"/>
          </a:xfrm>
          <a:prstGeom xmlns:a="http://schemas.openxmlformats.org/drawingml/2006/main" prst="roundRect">
            <a:avLst>
              <a:gd name="adj" fmla="val 8511"/>
            </a:avLst>
          </a:prstGeom>
          <a:solidFill xmlns:a="http://schemas.openxmlformats.org/drawingml/2006/main">
            <a:srgbClr val="FFF6E3"/>
          </a:solidFill>
          <a:ln xmlns:a="http://schemas.openxmlformats.org/drawingml/2006/main" w="9525">
            <a:solidFill>
              <a:srgbClr val="D8E0E8"/>
            </a:solidFill>
          </a:ln>
        </p:spPr>
      </p:sp>
      <p:sp>
        <p:nvSpPr>
          <p:cNvPr id="245" name="L4-lane-label">
            <a:extLst xmlns:a="http://schemas.openxmlformats.org/drawingml/2006/main">
              <a:ext uri="{FF2B5EF4-FFF2-40B4-BE49-F238E27FC236}">
                <a16:creationId xmlns:a16="http://schemas.microsoft.com/office/drawing/2014/main" id="{5674893F-4486-4B37-AABF-42C9CE8ABEFA}"/>
              </a:ext>
            </a:extLst>
          </p:cNvPr>
          <p:cNvSpPr>
            <a:spLocks xmlns:a="http://schemas.openxmlformats.org/drawingml/2006/main" noGrp="1"/>
          </p:cNvSpPr>
          <p:nvPr/>
        </p:nvSpPr>
        <p:spPr>
          <a:xfrm xmlns:a="http://schemas.openxmlformats.org/drawingml/2006/main">
            <a:off x="914400" y="1428750"/>
            <a:ext cx="1381125" cy="704850"/>
          </a:xfrm>
          <a:prstGeom xmlns:a="http://schemas.openxmlformats.org/drawingml/2006/main" prst="roundRect">
            <a:avLst>
              <a:gd name="adj" fmla="val 10811"/>
            </a:avLst>
          </a:prstGeom>
          <a:solidFill xmlns:a="http://schemas.openxmlformats.org/drawingml/2006/main">
            <a:srgbClr val="A66F0A"/>
          </a:solidFill>
          <a:ln xmlns:a="http://schemas.openxmlformats.org/drawingml/2006/main" w="952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L4</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Trust and transport</a:t>
            </a:r>
          </a:p>
        </p:txBody>
      </p:sp>
      <p:sp>
        <p:nvSpPr>
          <p:cNvPr id="246" name="L5-lane-background">
            <a:extLst xmlns:a="http://schemas.openxmlformats.org/drawingml/2006/main">
              <a:ext uri="{FF2B5EF4-FFF2-40B4-BE49-F238E27FC236}">
                <a16:creationId xmlns:a16="http://schemas.microsoft.com/office/drawing/2014/main" id="{35B580AB-35F2-4E62-8572-D443B5922050}"/>
              </a:ext>
            </a:extLst>
          </p:cNvPr>
          <p:cNvSpPr>
            <a:spLocks xmlns:a="http://schemas.openxmlformats.org/drawingml/2006/main" noGrp="1"/>
          </p:cNvSpPr>
          <p:nvPr/>
        </p:nvSpPr>
        <p:spPr>
          <a:xfrm xmlns:a="http://schemas.openxmlformats.org/drawingml/2006/main">
            <a:off x="819150" y="2324100"/>
            <a:ext cx="10572750" cy="1333500"/>
          </a:xfrm>
          <a:prstGeom xmlns:a="http://schemas.openxmlformats.org/drawingml/2006/main" prst="roundRect">
            <a:avLst>
              <a:gd name="adj" fmla="val 5714"/>
            </a:avLst>
          </a:prstGeom>
          <a:solidFill xmlns:a="http://schemas.openxmlformats.org/drawingml/2006/main">
            <a:srgbClr val="EDF7F0"/>
          </a:solidFill>
          <a:ln xmlns:a="http://schemas.openxmlformats.org/drawingml/2006/main" w="9525">
            <a:solidFill>
              <a:srgbClr val="D8E0E8"/>
            </a:solidFill>
          </a:ln>
        </p:spPr>
      </p:sp>
      <p:sp>
        <p:nvSpPr>
          <p:cNvPr id="247" name="L5-lane-label">
            <a:extLst xmlns:a="http://schemas.openxmlformats.org/drawingml/2006/main">
              <a:ext uri="{FF2B5EF4-FFF2-40B4-BE49-F238E27FC236}">
                <a16:creationId xmlns:a16="http://schemas.microsoft.com/office/drawing/2014/main" id="{DBBDB24D-534D-4864-B96F-CF722C78DAD3}"/>
              </a:ext>
            </a:extLst>
          </p:cNvPr>
          <p:cNvSpPr>
            <a:spLocks xmlns:a="http://schemas.openxmlformats.org/drawingml/2006/main" noGrp="1"/>
          </p:cNvSpPr>
          <p:nvPr/>
        </p:nvSpPr>
        <p:spPr>
          <a:xfrm xmlns:a="http://schemas.openxmlformats.org/drawingml/2006/main">
            <a:off x="914400" y="2419350"/>
            <a:ext cx="1381125" cy="1143000"/>
          </a:xfrm>
          <a:prstGeom xmlns:a="http://schemas.openxmlformats.org/drawingml/2006/main" prst="roundRect">
            <a:avLst>
              <a:gd name="adj" fmla="val 6667"/>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L5</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Secure aggregation</a:t>
            </a:r>
          </a:p>
        </p:txBody>
      </p:sp>
      <p:sp>
        <p:nvSpPr>
          <p:cNvPr id="248" name="L6-lane-background">
            <a:extLst xmlns:a="http://schemas.openxmlformats.org/drawingml/2006/main">
              <a:ext uri="{FF2B5EF4-FFF2-40B4-BE49-F238E27FC236}">
                <a16:creationId xmlns:a16="http://schemas.microsoft.com/office/drawing/2014/main" id="{0C0B051A-D6CA-45B1-A268-E52798527E74}"/>
              </a:ext>
            </a:extLst>
          </p:cNvPr>
          <p:cNvSpPr>
            <a:spLocks xmlns:a="http://schemas.openxmlformats.org/drawingml/2006/main" noGrp="1"/>
          </p:cNvSpPr>
          <p:nvPr/>
        </p:nvSpPr>
        <p:spPr>
          <a:xfrm xmlns:a="http://schemas.openxmlformats.org/drawingml/2006/main">
            <a:off x="819150" y="3752850"/>
            <a:ext cx="10572750" cy="876300"/>
          </a:xfrm>
          <a:prstGeom xmlns:a="http://schemas.openxmlformats.org/drawingml/2006/main" prst="roundRect">
            <a:avLst>
              <a:gd name="adj" fmla="val 8696"/>
            </a:avLst>
          </a:prstGeom>
          <a:solidFill xmlns:a="http://schemas.openxmlformats.org/drawingml/2006/main">
            <a:srgbClr val="EDF7F0"/>
          </a:solidFill>
          <a:ln xmlns:a="http://schemas.openxmlformats.org/drawingml/2006/main" w="9525">
            <a:solidFill>
              <a:srgbClr val="D8E0E8"/>
            </a:solidFill>
          </a:ln>
        </p:spPr>
      </p:sp>
      <p:sp>
        <p:nvSpPr>
          <p:cNvPr id="249" name="L6-lane-label">
            <a:extLst xmlns:a="http://schemas.openxmlformats.org/drawingml/2006/main">
              <a:ext uri="{FF2B5EF4-FFF2-40B4-BE49-F238E27FC236}">
                <a16:creationId xmlns:a16="http://schemas.microsoft.com/office/drawing/2014/main" id="{E9543AEF-D764-406C-A3A0-010F4F0FD0FF}"/>
              </a:ext>
            </a:extLst>
          </p:cNvPr>
          <p:cNvSpPr>
            <a:spLocks xmlns:a="http://schemas.openxmlformats.org/drawingml/2006/main" noGrp="1"/>
          </p:cNvSpPr>
          <p:nvPr/>
        </p:nvSpPr>
        <p:spPr>
          <a:xfrm xmlns:a="http://schemas.openxmlformats.org/drawingml/2006/main">
            <a:off x="914400" y="3848100"/>
            <a:ext cx="1381125" cy="685800"/>
          </a:xfrm>
          <a:prstGeom xmlns:a="http://schemas.openxmlformats.org/drawingml/2006/main" prst="roundRect">
            <a:avLst>
              <a:gd name="adj" fmla="val 11111"/>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L6</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Verified release</a:t>
            </a:r>
          </a:p>
        </p:txBody>
      </p:sp>
      <p:sp>
        <p:nvSpPr>
          <p:cNvPr id="250" name="L7-lane-background">
            <a:extLst xmlns:a="http://schemas.openxmlformats.org/drawingml/2006/main">
              <a:ext uri="{FF2B5EF4-FFF2-40B4-BE49-F238E27FC236}">
                <a16:creationId xmlns:a16="http://schemas.microsoft.com/office/drawing/2014/main" id="{D9321302-1A93-489F-BC90-BAB44DCB630C}"/>
              </a:ext>
            </a:extLst>
          </p:cNvPr>
          <p:cNvSpPr>
            <a:spLocks xmlns:a="http://schemas.openxmlformats.org/drawingml/2006/main" noGrp="1"/>
          </p:cNvSpPr>
          <p:nvPr/>
        </p:nvSpPr>
        <p:spPr>
          <a:xfrm xmlns:a="http://schemas.openxmlformats.org/drawingml/2006/main">
            <a:off x="819150" y="4724400"/>
            <a:ext cx="10572750" cy="876300"/>
          </a:xfrm>
          <a:prstGeom xmlns:a="http://schemas.openxmlformats.org/drawingml/2006/main" prst="roundRect">
            <a:avLst>
              <a:gd name="adj" fmla="val 8696"/>
            </a:avLst>
          </a:prstGeom>
          <a:solidFill xmlns:a="http://schemas.openxmlformats.org/drawingml/2006/main">
            <a:srgbClr val="ECF7F6"/>
          </a:solidFill>
          <a:ln xmlns:a="http://schemas.openxmlformats.org/drawingml/2006/main" w="9525">
            <a:solidFill>
              <a:srgbClr val="D8E0E8"/>
            </a:solidFill>
          </a:ln>
        </p:spPr>
      </p:sp>
      <p:sp>
        <p:nvSpPr>
          <p:cNvPr id="251" name="L7-lane-label">
            <a:extLst xmlns:a="http://schemas.openxmlformats.org/drawingml/2006/main">
              <a:ext uri="{FF2B5EF4-FFF2-40B4-BE49-F238E27FC236}">
                <a16:creationId xmlns:a16="http://schemas.microsoft.com/office/drawing/2014/main" id="{E2D74EF4-B0D2-4F6B-AAC3-912FAAE1EFF7}"/>
              </a:ext>
            </a:extLst>
          </p:cNvPr>
          <p:cNvSpPr>
            <a:spLocks xmlns:a="http://schemas.openxmlformats.org/drawingml/2006/main" noGrp="1"/>
          </p:cNvSpPr>
          <p:nvPr/>
        </p:nvSpPr>
        <p:spPr>
          <a:xfrm xmlns:a="http://schemas.openxmlformats.org/drawingml/2006/main">
            <a:off x="914400" y="4819650"/>
            <a:ext cx="1381125" cy="685800"/>
          </a:xfrm>
          <a:prstGeom xmlns:a="http://schemas.openxmlformats.org/drawingml/2006/main" prst="roundRect">
            <a:avLst>
              <a:gd name="adj" fmla="val 11111"/>
            </a:avLst>
          </a:prstGeom>
          <a:solidFill xmlns:a="http://schemas.openxmlformats.org/drawingml/2006/main">
            <a:srgbClr val="287D78"/>
          </a:solidFill>
          <a:ln xmlns:a="http://schemas.openxmlformats.org/drawingml/2006/main" w="9525">
            <a:solidFill>
              <a:srgbClr val="287D7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L7</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inference</a:t>
            </a:r>
          </a:p>
        </p:txBody>
      </p:sp>
      <p:sp>
        <p:nvSpPr>
          <p:cNvPr id="252" name="l4-mtls">
            <a:extLst xmlns:a="http://schemas.openxmlformats.org/drawingml/2006/main">
              <a:ext uri="{FF2B5EF4-FFF2-40B4-BE49-F238E27FC236}">
                <a16:creationId xmlns:a16="http://schemas.microsoft.com/office/drawing/2014/main" id="{EB74CFD5-298D-495C-BD1C-035783E5DBCB}"/>
              </a:ext>
            </a:extLst>
          </p:cNvPr>
          <p:cNvSpPr>
            <a:spLocks xmlns:a="http://schemas.openxmlformats.org/drawingml/2006/main" noGrp="1"/>
          </p:cNvSpPr>
          <p:nvPr/>
        </p:nvSpPr>
        <p:spPr>
          <a:xfrm xmlns:a="http://schemas.openxmlformats.org/drawingml/2006/main">
            <a:off x="2476500" y="1524000"/>
            <a:ext cx="16192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Mutual TLS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secure channel</a:t>
            </a:r>
          </a:p>
        </p:txBody>
      </p:sp>
      <p:sp>
        <p:nvSpPr>
          <p:cNvPr id="253" name="l4-verify">
            <a:extLst xmlns:a="http://schemas.openxmlformats.org/drawingml/2006/main">
              <a:ext uri="{FF2B5EF4-FFF2-40B4-BE49-F238E27FC236}">
                <a16:creationId xmlns:a16="http://schemas.microsoft.com/office/drawing/2014/main" id="{5C443436-7287-45F4-BD19-8E4A19BAC0B2}"/>
              </a:ext>
            </a:extLst>
          </p:cNvPr>
          <p:cNvSpPr>
            <a:spLocks xmlns:a="http://schemas.openxmlformats.org/drawingml/2006/main" noGrp="1"/>
          </p:cNvSpPr>
          <p:nvPr/>
        </p:nvSpPr>
        <p:spPr>
          <a:xfrm xmlns:a="http://schemas.openxmlformats.org/drawingml/2006/main">
            <a:off x="4524375" y="1524000"/>
            <a:ext cx="185737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Verify identity, signature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round freshness</a:t>
            </a:r>
          </a:p>
        </p:txBody>
      </p:sp>
      <p:sp>
        <p:nvSpPr>
          <p:cNvPr id="254" name="l4-admit">
            <a:extLst xmlns:a="http://schemas.openxmlformats.org/drawingml/2006/main">
              <a:ext uri="{FF2B5EF4-FFF2-40B4-BE49-F238E27FC236}">
                <a16:creationId xmlns:a16="http://schemas.microsoft.com/office/drawing/2014/main" id="{53CE035A-2A77-4748-955D-E940258CE5D1}"/>
              </a:ext>
            </a:extLst>
          </p:cNvPr>
          <p:cNvSpPr>
            <a:spLocks xmlns:a="http://schemas.openxmlformats.org/drawingml/2006/main" noGrp="1"/>
          </p:cNvSpPr>
          <p:nvPr/>
        </p:nvSpPr>
        <p:spPr>
          <a:xfrm xmlns:a="http://schemas.openxmlformats.org/drawingml/2006/main">
            <a:off x="6810375" y="1524000"/>
            <a:ext cx="18097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Admission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reputation check</a:t>
            </a:r>
          </a:p>
        </p:txBody>
      </p:sp>
      <p:sp>
        <p:nvSpPr>
          <p:cNvPr id="255" name="l4-ledger">
            <a:extLst xmlns:a="http://schemas.openxmlformats.org/drawingml/2006/main">
              <a:ext uri="{FF2B5EF4-FFF2-40B4-BE49-F238E27FC236}">
                <a16:creationId xmlns:a16="http://schemas.microsoft.com/office/drawing/2014/main" id="{CF8EC2A1-4D15-4565-9680-ED14178B4034}"/>
              </a:ext>
            </a:extLst>
          </p:cNvPr>
          <p:cNvSpPr>
            <a:spLocks xmlns:a="http://schemas.openxmlformats.org/drawingml/2006/main" noGrp="1"/>
          </p:cNvSpPr>
          <p:nvPr/>
        </p:nvSpPr>
        <p:spPr>
          <a:xfrm xmlns:a="http://schemas.openxmlformats.org/drawingml/2006/main">
            <a:off x="9048750" y="1524000"/>
            <a:ext cx="195262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908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Ciphertext off-chain</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 and status on ledger</a:t>
            </a:r>
          </a:p>
        </p:txBody>
      </p:sp>
      <p:cxnSp>
        <p:nvCxnSpPr>
          <p:cNvPr id="756" name="Straight Arrow Connector 542"/>
          <p:cNvCxnSpPr>
            <a:stCxn xmlns:a="http://schemas.openxmlformats.org/drawingml/2006/main" id="252" idx="3"/>
            <a:endCxn xmlns:a="http://schemas.openxmlformats.org/drawingml/2006/main" id="253" idx="1"/>
          </p:cNvCxnSpPr>
          <p:nvPr/>
        </p:nvCxnSpPr>
        <p:spPr>
          <a:xfrm xmlns:a="http://schemas.openxmlformats.org/drawingml/2006/main">
            <a:off x="4095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57" name="Straight Arrow Connector 543"/>
          <p:cNvCxnSpPr>
            <a:stCxn xmlns:a="http://schemas.openxmlformats.org/drawingml/2006/main" id="253" idx="3"/>
            <a:endCxn xmlns:a="http://schemas.openxmlformats.org/drawingml/2006/main" id="254" idx="1"/>
          </p:cNvCxnSpPr>
          <p:nvPr/>
        </p:nvCxnSpPr>
        <p:spPr>
          <a:xfrm xmlns:a="http://schemas.openxmlformats.org/drawingml/2006/main">
            <a:off x="6381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58" name="Straight Arrow Connector 544"/>
          <p:cNvCxnSpPr>
            <a:stCxn xmlns:a="http://schemas.openxmlformats.org/drawingml/2006/main" id="254" idx="3"/>
            <a:endCxn xmlns:a="http://schemas.openxmlformats.org/drawingml/2006/main" id="255" idx="1"/>
          </p:cNvCxnSpPr>
          <p:nvPr/>
        </p:nvCxnSpPr>
        <p:spPr>
          <a:xfrm xmlns:a="http://schemas.openxmlformats.org/drawingml/2006/main">
            <a:off x="8620125"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9" name="l5-quorum">
            <a:extLst xmlns:a="http://schemas.openxmlformats.org/drawingml/2006/main">
              <a:ext uri="{FF2B5EF4-FFF2-40B4-BE49-F238E27FC236}">
                <a16:creationId xmlns:a16="http://schemas.microsoft.com/office/drawing/2014/main" id="{6A773FF3-EE2F-493E-9D55-9E2EFF3A0419}"/>
              </a:ext>
            </a:extLst>
          </p:cNvPr>
          <p:cNvSpPr>
            <a:spLocks xmlns:a="http://schemas.openxmlformats.org/drawingml/2006/main" noGrp="1"/>
          </p:cNvSpPr>
          <p:nvPr/>
        </p:nvSpPr>
        <p:spPr>
          <a:xfrm xmlns:a="http://schemas.openxmlformats.org/drawingml/2006/main">
            <a:off x="2343150" y="2724150"/>
            <a:ext cx="1381125"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Quorum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dropout handling</a:t>
            </a:r>
          </a:p>
        </p:txBody>
      </p:sp>
      <p:sp>
        <p:nvSpPr>
          <p:cNvPr id="260" name="l5-fedavg">
            <a:extLst xmlns:a="http://schemas.openxmlformats.org/drawingml/2006/main">
              <a:ext uri="{FF2B5EF4-FFF2-40B4-BE49-F238E27FC236}">
                <a16:creationId xmlns:a16="http://schemas.microsoft.com/office/drawing/2014/main" id="{80102FEA-2126-4AE3-A615-5B3CD4D47D7A}"/>
              </a:ext>
            </a:extLst>
          </p:cNvPr>
          <p:cNvSpPr>
            <a:spLocks xmlns:a="http://schemas.openxmlformats.org/drawingml/2006/main" noGrp="1"/>
          </p:cNvSpPr>
          <p:nvPr/>
        </p:nvSpPr>
        <p:spPr>
          <a:xfrm xmlns:a="http://schemas.openxmlformats.org/drawingml/2006/main">
            <a:off x="4000500" y="2724150"/>
            <a:ext cx="161925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3147"/>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Reputation-weighted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homomorphic FedAvg</a:t>
            </a:r>
          </a:p>
        </p:txBody>
      </p:sp>
      <p:sp>
        <p:nvSpPr>
          <p:cNvPr id="261" name="l5-decrypt">
            <a:extLst xmlns:a="http://schemas.openxmlformats.org/drawingml/2006/main">
              <a:ext uri="{FF2B5EF4-FFF2-40B4-BE49-F238E27FC236}">
                <a16:creationId xmlns:a16="http://schemas.microsoft.com/office/drawing/2014/main" id="{ED1B2A6C-4649-4427-A1FE-873CB8B69D86}"/>
              </a:ext>
            </a:extLst>
          </p:cNvPr>
          <p:cNvSpPr>
            <a:spLocks xmlns:a="http://schemas.openxmlformats.org/drawingml/2006/main" noGrp="1"/>
          </p:cNvSpPr>
          <p:nvPr/>
        </p:nvSpPr>
        <p:spPr>
          <a:xfrm xmlns:a="http://schemas.openxmlformats.org/drawingml/2006/main">
            <a:off x="5895975" y="2724150"/>
            <a:ext cx="1476375" cy="533400"/>
          </a:xfrm>
          <a:prstGeom xmlns:a="http://schemas.openxmlformats.org/drawingml/2006/main" prst="roundRect">
            <a:avLst>
              <a:gd name="adj" fmla="val 14286"/>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decrypt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aggregate only</a:t>
            </a:r>
          </a:p>
        </p:txBody>
      </p:sp>
      <p:sp>
        <p:nvSpPr>
          <p:cNvPr id="262" name="l5-validate">
            <a:extLst xmlns:a="http://schemas.openxmlformats.org/drawingml/2006/main">
              <a:ext uri="{FF2B5EF4-FFF2-40B4-BE49-F238E27FC236}">
                <a16:creationId xmlns:a16="http://schemas.microsoft.com/office/drawing/2014/main" id="{EEB77686-D3D0-4666-8225-CCB147821891}"/>
              </a:ext>
            </a:extLst>
          </p:cNvPr>
          <p:cNvSpPr>
            <a:spLocks xmlns:a="http://schemas.openxmlformats.org/drawingml/2006/main" noGrp="1"/>
          </p:cNvSpPr>
          <p:nvPr/>
        </p:nvSpPr>
        <p:spPr>
          <a:xfrm xmlns:a="http://schemas.openxmlformats.org/drawingml/2006/main">
            <a:off x="7648575" y="2724150"/>
            <a:ext cx="152400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Validate utility, drift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anomaly checks</a:t>
            </a:r>
          </a:p>
        </p:txBody>
      </p:sp>
      <p:sp>
        <p:nvSpPr>
          <p:cNvPr id="263" name="l5-decision">
            <a:extLst xmlns:a="http://schemas.openxmlformats.org/drawingml/2006/main">
              <a:ext uri="{FF2B5EF4-FFF2-40B4-BE49-F238E27FC236}">
                <a16:creationId xmlns:a16="http://schemas.microsoft.com/office/drawing/2014/main" id="{BC3B00FA-F196-4BDF-9D42-CD87EEED5A18}"/>
              </a:ext>
            </a:extLst>
          </p:cNvPr>
          <p:cNvSpPr>
            <a:spLocks xmlns:a="http://schemas.openxmlformats.org/drawingml/2006/main" noGrp="1"/>
          </p:cNvSpPr>
          <p:nvPr/>
        </p:nvSpPr>
        <p:spPr>
          <a:xfrm xmlns:a="http://schemas.openxmlformats.org/drawingml/2006/main">
            <a:off x="9353550" y="2657475"/>
            <a:ext cx="838200" cy="666750"/>
          </a:xfrm>
          <a:prstGeom xmlns:a="http://schemas.openxmlformats.org/drawingml/2006/main" prst="diamond">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75595"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Pass?</a:t>
            </a:r>
          </a:p>
        </p:txBody>
      </p:sp>
      <p:cxnSp>
        <p:nvCxnSpPr>
          <p:cNvPr id="764" name="Straight Arrow Connector 550"/>
          <p:cNvCxnSpPr>
            <a:stCxn xmlns:a="http://schemas.openxmlformats.org/drawingml/2006/main" id="259" idx="3"/>
            <a:endCxn xmlns:a="http://schemas.openxmlformats.org/drawingml/2006/main" id="260" idx="1"/>
          </p:cNvCxnSpPr>
          <p:nvPr/>
        </p:nvCxnSpPr>
        <p:spPr>
          <a:xfrm xmlns:a="http://schemas.openxmlformats.org/drawingml/2006/main">
            <a:off x="3724275"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65" name="Straight Arrow Connector 551"/>
          <p:cNvCxnSpPr>
            <a:stCxn xmlns:a="http://schemas.openxmlformats.org/drawingml/2006/main" id="260" idx="3"/>
            <a:endCxn xmlns:a="http://schemas.openxmlformats.org/drawingml/2006/main" id="261" idx="1"/>
          </p:cNvCxnSpPr>
          <p:nvPr/>
        </p:nvCxnSpPr>
        <p:spPr>
          <a:xfrm xmlns:a="http://schemas.openxmlformats.org/drawingml/2006/main">
            <a:off x="56197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66" name="Straight Arrow Connector 552"/>
          <p:cNvCxnSpPr>
            <a:stCxn xmlns:a="http://schemas.openxmlformats.org/drawingml/2006/main" id="261" idx="3"/>
            <a:endCxn xmlns:a="http://schemas.openxmlformats.org/drawingml/2006/main" id="262" idx="1"/>
          </p:cNvCxnSpPr>
          <p:nvPr/>
        </p:nvCxnSpPr>
        <p:spPr>
          <a:xfrm xmlns:a="http://schemas.openxmlformats.org/drawingml/2006/main">
            <a:off x="73723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67" name="Straight Arrow Connector 553"/>
          <p:cNvCxnSpPr>
            <a:stCxn xmlns:a="http://schemas.openxmlformats.org/drawingml/2006/main" id="262" idx="3"/>
            <a:endCxn xmlns:a="http://schemas.openxmlformats.org/drawingml/2006/main" id="263" idx="1"/>
          </p:cNvCxnSpPr>
          <p:nvPr/>
        </p:nvCxnSpPr>
        <p:spPr>
          <a:xfrm xmlns:a="http://schemas.openxmlformats.org/drawingml/2006/main">
            <a:off x="9172575" y="2990850"/>
            <a:ext cx="1809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8" name="l5-accept">
            <a:extLst xmlns:a="http://schemas.openxmlformats.org/drawingml/2006/main">
              <a:ext uri="{FF2B5EF4-FFF2-40B4-BE49-F238E27FC236}">
                <a16:creationId xmlns:a16="http://schemas.microsoft.com/office/drawing/2014/main" id="{B290B1B0-3FD4-4DF9-80AB-79B80DF555A6}"/>
              </a:ext>
            </a:extLst>
          </p:cNvPr>
          <p:cNvSpPr>
            <a:spLocks xmlns:a="http://schemas.openxmlformats.org/drawingml/2006/main" noGrp="1"/>
          </p:cNvSpPr>
          <p:nvPr/>
        </p:nvSpPr>
        <p:spPr>
          <a:xfrm xmlns:a="http://schemas.openxmlformats.org/drawingml/2006/main">
            <a:off x="10382250" y="2447925"/>
            <a:ext cx="904875" cy="400050"/>
          </a:xfrm>
          <a:prstGeom xmlns:a="http://schemas.openxmlformats.org/drawingml/2006/main" prst="roundRect">
            <a:avLst>
              <a:gd name="adj" fmla="val 19048"/>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2481"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Accept model</a:t>
            </a:r>
          </a:p>
        </p:txBody>
      </p:sp>
      <p:sp>
        <p:nvSpPr>
          <p:cNvPr id="269" name="l5-reject">
            <a:extLst xmlns:a="http://schemas.openxmlformats.org/drawingml/2006/main">
              <a:ext uri="{FF2B5EF4-FFF2-40B4-BE49-F238E27FC236}">
                <a16:creationId xmlns:a16="http://schemas.microsoft.com/office/drawing/2014/main" id="{4189A42B-F3E3-4595-BD80-16F3C5CF3BAD}"/>
              </a:ext>
            </a:extLst>
          </p:cNvPr>
          <p:cNvSpPr>
            <a:spLocks xmlns:a="http://schemas.openxmlformats.org/drawingml/2006/main" noGrp="1"/>
          </p:cNvSpPr>
          <p:nvPr/>
        </p:nvSpPr>
        <p:spPr>
          <a:xfrm xmlns:a="http://schemas.openxmlformats.org/drawingml/2006/main">
            <a:off x="10382250" y="3105150"/>
            <a:ext cx="904875" cy="419100"/>
          </a:xfrm>
          <a:prstGeom xmlns:a="http://schemas.openxmlformats.org/drawingml/2006/main" prst="roundRect">
            <a:avLst>
              <a:gd name="adj" fmla="val 18182"/>
            </a:avLst>
          </a:prstGeom>
          <a:solidFill xmlns:a="http://schemas.openxmlformats.org/drawingml/2006/main">
            <a:srgbClr val="FDEEEE"/>
          </a:solidFill>
          <a:ln xmlns:a="http://schemas.openxmlformats.org/drawingml/2006/main" w="13335">
            <a:solidFill>
              <a:srgbClr val="C94B4B"/>
            </a:solidFill>
          </a:ln>
        </p:spPr>
        <p:txBody>
          <a:bodyPr xmlns:a="http://schemas.openxmlformats.org/drawingml/2006/main" anchor="ctr">
            <a:normAutofit fontScale="7402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Rollback and</a:t>
            </a:r>
          </a:p>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quarantine</a:t>
            </a:r>
          </a:p>
        </p:txBody>
      </p:sp>
      <p:cxnSp>
        <p:nvCxnSpPr>
          <p:cNvPr id="770" name="Connector: Elbow 556"/>
          <p:cNvCxnSpPr>
            <a:stCxn xmlns:a="http://schemas.openxmlformats.org/drawingml/2006/main" id="263" idx="3"/>
            <a:endCxn xmlns:a="http://schemas.openxmlformats.org/drawingml/2006/main" id="268" idx="1"/>
          </p:cNvCxnSpPr>
          <p:nvPr/>
        </p:nvCxnSpPr>
        <p:spPr>
          <a:xfrm xmlns:a="http://schemas.openxmlformats.org/drawingml/2006/main" flipV="1">
            <a:off x="10191750" y="2647950"/>
            <a:ext cx="190500" cy="342900"/>
          </a:xfrm>
          <a:prstGeom xmlns:a="http://schemas.openxmlformats.org/drawingml/2006/main" prst="bentConnector3">
            <a:avLst>
              <a:gd name="adj1" fmla="val 50000"/>
            </a:avLst>
          </a:prstGeom>
          <a:ln xmlns:a="http://schemas.openxmlformats.org/drawingml/2006/main" w="16193">
            <a:solidFill>
              <a:srgbClr val="2E7D4F"/>
            </a:solidFill>
            <a:prstDash val="solid"/>
            <a:headEnd type="none" w="med" len="med"/>
            <a:tailEnd type="triangle" w="sm" len="sm"/>
          </a:ln>
        </p:spPr>
      </p:cxnSp>
      <p:cxnSp>
        <p:nvCxnSpPr>
          <p:cNvPr id="771" name="Connector: Elbow 557"/>
          <p:cNvCxnSpPr>
            <a:stCxn xmlns:a="http://schemas.openxmlformats.org/drawingml/2006/main" id="263" idx="2"/>
            <a:endCxn xmlns:a="http://schemas.openxmlformats.org/drawingml/2006/main" id="269" idx="1"/>
          </p:cNvCxnSpPr>
          <p:nvPr/>
        </p:nvCxnSpPr>
        <p:spPr>
          <a:xfrm xmlns:a="http://schemas.openxmlformats.org/drawingml/2006/main" flipV="1">
            <a:off x="9772650" y="3314700"/>
            <a:ext cx="609600" cy="9525"/>
          </a:xfrm>
          <a:prstGeom xmlns:a="http://schemas.openxmlformats.org/drawingml/2006/main" prst="bentConnector3">
            <a:avLst>
              <a:gd name="adj1" fmla="val 0"/>
            </a:avLst>
          </a:prstGeom>
          <a:ln xmlns:a="http://schemas.openxmlformats.org/drawingml/2006/main" w="16193">
            <a:solidFill>
              <a:srgbClr val="C94B4B"/>
            </a:solidFill>
            <a:prstDash val="solid"/>
            <a:headEnd type="none" w="med" len="med"/>
            <a:tailEnd type="triangle" w="sm" len="sm"/>
          </a:ln>
        </p:spPr>
      </p:cxnSp>
      <p:sp>
        <p:nvSpPr>
          <p:cNvPr id="272" name="accept-label">
            <a:extLst xmlns:a="http://schemas.openxmlformats.org/drawingml/2006/main">
              <a:ext uri="{FF2B5EF4-FFF2-40B4-BE49-F238E27FC236}">
                <a16:creationId xmlns:a16="http://schemas.microsoft.com/office/drawing/2014/main" id="{8E306D12-4090-4BF4-8EAA-7DABEB8CF822}"/>
              </a:ext>
            </a:extLst>
          </p:cNvPr>
          <p:cNvSpPr>
            <a:spLocks xmlns:a="http://schemas.openxmlformats.org/drawingml/2006/main" noGrp="1"/>
          </p:cNvSpPr>
          <p:nvPr/>
        </p:nvSpPr>
        <p:spPr>
          <a:xfrm xmlns:a="http://schemas.openxmlformats.org/drawingml/2006/main">
            <a:off x="10163175" y="24479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523" lnSpcReduction="20000"/>
          </a:bodyPr>
          <a:lstStyle xmlns:a="http://schemas.openxmlformats.org/drawingml/2006/main"/>
          <a:p xmlns:a="http://schemas.openxmlformats.org/drawingml/2006/main">
            <a:pPr algn="ctr">
              <a:buNone/>
              <a:defRPr sz="825" b="1">
                <a:solidFill>
                  <a:srgbClr val="2E7D4F"/>
                </a:solidFill>
                <a:latin typeface="Arial"/>
                <a:ea typeface="Arial"/>
                <a:cs typeface="Arial"/>
              </a:defRPr>
            </a:pPr>
            <a:r>
              <a:rPr sz="825" b="1">
                <a:solidFill>
                  <a:srgbClr val="2E7D4F"/>
                </a:solidFill>
                <a:latin typeface="Arial"/>
                <a:ea typeface="Arial"/>
                <a:cs typeface="Arial"/>
              </a:rPr>
              <a:t>YES</a:t>
            </a:r>
          </a:p>
        </p:txBody>
      </p:sp>
      <p:sp>
        <p:nvSpPr>
          <p:cNvPr id="273" name="reject-label">
            <a:extLst xmlns:a="http://schemas.openxmlformats.org/drawingml/2006/main">
              <a:ext uri="{FF2B5EF4-FFF2-40B4-BE49-F238E27FC236}">
                <a16:creationId xmlns:a16="http://schemas.microsoft.com/office/drawing/2014/main" id="{2E444E79-6138-4BBB-86BD-6266C96D64E4}"/>
              </a:ext>
            </a:extLst>
          </p:cNvPr>
          <p:cNvSpPr>
            <a:spLocks xmlns:a="http://schemas.openxmlformats.org/drawingml/2006/main" noGrp="1"/>
          </p:cNvSpPr>
          <p:nvPr/>
        </p:nvSpPr>
        <p:spPr>
          <a:xfrm xmlns:a="http://schemas.openxmlformats.org/drawingml/2006/main">
            <a:off x="10086975" y="3257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777" lnSpcReduction="10000"/>
          </a:bodyPr>
          <a:lstStyle xmlns:a="http://schemas.openxmlformats.org/drawingml/2006/main"/>
          <a:p xmlns:a="http://schemas.openxmlformats.org/drawingml/2006/main">
            <a:pPr algn="ctr">
              <a:buNone/>
              <a:defRPr sz="825" b="1">
                <a:solidFill>
                  <a:srgbClr val="C94B4B"/>
                </a:solidFill>
                <a:latin typeface="Arial"/>
                <a:ea typeface="Arial"/>
                <a:cs typeface="Arial"/>
              </a:defRPr>
            </a:pPr>
            <a:r>
              <a:rPr sz="825" b="1">
                <a:solidFill>
                  <a:srgbClr val="C94B4B"/>
                </a:solidFill>
                <a:latin typeface="Arial"/>
                <a:ea typeface="Arial"/>
                <a:cs typeface="Arial"/>
              </a:rPr>
              <a:t>NO</a:t>
            </a:r>
          </a:p>
        </p:txBody>
      </p:sp>
      <p:sp>
        <p:nvSpPr>
          <p:cNvPr id="274" name="l6-record">
            <a:extLst xmlns:a="http://schemas.openxmlformats.org/drawingml/2006/main">
              <a:ext uri="{FF2B5EF4-FFF2-40B4-BE49-F238E27FC236}">
                <a16:creationId xmlns:a16="http://schemas.microsoft.com/office/drawing/2014/main" id="{DDD347D4-BDDF-4091-B408-4538BFC7CC55}"/>
              </a:ext>
            </a:extLst>
          </p:cNvPr>
          <p:cNvSpPr>
            <a:spLocks xmlns:a="http://schemas.openxmlformats.org/drawingml/2006/main" noGrp="1"/>
          </p:cNvSpPr>
          <p:nvPr/>
        </p:nvSpPr>
        <p:spPr>
          <a:xfrm xmlns:a="http://schemas.openxmlformats.org/drawingml/2006/main">
            <a:off x="263842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Record global-model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a:t>
            </a:r>
          </a:p>
        </p:txBody>
      </p:sp>
      <p:sp>
        <p:nvSpPr>
          <p:cNvPr id="275" name="l6-broadcast">
            <a:extLst xmlns:a="http://schemas.openxmlformats.org/drawingml/2006/main">
              <a:ext uri="{FF2B5EF4-FFF2-40B4-BE49-F238E27FC236}">
                <a16:creationId xmlns:a16="http://schemas.microsoft.com/office/drawing/2014/main" id="{81870695-226F-4D05-8587-02783712BD68}"/>
              </a:ext>
            </a:extLst>
          </p:cNvPr>
          <p:cNvSpPr>
            <a:spLocks xmlns:a="http://schemas.openxmlformats.org/drawingml/2006/main" noGrp="1"/>
          </p:cNvSpPr>
          <p:nvPr/>
        </p:nvSpPr>
        <p:spPr>
          <a:xfrm xmlns:a="http://schemas.openxmlformats.org/drawingml/2006/main">
            <a:off x="4781550"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Signed secure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broadcast</a:t>
            </a:r>
          </a:p>
        </p:txBody>
      </p:sp>
      <p:sp>
        <p:nvSpPr>
          <p:cNvPr id="276" name="l6-verify">
            <a:extLst xmlns:a="http://schemas.openxmlformats.org/drawingml/2006/main">
              <a:ext uri="{FF2B5EF4-FFF2-40B4-BE49-F238E27FC236}">
                <a16:creationId xmlns:a16="http://schemas.microsoft.com/office/drawing/2014/main" id="{603F78C0-586C-4CEC-8D06-A0742952D251}"/>
              </a:ext>
            </a:extLst>
          </p:cNvPr>
          <p:cNvSpPr>
            <a:spLocks xmlns:a="http://schemas.openxmlformats.org/drawingml/2006/main" noGrp="1"/>
          </p:cNvSpPr>
          <p:nvPr/>
        </p:nvSpPr>
        <p:spPr>
          <a:xfrm xmlns:a="http://schemas.openxmlformats.org/drawingml/2006/main">
            <a:off x="692467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 verify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version and hash</a:t>
            </a:r>
          </a:p>
        </p:txBody>
      </p:sp>
      <p:sp>
        <p:nvSpPr>
          <p:cNvPr id="277" name="l6-next">
            <a:extLst xmlns:a="http://schemas.openxmlformats.org/drawingml/2006/main">
              <a:ext uri="{FF2B5EF4-FFF2-40B4-BE49-F238E27FC236}">
                <a16:creationId xmlns:a16="http://schemas.microsoft.com/office/drawing/2014/main" id="{A68478F7-87A2-4FBC-B7FF-369AF12D4132}"/>
              </a:ext>
            </a:extLst>
          </p:cNvPr>
          <p:cNvSpPr>
            <a:spLocks xmlns:a="http://schemas.openxmlformats.org/drawingml/2006/main" noGrp="1"/>
          </p:cNvSpPr>
          <p:nvPr/>
        </p:nvSpPr>
        <p:spPr>
          <a:xfrm xmlns:a="http://schemas.openxmlformats.org/drawingml/2006/main">
            <a:off x="9067800" y="3943350"/>
            <a:ext cx="14763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Begin next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FL round</a:t>
            </a:r>
          </a:p>
        </p:txBody>
      </p:sp>
      <p:cxnSp>
        <p:nvCxnSpPr>
          <p:cNvPr id="778" name="Straight Arrow Connector 564"/>
          <p:cNvCxnSpPr>
            <a:stCxn xmlns:a="http://schemas.openxmlformats.org/drawingml/2006/main" id="274" idx="3"/>
            <a:endCxn xmlns:a="http://schemas.openxmlformats.org/drawingml/2006/main" id="275" idx="1"/>
          </p:cNvCxnSpPr>
          <p:nvPr/>
        </p:nvCxnSpPr>
        <p:spPr>
          <a:xfrm xmlns:a="http://schemas.openxmlformats.org/drawingml/2006/main">
            <a:off x="430530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79" name="Straight Arrow Connector 565"/>
          <p:cNvCxnSpPr>
            <a:stCxn xmlns:a="http://schemas.openxmlformats.org/drawingml/2006/main" id="275" idx="3"/>
            <a:endCxn xmlns:a="http://schemas.openxmlformats.org/drawingml/2006/main" id="276" idx="1"/>
          </p:cNvCxnSpPr>
          <p:nvPr/>
        </p:nvCxnSpPr>
        <p:spPr>
          <a:xfrm xmlns:a="http://schemas.openxmlformats.org/drawingml/2006/main">
            <a:off x="6448425"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80" name="Straight Arrow Connector 566"/>
          <p:cNvCxnSpPr>
            <a:stCxn xmlns:a="http://schemas.openxmlformats.org/drawingml/2006/main" id="276" idx="3"/>
            <a:endCxn xmlns:a="http://schemas.openxmlformats.org/drawingml/2006/main" id="277" idx="1"/>
          </p:cNvCxnSpPr>
          <p:nvPr/>
        </p:nvCxnSpPr>
        <p:spPr>
          <a:xfrm xmlns:a="http://schemas.openxmlformats.org/drawingml/2006/main">
            <a:off x="859155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81" name="l7-auth">
            <a:extLst xmlns:a="http://schemas.openxmlformats.org/drawingml/2006/main">
              <a:ext uri="{FF2B5EF4-FFF2-40B4-BE49-F238E27FC236}">
                <a16:creationId xmlns:a16="http://schemas.microsoft.com/office/drawing/2014/main" id="{19409721-CEAB-43EC-B6AF-F948D7EFDB13}"/>
              </a:ext>
            </a:extLst>
          </p:cNvPr>
          <p:cNvSpPr>
            <a:spLocks xmlns:a="http://schemas.openxmlformats.org/drawingml/2006/main" noGrp="1"/>
          </p:cNvSpPr>
          <p:nvPr/>
        </p:nvSpPr>
        <p:spPr>
          <a:xfrm xmlns:a="http://schemas.openxmlformats.org/drawingml/2006/main">
            <a:off x="2343150" y="4914900"/>
            <a:ext cx="1381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Authenticate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request</a:t>
            </a:r>
          </a:p>
        </p:txBody>
      </p:sp>
      <p:sp>
        <p:nvSpPr>
          <p:cNvPr id="282" name="l7-consent">
            <a:extLst xmlns:a="http://schemas.openxmlformats.org/drawingml/2006/main">
              <a:ext uri="{FF2B5EF4-FFF2-40B4-BE49-F238E27FC236}">
                <a16:creationId xmlns:a16="http://schemas.microsoft.com/office/drawing/2014/main" id="{DDB05C49-B6EE-4642-97F5-1CF0226CCCE5}"/>
              </a:ext>
            </a:extLst>
          </p:cNvPr>
          <p:cNvSpPr>
            <a:spLocks xmlns:a="http://schemas.openxmlformats.org/drawingml/2006/main" noGrp="1"/>
          </p:cNvSpPr>
          <p:nvPr/>
        </p:nvSpPr>
        <p:spPr>
          <a:xfrm xmlns:a="http://schemas.openxmlformats.org/drawingml/2006/main">
            <a:off x="3981450" y="4914900"/>
            <a:ext cx="14287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authorization</a:t>
            </a:r>
          </a:p>
        </p:txBody>
      </p:sp>
      <p:sp>
        <p:nvSpPr>
          <p:cNvPr id="283" name="l7-infer">
            <a:extLst xmlns:a="http://schemas.openxmlformats.org/drawingml/2006/main">
              <a:ext uri="{FF2B5EF4-FFF2-40B4-BE49-F238E27FC236}">
                <a16:creationId xmlns:a16="http://schemas.microsoft.com/office/drawing/2014/main" id="{8F97F9D7-557C-4EC7-8ACC-3C7C633777BC}"/>
              </a:ext>
            </a:extLst>
          </p:cNvPr>
          <p:cNvSpPr>
            <a:spLocks xmlns:a="http://schemas.openxmlformats.org/drawingml/2006/main" noGrp="1"/>
          </p:cNvSpPr>
          <p:nvPr/>
        </p:nvSpPr>
        <p:spPr>
          <a:xfrm xmlns:a="http://schemas.openxmlformats.org/drawingml/2006/main">
            <a:off x="5667375" y="4914900"/>
            <a:ext cx="16192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88991"/>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Encrypted or</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confidential inference</a:t>
            </a:r>
          </a:p>
        </p:txBody>
      </p:sp>
      <p:sp>
        <p:nvSpPr>
          <p:cNvPr id="284" name="l7-decrypt">
            <a:extLst xmlns:a="http://schemas.openxmlformats.org/drawingml/2006/main">
              <a:ext uri="{FF2B5EF4-FFF2-40B4-BE49-F238E27FC236}">
                <a16:creationId xmlns:a16="http://schemas.microsoft.com/office/drawing/2014/main" id="{4F4AF1CD-710F-4C7B-B7AA-0799FF8D502B}"/>
              </a:ext>
            </a:extLst>
          </p:cNvPr>
          <p:cNvSpPr>
            <a:spLocks xmlns:a="http://schemas.openxmlformats.org/drawingml/2006/main" noGrp="1"/>
          </p:cNvSpPr>
          <p:nvPr/>
        </p:nvSpPr>
        <p:spPr>
          <a:xfrm xmlns:a="http://schemas.openxmlformats.org/drawingml/2006/main">
            <a:off x="7543800" y="4914900"/>
            <a:ext cx="147637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Controlled result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decryption</a:t>
            </a:r>
          </a:p>
        </p:txBody>
      </p:sp>
      <p:sp>
        <p:nvSpPr>
          <p:cNvPr id="285" name="l7-output">
            <a:extLst xmlns:a="http://schemas.openxmlformats.org/drawingml/2006/main">
              <a:ext uri="{FF2B5EF4-FFF2-40B4-BE49-F238E27FC236}">
                <a16:creationId xmlns:a16="http://schemas.microsoft.com/office/drawing/2014/main" id="{754DEA59-7302-40AB-B1C4-EE419E527356}"/>
              </a:ext>
            </a:extLst>
          </p:cNvPr>
          <p:cNvSpPr>
            <a:spLocks xmlns:a="http://schemas.openxmlformats.org/drawingml/2006/main" noGrp="1"/>
          </p:cNvSpPr>
          <p:nvPr/>
        </p:nvSpPr>
        <p:spPr>
          <a:xfrm xmlns:a="http://schemas.openxmlformats.org/drawingml/2006/main">
            <a:off x="9277350" y="4914900"/>
            <a:ext cx="1762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Minimized, rate-limited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audited output</a:t>
            </a:r>
          </a:p>
        </p:txBody>
      </p:sp>
      <p:cxnSp>
        <p:nvCxnSpPr>
          <p:cNvPr id="786" name="Straight Arrow Connector 572"/>
          <p:cNvCxnSpPr>
            <a:stCxn xmlns:a="http://schemas.openxmlformats.org/drawingml/2006/main" id="281" idx="3"/>
            <a:endCxn xmlns:a="http://schemas.openxmlformats.org/drawingml/2006/main" id="282" idx="1"/>
          </p:cNvCxnSpPr>
          <p:nvPr/>
        </p:nvCxnSpPr>
        <p:spPr>
          <a:xfrm xmlns:a="http://schemas.openxmlformats.org/drawingml/2006/main">
            <a:off x="37242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87" name="Straight Arrow Connector 573"/>
          <p:cNvCxnSpPr>
            <a:stCxn xmlns:a="http://schemas.openxmlformats.org/drawingml/2006/main" id="282" idx="3"/>
            <a:endCxn xmlns:a="http://schemas.openxmlformats.org/drawingml/2006/main" id="283" idx="1"/>
          </p:cNvCxnSpPr>
          <p:nvPr/>
        </p:nvCxnSpPr>
        <p:spPr>
          <a:xfrm xmlns:a="http://schemas.openxmlformats.org/drawingml/2006/main">
            <a:off x="5410200"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88" name="Straight Arrow Connector 574"/>
          <p:cNvCxnSpPr>
            <a:stCxn xmlns:a="http://schemas.openxmlformats.org/drawingml/2006/main" id="283" idx="3"/>
            <a:endCxn xmlns:a="http://schemas.openxmlformats.org/drawingml/2006/main" id="284" idx="1"/>
          </p:cNvCxnSpPr>
          <p:nvPr/>
        </p:nvCxnSpPr>
        <p:spPr>
          <a:xfrm xmlns:a="http://schemas.openxmlformats.org/drawingml/2006/main">
            <a:off x="728662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89" name="Straight Arrow Connector 575"/>
          <p:cNvCxnSpPr>
            <a:stCxn xmlns:a="http://schemas.openxmlformats.org/drawingml/2006/main" id="284" idx="3"/>
            <a:endCxn xmlns:a="http://schemas.openxmlformats.org/drawingml/2006/main" id="285" idx="1"/>
          </p:cNvCxnSpPr>
          <p:nvPr/>
        </p:nvCxnSpPr>
        <p:spPr>
          <a:xfrm xmlns:a="http://schemas.openxmlformats.org/drawingml/2006/main">
            <a:off x="90201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90" name="Connector: Elbow 576"/>
          <p:cNvCxnSpPr>
            <a:stCxn xmlns:a="http://schemas.openxmlformats.org/drawingml/2006/main" id="255" idx="2"/>
            <a:endCxn xmlns:a="http://schemas.openxmlformats.org/drawingml/2006/main" id="259" idx="0"/>
          </p:cNvCxnSpPr>
          <p:nvPr/>
        </p:nvCxnSpPr>
        <p:spPr>
          <a:xfrm xmlns:a="http://schemas.openxmlformats.org/drawingml/2006/main" flipH="1">
            <a:off x="3033713" y="2038350"/>
            <a:ext cx="6991350" cy="68580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791" name="Connector: Elbow 577"/>
          <p:cNvCxnSpPr>
            <a:stCxn xmlns:a="http://schemas.openxmlformats.org/drawingml/2006/main" id="268" idx="2"/>
            <a:endCxn xmlns:a="http://schemas.openxmlformats.org/drawingml/2006/main" id="274" idx="0"/>
          </p:cNvCxnSpPr>
          <p:nvPr/>
        </p:nvCxnSpPr>
        <p:spPr>
          <a:xfrm xmlns:a="http://schemas.openxmlformats.org/drawingml/2006/main" flipH="1">
            <a:off x="3471863" y="2847975"/>
            <a:ext cx="7362825" cy="1095375"/>
          </a:xfrm>
          <a:prstGeom xmlns:a="http://schemas.openxmlformats.org/drawingml/2006/main" prst="bentConnector4">
            <a:avLst>
              <a:gd name="adj1" fmla="val 0"/>
              <a:gd name="adj2" fmla="val 50000"/>
            </a:avLst>
          </a:prstGeom>
          <a:ln xmlns:a="http://schemas.openxmlformats.org/drawingml/2006/main" w="16193">
            <a:solidFill>
              <a:srgbClr val="2E7D4F"/>
            </a:solidFill>
            <a:prstDash val="solid"/>
            <a:headEnd type="none" w="med" len="med"/>
            <a:tailEnd type="triangle" w="sm" len="sm"/>
          </a:ln>
        </p:spPr>
      </p:cxnSp>
      <p:cxnSp>
        <p:nvCxnSpPr>
          <p:cNvPr id="792" name="Connector: Elbow 578"/>
          <p:cNvCxnSpPr>
            <a:stCxn xmlns:a="http://schemas.openxmlformats.org/drawingml/2006/main" id="277" idx="2"/>
            <a:endCxn xmlns:a="http://schemas.openxmlformats.org/drawingml/2006/main" id="281" idx="0"/>
          </p:cNvCxnSpPr>
          <p:nvPr/>
        </p:nvCxnSpPr>
        <p:spPr>
          <a:xfrm xmlns:a="http://schemas.openxmlformats.org/drawingml/2006/main" flipH="1">
            <a:off x="3033713" y="4438650"/>
            <a:ext cx="6772275" cy="476250"/>
          </a:xfrm>
          <a:prstGeom xmlns:a="http://schemas.openxmlformats.org/drawingml/2006/main" prst="bentConnector4">
            <a:avLst>
              <a:gd name="adj1" fmla="val 0"/>
              <a:gd name="adj2" fmla="val 50000"/>
            </a:avLst>
          </a:prstGeom>
          <a:ln xmlns:a="http://schemas.openxmlformats.org/drawingml/2006/main" w="16193">
            <a:solidFill>
              <a:srgbClr val="287D78"/>
            </a:solidFill>
            <a:prstDash val="dash"/>
            <a:headEnd type="none" w="med" len="med"/>
            <a:tailEnd type="triangle" w="sm" len="sm"/>
          </a:ln>
        </p:spPr>
      </p:cxnSp>
      <p:sp>
        <p:nvSpPr>
          <p:cNvPr id="293" name="release-boundary-note">
            <a:extLst xmlns:a="http://schemas.openxmlformats.org/drawingml/2006/main">
              <a:ext uri="{FF2B5EF4-FFF2-40B4-BE49-F238E27FC236}">
                <a16:creationId xmlns:a16="http://schemas.microsoft.com/office/drawing/2014/main" id="{7E225858-8FF8-4DC9-944C-EB0B9F859513}"/>
              </a:ext>
            </a:extLst>
          </p:cNvPr>
          <p:cNvSpPr>
            <a:spLocks xmlns:a="http://schemas.openxmlformats.org/drawingml/2006/main" noGrp="1"/>
          </p:cNvSpPr>
          <p:nvPr/>
        </p:nvSpPr>
        <p:spPr>
          <a:xfrm xmlns:a="http://schemas.openxmlformats.org/drawingml/2006/main">
            <a:off x="2190750" y="56959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03"/>
          </a:bodyPr>
          <a:lstStyle xmlns:a="http://schemas.openxmlformats.org/drawingml/2006/main"/>
          <a:p xmlns:a="http://schemas.openxmlformats.org/drawingml/2006/main">
            <a:pPr algn="ctr">
              <a:buNone/>
              <a:defRPr sz="1200" i="1">
                <a:solidFill>
                  <a:srgbClr val="52606D"/>
                </a:solidFill>
                <a:latin typeface="Arial"/>
                <a:ea typeface="Arial"/>
                <a:cs typeface="Arial"/>
              </a:defRPr>
            </a:pPr>
            <a:r>
              <a:rPr sz="1200" i="1">
                <a:solidFill>
                  <a:srgbClr val="52606D"/>
                </a:solidFill>
                <a:latin typeface="Arial"/>
                <a:ea typeface="Arial"/>
                <a:cs typeface="Arial"/>
              </a:rPr>
              <a:t>Only the validated aggregate can become the global model. The audit ledger stores evidence, not model ciphertexts.</a:t>
            </a:r>
          </a:p>
        </p:txBody>
      </p:sp>
    </p:spTree>
    <p:extLst>
      <p:ext uri="{BB962C8B-B14F-4D97-AF65-F5344CB8AC3E}">
        <p14:creationId xmlns:p14="http://schemas.microsoft.com/office/powerpoint/2010/main" val="22446828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61107da653f488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9e6836eeb80415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oblem-formulation-explanation-cover">
            <a:extLst xmlns:a="http://schemas.openxmlformats.org/drawingml/2006/main">
              <a:ext uri="{FF2B5EF4-FFF2-40B4-BE49-F238E27FC236}">
                <a16:creationId xmlns:a16="http://schemas.microsoft.com/office/drawing/2014/main" id="{84699A72-0121-48F9-83F4-99E981AB73AF}"/>
              </a:ext>
            </a:extLst>
          </p:cNvPr>
          <p:cNvSpPr>
            <a:spLocks xmlns:a="http://schemas.openxmlformats.org/drawingml/2006/main" noGrp="1"/>
          </p:cNvSpPr>
          <p:nvPr/>
        </p:nvSpPr>
        <p:spPr>
          <a:xfrm xmlns:a="http://schemas.openxmlformats.org/drawingml/2006/main">
            <a:off x="400050" y="1200150"/>
            <a:ext cx="1139190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learning-objective-title">
            <a:extLst xmlns:a="http://schemas.openxmlformats.org/drawingml/2006/main">
              <a:ext uri="{FF2B5EF4-FFF2-40B4-BE49-F238E27FC236}">
                <a16:creationId xmlns:a16="http://schemas.microsoft.com/office/drawing/2014/main" id="{79B670E3-A9CD-4346-BE6C-9728D4174518}"/>
              </a:ext>
            </a:extLst>
          </p:cNvPr>
          <p:cNvSpPr>
            <a:spLocks xmlns:a="http://schemas.openxmlformats.org/drawingml/2006/main" noGrp="1"/>
          </p:cNvSpPr>
          <p:nvPr/>
        </p:nvSpPr>
        <p:spPr>
          <a:xfrm xmlns:a="http://schemas.openxmlformats.org/drawingml/2006/main">
            <a:off x="904875"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Learning objective</a:t>
            </a:r>
          </a:p>
        </p:txBody>
      </p:sp>
      <p:sp>
        <p:nvSpPr>
          <p:cNvPr id="239" name="learning-objective-rule">
            <a:extLst xmlns:a="http://schemas.openxmlformats.org/drawingml/2006/main">
              <a:ext uri="{FF2B5EF4-FFF2-40B4-BE49-F238E27FC236}">
                <a16:creationId xmlns:a16="http://schemas.microsoft.com/office/drawing/2014/main" id="{ACABD4A9-60F2-4789-9336-ACDD7ECA7737}"/>
              </a:ext>
            </a:extLst>
          </p:cNvPr>
          <p:cNvSpPr>
            <a:spLocks xmlns:a="http://schemas.openxmlformats.org/drawingml/2006/main" noGrp="1"/>
          </p:cNvSpPr>
          <p:nvPr/>
        </p:nvSpPr>
        <p:spPr>
          <a:xfrm xmlns:a="http://schemas.openxmlformats.org/drawingml/2006/main">
            <a:off x="904875" y="1762125"/>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0" name="learning-objective-equation">
            <a:extLst xmlns:a="http://schemas.openxmlformats.org/drawingml/2006/main">
              <a:ext uri="{FF2B5EF4-FFF2-40B4-BE49-F238E27FC236}">
                <a16:creationId xmlns:a16="http://schemas.microsoft.com/office/drawing/2014/main" id="{0C168608-0CA2-4D92-9DF3-4BCF50253E90}"/>
              </a:ext>
            </a:extLst>
          </p:cNvPr>
          <p:cNvSpPr>
            <a:spLocks xmlns:a="http://schemas.openxmlformats.org/drawingml/2006/main" noGrp="1"/>
          </p:cNvSpPr>
          <p:nvPr/>
        </p:nvSpPr>
        <p:spPr>
          <a:xfrm xmlns:a="http://schemas.openxmlformats.org/drawingml/2006/main">
            <a:off x="981075"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F(w) = Σₖ (nₖ/N)Fₖ(w)</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Fₖ(w) = (1/nₖ)Σᵢ ℓ(w; xᵢ, yᵢ)</a:t>
            </a:r>
          </a:p>
        </p:txBody>
      </p:sp>
      <p:sp>
        <p:nvSpPr>
          <p:cNvPr id="241" name="learning-objective-explanation">
            <a:extLst xmlns:a="http://schemas.openxmlformats.org/drawingml/2006/main">
              <a:ext uri="{FF2B5EF4-FFF2-40B4-BE49-F238E27FC236}">
                <a16:creationId xmlns:a16="http://schemas.microsoft.com/office/drawing/2014/main" id="{11211DA1-BE96-4A97-96F5-8CA3C652111F}"/>
              </a:ext>
            </a:extLst>
          </p:cNvPr>
          <p:cNvSpPr>
            <a:spLocks xmlns:a="http://schemas.openxmlformats.org/drawingml/2006/main" noGrp="1"/>
          </p:cNvSpPr>
          <p:nvPr/>
        </p:nvSpPr>
        <p:spPr>
          <a:xfrm xmlns:a="http://schemas.openxmlformats.org/drawingml/2006/main">
            <a:off x="981075"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Fₖ(w) is the empirical loss at hospital k. The ratio nₖ/N weights each hospital by its share of the combined training records.</a:t>
            </a:r>
          </a:p>
        </p:txBody>
      </p:sp>
      <p:sp>
        <p:nvSpPr>
          <p:cNvPr id="242" name="learning-objective-takeaway">
            <a:extLst xmlns:a="http://schemas.openxmlformats.org/drawingml/2006/main">
              <a:ext uri="{FF2B5EF4-FFF2-40B4-BE49-F238E27FC236}">
                <a16:creationId xmlns:a16="http://schemas.microsoft.com/office/drawing/2014/main" id="{EFB9FA41-E2DE-49D2-98AA-61CEF65BF54C}"/>
              </a:ext>
            </a:extLst>
          </p:cNvPr>
          <p:cNvSpPr>
            <a:spLocks xmlns:a="http://schemas.openxmlformats.org/drawingml/2006/main" noGrp="1"/>
          </p:cNvSpPr>
          <p:nvPr/>
        </p:nvSpPr>
        <p:spPr>
          <a:xfrm xmlns:a="http://schemas.openxmlformats.org/drawingml/2006/main">
            <a:off x="981075"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Goal: minimize weighted global loss while records remain local.</a:t>
            </a:r>
          </a:p>
        </p:txBody>
      </p:sp>
      <p:sp>
        <p:nvSpPr>
          <p:cNvPr id="243" name="protected-update-title">
            <a:extLst xmlns:a="http://schemas.openxmlformats.org/drawingml/2006/main">
              <a:ext uri="{FF2B5EF4-FFF2-40B4-BE49-F238E27FC236}">
                <a16:creationId xmlns:a16="http://schemas.microsoft.com/office/drawing/2014/main" id="{22CA2067-CE68-47A3-A909-EE970DC70D3F}"/>
              </a:ext>
            </a:extLst>
          </p:cNvPr>
          <p:cNvSpPr>
            <a:spLocks xmlns:a="http://schemas.openxmlformats.org/drawingml/2006/main" noGrp="1"/>
          </p:cNvSpPr>
          <p:nvPr/>
        </p:nvSpPr>
        <p:spPr>
          <a:xfrm xmlns:a="http://schemas.openxmlformats.org/drawingml/2006/main">
            <a:off x="6477000"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A9D6"/>
                </a:solidFill>
                <a:latin typeface="Arial"/>
                <a:ea typeface="Arial"/>
                <a:cs typeface="Arial"/>
              </a:defRPr>
            </a:pPr>
            <a:r>
              <a:rPr sz="2025" b="1">
                <a:solidFill>
                  <a:srgbClr val="00A9D6"/>
                </a:solidFill>
                <a:latin typeface="Arial"/>
                <a:ea typeface="Arial"/>
                <a:cs typeface="Arial"/>
              </a:rPr>
              <a:t>Protected local update</a:t>
            </a:r>
          </a:p>
        </p:txBody>
      </p:sp>
      <p:sp>
        <p:nvSpPr>
          <p:cNvPr id="244" name="protected-update-rule">
            <a:extLst xmlns:a="http://schemas.openxmlformats.org/drawingml/2006/main">
              <a:ext uri="{FF2B5EF4-FFF2-40B4-BE49-F238E27FC236}">
                <a16:creationId xmlns:a16="http://schemas.microsoft.com/office/drawing/2014/main" id="{5D9C9DC8-9CFF-42C5-A880-6946FCE14179}"/>
              </a:ext>
            </a:extLst>
          </p:cNvPr>
          <p:cNvSpPr>
            <a:spLocks xmlns:a="http://schemas.openxmlformats.org/drawingml/2006/main" noGrp="1"/>
          </p:cNvSpPr>
          <p:nvPr/>
        </p:nvSpPr>
        <p:spPr>
          <a:xfrm xmlns:a="http://schemas.openxmlformats.org/drawingml/2006/main">
            <a:off x="6477000" y="1762125"/>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45" name="protected-update-equation">
            <a:extLst xmlns:a="http://schemas.openxmlformats.org/drawingml/2006/main">
              <a:ext uri="{FF2B5EF4-FFF2-40B4-BE49-F238E27FC236}">
                <a16:creationId xmlns:a16="http://schemas.microsoft.com/office/drawing/2014/main" id="{C0589AB0-3A98-449D-8E96-D13B6CC80664}"/>
              </a:ext>
            </a:extLst>
          </p:cNvPr>
          <p:cNvSpPr>
            <a:spLocks xmlns:a="http://schemas.openxmlformats.org/drawingml/2006/main" noGrp="1"/>
          </p:cNvSpPr>
          <p:nvPr/>
        </p:nvSpPr>
        <p:spPr>
          <a:xfrm xmlns:a="http://schemas.openxmlformats.org/drawingml/2006/main">
            <a:off x="6553200"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ḡₖᵗ = gₖᵗ / max(1, ‖gₖᵗ‖₂/C)</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uₖᵗ = Qₛₜ(ḡₖᵗ + zₖᵗ + eₖᵗ)</a:t>
            </a:r>
          </a:p>
        </p:txBody>
      </p:sp>
      <p:sp>
        <p:nvSpPr>
          <p:cNvPr id="246" name="protected-update-explanation">
            <a:extLst xmlns:a="http://schemas.openxmlformats.org/drawingml/2006/main">
              <a:ext uri="{FF2B5EF4-FFF2-40B4-BE49-F238E27FC236}">
                <a16:creationId xmlns:a16="http://schemas.microsoft.com/office/drawing/2014/main" id="{C2870143-9667-4B0D-A93B-FA30BCC80606}"/>
              </a:ext>
            </a:extLst>
          </p:cNvPr>
          <p:cNvSpPr>
            <a:spLocks xmlns:a="http://schemas.openxmlformats.org/drawingml/2006/main" noGrp="1"/>
          </p:cNvSpPr>
          <p:nvPr/>
        </p:nvSpPr>
        <p:spPr>
          <a:xfrm xmlns:a="http://schemas.openxmlformats.org/drawingml/2006/main">
            <a:off x="6553200"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50"/>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C bounds each gradient. zₖᵗ adds Gaussian DP noise, eₖᵗ carries the compression residual, and Qₛₜ applies the CAABC-FL block compressor.</a:t>
            </a:r>
          </a:p>
        </p:txBody>
      </p:sp>
      <p:sp>
        <p:nvSpPr>
          <p:cNvPr id="247" name="protected-update-takeaway">
            <a:extLst xmlns:a="http://schemas.openxmlformats.org/drawingml/2006/main">
              <a:ext uri="{FF2B5EF4-FFF2-40B4-BE49-F238E27FC236}">
                <a16:creationId xmlns:a16="http://schemas.microsoft.com/office/drawing/2014/main" id="{CA0E8D0A-92C2-44FC-A191-959156B1795D}"/>
              </a:ext>
            </a:extLst>
          </p:cNvPr>
          <p:cNvSpPr>
            <a:spLocks xmlns:a="http://schemas.openxmlformats.org/drawingml/2006/main" noGrp="1"/>
          </p:cNvSpPr>
          <p:nvPr/>
        </p:nvSpPr>
        <p:spPr>
          <a:xfrm xmlns:a="http://schemas.openxmlformats.org/drawingml/2006/main">
            <a:off x="6553200"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A9D6"/>
                </a:solidFill>
                <a:latin typeface="Arial"/>
                <a:ea typeface="Arial"/>
                <a:cs typeface="Arial"/>
              </a:defRPr>
            </a:pPr>
            <a:r>
              <a:rPr sz="1125" b="1">
                <a:solidFill>
                  <a:srgbClr val="00A9D6"/>
                </a:solidFill>
                <a:latin typeface="Arial"/>
                <a:ea typeface="Arial"/>
                <a:cs typeface="Arial"/>
              </a:rPr>
              <a:t>Result: a bounded, private and compression-aware client update.</a:t>
            </a:r>
          </a:p>
        </p:txBody>
      </p:sp>
      <p:sp>
        <p:nvSpPr>
          <p:cNvPr id="248" name="encrypted-aggregation-title">
            <a:extLst xmlns:a="http://schemas.openxmlformats.org/drawingml/2006/main">
              <a:ext uri="{FF2B5EF4-FFF2-40B4-BE49-F238E27FC236}">
                <a16:creationId xmlns:a16="http://schemas.microsoft.com/office/drawing/2014/main" id="{4F565ACE-3B3B-4646-A107-E1AF767DE8FF}"/>
              </a:ext>
            </a:extLst>
          </p:cNvPr>
          <p:cNvSpPr>
            <a:spLocks xmlns:a="http://schemas.openxmlformats.org/drawingml/2006/main" noGrp="1"/>
          </p:cNvSpPr>
          <p:nvPr/>
        </p:nvSpPr>
        <p:spPr>
          <a:xfrm xmlns:a="http://schemas.openxmlformats.org/drawingml/2006/main">
            <a:off x="904875"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Encrypted aggregation</a:t>
            </a:r>
          </a:p>
        </p:txBody>
      </p:sp>
      <p:sp>
        <p:nvSpPr>
          <p:cNvPr id="249" name="encrypted-aggregation-rule">
            <a:extLst xmlns:a="http://schemas.openxmlformats.org/drawingml/2006/main">
              <a:ext uri="{FF2B5EF4-FFF2-40B4-BE49-F238E27FC236}">
                <a16:creationId xmlns:a16="http://schemas.microsoft.com/office/drawing/2014/main" id="{D4E628CF-50B1-4E64-9A20-1090396E404A}"/>
              </a:ext>
            </a:extLst>
          </p:cNvPr>
          <p:cNvSpPr>
            <a:spLocks xmlns:a="http://schemas.openxmlformats.org/drawingml/2006/main" noGrp="1"/>
          </p:cNvSpPr>
          <p:nvPr/>
        </p:nvSpPr>
        <p:spPr>
          <a:xfrm xmlns:a="http://schemas.openxmlformats.org/drawingml/2006/main">
            <a:off x="904875" y="3924300"/>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50" name="encrypted-aggregation-equation">
            <a:extLst xmlns:a="http://schemas.openxmlformats.org/drawingml/2006/main">
              <a:ext uri="{FF2B5EF4-FFF2-40B4-BE49-F238E27FC236}">
                <a16:creationId xmlns:a16="http://schemas.microsoft.com/office/drawing/2014/main" id="{4CCFADB6-34C0-4E2D-96BA-F1A38B975721}"/>
              </a:ext>
            </a:extLst>
          </p:cNvPr>
          <p:cNvSpPr>
            <a:spLocks xmlns:a="http://schemas.openxmlformats.org/drawingml/2006/main" noGrp="1"/>
          </p:cNvSpPr>
          <p:nvPr/>
        </p:nvSpPr>
        <p:spPr>
          <a:xfrm xmlns:a="http://schemas.openxmlformats.org/drawingml/2006/main">
            <a:off x="981075" y="404812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cₜ = ⊕ₖ∈Aₜ Encₚₖ(uₖᵗ)</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wₜ₊₁ = wₜ − ηₜ Dec(cₜ)/|Aₜ|</a:t>
            </a:r>
          </a:p>
        </p:txBody>
      </p:sp>
      <p:sp>
        <p:nvSpPr>
          <p:cNvPr id="251" name="encrypted-aggregation-explanation">
            <a:extLst xmlns:a="http://schemas.openxmlformats.org/drawingml/2006/main">
              <a:ext uri="{FF2B5EF4-FFF2-40B4-BE49-F238E27FC236}">
                <a16:creationId xmlns:a16="http://schemas.microsoft.com/office/drawing/2014/main" id="{EE3EAF5F-FFB7-485D-A8DD-73C42CCDEE96}"/>
              </a:ext>
            </a:extLst>
          </p:cNvPr>
          <p:cNvSpPr>
            <a:spLocks xmlns:a="http://schemas.openxmlformats.org/drawingml/2006/main" noGrp="1"/>
          </p:cNvSpPr>
          <p:nvPr/>
        </p:nvSpPr>
        <p:spPr>
          <a:xfrm xmlns:a="http://schemas.openxmlformats.org/drawingml/2006/main">
            <a:off x="981075" y="4686300"/>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57"/>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Aₜ contains admitted clients. CKKS sums encrypted uₖᵗ values without exposing them. Custodians decrypt cₜ, the aggregate, rather than individual updates.</a:t>
            </a:r>
          </a:p>
        </p:txBody>
      </p:sp>
      <p:sp>
        <p:nvSpPr>
          <p:cNvPr id="252" name="encrypted-aggregation-takeaway">
            <a:extLst xmlns:a="http://schemas.openxmlformats.org/drawingml/2006/main">
              <a:ext uri="{FF2B5EF4-FFF2-40B4-BE49-F238E27FC236}">
                <a16:creationId xmlns:a16="http://schemas.microsoft.com/office/drawing/2014/main" id="{B1906C49-A301-4C72-8F3B-C2DF5C38CD68}"/>
              </a:ext>
            </a:extLst>
          </p:cNvPr>
          <p:cNvSpPr>
            <a:spLocks xmlns:a="http://schemas.openxmlformats.org/drawingml/2006/main" noGrp="1"/>
          </p:cNvSpPr>
          <p:nvPr/>
        </p:nvSpPr>
        <p:spPr>
          <a:xfrm xmlns:a="http://schemas.openxmlformats.org/drawingml/2006/main">
            <a:off x="981075" y="5229225"/>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63"/>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ηₜ controls the update step and |Aₜ| produces the mean aggregate.</a:t>
            </a:r>
          </a:p>
        </p:txBody>
      </p:sp>
      <p:sp>
        <p:nvSpPr>
          <p:cNvPr id="253" name="constraints-title">
            <a:extLst xmlns:a="http://schemas.openxmlformats.org/drawingml/2006/main">
              <a:ext uri="{FF2B5EF4-FFF2-40B4-BE49-F238E27FC236}">
                <a16:creationId xmlns:a16="http://schemas.microsoft.com/office/drawing/2014/main" id="{53DD9FDF-3741-493D-AB81-B019B35C7F35}"/>
              </a:ext>
            </a:extLst>
          </p:cNvPr>
          <p:cNvSpPr>
            <a:spLocks xmlns:a="http://schemas.openxmlformats.org/drawingml/2006/main" noGrp="1"/>
          </p:cNvSpPr>
          <p:nvPr/>
        </p:nvSpPr>
        <p:spPr>
          <a:xfrm xmlns:a="http://schemas.openxmlformats.org/drawingml/2006/main">
            <a:off x="6477000"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1E3A5F"/>
                </a:solidFill>
                <a:latin typeface="Arial"/>
                <a:ea typeface="Arial"/>
                <a:cs typeface="Arial"/>
              </a:defRPr>
            </a:pPr>
            <a:r>
              <a:rPr sz="2025" b="1">
                <a:solidFill>
                  <a:srgbClr val="1E3A5F"/>
                </a:solidFill>
                <a:latin typeface="Arial"/>
                <a:ea typeface="Arial"/>
                <a:cs typeface="Arial"/>
              </a:rPr>
              <a:t>Design constraints</a:t>
            </a:r>
          </a:p>
        </p:txBody>
      </p:sp>
      <p:sp>
        <p:nvSpPr>
          <p:cNvPr id="254" name="constraints-rule">
            <a:extLst xmlns:a="http://schemas.openxmlformats.org/drawingml/2006/main">
              <a:ext uri="{FF2B5EF4-FFF2-40B4-BE49-F238E27FC236}">
                <a16:creationId xmlns:a16="http://schemas.microsoft.com/office/drawing/2014/main" id="{ACDF0887-D9F8-4DAB-8E94-80F0BF5E7D67}"/>
              </a:ext>
            </a:extLst>
          </p:cNvPr>
          <p:cNvSpPr>
            <a:spLocks xmlns:a="http://schemas.openxmlformats.org/drawingml/2006/main" noGrp="1"/>
          </p:cNvSpPr>
          <p:nvPr/>
        </p:nvSpPr>
        <p:spPr>
          <a:xfrm xmlns:a="http://schemas.openxmlformats.org/drawingml/2006/main">
            <a:off x="6477000" y="3924300"/>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55" name="constraints-objective">
            <a:extLst xmlns:a="http://schemas.openxmlformats.org/drawingml/2006/main">
              <a:ext uri="{FF2B5EF4-FFF2-40B4-BE49-F238E27FC236}">
                <a16:creationId xmlns:a16="http://schemas.microsoft.com/office/drawing/2014/main" id="{4E551B32-E413-4E20-A51F-2E73B6BAECD9}"/>
              </a:ext>
            </a:extLst>
          </p:cNvPr>
          <p:cNvSpPr>
            <a:spLocks xmlns:a="http://schemas.openxmlformats.org/drawingml/2006/main" noGrp="1"/>
          </p:cNvSpPr>
          <p:nvPr/>
        </p:nvSpPr>
        <p:spPr>
          <a:xfrm xmlns:a="http://schemas.openxmlformats.org/drawingml/2006/main">
            <a:off x="6553200" y="4067175"/>
            <a:ext cx="461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225"/>
          </a:bodyPr>
          <a:lstStyle xmlns:a="http://schemas.openxmlformats.org/drawingml/2006/main"/>
          <a:p xmlns:a="http://schemas.openxmlformats.org/drawingml/2006/main">
            <a:pPr>
              <a:buNone/>
              <a:defRPr sz="1350" b="1">
                <a:solidFill>
                  <a:srgbClr val="1F2937"/>
                </a:solidFill>
                <a:latin typeface="Arial"/>
                <a:ea typeface="Arial"/>
                <a:cs typeface="Arial"/>
              </a:defRPr>
            </a:pPr>
            <a:r>
              <a:rPr sz="1350" b="1">
                <a:solidFill>
                  <a:srgbClr val="1F2937"/>
                </a:solidFill>
                <a:latin typeface="Arial"/>
                <a:ea typeface="Arial"/>
                <a:cs typeface="Arial"/>
              </a:rPr>
              <a:t>Minimize prediction loss and serialized upload subject to:</a:t>
            </a:r>
          </a:p>
        </p:txBody>
      </p:sp>
      <p:sp>
        <p:nvSpPr>
          <p:cNvPr id="256" name="constraints-list-left">
            <a:extLst xmlns:a="http://schemas.openxmlformats.org/drawingml/2006/main">
              <a:ext uri="{FF2B5EF4-FFF2-40B4-BE49-F238E27FC236}">
                <a16:creationId xmlns:a16="http://schemas.microsoft.com/office/drawing/2014/main" id="{9135BCB5-8D25-4202-887F-791C987F9F76}"/>
              </a:ext>
            </a:extLst>
          </p:cNvPr>
          <p:cNvSpPr>
            <a:spLocks xmlns:a="http://schemas.openxmlformats.org/drawingml/2006/main" noGrp="1"/>
          </p:cNvSpPr>
          <p:nvPr/>
        </p:nvSpPr>
        <p:spPr>
          <a:xfrm xmlns:a="http://schemas.openxmlformats.org/drawingml/2006/main">
            <a:off x="6553200" y="44386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Privacy</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Integrity</a:t>
            </a:r>
          </a:p>
        </p:txBody>
      </p:sp>
      <p:sp>
        <p:nvSpPr>
          <p:cNvPr id="257" name="constraints-values-left">
            <a:extLst xmlns:a="http://schemas.openxmlformats.org/drawingml/2006/main">
              <a:ext uri="{FF2B5EF4-FFF2-40B4-BE49-F238E27FC236}">
                <a16:creationId xmlns:a16="http://schemas.microsoft.com/office/drawing/2014/main" id="{88B4E04D-EB19-4B6C-96E9-37BF912A6A83}"/>
              </a:ext>
            </a:extLst>
          </p:cNvPr>
          <p:cNvSpPr>
            <a:spLocks xmlns:a="http://schemas.openxmlformats.org/drawingml/2006/main" noGrp="1"/>
          </p:cNvSpPr>
          <p:nvPr/>
        </p:nvSpPr>
        <p:spPr>
          <a:xfrm xmlns:a="http://schemas.openxmlformats.org/drawingml/2006/main">
            <a:off x="7620000" y="4438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Record-level differential privacy</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Independently checked aggregate</a:t>
            </a:r>
          </a:p>
        </p:txBody>
      </p:sp>
      <p:sp>
        <p:nvSpPr>
          <p:cNvPr id="258" name="constraints-list-right">
            <a:extLst xmlns:a="http://schemas.openxmlformats.org/drawingml/2006/main">
              <a:ext uri="{FF2B5EF4-FFF2-40B4-BE49-F238E27FC236}">
                <a16:creationId xmlns:a16="http://schemas.microsoft.com/office/drawing/2014/main" id="{6BB50B8B-1E53-42B5-9842-96AB03D06685}"/>
              </a:ext>
            </a:extLst>
          </p:cNvPr>
          <p:cNvSpPr>
            <a:spLocks xmlns:a="http://schemas.openxmlformats.org/drawingml/2006/main" noGrp="1"/>
          </p:cNvSpPr>
          <p:nvPr/>
        </p:nvSpPr>
        <p:spPr>
          <a:xfrm xmlns:a="http://schemas.openxmlformats.org/drawingml/2006/main">
            <a:off x="6553200" y="50101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Release</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Audit</a:t>
            </a:r>
          </a:p>
        </p:txBody>
      </p:sp>
      <p:sp>
        <p:nvSpPr>
          <p:cNvPr id="259" name="constraints-values-right">
            <a:extLst xmlns:a="http://schemas.openxmlformats.org/drawingml/2006/main">
              <a:ext uri="{FF2B5EF4-FFF2-40B4-BE49-F238E27FC236}">
                <a16:creationId xmlns:a16="http://schemas.microsoft.com/office/drawing/2014/main" id="{752038E5-E065-462B-B6EA-84737D2DDB45}"/>
              </a:ext>
            </a:extLst>
          </p:cNvPr>
          <p:cNvSpPr>
            <a:spLocks xmlns:a="http://schemas.openxmlformats.org/drawingml/2006/main" noGrp="1"/>
          </p:cNvSpPr>
          <p:nvPr/>
        </p:nvSpPr>
        <p:spPr>
          <a:xfrm xmlns:a="http://schemas.openxmlformats.org/drawingml/2006/main">
            <a:off x="7620000" y="50101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Threshold authorization</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Permissioned execution evidence</a:t>
            </a:r>
          </a:p>
        </p:txBody>
      </p:sp>
      <p:sp>
        <p:nvSpPr>
          <p:cNvPr id="260" name="problem-formulation-column-divider">
            <a:extLst xmlns:a="http://schemas.openxmlformats.org/drawingml/2006/main">
              <a:ext uri="{FF2B5EF4-FFF2-40B4-BE49-F238E27FC236}">
                <a16:creationId xmlns:a16="http://schemas.microsoft.com/office/drawing/2014/main" id="{B1D8E0C4-C8D6-4FC8-B6B9-1B62E7237EF6}"/>
              </a:ext>
            </a:extLst>
          </p:cNvPr>
          <p:cNvSpPr>
            <a:spLocks xmlns:a="http://schemas.openxmlformats.org/drawingml/2006/main" noGrp="1"/>
          </p:cNvSpPr>
          <p:nvPr/>
        </p:nvSpPr>
        <p:spPr>
          <a:xfrm xmlns:a="http://schemas.openxmlformats.org/drawingml/2006/main">
            <a:off x="6076950" y="1409700"/>
            <a:ext cx="14288" cy="4171950"/>
          </a:xfrm>
          <a:prstGeom xmlns:a="http://schemas.openxmlformats.org/drawingml/2006/main" prst="rect">
            <a:avLst/>
          </a:prstGeom>
          <a:solidFill xmlns:a="http://schemas.openxmlformats.org/drawingml/2006/main">
            <a:srgbClr val="D7DEE7"/>
          </a:solidFill>
          <a:ln xmlns:a="http://schemas.openxmlformats.org/drawingml/2006/main" w="0">
            <a:noFill/>
          </a:ln>
        </p:spPr>
      </p:sp>
      <p:sp>
        <p:nvSpPr>
          <p:cNvPr id="261" name="problem-formulation-round-summary">
            <a:extLst xmlns:a="http://schemas.openxmlformats.org/drawingml/2006/main">
              <a:ext uri="{FF2B5EF4-FFF2-40B4-BE49-F238E27FC236}">
                <a16:creationId xmlns:a16="http://schemas.microsoft.com/office/drawing/2014/main" id="{5FC43600-EC93-4CAA-8525-F78230726572}"/>
              </a:ext>
            </a:extLst>
          </p:cNvPr>
          <p:cNvSpPr>
            <a:spLocks xmlns:a="http://schemas.openxmlformats.org/drawingml/2006/main" noGrp="1"/>
          </p:cNvSpPr>
          <p:nvPr/>
        </p:nvSpPr>
        <p:spPr>
          <a:xfrm xmlns:a="http://schemas.openxmlformats.org/drawingml/2006/main">
            <a:off x="2143125" y="57150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i="1">
                <a:solidFill>
                  <a:srgbClr val="1E3A5F"/>
                </a:solidFill>
                <a:latin typeface="Arial"/>
                <a:ea typeface="Arial"/>
                <a:cs typeface="Arial"/>
              </a:defRPr>
            </a:pPr>
            <a:r>
              <a:rPr sz="1200" i="1">
                <a:solidFill>
                  <a:srgbClr val="1E3A5F"/>
                </a:solidFill>
                <a:latin typeface="Arial"/>
                <a:ea typeface="Arial"/>
                <a:cs typeface="Arial"/>
              </a:rPr>
              <a:t>One training round constructs protected local updates, aggregates ciphertexts, and releases only a validated global model.</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d6e4c4219a0404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4442347bb5a43f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388d899200547e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f2b19bdfa83431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2336799"/>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3289299"/>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8a66d64113a4e7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127b506b40b458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5be38336be2458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b0aa9f8b85c449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8"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65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ed12fa2440e94b2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5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07009267934a4d4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5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7b1ed71bbab94a02">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66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3f2ff0182b924459">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66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0ac4546ece244f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a6e8643982e41e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lnSpcReduction="10000"/>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7dcc3c96d7e456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c840f3c46d74eb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9" name="Table 239"/>
          <p:cNvGraphicFramePr/>
          <p:nvPr/>
        </p:nvGraphicFramePr>
        <p:xfrm>
          <a:off xmlns:a="http://schemas.openxmlformats.org/drawingml/2006/main" x="428625" y="1571625"/>
          <a:ext xmlns:a="http://schemas.openxmlformats.org/drawingml/2006/main" cx="6191250" cy="3667128"/>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0"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b2e4d4e3d00c4399"/>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366833"/>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eacea759c08416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15bd382d9d74bc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9" name="Picture 239"/>
          <p:cNvPicPr>
            <a:picLocks xmlns:a="http://schemas.openxmlformats.org/drawingml/2006/main" noChangeAspect="1"/>
          </p:cNvPicPr>
          <p:nvPr/>
        </p:nvPicPr>
        <p:blipFill>
          <a:blip xmlns:r="http://schemas.openxmlformats.org/officeDocument/2006/relationships" xmlns:a="http://schemas.openxmlformats.org/drawingml/2006/main" r:embed="Rc6e5788c8cee4595"/>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0" name="Picture 240"/>
          <p:cNvPicPr>
            <a:picLocks xmlns:a="http://schemas.openxmlformats.org/drawingml/2006/main" noChangeAspect="1"/>
          </p:cNvPicPr>
          <p:nvPr/>
        </p:nvPicPr>
        <p:blipFill>
          <a:blip xmlns:r="http://schemas.openxmlformats.org/officeDocument/2006/relationships" xmlns:a="http://schemas.openxmlformats.org/drawingml/2006/main" r:embed="Ra5323c0a4b7a4ae3"/>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46" lnSpcReduction="10000"/>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a:t>
            </a:r>
            <a:r>
              <a:rPr sz="1538" b="1" i="0">
                <a:solidFill>
                  <a:srgbClr val="17365D"/>
                </a:solidFill>
                <a:latin typeface="Arial"/>
                <a:ea typeface="Arial"/>
                <a:cs typeface="Arial"/>
              </a:rPr>
              <a:t>OpenFHE</a:t>
            </a:r>
            <a:r>
              <a:rPr sz="1538" b="1" i="0">
                <a:solidFill>
                  <a:srgbClr val="17365D"/>
                </a:solidFill>
                <a:latin typeface="Arial"/>
                <a:ea typeface="Arial"/>
                <a:cs typeface="Arial"/>
              </a:rPr>
              <a:t>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pic>
        <p:nvPicPr>
          <p:cNvPr id="707"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da62b27f7725434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708"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d622d3f5a2b9434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709"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7227888b0a1d4a60">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711"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03cb4b8e69714cf9">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71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f198e0738344ca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dd4a50e8e5440d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833" lnSpcReduction="1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bf4d8355d29425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a483109bf024b2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630e6384a8847d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203f20fe4e0454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080" lnSpcReduction="1000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3e2fb214913488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e86c73f35d64bf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Conclusion</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6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06444e5cd474ca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de684c2268a462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9" name="final-conclusion-content-cover">
            <a:extLst xmlns:a="http://schemas.openxmlformats.org/drawingml/2006/main">
              <a:ext uri="{FF2B5EF4-FFF2-40B4-BE49-F238E27FC236}">
                <a16:creationId xmlns:a16="http://schemas.microsoft.com/office/drawing/2014/main" id="{50E68349-A6A5-4612-9F21-F3E7A4C4D983}"/>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0" name="final-conclusion-subtitle">
            <a:extLst xmlns:a="http://schemas.openxmlformats.org/drawingml/2006/main">
              <a:ext uri="{FF2B5EF4-FFF2-40B4-BE49-F238E27FC236}">
                <a16:creationId xmlns:a16="http://schemas.microsoft.com/office/drawing/2014/main" id="{2BC6AE6C-64EB-41C7-9D00-661205D21167}"/>
              </a:ext>
            </a:extLst>
          </p:cNvPr>
          <p:cNvSpPr>
            <a:spLocks xmlns:a="http://schemas.openxmlformats.org/drawingml/2006/main" noGrp="1"/>
          </p:cNvSpPr>
          <p:nvPr/>
        </p:nvSpPr>
        <p:spPr>
          <a:xfrm xmlns:a="http://schemas.openxmlformats.org/drawingml/2006/main">
            <a:off x="1428750" y="1219200"/>
            <a:ext cx="933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The study demonstrates an integrated and empirically evaluated approach to secure multi-institutional federated learning.</a:t>
            </a:r>
          </a:p>
        </p:txBody>
      </p:sp>
      <p:sp>
        <p:nvSpPr>
          <p:cNvPr id="241" name="conclusion-label-1">
            <a:extLst xmlns:a="http://schemas.openxmlformats.org/drawingml/2006/main">
              <a:ext uri="{FF2B5EF4-FFF2-40B4-BE49-F238E27FC236}">
                <a16:creationId xmlns:a16="http://schemas.microsoft.com/office/drawing/2014/main" id="{55301C9E-74C9-48F0-B8EB-051138288CE2}"/>
              </a:ext>
            </a:extLst>
          </p:cNvPr>
          <p:cNvSpPr>
            <a:spLocks xmlns:a="http://schemas.openxmlformats.org/drawingml/2006/main" noGrp="1"/>
          </p:cNvSpPr>
          <p:nvPr/>
        </p:nvSpPr>
        <p:spPr>
          <a:xfrm xmlns:a="http://schemas.openxmlformats.org/drawingml/2006/main">
            <a:off x="1000125" y="176212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Integrated framework</a:t>
            </a:r>
          </a:p>
        </p:txBody>
      </p:sp>
      <p:sp>
        <p:nvSpPr>
          <p:cNvPr id="242" name="conclusion-text-1">
            <a:extLst xmlns:a="http://schemas.openxmlformats.org/drawingml/2006/main">
              <a:ext uri="{FF2B5EF4-FFF2-40B4-BE49-F238E27FC236}">
                <a16:creationId xmlns:a16="http://schemas.microsoft.com/office/drawing/2014/main" id="{9203BA06-2C18-44F9-AF9A-8926F3C28993}"/>
              </a:ext>
            </a:extLst>
          </p:cNvPr>
          <p:cNvSpPr>
            <a:spLocks xmlns:a="http://schemas.openxmlformats.org/drawingml/2006/main" noGrp="1"/>
          </p:cNvSpPr>
          <p:nvPr/>
        </p:nvSpPr>
        <p:spPr>
          <a:xfrm xmlns:a="http://schemas.openxmlformats.org/drawingml/2006/main">
            <a:off x="3810000" y="176212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CAABC-FL combines record-level privacy, ciphertext-aligned compression, CKKS-protected aggregation, controlled model release and auditable governance in one workflow.</a:t>
            </a:r>
          </a:p>
        </p:txBody>
      </p:sp>
      <p:sp>
        <p:nvSpPr>
          <p:cNvPr id="243" name="conclusion-rule-1">
            <a:extLst xmlns:a="http://schemas.openxmlformats.org/drawingml/2006/main">
              <a:ext uri="{FF2B5EF4-FFF2-40B4-BE49-F238E27FC236}">
                <a16:creationId xmlns:a16="http://schemas.microsoft.com/office/drawing/2014/main" id="{4EEC5555-25D0-4A7B-9555-631907CE1AA9}"/>
              </a:ext>
            </a:extLst>
          </p:cNvPr>
          <p:cNvSpPr>
            <a:spLocks xmlns:a="http://schemas.openxmlformats.org/drawingml/2006/main" noGrp="1"/>
          </p:cNvSpPr>
          <p:nvPr/>
        </p:nvSpPr>
        <p:spPr>
          <a:xfrm xmlns:a="http://schemas.openxmlformats.org/drawingml/2006/main">
            <a:off x="904875" y="248602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4" name="conclusion-label-2">
            <a:extLst xmlns:a="http://schemas.openxmlformats.org/drawingml/2006/main">
              <a:ext uri="{FF2B5EF4-FFF2-40B4-BE49-F238E27FC236}">
                <a16:creationId xmlns:a16="http://schemas.microsoft.com/office/drawing/2014/main" id="{0F568816-CA8C-4564-9B39-0858575AA86D}"/>
              </a:ext>
            </a:extLst>
          </p:cNvPr>
          <p:cNvSpPr>
            <a:spLocks xmlns:a="http://schemas.openxmlformats.org/drawingml/2006/main" noGrp="1"/>
          </p:cNvSpPr>
          <p:nvPr/>
        </p:nvSpPr>
        <p:spPr>
          <a:xfrm xmlns:a="http://schemas.openxmlformats.org/drawingml/2006/main">
            <a:off x="1000125" y="266700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Experimental evidence</a:t>
            </a:r>
          </a:p>
        </p:txBody>
      </p:sp>
      <p:sp>
        <p:nvSpPr>
          <p:cNvPr id="245" name="conclusion-text-2">
            <a:extLst xmlns:a="http://schemas.openxmlformats.org/drawingml/2006/main">
              <a:ext uri="{FF2B5EF4-FFF2-40B4-BE49-F238E27FC236}">
                <a16:creationId xmlns:a16="http://schemas.microsoft.com/office/drawing/2014/main" id="{E768B45E-A1C0-4488-B9DD-6E0B2F66E259}"/>
              </a:ext>
            </a:extLst>
          </p:cNvPr>
          <p:cNvSpPr>
            <a:spLocks xmlns:a="http://schemas.openxmlformats.org/drawingml/2006/main" noGrp="1"/>
          </p:cNvSpPr>
          <p:nvPr/>
        </p:nvSpPr>
        <p:spPr>
          <a:xfrm xmlns:a="http://schemas.openxmlformats.org/drawingml/2006/main">
            <a:off x="3810000" y="266700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registered experiments retained comparable predictive utility, reduced serialized encrypted upload, and limited membership and reconstruction exposure under the tested settings.</a:t>
            </a:r>
          </a:p>
        </p:txBody>
      </p:sp>
      <p:sp>
        <p:nvSpPr>
          <p:cNvPr id="246" name="conclusion-rule-2">
            <a:extLst xmlns:a="http://schemas.openxmlformats.org/drawingml/2006/main">
              <a:ext uri="{FF2B5EF4-FFF2-40B4-BE49-F238E27FC236}">
                <a16:creationId xmlns:a16="http://schemas.microsoft.com/office/drawing/2014/main" id="{27686754-AAB5-4C53-A24A-891ECCEC6F40}"/>
              </a:ext>
            </a:extLst>
          </p:cNvPr>
          <p:cNvSpPr>
            <a:spLocks xmlns:a="http://schemas.openxmlformats.org/drawingml/2006/main" noGrp="1"/>
          </p:cNvSpPr>
          <p:nvPr/>
        </p:nvSpPr>
        <p:spPr>
          <a:xfrm xmlns:a="http://schemas.openxmlformats.org/drawingml/2006/main">
            <a:off x="904875" y="3390900"/>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7" name="conclusion-label-3">
            <a:extLst xmlns:a="http://schemas.openxmlformats.org/drawingml/2006/main">
              <a:ext uri="{FF2B5EF4-FFF2-40B4-BE49-F238E27FC236}">
                <a16:creationId xmlns:a16="http://schemas.microsoft.com/office/drawing/2014/main" id="{9C9379D0-AC92-4052-B686-80553A665FAB}"/>
              </a:ext>
            </a:extLst>
          </p:cNvPr>
          <p:cNvSpPr>
            <a:spLocks xmlns:a="http://schemas.openxmlformats.org/drawingml/2006/main" noGrp="1"/>
          </p:cNvSpPr>
          <p:nvPr/>
        </p:nvSpPr>
        <p:spPr>
          <a:xfrm xmlns:a="http://schemas.openxmlformats.org/drawingml/2006/main">
            <a:off x="1000125" y="357187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Robust collaboration</a:t>
            </a:r>
          </a:p>
        </p:txBody>
      </p:sp>
      <p:sp>
        <p:nvSpPr>
          <p:cNvPr id="248" name="conclusion-text-3">
            <a:extLst xmlns:a="http://schemas.openxmlformats.org/drawingml/2006/main">
              <a:ext uri="{FF2B5EF4-FFF2-40B4-BE49-F238E27FC236}">
                <a16:creationId xmlns:a16="http://schemas.microsoft.com/office/drawing/2014/main" id="{0524D455-E99B-4935-991A-AABA968123A2}"/>
              </a:ext>
            </a:extLst>
          </p:cNvPr>
          <p:cNvSpPr>
            <a:spLocks xmlns:a="http://schemas.openxmlformats.org/drawingml/2006/main" noGrp="1"/>
          </p:cNvSpPr>
          <p:nvPr/>
        </p:nvSpPr>
        <p:spPr>
          <a:xfrm xmlns:a="http://schemas.openxmlformats.org/drawingml/2006/main">
            <a:off x="3810000" y="357187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Validation, reputation, rollback and audit controls improved resilience under the evaluated poisoning scenarios while preserving the protected aggregation path.</a:t>
            </a:r>
          </a:p>
        </p:txBody>
      </p:sp>
      <p:sp>
        <p:nvSpPr>
          <p:cNvPr id="249" name="conclusion-rule-3">
            <a:extLst xmlns:a="http://schemas.openxmlformats.org/drawingml/2006/main">
              <a:ext uri="{FF2B5EF4-FFF2-40B4-BE49-F238E27FC236}">
                <a16:creationId xmlns:a16="http://schemas.microsoft.com/office/drawing/2014/main" id="{466410C8-6CA1-4F80-B7C4-95089CAFD4E3}"/>
              </a:ext>
            </a:extLst>
          </p:cNvPr>
          <p:cNvSpPr>
            <a:spLocks xmlns:a="http://schemas.openxmlformats.org/drawingml/2006/main" noGrp="1"/>
          </p:cNvSpPr>
          <p:nvPr/>
        </p:nvSpPr>
        <p:spPr>
          <a:xfrm xmlns:a="http://schemas.openxmlformats.org/drawingml/2006/main">
            <a:off x="904875" y="429577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50" name="conclusion-label-4">
            <a:extLst xmlns:a="http://schemas.openxmlformats.org/drawingml/2006/main">
              <a:ext uri="{FF2B5EF4-FFF2-40B4-BE49-F238E27FC236}">
                <a16:creationId xmlns:a16="http://schemas.microsoft.com/office/drawing/2014/main" id="{12411998-3451-485E-AAB6-3E660EF5F96F}"/>
              </a:ext>
            </a:extLst>
          </p:cNvPr>
          <p:cNvSpPr>
            <a:spLocks xmlns:a="http://schemas.openxmlformats.org/drawingml/2006/main" noGrp="1"/>
          </p:cNvSpPr>
          <p:nvPr/>
        </p:nvSpPr>
        <p:spPr>
          <a:xfrm xmlns:a="http://schemas.openxmlformats.org/drawingml/2006/main">
            <a:off x="1000125" y="447675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Claim boundary</a:t>
            </a:r>
          </a:p>
        </p:txBody>
      </p:sp>
      <p:sp>
        <p:nvSpPr>
          <p:cNvPr id="251" name="conclusion-text-4">
            <a:extLst xmlns:a="http://schemas.openxmlformats.org/drawingml/2006/main">
              <a:ext uri="{FF2B5EF4-FFF2-40B4-BE49-F238E27FC236}">
                <a16:creationId xmlns:a16="http://schemas.microsoft.com/office/drawing/2014/main" id="{F34CFDE2-6AB9-4104-BC0D-718F99F35090}"/>
              </a:ext>
            </a:extLst>
          </p:cNvPr>
          <p:cNvSpPr>
            <a:spLocks xmlns:a="http://schemas.openxmlformats.org/drawingml/2006/main" noGrp="1"/>
          </p:cNvSpPr>
          <p:nvPr/>
        </p:nvSpPr>
        <p:spPr>
          <a:xfrm xmlns:a="http://schemas.openxmlformats.org/drawingml/2006/main">
            <a:off x="3810000" y="447675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results support a defensible research system rather than universal security or production readiness; broader clinical, threshold-custody and multi-host validation remains necessary.</a:t>
            </a:r>
          </a:p>
        </p:txBody>
      </p:sp>
      <p:sp>
        <p:nvSpPr>
          <p:cNvPr id="252" name="final-conclusion-takeaway-box">
            <a:extLst xmlns:a="http://schemas.openxmlformats.org/drawingml/2006/main">
              <a:ext uri="{FF2B5EF4-FFF2-40B4-BE49-F238E27FC236}">
                <a16:creationId xmlns:a16="http://schemas.microsoft.com/office/drawing/2014/main" id="{93A03521-FD85-4E02-BDBD-F814A62381B3}"/>
              </a:ext>
            </a:extLst>
          </p:cNvPr>
          <p:cNvSpPr>
            <a:spLocks xmlns:a="http://schemas.openxmlformats.org/drawingml/2006/main" noGrp="1"/>
          </p:cNvSpPr>
          <p:nvPr/>
        </p:nvSpPr>
        <p:spPr>
          <a:xfrm xmlns:a="http://schemas.openxmlformats.org/drawingml/2006/main">
            <a:off x="1476375" y="5391150"/>
            <a:ext cx="9239250" cy="619125"/>
          </a:xfrm>
          <a:prstGeom xmlns:a="http://schemas.openxmlformats.org/drawingml/2006/main" prst="roundRect">
            <a:avLst>
              <a:gd name="adj" fmla="val 12308"/>
            </a:avLst>
          </a:prstGeom>
          <a:solidFill xmlns:a="http://schemas.openxmlformats.org/drawingml/2006/main">
            <a:srgbClr val="E8F4EE"/>
          </a:solidFill>
          <a:ln xmlns:a="http://schemas.openxmlformats.org/drawingml/2006/main" w="15240">
            <a:solidFill>
              <a:srgbClr val="008A46"/>
            </a:solidFill>
          </a:ln>
        </p:spPr>
      </p:sp>
      <p:sp>
        <p:nvSpPr>
          <p:cNvPr id="253" name="final-conclusion-takeaway">
            <a:extLst xmlns:a="http://schemas.openxmlformats.org/drawingml/2006/main">
              <a:ext uri="{FF2B5EF4-FFF2-40B4-BE49-F238E27FC236}">
                <a16:creationId xmlns:a16="http://schemas.microsoft.com/office/drawing/2014/main" id="{FFBA74EA-F6D6-4A91-9CEB-D8D4A2E86B04}"/>
              </a:ext>
            </a:extLst>
          </p:cNvPr>
          <p:cNvSpPr>
            <a:spLocks xmlns:a="http://schemas.openxmlformats.org/drawingml/2006/main" noGrp="1"/>
          </p:cNvSpPr>
          <p:nvPr/>
        </p:nvSpPr>
        <p:spPr>
          <a:xfrm xmlns:a="http://schemas.openxmlformats.org/drawingml/2006/main">
            <a:off x="1762125" y="5467350"/>
            <a:ext cx="866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ctr">
              <a:buNone/>
              <a:defRPr sz="1350" b="1">
                <a:solidFill>
                  <a:srgbClr val="17365D"/>
                </a:solidFill>
                <a:latin typeface="Arial"/>
                <a:ea typeface="Arial"/>
                <a:cs typeface="Arial"/>
              </a:defRPr>
            </a:pPr>
            <a:r>
              <a:rPr sz="1350" b="1">
                <a:solidFill>
                  <a:srgbClr val="17365D"/>
                </a:solidFill>
                <a:latin typeface="Arial"/>
                <a:ea typeface="Arial"/>
                <a:cs typeface="Arial"/>
              </a:rPr>
              <a:t>CAABC-FL shows that privacy, encrypted communication efficiency, poisoning resilience and accountability can be evaluated together within one multi-institutional learning protocol.</a:t>
            </a:r>
          </a:p>
        </p:txBody>
      </p:sp>
      <p:sp>
        <p:nvSpPr>
          <p:cNvPr id="256" name="single-paragraph-conclusion-cover">
            <a:extLst xmlns:a="http://schemas.openxmlformats.org/drawingml/2006/main">
              <a:ext uri="{FF2B5EF4-FFF2-40B4-BE49-F238E27FC236}">
                <a16:creationId xmlns:a16="http://schemas.microsoft.com/office/drawing/2014/main" id="{AA2F1210-C3F2-464B-90AB-E3BF8155DA48}"/>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7" name="single-paragraph-conclusion">
            <a:extLst xmlns:a="http://schemas.openxmlformats.org/drawingml/2006/main">
              <a:ext uri="{FF2B5EF4-FFF2-40B4-BE49-F238E27FC236}">
                <a16:creationId xmlns:a16="http://schemas.microsoft.com/office/drawing/2014/main" id="{A3A3039E-D759-4431-B294-D81D3AD9C089}"/>
              </a:ext>
            </a:extLst>
          </p:cNvPr>
          <p:cNvSpPr>
            <a:spLocks xmlns:a="http://schemas.openxmlformats.org/drawingml/2006/main" noGrp="1"/>
          </p:cNvSpPr>
          <p:nvPr/>
        </p:nvSpPr>
        <p:spPr>
          <a:xfrm xmlns:a="http://schemas.openxmlformats.org/drawingml/2006/main">
            <a:off x="1381125" y="1952625"/>
            <a:ext cx="9429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a:solidFill>
                  <a:srgbClr val="263244"/>
                </a:solidFill>
                <a:latin typeface="Arial"/>
                <a:ea typeface="Arial"/>
                <a:cs typeface="Arial"/>
              </a:defRPr>
            </a:pPr>
            <a:r>
              <a:rPr sz="1725">
                <a:solidFill>
                  <a:srgbClr val="263244"/>
                </a:solidFill>
                <a:latin typeface="Arial"/>
                <a:ea typeface="Arial"/>
                <a:cs typeface="Arial"/>
              </a:rPr>
              <a:t>This thesis developed CAABC-FL as an integrated framework for secure multi-institutional federated learning. The system combines record-level differential privacy, ciphertext-aligned adaptive compression, CKKS-protected aggregation, controlled model release, poisoning-aware validation, and auditable governance within a single workflow. Across the registered experiments, CAABC-FL maintained comparable predictive utility, reduced serialized encrypted upload, limited membership-inference and gradient-reconstruction exposure, and improved resilience under the evaluated poisoning scenarios. These findings demonstrate that privacy, communication efficiency, robustness, and accountability can be addressed together, while broader clinical validation, real multi-host deployment, and dropout-tolerant threshold custody remain necessary before production use.</a:t>
            </a:r>
          </a:p>
        </p:txBody>
      </p:sp>
    </p:spTree>
    <p:extLst>
      <p:ext uri="{BB962C8B-B14F-4D97-AF65-F5344CB8AC3E}">
        <p14:creationId xmlns:p14="http://schemas.microsoft.com/office/powerpoint/2010/main" val="3557563943"/>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c845bc52ad4413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e2b1493e5534ed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bd57b6c40f1432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91976720eb742b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Thesis</a:t>
            </a:r>
            <a:r>
              <a:rPr sz="4000" b="1">
                <a:solidFill>
                  <a:srgbClr val="002060"/>
                </a:solidFill>
                <a:latin typeface="Arial"/>
                <a:ea typeface="Arial"/>
                <a:cs typeface="Arial"/>
              </a:rPr>
              <a: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37</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e81a8f62bc54fe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3ef2d45ec3d45f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8"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aa17b74e7b54fe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10f93c770f54a0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39</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5ba25390ded4cc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146984510d1477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0"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c7f0ed644ad24507">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4fad16e780504cd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13"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523a46a105f04fe7">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4de404ec1a54f4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40</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2026-09-24T05:23:59.6670000Z</dcterms:created>
  <dcterms:modified xsi:type="dcterms:W3CDTF">2026-09-24T05:23:59.6670000Z</dcterms:modified>
</coreProperties>
</file>