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2.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3538b288ba4de3" /><Relationship Type="http://schemas.openxmlformats.org/officeDocument/2006/relationships/extended-properties" Target="/docProps/app.xml" Id="R152964a4584f42cb" /><Relationship Type="http://schemas.openxmlformats.org/officeDocument/2006/relationships/officeDocument" Target="/ppt/presentation.xml" Id="R78d275312fcb4da4" /></Relationships>
</file>

<file path=ppt/presentation.xml><?xml version="1.0" encoding="utf-8"?>
<p:presentation xmlns:p="http://schemas.openxmlformats.org/presentationml/2006/main">
  <p:sldMasterIdLst>
    <p:sldMasterId xmlns:r="http://schemas.openxmlformats.org/officeDocument/2006/relationships" id="2147483648" r:id="R7f9c3c9cb6134e44"/>
  </p:sldMasterIdLst>
  <p:notesMasterIdLst>
    <p:notesMasterId xmlns:r="http://schemas.openxmlformats.org/officeDocument/2006/relationships" r:id="R4d3d7aad8cee4088"/>
  </p:notesMasterIdLst>
  <p:sldIdLst>
    <p:sldId xmlns:r="http://schemas.openxmlformats.org/officeDocument/2006/relationships" id="256" r:id="R1f3e6c6622a84f30"/>
    <p:sldId xmlns:r="http://schemas.openxmlformats.org/officeDocument/2006/relationships" id="257" r:id="Rd855ff4df16c4537"/>
    <p:sldId xmlns:r="http://schemas.openxmlformats.org/officeDocument/2006/relationships" id="258" r:id="R2b9f44b8400d4b92"/>
    <p:sldId xmlns:r="http://schemas.openxmlformats.org/officeDocument/2006/relationships" id="259" r:id="R9adacc774ee6410b"/>
    <p:sldId xmlns:r="http://schemas.openxmlformats.org/officeDocument/2006/relationships" id="260" r:id="R67a6433dc35f4c11"/>
    <p:sldId xmlns:r="http://schemas.openxmlformats.org/officeDocument/2006/relationships" id="261" r:id="Rfeef4da2b4a24f41"/>
    <p:sldId xmlns:r="http://schemas.openxmlformats.org/officeDocument/2006/relationships" id="262" r:id="R40ebf9a88a9f4a27"/>
    <p:sldId xmlns:r="http://schemas.openxmlformats.org/officeDocument/2006/relationships" id="263" r:id="Ra1a4c7e7172a4269"/>
    <p:sldId xmlns:r="http://schemas.openxmlformats.org/officeDocument/2006/relationships" id="264" r:id="R84eab5d3eeb84232"/>
    <p:sldId xmlns:r="http://schemas.openxmlformats.org/officeDocument/2006/relationships" id="265" r:id="R984405ffce584597"/>
    <p:sldId xmlns:r="http://schemas.openxmlformats.org/officeDocument/2006/relationships" id="266" r:id="R50049d1e10bf4a9a"/>
    <p:sldId xmlns:r="http://schemas.openxmlformats.org/officeDocument/2006/relationships" id="267" r:id="R3c23a3f6d71a4332"/>
    <p:sldId xmlns:r="http://schemas.openxmlformats.org/officeDocument/2006/relationships" id="268" r:id="R324bde0fcd444983"/>
    <p:sldId xmlns:r="http://schemas.openxmlformats.org/officeDocument/2006/relationships" id="269" r:id="Rc1fd5b9075de4efd"/>
    <p:sldId xmlns:r="http://schemas.openxmlformats.org/officeDocument/2006/relationships" id="270" r:id="R2f57a6a1cf3b469a"/>
    <p:sldId xmlns:r="http://schemas.openxmlformats.org/officeDocument/2006/relationships" id="271" r:id="R8be925d16e8d4d5c"/>
    <p:sldId xmlns:r="http://schemas.openxmlformats.org/officeDocument/2006/relationships" id="272" r:id="R2e422be0c6af4429"/>
    <p:sldId xmlns:r="http://schemas.openxmlformats.org/officeDocument/2006/relationships" id="273" r:id="Rf035e7e502144b03"/>
    <p:sldId xmlns:r="http://schemas.openxmlformats.org/officeDocument/2006/relationships" id="274" r:id="R8d95ef0e66ba4d83"/>
    <p:sldId xmlns:r="http://schemas.openxmlformats.org/officeDocument/2006/relationships" id="275" r:id="R7d950e1f46c1422a"/>
    <p:sldId xmlns:r="http://schemas.openxmlformats.org/officeDocument/2006/relationships" id="276" r:id="R5016ce93ce194400"/>
    <p:sldId xmlns:r="http://schemas.openxmlformats.org/officeDocument/2006/relationships" id="277" r:id="Rd402a0f036a948a2"/>
    <p:sldId xmlns:r="http://schemas.openxmlformats.org/officeDocument/2006/relationships" id="278" r:id="Rdd3d12eae5c24097"/>
    <p:sldId xmlns:r="http://schemas.openxmlformats.org/officeDocument/2006/relationships" id="279" r:id="R6296476440e042eb"/>
    <p:sldId xmlns:r="http://schemas.openxmlformats.org/officeDocument/2006/relationships" id="280" r:id="R23a8c38c01714806"/>
    <p:sldId xmlns:r="http://schemas.openxmlformats.org/officeDocument/2006/relationships" id="281" r:id="R4f48f97458774357"/>
    <p:sldId xmlns:r="http://schemas.openxmlformats.org/officeDocument/2006/relationships" id="282" r:id="Rb7337d05f1c44993"/>
    <p:sldId xmlns:r="http://schemas.openxmlformats.org/officeDocument/2006/relationships" id="283" r:id="R899502a117d04414"/>
    <p:sldId xmlns:r="http://schemas.openxmlformats.org/officeDocument/2006/relationships" id="284" r:id="R3d59151b98364c81"/>
    <p:sldId xmlns:r="http://schemas.openxmlformats.org/officeDocument/2006/relationships" id="285" r:id="R7ebc35bf1a2b4e71"/>
    <p:sldId xmlns:r="http://schemas.openxmlformats.org/officeDocument/2006/relationships" id="286" r:id="Rd14616723a7746ac"/>
    <p:sldId xmlns:r="http://schemas.openxmlformats.org/officeDocument/2006/relationships" id="287" r:id="Rb6846fa893b34b3c"/>
    <p:sldId xmlns:r="http://schemas.openxmlformats.org/officeDocument/2006/relationships" id="288" r:id="Rfac61e70f1dc4ec3"/>
    <p:sldId xmlns:r="http://schemas.openxmlformats.org/officeDocument/2006/relationships" id="289" r:id="Rac439e39a0f8471d"/>
    <p:sldId xmlns:r="http://schemas.openxmlformats.org/officeDocument/2006/relationships" id="290" r:id="R331017d3925f4974"/>
    <p:sldId xmlns:r="http://schemas.openxmlformats.org/officeDocument/2006/relationships" id="291" r:id="R84968ebc66964ab0"/>
    <p:sldId xmlns:r="http://schemas.openxmlformats.org/officeDocument/2006/relationships" id="292" r:id="R5767e464021a4a69"/>
    <p:sldId xmlns:r="http://schemas.openxmlformats.org/officeDocument/2006/relationships" id="293" r:id="R08ca57d1b2b54f28"/>
    <p:sldId xmlns:r="http://schemas.openxmlformats.org/officeDocument/2006/relationships" id="294" r:id="R3b0be655b2cf4488"/>
    <p:sldId xmlns:r="http://schemas.openxmlformats.org/officeDocument/2006/relationships" id="295" r:id="R791d3ea274a64903"/>
    <p:sldId xmlns:r="http://schemas.openxmlformats.org/officeDocument/2006/relationships" id="296" r:id="R0b3a0bbb215f4ce2"/>
    <p:sldId xmlns:r="http://schemas.openxmlformats.org/officeDocument/2006/relationships" id="297" r:id="Rfc0c88e2a57a4b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006c3bebb0d4fb9" /><Relationship Type="http://schemas.openxmlformats.org/officeDocument/2006/relationships/slideMaster" Target="/ppt/slideMasters/slideMaster1.xml" Id="R7f9c3c9cb6134e44" /><Relationship Type="http://schemas.openxmlformats.org/officeDocument/2006/relationships/notesMaster" Target="/ppt/notesMasters/notesMaster1.xml" Id="R4d3d7aad8cee4088" /><Relationship Type="http://schemas.openxmlformats.org/officeDocument/2006/relationships/presProps" Target="/ppt/presProps.xml" Id="R00fcea671cc047be" /><Relationship Type="http://schemas.openxmlformats.org/officeDocument/2006/relationships/viewProps" Target="/ppt/viewProps.xml" Id="Ra756aa373e5e4842" /><Relationship Type="http://schemas.openxmlformats.org/officeDocument/2006/relationships/tableStyles" Target="/ppt/tableStyles.xml" Id="R9d06d29b0ece4c80" /><Relationship Type="http://schemas.openxmlformats.org/officeDocument/2006/relationships/slide" Target="/ppt/slides/slide1.xml" Id="R1f3e6c6622a84f30" /><Relationship Type="http://schemas.openxmlformats.org/officeDocument/2006/relationships/slide" Target="/ppt/slides/slide2.xml" Id="Rd855ff4df16c4537" /><Relationship Type="http://schemas.openxmlformats.org/officeDocument/2006/relationships/slide" Target="/ppt/slides/slide3.xml" Id="R2b9f44b8400d4b92" /><Relationship Type="http://schemas.openxmlformats.org/officeDocument/2006/relationships/slide" Target="/ppt/slides/slide4.xml" Id="R9adacc774ee6410b" /><Relationship Type="http://schemas.openxmlformats.org/officeDocument/2006/relationships/slide" Target="/ppt/slides/slide5.xml" Id="R67a6433dc35f4c11" /><Relationship Type="http://schemas.openxmlformats.org/officeDocument/2006/relationships/slide" Target="/ppt/slides/slide6.xml" Id="Rfeef4da2b4a24f41" /><Relationship Type="http://schemas.openxmlformats.org/officeDocument/2006/relationships/slide" Target="/ppt/slides/slide7.xml" Id="R40ebf9a88a9f4a27" /><Relationship Type="http://schemas.openxmlformats.org/officeDocument/2006/relationships/slide" Target="/ppt/slides/slide8.xml" Id="Ra1a4c7e7172a4269" /><Relationship Type="http://schemas.openxmlformats.org/officeDocument/2006/relationships/slide" Target="/ppt/slides/slide9.xml" Id="R84eab5d3eeb84232" /><Relationship Type="http://schemas.openxmlformats.org/officeDocument/2006/relationships/slide" Target="/ppt/slides/slide10.xml" Id="R984405ffce584597" /><Relationship Type="http://schemas.openxmlformats.org/officeDocument/2006/relationships/slide" Target="/ppt/slides/slide11.xml" Id="R50049d1e10bf4a9a" /><Relationship Type="http://schemas.openxmlformats.org/officeDocument/2006/relationships/slide" Target="/ppt/slides/slide12.xml" Id="R3c23a3f6d71a4332" /><Relationship Type="http://schemas.openxmlformats.org/officeDocument/2006/relationships/slide" Target="/ppt/slides/slide13.xml" Id="R324bde0fcd444983" /><Relationship Type="http://schemas.openxmlformats.org/officeDocument/2006/relationships/slide" Target="/ppt/slides/slide14.xml" Id="Rc1fd5b9075de4efd" /><Relationship Type="http://schemas.openxmlformats.org/officeDocument/2006/relationships/slide" Target="/ppt/slides/slide15.xml" Id="R2f57a6a1cf3b469a" /><Relationship Type="http://schemas.openxmlformats.org/officeDocument/2006/relationships/slide" Target="/ppt/slides/slide16.xml" Id="R8be925d16e8d4d5c" /><Relationship Type="http://schemas.openxmlformats.org/officeDocument/2006/relationships/slide" Target="/ppt/slides/slide17.xml" Id="R2e422be0c6af4429" /><Relationship Type="http://schemas.openxmlformats.org/officeDocument/2006/relationships/slide" Target="/ppt/slides/slide18.xml" Id="Rf035e7e502144b03" /><Relationship Type="http://schemas.openxmlformats.org/officeDocument/2006/relationships/slide" Target="/ppt/slides/slide19.xml" Id="R8d95ef0e66ba4d83" /><Relationship Type="http://schemas.openxmlformats.org/officeDocument/2006/relationships/slide" Target="/ppt/slides/slide20.xml" Id="R7d950e1f46c1422a" /><Relationship Type="http://schemas.openxmlformats.org/officeDocument/2006/relationships/slide" Target="/ppt/slides/slide21.xml" Id="R5016ce93ce194400" /><Relationship Type="http://schemas.openxmlformats.org/officeDocument/2006/relationships/slide" Target="/ppt/slides/slide22.xml" Id="Rd402a0f036a948a2" /><Relationship Type="http://schemas.openxmlformats.org/officeDocument/2006/relationships/slide" Target="/ppt/slides/slide23.xml" Id="Rdd3d12eae5c24097" /><Relationship Type="http://schemas.openxmlformats.org/officeDocument/2006/relationships/slide" Target="/ppt/slides/slide24.xml" Id="R6296476440e042eb" /><Relationship Type="http://schemas.openxmlformats.org/officeDocument/2006/relationships/slide" Target="/ppt/slides/slide25.xml" Id="R23a8c38c01714806" /><Relationship Type="http://schemas.openxmlformats.org/officeDocument/2006/relationships/slide" Target="/ppt/slides/slide26.xml" Id="R4f48f97458774357" /><Relationship Type="http://schemas.openxmlformats.org/officeDocument/2006/relationships/slide" Target="/ppt/slides/slide27.xml" Id="Rb7337d05f1c44993" /><Relationship Type="http://schemas.openxmlformats.org/officeDocument/2006/relationships/slide" Target="/ppt/slides/slide28.xml" Id="R899502a117d04414" /><Relationship Type="http://schemas.openxmlformats.org/officeDocument/2006/relationships/slide" Target="/ppt/slides/slide29.xml" Id="R3d59151b98364c81" /><Relationship Type="http://schemas.openxmlformats.org/officeDocument/2006/relationships/slide" Target="/ppt/slides/slide30.xml" Id="R7ebc35bf1a2b4e71" /><Relationship Type="http://schemas.openxmlformats.org/officeDocument/2006/relationships/slide" Target="/ppt/slides/slide31.xml" Id="Rd14616723a7746ac" /><Relationship Type="http://schemas.openxmlformats.org/officeDocument/2006/relationships/slide" Target="/ppt/slides/slide32.xml" Id="Rb6846fa893b34b3c" /><Relationship Type="http://schemas.openxmlformats.org/officeDocument/2006/relationships/slide" Target="/ppt/slides/slide33.xml" Id="Rfac61e70f1dc4ec3" /><Relationship Type="http://schemas.openxmlformats.org/officeDocument/2006/relationships/slide" Target="/ppt/slides/slide34.xml" Id="Rac439e39a0f8471d" /><Relationship Type="http://schemas.openxmlformats.org/officeDocument/2006/relationships/slide" Target="/ppt/slides/slide35.xml" Id="R331017d3925f4974" /><Relationship Type="http://schemas.openxmlformats.org/officeDocument/2006/relationships/slide" Target="/ppt/slides/slide36.xml" Id="R84968ebc66964ab0" /><Relationship Type="http://schemas.openxmlformats.org/officeDocument/2006/relationships/slide" Target="/ppt/slides/slide37.xml" Id="R5767e464021a4a69" /><Relationship Type="http://schemas.openxmlformats.org/officeDocument/2006/relationships/slide" Target="/ppt/slides/slide38.xml" Id="R08ca57d1b2b54f28" /><Relationship Type="http://schemas.openxmlformats.org/officeDocument/2006/relationships/slide" Target="/ppt/slides/slide39.xml" Id="R3b0be655b2cf4488" /><Relationship Type="http://schemas.openxmlformats.org/officeDocument/2006/relationships/slide" Target="/ppt/slides/slide40.xml" Id="R791d3ea274a64903" /><Relationship Type="http://schemas.openxmlformats.org/officeDocument/2006/relationships/slide" Target="/ppt/slides/slide41.xml" Id="R0b3a0bbb215f4ce2" /><Relationship Type="http://schemas.openxmlformats.org/officeDocument/2006/relationships/slide" Target="/ppt/slides/slide42.xml" Id="Rfc0c88e2a57a4b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bc7be7c99c42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5a559b51174b05" /><Relationship Type="http://schemas.openxmlformats.org/officeDocument/2006/relationships/notesMaster" Target="/ppt/notesMasters/notesMaster1.xml" Id="R1b702f3bde614e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1c3c22022f4590" /><Relationship Type="http://schemas.openxmlformats.org/officeDocument/2006/relationships/notesMaster" Target="/ppt/notesMasters/notesMaster1.xml" Id="Rc8eee5dcabf246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8016d4c0984a9b" /><Relationship Type="http://schemas.openxmlformats.org/officeDocument/2006/relationships/notesMaster" Target="/ppt/notesMasters/notesMaster1.xml" Id="R8784baa8860b42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24998faece4115" /><Relationship Type="http://schemas.openxmlformats.org/officeDocument/2006/relationships/notesMaster" Target="/ppt/notesMasters/notesMaster1.xml" Id="Red259350661a4f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2748ac17954613" /><Relationship Type="http://schemas.openxmlformats.org/officeDocument/2006/relationships/notesMaster" Target="/ppt/notesMasters/notesMaster1.xml" Id="R55523734c3f341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91b4e563ef4c71" /><Relationship Type="http://schemas.openxmlformats.org/officeDocument/2006/relationships/notesMaster" Target="/ppt/notesMasters/notesMaster1.xml" Id="R27bae74d629841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c79bf0408b4237" /><Relationship Type="http://schemas.openxmlformats.org/officeDocument/2006/relationships/notesMaster" Target="/ppt/notesMasters/notesMaster1.xml" Id="R66e2cc186f824d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37e571f3eda84e23" /><Relationship Type="http://schemas.openxmlformats.org/officeDocument/2006/relationships/notesMaster" Target="/ppt/notesMasters/notesMaster1.xml" Id="R610ec7834b4644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10b61f9e004d10" /><Relationship Type="http://schemas.openxmlformats.org/officeDocument/2006/relationships/notesMaster" Target="/ppt/notesMasters/notesMaster1.xml" Id="R877dbdf0c707486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3422fe1d2a4757" /><Relationship Type="http://schemas.openxmlformats.org/officeDocument/2006/relationships/notesMaster" Target="/ppt/notesMasters/notesMaster1.xml" Id="R555c5993a47b43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7889f347618436d" /><Relationship Type="http://schemas.openxmlformats.org/officeDocument/2006/relationships/notesMaster" Target="/ppt/notesMasters/notesMaster1.xml" Id="Rb1aaa891cf5d4be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84227915604c3d" /><Relationship Type="http://schemas.openxmlformats.org/officeDocument/2006/relationships/notesMaster" Target="/ppt/notesMasters/notesMaster1.xml" Id="Ra48ffee128c9462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06716964ec74e65" /><Relationship Type="http://schemas.openxmlformats.org/officeDocument/2006/relationships/notesMaster" Target="/ppt/notesMasters/notesMaster1.xml" Id="R0a976f4acefe4ce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2760629b51a4c89" /><Relationship Type="http://schemas.openxmlformats.org/officeDocument/2006/relationships/notesMaster" Target="/ppt/notesMasters/notesMaster1.xml" Id="R2301429d5ef2410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ced4e94fe474306" /><Relationship Type="http://schemas.openxmlformats.org/officeDocument/2006/relationships/notesMaster" Target="/ppt/notesMasters/notesMaster1.xml" Id="Ra1839cd4cf1441d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aea80f7e6734710" /><Relationship Type="http://schemas.openxmlformats.org/officeDocument/2006/relationships/notesMaster" Target="/ppt/notesMasters/notesMaster1.xml" Id="Rcefb0cfb6cd6454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0b5fe9fc94c42db" /><Relationship Type="http://schemas.openxmlformats.org/officeDocument/2006/relationships/notesMaster" Target="/ppt/notesMasters/notesMaster1.xml" Id="R008e99663afc4bb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a80d7ffa3784afd" /><Relationship Type="http://schemas.openxmlformats.org/officeDocument/2006/relationships/notesMaster" Target="/ppt/notesMasters/notesMaster1.xml" Id="R4a104763b60a4dc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8ab14221dc44860" /><Relationship Type="http://schemas.openxmlformats.org/officeDocument/2006/relationships/notesMaster" Target="/ppt/notesMasters/notesMaster1.xml" Id="R8891bb6ebe8f474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62491e7ec5e4530" /><Relationship Type="http://schemas.openxmlformats.org/officeDocument/2006/relationships/notesMaster" Target="/ppt/notesMasters/notesMaster1.xml" Id="R046418a958a640c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7418ad0e6b9441d" /><Relationship Type="http://schemas.openxmlformats.org/officeDocument/2006/relationships/notesMaster" Target="/ppt/notesMasters/notesMaster1.xml" Id="R74e9435c3a0049b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3529f7a7aa84ea3" /><Relationship Type="http://schemas.openxmlformats.org/officeDocument/2006/relationships/notesMaster" Target="/ppt/notesMasters/notesMaster1.xml" Id="R98be97740b1e455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c77d51d1aef404d" /><Relationship Type="http://schemas.openxmlformats.org/officeDocument/2006/relationships/notesMaster" Target="/ppt/notesMasters/notesMaster1.xml" Id="Rc3e8d5563a3042d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b3eb1ebf52845d7" /><Relationship Type="http://schemas.openxmlformats.org/officeDocument/2006/relationships/notesMaster" Target="/ppt/notesMasters/notesMaster1.xml" Id="R46fd92bf2a8d4c3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c1a23ffb8034236" /><Relationship Type="http://schemas.openxmlformats.org/officeDocument/2006/relationships/notesMaster" Target="/ppt/notesMasters/notesMaster1.xml" Id="Rfa3d5eafd752434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b7a2042dc704354" /><Relationship Type="http://schemas.openxmlformats.org/officeDocument/2006/relationships/notesMaster" Target="/ppt/notesMasters/notesMaster1.xml" Id="Rd117a823ff0b420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d10e138a7744289" /><Relationship Type="http://schemas.openxmlformats.org/officeDocument/2006/relationships/notesMaster" Target="/ppt/notesMasters/notesMaster1.xml" Id="Ree01e9a1e1254c7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f9348fe423246b6" /><Relationship Type="http://schemas.openxmlformats.org/officeDocument/2006/relationships/notesMaster" Target="/ppt/notesMasters/notesMaster1.xml" Id="R63ccb0d63dcc4e3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6bdc1d1f89f4776" /><Relationship Type="http://schemas.openxmlformats.org/officeDocument/2006/relationships/notesMaster" Target="/ppt/notesMasters/notesMaster1.xml" Id="R8bc374a2cf91497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7f1df1e007c4279" /><Relationship Type="http://schemas.openxmlformats.org/officeDocument/2006/relationships/notesMaster" Target="/ppt/notesMasters/notesMaster1.xml" Id="R09a2aa343a1c48a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52733dce46f4c08" /><Relationship Type="http://schemas.openxmlformats.org/officeDocument/2006/relationships/notesMaster" Target="/ppt/notesMasters/notesMaster1.xml" Id="Ra79c6abb7a75461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f7f6fbf3c974dbd" /><Relationship Type="http://schemas.openxmlformats.org/officeDocument/2006/relationships/notesMaster" Target="/ppt/notesMasters/notesMaster1.xml" Id="R052b301467c744b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4fac25e60124a7a" /><Relationship Type="http://schemas.openxmlformats.org/officeDocument/2006/relationships/notesMaster" Target="/ppt/notesMasters/notesMaster1.xml" Id="Rd7dd16b2486041a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b80a8289df54142" /><Relationship Type="http://schemas.openxmlformats.org/officeDocument/2006/relationships/notesMaster" Target="/ppt/notesMasters/notesMaster1.xml" Id="R1d23d143f5554e1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4f640be3eba4e3e" /><Relationship Type="http://schemas.openxmlformats.org/officeDocument/2006/relationships/notesMaster" Target="/ppt/notesMasters/notesMaster1.xml" Id="Rbfab094180094bb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4041356d64b4a5e" /><Relationship Type="http://schemas.openxmlformats.org/officeDocument/2006/relationships/notesMaster" Target="/ppt/notesMasters/notesMaster1.xml" Id="R8974794226c549d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5bdb9faa1f54242" /><Relationship Type="http://schemas.openxmlformats.org/officeDocument/2006/relationships/notesMaster" Target="/ppt/notesMasters/notesMaster1.xml" Id="R00b85f9665ad46e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afc498a32d14ad3" /><Relationship Type="http://schemas.openxmlformats.org/officeDocument/2006/relationships/notesMaster" Target="/ppt/notesMasters/notesMaster1.xml" Id="Raa083a8135b84cb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47bd7f6049b43f0" /><Relationship Type="http://schemas.openxmlformats.org/officeDocument/2006/relationships/notesMaster" Target="/ppt/notesMasters/notesMaster1.xml" Id="Raa7d057fcd41409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d54b8794ea64861" /><Relationship Type="http://schemas.openxmlformats.org/officeDocument/2006/relationships/notesMaster" Target="/ppt/notesMasters/notesMaster1.xml" Id="R3b6ad03293ae4f6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dcdd080c0a64fed" /><Relationship Type="http://schemas.openxmlformats.org/officeDocument/2006/relationships/notesMaster" Target="/ppt/notesMasters/notesMaster1.xml" Id="R52671e3b358f4c5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e8a774d891b4204" /><Relationship Type="http://schemas.openxmlformats.org/officeDocument/2006/relationships/notesMaster" Target="/ppt/notesMasters/notesMaster1.xml" Id="R6f59af7eeff04c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begins with the research context, problem statement, research questions, and objectives. It then reviews related studies and the identified gap before presenting the conceptual framework and proposed methodology. The final part reports utility, privacy, robustness, communication, and system results, followed by the conclusion, references, and the question-and-answer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framework moves from research inputs to bounded evidence. The inputs are the natural hospital partitions, the threat and trust model, and our research objectives. The protection pipeline combines patient-level differential privacy, CAABC-FL, CKKS-protected and authenticated updates, poisoning-aware validation, and governed release. We then measure utility, privacy exposure, encrypted communication, poisoning response, and system correctness. The final stage defines the claim boundary: our evidence applies to the evaluated data, attacks, seeds, and deployment environment, rather than universal or production security.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each institution constructs a protected model update. Governance establishes identity, consent, and policy. Patient records remain inside each hospital during preprocessing and training. The consortium creates a collective CKKS public key while independent custodians protect threshold shares. Each hospital clips per-record gradients, adds calibrated differential-privacy noise, applies CAABC-FL block compression, encrypts the result, and signs the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the framework transports, aggregates, validates, and releases a model. Mutual TLS and signed round metadata authenticate every submission. The permissioned ledger stores hashes and status, while model ciphertexts remain off-chain. The coordinator performs reputation-weighted homomorphic aggregation and custodians decrypt only the aggregate. Validation either accepts the candidate model or triggers rollback and quarantine. Hospitals verify the signed model hash before starting the next round. Clinical inference follows the same authorization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explains our main algorithmic contribution, CAABC-FL. Each hospital first adds the previous compression residual to its patient-level differentially private update. The method divides that effective update into contiguous 256-coordinate blocks and scores block energy only after privatization. Every fifth round, the hospitals derive one common support from aggregate block scores, subject to a two-ciphertext packing budget. Each hospital projects onto the same support and retains omitted information as the next residual. The selected blocks occupy aligned CKKS slots, so the coordinator can add ciphertexts without learning client-specific sparse indices. This shared support is the central novelty because it converts logical sparsity into measured encrypted-wire reduction. Formal privacy still comes from the differential privacy accountant, not from compression.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formulation has four parts. First, the global objective is the sample-weighted average of hospital losses, where n_k is the number of records at hospital k and N is the total across participating hospitals. Second, each gradient is clipped to norm C, Gaussian noise z_k^t provides record-level differential privacy, and the residual e_k^t preserves information lost by CAABC-FL compression Q_s_t. Third, the accepted client set A_t contributes encrypted updates to the CKKS sum c_t. Threshold custodians decrypt only this aggregate, and eta_t is the global learning rate. Finally, the design must reduce predictive loss and serialized communication while satisfying privacy, integrity, threshold-release, and audit requirements.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used a controlled cross-silo research design. First, we retained the natural Hospital A and Hospital B partition of the 40,336-patient PhysioNet cohort. Second, every method used the same MLP, evaluation split, privacy budget, CKKS parameters, round budget, and five paired seeds. Third, we compared CAABC-FL with four baselines under benign and registered attack conditions, measuring utility, privacy, poisoning resilience, encrypted wire cost, and system timing. Finally, paired confidence intervals and statistical tests support direct method-level comparisons. This design isolates the learning and aggregation method while keeping every claim within the evaluated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summarizes the frozen experimental protocol. We used the full 40,336-patient PhysioNet 2019 sepsis cohort and preserved its two natural hospital partitions. Every paired method used the same patient split, initialization seed, model, and 20-round training budget. The private path used patient-level clipping, Gaussian noise, RDP accounting, and real TenSEAL CKKS. The security evaluation included powered membership inference, 300-step gradient reconstruction, and poisoning experiments with up to 40 percent malicious clients. The model seed is the statistical unit. Core protected methods used ten paired seeds, while secondary and security comparisons used five paired seeds. The test partition remained locked until the protocol and decision rules were frozen.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Gradient-reconstruction evidence: under the registered 300-step attack, RMSE increased from 0.684 for plaintext-exact exposure to 2.763 for DP plus CAABC-FL. Higher RMSE means the attacker recovered the input features less accurately. This result is attack-specific empirical evidence; the differential privacy accountant provides the formal privacy guarantee.</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Our thesis makes five contributions. First, the theoretical model treats privacy, confidentiality, communication efficiency, and integrity as interacting properties, which exposes conflicts between controls. Second, CAABC-FL aligns adaptive common-block selection with CKKS packing and residual feedback. Third, we implemented a governed multi-service system with independent verification and external audit witnesses. Fourth, the frozen paired protocol evaluates utility, privacy, poisoning, and system cost under the same conditions. Finally, CAABC-FL reduced encrypted upload by 56 percent while meeting the registered AUROC non-inferiority criterion. We also report the weaker AUPRC and operating-point results, so the claim remains within the evidence.</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Our limitations define the boundary of the evidence. First, we used one retrospective sepsis cohort, two source hospitals, and one MLP, without prospective or external clinical validation. Second, the main TenSEAL path still uses central key custody, while threshold decryption was tested only as an isolated 3-of-3 experiment without dropout tolerance. Third, system timing came from sequential single-host runs rather than a real wide-area deployment or physical confidential-computing cluster. Finally, privacy and poisoning conclusions remain limited to the registered attacks and five seeds. These constraints support bounded protocol-level claims. Clinical and production-security validation remain future work.</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CAABC-FL brings privacy protection, encrypted aggregation, communication reduction, poisoning-aware controls, and accountable governance into one multi-institutional learning workflow. The experiments support comparable predictive utility, lower serialized encrypted upload, limited exposure under the evaluated privacy attacks, and stronger resilience under the tested poisoning scenarios. The conclusion remains bounded to the registered datasets, attacks, seeds, and deployment environment. Production use requires broader clinical validation, a real multi-host deployment, and dropout-tolerant threshold custody.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7af5ee3a5f4c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d8373213744d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7e03d6469484cc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d7b550c086f42f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6abd9d1e45a4d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72605c2b20460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4b2365f14bd414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1fa59c7ecd4405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aea4617f6c9464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d893571227949f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c2a1b02739d4d83"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206"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89"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7992b2d4344582" /><Relationship Type="http://schemas.openxmlformats.org/officeDocument/2006/relationships/slideLayout" Target="/ppt/slideLayouts/slideLayout1.xml" Id="R83eb9981fef5450f" /><Relationship Type="http://schemas.openxmlformats.org/officeDocument/2006/relationships/slideLayout" Target="/ppt/slideLayouts/slideLayout2.xml" Id="R05848101207e4ad4" /><Relationship Type="http://schemas.openxmlformats.org/officeDocument/2006/relationships/slideLayout" Target="/ppt/slideLayouts/slideLayout3.xml" Id="Rc4036a1110b0410e" /><Relationship Type="http://schemas.openxmlformats.org/officeDocument/2006/relationships/slideLayout" Target="/ppt/slideLayouts/slideLayout4.xml" Id="R5e130e54dc0d4450" /><Relationship Type="http://schemas.openxmlformats.org/officeDocument/2006/relationships/slideLayout" Target="/ppt/slideLayouts/slideLayout5.xml" Id="R314bfed89f834d6f" /><Relationship Type="http://schemas.openxmlformats.org/officeDocument/2006/relationships/slideLayout" Target="/ppt/slideLayouts/slideLayout6.xml" Id="R5d372d2ec1084f67" /><Relationship Type="http://schemas.openxmlformats.org/officeDocument/2006/relationships/slideLayout" Target="/ppt/slideLayouts/slideLayout7.xml" Id="Rb2f5b5f933e0424e" /><Relationship Type="http://schemas.openxmlformats.org/officeDocument/2006/relationships/slideLayout" Target="/ppt/slideLayouts/slideLayout8.xml" Id="R85c4c13bbd8b4eca" /><Relationship Type="http://schemas.openxmlformats.org/officeDocument/2006/relationships/slideLayout" Target="/ppt/slideLayouts/slideLayout9.xml" Id="Raa00c7989f994b2f" /><Relationship Type="http://schemas.openxmlformats.org/officeDocument/2006/relationships/slideLayout" Target="/ppt/slideLayouts/slideLayout10.xml" Id="Rdf3c17a1426e4e81" /><Relationship Type="http://schemas.openxmlformats.org/officeDocument/2006/relationships/slideLayout" Target="/ppt/slideLayouts/slideLayout11.xml" Id="R9486d956efb34c52"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83eb9981fef5450f"/>
    <p:sldLayoutId xmlns:r="http://schemas.openxmlformats.org/officeDocument/2006/relationships" id="2147483650" r:id="R05848101207e4ad4"/>
    <p:sldLayoutId xmlns:r="http://schemas.openxmlformats.org/officeDocument/2006/relationships" id="2147483651" r:id="Rc4036a1110b0410e"/>
    <p:sldLayoutId xmlns:r="http://schemas.openxmlformats.org/officeDocument/2006/relationships" id="2147483652" r:id="R5e130e54dc0d4450"/>
    <p:sldLayoutId xmlns:r="http://schemas.openxmlformats.org/officeDocument/2006/relationships" id="2147483653" r:id="R314bfed89f834d6f"/>
    <p:sldLayoutId xmlns:r="http://schemas.openxmlformats.org/officeDocument/2006/relationships" id="2147483654" r:id="R5d372d2ec1084f67"/>
    <p:sldLayoutId xmlns:r="http://schemas.openxmlformats.org/officeDocument/2006/relationships" id="2147483655" r:id="Rb2f5b5f933e0424e"/>
    <p:sldLayoutId xmlns:r="http://schemas.openxmlformats.org/officeDocument/2006/relationships" id="2147483656" r:id="R85c4c13bbd8b4eca"/>
    <p:sldLayoutId xmlns:r="http://schemas.openxmlformats.org/officeDocument/2006/relationships" id="2147483657" r:id="Raa00c7989f994b2f"/>
    <p:sldLayoutId xmlns:r="http://schemas.openxmlformats.org/officeDocument/2006/relationships" id="2147483658" r:id="Rdf3c17a1426e4e81"/>
    <p:sldLayoutId xmlns:r="http://schemas.openxmlformats.org/officeDocument/2006/relationships" id="2147483659" r:id="R9486d956efb34c52"/>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d1e889924d24c15" /><Relationship Type="http://schemas.openxmlformats.org/officeDocument/2006/relationships/image" Target="/ppt/media/image.png" Id="Re1906a858f1f452b" /><Relationship Type="http://schemas.openxmlformats.org/officeDocument/2006/relationships/image" Target="/ppt/media/image2.png" Id="R2d583dabaec64b57" /><Relationship Type="http://schemas.openxmlformats.org/officeDocument/2006/relationships/notesSlide" Target="/ppt/notesSlides/notesSlide1.xml" Id="R2c58d454c9f249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2e1e86b2950412e" /><Relationship Type="http://schemas.openxmlformats.org/officeDocument/2006/relationships/image" Target="/ppt/media/image2.png" Id="R7268a9a5040846f1" /><Relationship Type="http://schemas.openxmlformats.org/officeDocument/2006/relationships/image" Target="/ppt/media/image3.png" Id="R84b62ea06f534354" /><Relationship Type="http://schemas.openxmlformats.org/officeDocument/2006/relationships/notesSlide" Target="/ppt/notesSlides/notesSlide2.xml" Id="R61ffd6ff094848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2cd7378b5ad4590" /><Relationship Type="http://schemas.openxmlformats.org/officeDocument/2006/relationships/image" Target="/ppt/media/image2.png" Id="R24faf7b600b0486c" /><Relationship Type="http://schemas.openxmlformats.org/officeDocument/2006/relationships/image" Target="/ppt/media/image4.png" Id="R625c0d1abab34eb4" /><Relationship Type="http://schemas.openxmlformats.org/officeDocument/2006/relationships/image" Target="/ppt/media/image5.png" Id="R7ab3d2487526478f" /><Relationship Type="http://schemas.openxmlformats.org/officeDocument/2006/relationships/image" Target="/ppt/media/image3.png" Id="Ra808e5f1e959456c" /><Relationship Type="http://schemas.openxmlformats.org/officeDocument/2006/relationships/notesSlide" Target="/ppt/notesSlides/notesSlide3.xml" Id="R39582b866edf4c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0d592d5db3d4ff3" /><Relationship Type="http://schemas.openxmlformats.org/officeDocument/2006/relationships/image" Target="/ppt/media/image2.png" Id="R1eddfb2be0bd4a81" /><Relationship Type="http://schemas.openxmlformats.org/officeDocument/2006/relationships/image" Target="/ppt/media/image6.png" Id="Rf0f210c850d74d1b" /><Relationship Type="http://schemas.openxmlformats.org/officeDocument/2006/relationships/image" Target="/ppt/media/image3.png" Id="R9c1d64a508c540b1" /><Relationship Type="http://schemas.openxmlformats.org/officeDocument/2006/relationships/notesSlide" Target="/ppt/notesSlides/notesSlide4.xml" Id="Re358be3c1add41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180e8a384344ce1" /><Relationship Type="http://schemas.openxmlformats.org/officeDocument/2006/relationships/image" Target="/ppt/media/image2.png" Id="R4ed924865ada4327" /><Relationship Type="http://schemas.openxmlformats.org/officeDocument/2006/relationships/image" Target="/ppt/media/image3.png" Id="Re02818b2fb994ee1" /><Relationship Type="http://schemas.openxmlformats.org/officeDocument/2006/relationships/notesSlide" Target="/ppt/notesSlides/notesSlide5.xml" Id="Ra0c2a8c79d6c40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582a354d50544d6" /><Relationship Type="http://schemas.openxmlformats.org/officeDocument/2006/relationships/image" Target="/ppt/media/image2.png" Id="Rba2e35acda8c4e85" /><Relationship Type="http://schemas.openxmlformats.org/officeDocument/2006/relationships/image" Target="/ppt/media/image3.png" Id="R248cce46e06841d7" /><Relationship Type="http://schemas.openxmlformats.org/officeDocument/2006/relationships/notesSlide" Target="/ppt/notesSlides/notesSlide6.xml" Id="Rf43291a593bb47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07cd1ad51b74423" /><Relationship Type="http://schemas.openxmlformats.org/officeDocument/2006/relationships/image" Target="/ppt/media/image2.png" Id="R0c48abbd7e0e4a74" /><Relationship Type="http://schemas.openxmlformats.org/officeDocument/2006/relationships/chart" Target="/ppt/slides/charts/chart1.xml" Id="R554ea51b8e894d24" /><Relationship Type="http://schemas.openxmlformats.org/officeDocument/2006/relationships/image" Target="/ppt/media/image3.png" Id="Re71b640e6b1f4378" /><Relationship Type="http://schemas.openxmlformats.org/officeDocument/2006/relationships/notesSlide" Target="/ppt/notesSlides/notesSlide7.xml" Id="R141b9e7d64504c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9c090cd283c46d9" /><Relationship Type="http://schemas.openxmlformats.org/officeDocument/2006/relationships/image" Target="/ppt/media/image2.png" Id="R3a185c0d8ad243cb" /><Relationship Type="http://schemas.openxmlformats.org/officeDocument/2006/relationships/image" Target="/ppt/media/image3.png" Id="R814907becaa24677" /><Relationship Type="http://schemas.openxmlformats.org/officeDocument/2006/relationships/notesSlide" Target="/ppt/notesSlides/notesSlide8.xml" Id="Rb70469ff907346e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10cd5acb8f04de6" /><Relationship Type="http://schemas.openxmlformats.org/officeDocument/2006/relationships/image" Target="/ppt/media/image2.png" Id="Rc27ca6adba154f7d" /><Relationship Type="http://schemas.openxmlformats.org/officeDocument/2006/relationships/image" Target="/ppt/media/image3.png" Id="Rf795928278d04f09" /><Relationship Type="http://schemas.openxmlformats.org/officeDocument/2006/relationships/notesSlide" Target="/ppt/notesSlides/notesSlide9.xml" Id="Rfdaf8ff0ace443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7ad2a595365c4ded" /><Relationship Type="http://schemas.openxmlformats.org/officeDocument/2006/relationships/image" Target="/ppt/media/image2.png" Id="R3afc13a8be1b4feb" /><Relationship Type="http://schemas.openxmlformats.org/officeDocument/2006/relationships/image" Target="/ppt/media/image4.png" Id="Re695b90e8ce04543" /><Relationship Type="http://schemas.openxmlformats.org/officeDocument/2006/relationships/image" Target="/ppt/media/image7.png" Id="Rca9aa9649186465a" /><Relationship Type="http://schemas.openxmlformats.org/officeDocument/2006/relationships/image" Target="/ppt/media/image3.png" Id="R5588facbd5c94db4" /><Relationship Type="http://schemas.openxmlformats.org/officeDocument/2006/relationships/notesSlide" Target="/ppt/notesSlides/notesSlide10.xml" Id="Rf8c97a35a0f641d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26ddff41e064054" /><Relationship Type="http://schemas.openxmlformats.org/officeDocument/2006/relationships/image" Target="/ppt/media/image2.png" Id="R8e0d45eafc144a14" /><Relationship Type="http://schemas.openxmlformats.org/officeDocument/2006/relationships/image" Target="/ppt/media/image3.png" Id="R99023270c832454b" /><Relationship Type="http://schemas.openxmlformats.org/officeDocument/2006/relationships/notesSlide" Target="/ppt/notesSlides/notesSlide11.xml" Id="R57508bb9d29943c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8991fb79691451a" /><Relationship Type="http://schemas.openxmlformats.org/officeDocument/2006/relationships/image" Target="/ppt/media/image2.png" Id="R073f9ec23a4a4391" /><Relationship Type="http://schemas.openxmlformats.org/officeDocument/2006/relationships/image" Target="/ppt/media/image3.png" Id="R694378011df740b8" /><Relationship Type="http://schemas.openxmlformats.org/officeDocument/2006/relationships/notesSlide" Target="/ppt/notesSlides/notesSlide12.xml" Id="R8bb263753c244c6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87ca1b4ec864575" /><Relationship Type="http://schemas.openxmlformats.org/officeDocument/2006/relationships/image" Target="/ppt/media/image2.png" Id="Rfbad378f5844448b" /><Relationship Type="http://schemas.openxmlformats.org/officeDocument/2006/relationships/image" Target="/ppt/media/image3.png" Id="Rf8bbbd1365c1458a" /><Relationship Type="http://schemas.openxmlformats.org/officeDocument/2006/relationships/notesSlide" Target="/ppt/notesSlides/notesSlide13.xml" Id="R3758ae20b6574d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7a831e91e6d40d8" /><Relationship Type="http://schemas.openxmlformats.org/officeDocument/2006/relationships/image" Target="/ppt/media/image2.png" Id="R8f67b1c8d67b45c8" /><Relationship Type="http://schemas.openxmlformats.org/officeDocument/2006/relationships/image" Target="/ppt/media/image3.png" Id="Rd0bc0c10d434465a" /><Relationship Type="http://schemas.openxmlformats.org/officeDocument/2006/relationships/notesSlide" Target="/ppt/notesSlides/notesSlide14.xml" Id="R43b8486557f74a1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ec16d48bed249ca" /><Relationship Type="http://schemas.openxmlformats.org/officeDocument/2006/relationships/image" Target="/ppt/media/image2.png" Id="R25bd92f8d7d1443a" /><Relationship Type="http://schemas.openxmlformats.org/officeDocument/2006/relationships/image" Target="/ppt/media/image3.png" Id="R8d72013b00384a46" /><Relationship Type="http://schemas.openxmlformats.org/officeDocument/2006/relationships/notesSlide" Target="/ppt/notesSlides/notesSlide15.xml" Id="Rbfbf2a3df83c441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ff5972f6fec4f0e" /><Relationship Type="http://schemas.openxmlformats.org/officeDocument/2006/relationships/image" Target="/ppt/media/image2.png" Id="R21efd320d5b44f72" /><Relationship Type="http://schemas.openxmlformats.org/officeDocument/2006/relationships/image" Target="/ppt/media/image3.png" Id="Rd14ad392cbd04358" /><Relationship Type="http://schemas.openxmlformats.org/officeDocument/2006/relationships/notesSlide" Target="/ppt/notesSlides/notesSlide16.xml" Id="Reb25d11ec31143c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ce28138b796d43f0" /><Relationship Type="http://schemas.openxmlformats.org/officeDocument/2006/relationships/image" Target="/ppt/media/image2.png" Id="R5b461495363c47ac" /><Relationship Type="http://schemas.openxmlformats.org/officeDocument/2006/relationships/image" Target="/ppt/media/image4.png" Id="R5bad771c16bb4452" /><Relationship Type="http://schemas.openxmlformats.org/officeDocument/2006/relationships/image" Target="/ppt/media/image8.png" Id="R2ee81033bf4b4c6a" /><Relationship Type="http://schemas.openxmlformats.org/officeDocument/2006/relationships/image" Target="/ppt/media/image3.png" Id="R5f1a1eabab70404d" /><Relationship Type="http://schemas.openxmlformats.org/officeDocument/2006/relationships/notesSlide" Target="/ppt/notesSlides/notesSlide17.xml" Id="Rbdd53718e2c54fe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20b822d33494c4d" /><Relationship Type="http://schemas.openxmlformats.org/officeDocument/2006/relationships/image" Target="/ppt/media/image2.png" Id="Rbef468f37d05442c" /><Relationship Type="http://schemas.openxmlformats.org/officeDocument/2006/relationships/image" Target="/ppt/media/image9.png" Id="Ra4124659d6214bd3" /><Relationship Type="http://schemas.openxmlformats.org/officeDocument/2006/relationships/image" Target="/ppt/media/image10.png" Id="R7bce8ccc750a4e92" /><Relationship Type="http://schemas.openxmlformats.org/officeDocument/2006/relationships/image" Target="/ppt/media/image3.png" Id="Rddfc6abd86dc44e2" /><Relationship Type="http://schemas.openxmlformats.org/officeDocument/2006/relationships/notesSlide" Target="/ppt/notesSlides/notesSlide18.xml" Id="Rd6a1aac248fd4f6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83672ff4cce4994" /><Relationship Type="http://schemas.openxmlformats.org/officeDocument/2006/relationships/image" Target="/ppt/media/image2.png" Id="R1d06693b8da04f5a" /><Relationship Type="http://schemas.openxmlformats.org/officeDocument/2006/relationships/image" Target="/ppt/media/image9.png" Id="R6df0487e18844ce3" /><Relationship Type="http://schemas.openxmlformats.org/officeDocument/2006/relationships/image" Target="/ppt/media/image11.png" Id="Rbc52989d897a4d98" /><Relationship Type="http://schemas.openxmlformats.org/officeDocument/2006/relationships/image" Target="/ppt/media/image3.png" Id="Rf3101fa2e8df4d81" /><Relationship Type="http://schemas.openxmlformats.org/officeDocument/2006/relationships/notesSlide" Target="/ppt/notesSlides/notesSlide19.xml" Id="R7ef430513ff1493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574a34388434ac6" /><Relationship Type="http://schemas.openxmlformats.org/officeDocument/2006/relationships/image" Target="/ppt/media/image2.png" Id="R9b8e37fa09634f92" /><Relationship Type="http://schemas.openxmlformats.org/officeDocument/2006/relationships/image" Target="/ppt/media/image9.png" Id="Rad2b78d8ade44460" /><Relationship Type="http://schemas.openxmlformats.org/officeDocument/2006/relationships/image" Target="/ppt/media/image10.png" Id="R2a4b330130914aea" /><Relationship Type="http://schemas.openxmlformats.org/officeDocument/2006/relationships/image" Target="/ppt/media/image3.png" Id="Recbe20865f704f2e" /><Relationship Type="http://schemas.openxmlformats.org/officeDocument/2006/relationships/notesSlide" Target="/ppt/notesSlides/notesSlide20.xml" Id="Rd756d50a02b1452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d35bbb63f0b418c" /><Relationship Type="http://schemas.openxmlformats.org/officeDocument/2006/relationships/image" Target="/ppt/media/image2.png" Id="R7f7e455c04ce4ec0" /><Relationship Type="http://schemas.openxmlformats.org/officeDocument/2006/relationships/image" Target="/ppt/media/image3.png" Id="Rf6ba9eb9f3124884" /><Relationship Type="http://schemas.openxmlformats.org/officeDocument/2006/relationships/notesSlide" Target="/ppt/notesSlides/notesSlide21.xml" Id="R1d3d9428aa534e0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dd760f3ef9c4473" /><Relationship Type="http://schemas.openxmlformats.org/officeDocument/2006/relationships/image" Target="/ppt/media/image2.png" Id="R441bcf5bbab14c5c" /><Relationship Type="http://schemas.openxmlformats.org/officeDocument/2006/relationships/image" Target="/ppt/media/image3.png" Id="R4ddb9f89457a4647" /><Relationship Type="http://schemas.openxmlformats.org/officeDocument/2006/relationships/notesSlide" Target="/ppt/notesSlides/notesSlide22.xml" Id="R77c8375fa662431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8f01f9826dc4885" /><Relationship Type="http://schemas.openxmlformats.org/officeDocument/2006/relationships/image" Target="/ppt/media/image2.png" Id="R65f31ee2147a4962" /><Relationship Type="http://schemas.openxmlformats.org/officeDocument/2006/relationships/image" Target="/ppt/media/image3.png" Id="Ra598c14fbfd949f3" /><Relationship Type="http://schemas.openxmlformats.org/officeDocument/2006/relationships/notesSlide" Target="/ppt/notesSlides/notesSlide23.xml" Id="R778abc1a82e5428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381f79f56954964" /><Relationship Type="http://schemas.openxmlformats.org/officeDocument/2006/relationships/image" Target="/ppt/media/image2.png" Id="Rd364de3a622b418f" /><Relationship Type="http://schemas.openxmlformats.org/officeDocument/2006/relationships/image" Target="/ppt/media/image3.png" Id="Rfd5f7a7650b34651" /><Relationship Type="http://schemas.openxmlformats.org/officeDocument/2006/relationships/notesSlide" Target="/ppt/notesSlides/notesSlide24.xml" Id="R10e6328c4a3e47a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c2a1735523346d3" /><Relationship Type="http://schemas.openxmlformats.org/officeDocument/2006/relationships/image" Target="/ppt/media/image2.png" Id="Rc51bdebb3a7f4c0c" /><Relationship Type="http://schemas.openxmlformats.org/officeDocument/2006/relationships/image" Target="/ppt/media/image3.png" Id="Rb0a90fcf97344567" /><Relationship Type="http://schemas.openxmlformats.org/officeDocument/2006/relationships/notesSlide" Target="/ppt/notesSlides/notesSlide25.xml" Id="Ree93b6fe902040c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199ef09255741d2" /><Relationship Type="http://schemas.openxmlformats.org/officeDocument/2006/relationships/image" Target="/ppt/media/image2.png" Id="R3f6a78770b0549af" /><Relationship Type="http://schemas.openxmlformats.org/officeDocument/2006/relationships/image" Target="/ppt/media/image3.png" Id="R1c2a39ba8d7e4947" /><Relationship Type="http://schemas.openxmlformats.org/officeDocument/2006/relationships/notesSlide" Target="/ppt/notesSlides/notesSlide26.xml" Id="R9295286b09dd430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bf857028f68b4f5e" /><Relationship Type="http://schemas.openxmlformats.org/officeDocument/2006/relationships/image" Target="/ppt/media/image2.png" Id="R000508d179f04f3c" /><Relationship Type="http://schemas.openxmlformats.org/officeDocument/2006/relationships/image" Target="/ppt/media/image4.png" Id="Rf40d684599f94741" /><Relationship Type="http://schemas.openxmlformats.org/officeDocument/2006/relationships/image" Target="/ppt/media/image12.png" Id="Rf5ff29512c1142fd" /><Relationship Type="http://schemas.openxmlformats.org/officeDocument/2006/relationships/image" Target="/ppt/media/image3.png" Id="R997e3eef31dc4292" /><Relationship Type="http://schemas.openxmlformats.org/officeDocument/2006/relationships/notesSlide" Target="/ppt/notesSlides/notesSlide27.xml" Id="R8ecdc0e5a9b147c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8fb9973ce314552" /><Relationship Type="http://schemas.openxmlformats.org/officeDocument/2006/relationships/image" Target="/ppt/media/image2.png" Id="R91af7a535ad54eb8" /><Relationship Type="http://schemas.openxmlformats.org/officeDocument/2006/relationships/image" Target="/ppt/media/image3.png" Id="Ra13ad5e251ca4121" /><Relationship Type="http://schemas.openxmlformats.org/officeDocument/2006/relationships/notesSlide" Target="/ppt/notesSlides/notesSlide28.xml" Id="R7796952f16934cc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ff724ed06814fdd" /><Relationship Type="http://schemas.openxmlformats.org/officeDocument/2006/relationships/image" Target="/ppt/media/image2.png" Id="R4896f14ec29344f2" /><Relationship Type="http://schemas.openxmlformats.org/officeDocument/2006/relationships/chart" Target="/ppt/slides/charts/chart2.xml" Id="R9a8bb314fa0b4139" /><Relationship Type="http://schemas.openxmlformats.org/officeDocument/2006/relationships/image" Target="/ppt/media/image3.png" Id="R1c245a612a0f47ea" /><Relationship Type="http://schemas.openxmlformats.org/officeDocument/2006/relationships/notesSlide" Target="/ppt/notesSlides/notesSlide29.xml" Id="R12db00d0320a449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cefd83b25cc4ae9" /><Relationship Type="http://schemas.openxmlformats.org/officeDocument/2006/relationships/image" Target="/ppt/media/image2.png" Id="Ra2e6cefbf85e4d2d" /><Relationship Type="http://schemas.openxmlformats.org/officeDocument/2006/relationships/image" Target="/ppt/media/image13.png" Id="Ra71e1f2f691d4384" /><Relationship Type="http://schemas.openxmlformats.org/officeDocument/2006/relationships/image" Target="/ppt/media/image14.png" Id="Rd4e19f3e19254135" /><Relationship Type="http://schemas.openxmlformats.org/officeDocument/2006/relationships/image" Target="/ppt/media/image3.png" Id="Rdf22af5ae2b341dd" /><Relationship Type="http://schemas.openxmlformats.org/officeDocument/2006/relationships/notesSlide" Target="/ppt/notesSlides/notesSlide30.xml" Id="R6413ca996d0b4c4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1be2d313b315484c" /><Relationship Type="http://schemas.openxmlformats.org/officeDocument/2006/relationships/image" Target="/ppt/media/image2.png" Id="Rb6909ff184274b89" /><Relationship Type="http://schemas.openxmlformats.org/officeDocument/2006/relationships/image" Target="/ppt/media/image4.png" Id="R33680b01195f4e0c" /><Relationship Type="http://schemas.openxmlformats.org/officeDocument/2006/relationships/image" Target="/ppt/media/image15.png" Id="Rce2d2de78dd84f60" /><Relationship Type="http://schemas.openxmlformats.org/officeDocument/2006/relationships/image" Target="/ppt/media/image3.png" Id="R0f4f98a782ef4a11" /><Relationship Type="http://schemas.openxmlformats.org/officeDocument/2006/relationships/notesSlide" Target="/ppt/notesSlides/notesSlide31.xml" Id="R3c6988c865404e5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4c49451fd82450e" /><Relationship Type="http://schemas.openxmlformats.org/officeDocument/2006/relationships/image" Target="/ppt/media/image2.png" Id="R44ea2a3592954f34" /><Relationship Type="http://schemas.openxmlformats.org/officeDocument/2006/relationships/image" Target="/ppt/media/image3.png" Id="Rc67b815381424fd9" /><Relationship Type="http://schemas.openxmlformats.org/officeDocument/2006/relationships/notesSlide" Target="/ppt/notesSlides/notesSlide32.xml" Id="R183486f15406498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d8ab3b60ac74a57" /><Relationship Type="http://schemas.openxmlformats.org/officeDocument/2006/relationships/image" Target="/ppt/media/image2.png" Id="R3e8e6890c15640d3" /><Relationship Type="http://schemas.openxmlformats.org/officeDocument/2006/relationships/image" Target="/ppt/media/image3.png" Id="Ra16aba3a078843e4" /><Relationship Type="http://schemas.openxmlformats.org/officeDocument/2006/relationships/notesSlide" Target="/ppt/notesSlides/notesSlide33.xml" Id="Rd3be834af779439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2a15e616fec4f26" /><Relationship Type="http://schemas.openxmlformats.org/officeDocument/2006/relationships/image" Target="/ppt/media/image2.png" Id="R2c20ebcbfbd64f1d" /><Relationship Type="http://schemas.openxmlformats.org/officeDocument/2006/relationships/image" Target="/ppt/media/image3.png" Id="Rc7731b1a3990424f" /><Relationship Type="http://schemas.openxmlformats.org/officeDocument/2006/relationships/notesSlide" Target="/ppt/notesSlides/notesSlide34.xml" Id="Re6304b443ebd4db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e092df064a14dd8" /><Relationship Type="http://schemas.openxmlformats.org/officeDocument/2006/relationships/image" Target="/ppt/media/image2.png" Id="Rc13feb0cb73d493a" /><Relationship Type="http://schemas.openxmlformats.org/officeDocument/2006/relationships/image" Target="/ppt/media/image3.png" Id="Re9eddd2bd35148fc" /><Relationship Type="http://schemas.openxmlformats.org/officeDocument/2006/relationships/notesSlide" Target="/ppt/notesSlides/notesSlide35.xml" Id="R879e791f754944a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428901e412543c6" /><Relationship Type="http://schemas.openxmlformats.org/officeDocument/2006/relationships/image" Target="/ppt/media/image2.png" Id="Rf9a6bd5370db4d06" /><Relationship Type="http://schemas.openxmlformats.org/officeDocument/2006/relationships/image" Target="/ppt/media/image3.png" Id="Rcf4d58cf18ce4514" /><Relationship Type="http://schemas.openxmlformats.org/officeDocument/2006/relationships/notesSlide" Target="/ppt/notesSlides/notesSlide36.xml" Id="R7575a1c717224ac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504204820ca4a83" /><Relationship Type="http://schemas.openxmlformats.org/officeDocument/2006/relationships/image" Target="/ppt/media/image2.png" Id="Rb57e1293fa364ef6" /><Relationship Type="http://schemas.openxmlformats.org/officeDocument/2006/relationships/image" Target="/ppt/media/image3.png" Id="Ra599ce14903549b6" /><Relationship Type="http://schemas.openxmlformats.org/officeDocument/2006/relationships/notesSlide" Target="/ppt/notesSlides/notesSlide37.xml" Id="R6e0e96917866442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3ae44a140114648" /><Relationship Type="http://schemas.openxmlformats.org/officeDocument/2006/relationships/image" Target="/ppt/media/image2.png" Id="R2c4089b95b064b85" /><Relationship Type="http://schemas.openxmlformats.org/officeDocument/2006/relationships/image" Target="/ppt/media/image3.png" Id="Rf0a6b09a4f1a4f8a" /><Relationship Type="http://schemas.openxmlformats.org/officeDocument/2006/relationships/notesSlide" Target="/ppt/notesSlides/notesSlide38.xml" Id="Rb1523354f0aa4c2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3cb0b98c905845d2" /><Relationship Type="http://schemas.openxmlformats.org/officeDocument/2006/relationships/image" Target="/ppt/media/image2.png" Id="R2ce5f2e4f8954a6e" /><Relationship Type="http://schemas.openxmlformats.org/officeDocument/2006/relationships/image" Target="/ppt/media/image3.png" Id="Rf1ef45237eac4437" /><Relationship Type="http://schemas.openxmlformats.org/officeDocument/2006/relationships/notesSlide" Target="/ppt/notesSlides/notesSlide39.xml" Id="R61d441d4e35b47f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655194f137b94d8b" /><Relationship Type="http://schemas.openxmlformats.org/officeDocument/2006/relationships/image" Target="/ppt/media/image2.png" Id="R5e49e67e36314199" /><Relationship Type="http://schemas.openxmlformats.org/officeDocument/2006/relationships/image" Target="/ppt/media/image3.png" Id="Ra3797f0a71784480" /><Relationship Type="http://schemas.openxmlformats.org/officeDocument/2006/relationships/notesSlide" Target="/ppt/notesSlides/notesSlide40.xml" Id="R5b1be7135332458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54768d11a21040f6" /><Relationship Type="http://schemas.openxmlformats.org/officeDocument/2006/relationships/image" Target="/ppt/media/image2.png" Id="Re69d6fa77b494ee3" /><Relationship Type="http://schemas.openxmlformats.org/officeDocument/2006/relationships/image" Target="/ppt/media/image16.png" Id="R01e40f65ab3048f6" /><Relationship Type="http://schemas.openxmlformats.org/officeDocument/2006/relationships/image" Target="/ppt/media/image3.png" Id="Rd7d3957f5c2f4960" /><Relationship Type="http://schemas.openxmlformats.org/officeDocument/2006/relationships/notesSlide" Target="/ppt/notesSlides/notesSlide41.xml" Id="R552c17af36af4d0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7dc2182bec074541" /><Relationship Type="http://schemas.openxmlformats.org/officeDocument/2006/relationships/image" Target="/ppt/media/image.gif" Id="Rd8ab93dbbb564a01" /><Relationship Type="http://schemas.openxmlformats.org/officeDocument/2006/relationships/image" Target="/ppt/media/image2.png" Id="R942c06fe5b1a4acd" /><Relationship Type="http://schemas.openxmlformats.org/officeDocument/2006/relationships/image" Target="/ppt/media/image3.png" Id="R368297ab53974ece" /><Relationship Type="http://schemas.openxmlformats.org/officeDocument/2006/relationships/notesSlide" Target="/ppt/notesSlides/notesSlide42.xml" Id="Ra0c8b9c860c14c19"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autoTitleDeleted val="0"/>
    <c:plotArea>
      <c:barChart>
        <c:barDir val="col"/>
        <c:grouping val="clustered"/>
        <c:varyColors val="1"/>
        <c:ser>
          <c:idx val="0"/>
          <c:order val="0"/>
          <c:tx>
            <c:v>AUC</c:v>
          </c:tx>
          <c:spPr>
            <a:solidFill xmlns:a="http://schemas.openxmlformats.org/drawingml/2006/main">
              <a:srgbClr val="1E3A5F"/>
            </a:solidFill>
          </c:spPr>
          <c:dPt>
            <c:idx val="1"/>
            <c:invertIfNegative val="0"/>
            <c:spPr>
              <a:solidFill xmlns:a="http://schemas.openxmlformats.org/drawingml/2006/main">
                <a:srgbClr val="008A46"/>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2"/>
              <c:pt idx="0">
                <c:v>Local models</c:v>
              </c:pt>
              <c:pt idx="1">
                <c:v>EXAM federated model</c:v>
              </c:pt>
            </c:strLit>
          </c:cat>
          <c:val>
            <c:numLit>
              <c:formatCode>0.000</c:formatCode>
              <c:ptCount val="2"/>
              <c:pt idx="0">
                <c:v>0.795</c:v>
              </c:pt>
              <c:pt idx="1">
                <c:v>0.92</c:v>
              </c:pt>
            </c:numLit>
          </c:val>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rosses val="autoZero"/>
        <c:lblOffset val="100"/>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0"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es val="autoZero"/>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autoTitleDeleted val="0"/>
    <c:plotArea>
      <c:barChart>
        <c:barDir val="bar"/>
        <c:grouping val="clustered"/>
        <c:varyColors val="0"/>
        <c:ser>
          <c:idx val="0"/>
          <c:order val="0"/>
          <c:tx>
            <c:v>Reduction</c:v>
          </c:tx>
          <c:spPr>
            <a:solidFill xmlns:a="http://schemas.openxmlformats.org/drawingml/2006/main">
              <a:srgbClr val="00843D"/>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rosses val="autoZero"/>
        <c:lblOffset val="100"/>
      </c:catAx>
      <c:valAx>
        <c:axId val="48672768"/>
        <c:scaling>
          <c:orientation val="minMax"/>
        </c:scaling>
        <c:delete val="0"/>
        <c:axPos val="b"/>
        <c:numFmt formatCode="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es val="autoZero"/>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e1906a858f1f452b">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815671" y="1419007"/>
            <a:ext cx="10668000" cy="122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536488"/>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9"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2d583dabaec64b57">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375254" y="6396928"/>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1" name="Picture 68"/>
          <p:cNvPicPr>
            <a:picLocks xmlns:a="http://schemas.openxmlformats.org/drawingml/2006/main" noChangeAspect="1"/>
          </p:cNvPicPr>
          <p:nvPr/>
        </p:nvPicPr>
        <p:blipFill>
          <a:blip xmlns:r="http://schemas.openxmlformats.org/officeDocument/2006/relationships" xmlns:a="http://schemas.openxmlformats.org/drawingml/2006/main" r:embed="R7268a9a5040846f1"/>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57475" y="66294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i="0">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250" b="1" i="0">
                <a:solidFill>
                  <a:srgbClr val="062B6F"/>
                </a:solidFill>
                <a:latin typeface="Arial"/>
                <a:ea typeface="Arial"/>
                <a:cs typeface="Arial"/>
              </a:defRPr>
            </a:pPr>
            <a:r>
              <a:rPr sz="2250" b="1" i="0">
                <a:solidFill>
                  <a:srgbClr val="062B6F"/>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6" name="toc-layout-cover">
            <a:extLst xmlns:a="http://schemas.openxmlformats.org/drawingml/2006/main">
              <a:ext uri="{FF2B5EF4-FFF2-40B4-BE49-F238E27FC236}">
                <a16:creationId xmlns:a16="http://schemas.microsoft.com/office/drawing/2014/main" id="{EB85D7A0-B89B-4FC5-AE09-E11CB4F7A0E2}"/>
              </a:ext>
            </a:extLst>
          </p:cNvPr>
          <p:cNvSpPr>
            <a:spLocks xmlns:a="http://schemas.openxmlformats.org/drawingml/2006/main" noGrp="1"/>
          </p:cNvSpPr>
          <p:nvPr/>
        </p:nvSpPr>
        <p:spPr>
          <a:xfrm xmlns:a="http://schemas.openxmlformats.org/drawingml/2006/main">
            <a:off x="428625" y="1143000"/>
            <a:ext cx="11430000" cy="50958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toc-center-divider">
            <a:extLst xmlns:a="http://schemas.openxmlformats.org/drawingml/2006/main">
              <a:ext uri="{FF2B5EF4-FFF2-40B4-BE49-F238E27FC236}">
                <a16:creationId xmlns:a16="http://schemas.microsoft.com/office/drawing/2014/main" id="{8DB92A33-CCD2-422E-8493-D154849ECFDC}"/>
              </a:ext>
            </a:extLst>
          </p:cNvPr>
          <p:cNvSpPr>
            <a:spLocks xmlns:a="http://schemas.openxmlformats.org/drawingml/2006/main" noGrp="1"/>
          </p:cNvSpPr>
          <p:nvPr/>
        </p:nvSpPr>
        <p:spPr>
          <a:xfrm xmlns:a="http://schemas.openxmlformats.org/drawingml/2006/main">
            <a:off x="6076950" y="1428750"/>
            <a:ext cx="19050" cy="4476750"/>
          </a:xfrm>
          <a:prstGeom xmlns:a="http://schemas.openxmlformats.org/drawingml/2006/main" prst="rect">
            <a:avLst/>
          </a:prstGeom>
          <a:solidFill xmlns:a="http://schemas.openxmlformats.org/drawingml/2006/main">
            <a:srgbClr val="DDE8E1"/>
          </a:solidFill>
          <a:ln xmlns:a="http://schemas.openxmlformats.org/drawingml/2006/main" w="0">
            <a:noFill/>
          </a:ln>
        </p:spPr>
      </p:sp>
      <p:sp>
        <p:nvSpPr>
          <p:cNvPr id="18" name="toc-center-divider-accent">
            <a:extLst xmlns:a="http://schemas.openxmlformats.org/drawingml/2006/main">
              <a:ext uri="{FF2B5EF4-FFF2-40B4-BE49-F238E27FC236}">
                <a16:creationId xmlns:a16="http://schemas.microsoft.com/office/drawing/2014/main" id="{B7AE5AE8-CF65-4B0B-B076-13FF885AA7DA}"/>
              </a:ext>
            </a:extLst>
          </p:cNvPr>
          <p:cNvSpPr>
            <a:spLocks xmlns:a="http://schemas.openxmlformats.org/drawingml/2006/main" noGrp="1"/>
          </p:cNvSpPr>
          <p:nvPr/>
        </p:nvSpPr>
        <p:spPr>
          <a:xfrm xmlns:a="http://schemas.openxmlformats.org/drawingml/2006/main">
            <a:off x="6076950" y="2190750"/>
            <a:ext cx="19050" cy="290512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19" name="toc-introduction-marker">
            <a:extLst xmlns:a="http://schemas.openxmlformats.org/drawingml/2006/main">
              <a:ext uri="{FF2B5EF4-FFF2-40B4-BE49-F238E27FC236}">
                <a16:creationId xmlns:a16="http://schemas.microsoft.com/office/drawing/2014/main" id="{20AFD810-0237-4509-A6EB-39DDD85DE7C5}"/>
              </a:ext>
            </a:extLst>
          </p:cNvPr>
          <p:cNvSpPr>
            <a:spLocks xmlns:a="http://schemas.openxmlformats.org/drawingml/2006/main" noGrp="1"/>
          </p:cNvSpPr>
          <p:nvPr/>
        </p:nvSpPr>
        <p:spPr>
          <a:xfrm xmlns:a="http://schemas.openxmlformats.org/drawingml/2006/main">
            <a:off x="781050"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0" name="toc-introduction-title">
            <a:extLst xmlns:a="http://schemas.openxmlformats.org/drawingml/2006/main">
              <a:ext uri="{FF2B5EF4-FFF2-40B4-BE49-F238E27FC236}">
                <a16:creationId xmlns:a16="http://schemas.microsoft.com/office/drawing/2014/main" id="{C6A1879B-2B24-461C-9404-8457990A0544}"/>
              </a:ext>
            </a:extLst>
          </p:cNvPr>
          <p:cNvSpPr>
            <a:spLocks xmlns:a="http://schemas.openxmlformats.org/drawingml/2006/main" noGrp="1"/>
          </p:cNvSpPr>
          <p:nvPr/>
        </p:nvSpPr>
        <p:spPr>
          <a:xfrm xmlns:a="http://schemas.openxmlformats.org/drawingml/2006/main">
            <a:off x="1047750"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Introduction</a:t>
            </a:r>
          </a:p>
        </p:txBody>
      </p:sp>
      <p:sp>
        <p:nvSpPr>
          <p:cNvPr id="21" name="toc-introduction-chevron-1">
            <a:extLst xmlns:a="http://schemas.openxmlformats.org/drawingml/2006/main">
              <a:ext uri="{FF2B5EF4-FFF2-40B4-BE49-F238E27FC236}">
                <a16:creationId xmlns:a16="http://schemas.microsoft.com/office/drawing/2014/main" id="{ED46F73D-DEEE-4AD4-8C83-7A6B27775D16}"/>
              </a:ext>
            </a:extLst>
          </p:cNvPr>
          <p:cNvSpPr>
            <a:spLocks xmlns:a="http://schemas.openxmlformats.org/drawingml/2006/main" noGrp="1"/>
          </p:cNvSpPr>
          <p:nvPr/>
        </p:nvSpPr>
        <p:spPr>
          <a:xfrm xmlns:a="http://schemas.openxmlformats.org/drawingml/2006/main">
            <a:off x="1181100"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2" name="toc-introduction-item-1">
            <a:extLst xmlns:a="http://schemas.openxmlformats.org/drawingml/2006/main">
              <a:ext uri="{FF2B5EF4-FFF2-40B4-BE49-F238E27FC236}">
                <a16:creationId xmlns:a16="http://schemas.microsoft.com/office/drawing/2014/main" id="{5B518010-3BC3-43DB-B63D-A1BB68F41DA9}"/>
              </a:ext>
            </a:extLst>
          </p:cNvPr>
          <p:cNvSpPr>
            <a:spLocks xmlns:a="http://schemas.openxmlformats.org/drawingml/2006/main" noGrp="1"/>
          </p:cNvSpPr>
          <p:nvPr/>
        </p:nvSpPr>
        <p:spPr>
          <a:xfrm xmlns:a="http://schemas.openxmlformats.org/drawingml/2006/main">
            <a:off x="1466850"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Background and motivation</a:t>
            </a:r>
          </a:p>
        </p:txBody>
      </p:sp>
      <p:sp>
        <p:nvSpPr>
          <p:cNvPr id="23" name="toc-introduction-chevron-2">
            <a:extLst xmlns:a="http://schemas.openxmlformats.org/drawingml/2006/main">
              <a:ext uri="{FF2B5EF4-FFF2-40B4-BE49-F238E27FC236}">
                <a16:creationId xmlns:a16="http://schemas.microsoft.com/office/drawing/2014/main" id="{CDD3684C-4BC1-4792-B7ED-E18200CF7B2A}"/>
              </a:ext>
            </a:extLst>
          </p:cNvPr>
          <p:cNvSpPr>
            <a:spLocks xmlns:a="http://schemas.openxmlformats.org/drawingml/2006/main" noGrp="1"/>
          </p:cNvSpPr>
          <p:nvPr/>
        </p:nvSpPr>
        <p:spPr>
          <a:xfrm xmlns:a="http://schemas.openxmlformats.org/drawingml/2006/main">
            <a:off x="1181100"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4" name="toc-introduction-item-2">
            <a:extLst xmlns:a="http://schemas.openxmlformats.org/drawingml/2006/main">
              <a:ext uri="{FF2B5EF4-FFF2-40B4-BE49-F238E27FC236}">
                <a16:creationId xmlns:a16="http://schemas.microsoft.com/office/drawing/2014/main" id="{CBC16602-1DCD-4A1A-AC3A-726BDBAD88BF}"/>
              </a:ext>
            </a:extLst>
          </p:cNvPr>
          <p:cNvSpPr>
            <a:spLocks xmlns:a="http://schemas.openxmlformats.org/drawingml/2006/main" noGrp="1"/>
          </p:cNvSpPr>
          <p:nvPr/>
        </p:nvSpPr>
        <p:spPr>
          <a:xfrm xmlns:a="http://schemas.openxmlformats.org/drawingml/2006/main">
            <a:off x="1466850"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Problem statement</a:t>
            </a:r>
          </a:p>
        </p:txBody>
      </p:sp>
      <p:sp>
        <p:nvSpPr>
          <p:cNvPr id="25" name="toc-introduction-chevron-3">
            <a:extLst xmlns:a="http://schemas.openxmlformats.org/drawingml/2006/main">
              <a:ext uri="{FF2B5EF4-FFF2-40B4-BE49-F238E27FC236}">
                <a16:creationId xmlns:a16="http://schemas.microsoft.com/office/drawing/2014/main" id="{590FA40F-1F68-46F6-B7AF-2CC09442BC4C}"/>
              </a:ext>
            </a:extLst>
          </p:cNvPr>
          <p:cNvSpPr>
            <a:spLocks xmlns:a="http://schemas.openxmlformats.org/drawingml/2006/main" noGrp="1"/>
          </p:cNvSpPr>
          <p:nvPr/>
        </p:nvSpPr>
        <p:spPr>
          <a:xfrm xmlns:a="http://schemas.openxmlformats.org/drawingml/2006/main">
            <a:off x="1181100"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6" name="toc-introduction-item-3">
            <a:extLst xmlns:a="http://schemas.openxmlformats.org/drawingml/2006/main">
              <a:ext uri="{FF2B5EF4-FFF2-40B4-BE49-F238E27FC236}">
                <a16:creationId xmlns:a16="http://schemas.microsoft.com/office/drawing/2014/main" id="{299ED237-5381-4798-9870-64C2CFB74A21}"/>
              </a:ext>
            </a:extLst>
          </p:cNvPr>
          <p:cNvSpPr>
            <a:spLocks xmlns:a="http://schemas.openxmlformats.org/drawingml/2006/main" noGrp="1"/>
          </p:cNvSpPr>
          <p:nvPr/>
        </p:nvSpPr>
        <p:spPr>
          <a:xfrm xmlns:a="http://schemas.openxmlformats.org/drawingml/2006/main">
            <a:off x="1466850"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Research questions and objectives</a:t>
            </a:r>
          </a:p>
        </p:txBody>
      </p:sp>
      <p:sp>
        <p:nvSpPr>
          <p:cNvPr id="27" name="toc-literature-marker">
            <a:extLst xmlns:a="http://schemas.openxmlformats.org/drawingml/2006/main">
              <a:ext uri="{FF2B5EF4-FFF2-40B4-BE49-F238E27FC236}">
                <a16:creationId xmlns:a16="http://schemas.microsoft.com/office/drawing/2014/main" id="{B4EDC459-3AC7-4E59-8671-97041EC83181}"/>
              </a:ext>
            </a:extLst>
          </p:cNvPr>
          <p:cNvSpPr>
            <a:spLocks xmlns:a="http://schemas.openxmlformats.org/drawingml/2006/main" noGrp="1"/>
          </p:cNvSpPr>
          <p:nvPr/>
        </p:nvSpPr>
        <p:spPr>
          <a:xfrm xmlns:a="http://schemas.openxmlformats.org/drawingml/2006/main">
            <a:off x="781050"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8" name="toc-literature-title">
            <a:extLst xmlns:a="http://schemas.openxmlformats.org/drawingml/2006/main">
              <a:ext uri="{FF2B5EF4-FFF2-40B4-BE49-F238E27FC236}">
                <a16:creationId xmlns:a16="http://schemas.microsoft.com/office/drawing/2014/main" id="{E7394B6E-47C3-4AF2-90B0-522DAB160513}"/>
              </a:ext>
            </a:extLst>
          </p:cNvPr>
          <p:cNvSpPr>
            <a:spLocks xmlns:a="http://schemas.openxmlformats.org/drawingml/2006/main" noGrp="1"/>
          </p:cNvSpPr>
          <p:nvPr/>
        </p:nvSpPr>
        <p:spPr>
          <a:xfrm xmlns:a="http://schemas.openxmlformats.org/drawingml/2006/main">
            <a:off x="1047750"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Literature Review</a:t>
            </a:r>
          </a:p>
        </p:txBody>
      </p:sp>
      <p:sp>
        <p:nvSpPr>
          <p:cNvPr id="29" name="toc-literature-chevron-1">
            <a:extLst xmlns:a="http://schemas.openxmlformats.org/drawingml/2006/main">
              <a:ext uri="{FF2B5EF4-FFF2-40B4-BE49-F238E27FC236}">
                <a16:creationId xmlns:a16="http://schemas.microsoft.com/office/drawing/2014/main" id="{E4C5ABD3-54F1-4BC4-B308-386E8F69A498}"/>
              </a:ext>
            </a:extLst>
          </p:cNvPr>
          <p:cNvSpPr>
            <a:spLocks xmlns:a="http://schemas.openxmlformats.org/drawingml/2006/main" noGrp="1"/>
          </p:cNvSpPr>
          <p:nvPr/>
        </p:nvSpPr>
        <p:spPr>
          <a:xfrm xmlns:a="http://schemas.openxmlformats.org/drawingml/2006/main">
            <a:off x="1181100" y="310515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0" name="toc-literature-item-1">
            <a:extLst xmlns:a="http://schemas.openxmlformats.org/drawingml/2006/main">
              <a:ext uri="{FF2B5EF4-FFF2-40B4-BE49-F238E27FC236}">
                <a16:creationId xmlns:a16="http://schemas.microsoft.com/office/drawing/2014/main" id="{896A1579-0C62-4F0D-955B-2B7F7F9C5DA3}"/>
              </a:ext>
            </a:extLst>
          </p:cNvPr>
          <p:cNvSpPr>
            <a:spLocks xmlns:a="http://schemas.openxmlformats.org/drawingml/2006/main" noGrp="1"/>
          </p:cNvSpPr>
          <p:nvPr/>
        </p:nvSpPr>
        <p:spPr>
          <a:xfrm xmlns:a="http://schemas.openxmlformats.org/drawingml/2006/main">
            <a:off x="1466850" y="310515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Related studies</a:t>
            </a:r>
          </a:p>
        </p:txBody>
      </p:sp>
      <p:sp>
        <p:nvSpPr>
          <p:cNvPr id="31" name="toc-literature-chevron-2">
            <a:extLst xmlns:a="http://schemas.openxmlformats.org/drawingml/2006/main">
              <a:ext uri="{FF2B5EF4-FFF2-40B4-BE49-F238E27FC236}">
                <a16:creationId xmlns:a16="http://schemas.microsoft.com/office/drawing/2014/main" id="{41B4E2B3-6349-45F6-AF64-EDE8B9C36B3A}"/>
              </a:ext>
            </a:extLst>
          </p:cNvPr>
          <p:cNvSpPr>
            <a:spLocks xmlns:a="http://schemas.openxmlformats.org/drawingml/2006/main" noGrp="1"/>
          </p:cNvSpPr>
          <p:nvPr/>
        </p:nvSpPr>
        <p:spPr>
          <a:xfrm xmlns:a="http://schemas.openxmlformats.org/drawingml/2006/main">
            <a:off x="1181100" y="33623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2" name="toc-literature-item-2">
            <a:extLst xmlns:a="http://schemas.openxmlformats.org/drawingml/2006/main">
              <a:ext uri="{FF2B5EF4-FFF2-40B4-BE49-F238E27FC236}">
                <a16:creationId xmlns:a16="http://schemas.microsoft.com/office/drawing/2014/main" id="{73660351-7D0D-4CBF-BA91-51537F803DD0}"/>
              </a:ext>
            </a:extLst>
          </p:cNvPr>
          <p:cNvSpPr>
            <a:spLocks xmlns:a="http://schemas.openxmlformats.org/drawingml/2006/main" noGrp="1"/>
          </p:cNvSpPr>
          <p:nvPr/>
        </p:nvSpPr>
        <p:spPr>
          <a:xfrm xmlns:a="http://schemas.openxmlformats.org/drawingml/2006/main">
            <a:off x="1466850" y="33623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Comparative analysis and research gap</a:t>
            </a:r>
          </a:p>
        </p:txBody>
      </p:sp>
      <p:sp>
        <p:nvSpPr>
          <p:cNvPr id="33" name="toc-framework-marker">
            <a:extLst xmlns:a="http://schemas.openxmlformats.org/drawingml/2006/main">
              <a:ext uri="{FF2B5EF4-FFF2-40B4-BE49-F238E27FC236}">
                <a16:creationId xmlns:a16="http://schemas.microsoft.com/office/drawing/2014/main" id="{9E45591D-DBA9-4DFF-B49C-96CED4E389A3}"/>
              </a:ext>
            </a:extLst>
          </p:cNvPr>
          <p:cNvSpPr>
            <a:spLocks xmlns:a="http://schemas.openxmlformats.org/drawingml/2006/main" noGrp="1"/>
          </p:cNvSpPr>
          <p:nvPr/>
        </p:nvSpPr>
        <p:spPr>
          <a:xfrm xmlns:a="http://schemas.openxmlformats.org/drawingml/2006/main">
            <a:off x="781050" y="39243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34" name="toc-framework-title">
            <a:extLst xmlns:a="http://schemas.openxmlformats.org/drawingml/2006/main">
              <a:ext uri="{FF2B5EF4-FFF2-40B4-BE49-F238E27FC236}">
                <a16:creationId xmlns:a16="http://schemas.microsoft.com/office/drawing/2014/main" id="{C0CF9239-0025-45BA-8295-AB7670CE8FF0}"/>
              </a:ext>
            </a:extLst>
          </p:cNvPr>
          <p:cNvSpPr>
            <a:spLocks xmlns:a="http://schemas.openxmlformats.org/drawingml/2006/main" noGrp="1"/>
          </p:cNvSpPr>
          <p:nvPr/>
        </p:nvSpPr>
        <p:spPr>
          <a:xfrm xmlns:a="http://schemas.openxmlformats.org/drawingml/2006/main">
            <a:off x="1047750" y="38576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Conceptual Framework</a:t>
            </a:r>
          </a:p>
        </p:txBody>
      </p:sp>
      <p:sp>
        <p:nvSpPr>
          <p:cNvPr id="35" name="toc-framework-chevron-1">
            <a:extLst xmlns:a="http://schemas.openxmlformats.org/drawingml/2006/main">
              <a:ext uri="{FF2B5EF4-FFF2-40B4-BE49-F238E27FC236}">
                <a16:creationId xmlns:a16="http://schemas.microsoft.com/office/drawing/2014/main" id="{D0FFF833-C244-4FFB-BDB4-FC5B51B2B08C}"/>
              </a:ext>
            </a:extLst>
          </p:cNvPr>
          <p:cNvSpPr>
            <a:spLocks xmlns:a="http://schemas.openxmlformats.org/drawingml/2006/main" noGrp="1"/>
          </p:cNvSpPr>
          <p:nvPr/>
        </p:nvSpPr>
        <p:spPr>
          <a:xfrm xmlns:a="http://schemas.openxmlformats.org/drawingml/2006/main">
            <a:off x="1181100" y="42005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6" name="toc-framework-item-1">
            <a:extLst xmlns:a="http://schemas.openxmlformats.org/drawingml/2006/main">
              <a:ext uri="{FF2B5EF4-FFF2-40B4-BE49-F238E27FC236}">
                <a16:creationId xmlns:a16="http://schemas.microsoft.com/office/drawing/2014/main" id="{9D73A5DB-6464-41A2-ABB6-869DC835F3DE}"/>
              </a:ext>
            </a:extLst>
          </p:cNvPr>
          <p:cNvSpPr>
            <a:spLocks xmlns:a="http://schemas.openxmlformats.org/drawingml/2006/main" noGrp="1"/>
          </p:cNvSpPr>
          <p:nvPr/>
        </p:nvSpPr>
        <p:spPr>
          <a:xfrm xmlns:a="http://schemas.openxmlformats.org/drawingml/2006/main">
            <a:off x="1466850" y="42005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Security goals and system components</a:t>
            </a:r>
          </a:p>
        </p:txBody>
      </p:sp>
      <p:sp>
        <p:nvSpPr>
          <p:cNvPr id="37" name="toc-framework-chevron-2">
            <a:extLst xmlns:a="http://schemas.openxmlformats.org/drawingml/2006/main">
              <a:ext uri="{FF2B5EF4-FFF2-40B4-BE49-F238E27FC236}">
                <a16:creationId xmlns:a16="http://schemas.microsoft.com/office/drawing/2014/main" id="{5BB24590-6216-4280-98FE-C18B441BC7F4}"/>
              </a:ext>
            </a:extLst>
          </p:cNvPr>
          <p:cNvSpPr>
            <a:spLocks xmlns:a="http://schemas.openxmlformats.org/drawingml/2006/main" noGrp="1"/>
          </p:cNvSpPr>
          <p:nvPr/>
        </p:nvSpPr>
        <p:spPr>
          <a:xfrm xmlns:a="http://schemas.openxmlformats.org/drawingml/2006/main">
            <a:off x="1181100" y="44577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8" name="toc-framework-item-2">
            <a:extLst xmlns:a="http://schemas.openxmlformats.org/drawingml/2006/main">
              <a:ext uri="{FF2B5EF4-FFF2-40B4-BE49-F238E27FC236}">
                <a16:creationId xmlns:a16="http://schemas.microsoft.com/office/drawing/2014/main" id="{F3066673-B4A1-4684-8DBC-4C576160F543}"/>
              </a:ext>
            </a:extLst>
          </p:cNvPr>
          <p:cNvSpPr>
            <a:spLocks xmlns:a="http://schemas.openxmlformats.org/drawingml/2006/main" noGrp="1"/>
          </p:cNvSpPr>
          <p:nvPr/>
        </p:nvSpPr>
        <p:spPr>
          <a:xfrm xmlns:a="http://schemas.openxmlformats.org/drawingml/2006/main">
            <a:off x="1466850" y="44577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Threat model and trust assumptions</a:t>
            </a:r>
          </a:p>
        </p:txBody>
      </p:sp>
      <p:sp>
        <p:nvSpPr>
          <p:cNvPr id="39" name="toc-methodology-marker">
            <a:extLst xmlns:a="http://schemas.openxmlformats.org/drawingml/2006/main">
              <a:ext uri="{FF2B5EF4-FFF2-40B4-BE49-F238E27FC236}">
                <a16:creationId xmlns:a16="http://schemas.microsoft.com/office/drawing/2014/main" id="{C4BCB746-101E-49D2-8084-E8C997B2C69F}"/>
              </a:ext>
            </a:extLst>
          </p:cNvPr>
          <p:cNvSpPr>
            <a:spLocks xmlns:a="http://schemas.openxmlformats.org/drawingml/2006/main" noGrp="1"/>
          </p:cNvSpPr>
          <p:nvPr/>
        </p:nvSpPr>
        <p:spPr>
          <a:xfrm xmlns:a="http://schemas.openxmlformats.org/drawingml/2006/main">
            <a:off x="6524625"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0" name="toc-methodology-title">
            <a:extLst xmlns:a="http://schemas.openxmlformats.org/drawingml/2006/main">
              <a:ext uri="{FF2B5EF4-FFF2-40B4-BE49-F238E27FC236}">
                <a16:creationId xmlns:a16="http://schemas.microsoft.com/office/drawing/2014/main" id="{EC150210-A53B-4565-8800-36B55907378A}"/>
              </a:ext>
            </a:extLst>
          </p:cNvPr>
          <p:cNvSpPr>
            <a:spLocks xmlns:a="http://schemas.openxmlformats.org/drawingml/2006/main" noGrp="1"/>
          </p:cNvSpPr>
          <p:nvPr/>
        </p:nvSpPr>
        <p:spPr>
          <a:xfrm xmlns:a="http://schemas.openxmlformats.org/drawingml/2006/main">
            <a:off x="6791325"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2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Proposed Methodology</a:t>
            </a:r>
          </a:p>
        </p:txBody>
      </p:sp>
      <p:sp>
        <p:nvSpPr>
          <p:cNvPr id="41" name="toc-methodology-chevron-1">
            <a:extLst xmlns:a="http://schemas.openxmlformats.org/drawingml/2006/main">
              <a:ext uri="{FF2B5EF4-FFF2-40B4-BE49-F238E27FC236}">
                <a16:creationId xmlns:a16="http://schemas.microsoft.com/office/drawing/2014/main" id="{898D85A8-87C8-4B49-8783-4EE9E608ED37}"/>
              </a:ext>
            </a:extLst>
          </p:cNvPr>
          <p:cNvSpPr>
            <a:spLocks xmlns:a="http://schemas.openxmlformats.org/drawingml/2006/main" noGrp="1"/>
          </p:cNvSpPr>
          <p:nvPr/>
        </p:nvSpPr>
        <p:spPr>
          <a:xfrm xmlns:a="http://schemas.openxmlformats.org/drawingml/2006/main">
            <a:off x="6924675"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2" name="toc-methodology-item-1">
            <a:extLst xmlns:a="http://schemas.openxmlformats.org/drawingml/2006/main">
              <a:ext uri="{FF2B5EF4-FFF2-40B4-BE49-F238E27FC236}">
                <a16:creationId xmlns:a16="http://schemas.microsoft.com/office/drawing/2014/main" id="{A4CFF20D-157F-454F-B635-EECE68EEF869}"/>
              </a:ext>
            </a:extLst>
          </p:cNvPr>
          <p:cNvSpPr>
            <a:spLocks xmlns:a="http://schemas.openxmlformats.org/drawingml/2006/main" noGrp="1"/>
          </p:cNvSpPr>
          <p:nvPr/>
        </p:nvSpPr>
        <p:spPr>
          <a:xfrm xmlns:a="http://schemas.openxmlformats.org/drawingml/2006/main">
            <a:off x="7210425"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System architecture</a:t>
            </a:r>
          </a:p>
        </p:txBody>
      </p:sp>
      <p:sp>
        <p:nvSpPr>
          <p:cNvPr id="43" name="toc-methodology-chevron-2">
            <a:extLst xmlns:a="http://schemas.openxmlformats.org/drawingml/2006/main">
              <a:ext uri="{FF2B5EF4-FFF2-40B4-BE49-F238E27FC236}">
                <a16:creationId xmlns:a16="http://schemas.microsoft.com/office/drawing/2014/main" id="{F61EACBB-1BD7-4BA3-A3C2-0179FCD97A8A}"/>
              </a:ext>
            </a:extLst>
          </p:cNvPr>
          <p:cNvSpPr>
            <a:spLocks xmlns:a="http://schemas.openxmlformats.org/drawingml/2006/main" noGrp="1"/>
          </p:cNvSpPr>
          <p:nvPr/>
        </p:nvSpPr>
        <p:spPr>
          <a:xfrm xmlns:a="http://schemas.openxmlformats.org/drawingml/2006/main">
            <a:off x="6924675"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4" name="toc-methodology-item-2">
            <a:extLst xmlns:a="http://schemas.openxmlformats.org/drawingml/2006/main">
              <a:ext uri="{FF2B5EF4-FFF2-40B4-BE49-F238E27FC236}">
                <a16:creationId xmlns:a16="http://schemas.microsoft.com/office/drawing/2014/main" id="{0AB78B8E-96B5-4C39-8107-F8733EE99738}"/>
              </a:ext>
            </a:extLst>
          </p:cNvPr>
          <p:cNvSpPr>
            <a:spLocks xmlns:a="http://schemas.openxmlformats.org/drawingml/2006/main" noGrp="1"/>
          </p:cNvSpPr>
          <p:nvPr/>
        </p:nvSpPr>
        <p:spPr>
          <a:xfrm xmlns:a="http://schemas.openxmlformats.org/drawingml/2006/main">
            <a:off x="7210425"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CAABC-FL compression workflow</a:t>
            </a:r>
          </a:p>
        </p:txBody>
      </p:sp>
      <p:sp>
        <p:nvSpPr>
          <p:cNvPr id="45" name="toc-methodology-chevron-3">
            <a:extLst xmlns:a="http://schemas.openxmlformats.org/drawingml/2006/main">
              <a:ext uri="{FF2B5EF4-FFF2-40B4-BE49-F238E27FC236}">
                <a16:creationId xmlns:a16="http://schemas.microsoft.com/office/drawing/2014/main" id="{4ED3A77D-BA0C-47C6-83DA-B54E214538E2}"/>
              </a:ext>
            </a:extLst>
          </p:cNvPr>
          <p:cNvSpPr>
            <a:spLocks xmlns:a="http://schemas.openxmlformats.org/drawingml/2006/main" noGrp="1"/>
          </p:cNvSpPr>
          <p:nvPr/>
        </p:nvSpPr>
        <p:spPr>
          <a:xfrm xmlns:a="http://schemas.openxmlformats.org/drawingml/2006/main">
            <a:off x="6924675"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6" name="toc-methodology-item-3">
            <a:extLst xmlns:a="http://schemas.openxmlformats.org/drawingml/2006/main">
              <a:ext uri="{FF2B5EF4-FFF2-40B4-BE49-F238E27FC236}">
                <a16:creationId xmlns:a16="http://schemas.microsoft.com/office/drawing/2014/main" id="{D52C2A79-AA2D-463E-BBAE-36212F64B884}"/>
              </a:ext>
            </a:extLst>
          </p:cNvPr>
          <p:cNvSpPr>
            <a:spLocks xmlns:a="http://schemas.openxmlformats.org/drawingml/2006/main" noGrp="1"/>
          </p:cNvSpPr>
          <p:nvPr/>
        </p:nvSpPr>
        <p:spPr>
          <a:xfrm xmlns:a="http://schemas.openxmlformats.org/drawingml/2006/main">
            <a:off x="7210425"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Secure aggregation and governance</a:t>
            </a:r>
          </a:p>
        </p:txBody>
      </p:sp>
      <p:sp>
        <p:nvSpPr>
          <p:cNvPr id="47" name="toc-results-marker">
            <a:extLst xmlns:a="http://schemas.openxmlformats.org/drawingml/2006/main">
              <a:ext uri="{FF2B5EF4-FFF2-40B4-BE49-F238E27FC236}">
                <a16:creationId xmlns:a16="http://schemas.microsoft.com/office/drawing/2014/main" id="{10C2522C-44D0-4082-AF42-04C34462661A}"/>
              </a:ext>
            </a:extLst>
          </p:cNvPr>
          <p:cNvSpPr>
            <a:spLocks xmlns:a="http://schemas.openxmlformats.org/drawingml/2006/main" noGrp="1"/>
          </p:cNvSpPr>
          <p:nvPr/>
        </p:nvSpPr>
        <p:spPr>
          <a:xfrm xmlns:a="http://schemas.openxmlformats.org/drawingml/2006/main">
            <a:off x="6524625"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8" name="toc-results-title">
            <a:extLst xmlns:a="http://schemas.openxmlformats.org/drawingml/2006/main">
              <a:ext uri="{FF2B5EF4-FFF2-40B4-BE49-F238E27FC236}">
                <a16:creationId xmlns:a16="http://schemas.microsoft.com/office/drawing/2014/main" id="{2FC1BAEF-4BA9-41A4-8397-2D1A99E7B213}"/>
              </a:ext>
            </a:extLst>
          </p:cNvPr>
          <p:cNvSpPr>
            <a:spLocks xmlns:a="http://schemas.openxmlformats.org/drawingml/2006/main" noGrp="1"/>
          </p:cNvSpPr>
          <p:nvPr/>
        </p:nvSpPr>
        <p:spPr>
          <a:xfrm xmlns:a="http://schemas.openxmlformats.org/drawingml/2006/main">
            <a:off x="6791325"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Results and Discussion</a:t>
            </a:r>
          </a:p>
        </p:txBody>
      </p:sp>
      <p:sp>
        <p:nvSpPr>
          <p:cNvPr id="49" name="toc-results-chevron-1">
            <a:extLst xmlns:a="http://schemas.openxmlformats.org/drawingml/2006/main">
              <a:ext uri="{FF2B5EF4-FFF2-40B4-BE49-F238E27FC236}">
                <a16:creationId xmlns:a16="http://schemas.microsoft.com/office/drawing/2014/main" id="{BFE3A178-048D-45B4-895A-B74FDA4A9D96}"/>
              </a:ext>
            </a:extLst>
          </p:cNvPr>
          <p:cNvSpPr>
            <a:spLocks xmlns:a="http://schemas.openxmlformats.org/drawingml/2006/main" noGrp="1"/>
          </p:cNvSpPr>
          <p:nvPr/>
        </p:nvSpPr>
        <p:spPr>
          <a:xfrm xmlns:a="http://schemas.openxmlformats.org/drawingml/2006/main">
            <a:off x="6924675" y="31051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0" name="toc-results-item-1">
            <a:extLst xmlns:a="http://schemas.openxmlformats.org/drawingml/2006/main">
              <a:ext uri="{FF2B5EF4-FFF2-40B4-BE49-F238E27FC236}">
                <a16:creationId xmlns:a16="http://schemas.microsoft.com/office/drawing/2014/main" id="{59FB2C84-3D9F-4C7A-8EE0-3CCC7A9763D0}"/>
              </a:ext>
            </a:extLst>
          </p:cNvPr>
          <p:cNvSpPr>
            <a:spLocks xmlns:a="http://schemas.openxmlformats.org/drawingml/2006/main" noGrp="1"/>
          </p:cNvSpPr>
          <p:nvPr/>
        </p:nvSpPr>
        <p:spPr>
          <a:xfrm xmlns:a="http://schemas.openxmlformats.org/drawingml/2006/main">
            <a:off x="7210425" y="31051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Utility and SOTA comparison</a:t>
            </a:r>
          </a:p>
        </p:txBody>
      </p:sp>
      <p:sp>
        <p:nvSpPr>
          <p:cNvPr id="51" name="toc-results-chevron-2">
            <a:extLst xmlns:a="http://schemas.openxmlformats.org/drawingml/2006/main">
              <a:ext uri="{FF2B5EF4-FFF2-40B4-BE49-F238E27FC236}">
                <a16:creationId xmlns:a16="http://schemas.microsoft.com/office/drawing/2014/main" id="{693A6055-41BE-4002-867C-2A2D93478222}"/>
              </a:ext>
            </a:extLst>
          </p:cNvPr>
          <p:cNvSpPr>
            <a:spLocks xmlns:a="http://schemas.openxmlformats.org/drawingml/2006/main" noGrp="1"/>
          </p:cNvSpPr>
          <p:nvPr/>
        </p:nvSpPr>
        <p:spPr>
          <a:xfrm xmlns:a="http://schemas.openxmlformats.org/drawingml/2006/main">
            <a:off x="6924675" y="33242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2" name="toc-results-item-2">
            <a:extLst xmlns:a="http://schemas.openxmlformats.org/drawingml/2006/main">
              <a:ext uri="{FF2B5EF4-FFF2-40B4-BE49-F238E27FC236}">
                <a16:creationId xmlns:a16="http://schemas.microsoft.com/office/drawing/2014/main" id="{A9C286A5-3429-4610-BB13-5B91C42F687F}"/>
              </a:ext>
            </a:extLst>
          </p:cNvPr>
          <p:cNvSpPr>
            <a:spLocks xmlns:a="http://schemas.openxmlformats.org/drawingml/2006/main" noGrp="1"/>
          </p:cNvSpPr>
          <p:nvPr/>
        </p:nvSpPr>
        <p:spPr>
          <a:xfrm xmlns:a="http://schemas.openxmlformats.org/drawingml/2006/main">
            <a:off x="7210425" y="33242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Privacy and poisoning evaluation</a:t>
            </a:r>
          </a:p>
        </p:txBody>
      </p:sp>
      <p:sp>
        <p:nvSpPr>
          <p:cNvPr id="53" name="toc-results-chevron-3">
            <a:extLst xmlns:a="http://schemas.openxmlformats.org/drawingml/2006/main">
              <a:ext uri="{FF2B5EF4-FFF2-40B4-BE49-F238E27FC236}">
                <a16:creationId xmlns:a16="http://schemas.microsoft.com/office/drawing/2014/main" id="{965104E0-9FAC-4234-A276-285EB9B8EC51}"/>
              </a:ext>
            </a:extLst>
          </p:cNvPr>
          <p:cNvSpPr>
            <a:spLocks xmlns:a="http://schemas.openxmlformats.org/drawingml/2006/main" noGrp="1"/>
          </p:cNvSpPr>
          <p:nvPr/>
        </p:nvSpPr>
        <p:spPr>
          <a:xfrm xmlns:a="http://schemas.openxmlformats.org/drawingml/2006/main">
            <a:off x="6924675" y="354330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4" name="toc-results-item-3">
            <a:extLst xmlns:a="http://schemas.openxmlformats.org/drawingml/2006/main">
              <a:ext uri="{FF2B5EF4-FFF2-40B4-BE49-F238E27FC236}">
                <a16:creationId xmlns:a16="http://schemas.microsoft.com/office/drawing/2014/main" id="{C80C7BED-AA16-4BD3-8F0C-27F907CEC263}"/>
              </a:ext>
            </a:extLst>
          </p:cNvPr>
          <p:cNvSpPr>
            <a:spLocks xmlns:a="http://schemas.openxmlformats.org/drawingml/2006/main" noGrp="1"/>
          </p:cNvSpPr>
          <p:nvPr/>
        </p:nvSpPr>
        <p:spPr>
          <a:xfrm xmlns:a="http://schemas.openxmlformats.org/drawingml/2006/main">
            <a:off x="7210425" y="354330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Communication and system overhead</a:t>
            </a:r>
          </a:p>
        </p:txBody>
      </p:sp>
      <p:sp>
        <p:nvSpPr>
          <p:cNvPr id="55" name="toc-conclusion-marker">
            <a:extLst xmlns:a="http://schemas.openxmlformats.org/drawingml/2006/main">
              <a:ext uri="{FF2B5EF4-FFF2-40B4-BE49-F238E27FC236}">
                <a16:creationId xmlns:a16="http://schemas.microsoft.com/office/drawing/2014/main" id="{69B61DB8-2141-478A-BD1C-8BA90B396F02}"/>
              </a:ext>
            </a:extLst>
          </p:cNvPr>
          <p:cNvSpPr>
            <a:spLocks xmlns:a="http://schemas.openxmlformats.org/drawingml/2006/main" noGrp="1"/>
          </p:cNvSpPr>
          <p:nvPr/>
        </p:nvSpPr>
        <p:spPr>
          <a:xfrm xmlns:a="http://schemas.openxmlformats.org/drawingml/2006/main">
            <a:off x="6524625" y="4162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56" name="toc-conclusion-title">
            <a:extLst xmlns:a="http://schemas.openxmlformats.org/drawingml/2006/main">
              <a:ext uri="{FF2B5EF4-FFF2-40B4-BE49-F238E27FC236}">
                <a16:creationId xmlns:a16="http://schemas.microsoft.com/office/drawing/2014/main" id="{72296C49-88E0-4107-B8EA-B34F6D405042}"/>
              </a:ext>
            </a:extLst>
          </p:cNvPr>
          <p:cNvSpPr>
            <a:spLocks xmlns:a="http://schemas.openxmlformats.org/drawingml/2006/main" noGrp="1"/>
          </p:cNvSpPr>
          <p:nvPr/>
        </p:nvSpPr>
        <p:spPr>
          <a:xfrm xmlns:a="http://schemas.openxmlformats.org/drawingml/2006/main">
            <a:off x="6791325" y="4095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Conclusion</a:t>
            </a:r>
          </a:p>
        </p:txBody>
      </p:sp>
      <p:sp>
        <p:nvSpPr>
          <p:cNvPr id="57" name="toc-conclusion-chevron-1">
            <a:extLst xmlns:a="http://schemas.openxmlformats.org/drawingml/2006/main">
              <a:ext uri="{FF2B5EF4-FFF2-40B4-BE49-F238E27FC236}">
                <a16:creationId xmlns:a16="http://schemas.microsoft.com/office/drawing/2014/main" id="{4A76E59A-9CB9-4AF6-ADB7-E14E5A9DC204}"/>
              </a:ext>
            </a:extLst>
          </p:cNvPr>
          <p:cNvSpPr>
            <a:spLocks xmlns:a="http://schemas.openxmlformats.org/drawingml/2006/main" noGrp="1"/>
          </p:cNvSpPr>
          <p:nvPr/>
        </p:nvSpPr>
        <p:spPr>
          <a:xfrm xmlns:a="http://schemas.openxmlformats.org/drawingml/2006/main">
            <a:off x="6924675" y="44386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8" name="toc-conclusion-item-1">
            <a:extLst xmlns:a="http://schemas.openxmlformats.org/drawingml/2006/main">
              <a:ext uri="{FF2B5EF4-FFF2-40B4-BE49-F238E27FC236}">
                <a16:creationId xmlns:a16="http://schemas.microsoft.com/office/drawing/2014/main" id="{B1322131-542A-43F3-BA4B-C08C786C5051}"/>
              </a:ext>
            </a:extLst>
          </p:cNvPr>
          <p:cNvSpPr>
            <a:spLocks xmlns:a="http://schemas.openxmlformats.org/drawingml/2006/main" noGrp="1"/>
          </p:cNvSpPr>
          <p:nvPr/>
        </p:nvSpPr>
        <p:spPr>
          <a:xfrm xmlns:a="http://schemas.openxmlformats.org/drawingml/2006/main">
            <a:off x="7210425" y="44386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Key findings</a:t>
            </a:r>
          </a:p>
        </p:txBody>
      </p:sp>
      <p:sp>
        <p:nvSpPr>
          <p:cNvPr id="59" name="toc-conclusion-chevron-2">
            <a:extLst xmlns:a="http://schemas.openxmlformats.org/drawingml/2006/main">
              <a:ext uri="{FF2B5EF4-FFF2-40B4-BE49-F238E27FC236}">
                <a16:creationId xmlns:a16="http://schemas.microsoft.com/office/drawing/2014/main" id="{28B5A2B1-4640-4306-A03B-C5F7A291ECC1}"/>
              </a:ext>
            </a:extLst>
          </p:cNvPr>
          <p:cNvSpPr>
            <a:spLocks xmlns:a="http://schemas.openxmlformats.org/drawingml/2006/main" noGrp="1"/>
          </p:cNvSpPr>
          <p:nvPr/>
        </p:nvSpPr>
        <p:spPr>
          <a:xfrm xmlns:a="http://schemas.openxmlformats.org/drawingml/2006/main">
            <a:off x="6924675" y="46577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5470"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60" name="toc-conclusion-item-2">
            <a:extLst xmlns:a="http://schemas.openxmlformats.org/drawingml/2006/main">
              <a:ext uri="{FF2B5EF4-FFF2-40B4-BE49-F238E27FC236}">
                <a16:creationId xmlns:a16="http://schemas.microsoft.com/office/drawing/2014/main" id="{6AA1D49E-53B4-4560-9562-067B62F7742C}"/>
              </a:ext>
            </a:extLst>
          </p:cNvPr>
          <p:cNvSpPr>
            <a:spLocks xmlns:a="http://schemas.openxmlformats.org/drawingml/2006/main" noGrp="1"/>
          </p:cNvSpPr>
          <p:nvPr/>
        </p:nvSpPr>
        <p:spPr>
          <a:xfrm xmlns:a="http://schemas.openxmlformats.org/drawingml/2006/main">
            <a:off x="7210425" y="46577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Limitations and future work</a:t>
            </a:r>
          </a:p>
        </p:txBody>
      </p:sp>
      <p:sp>
        <p:nvSpPr>
          <p:cNvPr id="61" name="toc-references-marker">
            <a:extLst xmlns:a="http://schemas.openxmlformats.org/drawingml/2006/main">
              <a:ext uri="{FF2B5EF4-FFF2-40B4-BE49-F238E27FC236}">
                <a16:creationId xmlns:a16="http://schemas.microsoft.com/office/drawing/2014/main" id="{56E7E56D-00A8-47B6-8CB6-E2520A4A7ABC}"/>
              </a:ext>
            </a:extLst>
          </p:cNvPr>
          <p:cNvSpPr>
            <a:spLocks xmlns:a="http://schemas.openxmlformats.org/drawingml/2006/main" noGrp="1"/>
          </p:cNvSpPr>
          <p:nvPr/>
        </p:nvSpPr>
        <p:spPr>
          <a:xfrm xmlns:a="http://schemas.openxmlformats.org/drawingml/2006/main">
            <a:off x="6524625" y="5305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2" name="toc-references-title">
            <a:extLst xmlns:a="http://schemas.openxmlformats.org/drawingml/2006/main">
              <a:ext uri="{FF2B5EF4-FFF2-40B4-BE49-F238E27FC236}">
                <a16:creationId xmlns:a16="http://schemas.microsoft.com/office/drawing/2014/main" id="{053741A0-E53F-4F38-9194-182EC15568D1}"/>
              </a:ext>
            </a:extLst>
          </p:cNvPr>
          <p:cNvSpPr>
            <a:spLocks xmlns:a="http://schemas.openxmlformats.org/drawingml/2006/main" noGrp="1"/>
          </p:cNvSpPr>
          <p:nvPr/>
        </p:nvSpPr>
        <p:spPr>
          <a:xfrm xmlns:a="http://schemas.openxmlformats.org/drawingml/2006/main">
            <a:off x="6791325" y="5238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References</a:t>
            </a:r>
          </a:p>
        </p:txBody>
      </p:sp>
      <p:sp>
        <p:nvSpPr>
          <p:cNvPr id="63" name="toc-qa-marker">
            <a:extLst xmlns:a="http://schemas.openxmlformats.org/drawingml/2006/main">
              <a:ext uri="{FF2B5EF4-FFF2-40B4-BE49-F238E27FC236}">
                <a16:creationId xmlns:a16="http://schemas.microsoft.com/office/drawing/2014/main" id="{50E564AC-0AD9-43EF-9688-9300AF44AA2E}"/>
              </a:ext>
            </a:extLst>
          </p:cNvPr>
          <p:cNvSpPr>
            <a:spLocks xmlns:a="http://schemas.openxmlformats.org/drawingml/2006/main" noGrp="1"/>
          </p:cNvSpPr>
          <p:nvPr/>
        </p:nvSpPr>
        <p:spPr>
          <a:xfrm xmlns:a="http://schemas.openxmlformats.org/drawingml/2006/main">
            <a:off x="6524625" y="570547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4" name="toc-qa-title">
            <a:extLst xmlns:a="http://schemas.openxmlformats.org/drawingml/2006/main">
              <a:ext uri="{FF2B5EF4-FFF2-40B4-BE49-F238E27FC236}">
                <a16:creationId xmlns:a16="http://schemas.microsoft.com/office/drawing/2014/main" id="{13AECCC3-356B-4082-B658-74DDFEF6FB2B}"/>
              </a:ext>
            </a:extLst>
          </p:cNvPr>
          <p:cNvSpPr>
            <a:spLocks xmlns:a="http://schemas.openxmlformats.org/drawingml/2006/main" noGrp="1"/>
          </p:cNvSpPr>
          <p:nvPr/>
        </p:nvSpPr>
        <p:spPr>
          <a:xfrm xmlns:a="http://schemas.openxmlformats.org/drawingml/2006/main">
            <a:off x="6791325" y="563880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Question and Answer Session</a:t>
            </a:r>
          </a:p>
        </p:txBody>
      </p:sp>
      <p:sp>
        <p:nvSpPr>
          <p:cNvPr id="67" name="toc-methodology-chevron-4">
            <a:extLst xmlns:a="http://schemas.openxmlformats.org/drawingml/2006/main">
              <a:ext uri="{FF2B5EF4-FFF2-40B4-BE49-F238E27FC236}">
                <a16:creationId xmlns:a16="http://schemas.microsoft.com/office/drawing/2014/main" id="{C2E9D660-0BA0-4C17-A6BF-4720A13BED54}"/>
              </a:ext>
            </a:extLst>
          </p:cNvPr>
          <p:cNvSpPr>
            <a:spLocks xmlns:a="http://schemas.openxmlformats.org/drawingml/2006/main" noGrp="1"/>
          </p:cNvSpPr>
          <p:nvPr/>
        </p:nvSpPr>
        <p:spPr>
          <a:xfrm xmlns:a="http://schemas.openxmlformats.org/drawingml/2006/main">
            <a:off x="6924675" y="24955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717" lnSpcReduction="20000"/>
          </a:bodyPr>
          <a:lstStyle xmlns:a="http://schemas.openxmlformats.org/drawingml/2006/main"/>
          <a:p xmlns:a="http://schemas.openxmlformats.org/drawingml/2006/main">
            <a:pPr>
              <a:buNone/>
              <a:defRPr sz="1500">
                <a:solidFill>
                  <a:srgbClr val="062B6F"/>
                </a:solidFill>
                <a:latin typeface="Arial"/>
                <a:ea typeface="Arial"/>
                <a:cs typeface="Arial"/>
              </a:defRPr>
            </a:pPr>
            <a:r>
              <a:rPr sz="1500">
                <a:solidFill>
                  <a:srgbClr val="062B6F"/>
                </a:solidFill>
                <a:latin typeface="Arial"/>
                <a:ea typeface="Arial"/>
                <a:cs typeface="Arial"/>
              </a:rPr>
              <a:t>›</a:t>
            </a:r>
          </a:p>
        </p:txBody>
      </p:sp>
      <p:sp>
        <p:nvSpPr>
          <p:cNvPr id="68" name="toc-methodology-item-4">
            <a:extLst xmlns:a="http://schemas.openxmlformats.org/drawingml/2006/main">
              <a:ext uri="{FF2B5EF4-FFF2-40B4-BE49-F238E27FC236}">
                <a16:creationId xmlns:a16="http://schemas.microsoft.com/office/drawing/2014/main" id="{3EEF4DBE-7521-41BB-B778-0D9CA8F443FD}"/>
              </a:ext>
            </a:extLst>
          </p:cNvPr>
          <p:cNvSpPr>
            <a:spLocks xmlns:a="http://schemas.openxmlformats.org/drawingml/2006/main" noGrp="1"/>
          </p:cNvSpPr>
          <p:nvPr/>
        </p:nvSpPr>
        <p:spPr>
          <a:xfrm xmlns:a="http://schemas.openxmlformats.org/drawingml/2006/main">
            <a:off x="7210425" y="24955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75">
                <a:solidFill>
                  <a:srgbClr val="062B6F"/>
                </a:solidFill>
                <a:latin typeface="Arial"/>
                <a:ea typeface="Arial"/>
                <a:cs typeface="Arial"/>
              </a:defRPr>
            </a:pPr>
            <a:r>
              <a:rPr sz="1100">
                <a:solidFill>
                  <a:srgbClr val="062B6F"/>
                </a:solidFill>
                <a:latin typeface="Arial"/>
                <a:ea typeface="Arial"/>
                <a:cs typeface="Arial"/>
              </a:rPr>
              <a:t>Experimental setup</a:t>
            </a:r>
          </a:p>
        </p:txBody>
      </p:sp>
      <p:pic>
        <p:nvPicPr>
          <p:cNvPr id="132" name="Picture 1"/>
          <p:cNvPicPr>
            <a:picLocks xmlns:a="http://schemas.openxmlformats.org/drawingml/2006/main" noChangeAspect="1"/>
          </p:cNvPicPr>
          <p:nvPr/>
        </p:nvPicPr>
        <p:blipFill>
          <a:blip xmlns:r="http://schemas.openxmlformats.org/officeDocument/2006/relationships" xmlns:a="http://schemas.openxmlformats.org/drawingml/2006/main" r:embed="R84b62ea06f534354"/>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436"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24faf7b600b0486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37"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625c0d1abab34eb4">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439"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7ab3d2487526478f">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440"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444" name="Picture 1"/>
          <p:cNvPicPr>
            <a:picLocks xmlns:a="http://schemas.openxmlformats.org/drawingml/2006/main" noChangeAspect="1"/>
          </p:cNvPicPr>
          <p:nvPr/>
        </p:nvPicPr>
        <p:blipFill>
          <a:blip xmlns:r="http://schemas.openxmlformats.org/officeDocument/2006/relationships" xmlns:a="http://schemas.openxmlformats.org/drawingml/2006/main" r:embed="Ra808e5f1e959456c"/>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a:t>
            </a:r>
            <a:endParaRPr sz="2800"/>
          </a:p>
        </p:txBody>
      </p:sp>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eddfb2be0bd4a8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955813" y="207790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lgn="just">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236"/>
          <p:cNvPicPr>
            <a:picLocks xmlns:a="http://schemas.openxmlformats.org/drawingml/2006/main" noChangeAspect="1"/>
          </p:cNvPicPr>
          <p:nvPr/>
        </p:nvPicPr>
        <p:blipFill>
          <a:blip xmlns:r="http://schemas.openxmlformats.org/officeDocument/2006/relationships" xmlns:a="http://schemas.openxmlformats.org/drawingml/2006/main" r:embed="Rf0f210c850d74d1b"/>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pic>
        <p:nvPicPr>
          <p:cNvPr id="235" name="Picture 1"/>
          <p:cNvPicPr>
            <a:picLocks xmlns:a="http://schemas.openxmlformats.org/drawingml/2006/main" noChangeAspect="1"/>
          </p:cNvPicPr>
          <p:nvPr/>
        </p:nvPicPr>
        <p:blipFill>
          <a:blip xmlns:r="http://schemas.openxmlformats.org/officeDocument/2006/relationships" xmlns:a="http://schemas.openxmlformats.org/drawingml/2006/main" r:embed="R9c1d64a508c540b1"/>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5</a:t>
            </a:r>
            <a:endParaRPr sz="2800"/>
          </a:p>
        </p:txBody>
      </p:sp>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ed924865ada432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47746" y="195262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pic>
        <p:nvPicPr>
          <p:cNvPr id="236" name="Picture 1"/>
          <p:cNvPicPr>
            <a:picLocks xmlns:a="http://schemas.openxmlformats.org/drawingml/2006/main" noChangeAspect="1"/>
          </p:cNvPicPr>
          <p:nvPr/>
        </p:nvPicPr>
        <p:blipFill>
          <a:blip xmlns:r="http://schemas.openxmlformats.org/officeDocument/2006/relationships" xmlns:a="http://schemas.openxmlformats.org/drawingml/2006/main" r:embed="Re02818b2fb994ee1"/>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(1/2)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6</a:t>
            </a:r>
            <a:endParaRPr sz="2800"/>
          </a:p>
        </p:txBody>
      </p:sp>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a2e35acda8c4e8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833" lnSpcReduction="1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6" name="Picture 1"/>
          <p:cNvPicPr>
            <a:picLocks xmlns:a="http://schemas.openxmlformats.org/drawingml/2006/main" noChangeAspect="1"/>
          </p:cNvPicPr>
          <p:nvPr/>
        </p:nvPicPr>
        <p:blipFill>
          <a:blip xmlns:r="http://schemas.openxmlformats.org/officeDocument/2006/relationships" xmlns:a="http://schemas.openxmlformats.org/drawingml/2006/main" r:embed="R248cce46e06841d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(2/2)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7</a:t>
            </a:r>
            <a:endParaRPr sz="2800"/>
          </a:p>
        </p:txBody>
      </p:sp>
      <p:pic>
        <p:nvPicPr>
          <p:cNvPr id="25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c48abbd7e0e4a7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59"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554ea51b8e894d24"/>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pic>
        <p:nvPicPr>
          <p:cNvPr id="262" name="Picture 1"/>
          <p:cNvPicPr>
            <a:picLocks xmlns:a="http://schemas.openxmlformats.org/drawingml/2006/main" noChangeAspect="1"/>
          </p:cNvPicPr>
          <p:nvPr/>
        </p:nvPicPr>
        <p:blipFill>
          <a:blip xmlns:r="http://schemas.openxmlformats.org/officeDocument/2006/relationships" xmlns:a="http://schemas.openxmlformats.org/drawingml/2006/main" r:embed="Re71b640e6b1f437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8</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a185c0d8ad243c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814907becaa2467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9</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27ca6adba154f7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f795928278d04f09"/>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506"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3afc13a8be1b4fe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07"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e695b90e8ce04543">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509"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ca9aa9649186465a">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510"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514" name="Picture 3"/>
          <p:cNvPicPr>
            <a:picLocks xmlns:a="http://schemas.openxmlformats.org/drawingml/2006/main" noChangeAspect="1"/>
          </p:cNvPicPr>
          <p:nvPr/>
        </p:nvPicPr>
        <p:blipFill>
          <a:blip xmlns:r="http://schemas.openxmlformats.org/officeDocument/2006/relationships" xmlns:a="http://schemas.openxmlformats.org/drawingml/2006/main" r:embed="R5588facbd5c94db4"/>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11</a:t>
            </a:r>
            <a:endParaRPr sz="2800"/>
          </a:p>
        </p:txBody>
      </p:sp>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e0d45eafc144a1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5" name="Table 256"/>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a:t>
            </a:r>
            <a:r>
              <a:rPr sz="1500" b="1">
                <a:solidFill>
                  <a:srgbClr val="1E3A5F"/>
                </a:solidFill>
                <a:latin typeface="Arial"/>
                <a:ea typeface="Arial"/>
                <a:cs typeface="Arial"/>
              </a:rPr>
              <a:t>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pic>
        <p:nvPicPr>
          <p:cNvPr id="275" name="Picture 1"/>
          <p:cNvPicPr>
            <a:picLocks xmlns:a="http://schemas.openxmlformats.org/drawingml/2006/main" noChangeAspect="1"/>
          </p:cNvPicPr>
          <p:nvPr/>
        </p:nvPicPr>
        <p:blipFill>
          <a:blip xmlns:r="http://schemas.openxmlformats.org/officeDocument/2006/relationships" xmlns:a="http://schemas.openxmlformats.org/drawingml/2006/main" r:embed="R99023270c832454b"/>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Picture 41"/>
          <p:cNvPicPr>
            <a:picLocks xmlns:a="http://schemas.openxmlformats.org/drawingml/2006/main" noChangeAspect="1"/>
          </p:cNvPicPr>
          <p:nvPr/>
        </p:nvPicPr>
        <p:blipFill>
          <a:blip xmlns:r="http://schemas.openxmlformats.org/officeDocument/2006/relationships" xmlns:a="http://schemas.openxmlformats.org/drawingml/2006/main" r:embed="R073f9ec23a4a4391"/>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27923" y="6637215"/>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b="0" i="0">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250" b="1" i="0">
                <a:solidFill>
                  <a:srgbClr val="062B6F"/>
                </a:solidFill>
                <a:latin typeface="Arial"/>
                <a:ea typeface="Arial"/>
                <a:cs typeface="Arial"/>
              </a:defRPr>
            </a:pPr>
            <a:r>
              <a:rPr sz="2250" b="1" i="0">
                <a:solidFill>
                  <a:srgbClr val="062B6F"/>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6" name="Table 47"/>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48" lnSpcReduction="10000"/>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323850"/>
            <a:ext cx="8382000" cy="7429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1164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202" lnSpcReduction="20000"/>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889" lnSpcReduction="2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pic>
        <p:nvPicPr>
          <p:cNvPr id="68" name="Picture 1"/>
          <p:cNvPicPr>
            <a:picLocks xmlns:a="http://schemas.openxmlformats.org/drawingml/2006/main" noChangeAspect="1"/>
          </p:cNvPicPr>
          <p:nvPr/>
        </p:nvPicPr>
        <p:blipFill>
          <a:blip xmlns:r="http://schemas.openxmlformats.org/officeDocument/2006/relationships" xmlns:a="http://schemas.openxmlformats.org/drawingml/2006/main" r:embed="R694378011df740b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13</a:t>
            </a:r>
            <a:endParaRPr sz="2800"/>
          </a:p>
        </p:txBody>
      </p:sp>
      <p:pic>
        <p:nvPicPr>
          <p:cNvPr id="25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bad378f5844448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4" name="Table 255"/>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pic>
        <p:nvPicPr>
          <p:cNvPr id="273" name="Picture 1"/>
          <p:cNvPicPr>
            <a:picLocks xmlns:a="http://schemas.openxmlformats.org/drawingml/2006/main" noChangeAspect="1"/>
          </p:cNvPicPr>
          <p:nvPr/>
        </p:nvPicPr>
        <p:blipFill>
          <a:blip xmlns:r="http://schemas.openxmlformats.org/officeDocument/2006/relationships" xmlns:a="http://schemas.openxmlformats.org/drawingml/2006/main" r:embed="Rf8bbbd1365c1458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14</a:t>
            </a:r>
            <a:endParaRPr sz="2800"/>
          </a:p>
        </p:txBody>
      </p:sp>
      <p:pic>
        <p:nvPicPr>
          <p:cNvPr id="26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f67b1c8d67b45c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68" name="Table 270"/>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89" name="Table 291"/>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343879" y="6015037"/>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2" name="Picture 296"/>
          <p:cNvPicPr>
            <a:picLocks xmlns:a="http://schemas.openxmlformats.org/drawingml/2006/main" noChangeAspect="1"/>
          </p:cNvPicPr>
          <p:nvPr/>
        </p:nvPicPr>
        <p:blipFill>
          <a:blip xmlns:r="http://schemas.openxmlformats.org/officeDocument/2006/relationships" xmlns:a="http://schemas.openxmlformats.org/drawingml/2006/main" r:embed="R8f67b1c8d67b45c8"/>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pic>
        <p:nvPicPr>
          <p:cNvPr id="294" name="Picture 1"/>
          <p:cNvPicPr>
            <a:picLocks xmlns:a="http://schemas.openxmlformats.org/drawingml/2006/main" noChangeAspect="1"/>
          </p:cNvPicPr>
          <p:nvPr/>
        </p:nvPicPr>
        <p:blipFill>
          <a:blip xmlns:r="http://schemas.openxmlformats.org/officeDocument/2006/relationships" xmlns:a="http://schemas.openxmlformats.org/drawingml/2006/main" r:embed="Rd0bc0c10d434465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15</a:t>
            </a:r>
            <a:endParaRPr sz="2800"/>
          </a:p>
        </p:txBody>
      </p:sp>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5bd92f8d7d1443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1"/>
          <p:cNvPicPr>
            <a:picLocks xmlns:a="http://schemas.openxmlformats.org/drawingml/2006/main" noChangeAspect="1"/>
          </p:cNvPicPr>
          <p:nvPr/>
        </p:nvPicPr>
        <p:blipFill>
          <a:blip xmlns:r="http://schemas.openxmlformats.org/officeDocument/2006/relationships" xmlns:a="http://schemas.openxmlformats.org/drawingml/2006/main" r:embed="R8d72013b00384a46"/>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chrome-title-16">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Conceptual Framework</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16</a:t>
            </a:r>
            <a:endParaRPr sz="2800"/>
          </a:p>
        </p:txBody>
      </p:sp>
      <p:pic>
        <p:nvPicPr>
          <p:cNvPr id="57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1efd320d5b44f7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conceptual-framework-content-cover">
            <a:extLst xmlns:a="http://schemas.openxmlformats.org/drawingml/2006/main">
              <a:ext uri="{FF2B5EF4-FFF2-40B4-BE49-F238E27FC236}">
                <a16:creationId xmlns:a16="http://schemas.microsoft.com/office/drawing/2014/main" id="{96288690-7E6F-43DB-B354-2B1AEDCC0CAF}"/>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8" name="conceptual-framework-subtitle">
            <a:extLst xmlns:a="http://schemas.openxmlformats.org/drawingml/2006/main">
              <a:ext uri="{FF2B5EF4-FFF2-40B4-BE49-F238E27FC236}">
                <a16:creationId xmlns:a16="http://schemas.microsoft.com/office/drawing/2014/main" id="{95AFBCF6-6857-4EBC-B361-C0A3164B5B85}"/>
              </a:ext>
            </a:extLst>
          </p:cNvPr>
          <p:cNvSpPr>
            <a:spLocks xmlns:a="http://schemas.openxmlformats.org/drawingml/2006/main" noGrp="1"/>
          </p:cNvSpPr>
          <p:nvPr/>
        </p:nvSpPr>
        <p:spPr>
          <a:xfrm xmlns:a="http://schemas.openxmlformats.org/drawingml/2006/main">
            <a:off x="1381125" y="1190625"/>
            <a:ext cx="942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00" i="1">
                <a:solidFill>
                  <a:srgbClr val="5B677A"/>
                </a:solidFill>
                <a:latin typeface="Arial"/>
                <a:ea typeface="Arial"/>
                <a:cs typeface="Arial"/>
              </a:defRPr>
            </a:pPr>
            <a:r>
              <a:rPr sz="1200" i="1">
                <a:solidFill>
                  <a:srgbClr val="5B677A"/>
                </a:solidFill>
                <a:latin typeface="Arial"/>
                <a:ea typeface="Arial"/>
                <a:cs typeface="Arial"/>
              </a:rPr>
              <a:t>Conceptual relationship between the research problem, integrated controls, collaboration process and evaluation outcomes</a:t>
            </a:r>
          </a:p>
        </p:txBody>
      </p:sp>
      <p:sp>
        <p:nvSpPr>
          <p:cNvPr id="229" name="framework-context-box">
            <a:extLst xmlns:a="http://schemas.openxmlformats.org/drawingml/2006/main">
              <a:ext uri="{FF2B5EF4-FFF2-40B4-BE49-F238E27FC236}">
                <a16:creationId xmlns:a16="http://schemas.microsoft.com/office/drawing/2014/main" id="{3B658E35-1310-4B15-8AFF-3E603B55CE5F}"/>
              </a:ext>
            </a:extLst>
          </p:cNvPr>
          <p:cNvSpPr>
            <a:spLocks xmlns:a="http://schemas.openxmlformats.org/drawingml/2006/main" noGrp="1"/>
          </p:cNvSpPr>
          <p:nvPr/>
        </p:nvSpPr>
        <p:spPr>
          <a:xfrm xmlns:a="http://schemas.openxmlformats.org/drawingml/2006/main">
            <a:off x="714375" y="1762125"/>
            <a:ext cx="2286000" cy="1885950"/>
          </a:xfrm>
          <a:prstGeom xmlns:a="http://schemas.openxmlformats.org/drawingml/2006/main" prst="roundRect">
            <a:avLst>
              <a:gd name="adj" fmla="val 4040"/>
            </a:avLst>
          </a:prstGeom>
          <a:solidFill xmlns:a="http://schemas.openxmlformats.org/drawingml/2006/main">
            <a:srgbClr val="EEF4FA"/>
          </a:solidFill>
          <a:ln xmlns:a="http://schemas.openxmlformats.org/drawingml/2006/main" w="16193">
            <a:solidFill>
              <a:srgbClr val="2E75B6"/>
            </a:solidFill>
          </a:ln>
        </p:spPr>
      </p:sp>
      <p:sp>
        <p:nvSpPr>
          <p:cNvPr id="230" name="framework-context-accent">
            <a:extLst xmlns:a="http://schemas.openxmlformats.org/drawingml/2006/main">
              <a:ext uri="{FF2B5EF4-FFF2-40B4-BE49-F238E27FC236}">
                <a16:creationId xmlns:a16="http://schemas.microsoft.com/office/drawing/2014/main" id="{D4A4FBCD-7904-4E90-B778-C061EAC28D10}"/>
              </a:ext>
            </a:extLst>
          </p:cNvPr>
          <p:cNvSpPr>
            <a:spLocks xmlns:a="http://schemas.openxmlformats.org/drawingml/2006/main" noGrp="1"/>
          </p:cNvSpPr>
          <p:nvPr/>
        </p:nvSpPr>
        <p:spPr>
          <a:xfrm xmlns:a="http://schemas.openxmlformats.org/drawingml/2006/main">
            <a:off x="714375" y="1762125"/>
            <a:ext cx="2286000" cy="409575"/>
          </a:xfrm>
          <a:prstGeom xmlns:a="http://schemas.openxmlformats.org/drawingml/2006/main" prst="rect">
            <a:avLst/>
          </a:prstGeom>
          <a:solidFill xmlns:a="http://schemas.openxmlformats.org/drawingml/2006/main">
            <a:srgbClr val="2E75B6"/>
          </a:solidFill>
          <a:ln xmlns:a="http://schemas.openxmlformats.org/drawingml/2006/main" w="0">
            <a:noFill/>
          </a:ln>
        </p:spPr>
      </p:sp>
      <p:sp>
        <p:nvSpPr>
          <p:cNvPr id="231" name="framework-context-title">
            <a:extLst xmlns:a="http://schemas.openxmlformats.org/drawingml/2006/main">
              <a:ext uri="{FF2B5EF4-FFF2-40B4-BE49-F238E27FC236}">
                <a16:creationId xmlns:a16="http://schemas.microsoft.com/office/drawing/2014/main" id="{E2C47E08-7616-4859-BCE8-E12FC18382B8}"/>
              </a:ext>
            </a:extLst>
          </p:cNvPr>
          <p:cNvSpPr>
            <a:spLocks xmlns:a="http://schemas.openxmlformats.org/drawingml/2006/main" noGrp="1"/>
          </p:cNvSpPr>
          <p:nvPr/>
        </p:nvSpPr>
        <p:spPr>
          <a:xfrm xmlns:a="http://schemas.openxmlformats.org/drawingml/2006/main">
            <a:off x="80962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Research context</a:t>
            </a:r>
          </a:p>
        </p:txBody>
      </p:sp>
      <p:sp>
        <p:nvSpPr>
          <p:cNvPr id="232" name="framework-context-body">
            <a:extLst xmlns:a="http://schemas.openxmlformats.org/drawingml/2006/main">
              <a:ext uri="{FF2B5EF4-FFF2-40B4-BE49-F238E27FC236}">
                <a16:creationId xmlns:a16="http://schemas.microsoft.com/office/drawing/2014/main" id="{4C225EF8-BACD-402B-9AF5-AEB7E591762B}"/>
              </a:ext>
            </a:extLst>
          </p:cNvPr>
          <p:cNvSpPr>
            <a:spLocks xmlns:a="http://schemas.openxmlformats.org/drawingml/2006/main" noGrp="1"/>
          </p:cNvSpPr>
          <p:nvPr/>
        </p:nvSpPr>
        <p:spPr>
          <a:xfrm xmlns:a="http://schemas.openxmlformats.org/drawingml/2006/main">
            <a:off x="86677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Distributed hospital data</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Non-IID client partitions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Privacy and poisoning threats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High encrypted communication cost</a:t>
            </a:r>
          </a:p>
        </p:txBody>
      </p:sp>
      <p:sp>
        <p:nvSpPr>
          <p:cNvPr id="233" name="framework-intervention-box">
            <a:extLst xmlns:a="http://schemas.openxmlformats.org/drawingml/2006/main">
              <a:ext uri="{FF2B5EF4-FFF2-40B4-BE49-F238E27FC236}">
                <a16:creationId xmlns:a16="http://schemas.microsoft.com/office/drawing/2014/main" id="{5F8C42AB-3F4F-4105-B15E-5AF572B806B6}"/>
              </a:ext>
            </a:extLst>
          </p:cNvPr>
          <p:cNvSpPr>
            <a:spLocks xmlns:a="http://schemas.openxmlformats.org/drawingml/2006/main" noGrp="1"/>
          </p:cNvSpPr>
          <p:nvPr/>
        </p:nvSpPr>
        <p:spPr>
          <a:xfrm xmlns:a="http://schemas.openxmlformats.org/drawingml/2006/main">
            <a:off x="3524250" y="1762125"/>
            <a:ext cx="2286000" cy="1885950"/>
          </a:xfrm>
          <a:prstGeom xmlns:a="http://schemas.openxmlformats.org/drawingml/2006/main" prst="roundRect">
            <a:avLst>
              <a:gd name="adj" fmla="val 4040"/>
            </a:avLst>
          </a:prstGeom>
          <a:solidFill xmlns:a="http://schemas.openxmlformats.org/drawingml/2006/main">
            <a:srgbClr val="EBF7F2"/>
          </a:solidFill>
          <a:ln xmlns:a="http://schemas.openxmlformats.org/drawingml/2006/main" w="16193">
            <a:solidFill>
              <a:srgbClr val="008A46"/>
            </a:solidFill>
          </a:ln>
        </p:spPr>
      </p:sp>
      <p:sp>
        <p:nvSpPr>
          <p:cNvPr id="234" name="framework-intervention-accent">
            <a:extLst xmlns:a="http://schemas.openxmlformats.org/drawingml/2006/main">
              <a:ext uri="{FF2B5EF4-FFF2-40B4-BE49-F238E27FC236}">
                <a16:creationId xmlns:a16="http://schemas.microsoft.com/office/drawing/2014/main" id="{779CD5EF-DFD1-422F-985C-3CBE83E6AB7E}"/>
              </a:ext>
            </a:extLst>
          </p:cNvPr>
          <p:cNvSpPr>
            <a:spLocks xmlns:a="http://schemas.openxmlformats.org/drawingml/2006/main" noGrp="1"/>
          </p:cNvSpPr>
          <p:nvPr/>
        </p:nvSpPr>
        <p:spPr>
          <a:xfrm xmlns:a="http://schemas.openxmlformats.org/drawingml/2006/main">
            <a:off x="3524250" y="1762125"/>
            <a:ext cx="2286000" cy="409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35" name="framework-intervention-title">
            <a:extLst xmlns:a="http://schemas.openxmlformats.org/drawingml/2006/main">
              <a:ext uri="{FF2B5EF4-FFF2-40B4-BE49-F238E27FC236}">
                <a16:creationId xmlns:a16="http://schemas.microsoft.com/office/drawing/2014/main" id="{73EB110A-BAB9-49D9-ADFB-1358A9ECA51A}"/>
              </a:ext>
            </a:extLst>
          </p:cNvPr>
          <p:cNvSpPr>
            <a:spLocks xmlns:a="http://schemas.openxmlformats.org/drawingml/2006/main" noGrp="1"/>
          </p:cNvSpPr>
          <p:nvPr/>
        </p:nvSpPr>
        <p:spPr>
          <a:xfrm xmlns:a="http://schemas.openxmlformats.org/drawingml/2006/main">
            <a:off x="361950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Hybrid intervention</a:t>
            </a:r>
          </a:p>
        </p:txBody>
      </p:sp>
      <p:sp>
        <p:nvSpPr>
          <p:cNvPr id="236" name="framework-intervention-body">
            <a:extLst xmlns:a="http://schemas.openxmlformats.org/drawingml/2006/main">
              <a:ext uri="{FF2B5EF4-FFF2-40B4-BE49-F238E27FC236}">
                <a16:creationId xmlns:a16="http://schemas.microsoft.com/office/drawing/2014/main" id="{40C6F4B1-4BE5-4BE2-AC95-342C5A09A6F8}"/>
              </a:ext>
            </a:extLst>
          </p:cNvPr>
          <p:cNvSpPr>
            <a:spLocks xmlns:a="http://schemas.openxmlformats.org/drawingml/2006/main" noGrp="1"/>
          </p:cNvSpPr>
          <p:nvPr/>
        </p:nvSpPr>
        <p:spPr>
          <a:xfrm xmlns:a="http://schemas.openxmlformats.org/drawingml/2006/main">
            <a:off x="367665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lnSpcReduction="10000"/>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Record-level differential privacy</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CAABC-FL block compression</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CKKS-protected updates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Trust and audit governance</a:t>
            </a:r>
          </a:p>
        </p:txBody>
      </p:sp>
      <p:sp>
        <p:nvSpPr>
          <p:cNvPr id="237" name="framework-process-box">
            <a:extLst xmlns:a="http://schemas.openxmlformats.org/drawingml/2006/main">
              <a:ext uri="{FF2B5EF4-FFF2-40B4-BE49-F238E27FC236}">
                <a16:creationId xmlns:a16="http://schemas.microsoft.com/office/drawing/2014/main" id="{55EA8B73-4B99-4BB8-AD38-52D3C83A49D2}"/>
              </a:ext>
            </a:extLst>
          </p:cNvPr>
          <p:cNvSpPr>
            <a:spLocks xmlns:a="http://schemas.openxmlformats.org/drawingml/2006/main" noGrp="1"/>
          </p:cNvSpPr>
          <p:nvPr/>
        </p:nvSpPr>
        <p:spPr>
          <a:xfrm xmlns:a="http://schemas.openxmlformats.org/drawingml/2006/main">
            <a:off x="6334125" y="1762125"/>
            <a:ext cx="2286000" cy="1885950"/>
          </a:xfrm>
          <a:prstGeom xmlns:a="http://schemas.openxmlformats.org/drawingml/2006/main" prst="roundRect">
            <a:avLst>
              <a:gd name="adj" fmla="val 4040"/>
            </a:avLst>
          </a:prstGeom>
          <a:solidFill xmlns:a="http://schemas.openxmlformats.org/drawingml/2006/main">
            <a:srgbClr val="EFF8F7"/>
          </a:solidFill>
          <a:ln xmlns:a="http://schemas.openxmlformats.org/drawingml/2006/main" w="16193">
            <a:solidFill>
              <a:srgbClr val="2F807B"/>
            </a:solidFill>
          </a:ln>
        </p:spPr>
      </p:sp>
      <p:sp>
        <p:nvSpPr>
          <p:cNvPr id="238" name="framework-process-accent">
            <a:extLst xmlns:a="http://schemas.openxmlformats.org/drawingml/2006/main">
              <a:ext uri="{FF2B5EF4-FFF2-40B4-BE49-F238E27FC236}">
                <a16:creationId xmlns:a16="http://schemas.microsoft.com/office/drawing/2014/main" id="{73085FC3-06C2-415B-BB13-957A3C463D6F}"/>
              </a:ext>
            </a:extLst>
          </p:cNvPr>
          <p:cNvSpPr>
            <a:spLocks xmlns:a="http://schemas.openxmlformats.org/drawingml/2006/main" noGrp="1"/>
          </p:cNvSpPr>
          <p:nvPr/>
        </p:nvSpPr>
        <p:spPr>
          <a:xfrm xmlns:a="http://schemas.openxmlformats.org/drawingml/2006/main">
            <a:off x="6334125" y="1762125"/>
            <a:ext cx="2286000" cy="409575"/>
          </a:xfrm>
          <a:prstGeom xmlns:a="http://schemas.openxmlformats.org/drawingml/2006/main" prst="rect">
            <a:avLst/>
          </a:prstGeom>
          <a:solidFill xmlns:a="http://schemas.openxmlformats.org/drawingml/2006/main">
            <a:srgbClr val="2F807B"/>
          </a:solidFill>
          <a:ln xmlns:a="http://schemas.openxmlformats.org/drawingml/2006/main" w="0">
            <a:noFill/>
          </a:ln>
        </p:spPr>
      </p:sp>
      <p:sp>
        <p:nvSpPr>
          <p:cNvPr id="239" name="framework-process-title">
            <a:extLst xmlns:a="http://schemas.openxmlformats.org/drawingml/2006/main">
              <a:ext uri="{FF2B5EF4-FFF2-40B4-BE49-F238E27FC236}">
                <a16:creationId xmlns:a16="http://schemas.microsoft.com/office/drawing/2014/main" id="{AA9562BE-DE76-43CC-BE42-00230C2F90AA}"/>
              </a:ext>
            </a:extLst>
          </p:cNvPr>
          <p:cNvSpPr>
            <a:spLocks xmlns:a="http://schemas.openxmlformats.org/drawingml/2006/main" noGrp="1"/>
          </p:cNvSpPr>
          <p:nvPr/>
        </p:nvSpPr>
        <p:spPr>
          <a:xfrm xmlns:a="http://schemas.openxmlformats.org/drawingml/2006/main">
            <a:off x="642937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42"/>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Collaboration process</a:t>
            </a:r>
          </a:p>
        </p:txBody>
      </p:sp>
      <p:sp>
        <p:nvSpPr>
          <p:cNvPr id="240" name="framework-process-body">
            <a:extLst xmlns:a="http://schemas.openxmlformats.org/drawingml/2006/main">
              <a:ext uri="{FF2B5EF4-FFF2-40B4-BE49-F238E27FC236}">
                <a16:creationId xmlns:a16="http://schemas.microsoft.com/office/drawing/2014/main" id="{EEE3B869-7708-4F8C-8BBE-DA23BAB5C6C2}"/>
              </a:ext>
            </a:extLst>
          </p:cNvPr>
          <p:cNvSpPr>
            <a:spLocks xmlns:a="http://schemas.openxmlformats.org/drawingml/2006/main" noGrp="1"/>
          </p:cNvSpPr>
          <p:nvPr/>
        </p:nvSpPr>
        <p:spPr>
          <a:xfrm xmlns:a="http://schemas.openxmlformats.org/drawingml/2006/main">
            <a:off x="648652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lnSpcReduction="10000"/>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Protected local training</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Authenticated update exchange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Verified homomorphic aggregation</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Threshold-governed model release</a:t>
            </a:r>
          </a:p>
        </p:txBody>
      </p:sp>
      <p:sp>
        <p:nvSpPr>
          <p:cNvPr id="241" name="framework-outcomes-box">
            <a:extLst xmlns:a="http://schemas.openxmlformats.org/drawingml/2006/main">
              <a:ext uri="{FF2B5EF4-FFF2-40B4-BE49-F238E27FC236}">
                <a16:creationId xmlns:a16="http://schemas.microsoft.com/office/drawing/2014/main" id="{3BB61328-13C4-495F-890D-578990787C92}"/>
              </a:ext>
            </a:extLst>
          </p:cNvPr>
          <p:cNvSpPr>
            <a:spLocks xmlns:a="http://schemas.openxmlformats.org/drawingml/2006/main" noGrp="1"/>
          </p:cNvSpPr>
          <p:nvPr/>
        </p:nvSpPr>
        <p:spPr>
          <a:xfrm xmlns:a="http://schemas.openxmlformats.org/drawingml/2006/main">
            <a:off x="9144000" y="1762125"/>
            <a:ext cx="2286000" cy="1885950"/>
          </a:xfrm>
          <a:prstGeom xmlns:a="http://schemas.openxmlformats.org/drawingml/2006/main" prst="roundRect">
            <a:avLst>
              <a:gd name="adj" fmla="val 4040"/>
            </a:avLst>
          </a:prstGeom>
          <a:solidFill xmlns:a="http://schemas.openxmlformats.org/drawingml/2006/main">
            <a:srgbClr val="F3EEF9"/>
          </a:solidFill>
          <a:ln xmlns:a="http://schemas.openxmlformats.org/drawingml/2006/main" w="16193">
            <a:solidFill>
              <a:srgbClr val="6B4BB5"/>
            </a:solidFill>
          </a:ln>
        </p:spPr>
      </p:sp>
      <p:sp>
        <p:nvSpPr>
          <p:cNvPr id="242" name="framework-outcomes-accent">
            <a:extLst xmlns:a="http://schemas.openxmlformats.org/drawingml/2006/main">
              <a:ext uri="{FF2B5EF4-FFF2-40B4-BE49-F238E27FC236}">
                <a16:creationId xmlns:a16="http://schemas.microsoft.com/office/drawing/2014/main" id="{162202BB-AC31-4299-AF61-D3604F5D5A72}"/>
              </a:ext>
            </a:extLst>
          </p:cNvPr>
          <p:cNvSpPr>
            <a:spLocks xmlns:a="http://schemas.openxmlformats.org/drawingml/2006/main" noGrp="1"/>
          </p:cNvSpPr>
          <p:nvPr/>
        </p:nvSpPr>
        <p:spPr>
          <a:xfrm xmlns:a="http://schemas.openxmlformats.org/drawingml/2006/main">
            <a:off x="9144000" y="1762125"/>
            <a:ext cx="2286000" cy="409575"/>
          </a:xfrm>
          <a:prstGeom xmlns:a="http://schemas.openxmlformats.org/drawingml/2006/main" prst="rect">
            <a:avLst/>
          </a:prstGeom>
          <a:solidFill xmlns:a="http://schemas.openxmlformats.org/drawingml/2006/main">
            <a:srgbClr val="6B4BB5"/>
          </a:solidFill>
          <a:ln xmlns:a="http://schemas.openxmlformats.org/drawingml/2006/main" w="0">
            <a:noFill/>
          </a:ln>
        </p:spPr>
      </p:sp>
      <p:sp>
        <p:nvSpPr>
          <p:cNvPr id="243" name="framework-outcomes-title">
            <a:extLst xmlns:a="http://schemas.openxmlformats.org/drawingml/2006/main">
              <a:ext uri="{FF2B5EF4-FFF2-40B4-BE49-F238E27FC236}">
                <a16:creationId xmlns:a16="http://schemas.microsoft.com/office/drawing/2014/main" id="{234DF05C-6027-417F-9176-9F268E97DD7D}"/>
              </a:ext>
            </a:extLst>
          </p:cNvPr>
          <p:cNvSpPr>
            <a:spLocks xmlns:a="http://schemas.openxmlformats.org/drawingml/2006/main" noGrp="1"/>
          </p:cNvSpPr>
          <p:nvPr/>
        </p:nvSpPr>
        <p:spPr>
          <a:xfrm xmlns:a="http://schemas.openxmlformats.org/drawingml/2006/main">
            <a:off x="923925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Measured outcomes</a:t>
            </a:r>
          </a:p>
        </p:txBody>
      </p:sp>
      <p:sp>
        <p:nvSpPr>
          <p:cNvPr id="244" name="framework-outcomes-body">
            <a:extLst xmlns:a="http://schemas.openxmlformats.org/drawingml/2006/main">
              <a:ext uri="{FF2B5EF4-FFF2-40B4-BE49-F238E27FC236}">
                <a16:creationId xmlns:a16="http://schemas.microsoft.com/office/drawing/2014/main" id="{B8F143C6-443F-4D3E-9EA9-1108E07B0BF5}"/>
              </a:ext>
            </a:extLst>
          </p:cNvPr>
          <p:cNvSpPr>
            <a:spLocks xmlns:a="http://schemas.openxmlformats.org/drawingml/2006/main" noGrp="1"/>
          </p:cNvSpPr>
          <p:nvPr/>
        </p:nvSpPr>
        <p:spPr>
          <a:xfrm xmlns:a="http://schemas.openxmlformats.org/drawingml/2006/main">
            <a:off x="929640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Predictive utility</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Privacy attack exposure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Poisoning resilience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Serialized upload and runtime cost</a:t>
            </a:r>
          </a:p>
        </p:txBody>
      </p:sp>
      <p:cxnSp>
        <p:nvCxnSpPr>
          <p:cNvPr id="597" name="Straight Arrow Connector 373"/>
          <p:cNvCxnSpPr>
            <a:stCxn xmlns:a="http://schemas.openxmlformats.org/drawingml/2006/main" id="229" idx="3"/>
            <a:endCxn xmlns:a="http://schemas.openxmlformats.org/drawingml/2006/main" id="233" idx="1"/>
          </p:cNvCxnSpPr>
          <p:nvPr/>
        </p:nvCxnSpPr>
        <p:spPr>
          <a:xfrm xmlns:a="http://schemas.openxmlformats.org/drawingml/2006/main">
            <a:off x="300037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598" name="Straight Arrow Connector 374"/>
          <p:cNvCxnSpPr>
            <a:stCxn xmlns:a="http://schemas.openxmlformats.org/drawingml/2006/main" id="233" idx="3"/>
            <a:endCxn xmlns:a="http://schemas.openxmlformats.org/drawingml/2006/main" id="237" idx="1"/>
          </p:cNvCxnSpPr>
          <p:nvPr/>
        </p:nvCxnSpPr>
        <p:spPr>
          <a:xfrm xmlns:a="http://schemas.openxmlformats.org/drawingml/2006/main">
            <a:off x="5810250"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599" name="Straight Arrow Connector 375"/>
          <p:cNvCxnSpPr>
            <a:stCxn xmlns:a="http://schemas.openxmlformats.org/drawingml/2006/main" id="237" idx="3"/>
            <a:endCxn xmlns:a="http://schemas.openxmlformats.org/drawingml/2006/main" id="241" idx="1"/>
          </p:cNvCxnSpPr>
          <p:nvPr/>
        </p:nvCxnSpPr>
        <p:spPr>
          <a:xfrm xmlns:a="http://schemas.openxmlformats.org/drawingml/2006/main">
            <a:off x="862012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sp>
        <p:nvSpPr>
          <p:cNvPr id="248" name="framework-assumptions-band">
            <a:extLst xmlns:a="http://schemas.openxmlformats.org/drawingml/2006/main">
              <a:ext uri="{FF2B5EF4-FFF2-40B4-BE49-F238E27FC236}">
                <a16:creationId xmlns:a16="http://schemas.microsoft.com/office/drawing/2014/main" id="{C93DB946-639A-4F33-A4D7-DDC6014142FD}"/>
              </a:ext>
            </a:extLst>
          </p:cNvPr>
          <p:cNvSpPr>
            <a:spLocks xmlns:a="http://schemas.openxmlformats.org/drawingml/2006/main" noGrp="1"/>
          </p:cNvSpPr>
          <p:nvPr/>
        </p:nvSpPr>
        <p:spPr>
          <a:xfrm xmlns:a="http://schemas.openxmlformats.org/drawingml/2006/main">
            <a:off x="714375" y="4000500"/>
            <a:ext cx="10715625" cy="1123950"/>
          </a:xfrm>
          <a:prstGeom xmlns:a="http://schemas.openxmlformats.org/drawingml/2006/main" prst="roundRect">
            <a:avLst>
              <a:gd name="adj" fmla="val 6780"/>
            </a:avLst>
          </a:prstGeom>
          <a:solidFill xmlns:a="http://schemas.openxmlformats.org/drawingml/2006/main">
            <a:srgbClr val="F7F9FC"/>
          </a:solidFill>
          <a:ln xmlns:a="http://schemas.openxmlformats.org/drawingml/2006/main" w="11430">
            <a:solidFill>
              <a:srgbClr val="AAB6C5"/>
            </a:solidFill>
          </a:ln>
        </p:spPr>
      </p:sp>
      <p:sp>
        <p:nvSpPr>
          <p:cNvPr id="249" name="framework-assumptions-title">
            <a:extLst xmlns:a="http://schemas.openxmlformats.org/drawingml/2006/main">
              <a:ext uri="{FF2B5EF4-FFF2-40B4-BE49-F238E27FC236}">
                <a16:creationId xmlns:a16="http://schemas.microsoft.com/office/drawing/2014/main" id="{85376BA5-2184-4751-AE7A-2CFD958B1ED9}"/>
              </a:ext>
            </a:extLst>
          </p:cNvPr>
          <p:cNvSpPr>
            <a:spLocks xmlns:a="http://schemas.openxmlformats.org/drawingml/2006/main" noGrp="1"/>
          </p:cNvSpPr>
          <p:nvPr/>
        </p:nvSpPr>
        <p:spPr>
          <a:xfrm xmlns:a="http://schemas.openxmlformats.org/drawingml/2006/main">
            <a:off x="952500" y="4086225"/>
            <a:ext cx="10239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33" lnSpcReduction="10000"/>
          </a:bodyPr>
          <a:lstStyle xmlns:a="http://schemas.openxmlformats.org/drawingml/2006/main"/>
          <a:p xmlns:a="http://schemas.openxmlformats.org/drawingml/2006/main">
            <a:pPr algn="ctr">
              <a:buNone/>
              <a:defRPr sz="1500" b="1">
                <a:solidFill>
                  <a:srgbClr val="17365D"/>
                </a:solidFill>
                <a:latin typeface="Arial"/>
                <a:ea typeface="Arial"/>
                <a:cs typeface="Arial"/>
              </a:defRPr>
            </a:pPr>
            <a:r>
              <a:rPr sz="1500" b="1">
                <a:solidFill>
                  <a:srgbClr val="17365D"/>
                </a:solidFill>
                <a:latin typeface="Arial"/>
                <a:ea typeface="Arial"/>
                <a:cs typeface="Arial"/>
              </a:rPr>
              <a:t>Cross-cutting threats and trust assumptions</a:t>
            </a:r>
          </a:p>
        </p:txBody>
      </p:sp>
      <p:sp>
        <p:nvSpPr>
          <p:cNvPr id="250" name="framework-threats">
            <a:extLst xmlns:a="http://schemas.openxmlformats.org/drawingml/2006/main">
              <a:ext uri="{FF2B5EF4-FFF2-40B4-BE49-F238E27FC236}">
                <a16:creationId xmlns:a16="http://schemas.microsoft.com/office/drawing/2014/main" id="{DB226214-2B62-4B5C-AE44-CE6E6485DA48}"/>
              </a:ext>
            </a:extLst>
          </p:cNvPr>
          <p:cNvSpPr>
            <a:spLocks xmlns:a="http://schemas.openxmlformats.org/drawingml/2006/main" noGrp="1"/>
          </p:cNvSpPr>
          <p:nvPr/>
        </p:nvSpPr>
        <p:spPr>
          <a:xfrm xmlns:a="http://schemas.openxmlformats.org/drawingml/2006/main">
            <a:off x="100012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Threats considered</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Gradient leakage, membership inference, malicious updates, communication tampering and client dropout</a:t>
            </a:r>
          </a:p>
        </p:txBody>
      </p:sp>
      <p:sp>
        <p:nvSpPr>
          <p:cNvPr id="251" name="framework-trust-assumptions">
            <a:extLst xmlns:a="http://schemas.openxmlformats.org/drawingml/2006/main">
              <a:ext uri="{FF2B5EF4-FFF2-40B4-BE49-F238E27FC236}">
                <a16:creationId xmlns:a16="http://schemas.microsoft.com/office/drawing/2014/main" id="{179E13D1-434D-4FB5-8923-75DB417F8555}"/>
              </a:ext>
            </a:extLst>
          </p:cNvPr>
          <p:cNvSpPr>
            <a:spLocks xmlns:a="http://schemas.openxmlformats.org/drawingml/2006/main" noGrp="1"/>
          </p:cNvSpPr>
          <p:nvPr/>
        </p:nvSpPr>
        <p:spPr>
          <a:xfrm xmlns:a="http://schemas.openxmlformats.org/drawingml/2006/main">
            <a:off x="642937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Trust assumptions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Authenticated institutions, honest-but-curious coordinator, threshold custodians and permissioned audit participants</a:t>
            </a:r>
          </a:p>
        </p:txBody>
      </p:sp>
      <p:sp>
        <p:nvSpPr>
          <p:cNvPr id="252" name="framework-assumptions-divider">
            <a:extLst xmlns:a="http://schemas.openxmlformats.org/drawingml/2006/main">
              <a:ext uri="{FF2B5EF4-FFF2-40B4-BE49-F238E27FC236}">
                <a16:creationId xmlns:a16="http://schemas.microsoft.com/office/drawing/2014/main" id="{DC368890-3967-4923-A964-AEA3CE138177}"/>
              </a:ext>
            </a:extLst>
          </p:cNvPr>
          <p:cNvSpPr>
            <a:spLocks xmlns:a="http://schemas.openxmlformats.org/drawingml/2006/main" noGrp="1"/>
          </p:cNvSpPr>
          <p:nvPr/>
        </p:nvSpPr>
        <p:spPr>
          <a:xfrm xmlns:a="http://schemas.openxmlformats.org/drawingml/2006/main">
            <a:off x="6076950" y="4410075"/>
            <a:ext cx="14288" cy="542925"/>
          </a:xfrm>
          <a:prstGeom xmlns:a="http://schemas.openxmlformats.org/drawingml/2006/main" prst="rect">
            <a:avLst/>
          </a:prstGeom>
          <a:solidFill xmlns:a="http://schemas.openxmlformats.org/drawingml/2006/main">
            <a:srgbClr val="CCD5DF"/>
          </a:solidFill>
          <a:ln xmlns:a="http://schemas.openxmlformats.org/drawingml/2006/main" w="0">
            <a:noFill/>
          </a:ln>
        </p:spPr>
      </p:sp>
      <p:sp>
        <p:nvSpPr>
          <p:cNvPr id="253" name="framework-principle-box">
            <a:extLst xmlns:a="http://schemas.openxmlformats.org/drawingml/2006/main">
              <a:ext uri="{FF2B5EF4-FFF2-40B4-BE49-F238E27FC236}">
                <a16:creationId xmlns:a16="http://schemas.microsoft.com/office/drawing/2014/main" id="{74EAE2CF-77CF-4F77-B3A3-ACB23B803CC4}"/>
              </a:ext>
            </a:extLst>
          </p:cNvPr>
          <p:cNvSpPr>
            <a:spLocks xmlns:a="http://schemas.openxmlformats.org/drawingml/2006/main" noGrp="1"/>
          </p:cNvSpPr>
          <p:nvPr/>
        </p:nvSpPr>
        <p:spPr>
          <a:xfrm xmlns:a="http://schemas.openxmlformats.org/drawingml/2006/main">
            <a:off x="1714500" y="5334000"/>
            <a:ext cx="8763000" cy="590550"/>
          </a:xfrm>
          <a:prstGeom xmlns:a="http://schemas.openxmlformats.org/drawingml/2006/main" prst="roundRect">
            <a:avLst>
              <a:gd name="adj" fmla="val 12903"/>
            </a:avLst>
          </a:prstGeom>
          <a:solidFill xmlns:a="http://schemas.openxmlformats.org/drawingml/2006/main">
            <a:srgbClr val="E8F4EE"/>
          </a:solidFill>
          <a:ln xmlns:a="http://schemas.openxmlformats.org/drawingml/2006/main" w="14288">
            <a:solidFill>
              <a:srgbClr val="008A46"/>
            </a:solidFill>
          </a:ln>
        </p:spPr>
      </p:sp>
      <p:sp>
        <p:nvSpPr>
          <p:cNvPr id="254" name="framework-principle">
            <a:extLst xmlns:a="http://schemas.openxmlformats.org/drawingml/2006/main">
              <a:ext uri="{FF2B5EF4-FFF2-40B4-BE49-F238E27FC236}">
                <a16:creationId xmlns:a16="http://schemas.microsoft.com/office/drawing/2014/main" id="{326D5A41-5020-45AA-BA2B-2715379B75A1}"/>
              </a:ext>
            </a:extLst>
          </p:cNvPr>
          <p:cNvSpPr>
            <a:spLocks xmlns:a="http://schemas.openxmlformats.org/drawingml/2006/main" noGrp="1"/>
          </p:cNvSpPr>
          <p:nvPr/>
        </p:nvSpPr>
        <p:spPr>
          <a:xfrm xmlns:a="http://schemas.openxmlformats.org/drawingml/2006/main">
            <a:off x="1952625" y="5410200"/>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16" lnSpcReduction="10000"/>
          </a:bodyPr>
          <a:lstStyle xmlns:a="http://schemas.openxmlformats.org/drawingml/2006/main"/>
          <a:p xmlns:a="http://schemas.openxmlformats.org/drawingml/2006/main">
            <a:pPr algn="ctr">
              <a:buNone/>
              <a:defRPr sz="1275" b="1">
                <a:solidFill>
                  <a:srgbClr val="17365D"/>
                </a:solidFill>
                <a:latin typeface="Arial"/>
                <a:ea typeface="Arial"/>
                <a:cs typeface="Arial"/>
              </a:defRPr>
            </a:pPr>
            <a:r>
              <a:rPr sz="1275" b="1">
                <a:solidFill>
                  <a:srgbClr val="17365D"/>
                </a:solidFill>
                <a:latin typeface="Arial"/>
                <a:ea typeface="Arial"/>
                <a:cs typeface="Arial"/>
              </a:rPr>
              <a:t>Core principle: patient records remain inside each institution; only protected updates enter the collaboration, and only a validated global model is released.</a:t>
            </a:r>
          </a:p>
        </p:txBody>
      </p:sp>
      <p:pic>
        <p:nvPicPr>
          <p:cNvPr id="607" name="Picture 1"/>
          <p:cNvPicPr>
            <a:picLocks xmlns:a="http://schemas.openxmlformats.org/drawingml/2006/main" noChangeAspect="1"/>
          </p:cNvPicPr>
          <p:nvPr/>
        </p:nvPicPr>
        <p:blipFill>
          <a:blip xmlns:r="http://schemas.openxmlformats.org/officeDocument/2006/relationships" xmlns:a="http://schemas.openxmlformats.org/drawingml/2006/main" r:embed="Rd14ad392cbd04358"/>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
        <p:nvSpPr>
          <p:cNvPr id="441" name="conceptual-framework-replacement-cover">
            <a:extLst xmlns:a="http://schemas.openxmlformats.org/drawingml/2006/main">
              <a:ext uri="{FF2B5EF4-FFF2-40B4-BE49-F238E27FC236}">
                <a16:creationId xmlns:a16="http://schemas.microsoft.com/office/drawing/2014/main" id="{B9CA9847-B2ED-4B88-990E-07B592318C5C}"/>
              </a:ext>
            </a:extLst>
          </p:cNvPr>
          <p:cNvSpPr>
            <a:spLocks xmlns:a="http://schemas.openxmlformats.org/drawingml/2006/main" noGrp="1"/>
          </p:cNvSpPr>
          <p:nvPr/>
        </p:nvSpPr>
        <p:spPr>
          <a:xfrm xmlns:a="http://schemas.openxmlformats.org/drawingml/2006/main">
            <a:off x="523875" y="1095375"/>
            <a:ext cx="11144250" cy="50006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42" name="stage-1-inputs">
            <a:extLst xmlns:a="http://schemas.openxmlformats.org/drawingml/2006/main">
              <a:ext uri="{FF2B5EF4-FFF2-40B4-BE49-F238E27FC236}">
                <a16:creationId xmlns:a16="http://schemas.microsoft.com/office/drawing/2014/main" id="{8473B568-7251-4730-AAE9-4B52D0D678C3}"/>
              </a:ext>
            </a:extLst>
          </p:cNvPr>
          <p:cNvSpPr>
            <a:spLocks xmlns:a="http://schemas.openxmlformats.org/drawingml/2006/main" noGrp="1"/>
          </p:cNvSpPr>
          <p:nvPr/>
        </p:nvSpPr>
        <p:spPr>
          <a:xfrm xmlns:a="http://schemas.openxmlformats.org/drawingml/2006/main">
            <a:off x="1190625" y="1219200"/>
            <a:ext cx="9810750" cy="666750"/>
          </a:xfrm>
          <a:prstGeom xmlns:a="http://schemas.openxmlformats.org/drawingml/2006/main" prst="roundRect">
            <a:avLst>
              <a:gd name="adj" fmla="val 11429"/>
            </a:avLst>
          </a:prstGeom>
          <a:solidFill xmlns:a="http://schemas.openxmlformats.org/drawingml/2006/main">
            <a:srgbClr val="EEF2FF"/>
          </a:solidFill>
          <a:ln xmlns:a="http://schemas.openxmlformats.org/drawingml/2006/main" w="13335">
            <a:solidFill>
              <a:srgbClr val="748DB7"/>
            </a:solidFill>
            <a:prstDash val="solid"/>
          </a:ln>
        </p:spPr>
      </p:sp>
      <p:sp>
        <p:nvSpPr>
          <p:cNvPr id="443" name="stage-1-title">
            <a:extLst xmlns:a="http://schemas.openxmlformats.org/drawingml/2006/main">
              <a:ext uri="{FF2B5EF4-FFF2-40B4-BE49-F238E27FC236}">
                <a16:creationId xmlns:a16="http://schemas.microsoft.com/office/drawing/2014/main" id="{2110CCED-3DAA-4F49-B921-82F5EA921C59}"/>
              </a:ext>
            </a:extLst>
          </p:cNvPr>
          <p:cNvSpPr>
            <a:spLocks xmlns:a="http://schemas.openxmlformats.org/drawingml/2006/main" noGrp="1"/>
          </p:cNvSpPr>
          <p:nvPr/>
        </p:nvSpPr>
        <p:spPr>
          <a:xfrm xmlns:a="http://schemas.openxmlformats.org/drawingml/2006/main">
            <a:off x="4000500" y="1276350"/>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38"/>
          </a:bodyPr>
          <a:lstStyle xmlns:a="http://schemas.openxmlformats.org/drawingml/2006/main"/>
          <a:p xmlns:a="http://schemas.openxmlformats.org/drawingml/2006/main">
            <a:pPr algn="ctr">
              <a:buNone/>
              <a:defRPr sz="1163" b="1">
                <a:solidFill>
                  <a:srgbClr val="062B6F"/>
                </a:solidFill>
                <a:latin typeface="Arial"/>
                <a:ea typeface="Arial"/>
                <a:cs typeface="Arial"/>
              </a:defRPr>
            </a:pPr>
            <a:r>
              <a:rPr sz="1163" b="1">
                <a:solidFill>
                  <a:srgbClr val="062B6F"/>
                </a:solidFill>
                <a:latin typeface="Arial"/>
                <a:ea typeface="Arial"/>
                <a:cs typeface="Arial"/>
              </a:rPr>
              <a:t>STAGE 1  RESEARCH INPUTS</a:t>
            </a:r>
          </a:p>
        </p:txBody>
      </p:sp>
      <p:sp>
        <p:nvSpPr>
          <p:cNvPr id="444" name="stage-1-natural-hospital-partitions">
            <a:extLst xmlns:a="http://schemas.openxmlformats.org/drawingml/2006/main">
              <a:ext uri="{FF2B5EF4-FFF2-40B4-BE49-F238E27FC236}">
                <a16:creationId xmlns:a16="http://schemas.microsoft.com/office/drawing/2014/main" id="{1F571C31-B494-4CE7-877A-402EB75FBC1D}"/>
              </a:ext>
            </a:extLst>
          </p:cNvPr>
          <p:cNvSpPr>
            <a:spLocks xmlns:a="http://schemas.openxmlformats.org/drawingml/2006/main" noGrp="1"/>
          </p:cNvSpPr>
          <p:nvPr/>
        </p:nvSpPr>
        <p:spPr>
          <a:xfrm xmlns:a="http://schemas.openxmlformats.org/drawingml/2006/main">
            <a:off x="14287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Natural hospital partitions</a:t>
            </a:r>
          </a:p>
        </p:txBody>
      </p:sp>
      <p:sp>
        <p:nvSpPr>
          <p:cNvPr id="445" name="stage-1-threat-and-trust-model">
            <a:extLst xmlns:a="http://schemas.openxmlformats.org/drawingml/2006/main">
              <a:ext uri="{FF2B5EF4-FFF2-40B4-BE49-F238E27FC236}">
                <a16:creationId xmlns:a16="http://schemas.microsoft.com/office/drawing/2014/main" id="{92870C00-FBC2-4A85-AA92-D4D5D5C7620D}"/>
              </a:ext>
            </a:extLst>
          </p:cNvPr>
          <p:cNvSpPr>
            <a:spLocks xmlns:a="http://schemas.openxmlformats.org/drawingml/2006/main" noGrp="1"/>
          </p:cNvSpPr>
          <p:nvPr/>
        </p:nvSpPr>
        <p:spPr>
          <a:xfrm xmlns:a="http://schemas.openxmlformats.org/drawingml/2006/main">
            <a:off x="46672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Threat and trust model</a:t>
            </a:r>
          </a:p>
        </p:txBody>
      </p:sp>
      <p:sp>
        <p:nvSpPr>
          <p:cNvPr id="446" name="stage-1-research-objectives">
            <a:extLst xmlns:a="http://schemas.openxmlformats.org/drawingml/2006/main">
              <a:ext uri="{FF2B5EF4-FFF2-40B4-BE49-F238E27FC236}">
                <a16:creationId xmlns:a16="http://schemas.microsoft.com/office/drawing/2014/main" id="{7D534E35-EEC2-4619-AB6A-892F27541222}"/>
              </a:ext>
            </a:extLst>
          </p:cNvPr>
          <p:cNvSpPr>
            <a:spLocks xmlns:a="http://schemas.openxmlformats.org/drawingml/2006/main" noGrp="1"/>
          </p:cNvSpPr>
          <p:nvPr/>
        </p:nvSpPr>
        <p:spPr>
          <a:xfrm xmlns:a="http://schemas.openxmlformats.org/drawingml/2006/main">
            <a:off x="7905750" y="154305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Research objectives</a:t>
            </a:r>
          </a:p>
        </p:txBody>
      </p:sp>
      <p:sp>
        <p:nvSpPr>
          <p:cNvPr id="447" name="stage-1-divider-1">
            <a:extLst xmlns:a="http://schemas.openxmlformats.org/drawingml/2006/main">
              <a:ext uri="{FF2B5EF4-FFF2-40B4-BE49-F238E27FC236}">
                <a16:creationId xmlns:a16="http://schemas.microsoft.com/office/drawing/2014/main" id="{9DA44D90-F6B6-4CC8-B1CD-0E7784AE2896}"/>
              </a:ext>
            </a:extLst>
          </p:cNvPr>
          <p:cNvSpPr>
            <a:spLocks xmlns:a="http://schemas.openxmlformats.org/drawingml/2006/main" noGrp="1"/>
          </p:cNvSpPr>
          <p:nvPr/>
        </p:nvSpPr>
        <p:spPr>
          <a:xfrm xmlns:a="http://schemas.openxmlformats.org/drawingml/2006/main">
            <a:off x="4429125" y="1562100"/>
            <a:ext cx="11430" cy="209550"/>
          </a:xfrm>
          <a:prstGeom xmlns:a="http://schemas.openxmlformats.org/drawingml/2006/main" prst="rect">
            <a:avLst/>
          </a:prstGeom>
          <a:solidFill xmlns:a="http://schemas.openxmlformats.org/drawingml/2006/main">
            <a:srgbClr val="B8C5D8"/>
          </a:solidFill>
          <a:ln xmlns:a="http://schemas.openxmlformats.org/drawingml/2006/main" w="0">
            <a:noFill/>
          </a:ln>
        </p:spPr>
      </p:sp>
      <p:sp>
        <p:nvSpPr>
          <p:cNvPr id="448" name="stage-1-divider-2">
            <a:extLst xmlns:a="http://schemas.openxmlformats.org/drawingml/2006/main">
              <a:ext uri="{FF2B5EF4-FFF2-40B4-BE49-F238E27FC236}">
                <a16:creationId xmlns:a16="http://schemas.microsoft.com/office/drawing/2014/main" id="{03B873AC-0977-487D-B4DE-4615F8A7BB01}"/>
              </a:ext>
            </a:extLst>
          </p:cNvPr>
          <p:cNvSpPr>
            <a:spLocks xmlns:a="http://schemas.openxmlformats.org/drawingml/2006/main" noGrp="1"/>
          </p:cNvSpPr>
          <p:nvPr/>
        </p:nvSpPr>
        <p:spPr>
          <a:xfrm xmlns:a="http://schemas.openxmlformats.org/drawingml/2006/main">
            <a:off x="7667625" y="1562100"/>
            <a:ext cx="11430" cy="209550"/>
          </a:xfrm>
          <a:prstGeom xmlns:a="http://schemas.openxmlformats.org/drawingml/2006/main" prst="rect">
            <a:avLst/>
          </a:prstGeom>
          <a:solidFill xmlns:a="http://schemas.openxmlformats.org/drawingml/2006/main">
            <a:srgbClr val="B8C5D8"/>
          </a:solidFill>
          <a:ln xmlns:a="http://schemas.openxmlformats.org/drawingml/2006/main" w="0">
            <a:noFill/>
          </a:ln>
        </p:spPr>
      </p:sp>
      <p:sp>
        <p:nvSpPr>
          <p:cNvPr id="449" name="stage-1-to-2">
            <a:extLst xmlns:a="http://schemas.openxmlformats.org/drawingml/2006/main">
              <a:ext uri="{FF2B5EF4-FFF2-40B4-BE49-F238E27FC236}">
                <a16:creationId xmlns:a16="http://schemas.microsoft.com/office/drawing/2014/main" id="{E0998222-21D2-43B5-90F1-849A60740C81}"/>
              </a:ext>
            </a:extLst>
          </p:cNvPr>
          <p:cNvSpPr>
            <a:spLocks xmlns:a="http://schemas.openxmlformats.org/drawingml/2006/main" noGrp="1"/>
          </p:cNvSpPr>
          <p:nvPr/>
        </p:nvSpPr>
        <p:spPr>
          <a:xfrm xmlns:a="http://schemas.openxmlformats.org/drawingml/2006/main">
            <a:off x="6010275" y="1895475"/>
            <a:ext cx="171450" cy="209550"/>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50" name="stage-2-title">
            <a:extLst xmlns:a="http://schemas.openxmlformats.org/drawingml/2006/main">
              <a:ext uri="{FF2B5EF4-FFF2-40B4-BE49-F238E27FC236}">
                <a16:creationId xmlns:a16="http://schemas.microsoft.com/office/drawing/2014/main" id="{72C835ED-CF72-4651-AE7A-CFEAF08B5A19}"/>
              </a:ext>
            </a:extLst>
          </p:cNvPr>
          <p:cNvSpPr>
            <a:spLocks xmlns:a="http://schemas.openxmlformats.org/drawingml/2006/main" noGrp="1"/>
          </p:cNvSpPr>
          <p:nvPr/>
        </p:nvSpPr>
        <p:spPr>
          <a:xfrm xmlns:a="http://schemas.openxmlformats.org/drawingml/2006/main">
            <a:off x="4095750" y="200025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ctr">
              <a:buNone/>
              <a:defRPr sz="1575" b="1">
                <a:solidFill>
                  <a:srgbClr val="062B6F"/>
                </a:solidFill>
                <a:latin typeface="Arial"/>
                <a:ea typeface="Arial"/>
                <a:cs typeface="Arial"/>
              </a:defRPr>
            </a:pPr>
            <a:r>
              <a:rPr sz="1575" b="1">
                <a:solidFill>
                  <a:srgbClr val="062B6F"/>
                </a:solidFill>
                <a:latin typeface="Arial"/>
                <a:ea typeface="Arial"/>
                <a:cs typeface="Arial"/>
              </a:rPr>
              <a:t>Stage 2  Protection pipeline</a:t>
            </a:r>
          </a:p>
        </p:txBody>
      </p:sp>
      <p:sp>
        <p:nvSpPr>
          <p:cNvPr id="451" name="stage-2-box-1">
            <a:extLst xmlns:a="http://schemas.openxmlformats.org/drawingml/2006/main">
              <a:ext uri="{FF2B5EF4-FFF2-40B4-BE49-F238E27FC236}">
                <a16:creationId xmlns:a16="http://schemas.microsoft.com/office/drawing/2014/main" id="{0796C5A3-8795-4189-A608-51BFC19FE898}"/>
              </a:ext>
            </a:extLst>
          </p:cNvPr>
          <p:cNvSpPr>
            <a:spLocks xmlns:a="http://schemas.openxmlformats.org/drawingml/2006/main" noGrp="1"/>
          </p:cNvSpPr>
          <p:nvPr/>
        </p:nvSpPr>
        <p:spPr>
          <a:xfrm xmlns:a="http://schemas.openxmlformats.org/drawingml/2006/main">
            <a:off x="7143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52" name="stage-2-title-1">
            <a:extLst xmlns:a="http://schemas.openxmlformats.org/drawingml/2006/main">
              <a:ext uri="{FF2B5EF4-FFF2-40B4-BE49-F238E27FC236}">
                <a16:creationId xmlns:a16="http://schemas.microsoft.com/office/drawing/2014/main" id="{047262C1-A66A-4EA6-AE28-56E73362B8E8}"/>
              </a:ext>
            </a:extLst>
          </p:cNvPr>
          <p:cNvSpPr>
            <a:spLocks xmlns:a="http://schemas.openxmlformats.org/drawingml/2006/main" noGrp="1"/>
          </p:cNvSpPr>
          <p:nvPr/>
        </p:nvSpPr>
        <p:spPr>
          <a:xfrm xmlns:a="http://schemas.openxmlformats.org/drawingml/2006/main">
            <a:off x="8096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Local learning</a:t>
            </a:r>
          </a:p>
        </p:txBody>
      </p:sp>
      <p:sp>
        <p:nvSpPr>
          <p:cNvPr id="453" name="stage-2-body-1">
            <a:extLst xmlns:a="http://schemas.openxmlformats.org/drawingml/2006/main">
              <a:ext uri="{FF2B5EF4-FFF2-40B4-BE49-F238E27FC236}">
                <a16:creationId xmlns:a16="http://schemas.microsoft.com/office/drawing/2014/main" id="{DEE50389-700D-488C-AC65-4A739F0B451E}"/>
              </a:ext>
            </a:extLst>
          </p:cNvPr>
          <p:cNvSpPr>
            <a:spLocks xmlns:a="http://schemas.openxmlformats.org/drawingml/2006/main" noGrp="1"/>
          </p:cNvSpPr>
          <p:nvPr/>
        </p:nvSpPr>
        <p:spPr>
          <a:xfrm xmlns:a="http://schemas.openxmlformats.org/drawingml/2006/main">
            <a:off x="8382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On-site preprocessing</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Patient-level DP</a:t>
            </a:r>
          </a:p>
        </p:txBody>
      </p:sp>
      <p:sp>
        <p:nvSpPr>
          <p:cNvPr id="454" name="stage-2-arrow-1">
            <a:extLst xmlns:a="http://schemas.openxmlformats.org/drawingml/2006/main">
              <a:ext uri="{FF2B5EF4-FFF2-40B4-BE49-F238E27FC236}">
                <a16:creationId xmlns:a16="http://schemas.microsoft.com/office/drawing/2014/main" id="{C860354C-DA28-424D-9744-9A760BFB82AB}"/>
              </a:ext>
            </a:extLst>
          </p:cNvPr>
          <p:cNvSpPr>
            <a:spLocks xmlns:a="http://schemas.openxmlformats.org/drawingml/2006/main" noGrp="1"/>
          </p:cNvSpPr>
          <p:nvPr/>
        </p:nvSpPr>
        <p:spPr>
          <a:xfrm xmlns:a="http://schemas.openxmlformats.org/drawingml/2006/main">
            <a:off x="27146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55" name="stage-2-box-2">
            <a:extLst xmlns:a="http://schemas.openxmlformats.org/drawingml/2006/main">
              <a:ext uri="{FF2B5EF4-FFF2-40B4-BE49-F238E27FC236}">
                <a16:creationId xmlns:a16="http://schemas.microsoft.com/office/drawing/2014/main" id="{3D253881-5732-4601-9226-5E475B488539}"/>
              </a:ext>
            </a:extLst>
          </p:cNvPr>
          <p:cNvSpPr>
            <a:spLocks xmlns:a="http://schemas.openxmlformats.org/drawingml/2006/main" noGrp="1"/>
          </p:cNvSpPr>
          <p:nvPr/>
        </p:nvSpPr>
        <p:spPr>
          <a:xfrm xmlns:a="http://schemas.openxmlformats.org/drawingml/2006/main">
            <a:off x="28860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56" name="stage-2-title-2">
            <a:extLst xmlns:a="http://schemas.openxmlformats.org/drawingml/2006/main">
              <a:ext uri="{FF2B5EF4-FFF2-40B4-BE49-F238E27FC236}">
                <a16:creationId xmlns:a16="http://schemas.microsoft.com/office/drawing/2014/main" id="{AE04C2EA-D83F-4346-90A2-9FC87E3D38B9}"/>
              </a:ext>
            </a:extLst>
          </p:cNvPr>
          <p:cNvSpPr>
            <a:spLocks xmlns:a="http://schemas.openxmlformats.org/drawingml/2006/main" noGrp="1"/>
          </p:cNvSpPr>
          <p:nvPr/>
        </p:nvSpPr>
        <p:spPr>
          <a:xfrm xmlns:a="http://schemas.openxmlformats.org/drawingml/2006/main">
            <a:off x="29813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385"/>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Communication control</a:t>
            </a:r>
          </a:p>
        </p:txBody>
      </p:sp>
      <p:sp>
        <p:nvSpPr>
          <p:cNvPr id="457" name="stage-2-body-2">
            <a:extLst xmlns:a="http://schemas.openxmlformats.org/drawingml/2006/main">
              <a:ext uri="{FF2B5EF4-FFF2-40B4-BE49-F238E27FC236}">
                <a16:creationId xmlns:a16="http://schemas.microsoft.com/office/drawing/2014/main" id="{BFCFC045-24F3-4A77-B492-A48F7E10C902}"/>
              </a:ext>
            </a:extLst>
          </p:cNvPr>
          <p:cNvSpPr>
            <a:spLocks xmlns:a="http://schemas.openxmlformats.org/drawingml/2006/main" noGrp="1"/>
          </p:cNvSpPr>
          <p:nvPr/>
        </p:nvSpPr>
        <p:spPr>
          <a:xfrm xmlns:a="http://schemas.openxmlformats.org/drawingml/2006/main">
            <a:off x="30099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CAABC-FL common support</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Residual feedback</a:t>
            </a:r>
          </a:p>
        </p:txBody>
      </p:sp>
      <p:sp>
        <p:nvSpPr>
          <p:cNvPr id="458" name="stage-2-arrow-2">
            <a:extLst xmlns:a="http://schemas.openxmlformats.org/drawingml/2006/main">
              <a:ext uri="{FF2B5EF4-FFF2-40B4-BE49-F238E27FC236}">
                <a16:creationId xmlns:a16="http://schemas.microsoft.com/office/drawing/2014/main" id="{F284C299-D663-4CFD-A3E0-BB5EEE982760}"/>
              </a:ext>
            </a:extLst>
          </p:cNvPr>
          <p:cNvSpPr>
            <a:spLocks xmlns:a="http://schemas.openxmlformats.org/drawingml/2006/main" noGrp="1"/>
          </p:cNvSpPr>
          <p:nvPr/>
        </p:nvSpPr>
        <p:spPr>
          <a:xfrm xmlns:a="http://schemas.openxmlformats.org/drawingml/2006/main">
            <a:off x="48863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59" name="stage-2-box-3">
            <a:extLst xmlns:a="http://schemas.openxmlformats.org/drawingml/2006/main">
              <a:ext uri="{FF2B5EF4-FFF2-40B4-BE49-F238E27FC236}">
                <a16:creationId xmlns:a16="http://schemas.microsoft.com/office/drawing/2014/main" id="{AB00D235-FF64-4EE1-A599-2F74427B81F4}"/>
              </a:ext>
            </a:extLst>
          </p:cNvPr>
          <p:cNvSpPr>
            <a:spLocks xmlns:a="http://schemas.openxmlformats.org/drawingml/2006/main" noGrp="1"/>
          </p:cNvSpPr>
          <p:nvPr/>
        </p:nvSpPr>
        <p:spPr>
          <a:xfrm xmlns:a="http://schemas.openxmlformats.org/drawingml/2006/main">
            <a:off x="50577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0" name="stage-2-title-3">
            <a:extLst xmlns:a="http://schemas.openxmlformats.org/drawingml/2006/main">
              <a:ext uri="{FF2B5EF4-FFF2-40B4-BE49-F238E27FC236}">
                <a16:creationId xmlns:a16="http://schemas.microsoft.com/office/drawing/2014/main" id="{AEE2147D-1CC6-4CFE-9DF6-C80E64ED30A3}"/>
              </a:ext>
            </a:extLst>
          </p:cNvPr>
          <p:cNvSpPr>
            <a:spLocks xmlns:a="http://schemas.openxmlformats.org/drawingml/2006/main" noGrp="1"/>
          </p:cNvSpPr>
          <p:nvPr/>
        </p:nvSpPr>
        <p:spPr>
          <a:xfrm xmlns:a="http://schemas.openxmlformats.org/drawingml/2006/main">
            <a:off x="51530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074"/>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Confidentiality and identity</a:t>
            </a:r>
          </a:p>
        </p:txBody>
      </p:sp>
      <p:sp>
        <p:nvSpPr>
          <p:cNvPr id="461" name="stage-2-body-3">
            <a:extLst xmlns:a="http://schemas.openxmlformats.org/drawingml/2006/main">
              <a:ext uri="{FF2B5EF4-FFF2-40B4-BE49-F238E27FC236}">
                <a16:creationId xmlns:a16="http://schemas.microsoft.com/office/drawing/2014/main" id="{B7DB1A89-9697-4383-AF2E-3EAF045BDEB5}"/>
              </a:ext>
            </a:extLst>
          </p:cNvPr>
          <p:cNvSpPr>
            <a:spLocks xmlns:a="http://schemas.openxmlformats.org/drawingml/2006/main" noGrp="1"/>
          </p:cNvSpPr>
          <p:nvPr/>
        </p:nvSpPr>
        <p:spPr>
          <a:xfrm xmlns:a="http://schemas.openxmlformats.org/drawingml/2006/main">
            <a:off x="51816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CKKS encryption</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Signatures and mTLS</a:t>
            </a:r>
          </a:p>
        </p:txBody>
      </p:sp>
      <p:sp>
        <p:nvSpPr>
          <p:cNvPr id="462" name="stage-2-arrow-3">
            <a:extLst xmlns:a="http://schemas.openxmlformats.org/drawingml/2006/main">
              <a:ext uri="{FF2B5EF4-FFF2-40B4-BE49-F238E27FC236}">
                <a16:creationId xmlns:a16="http://schemas.microsoft.com/office/drawing/2014/main" id="{03BFF5C7-E279-4004-8C1E-1F5D68ADC8AA}"/>
              </a:ext>
            </a:extLst>
          </p:cNvPr>
          <p:cNvSpPr>
            <a:spLocks xmlns:a="http://schemas.openxmlformats.org/drawingml/2006/main" noGrp="1"/>
          </p:cNvSpPr>
          <p:nvPr/>
        </p:nvSpPr>
        <p:spPr>
          <a:xfrm xmlns:a="http://schemas.openxmlformats.org/drawingml/2006/main">
            <a:off x="70580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63" name="stage-2-box-4">
            <a:extLst xmlns:a="http://schemas.openxmlformats.org/drawingml/2006/main">
              <a:ext uri="{FF2B5EF4-FFF2-40B4-BE49-F238E27FC236}">
                <a16:creationId xmlns:a16="http://schemas.microsoft.com/office/drawing/2014/main" id="{8434A86E-28DF-47B0-A314-CAB73E640FF4}"/>
              </a:ext>
            </a:extLst>
          </p:cNvPr>
          <p:cNvSpPr>
            <a:spLocks xmlns:a="http://schemas.openxmlformats.org/drawingml/2006/main" noGrp="1"/>
          </p:cNvSpPr>
          <p:nvPr/>
        </p:nvSpPr>
        <p:spPr>
          <a:xfrm xmlns:a="http://schemas.openxmlformats.org/drawingml/2006/main">
            <a:off x="72294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4" name="stage-2-title-4">
            <a:extLst xmlns:a="http://schemas.openxmlformats.org/drawingml/2006/main">
              <a:ext uri="{FF2B5EF4-FFF2-40B4-BE49-F238E27FC236}">
                <a16:creationId xmlns:a16="http://schemas.microsoft.com/office/drawing/2014/main" id="{A20480CA-7EDE-4665-AE99-0620FCF67925}"/>
              </a:ext>
            </a:extLst>
          </p:cNvPr>
          <p:cNvSpPr>
            <a:spLocks xmlns:a="http://schemas.openxmlformats.org/drawingml/2006/main" noGrp="1"/>
          </p:cNvSpPr>
          <p:nvPr/>
        </p:nvSpPr>
        <p:spPr>
          <a:xfrm xmlns:a="http://schemas.openxmlformats.org/drawingml/2006/main">
            <a:off x="73247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Integrity control</a:t>
            </a:r>
          </a:p>
        </p:txBody>
      </p:sp>
      <p:sp>
        <p:nvSpPr>
          <p:cNvPr id="465" name="stage-2-body-4">
            <a:extLst xmlns:a="http://schemas.openxmlformats.org/drawingml/2006/main">
              <a:ext uri="{FF2B5EF4-FFF2-40B4-BE49-F238E27FC236}">
                <a16:creationId xmlns:a16="http://schemas.microsoft.com/office/drawing/2014/main" id="{8AC47D19-6A97-4164-89CD-0906DD5C4C78}"/>
              </a:ext>
            </a:extLst>
          </p:cNvPr>
          <p:cNvSpPr>
            <a:spLocks xmlns:a="http://schemas.openxmlformats.org/drawingml/2006/main" noGrp="1"/>
          </p:cNvSpPr>
          <p:nvPr/>
        </p:nvSpPr>
        <p:spPr>
          <a:xfrm xmlns:a="http://schemas.openxmlformats.org/drawingml/2006/main">
            <a:off x="73533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Validation and reputation</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Rollback and quarantine</a:t>
            </a:r>
          </a:p>
        </p:txBody>
      </p:sp>
      <p:sp>
        <p:nvSpPr>
          <p:cNvPr id="466" name="stage-2-arrow-4">
            <a:extLst xmlns:a="http://schemas.openxmlformats.org/drawingml/2006/main">
              <a:ext uri="{FF2B5EF4-FFF2-40B4-BE49-F238E27FC236}">
                <a16:creationId xmlns:a16="http://schemas.microsoft.com/office/drawing/2014/main" id="{75C6B995-5282-4DF1-BC4E-9B6C3E4FB3DB}"/>
              </a:ext>
            </a:extLst>
          </p:cNvPr>
          <p:cNvSpPr>
            <a:spLocks xmlns:a="http://schemas.openxmlformats.org/drawingml/2006/main" noGrp="1"/>
          </p:cNvSpPr>
          <p:nvPr/>
        </p:nvSpPr>
        <p:spPr>
          <a:xfrm xmlns:a="http://schemas.openxmlformats.org/drawingml/2006/main">
            <a:off x="9229725" y="2952750"/>
            <a:ext cx="171450" cy="171450"/>
          </a:xfrm>
          <a:prstGeom xmlns:a="http://schemas.openxmlformats.org/drawingml/2006/main" prst="rightArrow">
            <a:avLst/>
          </a:prstGeom>
          <a:solidFill xmlns:a="http://schemas.openxmlformats.org/drawingml/2006/main">
            <a:srgbClr val="062B6F"/>
          </a:solidFill>
          <a:ln xmlns:a="http://schemas.openxmlformats.org/drawingml/2006/main" w="4763">
            <a:solidFill>
              <a:srgbClr val="062B6F"/>
            </a:solidFill>
          </a:ln>
        </p:spPr>
      </p:sp>
      <p:sp>
        <p:nvSpPr>
          <p:cNvPr id="467" name="stage-2-box-5">
            <a:extLst xmlns:a="http://schemas.openxmlformats.org/drawingml/2006/main">
              <a:ext uri="{FF2B5EF4-FFF2-40B4-BE49-F238E27FC236}">
                <a16:creationId xmlns:a16="http://schemas.microsoft.com/office/drawing/2014/main" id="{6241E1E8-F7B5-4712-9F7F-0C47ADDDC355}"/>
              </a:ext>
            </a:extLst>
          </p:cNvPr>
          <p:cNvSpPr>
            <a:spLocks xmlns:a="http://schemas.openxmlformats.org/drawingml/2006/main" noGrp="1"/>
          </p:cNvSpPr>
          <p:nvPr/>
        </p:nvSpPr>
        <p:spPr>
          <a:xfrm xmlns:a="http://schemas.openxmlformats.org/drawingml/2006/main">
            <a:off x="9401175" y="2381250"/>
            <a:ext cx="2000250" cy="1314450"/>
          </a:xfrm>
          <a:prstGeom xmlns:a="http://schemas.openxmlformats.org/drawingml/2006/main" prst="roundRect">
            <a:avLst>
              <a:gd name="adj" fmla="val 5797"/>
            </a:avLst>
          </a:prstGeom>
          <a:solidFill xmlns:a="http://schemas.openxmlformats.org/drawingml/2006/main">
            <a:srgbClr val="EEF8F0"/>
          </a:solidFill>
          <a:ln xmlns:a="http://schemas.openxmlformats.org/drawingml/2006/main" w="13335">
            <a:solidFill>
              <a:srgbClr val="3B8F5A"/>
            </a:solidFill>
            <a:prstDash val="solid"/>
          </a:ln>
        </p:spPr>
      </p:sp>
      <p:sp>
        <p:nvSpPr>
          <p:cNvPr id="468" name="stage-2-title-5">
            <a:extLst xmlns:a="http://schemas.openxmlformats.org/drawingml/2006/main">
              <a:ext uri="{FF2B5EF4-FFF2-40B4-BE49-F238E27FC236}">
                <a16:creationId xmlns:a16="http://schemas.microsoft.com/office/drawing/2014/main" id="{3879F116-0900-4132-99B4-D920A7CE18DD}"/>
              </a:ext>
            </a:extLst>
          </p:cNvPr>
          <p:cNvSpPr>
            <a:spLocks xmlns:a="http://schemas.openxmlformats.org/drawingml/2006/main" noGrp="1"/>
          </p:cNvSpPr>
          <p:nvPr/>
        </p:nvSpPr>
        <p:spPr>
          <a:xfrm xmlns:a="http://schemas.openxmlformats.org/drawingml/2006/main">
            <a:off x="9496425" y="24955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74C2E"/>
                </a:solidFill>
                <a:latin typeface="Arial"/>
                <a:ea typeface="Arial"/>
                <a:cs typeface="Arial"/>
              </a:defRPr>
            </a:pPr>
            <a:r>
              <a:rPr sz="1275" b="1">
                <a:solidFill>
                  <a:srgbClr val="174C2E"/>
                </a:solidFill>
                <a:latin typeface="Arial"/>
                <a:ea typeface="Arial"/>
                <a:cs typeface="Arial"/>
              </a:rPr>
              <a:t>Governance</a:t>
            </a:r>
          </a:p>
        </p:txBody>
      </p:sp>
      <p:sp>
        <p:nvSpPr>
          <p:cNvPr id="469" name="stage-2-body-5">
            <a:extLst xmlns:a="http://schemas.openxmlformats.org/drawingml/2006/main">
              <a:ext uri="{FF2B5EF4-FFF2-40B4-BE49-F238E27FC236}">
                <a16:creationId xmlns:a16="http://schemas.microsoft.com/office/drawing/2014/main" id="{FA7DB5A6-D274-45AA-A342-A5860E77E627}"/>
              </a:ext>
            </a:extLst>
          </p:cNvPr>
          <p:cNvSpPr>
            <a:spLocks xmlns:a="http://schemas.openxmlformats.org/drawingml/2006/main" noGrp="1"/>
          </p:cNvSpPr>
          <p:nvPr/>
        </p:nvSpPr>
        <p:spPr>
          <a:xfrm xmlns:a="http://schemas.openxmlformats.org/drawingml/2006/main">
            <a:off x="9525000" y="2914650"/>
            <a:ext cx="175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Aggregate verification</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Audit quorum and release policy</a:t>
            </a:r>
          </a:p>
        </p:txBody>
      </p:sp>
      <p:sp>
        <p:nvSpPr>
          <p:cNvPr id="470" name="stage-2-to-3">
            <a:extLst xmlns:a="http://schemas.openxmlformats.org/drawingml/2006/main">
              <a:ext uri="{FF2B5EF4-FFF2-40B4-BE49-F238E27FC236}">
                <a16:creationId xmlns:a16="http://schemas.microsoft.com/office/drawing/2014/main" id="{637A5CB7-3D54-423D-B673-FED4B9085C96}"/>
              </a:ext>
            </a:extLst>
          </p:cNvPr>
          <p:cNvSpPr>
            <a:spLocks xmlns:a="http://schemas.openxmlformats.org/drawingml/2006/main" noGrp="1"/>
          </p:cNvSpPr>
          <p:nvPr/>
        </p:nvSpPr>
        <p:spPr>
          <a:xfrm xmlns:a="http://schemas.openxmlformats.org/drawingml/2006/main">
            <a:off x="6010275" y="3752850"/>
            <a:ext cx="171450" cy="219075"/>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71" name="stage-3-outcomes">
            <a:extLst xmlns:a="http://schemas.openxmlformats.org/drawingml/2006/main">
              <a:ext uri="{FF2B5EF4-FFF2-40B4-BE49-F238E27FC236}">
                <a16:creationId xmlns:a16="http://schemas.microsoft.com/office/drawing/2014/main" id="{1C7CEA11-5C93-4A1A-994C-1CDDB6282532}"/>
              </a:ext>
            </a:extLst>
          </p:cNvPr>
          <p:cNvSpPr>
            <a:spLocks xmlns:a="http://schemas.openxmlformats.org/drawingml/2006/main" noGrp="1"/>
          </p:cNvSpPr>
          <p:nvPr/>
        </p:nvSpPr>
        <p:spPr>
          <a:xfrm xmlns:a="http://schemas.openxmlformats.org/drawingml/2006/main">
            <a:off x="1190625" y="4000500"/>
            <a:ext cx="9810750" cy="895350"/>
          </a:xfrm>
          <a:prstGeom xmlns:a="http://schemas.openxmlformats.org/drawingml/2006/main" prst="roundRect">
            <a:avLst>
              <a:gd name="adj" fmla="val 8511"/>
            </a:avLst>
          </a:prstGeom>
          <a:solidFill xmlns:a="http://schemas.openxmlformats.org/drawingml/2006/main">
            <a:srgbClr val="FFF3E6"/>
          </a:solidFill>
          <a:ln xmlns:a="http://schemas.openxmlformats.org/drawingml/2006/main" w="13335">
            <a:solidFill>
              <a:srgbClr val="C98234"/>
            </a:solidFill>
            <a:prstDash val="solid"/>
          </a:ln>
        </p:spPr>
      </p:sp>
      <p:sp>
        <p:nvSpPr>
          <p:cNvPr id="472" name="stage-3-title">
            <a:extLst xmlns:a="http://schemas.openxmlformats.org/drawingml/2006/main">
              <a:ext uri="{FF2B5EF4-FFF2-40B4-BE49-F238E27FC236}">
                <a16:creationId xmlns:a16="http://schemas.microsoft.com/office/drawing/2014/main" id="{7630318B-E5DE-4D7A-B9C6-8A74D0989975}"/>
              </a:ext>
            </a:extLst>
          </p:cNvPr>
          <p:cNvSpPr>
            <a:spLocks xmlns:a="http://schemas.openxmlformats.org/drawingml/2006/main" noGrp="1"/>
          </p:cNvSpPr>
          <p:nvPr/>
        </p:nvSpPr>
        <p:spPr>
          <a:xfrm xmlns:a="http://schemas.openxmlformats.org/drawingml/2006/main">
            <a:off x="4000500" y="4086225"/>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638"/>
          </a:bodyPr>
          <a:lstStyle xmlns:a="http://schemas.openxmlformats.org/drawingml/2006/main"/>
          <a:p xmlns:a="http://schemas.openxmlformats.org/drawingml/2006/main">
            <a:pPr algn="ctr">
              <a:buNone/>
              <a:defRPr sz="1163" b="1">
                <a:solidFill>
                  <a:srgbClr val="7A4616"/>
                </a:solidFill>
                <a:latin typeface="Arial"/>
                <a:ea typeface="Arial"/>
                <a:cs typeface="Arial"/>
              </a:defRPr>
            </a:pPr>
            <a:r>
              <a:rPr sz="1163" b="1">
                <a:solidFill>
                  <a:srgbClr val="7A4616"/>
                </a:solidFill>
                <a:latin typeface="Arial"/>
                <a:ea typeface="Arial"/>
                <a:cs typeface="Arial"/>
              </a:rPr>
              <a:t>STAGE 3  MEASURABLE OUTCOMES</a:t>
            </a:r>
          </a:p>
        </p:txBody>
      </p:sp>
      <p:sp>
        <p:nvSpPr>
          <p:cNvPr id="473" name="stage-3-outcome-1">
            <a:extLst xmlns:a="http://schemas.openxmlformats.org/drawingml/2006/main">
              <a:ext uri="{FF2B5EF4-FFF2-40B4-BE49-F238E27FC236}">
                <a16:creationId xmlns:a16="http://schemas.microsoft.com/office/drawing/2014/main" id="{415C5594-39E1-47DB-93B8-9252E4E855D8}"/>
              </a:ext>
            </a:extLst>
          </p:cNvPr>
          <p:cNvSpPr>
            <a:spLocks xmlns:a="http://schemas.openxmlformats.org/drawingml/2006/main" noGrp="1"/>
          </p:cNvSpPr>
          <p:nvPr/>
        </p:nvSpPr>
        <p:spPr>
          <a:xfrm xmlns:a="http://schemas.openxmlformats.org/drawingml/2006/main">
            <a:off x="13811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Utility and</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calibration</a:t>
            </a:r>
          </a:p>
        </p:txBody>
      </p:sp>
      <p:sp>
        <p:nvSpPr>
          <p:cNvPr id="474" name="stage-3-outcome-2">
            <a:extLst xmlns:a="http://schemas.openxmlformats.org/drawingml/2006/main">
              <a:ext uri="{FF2B5EF4-FFF2-40B4-BE49-F238E27FC236}">
                <a16:creationId xmlns:a16="http://schemas.microsoft.com/office/drawing/2014/main" id="{2F0D41AC-EDDC-4F34-9654-AACC3EA44AF6}"/>
              </a:ext>
            </a:extLst>
          </p:cNvPr>
          <p:cNvSpPr>
            <a:spLocks xmlns:a="http://schemas.openxmlformats.org/drawingml/2006/main" noGrp="1"/>
          </p:cNvSpPr>
          <p:nvPr/>
        </p:nvSpPr>
        <p:spPr>
          <a:xfrm xmlns:a="http://schemas.openxmlformats.org/drawingml/2006/main">
            <a:off x="326707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Formal and empirical</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privacy</a:t>
            </a:r>
          </a:p>
        </p:txBody>
      </p:sp>
      <p:sp>
        <p:nvSpPr>
          <p:cNvPr id="475" name="stage-3-outcome-3">
            <a:extLst xmlns:a="http://schemas.openxmlformats.org/drawingml/2006/main">
              <a:ext uri="{FF2B5EF4-FFF2-40B4-BE49-F238E27FC236}">
                <a16:creationId xmlns:a16="http://schemas.microsoft.com/office/drawing/2014/main" id="{7406F46F-9651-41C6-A96C-2E61DE1677C5}"/>
              </a:ext>
            </a:extLst>
          </p:cNvPr>
          <p:cNvSpPr>
            <a:spLocks xmlns:a="http://schemas.openxmlformats.org/drawingml/2006/main" noGrp="1"/>
          </p:cNvSpPr>
          <p:nvPr/>
        </p:nvSpPr>
        <p:spPr>
          <a:xfrm xmlns:a="http://schemas.openxmlformats.org/drawingml/2006/main">
            <a:off x="51530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Encrypted upload</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and latency</a:t>
            </a:r>
          </a:p>
        </p:txBody>
      </p:sp>
      <p:sp>
        <p:nvSpPr>
          <p:cNvPr id="476" name="stage-3-outcome-4">
            <a:extLst xmlns:a="http://schemas.openxmlformats.org/drawingml/2006/main">
              <a:ext uri="{FF2B5EF4-FFF2-40B4-BE49-F238E27FC236}">
                <a16:creationId xmlns:a16="http://schemas.microsoft.com/office/drawing/2014/main" id="{96CA2D40-D781-4F92-98C2-9C2134A98F9C}"/>
              </a:ext>
            </a:extLst>
          </p:cNvPr>
          <p:cNvSpPr>
            <a:spLocks xmlns:a="http://schemas.openxmlformats.org/drawingml/2006/main" noGrp="1"/>
          </p:cNvSpPr>
          <p:nvPr/>
        </p:nvSpPr>
        <p:spPr>
          <a:xfrm xmlns:a="http://schemas.openxmlformats.org/drawingml/2006/main">
            <a:off x="703897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Poisoning</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response</a:t>
            </a:r>
          </a:p>
        </p:txBody>
      </p:sp>
      <p:sp>
        <p:nvSpPr>
          <p:cNvPr id="477" name="stage-3-outcome-5">
            <a:extLst xmlns:a="http://schemas.openxmlformats.org/drawingml/2006/main">
              <a:ext uri="{FF2B5EF4-FFF2-40B4-BE49-F238E27FC236}">
                <a16:creationId xmlns:a16="http://schemas.microsoft.com/office/drawing/2014/main" id="{0C7DFF58-3436-43AB-9744-F500E067F267}"/>
              </a:ext>
            </a:extLst>
          </p:cNvPr>
          <p:cNvSpPr>
            <a:spLocks xmlns:a="http://schemas.openxmlformats.org/drawingml/2006/main" noGrp="1"/>
          </p:cNvSpPr>
          <p:nvPr/>
        </p:nvSpPr>
        <p:spPr>
          <a:xfrm xmlns:a="http://schemas.openxmlformats.org/drawingml/2006/main">
            <a:off x="8924925" y="437197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933"/>
          </a:bodyPr>
          <a:lstStyle xmlns:a="http://schemas.openxmlformats.org/drawingml/2006/main"/>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Correctness and</a:t>
            </a:r>
          </a:p>
          <a:p xmlns:a="http://schemas.openxmlformats.org/drawingml/2006/main">
            <a:pPr algn="ctr">
              <a:buNone/>
              <a:defRPr sz="1088">
                <a:solidFill>
                  <a:srgbClr val="263244"/>
                </a:solidFill>
                <a:latin typeface="Arial"/>
                <a:ea typeface="Arial"/>
                <a:cs typeface="Arial"/>
              </a:defRPr>
            </a:pPr>
            <a:r>
              <a:rPr sz="1088">
                <a:solidFill>
                  <a:srgbClr val="263244"/>
                </a:solidFill>
                <a:latin typeface="Arial"/>
                <a:ea typeface="Arial"/>
                <a:cs typeface="Arial"/>
              </a:rPr>
              <a:t>availability</a:t>
            </a:r>
          </a:p>
        </p:txBody>
      </p:sp>
      <p:sp>
        <p:nvSpPr>
          <p:cNvPr id="478" name="stage-3-to-4">
            <a:extLst xmlns:a="http://schemas.openxmlformats.org/drawingml/2006/main">
              <a:ext uri="{FF2B5EF4-FFF2-40B4-BE49-F238E27FC236}">
                <a16:creationId xmlns:a16="http://schemas.microsoft.com/office/drawing/2014/main" id="{D63CE8A8-585E-4B62-B14B-B68F9796A4D9}"/>
              </a:ext>
            </a:extLst>
          </p:cNvPr>
          <p:cNvSpPr>
            <a:spLocks xmlns:a="http://schemas.openxmlformats.org/drawingml/2006/main" noGrp="1"/>
          </p:cNvSpPr>
          <p:nvPr/>
        </p:nvSpPr>
        <p:spPr>
          <a:xfrm xmlns:a="http://schemas.openxmlformats.org/drawingml/2006/main">
            <a:off x="6010275" y="4933950"/>
            <a:ext cx="171450" cy="209550"/>
          </a:xfrm>
          <a:prstGeom xmlns:a="http://schemas.openxmlformats.org/drawingml/2006/main" prst="downArrow">
            <a:avLst/>
          </a:prstGeom>
          <a:solidFill xmlns:a="http://schemas.openxmlformats.org/drawingml/2006/main">
            <a:srgbClr val="062B6F"/>
          </a:solidFill>
          <a:ln xmlns:a="http://schemas.openxmlformats.org/drawingml/2006/main" w="4763">
            <a:solidFill>
              <a:srgbClr val="062B6F"/>
            </a:solidFill>
          </a:ln>
        </p:spPr>
      </p:sp>
      <p:sp>
        <p:nvSpPr>
          <p:cNvPr id="479" name="stage-4-bounded-evidence">
            <a:extLst xmlns:a="http://schemas.openxmlformats.org/drawingml/2006/main">
              <a:ext uri="{FF2B5EF4-FFF2-40B4-BE49-F238E27FC236}">
                <a16:creationId xmlns:a16="http://schemas.microsoft.com/office/drawing/2014/main" id="{1761903C-E86E-4FC7-A262-57B044043DF0}"/>
              </a:ext>
            </a:extLst>
          </p:cNvPr>
          <p:cNvSpPr>
            <a:spLocks xmlns:a="http://schemas.openxmlformats.org/drawingml/2006/main" noGrp="1"/>
          </p:cNvSpPr>
          <p:nvPr/>
        </p:nvSpPr>
        <p:spPr>
          <a:xfrm xmlns:a="http://schemas.openxmlformats.org/drawingml/2006/main">
            <a:off x="2571750" y="5181600"/>
            <a:ext cx="7048500" cy="733425"/>
          </a:xfrm>
          <a:prstGeom xmlns:a="http://schemas.openxmlformats.org/drawingml/2006/main" prst="roundRect">
            <a:avLst>
              <a:gd name="adj" fmla="val 10390"/>
            </a:avLst>
          </a:prstGeom>
          <a:solidFill xmlns:a="http://schemas.openxmlformats.org/drawingml/2006/main">
            <a:srgbClr val="FFF2F2"/>
          </a:solidFill>
          <a:ln xmlns:a="http://schemas.openxmlformats.org/drawingml/2006/main" w="13335">
            <a:solidFill>
              <a:srgbClr val="B96A6A"/>
            </a:solidFill>
            <a:prstDash val="dash"/>
          </a:ln>
        </p:spPr>
      </p:sp>
      <p:sp>
        <p:nvSpPr>
          <p:cNvPr id="480" name="stage-4-title">
            <a:extLst xmlns:a="http://schemas.openxmlformats.org/drawingml/2006/main">
              <a:ext uri="{FF2B5EF4-FFF2-40B4-BE49-F238E27FC236}">
                <a16:creationId xmlns:a16="http://schemas.microsoft.com/office/drawing/2014/main" id="{08B3CC64-0302-41CE-98AA-EA75CAD93518}"/>
              </a:ext>
            </a:extLst>
          </p:cNvPr>
          <p:cNvSpPr>
            <a:spLocks xmlns:a="http://schemas.openxmlformats.org/drawingml/2006/main" noGrp="1"/>
          </p:cNvSpPr>
          <p:nvPr/>
        </p:nvSpPr>
        <p:spPr>
          <a:xfrm xmlns:a="http://schemas.openxmlformats.org/drawingml/2006/main">
            <a:off x="3905250" y="5238750"/>
            <a:ext cx="438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012"/>
          </a:bodyPr>
          <a:lstStyle xmlns:a="http://schemas.openxmlformats.org/drawingml/2006/main"/>
          <a:p xmlns:a="http://schemas.openxmlformats.org/drawingml/2006/main">
            <a:pPr algn="ctr">
              <a:buNone/>
              <a:defRPr sz="1163" b="1">
                <a:solidFill>
                  <a:srgbClr val="813B3B"/>
                </a:solidFill>
                <a:latin typeface="Arial"/>
                <a:ea typeface="Arial"/>
                <a:cs typeface="Arial"/>
              </a:defRPr>
            </a:pPr>
            <a:r>
              <a:rPr sz="1163" b="1">
                <a:solidFill>
                  <a:srgbClr val="813B3B"/>
                </a:solidFill>
                <a:latin typeface="Arial"/>
                <a:ea typeface="Arial"/>
                <a:cs typeface="Arial"/>
              </a:rPr>
              <a:t>STAGE 4  BOUNDED RESEARCH EVIDENCE</a:t>
            </a:r>
          </a:p>
        </p:txBody>
      </p:sp>
      <p:sp>
        <p:nvSpPr>
          <p:cNvPr id="481" name="stage-4-body">
            <a:extLst xmlns:a="http://schemas.openxmlformats.org/drawingml/2006/main">
              <a:ext uri="{FF2B5EF4-FFF2-40B4-BE49-F238E27FC236}">
                <a16:creationId xmlns:a16="http://schemas.microsoft.com/office/drawing/2014/main" id="{29567269-EF8E-4DA2-8C04-94AF635B126B}"/>
              </a:ext>
            </a:extLst>
          </p:cNvPr>
          <p:cNvSpPr>
            <a:spLocks xmlns:a="http://schemas.openxmlformats.org/drawingml/2006/main" noGrp="1"/>
          </p:cNvSpPr>
          <p:nvPr/>
        </p:nvSpPr>
        <p:spPr>
          <a:xfrm xmlns:a="http://schemas.openxmlformats.org/drawingml/2006/main">
            <a:off x="2952750" y="5486400"/>
            <a:ext cx="628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465"/>
          </a:bodyPr>
          <a:lstStyle xmlns:a="http://schemas.openxmlformats.org/drawingml/2006/main"/>
          <a:p xmlns:a="http://schemas.openxmlformats.org/drawingml/2006/main">
            <a:pPr algn="ctr">
              <a:buNone/>
              <a:defRPr sz="1065">
                <a:solidFill>
                  <a:srgbClr val="58667A"/>
                </a:solidFill>
                <a:latin typeface="Arial"/>
                <a:ea typeface="Arial"/>
                <a:cs typeface="Arial"/>
              </a:defRPr>
            </a:pPr>
            <a:r>
              <a:rPr sz="1065">
                <a:solidFill>
                  <a:srgbClr val="58667A"/>
                </a:solidFill>
                <a:latin typeface="Arial"/>
                <a:ea typeface="Arial"/>
                <a:cs typeface="Arial"/>
              </a:rPr>
              <a:t>Evidence is limited to the evaluated data, attacks, seeds and deployment environment.</a:t>
            </a:r>
          </a:p>
          <a:p xmlns:a="http://schemas.openxmlformats.org/drawingml/2006/main">
            <a:pPr algn="ctr">
              <a:buNone/>
              <a:defRPr sz="1065">
                <a:solidFill>
                  <a:srgbClr val="58667A"/>
                </a:solidFill>
                <a:latin typeface="Arial"/>
                <a:ea typeface="Arial"/>
                <a:cs typeface="Arial"/>
              </a:defRPr>
            </a:pPr>
            <a:r>
              <a:rPr sz="1065">
                <a:solidFill>
                  <a:srgbClr val="58667A"/>
                </a:solidFill>
                <a:latin typeface="Arial"/>
                <a:ea typeface="Arial"/>
                <a:cs typeface="Arial"/>
              </a:rPr>
              <a:t>No universal, clinical, regulatory or production-security claim.</a:t>
            </a:r>
          </a:p>
        </p:txBody>
      </p:sp>
    </p:spTree>
    <p:extLst>
      <p:ext uri="{BB962C8B-B14F-4D97-AF65-F5344CB8AC3E}">
        <p14:creationId xmlns:p14="http://schemas.microsoft.com/office/powerpoint/2010/main" val="102666196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659"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5b461495363c47a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60"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5bad771c16bb4452">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662"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2ee81033bf4b4c6a">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17</a:t>
            </a:r>
            <a:endParaRPr sz="2800"/>
          </a:p>
        </p:txBody>
      </p:sp>
      <p:cxnSp>
        <p:nvCxnSpPr>
          <p:cNvPr id="665"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667" name="Picture 3"/>
          <p:cNvPicPr>
            <a:picLocks xmlns:a="http://schemas.openxmlformats.org/drawingml/2006/main" noChangeAspect="1"/>
          </p:cNvPicPr>
          <p:nvPr/>
        </p:nvPicPr>
        <p:blipFill>
          <a:blip xmlns:r="http://schemas.openxmlformats.org/officeDocument/2006/relationships" xmlns:a="http://schemas.openxmlformats.org/drawingml/2006/main" r:embed="R5f1a1eabab70404d"/>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28987579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18</a:t>
            </a:r>
            <a:endParaRPr sz="2800"/>
          </a:p>
        </p:txBody>
      </p:sp>
      <p:pic>
        <p:nvPicPr>
          <p:cNvPr id="102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ef468f37d05442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1025" name="Picture 458"/>
          <p:cNvPicPr>
            <a:picLocks xmlns:a="http://schemas.openxmlformats.org/drawingml/2006/main" noChangeAspect="1"/>
          </p:cNvPicPr>
          <p:nvPr/>
        </p:nvPicPr>
        <p:blipFill>
          <a:blip xmlns:r="http://schemas.openxmlformats.org/officeDocument/2006/relationships" xmlns:a="http://schemas.openxmlformats.org/drawingml/2006/main" r:embed="Ra4124659d6214bd3"/>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029" name="Picture 462"/>
          <p:cNvPicPr>
            <a:picLocks xmlns:a="http://schemas.openxmlformats.org/drawingml/2006/main" noChangeAspect="1"/>
          </p:cNvPicPr>
          <p:nvPr/>
        </p:nvPicPr>
        <p:blipFill>
          <a:blip xmlns:r="http://schemas.openxmlformats.org/officeDocument/2006/relationships" xmlns:a="http://schemas.openxmlformats.org/drawingml/2006/main" r:embed="R7bce8ccc750a4e92"/>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1044"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45"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1050"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51"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52"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1057"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58"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59"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1065"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66"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67"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68"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69"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070"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071"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072"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pic>
        <p:nvPicPr>
          <p:cNvPr id="1074" name="Picture 1"/>
          <p:cNvPicPr>
            <a:picLocks xmlns:a="http://schemas.openxmlformats.org/drawingml/2006/main" noChangeAspect="1"/>
          </p:cNvPicPr>
          <p:nvPr/>
        </p:nvPicPr>
        <p:blipFill>
          <a:blip xmlns:r="http://schemas.openxmlformats.org/officeDocument/2006/relationships" xmlns:a="http://schemas.openxmlformats.org/drawingml/2006/main" r:embed="Rddfc6abd86dc44e2"/>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19</a:t>
            </a:r>
            <a:endParaRPr sz="2800"/>
          </a:p>
        </p:txBody>
      </p:sp>
      <p:pic>
        <p:nvPicPr>
          <p:cNvPr id="12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d06693b8da04f5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1219" name="Picture 518"/>
          <p:cNvPicPr>
            <a:picLocks xmlns:a="http://schemas.openxmlformats.org/drawingml/2006/main" noChangeAspect="1"/>
          </p:cNvPicPr>
          <p:nvPr/>
        </p:nvPicPr>
        <p:blipFill>
          <a:blip xmlns:r="http://schemas.openxmlformats.org/officeDocument/2006/relationships" xmlns:a="http://schemas.openxmlformats.org/drawingml/2006/main" r:embed="R6df0487e18844ce3"/>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23" name="Picture 522"/>
          <p:cNvPicPr>
            <a:picLocks xmlns:a="http://schemas.openxmlformats.org/drawingml/2006/main" noChangeAspect="1"/>
          </p:cNvPicPr>
          <p:nvPr/>
        </p:nvPicPr>
        <p:blipFill>
          <a:blip xmlns:r="http://schemas.openxmlformats.org/officeDocument/2006/relationships" xmlns:a="http://schemas.openxmlformats.org/drawingml/2006/main" r:embed="Rbc52989d897a4d98"/>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pic>
        <p:nvPicPr>
          <p:cNvPr id="1226" name="Picture 527"/>
          <p:cNvPicPr>
            <a:picLocks xmlns:a="http://schemas.openxmlformats.org/drawingml/2006/main" noChangeAspect="1"/>
          </p:cNvPicPr>
          <p:nvPr/>
        </p:nvPicPr>
        <p:blipFill>
          <a:blip xmlns:r="http://schemas.openxmlformats.org/officeDocument/2006/relationships" xmlns:a="http://schemas.openxmlformats.org/drawingml/2006/main" r:embed="R1d06693b8da04f5a"/>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lgn="l">
              <a:buNone/>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
        <p:nvSpPr>
          <p:cNvPr id="243" name="native-release-pipeline-cover">
            <a:extLst xmlns:a="http://schemas.openxmlformats.org/drawingml/2006/main">
              <a:ext uri="{FF2B5EF4-FFF2-40B4-BE49-F238E27FC236}">
                <a16:creationId xmlns:a16="http://schemas.microsoft.com/office/drawing/2014/main" id="{B1AC3206-E032-4B91-9184-F82DCF820FF1}"/>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4" name="L4-lane-background">
            <a:extLst xmlns:a="http://schemas.openxmlformats.org/drawingml/2006/main">
              <a:ext uri="{FF2B5EF4-FFF2-40B4-BE49-F238E27FC236}">
                <a16:creationId xmlns:a16="http://schemas.microsoft.com/office/drawing/2014/main" id="{09E3513A-5CB7-4816-AADC-B212D8729B78}"/>
              </a:ext>
            </a:extLst>
          </p:cNvPr>
          <p:cNvSpPr>
            <a:spLocks xmlns:a="http://schemas.openxmlformats.org/drawingml/2006/main" noGrp="1"/>
          </p:cNvSpPr>
          <p:nvPr/>
        </p:nvSpPr>
        <p:spPr>
          <a:xfrm xmlns:a="http://schemas.openxmlformats.org/drawingml/2006/main">
            <a:off x="819150" y="1333500"/>
            <a:ext cx="10572750" cy="895350"/>
          </a:xfrm>
          <a:prstGeom xmlns:a="http://schemas.openxmlformats.org/drawingml/2006/main" prst="roundRect">
            <a:avLst>
              <a:gd name="adj" fmla="val 8511"/>
            </a:avLst>
          </a:prstGeom>
          <a:solidFill xmlns:a="http://schemas.openxmlformats.org/drawingml/2006/main">
            <a:srgbClr val="FFF6E3"/>
          </a:solidFill>
          <a:ln xmlns:a="http://schemas.openxmlformats.org/drawingml/2006/main" w="9525">
            <a:solidFill>
              <a:srgbClr val="D8E0E8"/>
            </a:solidFill>
          </a:ln>
        </p:spPr>
      </p:sp>
      <p:sp>
        <p:nvSpPr>
          <p:cNvPr id="245" name="L4-lane-label">
            <a:extLst xmlns:a="http://schemas.openxmlformats.org/drawingml/2006/main">
              <a:ext uri="{FF2B5EF4-FFF2-40B4-BE49-F238E27FC236}">
                <a16:creationId xmlns:a16="http://schemas.microsoft.com/office/drawing/2014/main" id="{5674893F-4486-4B37-AABF-42C9CE8ABEFA}"/>
              </a:ext>
            </a:extLst>
          </p:cNvPr>
          <p:cNvSpPr>
            <a:spLocks xmlns:a="http://schemas.openxmlformats.org/drawingml/2006/main" noGrp="1"/>
          </p:cNvSpPr>
          <p:nvPr/>
        </p:nvSpPr>
        <p:spPr>
          <a:xfrm xmlns:a="http://schemas.openxmlformats.org/drawingml/2006/main">
            <a:off x="914400" y="1428750"/>
            <a:ext cx="1381125" cy="704850"/>
          </a:xfrm>
          <a:prstGeom xmlns:a="http://schemas.openxmlformats.org/drawingml/2006/main" prst="roundRect">
            <a:avLst>
              <a:gd name="adj" fmla="val 10811"/>
            </a:avLst>
          </a:prstGeom>
          <a:solidFill xmlns:a="http://schemas.openxmlformats.org/drawingml/2006/main">
            <a:srgbClr val="A66F0A"/>
          </a:solidFill>
          <a:ln xmlns:a="http://schemas.openxmlformats.org/drawingml/2006/main" w="952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L4</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Trust and transport</a:t>
            </a:r>
          </a:p>
        </p:txBody>
      </p:sp>
      <p:sp>
        <p:nvSpPr>
          <p:cNvPr id="246" name="L5-lane-background">
            <a:extLst xmlns:a="http://schemas.openxmlformats.org/drawingml/2006/main">
              <a:ext uri="{FF2B5EF4-FFF2-40B4-BE49-F238E27FC236}">
                <a16:creationId xmlns:a16="http://schemas.microsoft.com/office/drawing/2014/main" id="{35B580AB-35F2-4E62-8572-D443B5922050}"/>
              </a:ext>
            </a:extLst>
          </p:cNvPr>
          <p:cNvSpPr>
            <a:spLocks xmlns:a="http://schemas.openxmlformats.org/drawingml/2006/main" noGrp="1"/>
          </p:cNvSpPr>
          <p:nvPr/>
        </p:nvSpPr>
        <p:spPr>
          <a:xfrm xmlns:a="http://schemas.openxmlformats.org/drawingml/2006/main">
            <a:off x="819150" y="2324100"/>
            <a:ext cx="10572750" cy="1333500"/>
          </a:xfrm>
          <a:prstGeom xmlns:a="http://schemas.openxmlformats.org/drawingml/2006/main" prst="roundRect">
            <a:avLst>
              <a:gd name="adj" fmla="val 5714"/>
            </a:avLst>
          </a:prstGeom>
          <a:solidFill xmlns:a="http://schemas.openxmlformats.org/drawingml/2006/main">
            <a:srgbClr val="EDF7F0"/>
          </a:solidFill>
          <a:ln xmlns:a="http://schemas.openxmlformats.org/drawingml/2006/main" w="9525">
            <a:solidFill>
              <a:srgbClr val="D8E0E8"/>
            </a:solidFill>
          </a:ln>
        </p:spPr>
      </p:sp>
      <p:sp>
        <p:nvSpPr>
          <p:cNvPr id="247" name="L5-lane-label">
            <a:extLst xmlns:a="http://schemas.openxmlformats.org/drawingml/2006/main">
              <a:ext uri="{FF2B5EF4-FFF2-40B4-BE49-F238E27FC236}">
                <a16:creationId xmlns:a16="http://schemas.microsoft.com/office/drawing/2014/main" id="{DBBDB24D-534D-4864-B96F-CF722C78DAD3}"/>
              </a:ext>
            </a:extLst>
          </p:cNvPr>
          <p:cNvSpPr>
            <a:spLocks xmlns:a="http://schemas.openxmlformats.org/drawingml/2006/main" noGrp="1"/>
          </p:cNvSpPr>
          <p:nvPr/>
        </p:nvSpPr>
        <p:spPr>
          <a:xfrm xmlns:a="http://schemas.openxmlformats.org/drawingml/2006/main">
            <a:off x="914400" y="2419350"/>
            <a:ext cx="1381125" cy="1143000"/>
          </a:xfrm>
          <a:prstGeom xmlns:a="http://schemas.openxmlformats.org/drawingml/2006/main" prst="roundRect">
            <a:avLst>
              <a:gd name="adj" fmla="val 6667"/>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L5</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Secure aggregation</a:t>
            </a:r>
          </a:p>
        </p:txBody>
      </p:sp>
      <p:sp>
        <p:nvSpPr>
          <p:cNvPr id="248" name="L6-lane-background">
            <a:extLst xmlns:a="http://schemas.openxmlformats.org/drawingml/2006/main">
              <a:ext uri="{FF2B5EF4-FFF2-40B4-BE49-F238E27FC236}">
                <a16:creationId xmlns:a16="http://schemas.microsoft.com/office/drawing/2014/main" id="{0C0B051A-D6CA-45B1-A268-E52798527E74}"/>
              </a:ext>
            </a:extLst>
          </p:cNvPr>
          <p:cNvSpPr>
            <a:spLocks xmlns:a="http://schemas.openxmlformats.org/drawingml/2006/main" noGrp="1"/>
          </p:cNvSpPr>
          <p:nvPr/>
        </p:nvSpPr>
        <p:spPr>
          <a:xfrm xmlns:a="http://schemas.openxmlformats.org/drawingml/2006/main">
            <a:off x="819150" y="3752850"/>
            <a:ext cx="10572750" cy="876300"/>
          </a:xfrm>
          <a:prstGeom xmlns:a="http://schemas.openxmlformats.org/drawingml/2006/main" prst="roundRect">
            <a:avLst>
              <a:gd name="adj" fmla="val 8696"/>
            </a:avLst>
          </a:prstGeom>
          <a:solidFill xmlns:a="http://schemas.openxmlformats.org/drawingml/2006/main">
            <a:srgbClr val="EDF7F0"/>
          </a:solidFill>
          <a:ln xmlns:a="http://schemas.openxmlformats.org/drawingml/2006/main" w="9525">
            <a:solidFill>
              <a:srgbClr val="D8E0E8"/>
            </a:solidFill>
          </a:ln>
        </p:spPr>
      </p:sp>
      <p:sp>
        <p:nvSpPr>
          <p:cNvPr id="249" name="L6-lane-label">
            <a:extLst xmlns:a="http://schemas.openxmlformats.org/drawingml/2006/main">
              <a:ext uri="{FF2B5EF4-FFF2-40B4-BE49-F238E27FC236}">
                <a16:creationId xmlns:a16="http://schemas.microsoft.com/office/drawing/2014/main" id="{E9543AEF-D764-406C-A3A0-010F4F0FD0FF}"/>
              </a:ext>
            </a:extLst>
          </p:cNvPr>
          <p:cNvSpPr>
            <a:spLocks xmlns:a="http://schemas.openxmlformats.org/drawingml/2006/main" noGrp="1"/>
          </p:cNvSpPr>
          <p:nvPr/>
        </p:nvSpPr>
        <p:spPr>
          <a:xfrm xmlns:a="http://schemas.openxmlformats.org/drawingml/2006/main">
            <a:off x="914400" y="3848100"/>
            <a:ext cx="1381125" cy="685800"/>
          </a:xfrm>
          <a:prstGeom xmlns:a="http://schemas.openxmlformats.org/drawingml/2006/main" prst="roundRect">
            <a:avLst>
              <a:gd name="adj" fmla="val 11111"/>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L6</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Verified release</a:t>
            </a:r>
          </a:p>
        </p:txBody>
      </p:sp>
      <p:sp>
        <p:nvSpPr>
          <p:cNvPr id="250" name="L7-lane-background">
            <a:extLst xmlns:a="http://schemas.openxmlformats.org/drawingml/2006/main">
              <a:ext uri="{FF2B5EF4-FFF2-40B4-BE49-F238E27FC236}">
                <a16:creationId xmlns:a16="http://schemas.microsoft.com/office/drawing/2014/main" id="{D9321302-1A93-489F-BC90-BAB44DCB630C}"/>
              </a:ext>
            </a:extLst>
          </p:cNvPr>
          <p:cNvSpPr>
            <a:spLocks xmlns:a="http://schemas.openxmlformats.org/drawingml/2006/main" noGrp="1"/>
          </p:cNvSpPr>
          <p:nvPr/>
        </p:nvSpPr>
        <p:spPr>
          <a:xfrm xmlns:a="http://schemas.openxmlformats.org/drawingml/2006/main">
            <a:off x="819150" y="4724400"/>
            <a:ext cx="10572750" cy="876300"/>
          </a:xfrm>
          <a:prstGeom xmlns:a="http://schemas.openxmlformats.org/drawingml/2006/main" prst="roundRect">
            <a:avLst>
              <a:gd name="adj" fmla="val 8696"/>
            </a:avLst>
          </a:prstGeom>
          <a:solidFill xmlns:a="http://schemas.openxmlformats.org/drawingml/2006/main">
            <a:srgbClr val="ECF7F6"/>
          </a:solidFill>
          <a:ln xmlns:a="http://schemas.openxmlformats.org/drawingml/2006/main" w="9525">
            <a:solidFill>
              <a:srgbClr val="D8E0E8"/>
            </a:solidFill>
          </a:ln>
        </p:spPr>
      </p:sp>
      <p:sp>
        <p:nvSpPr>
          <p:cNvPr id="251" name="L7-lane-label">
            <a:extLst xmlns:a="http://schemas.openxmlformats.org/drawingml/2006/main">
              <a:ext uri="{FF2B5EF4-FFF2-40B4-BE49-F238E27FC236}">
                <a16:creationId xmlns:a16="http://schemas.microsoft.com/office/drawing/2014/main" id="{E2D74EF4-B0D2-4F6B-AAC3-912FAAE1EFF7}"/>
              </a:ext>
            </a:extLst>
          </p:cNvPr>
          <p:cNvSpPr>
            <a:spLocks xmlns:a="http://schemas.openxmlformats.org/drawingml/2006/main" noGrp="1"/>
          </p:cNvSpPr>
          <p:nvPr/>
        </p:nvSpPr>
        <p:spPr>
          <a:xfrm xmlns:a="http://schemas.openxmlformats.org/drawingml/2006/main">
            <a:off x="914400" y="4819650"/>
            <a:ext cx="1381125" cy="685800"/>
          </a:xfrm>
          <a:prstGeom xmlns:a="http://schemas.openxmlformats.org/drawingml/2006/main" prst="roundRect">
            <a:avLst>
              <a:gd name="adj" fmla="val 11111"/>
            </a:avLst>
          </a:prstGeom>
          <a:solidFill xmlns:a="http://schemas.openxmlformats.org/drawingml/2006/main">
            <a:srgbClr val="287D78"/>
          </a:solidFill>
          <a:ln xmlns:a="http://schemas.openxmlformats.org/drawingml/2006/main" w="9525">
            <a:solidFill>
              <a:srgbClr val="287D7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L7</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inference</a:t>
            </a:r>
          </a:p>
        </p:txBody>
      </p:sp>
      <p:sp>
        <p:nvSpPr>
          <p:cNvPr id="252" name="l4-mtls">
            <a:extLst xmlns:a="http://schemas.openxmlformats.org/drawingml/2006/main">
              <a:ext uri="{FF2B5EF4-FFF2-40B4-BE49-F238E27FC236}">
                <a16:creationId xmlns:a16="http://schemas.microsoft.com/office/drawing/2014/main" id="{EB74CFD5-298D-495C-BD1C-035783E5DBCB}"/>
              </a:ext>
            </a:extLst>
          </p:cNvPr>
          <p:cNvSpPr>
            <a:spLocks xmlns:a="http://schemas.openxmlformats.org/drawingml/2006/main" noGrp="1"/>
          </p:cNvSpPr>
          <p:nvPr/>
        </p:nvSpPr>
        <p:spPr>
          <a:xfrm xmlns:a="http://schemas.openxmlformats.org/drawingml/2006/main">
            <a:off x="2476500" y="1524000"/>
            <a:ext cx="16192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Mutual TLS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secure channel</a:t>
            </a:r>
          </a:p>
        </p:txBody>
      </p:sp>
      <p:sp>
        <p:nvSpPr>
          <p:cNvPr id="253" name="l4-verify">
            <a:extLst xmlns:a="http://schemas.openxmlformats.org/drawingml/2006/main">
              <a:ext uri="{FF2B5EF4-FFF2-40B4-BE49-F238E27FC236}">
                <a16:creationId xmlns:a16="http://schemas.microsoft.com/office/drawing/2014/main" id="{5C443436-7287-45F4-BD19-8E4A19BAC0B2}"/>
              </a:ext>
            </a:extLst>
          </p:cNvPr>
          <p:cNvSpPr>
            <a:spLocks xmlns:a="http://schemas.openxmlformats.org/drawingml/2006/main" noGrp="1"/>
          </p:cNvSpPr>
          <p:nvPr/>
        </p:nvSpPr>
        <p:spPr>
          <a:xfrm xmlns:a="http://schemas.openxmlformats.org/drawingml/2006/main">
            <a:off x="4524375" y="1524000"/>
            <a:ext cx="185737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Verify identity, signature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round freshness</a:t>
            </a:r>
          </a:p>
        </p:txBody>
      </p:sp>
      <p:sp>
        <p:nvSpPr>
          <p:cNvPr id="254" name="l4-admit">
            <a:extLst xmlns:a="http://schemas.openxmlformats.org/drawingml/2006/main">
              <a:ext uri="{FF2B5EF4-FFF2-40B4-BE49-F238E27FC236}">
                <a16:creationId xmlns:a16="http://schemas.microsoft.com/office/drawing/2014/main" id="{53CE035A-2A77-4748-955D-E940258CE5D1}"/>
              </a:ext>
            </a:extLst>
          </p:cNvPr>
          <p:cNvSpPr>
            <a:spLocks xmlns:a="http://schemas.openxmlformats.org/drawingml/2006/main" noGrp="1"/>
          </p:cNvSpPr>
          <p:nvPr/>
        </p:nvSpPr>
        <p:spPr>
          <a:xfrm xmlns:a="http://schemas.openxmlformats.org/drawingml/2006/main">
            <a:off x="6810375" y="1524000"/>
            <a:ext cx="18097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Admission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reputation check</a:t>
            </a:r>
          </a:p>
        </p:txBody>
      </p:sp>
      <p:sp>
        <p:nvSpPr>
          <p:cNvPr id="255" name="l4-ledger">
            <a:extLst xmlns:a="http://schemas.openxmlformats.org/drawingml/2006/main">
              <a:ext uri="{FF2B5EF4-FFF2-40B4-BE49-F238E27FC236}">
                <a16:creationId xmlns:a16="http://schemas.microsoft.com/office/drawing/2014/main" id="{CF8EC2A1-4D15-4565-9680-ED14178B4034}"/>
              </a:ext>
            </a:extLst>
          </p:cNvPr>
          <p:cNvSpPr>
            <a:spLocks xmlns:a="http://schemas.openxmlformats.org/drawingml/2006/main" noGrp="1"/>
          </p:cNvSpPr>
          <p:nvPr/>
        </p:nvSpPr>
        <p:spPr>
          <a:xfrm xmlns:a="http://schemas.openxmlformats.org/drawingml/2006/main">
            <a:off x="9048750" y="1524000"/>
            <a:ext cx="195262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908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Ciphertext off-chain</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 and status on ledger</a:t>
            </a:r>
          </a:p>
        </p:txBody>
      </p:sp>
      <p:cxnSp>
        <p:nvCxnSpPr>
          <p:cNvPr id="1241" name="Straight Arrow Connector 542"/>
          <p:cNvCxnSpPr>
            <a:stCxn xmlns:a="http://schemas.openxmlformats.org/drawingml/2006/main" id="252" idx="3"/>
            <a:endCxn xmlns:a="http://schemas.openxmlformats.org/drawingml/2006/main" id="253" idx="1"/>
          </p:cNvCxnSpPr>
          <p:nvPr/>
        </p:nvCxnSpPr>
        <p:spPr>
          <a:xfrm xmlns:a="http://schemas.openxmlformats.org/drawingml/2006/main">
            <a:off x="4095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42" name="Straight Arrow Connector 543"/>
          <p:cNvCxnSpPr>
            <a:stCxn xmlns:a="http://schemas.openxmlformats.org/drawingml/2006/main" id="253" idx="3"/>
            <a:endCxn xmlns:a="http://schemas.openxmlformats.org/drawingml/2006/main" id="254" idx="1"/>
          </p:cNvCxnSpPr>
          <p:nvPr/>
        </p:nvCxnSpPr>
        <p:spPr>
          <a:xfrm xmlns:a="http://schemas.openxmlformats.org/drawingml/2006/main">
            <a:off x="6381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43" name="Straight Arrow Connector 544"/>
          <p:cNvCxnSpPr>
            <a:stCxn xmlns:a="http://schemas.openxmlformats.org/drawingml/2006/main" id="254" idx="3"/>
            <a:endCxn xmlns:a="http://schemas.openxmlformats.org/drawingml/2006/main" id="255" idx="1"/>
          </p:cNvCxnSpPr>
          <p:nvPr/>
        </p:nvCxnSpPr>
        <p:spPr>
          <a:xfrm xmlns:a="http://schemas.openxmlformats.org/drawingml/2006/main">
            <a:off x="8620125"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9" name="l5-quorum">
            <a:extLst xmlns:a="http://schemas.openxmlformats.org/drawingml/2006/main">
              <a:ext uri="{FF2B5EF4-FFF2-40B4-BE49-F238E27FC236}">
                <a16:creationId xmlns:a16="http://schemas.microsoft.com/office/drawing/2014/main" id="{6A773FF3-EE2F-493E-9D55-9E2EFF3A0419}"/>
              </a:ext>
            </a:extLst>
          </p:cNvPr>
          <p:cNvSpPr>
            <a:spLocks xmlns:a="http://schemas.openxmlformats.org/drawingml/2006/main" noGrp="1"/>
          </p:cNvSpPr>
          <p:nvPr/>
        </p:nvSpPr>
        <p:spPr>
          <a:xfrm xmlns:a="http://schemas.openxmlformats.org/drawingml/2006/main">
            <a:off x="2343150" y="2724150"/>
            <a:ext cx="1381125"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Quorum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dropout handling</a:t>
            </a:r>
          </a:p>
        </p:txBody>
      </p:sp>
      <p:sp>
        <p:nvSpPr>
          <p:cNvPr id="260" name="l5-fedavg">
            <a:extLst xmlns:a="http://schemas.openxmlformats.org/drawingml/2006/main">
              <a:ext uri="{FF2B5EF4-FFF2-40B4-BE49-F238E27FC236}">
                <a16:creationId xmlns:a16="http://schemas.microsoft.com/office/drawing/2014/main" id="{80102FEA-2126-4AE3-A615-5B3CD4D47D7A}"/>
              </a:ext>
            </a:extLst>
          </p:cNvPr>
          <p:cNvSpPr>
            <a:spLocks xmlns:a="http://schemas.openxmlformats.org/drawingml/2006/main" noGrp="1"/>
          </p:cNvSpPr>
          <p:nvPr/>
        </p:nvSpPr>
        <p:spPr>
          <a:xfrm xmlns:a="http://schemas.openxmlformats.org/drawingml/2006/main">
            <a:off x="4000500" y="2724150"/>
            <a:ext cx="161925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3147"/>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Reputation-weighted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homomorphic FedAvg</a:t>
            </a:r>
          </a:p>
        </p:txBody>
      </p:sp>
      <p:sp>
        <p:nvSpPr>
          <p:cNvPr id="261" name="l5-decrypt">
            <a:extLst xmlns:a="http://schemas.openxmlformats.org/drawingml/2006/main">
              <a:ext uri="{FF2B5EF4-FFF2-40B4-BE49-F238E27FC236}">
                <a16:creationId xmlns:a16="http://schemas.microsoft.com/office/drawing/2014/main" id="{ED1B2A6C-4649-4427-A1FE-873CB8B69D86}"/>
              </a:ext>
            </a:extLst>
          </p:cNvPr>
          <p:cNvSpPr>
            <a:spLocks xmlns:a="http://schemas.openxmlformats.org/drawingml/2006/main" noGrp="1"/>
          </p:cNvSpPr>
          <p:nvPr/>
        </p:nvSpPr>
        <p:spPr>
          <a:xfrm xmlns:a="http://schemas.openxmlformats.org/drawingml/2006/main">
            <a:off x="5895975" y="2724150"/>
            <a:ext cx="1476375" cy="533400"/>
          </a:xfrm>
          <a:prstGeom xmlns:a="http://schemas.openxmlformats.org/drawingml/2006/main" prst="roundRect">
            <a:avLst>
              <a:gd name="adj" fmla="val 14286"/>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decrypt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aggregate only</a:t>
            </a:r>
          </a:p>
        </p:txBody>
      </p:sp>
      <p:sp>
        <p:nvSpPr>
          <p:cNvPr id="262" name="l5-validate">
            <a:extLst xmlns:a="http://schemas.openxmlformats.org/drawingml/2006/main">
              <a:ext uri="{FF2B5EF4-FFF2-40B4-BE49-F238E27FC236}">
                <a16:creationId xmlns:a16="http://schemas.microsoft.com/office/drawing/2014/main" id="{EEB77686-D3D0-4666-8225-CCB147821891}"/>
              </a:ext>
            </a:extLst>
          </p:cNvPr>
          <p:cNvSpPr>
            <a:spLocks xmlns:a="http://schemas.openxmlformats.org/drawingml/2006/main" noGrp="1"/>
          </p:cNvSpPr>
          <p:nvPr/>
        </p:nvSpPr>
        <p:spPr>
          <a:xfrm xmlns:a="http://schemas.openxmlformats.org/drawingml/2006/main">
            <a:off x="7648575" y="2724150"/>
            <a:ext cx="152400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Validate utility, drift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anomaly checks</a:t>
            </a:r>
          </a:p>
        </p:txBody>
      </p:sp>
      <p:sp>
        <p:nvSpPr>
          <p:cNvPr id="263" name="l5-decision">
            <a:extLst xmlns:a="http://schemas.openxmlformats.org/drawingml/2006/main">
              <a:ext uri="{FF2B5EF4-FFF2-40B4-BE49-F238E27FC236}">
                <a16:creationId xmlns:a16="http://schemas.microsoft.com/office/drawing/2014/main" id="{BC3B00FA-F196-4BDF-9D42-CD87EEED5A18}"/>
              </a:ext>
            </a:extLst>
          </p:cNvPr>
          <p:cNvSpPr>
            <a:spLocks xmlns:a="http://schemas.openxmlformats.org/drawingml/2006/main" noGrp="1"/>
          </p:cNvSpPr>
          <p:nvPr/>
        </p:nvSpPr>
        <p:spPr>
          <a:xfrm xmlns:a="http://schemas.openxmlformats.org/drawingml/2006/main">
            <a:off x="9353550" y="2657475"/>
            <a:ext cx="838200" cy="666750"/>
          </a:xfrm>
          <a:prstGeom xmlns:a="http://schemas.openxmlformats.org/drawingml/2006/main" prst="diamond">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309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Pass?</a:t>
            </a:r>
          </a:p>
        </p:txBody>
      </p:sp>
      <p:cxnSp>
        <p:nvCxnSpPr>
          <p:cNvPr id="1249" name="Straight Arrow Connector 550"/>
          <p:cNvCxnSpPr>
            <a:stCxn xmlns:a="http://schemas.openxmlformats.org/drawingml/2006/main" id="259" idx="3"/>
            <a:endCxn xmlns:a="http://schemas.openxmlformats.org/drawingml/2006/main" id="260" idx="1"/>
          </p:cNvCxnSpPr>
          <p:nvPr/>
        </p:nvCxnSpPr>
        <p:spPr>
          <a:xfrm xmlns:a="http://schemas.openxmlformats.org/drawingml/2006/main">
            <a:off x="3724275"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50" name="Straight Arrow Connector 551"/>
          <p:cNvCxnSpPr>
            <a:stCxn xmlns:a="http://schemas.openxmlformats.org/drawingml/2006/main" id="260" idx="3"/>
            <a:endCxn xmlns:a="http://schemas.openxmlformats.org/drawingml/2006/main" id="261" idx="1"/>
          </p:cNvCxnSpPr>
          <p:nvPr/>
        </p:nvCxnSpPr>
        <p:spPr>
          <a:xfrm xmlns:a="http://schemas.openxmlformats.org/drawingml/2006/main">
            <a:off x="56197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51" name="Straight Arrow Connector 552"/>
          <p:cNvCxnSpPr>
            <a:stCxn xmlns:a="http://schemas.openxmlformats.org/drawingml/2006/main" id="261" idx="3"/>
            <a:endCxn xmlns:a="http://schemas.openxmlformats.org/drawingml/2006/main" id="262" idx="1"/>
          </p:cNvCxnSpPr>
          <p:nvPr/>
        </p:nvCxnSpPr>
        <p:spPr>
          <a:xfrm xmlns:a="http://schemas.openxmlformats.org/drawingml/2006/main">
            <a:off x="73723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52" name="Straight Arrow Connector 553"/>
          <p:cNvCxnSpPr>
            <a:stCxn xmlns:a="http://schemas.openxmlformats.org/drawingml/2006/main" id="262" idx="3"/>
            <a:endCxn xmlns:a="http://schemas.openxmlformats.org/drawingml/2006/main" id="263" idx="1"/>
          </p:cNvCxnSpPr>
          <p:nvPr/>
        </p:nvCxnSpPr>
        <p:spPr>
          <a:xfrm xmlns:a="http://schemas.openxmlformats.org/drawingml/2006/main">
            <a:off x="9172575" y="2990850"/>
            <a:ext cx="1809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8" name="l5-accept">
            <a:extLst xmlns:a="http://schemas.openxmlformats.org/drawingml/2006/main">
              <a:ext uri="{FF2B5EF4-FFF2-40B4-BE49-F238E27FC236}">
                <a16:creationId xmlns:a16="http://schemas.microsoft.com/office/drawing/2014/main" id="{B290B1B0-3FD4-4DF9-80AB-79B80DF555A6}"/>
              </a:ext>
            </a:extLst>
          </p:cNvPr>
          <p:cNvSpPr>
            <a:spLocks xmlns:a="http://schemas.openxmlformats.org/drawingml/2006/main" noGrp="1"/>
          </p:cNvSpPr>
          <p:nvPr/>
        </p:nvSpPr>
        <p:spPr>
          <a:xfrm xmlns:a="http://schemas.openxmlformats.org/drawingml/2006/main">
            <a:off x="10382250" y="2447925"/>
            <a:ext cx="904875" cy="400050"/>
          </a:xfrm>
          <a:prstGeom xmlns:a="http://schemas.openxmlformats.org/drawingml/2006/main" prst="roundRect">
            <a:avLst>
              <a:gd name="adj" fmla="val 19048"/>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9981"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Accept model</a:t>
            </a:r>
          </a:p>
        </p:txBody>
      </p:sp>
      <p:sp>
        <p:nvSpPr>
          <p:cNvPr id="269" name="l5-reject">
            <a:extLst xmlns:a="http://schemas.openxmlformats.org/drawingml/2006/main">
              <a:ext uri="{FF2B5EF4-FFF2-40B4-BE49-F238E27FC236}">
                <a16:creationId xmlns:a16="http://schemas.microsoft.com/office/drawing/2014/main" id="{4189A42B-F3E3-4595-BD80-16F3C5CF3BAD}"/>
              </a:ext>
            </a:extLst>
          </p:cNvPr>
          <p:cNvSpPr>
            <a:spLocks xmlns:a="http://schemas.openxmlformats.org/drawingml/2006/main" noGrp="1"/>
          </p:cNvSpPr>
          <p:nvPr/>
        </p:nvSpPr>
        <p:spPr>
          <a:xfrm xmlns:a="http://schemas.openxmlformats.org/drawingml/2006/main">
            <a:off x="10382250" y="3105150"/>
            <a:ext cx="904875" cy="419100"/>
          </a:xfrm>
          <a:prstGeom xmlns:a="http://schemas.openxmlformats.org/drawingml/2006/main" prst="roundRect">
            <a:avLst>
              <a:gd name="adj" fmla="val 18182"/>
            </a:avLst>
          </a:prstGeom>
          <a:solidFill xmlns:a="http://schemas.openxmlformats.org/drawingml/2006/main">
            <a:srgbClr val="FDEEEE"/>
          </a:solidFill>
          <a:ln xmlns:a="http://schemas.openxmlformats.org/drawingml/2006/main" w="13335">
            <a:solidFill>
              <a:srgbClr val="C94B4B"/>
            </a:solidFill>
          </a:ln>
        </p:spPr>
        <p:txBody>
          <a:bodyPr xmlns:a="http://schemas.openxmlformats.org/drawingml/2006/main" anchor="ctr">
            <a:normAutofit fontScale="7402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Rollback and</a:t>
            </a:r>
          </a:p>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quarantine</a:t>
            </a:r>
          </a:p>
        </p:txBody>
      </p:sp>
      <p:cxnSp>
        <p:nvCxnSpPr>
          <p:cNvPr id="1255" name="Connector: Elbow 556"/>
          <p:cNvCxnSpPr>
            <a:stCxn xmlns:a="http://schemas.openxmlformats.org/drawingml/2006/main" id="263" idx="3"/>
            <a:endCxn xmlns:a="http://schemas.openxmlformats.org/drawingml/2006/main" id="268" idx="1"/>
          </p:cNvCxnSpPr>
          <p:nvPr/>
        </p:nvCxnSpPr>
        <p:spPr>
          <a:xfrm xmlns:a="http://schemas.openxmlformats.org/drawingml/2006/main" flipV="1">
            <a:off x="10191750" y="2647950"/>
            <a:ext cx="190500" cy="342900"/>
          </a:xfrm>
          <a:prstGeom xmlns:a="http://schemas.openxmlformats.org/drawingml/2006/main" prst="bentConnector3">
            <a:avLst>
              <a:gd name="adj1" fmla="val 50000"/>
            </a:avLst>
          </a:prstGeom>
          <a:ln xmlns:a="http://schemas.openxmlformats.org/drawingml/2006/main" w="16193">
            <a:solidFill>
              <a:srgbClr val="2E7D4F"/>
            </a:solidFill>
            <a:prstDash val="solid"/>
            <a:headEnd type="none" w="med" len="med"/>
            <a:tailEnd type="triangle" w="sm" len="sm"/>
          </a:ln>
        </p:spPr>
      </p:cxnSp>
      <p:cxnSp>
        <p:nvCxnSpPr>
          <p:cNvPr id="1256" name="Connector: Elbow 557"/>
          <p:cNvCxnSpPr>
            <a:stCxn xmlns:a="http://schemas.openxmlformats.org/drawingml/2006/main" id="263" idx="2"/>
            <a:endCxn xmlns:a="http://schemas.openxmlformats.org/drawingml/2006/main" id="269" idx="1"/>
          </p:cNvCxnSpPr>
          <p:nvPr/>
        </p:nvCxnSpPr>
        <p:spPr>
          <a:xfrm xmlns:a="http://schemas.openxmlformats.org/drawingml/2006/main" flipV="1">
            <a:off x="9772650" y="3314700"/>
            <a:ext cx="609600" cy="9525"/>
          </a:xfrm>
          <a:prstGeom xmlns:a="http://schemas.openxmlformats.org/drawingml/2006/main" prst="bentConnector3">
            <a:avLst>
              <a:gd name="adj1" fmla="val 0"/>
            </a:avLst>
          </a:prstGeom>
          <a:ln xmlns:a="http://schemas.openxmlformats.org/drawingml/2006/main" w="16193">
            <a:solidFill>
              <a:srgbClr val="C94B4B"/>
            </a:solidFill>
            <a:prstDash val="solid"/>
            <a:headEnd type="none" w="med" len="med"/>
            <a:tailEnd type="triangle" w="sm" len="sm"/>
          </a:ln>
        </p:spPr>
      </p:cxnSp>
      <p:sp>
        <p:nvSpPr>
          <p:cNvPr id="272" name="accept-label">
            <a:extLst xmlns:a="http://schemas.openxmlformats.org/drawingml/2006/main">
              <a:ext uri="{FF2B5EF4-FFF2-40B4-BE49-F238E27FC236}">
                <a16:creationId xmlns:a16="http://schemas.microsoft.com/office/drawing/2014/main" id="{8E306D12-4090-4BF4-8EAA-7DABEB8CF822}"/>
              </a:ext>
            </a:extLst>
          </p:cNvPr>
          <p:cNvSpPr>
            <a:spLocks xmlns:a="http://schemas.openxmlformats.org/drawingml/2006/main" noGrp="1"/>
          </p:cNvSpPr>
          <p:nvPr/>
        </p:nvSpPr>
        <p:spPr>
          <a:xfrm xmlns:a="http://schemas.openxmlformats.org/drawingml/2006/main">
            <a:off x="10163175" y="24479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523" lnSpcReduction="20000"/>
          </a:bodyPr>
          <a:lstStyle xmlns:a="http://schemas.openxmlformats.org/drawingml/2006/main"/>
          <a:p xmlns:a="http://schemas.openxmlformats.org/drawingml/2006/main">
            <a:pPr algn="ctr">
              <a:buNone/>
              <a:defRPr sz="825" b="1">
                <a:solidFill>
                  <a:srgbClr val="2E7D4F"/>
                </a:solidFill>
                <a:latin typeface="Arial"/>
                <a:ea typeface="Arial"/>
                <a:cs typeface="Arial"/>
              </a:defRPr>
            </a:pPr>
            <a:r>
              <a:rPr sz="825" b="1">
                <a:solidFill>
                  <a:srgbClr val="2E7D4F"/>
                </a:solidFill>
                <a:latin typeface="Arial"/>
                <a:ea typeface="Arial"/>
                <a:cs typeface="Arial"/>
              </a:rPr>
              <a:t>YES</a:t>
            </a:r>
          </a:p>
        </p:txBody>
      </p:sp>
      <p:sp>
        <p:nvSpPr>
          <p:cNvPr id="273" name="reject-label">
            <a:extLst xmlns:a="http://schemas.openxmlformats.org/drawingml/2006/main">
              <a:ext uri="{FF2B5EF4-FFF2-40B4-BE49-F238E27FC236}">
                <a16:creationId xmlns:a16="http://schemas.microsoft.com/office/drawing/2014/main" id="{2E444E79-6138-4BBB-86BD-6266C96D64E4}"/>
              </a:ext>
            </a:extLst>
          </p:cNvPr>
          <p:cNvSpPr>
            <a:spLocks xmlns:a="http://schemas.openxmlformats.org/drawingml/2006/main" noGrp="1"/>
          </p:cNvSpPr>
          <p:nvPr/>
        </p:nvSpPr>
        <p:spPr>
          <a:xfrm xmlns:a="http://schemas.openxmlformats.org/drawingml/2006/main">
            <a:off x="10086975" y="3257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5277" lnSpcReduction="20000"/>
          </a:bodyPr>
          <a:lstStyle xmlns:a="http://schemas.openxmlformats.org/drawingml/2006/main"/>
          <a:p xmlns:a="http://schemas.openxmlformats.org/drawingml/2006/main">
            <a:pPr algn="ctr">
              <a:buNone/>
              <a:defRPr sz="825" b="1">
                <a:solidFill>
                  <a:srgbClr val="C94B4B"/>
                </a:solidFill>
                <a:latin typeface="Arial"/>
                <a:ea typeface="Arial"/>
                <a:cs typeface="Arial"/>
              </a:defRPr>
            </a:pPr>
            <a:r>
              <a:rPr sz="825" b="1">
                <a:solidFill>
                  <a:srgbClr val="C94B4B"/>
                </a:solidFill>
                <a:latin typeface="Arial"/>
                <a:ea typeface="Arial"/>
                <a:cs typeface="Arial"/>
              </a:rPr>
              <a:t>NO</a:t>
            </a:r>
          </a:p>
        </p:txBody>
      </p:sp>
      <p:sp>
        <p:nvSpPr>
          <p:cNvPr id="274" name="l6-record">
            <a:extLst xmlns:a="http://schemas.openxmlformats.org/drawingml/2006/main">
              <a:ext uri="{FF2B5EF4-FFF2-40B4-BE49-F238E27FC236}">
                <a16:creationId xmlns:a16="http://schemas.microsoft.com/office/drawing/2014/main" id="{DDD347D4-BDDF-4091-B408-4538BFC7CC55}"/>
              </a:ext>
            </a:extLst>
          </p:cNvPr>
          <p:cNvSpPr>
            <a:spLocks xmlns:a="http://schemas.openxmlformats.org/drawingml/2006/main" noGrp="1"/>
          </p:cNvSpPr>
          <p:nvPr/>
        </p:nvSpPr>
        <p:spPr>
          <a:xfrm xmlns:a="http://schemas.openxmlformats.org/drawingml/2006/main">
            <a:off x="263842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Record global-model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a:t>
            </a:r>
          </a:p>
        </p:txBody>
      </p:sp>
      <p:sp>
        <p:nvSpPr>
          <p:cNvPr id="275" name="l6-broadcast">
            <a:extLst xmlns:a="http://schemas.openxmlformats.org/drawingml/2006/main">
              <a:ext uri="{FF2B5EF4-FFF2-40B4-BE49-F238E27FC236}">
                <a16:creationId xmlns:a16="http://schemas.microsoft.com/office/drawing/2014/main" id="{81870695-226F-4D05-8587-02783712BD68}"/>
              </a:ext>
            </a:extLst>
          </p:cNvPr>
          <p:cNvSpPr>
            <a:spLocks xmlns:a="http://schemas.openxmlformats.org/drawingml/2006/main" noGrp="1"/>
          </p:cNvSpPr>
          <p:nvPr/>
        </p:nvSpPr>
        <p:spPr>
          <a:xfrm xmlns:a="http://schemas.openxmlformats.org/drawingml/2006/main">
            <a:off x="4781550"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Signed secure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broadcast</a:t>
            </a:r>
          </a:p>
        </p:txBody>
      </p:sp>
      <p:sp>
        <p:nvSpPr>
          <p:cNvPr id="276" name="l6-verify">
            <a:extLst xmlns:a="http://schemas.openxmlformats.org/drawingml/2006/main">
              <a:ext uri="{FF2B5EF4-FFF2-40B4-BE49-F238E27FC236}">
                <a16:creationId xmlns:a16="http://schemas.microsoft.com/office/drawing/2014/main" id="{603F78C0-586C-4CEC-8D06-A0742952D251}"/>
              </a:ext>
            </a:extLst>
          </p:cNvPr>
          <p:cNvSpPr>
            <a:spLocks xmlns:a="http://schemas.openxmlformats.org/drawingml/2006/main" noGrp="1"/>
          </p:cNvSpPr>
          <p:nvPr/>
        </p:nvSpPr>
        <p:spPr>
          <a:xfrm xmlns:a="http://schemas.openxmlformats.org/drawingml/2006/main">
            <a:off x="692467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 verify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version and hash</a:t>
            </a:r>
          </a:p>
        </p:txBody>
      </p:sp>
      <p:sp>
        <p:nvSpPr>
          <p:cNvPr id="277" name="l6-next">
            <a:extLst xmlns:a="http://schemas.openxmlformats.org/drawingml/2006/main">
              <a:ext uri="{FF2B5EF4-FFF2-40B4-BE49-F238E27FC236}">
                <a16:creationId xmlns:a16="http://schemas.microsoft.com/office/drawing/2014/main" id="{A68478F7-87A2-4FBC-B7FF-369AF12D4132}"/>
              </a:ext>
            </a:extLst>
          </p:cNvPr>
          <p:cNvSpPr>
            <a:spLocks xmlns:a="http://schemas.openxmlformats.org/drawingml/2006/main" noGrp="1"/>
          </p:cNvSpPr>
          <p:nvPr/>
        </p:nvSpPr>
        <p:spPr>
          <a:xfrm xmlns:a="http://schemas.openxmlformats.org/drawingml/2006/main">
            <a:off x="9067800" y="3943350"/>
            <a:ext cx="14763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Begin next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FL round</a:t>
            </a:r>
          </a:p>
        </p:txBody>
      </p:sp>
      <p:cxnSp>
        <p:nvCxnSpPr>
          <p:cNvPr id="1263" name="Straight Arrow Connector 564"/>
          <p:cNvCxnSpPr>
            <a:stCxn xmlns:a="http://schemas.openxmlformats.org/drawingml/2006/main" id="274" idx="3"/>
            <a:endCxn xmlns:a="http://schemas.openxmlformats.org/drawingml/2006/main" id="275" idx="1"/>
          </p:cNvCxnSpPr>
          <p:nvPr/>
        </p:nvCxnSpPr>
        <p:spPr>
          <a:xfrm xmlns:a="http://schemas.openxmlformats.org/drawingml/2006/main">
            <a:off x="430530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64" name="Straight Arrow Connector 565"/>
          <p:cNvCxnSpPr>
            <a:stCxn xmlns:a="http://schemas.openxmlformats.org/drawingml/2006/main" id="275" idx="3"/>
            <a:endCxn xmlns:a="http://schemas.openxmlformats.org/drawingml/2006/main" id="276" idx="1"/>
          </p:cNvCxnSpPr>
          <p:nvPr/>
        </p:nvCxnSpPr>
        <p:spPr>
          <a:xfrm xmlns:a="http://schemas.openxmlformats.org/drawingml/2006/main">
            <a:off x="6448425"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65" name="Straight Arrow Connector 566"/>
          <p:cNvCxnSpPr>
            <a:stCxn xmlns:a="http://schemas.openxmlformats.org/drawingml/2006/main" id="276" idx="3"/>
            <a:endCxn xmlns:a="http://schemas.openxmlformats.org/drawingml/2006/main" id="277" idx="1"/>
          </p:cNvCxnSpPr>
          <p:nvPr/>
        </p:nvCxnSpPr>
        <p:spPr>
          <a:xfrm xmlns:a="http://schemas.openxmlformats.org/drawingml/2006/main">
            <a:off x="859155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81" name="l7-auth">
            <a:extLst xmlns:a="http://schemas.openxmlformats.org/drawingml/2006/main">
              <a:ext uri="{FF2B5EF4-FFF2-40B4-BE49-F238E27FC236}">
                <a16:creationId xmlns:a16="http://schemas.microsoft.com/office/drawing/2014/main" id="{19409721-CEAB-43EC-B6AF-F948D7EFDB13}"/>
              </a:ext>
            </a:extLst>
          </p:cNvPr>
          <p:cNvSpPr>
            <a:spLocks xmlns:a="http://schemas.openxmlformats.org/drawingml/2006/main" noGrp="1"/>
          </p:cNvSpPr>
          <p:nvPr/>
        </p:nvSpPr>
        <p:spPr>
          <a:xfrm xmlns:a="http://schemas.openxmlformats.org/drawingml/2006/main">
            <a:off x="2343150" y="4914900"/>
            <a:ext cx="1381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Authenticate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request</a:t>
            </a:r>
          </a:p>
        </p:txBody>
      </p:sp>
      <p:sp>
        <p:nvSpPr>
          <p:cNvPr id="282" name="l7-consent">
            <a:extLst xmlns:a="http://schemas.openxmlformats.org/drawingml/2006/main">
              <a:ext uri="{FF2B5EF4-FFF2-40B4-BE49-F238E27FC236}">
                <a16:creationId xmlns:a16="http://schemas.microsoft.com/office/drawing/2014/main" id="{DDB05C49-B6EE-4642-97F5-1CF0226CCCE5}"/>
              </a:ext>
            </a:extLst>
          </p:cNvPr>
          <p:cNvSpPr>
            <a:spLocks xmlns:a="http://schemas.openxmlformats.org/drawingml/2006/main" noGrp="1"/>
          </p:cNvSpPr>
          <p:nvPr/>
        </p:nvSpPr>
        <p:spPr>
          <a:xfrm xmlns:a="http://schemas.openxmlformats.org/drawingml/2006/main">
            <a:off x="3981450" y="4914900"/>
            <a:ext cx="14287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authorization</a:t>
            </a:r>
          </a:p>
        </p:txBody>
      </p:sp>
      <p:sp>
        <p:nvSpPr>
          <p:cNvPr id="283" name="l7-infer">
            <a:extLst xmlns:a="http://schemas.openxmlformats.org/drawingml/2006/main">
              <a:ext uri="{FF2B5EF4-FFF2-40B4-BE49-F238E27FC236}">
                <a16:creationId xmlns:a16="http://schemas.microsoft.com/office/drawing/2014/main" id="{8F97F9D7-557C-4EC7-8ACC-3C7C633777BC}"/>
              </a:ext>
            </a:extLst>
          </p:cNvPr>
          <p:cNvSpPr>
            <a:spLocks xmlns:a="http://schemas.openxmlformats.org/drawingml/2006/main" noGrp="1"/>
          </p:cNvSpPr>
          <p:nvPr/>
        </p:nvSpPr>
        <p:spPr>
          <a:xfrm xmlns:a="http://schemas.openxmlformats.org/drawingml/2006/main">
            <a:off x="5667375" y="4914900"/>
            <a:ext cx="16192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88991"/>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Encrypted or</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confidential inference</a:t>
            </a:r>
          </a:p>
        </p:txBody>
      </p:sp>
      <p:sp>
        <p:nvSpPr>
          <p:cNvPr id="284" name="l7-decrypt">
            <a:extLst xmlns:a="http://schemas.openxmlformats.org/drawingml/2006/main">
              <a:ext uri="{FF2B5EF4-FFF2-40B4-BE49-F238E27FC236}">
                <a16:creationId xmlns:a16="http://schemas.microsoft.com/office/drawing/2014/main" id="{4F4AF1CD-710F-4C7B-B7AA-0799FF8D502B}"/>
              </a:ext>
            </a:extLst>
          </p:cNvPr>
          <p:cNvSpPr>
            <a:spLocks xmlns:a="http://schemas.openxmlformats.org/drawingml/2006/main" noGrp="1"/>
          </p:cNvSpPr>
          <p:nvPr/>
        </p:nvSpPr>
        <p:spPr>
          <a:xfrm xmlns:a="http://schemas.openxmlformats.org/drawingml/2006/main">
            <a:off x="7543800" y="4914900"/>
            <a:ext cx="147637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Controlled result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decryption</a:t>
            </a:r>
          </a:p>
        </p:txBody>
      </p:sp>
      <p:sp>
        <p:nvSpPr>
          <p:cNvPr id="285" name="l7-output">
            <a:extLst xmlns:a="http://schemas.openxmlformats.org/drawingml/2006/main">
              <a:ext uri="{FF2B5EF4-FFF2-40B4-BE49-F238E27FC236}">
                <a16:creationId xmlns:a16="http://schemas.microsoft.com/office/drawing/2014/main" id="{754DEA59-7302-40AB-B1C4-EE419E527356}"/>
              </a:ext>
            </a:extLst>
          </p:cNvPr>
          <p:cNvSpPr>
            <a:spLocks xmlns:a="http://schemas.openxmlformats.org/drawingml/2006/main" noGrp="1"/>
          </p:cNvSpPr>
          <p:nvPr/>
        </p:nvSpPr>
        <p:spPr>
          <a:xfrm xmlns:a="http://schemas.openxmlformats.org/drawingml/2006/main">
            <a:off x="9277350" y="4914900"/>
            <a:ext cx="1762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Minimized, rate-limited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audited output</a:t>
            </a:r>
          </a:p>
        </p:txBody>
      </p:sp>
      <p:cxnSp>
        <p:nvCxnSpPr>
          <p:cNvPr id="1271" name="Straight Arrow Connector 572"/>
          <p:cNvCxnSpPr>
            <a:stCxn xmlns:a="http://schemas.openxmlformats.org/drawingml/2006/main" id="281" idx="3"/>
            <a:endCxn xmlns:a="http://schemas.openxmlformats.org/drawingml/2006/main" id="282" idx="1"/>
          </p:cNvCxnSpPr>
          <p:nvPr/>
        </p:nvCxnSpPr>
        <p:spPr>
          <a:xfrm xmlns:a="http://schemas.openxmlformats.org/drawingml/2006/main">
            <a:off x="37242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72" name="Straight Arrow Connector 573"/>
          <p:cNvCxnSpPr>
            <a:stCxn xmlns:a="http://schemas.openxmlformats.org/drawingml/2006/main" id="282" idx="3"/>
            <a:endCxn xmlns:a="http://schemas.openxmlformats.org/drawingml/2006/main" id="283" idx="1"/>
          </p:cNvCxnSpPr>
          <p:nvPr/>
        </p:nvCxnSpPr>
        <p:spPr>
          <a:xfrm xmlns:a="http://schemas.openxmlformats.org/drawingml/2006/main">
            <a:off x="5410200"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73" name="Straight Arrow Connector 574"/>
          <p:cNvCxnSpPr>
            <a:stCxn xmlns:a="http://schemas.openxmlformats.org/drawingml/2006/main" id="283" idx="3"/>
            <a:endCxn xmlns:a="http://schemas.openxmlformats.org/drawingml/2006/main" id="284" idx="1"/>
          </p:cNvCxnSpPr>
          <p:nvPr/>
        </p:nvCxnSpPr>
        <p:spPr>
          <a:xfrm xmlns:a="http://schemas.openxmlformats.org/drawingml/2006/main">
            <a:off x="728662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74" name="Straight Arrow Connector 575"/>
          <p:cNvCxnSpPr>
            <a:stCxn xmlns:a="http://schemas.openxmlformats.org/drawingml/2006/main" id="284" idx="3"/>
            <a:endCxn xmlns:a="http://schemas.openxmlformats.org/drawingml/2006/main" id="285" idx="1"/>
          </p:cNvCxnSpPr>
          <p:nvPr/>
        </p:nvCxnSpPr>
        <p:spPr>
          <a:xfrm xmlns:a="http://schemas.openxmlformats.org/drawingml/2006/main">
            <a:off x="90201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275" name="Connector: Elbow 576"/>
          <p:cNvCxnSpPr>
            <a:stCxn xmlns:a="http://schemas.openxmlformats.org/drawingml/2006/main" id="255" idx="2"/>
            <a:endCxn xmlns:a="http://schemas.openxmlformats.org/drawingml/2006/main" id="259" idx="0"/>
          </p:cNvCxnSpPr>
          <p:nvPr/>
        </p:nvCxnSpPr>
        <p:spPr>
          <a:xfrm xmlns:a="http://schemas.openxmlformats.org/drawingml/2006/main" flipH="1">
            <a:off x="3033713" y="2038350"/>
            <a:ext cx="6991350" cy="68580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276" name="Connector: Elbow 577"/>
          <p:cNvCxnSpPr/>
          <p:nvPr/>
        </p:nvCxnSpPr>
        <p:spPr>
          <a:xfrm xmlns:a="http://schemas.openxmlformats.org/drawingml/2006/main" flipH="1">
            <a:off x="3524250" y="2862262"/>
            <a:ext cx="7362825" cy="1095375"/>
          </a:xfrm>
          <a:prstGeom xmlns:a="http://schemas.openxmlformats.org/drawingml/2006/main" prst="bentConnector4">
            <a:avLst>
              <a:gd name="adj1" fmla="val 0"/>
              <a:gd name="adj2" fmla="val 69978"/>
            </a:avLst>
          </a:prstGeom>
          <a:ln xmlns:a="http://schemas.openxmlformats.org/drawingml/2006/main" w="16193">
            <a:solidFill>
              <a:srgbClr val="2E7D4F"/>
            </a:solidFill>
            <a:prstDash val="solid"/>
            <a:headEnd type="none" w="med" len="med"/>
            <a:tailEnd type="triangle" w="sm" len="sm"/>
          </a:ln>
        </p:spPr>
      </p:cxnSp>
      <p:cxnSp>
        <p:nvCxnSpPr>
          <p:cNvPr id="1277" name="Connector: Elbow 578"/>
          <p:cNvCxnSpPr>
            <a:stCxn xmlns:a="http://schemas.openxmlformats.org/drawingml/2006/main" id="277" idx="2"/>
            <a:endCxn xmlns:a="http://schemas.openxmlformats.org/drawingml/2006/main" id="281" idx="0"/>
          </p:cNvCxnSpPr>
          <p:nvPr/>
        </p:nvCxnSpPr>
        <p:spPr>
          <a:xfrm xmlns:a="http://schemas.openxmlformats.org/drawingml/2006/main" flipH="1">
            <a:off x="3033713" y="4438650"/>
            <a:ext cx="6772275" cy="476250"/>
          </a:xfrm>
          <a:prstGeom xmlns:a="http://schemas.openxmlformats.org/drawingml/2006/main" prst="bentConnector4">
            <a:avLst>
              <a:gd name="adj1" fmla="val 0"/>
              <a:gd name="adj2" fmla="val 50000"/>
            </a:avLst>
          </a:prstGeom>
          <a:ln xmlns:a="http://schemas.openxmlformats.org/drawingml/2006/main" w="16193">
            <a:solidFill>
              <a:srgbClr val="287D78"/>
            </a:solidFill>
            <a:prstDash val="dash"/>
            <a:headEnd type="none" w="med" len="med"/>
            <a:tailEnd type="triangle" w="sm" len="sm"/>
          </a:ln>
        </p:spPr>
      </p:cxnSp>
      <p:sp>
        <p:nvSpPr>
          <p:cNvPr id="293" name="release-boundary-note">
            <a:extLst xmlns:a="http://schemas.openxmlformats.org/drawingml/2006/main">
              <a:ext uri="{FF2B5EF4-FFF2-40B4-BE49-F238E27FC236}">
                <a16:creationId xmlns:a16="http://schemas.microsoft.com/office/drawing/2014/main" id="{7E225858-8FF8-4DC9-944C-EB0B9F859513}"/>
              </a:ext>
            </a:extLst>
          </p:cNvPr>
          <p:cNvSpPr>
            <a:spLocks xmlns:a="http://schemas.openxmlformats.org/drawingml/2006/main" noGrp="1"/>
          </p:cNvSpPr>
          <p:nvPr/>
        </p:nvSpPr>
        <p:spPr>
          <a:xfrm xmlns:a="http://schemas.openxmlformats.org/drawingml/2006/main">
            <a:off x="2190750" y="56959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03"/>
          </a:bodyPr>
          <a:lstStyle xmlns:a="http://schemas.openxmlformats.org/drawingml/2006/main"/>
          <a:p xmlns:a="http://schemas.openxmlformats.org/drawingml/2006/main">
            <a:pPr algn="ctr">
              <a:buNone/>
              <a:defRPr sz="1200" i="1">
                <a:solidFill>
                  <a:srgbClr val="52606D"/>
                </a:solidFill>
                <a:latin typeface="Arial"/>
                <a:ea typeface="Arial"/>
                <a:cs typeface="Arial"/>
              </a:defRPr>
            </a:pPr>
            <a:r>
              <a:rPr sz="1200" i="1">
                <a:solidFill>
                  <a:srgbClr val="52606D"/>
                </a:solidFill>
                <a:latin typeface="Arial"/>
                <a:ea typeface="Arial"/>
                <a:cs typeface="Arial"/>
              </a:rPr>
              <a:t>Only the validated aggregate can become the global model. The audit ledger stores evidence, not model ciphertexts.</a:t>
            </a:r>
          </a:p>
        </p:txBody>
      </p:sp>
      <p:pic>
        <p:nvPicPr>
          <p:cNvPr id="1279" name="Picture 11"/>
          <p:cNvPicPr>
            <a:picLocks xmlns:a="http://schemas.openxmlformats.org/drawingml/2006/main" noChangeAspect="1"/>
          </p:cNvPicPr>
          <p:nvPr/>
        </p:nvPicPr>
        <p:blipFill>
          <a:blip xmlns:r="http://schemas.openxmlformats.org/officeDocument/2006/relationships" xmlns:a="http://schemas.openxmlformats.org/drawingml/2006/main" r:embed="Rf3101fa2e8df4d81"/>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000" b="1">
                <a:solidFill>
                  <a:srgbClr val="062B6F"/>
                </a:solidFill>
                <a:latin typeface="Arial"/>
                <a:ea typeface="Arial"/>
                <a:cs typeface="Arial"/>
              </a:defRPr>
            </a:pPr>
            <a:r>
              <a:rPr sz="3000" b="1">
                <a:solidFill>
                  <a:srgbClr val="062B6F"/>
                </a:solidFill>
                <a:latin typeface="Arial"/>
                <a:ea typeface="Arial"/>
                <a:cs typeface="Arial"/>
              </a:rPr>
              <a:t>CAABC-FL Algorithm</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20</a:t>
            </a:r>
            <a:endParaRPr sz="2800"/>
          </a:p>
        </p:txBody>
      </p:sp>
      <p:pic>
        <p:nvPicPr>
          <p:cNvPr id="11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b8e37fa09634f9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1142" name="Picture 458"/>
          <p:cNvPicPr>
            <a:picLocks xmlns:a="http://schemas.openxmlformats.org/drawingml/2006/main" noChangeAspect="1"/>
          </p:cNvPicPr>
          <p:nvPr/>
        </p:nvPicPr>
        <p:blipFill>
          <a:blip xmlns:r="http://schemas.openxmlformats.org/officeDocument/2006/relationships" xmlns:a="http://schemas.openxmlformats.org/drawingml/2006/main" r:embed="Rad2b78d8ade44460"/>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146" name="Picture 462"/>
          <p:cNvPicPr>
            <a:picLocks xmlns:a="http://schemas.openxmlformats.org/drawingml/2006/main" noChangeAspect="1"/>
          </p:cNvPicPr>
          <p:nvPr/>
        </p:nvPicPr>
        <p:blipFill>
          <a:blip xmlns:r="http://schemas.openxmlformats.org/officeDocument/2006/relationships" xmlns:a="http://schemas.openxmlformats.org/drawingml/2006/main" r:embed="R2a4b330130914aea"/>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1161"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62"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1167"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68"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69"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1174"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75"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76"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1182"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83"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84"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85"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186"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187"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188"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189"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
        <p:nvSpPr>
          <p:cNvPr id="739" name="caabc-algorithm-body-cover">
            <a:extLst xmlns:a="http://schemas.openxmlformats.org/drawingml/2006/main">
              <a:ext uri="{FF2B5EF4-FFF2-40B4-BE49-F238E27FC236}">
                <a16:creationId xmlns:a16="http://schemas.microsoft.com/office/drawing/2014/main" id="{783CD6EB-B6F5-417D-A099-1B0C6A0AC88E}"/>
              </a:ext>
            </a:extLst>
          </p:cNvPr>
          <p:cNvSpPr>
            <a:spLocks xmlns:a="http://schemas.openxmlformats.org/drawingml/2006/main" noGrp="1"/>
          </p:cNvSpPr>
          <p:nvPr/>
        </p:nvSpPr>
        <p:spPr>
          <a:xfrm xmlns:a="http://schemas.openxmlformats.org/drawingml/2006/main">
            <a:off x="457200" y="1000125"/>
            <a:ext cx="11277600" cy="504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40" name="caabc-algorithm-subtitle">
            <a:extLst xmlns:a="http://schemas.openxmlformats.org/drawingml/2006/main">
              <a:ext uri="{FF2B5EF4-FFF2-40B4-BE49-F238E27FC236}">
                <a16:creationId xmlns:a16="http://schemas.microsoft.com/office/drawing/2014/main" id="{4A5571C0-7F85-45AB-BA31-7E6963B17D95}"/>
              </a:ext>
            </a:extLst>
          </p:cNvPr>
          <p:cNvSpPr>
            <a:spLocks xmlns:a="http://schemas.openxmlformats.org/drawingml/2006/main" noGrp="1"/>
          </p:cNvSpPr>
          <p:nvPr/>
        </p:nvSpPr>
        <p:spPr>
          <a:xfrm xmlns:a="http://schemas.openxmlformats.org/drawingml/2006/main">
            <a:off x="1524000" y="1066800"/>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lnSpcReduction="10000"/>
          </a:bodyPr>
          <a:lstStyle xmlns:a="http://schemas.openxmlformats.org/drawingml/2006/main"/>
          <a:p xmlns:a="http://schemas.openxmlformats.org/drawingml/2006/main">
            <a:pPr algn="ctr">
              <a:buNone/>
              <a:defRPr sz="1350" i="1">
                <a:solidFill>
                  <a:srgbClr val="5B677A"/>
                </a:solidFill>
                <a:latin typeface="Arial"/>
                <a:ea typeface="Arial"/>
                <a:cs typeface="Arial"/>
              </a:defRPr>
            </a:pPr>
            <a:r>
              <a:rPr sz="1350" i="1">
                <a:solidFill>
                  <a:srgbClr val="5B677A"/>
                </a:solidFill>
                <a:latin typeface="Arial"/>
                <a:ea typeface="Arial"/>
                <a:cs typeface="Arial"/>
              </a:rPr>
              <a:t>Adaptive common-block compression aligned with CKKS packing</a:t>
            </a:r>
          </a:p>
        </p:txBody>
      </p:sp>
      <p:sp>
        <p:nvSpPr>
          <p:cNvPr id="741" name="caabc-algorithm-inputs">
            <a:extLst xmlns:a="http://schemas.openxmlformats.org/drawingml/2006/main">
              <a:ext uri="{FF2B5EF4-FFF2-40B4-BE49-F238E27FC236}">
                <a16:creationId xmlns:a16="http://schemas.microsoft.com/office/drawing/2014/main" id="{510728B5-C692-4BC9-8DCA-3F8485935618}"/>
              </a:ext>
            </a:extLst>
          </p:cNvPr>
          <p:cNvSpPr>
            <a:spLocks xmlns:a="http://schemas.openxmlformats.org/drawingml/2006/main" noGrp="1"/>
          </p:cNvSpPr>
          <p:nvPr/>
        </p:nvSpPr>
        <p:spPr>
          <a:xfrm xmlns:a="http://schemas.openxmlformats.org/drawingml/2006/main">
            <a:off x="1162050" y="1438275"/>
            <a:ext cx="9867900" cy="409575"/>
          </a:xfrm>
          <a:prstGeom xmlns:a="http://schemas.openxmlformats.org/drawingml/2006/main" prst="roundRect">
            <a:avLst>
              <a:gd name="adj" fmla="val 18605"/>
            </a:avLst>
          </a:prstGeom>
          <a:solidFill xmlns:a="http://schemas.openxmlformats.org/drawingml/2006/main">
            <a:srgbClr val="F2F6FA"/>
          </a:solidFill>
          <a:ln xmlns:a="http://schemas.openxmlformats.org/drawingml/2006/main" w="10478">
            <a:solidFill>
              <a:srgbClr val="AFC1D5"/>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62B6F"/>
                </a:solidFill>
                <a:latin typeface="Arial"/>
                <a:ea typeface="Arial"/>
                <a:cs typeface="Arial"/>
              </a:defRPr>
            </a:pPr>
            <a:r>
              <a:rPr sz="1200" b="1">
                <a:solidFill>
                  <a:srgbClr val="062B6F"/>
                </a:solidFill>
                <a:latin typeface="Arial"/>
                <a:ea typeface="Arial"/>
                <a:cs typeface="Arial"/>
              </a:rPr>
              <a:t>Inputs: privatized client update Δ̃ₖ,ₜ   residual rₖ,ₜ   block size B = 256   chunk budget c = 2   refresh interval τ = 5</a:t>
            </a:r>
          </a:p>
        </p:txBody>
      </p:sp>
      <p:sp>
        <p:nvSpPr>
          <p:cNvPr id="742" name="caabc-step-1">
            <a:extLst xmlns:a="http://schemas.openxmlformats.org/drawingml/2006/main">
              <a:ext uri="{FF2B5EF4-FFF2-40B4-BE49-F238E27FC236}">
                <a16:creationId xmlns:a16="http://schemas.microsoft.com/office/drawing/2014/main" id="{53A088B0-2312-443C-95B6-94343FFFF8C5}"/>
              </a:ext>
            </a:extLst>
          </p:cNvPr>
          <p:cNvSpPr>
            <a:spLocks xmlns:a="http://schemas.openxmlformats.org/drawingml/2006/main" noGrp="1"/>
          </p:cNvSpPr>
          <p:nvPr/>
        </p:nvSpPr>
        <p:spPr>
          <a:xfrm xmlns:a="http://schemas.openxmlformats.org/drawingml/2006/main">
            <a:off x="876300" y="2171700"/>
            <a:ext cx="1752600" cy="2143125"/>
          </a:xfrm>
          <a:prstGeom xmlns:a="http://schemas.openxmlformats.org/drawingml/2006/main" prst="roundRect">
            <a:avLst>
              <a:gd name="adj" fmla="val 4348"/>
            </a:avLst>
          </a:prstGeom>
          <a:solidFill xmlns:a="http://schemas.openxmlformats.org/drawingml/2006/main">
            <a:srgbClr val="F5F0FC"/>
          </a:solidFill>
          <a:ln xmlns:a="http://schemas.openxmlformats.org/drawingml/2006/main" w="15240">
            <a:solidFill>
              <a:srgbClr val="6F52B5"/>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PRIVATE UPDATE + RESIDUAL</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uₖ,ₜ = Δ̃ₖ,ₜ + rₖ,ₜ</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Carry omitted information into the current round</a:t>
            </a:r>
          </a:p>
        </p:txBody>
      </p:sp>
      <p:sp>
        <p:nvSpPr>
          <p:cNvPr id="743" name="caabc-step-1-number">
            <a:extLst xmlns:a="http://schemas.openxmlformats.org/drawingml/2006/main">
              <a:ext uri="{FF2B5EF4-FFF2-40B4-BE49-F238E27FC236}">
                <a16:creationId xmlns:a16="http://schemas.microsoft.com/office/drawing/2014/main" id="{566F45FD-EC0D-49D5-8A8B-80439103BC2C}"/>
              </a:ext>
            </a:extLst>
          </p:cNvPr>
          <p:cNvSpPr>
            <a:spLocks xmlns:a="http://schemas.openxmlformats.org/drawingml/2006/main" noGrp="1"/>
          </p:cNvSpPr>
          <p:nvPr/>
        </p:nvSpPr>
        <p:spPr>
          <a:xfrm xmlns:a="http://schemas.openxmlformats.org/drawingml/2006/main">
            <a:off x="1552575" y="1943100"/>
            <a:ext cx="400050" cy="400050"/>
          </a:xfrm>
          <a:prstGeom xmlns:a="http://schemas.openxmlformats.org/drawingml/2006/main" prst="ellipse">
            <a:avLst/>
          </a:prstGeom>
          <a:solidFill xmlns:a="http://schemas.openxmlformats.org/drawingml/2006/main">
            <a:srgbClr val="6F52B5"/>
          </a:solidFill>
          <a:ln xmlns:a="http://schemas.openxmlformats.org/drawingml/2006/main" w="9525">
            <a:solidFill>
              <a:srgbClr val="6F52B5"/>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44" name="caabc-step-2">
            <a:extLst xmlns:a="http://schemas.openxmlformats.org/drawingml/2006/main">
              <a:ext uri="{FF2B5EF4-FFF2-40B4-BE49-F238E27FC236}">
                <a16:creationId xmlns:a16="http://schemas.microsoft.com/office/drawing/2014/main" id="{36DD9DF8-F287-4520-80E0-6C36EA772FD1}"/>
              </a:ext>
            </a:extLst>
          </p:cNvPr>
          <p:cNvSpPr>
            <a:spLocks xmlns:a="http://schemas.openxmlformats.org/drawingml/2006/main" noGrp="1"/>
          </p:cNvSpPr>
          <p:nvPr/>
        </p:nvSpPr>
        <p:spPr>
          <a:xfrm xmlns:a="http://schemas.openxmlformats.org/drawingml/2006/main">
            <a:off x="3067050" y="2171700"/>
            <a:ext cx="1752600" cy="2143125"/>
          </a:xfrm>
          <a:prstGeom xmlns:a="http://schemas.openxmlformats.org/drawingml/2006/main" prst="roundRect">
            <a:avLst>
              <a:gd name="adj" fmla="val 4348"/>
            </a:avLst>
          </a:prstGeom>
          <a:solidFill xmlns:a="http://schemas.openxmlformats.org/drawingml/2006/main">
            <a:srgbClr val="EEF5FC"/>
          </a:solidFill>
          <a:ln xmlns:a="http://schemas.openxmlformats.org/drawingml/2006/main" w="15240">
            <a:solidFill>
              <a:srgbClr val="2F75B5"/>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BLOCK SCORING</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Partition uₖ,ₜ into contiguous 256-coordinate blocks</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Score block energy from privatized updates</a:t>
            </a:r>
          </a:p>
        </p:txBody>
      </p:sp>
      <p:sp>
        <p:nvSpPr>
          <p:cNvPr id="745" name="caabc-step-2-number">
            <a:extLst xmlns:a="http://schemas.openxmlformats.org/drawingml/2006/main">
              <a:ext uri="{FF2B5EF4-FFF2-40B4-BE49-F238E27FC236}">
                <a16:creationId xmlns:a16="http://schemas.microsoft.com/office/drawing/2014/main" id="{B53628C5-B256-4324-968D-80747EA8181C}"/>
              </a:ext>
            </a:extLst>
          </p:cNvPr>
          <p:cNvSpPr>
            <a:spLocks xmlns:a="http://schemas.openxmlformats.org/drawingml/2006/main" noGrp="1"/>
          </p:cNvSpPr>
          <p:nvPr/>
        </p:nvSpPr>
        <p:spPr>
          <a:xfrm xmlns:a="http://schemas.openxmlformats.org/drawingml/2006/main">
            <a:off x="3743325" y="1943100"/>
            <a:ext cx="400050" cy="400050"/>
          </a:xfrm>
          <a:prstGeom xmlns:a="http://schemas.openxmlformats.org/drawingml/2006/main" prst="ellipse">
            <a:avLst/>
          </a:prstGeom>
          <a:solidFill xmlns:a="http://schemas.openxmlformats.org/drawingml/2006/main">
            <a:srgbClr val="2F75B5"/>
          </a:solidFill>
          <a:ln xmlns:a="http://schemas.openxmlformats.org/drawingml/2006/main" w="9525">
            <a:solidFill>
              <a:srgbClr val="2F75B5"/>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2</a:t>
            </a:r>
          </a:p>
        </p:txBody>
      </p:sp>
      <p:sp>
        <p:nvSpPr>
          <p:cNvPr id="746" name="caabc-step-3">
            <a:extLst xmlns:a="http://schemas.openxmlformats.org/drawingml/2006/main">
              <a:ext uri="{FF2B5EF4-FFF2-40B4-BE49-F238E27FC236}">
                <a16:creationId xmlns:a16="http://schemas.microsoft.com/office/drawing/2014/main" id="{5FC53C08-1ADF-49F4-BBEA-D27B51AB3571}"/>
              </a:ext>
            </a:extLst>
          </p:cNvPr>
          <p:cNvSpPr>
            <a:spLocks xmlns:a="http://schemas.openxmlformats.org/drawingml/2006/main" noGrp="1"/>
          </p:cNvSpPr>
          <p:nvPr/>
        </p:nvSpPr>
        <p:spPr>
          <a:xfrm xmlns:a="http://schemas.openxmlformats.org/drawingml/2006/main">
            <a:off x="5257800" y="2171700"/>
            <a:ext cx="1752600" cy="2143125"/>
          </a:xfrm>
          <a:prstGeom xmlns:a="http://schemas.openxmlformats.org/drawingml/2006/main" prst="roundRect">
            <a:avLst>
              <a:gd name="adj" fmla="val 4348"/>
            </a:avLst>
          </a:prstGeom>
          <a:solidFill xmlns:a="http://schemas.openxmlformats.org/drawingml/2006/main">
            <a:srgbClr val="FFF6E4"/>
          </a:solidFill>
          <a:ln xmlns:a="http://schemas.openxmlformats.org/drawingml/2006/main" w="15240">
            <a:solidFill>
              <a:srgbClr val="B97800"/>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COMMON SUPPORT</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Select Sₜ from aggregate block scores</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Refresh every five rounds and fit within two CKKS chunks</a:t>
            </a:r>
          </a:p>
        </p:txBody>
      </p:sp>
      <p:sp>
        <p:nvSpPr>
          <p:cNvPr id="747" name="caabc-step-3-number">
            <a:extLst xmlns:a="http://schemas.openxmlformats.org/drawingml/2006/main">
              <a:ext uri="{FF2B5EF4-FFF2-40B4-BE49-F238E27FC236}">
                <a16:creationId xmlns:a16="http://schemas.microsoft.com/office/drawing/2014/main" id="{45792009-A199-42E5-9C09-EB70524692C1}"/>
              </a:ext>
            </a:extLst>
          </p:cNvPr>
          <p:cNvSpPr>
            <a:spLocks xmlns:a="http://schemas.openxmlformats.org/drawingml/2006/main" noGrp="1"/>
          </p:cNvSpPr>
          <p:nvPr/>
        </p:nvSpPr>
        <p:spPr>
          <a:xfrm xmlns:a="http://schemas.openxmlformats.org/drawingml/2006/main">
            <a:off x="5934075" y="1943100"/>
            <a:ext cx="400050" cy="400050"/>
          </a:xfrm>
          <a:prstGeom xmlns:a="http://schemas.openxmlformats.org/drawingml/2006/main" prst="ellipse">
            <a:avLst/>
          </a:prstGeom>
          <a:solidFill xmlns:a="http://schemas.openxmlformats.org/drawingml/2006/main">
            <a:srgbClr val="B97800"/>
          </a:solidFill>
          <a:ln xmlns:a="http://schemas.openxmlformats.org/drawingml/2006/main" w="9525">
            <a:solidFill>
              <a:srgbClr val="B97800"/>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748" name="caabc-step-4">
            <a:extLst xmlns:a="http://schemas.openxmlformats.org/drawingml/2006/main">
              <a:ext uri="{FF2B5EF4-FFF2-40B4-BE49-F238E27FC236}">
                <a16:creationId xmlns:a16="http://schemas.microsoft.com/office/drawing/2014/main" id="{C563380E-C7EC-4E9D-AD94-C2392B991471}"/>
              </a:ext>
            </a:extLst>
          </p:cNvPr>
          <p:cNvSpPr>
            <a:spLocks xmlns:a="http://schemas.openxmlformats.org/drawingml/2006/main" noGrp="1"/>
          </p:cNvSpPr>
          <p:nvPr/>
        </p:nvSpPr>
        <p:spPr>
          <a:xfrm xmlns:a="http://schemas.openxmlformats.org/drawingml/2006/main">
            <a:off x="7448550" y="2171700"/>
            <a:ext cx="1752600" cy="2143125"/>
          </a:xfrm>
          <a:prstGeom xmlns:a="http://schemas.openxmlformats.org/drawingml/2006/main" prst="roundRect">
            <a:avLst>
              <a:gd name="adj" fmla="val 4348"/>
            </a:avLst>
          </a:prstGeom>
          <a:solidFill xmlns:a="http://schemas.openxmlformats.org/drawingml/2006/main">
            <a:srgbClr val="ECF7F0"/>
          </a:solidFill>
          <a:ln xmlns:a="http://schemas.openxmlformats.org/drawingml/2006/main" w="15240">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PROJECT + REMEMBER</a:t>
            </a:r>
          </a:p>
          <a:p xmlns:a="http://schemas.openxmlformats.org/drawingml/2006/main">
            <a:endParaRPr sz="1163">
              <a:solidFill>
                <a:srgbClr val="263244"/>
              </a:solidFill>
              <a:latin typeface="Arial"/>
              <a:ea typeface="Arial"/>
              <a:cs typeface="Arial"/>
            </a:endParaRPr>
          </a:p>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pₖ,ₜ = Pₛₜ(uₖ,ₜ)</a:t>
            </a:r>
          </a:p>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rₖ,ₜ₊₁ = uₖ,ₜ − Pₛₜᵀpₖ,ₜ</a:t>
            </a:r>
          </a:p>
        </p:txBody>
      </p:sp>
      <p:sp>
        <p:nvSpPr>
          <p:cNvPr id="749" name="caabc-step-4-number">
            <a:extLst xmlns:a="http://schemas.openxmlformats.org/drawingml/2006/main">
              <a:ext uri="{FF2B5EF4-FFF2-40B4-BE49-F238E27FC236}">
                <a16:creationId xmlns:a16="http://schemas.microsoft.com/office/drawing/2014/main" id="{92EBFA0D-4908-44E3-8634-04AC3EBA1D07}"/>
              </a:ext>
            </a:extLst>
          </p:cNvPr>
          <p:cNvSpPr>
            <a:spLocks xmlns:a="http://schemas.openxmlformats.org/drawingml/2006/main" noGrp="1"/>
          </p:cNvSpPr>
          <p:nvPr/>
        </p:nvSpPr>
        <p:spPr>
          <a:xfrm xmlns:a="http://schemas.openxmlformats.org/drawingml/2006/main">
            <a:off x="8124825" y="1943100"/>
            <a:ext cx="400050" cy="400050"/>
          </a:xfrm>
          <a:prstGeom xmlns:a="http://schemas.openxmlformats.org/drawingml/2006/main" prst="ellipse">
            <a:avLst/>
          </a:prstGeom>
          <a:solidFill xmlns:a="http://schemas.openxmlformats.org/drawingml/2006/main">
            <a:srgbClr val="008A46"/>
          </a:solidFill>
          <a:ln xmlns:a="http://schemas.openxmlformats.org/drawingml/2006/main" w="9525">
            <a:solidFill>
              <a:srgbClr val="008A46"/>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4</a:t>
            </a:r>
          </a:p>
        </p:txBody>
      </p:sp>
      <p:sp>
        <p:nvSpPr>
          <p:cNvPr id="750" name="caabc-step-5">
            <a:extLst xmlns:a="http://schemas.openxmlformats.org/drawingml/2006/main">
              <a:ext uri="{FF2B5EF4-FFF2-40B4-BE49-F238E27FC236}">
                <a16:creationId xmlns:a16="http://schemas.microsoft.com/office/drawing/2014/main" id="{C449D170-6602-40AB-9B69-38339516E2C5}"/>
              </a:ext>
            </a:extLst>
          </p:cNvPr>
          <p:cNvSpPr>
            <a:spLocks xmlns:a="http://schemas.openxmlformats.org/drawingml/2006/main" noGrp="1"/>
          </p:cNvSpPr>
          <p:nvPr/>
        </p:nvSpPr>
        <p:spPr>
          <a:xfrm xmlns:a="http://schemas.openxmlformats.org/drawingml/2006/main">
            <a:off x="9639300" y="2171700"/>
            <a:ext cx="1752600" cy="2143125"/>
          </a:xfrm>
          <a:prstGeom xmlns:a="http://schemas.openxmlformats.org/drawingml/2006/main" prst="roundRect">
            <a:avLst>
              <a:gd name="adj" fmla="val 4348"/>
            </a:avLst>
          </a:prstGeom>
          <a:solidFill xmlns:a="http://schemas.openxmlformats.org/drawingml/2006/main">
            <a:srgbClr val="EAF6F5"/>
          </a:solidFill>
          <a:ln xmlns:a="http://schemas.openxmlformats.org/drawingml/2006/main" w="15240">
            <a:solidFill>
              <a:srgbClr val="2E867F"/>
            </a:solidFill>
          </a:ln>
        </p:spPr>
        <p:txBody>
          <a:bodyPr xmlns:a="http://schemas.openxmlformats.org/drawingml/2006/main" anchor="ctr">
            <a:normAutofit/>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PACK + PROTECT</a:t>
            </a:r>
          </a:p>
          <a:p xmlns:a="http://schemas.openxmlformats.org/drawingml/2006/main">
            <a:endParaRPr sz="1125">
              <a:solidFill>
                <a:srgbClr val="263244"/>
              </a:solidFill>
              <a:latin typeface="Arial"/>
              <a:ea typeface="Arial"/>
              <a:cs typeface="Arial"/>
            </a:endParaRP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Pack pₖ,ₜ into aligned slots</a:t>
            </a: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Encrypt, sign and homomorphically aggregate</a:t>
            </a:r>
          </a:p>
        </p:txBody>
      </p:sp>
      <p:sp>
        <p:nvSpPr>
          <p:cNvPr id="751" name="caabc-step-5-number">
            <a:extLst xmlns:a="http://schemas.openxmlformats.org/drawingml/2006/main">
              <a:ext uri="{FF2B5EF4-FFF2-40B4-BE49-F238E27FC236}">
                <a16:creationId xmlns:a16="http://schemas.microsoft.com/office/drawing/2014/main" id="{9251FEAF-D7D4-470E-B46E-D9E53F03BBBF}"/>
              </a:ext>
            </a:extLst>
          </p:cNvPr>
          <p:cNvSpPr>
            <a:spLocks xmlns:a="http://schemas.openxmlformats.org/drawingml/2006/main" noGrp="1"/>
          </p:cNvSpPr>
          <p:nvPr/>
        </p:nvSpPr>
        <p:spPr>
          <a:xfrm xmlns:a="http://schemas.openxmlformats.org/drawingml/2006/main">
            <a:off x="10315575" y="1943100"/>
            <a:ext cx="400050" cy="400050"/>
          </a:xfrm>
          <a:prstGeom xmlns:a="http://schemas.openxmlformats.org/drawingml/2006/main" prst="ellipse">
            <a:avLst/>
          </a:prstGeom>
          <a:solidFill xmlns:a="http://schemas.openxmlformats.org/drawingml/2006/main">
            <a:srgbClr val="2E867F"/>
          </a:solidFill>
          <a:ln xmlns:a="http://schemas.openxmlformats.org/drawingml/2006/main" w="9525">
            <a:solidFill>
              <a:srgbClr val="2E867F"/>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5</a:t>
            </a:r>
          </a:p>
        </p:txBody>
      </p:sp>
      <p:cxnSp>
        <p:nvCxnSpPr>
          <p:cNvPr id="1204" name="Straight Arrow Connector 903"/>
          <p:cNvCxnSpPr>
            <a:stCxn xmlns:a="http://schemas.openxmlformats.org/drawingml/2006/main" id="742" idx="3"/>
            <a:endCxn xmlns:a="http://schemas.openxmlformats.org/drawingml/2006/main" id="744" idx="1"/>
          </p:cNvCxnSpPr>
          <p:nvPr/>
        </p:nvCxnSpPr>
        <p:spPr>
          <a:xfrm xmlns:a="http://schemas.openxmlformats.org/drawingml/2006/main">
            <a:off x="262890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1205" name="Straight Arrow Connector 904"/>
          <p:cNvCxnSpPr>
            <a:stCxn xmlns:a="http://schemas.openxmlformats.org/drawingml/2006/main" id="744" idx="3"/>
            <a:endCxn xmlns:a="http://schemas.openxmlformats.org/drawingml/2006/main" id="746" idx="1"/>
          </p:cNvCxnSpPr>
          <p:nvPr/>
        </p:nvCxnSpPr>
        <p:spPr>
          <a:xfrm xmlns:a="http://schemas.openxmlformats.org/drawingml/2006/main">
            <a:off x="481965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1206" name="Straight Arrow Connector 905"/>
          <p:cNvCxnSpPr>
            <a:stCxn xmlns:a="http://schemas.openxmlformats.org/drawingml/2006/main" id="746" idx="3"/>
            <a:endCxn xmlns:a="http://schemas.openxmlformats.org/drawingml/2006/main" id="748" idx="1"/>
          </p:cNvCxnSpPr>
          <p:nvPr/>
        </p:nvCxnSpPr>
        <p:spPr>
          <a:xfrm xmlns:a="http://schemas.openxmlformats.org/drawingml/2006/main">
            <a:off x="701040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1207" name="Straight Arrow Connector 906"/>
          <p:cNvCxnSpPr>
            <a:stCxn xmlns:a="http://schemas.openxmlformats.org/drawingml/2006/main" id="748" idx="3"/>
            <a:endCxn xmlns:a="http://schemas.openxmlformats.org/drawingml/2006/main" id="750" idx="1"/>
          </p:cNvCxnSpPr>
          <p:nvPr/>
        </p:nvCxnSpPr>
        <p:spPr>
          <a:xfrm xmlns:a="http://schemas.openxmlformats.org/drawingml/2006/main">
            <a:off x="920115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sp>
        <p:nvSpPr>
          <p:cNvPr id="756" name="caabc-algorithm-property">
            <a:extLst xmlns:a="http://schemas.openxmlformats.org/drawingml/2006/main">
              <a:ext uri="{FF2B5EF4-FFF2-40B4-BE49-F238E27FC236}">
                <a16:creationId xmlns:a16="http://schemas.microsoft.com/office/drawing/2014/main" id="{3C8C8297-3ADB-4BC4-9374-AF63F8A2387E}"/>
              </a:ext>
            </a:extLst>
          </p:cNvPr>
          <p:cNvSpPr>
            <a:spLocks xmlns:a="http://schemas.openxmlformats.org/drawingml/2006/main" noGrp="1"/>
          </p:cNvSpPr>
          <p:nvPr/>
        </p:nvSpPr>
        <p:spPr>
          <a:xfrm xmlns:a="http://schemas.openxmlformats.org/drawingml/2006/main">
            <a:off x="1066800" y="4591050"/>
            <a:ext cx="10058400" cy="590550"/>
          </a:xfrm>
          <a:prstGeom xmlns:a="http://schemas.openxmlformats.org/drawingml/2006/main" prst="roundRect">
            <a:avLst>
              <a:gd name="adj" fmla="val 12903"/>
            </a:avLst>
          </a:prstGeom>
          <a:solidFill xmlns:a="http://schemas.openxmlformats.org/drawingml/2006/main">
            <a:srgbClr val="EEF7F4"/>
          </a:solidFill>
          <a:ln xmlns:a="http://schemas.openxmlformats.org/drawingml/2006/main" w="11430">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F5B50"/>
                </a:solidFill>
                <a:latin typeface="Arial"/>
                <a:ea typeface="Arial"/>
                <a:cs typeface="Arial"/>
              </a:defRPr>
            </a:pPr>
            <a:r>
              <a:rPr sz="1275" b="1">
                <a:solidFill>
                  <a:srgbClr val="1F5B50"/>
                </a:solidFill>
                <a:latin typeface="Arial"/>
                <a:ea typeface="Arial"/>
                <a:cs typeface="Arial"/>
              </a:rPr>
              <a:t>Algorithmic contribution: one public support keeps every client ciphertext aligned, so logical block sparsity becomes a real reduction in serialized encrypted traffic.</a:t>
            </a:r>
          </a:p>
        </p:txBody>
      </p:sp>
      <p:sp>
        <p:nvSpPr>
          <p:cNvPr id="757" name="caabc-algorithm-output">
            <a:extLst xmlns:a="http://schemas.openxmlformats.org/drawingml/2006/main">
              <a:ext uri="{FF2B5EF4-FFF2-40B4-BE49-F238E27FC236}">
                <a16:creationId xmlns:a16="http://schemas.microsoft.com/office/drawing/2014/main" id="{204D9384-6038-4C97-86AC-9C669CAEAD3E}"/>
              </a:ext>
            </a:extLst>
          </p:cNvPr>
          <p:cNvSpPr>
            <a:spLocks xmlns:a="http://schemas.openxmlformats.org/drawingml/2006/main" noGrp="1"/>
          </p:cNvSpPr>
          <p:nvPr/>
        </p:nvSpPr>
        <p:spPr>
          <a:xfrm xmlns:a="http://schemas.openxmlformats.org/drawingml/2006/main">
            <a:off x="2247900" y="5353050"/>
            <a:ext cx="7696200" cy="457200"/>
          </a:xfrm>
          <a:prstGeom xmlns:a="http://schemas.openxmlformats.org/drawingml/2006/main" prst="roundRect">
            <a:avLst>
              <a:gd name="adj" fmla="val 16667"/>
            </a:avLst>
          </a:prstGeom>
          <a:solidFill xmlns:a="http://schemas.openxmlformats.org/drawingml/2006/main">
            <a:srgbClr val="F4F6FA"/>
          </a:solidFill>
          <a:ln xmlns:a="http://schemas.openxmlformats.org/drawingml/2006/main" w="10478">
            <a:solidFill>
              <a:srgbClr val="062B6F"/>
            </a:solidFill>
          </a:ln>
        </p:spPr>
        <p:txBody>
          <a:bodyPr xmlns:a="http://schemas.openxmlformats.org/drawingml/2006/main" anchor="ctr">
            <a:normAutofit fontScale="86223" lnSpcReduction="10000"/>
          </a:bodyPr>
          <a:lstStyle xmlns:a="http://schemas.openxmlformats.org/drawingml/2006/main"/>
          <a:p xmlns:a="http://schemas.openxmlformats.org/drawingml/2006/main">
            <a:pPr algn="ctr">
              <a:buNone/>
              <a:defRPr sz="1238" b="1">
                <a:solidFill>
                  <a:srgbClr val="062B6F"/>
                </a:solidFill>
                <a:latin typeface="Arial"/>
                <a:ea typeface="Arial"/>
                <a:cs typeface="Arial"/>
              </a:defRPr>
            </a:pPr>
            <a:r>
              <a:rPr sz="1238" b="1">
                <a:solidFill>
                  <a:srgbClr val="062B6F"/>
                </a:solidFill>
                <a:latin typeface="Arial"/>
                <a:ea typeface="Arial"/>
                <a:cs typeface="Arial"/>
              </a:rPr>
              <a:t>Output: two aligned CKKS ciphertext chunks, an updated residual, and an aggregation-compatible protected update</a:t>
            </a:r>
          </a:p>
        </p:txBody>
      </p:sp>
      <p:pic>
        <p:nvPicPr>
          <p:cNvPr id="1210" name="Picture 910"/>
          <p:cNvPicPr>
            <a:picLocks xmlns:a="http://schemas.openxmlformats.org/drawingml/2006/main" noChangeAspect="1"/>
          </p:cNvPicPr>
          <p:nvPr/>
        </p:nvPicPr>
        <p:blipFill>
          <a:blip xmlns:r="http://schemas.openxmlformats.org/officeDocument/2006/relationships" xmlns:a="http://schemas.openxmlformats.org/drawingml/2006/main" r:embed="R9b8e37fa09634f92"/>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pic>
        <p:nvPicPr>
          <p:cNvPr id="1211" name="Picture 1"/>
          <p:cNvPicPr>
            <a:picLocks xmlns:a="http://schemas.openxmlformats.org/drawingml/2006/main" noChangeAspect="1"/>
          </p:cNvPicPr>
          <p:nvPr/>
        </p:nvPicPr>
        <p:blipFill>
          <a:blip xmlns:r="http://schemas.openxmlformats.org/officeDocument/2006/relationships" xmlns:a="http://schemas.openxmlformats.org/drawingml/2006/main" r:embed="Recbe20865f704f2e"/>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6"/>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21</a:t>
            </a:r>
            <a:endParaRPr sz="2800"/>
          </a:p>
        </p:txBody>
      </p:sp>
      <p:pic>
        <p:nvPicPr>
          <p:cNvPr id="26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f7e455c04ce4ec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oblem-formulation-explanation-cover">
            <a:extLst xmlns:a="http://schemas.openxmlformats.org/drawingml/2006/main">
              <a:ext uri="{FF2B5EF4-FFF2-40B4-BE49-F238E27FC236}">
                <a16:creationId xmlns:a16="http://schemas.microsoft.com/office/drawing/2014/main" id="{84699A72-0121-48F9-83F4-99E981AB73AF}"/>
              </a:ext>
            </a:extLst>
          </p:cNvPr>
          <p:cNvSpPr>
            <a:spLocks xmlns:a="http://schemas.openxmlformats.org/drawingml/2006/main" noGrp="1"/>
          </p:cNvSpPr>
          <p:nvPr/>
        </p:nvSpPr>
        <p:spPr>
          <a:xfrm xmlns:a="http://schemas.openxmlformats.org/drawingml/2006/main">
            <a:off x="400050" y="1200150"/>
            <a:ext cx="1139190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learning-objective-title">
            <a:extLst xmlns:a="http://schemas.openxmlformats.org/drawingml/2006/main">
              <a:ext uri="{FF2B5EF4-FFF2-40B4-BE49-F238E27FC236}">
                <a16:creationId xmlns:a16="http://schemas.microsoft.com/office/drawing/2014/main" id="{79B670E3-A9CD-4346-BE6C-9728D4174518}"/>
              </a:ext>
            </a:extLst>
          </p:cNvPr>
          <p:cNvSpPr>
            <a:spLocks xmlns:a="http://schemas.openxmlformats.org/drawingml/2006/main" noGrp="1"/>
          </p:cNvSpPr>
          <p:nvPr/>
        </p:nvSpPr>
        <p:spPr>
          <a:xfrm xmlns:a="http://schemas.openxmlformats.org/drawingml/2006/main">
            <a:off x="904875"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Learning objective</a:t>
            </a:r>
          </a:p>
        </p:txBody>
      </p:sp>
      <p:sp>
        <p:nvSpPr>
          <p:cNvPr id="239" name="learning-objective-rule">
            <a:extLst xmlns:a="http://schemas.openxmlformats.org/drawingml/2006/main">
              <a:ext uri="{FF2B5EF4-FFF2-40B4-BE49-F238E27FC236}">
                <a16:creationId xmlns:a16="http://schemas.microsoft.com/office/drawing/2014/main" id="{ACABD4A9-60F2-4789-9336-ACDD7ECA7737}"/>
              </a:ext>
            </a:extLst>
          </p:cNvPr>
          <p:cNvSpPr>
            <a:spLocks xmlns:a="http://schemas.openxmlformats.org/drawingml/2006/main" noGrp="1"/>
          </p:cNvSpPr>
          <p:nvPr/>
        </p:nvSpPr>
        <p:spPr>
          <a:xfrm xmlns:a="http://schemas.openxmlformats.org/drawingml/2006/main">
            <a:off x="904875" y="1762125"/>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0" name="learning-objective-equation">
            <a:extLst xmlns:a="http://schemas.openxmlformats.org/drawingml/2006/main">
              <a:ext uri="{FF2B5EF4-FFF2-40B4-BE49-F238E27FC236}">
                <a16:creationId xmlns:a16="http://schemas.microsoft.com/office/drawing/2014/main" id="{0C168608-0CA2-4D92-9DF3-4BCF50253E90}"/>
              </a:ext>
            </a:extLst>
          </p:cNvPr>
          <p:cNvSpPr>
            <a:spLocks xmlns:a="http://schemas.openxmlformats.org/drawingml/2006/main" noGrp="1"/>
          </p:cNvSpPr>
          <p:nvPr/>
        </p:nvSpPr>
        <p:spPr>
          <a:xfrm xmlns:a="http://schemas.openxmlformats.org/drawingml/2006/main">
            <a:off x="981075"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F(w) = Σₖ (nₖ/N)Fₖ(w)</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Fₖ(w) = (1/nₖ)Σᵢ ℓ(w; xᵢ, yᵢ)</a:t>
            </a:r>
          </a:p>
        </p:txBody>
      </p:sp>
      <p:sp>
        <p:nvSpPr>
          <p:cNvPr id="241" name="learning-objective-explanation">
            <a:extLst xmlns:a="http://schemas.openxmlformats.org/drawingml/2006/main">
              <a:ext uri="{FF2B5EF4-FFF2-40B4-BE49-F238E27FC236}">
                <a16:creationId xmlns:a16="http://schemas.microsoft.com/office/drawing/2014/main" id="{11211DA1-BE96-4A97-96F5-8CA3C652111F}"/>
              </a:ext>
            </a:extLst>
          </p:cNvPr>
          <p:cNvSpPr>
            <a:spLocks xmlns:a="http://schemas.openxmlformats.org/drawingml/2006/main" noGrp="1"/>
          </p:cNvSpPr>
          <p:nvPr/>
        </p:nvSpPr>
        <p:spPr>
          <a:xfrm xmlns:a="http://schemas.openxmlformats.org/drawingml/2006/main">
            <a:off x="981075"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Fₖ(w) is the empirical loss at hospital k. The ratio nₖ/N weights each hospital by its share of the combined training records.</a:t>
            </a:r>
          </a:p>
        </p:txBody>
      </p:sp>
      <p:sp>
        <p:nvSpPr>
          <p:cNvPr id="242" name="learning-objective-takeaway">
            <a:extLst xmlns:a="http://schemas.openxmlformats.org/drawingml/2006/main">
              <a:ext uri="{FF2B5EF4-FFF2-40B4-BE49-F238E27FC236}">
                <a16:creationId xmlns:a16="http://schemas.microsoft.com/office/drawing/2014/main" id="{EFB9FA41-E2DE-49D2-98AA-61CEF65BF54C}"/>
              </a:ext>
            </a:extLst>
          </p:cNvPr>
          <p:cNvSpPr>
            <a:spLocks xmlns:a="http://schemas.openxmlformats.org/drawingml/2006/main" noGrp="1"/>
          </p:cNvSpPr>
          <p:nvPr/>
        </p:nvSpPr>
        <p:spPr>
          <a:xfrm xmlns:a="http://schemas.openxmlformats.org/drawingml/2006/main">
            <a:off x="981075"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Goal: minimize weighted global loss while records remain local.</a:t>
            </a:r>
          </a:p>
        </p:txBody>
      </p:sp>
      <p:sp>
        <p:nvSpPr>
          <p:cNvPr id="243" name="protected-update-title">
            <a:extLst xmlns:a="http://schemas.openxmlformats.org/drawingml/2006/main">
              <a:ext uri="{FF2B5EF4-FFF2-40B4-BE49-F238E27FC236}">
                <a16:creationId xmlns:a16="http://schemas.microsoft.com/office/drawing/2014/main" id="{22CA2067-CE68-47A3-A909-EE970DC70D3F}"/>
              </a:ext>
            </a:extLst>
          </p:cNvPr>
          <p:cNvSpPr>
            <a:spLocks xmlns:a="http://schemas.openxmlformats.org/drawingml/2006/main" noGrp="1"/>
          </p:cNvSpPr>
          <p:nvPr/>
        </p:nvSpPr>
        <p:spPr>
          <a:xfrm xmlns:a="http://schemas.openxmlformats.org/drawingml/2006/main">
            <a:off x="6477000"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A9D6"/>
                </a:solidFill>
                <a:latin typeface="Arial"/>
                <a:ea typeface="Arial"/>
                <a:cs typeface="Arial"/>
              </a:defRPr>
            </a:pPr>
            <a:r>
              <a:rPr sz="2025" b="1">
                <a:solidFill>
                  <a:srgbClr val="00A9D6"/>
                </a:solidFill>
                <a:latin typeface="Arial"/>
                <a:ea typeface="Arial"/>
                <a:cs typeface="Arial"/>
              </a:rPr>
              <a:t>Protected local update</a:t>
            </a:r>
          </a:p>
        </p:txBody>
      </p:sp>
      <p:sp>
        <p:nvSpPr>
          <p:cNvPr id="244" name="protected-update-rule">
            <a:extLst xmlns:a="http://schemas.openxmlformats.org/drawingml/2006/main">
              <a:ext uri="{FF2B5EF4-FFF2-40B4-BE49-F238E27FC236}">
                <a16:creationId xmlns:a16="http://schemas.microsoft.com/office/drawing/2014/main" id="{5D9C9DC8-9CFF-42C5-A880-6946FCE14179}"/>
              </a:ext>
            </a:extLst>
          </p:cNvPr>
          <p:cNvSpPr>
            <a:spLocks xmlns:a="http://schemas.openxmlformats.org/drawingml/2006/main" noGrp="1"/>
          </p:cNvSpPr>
          <p:nvPr/>
        </p:nvSpPr>
        <p:spPr>
          <a:xfrm xmlns:a="http://schemas.openxmlformats.org/drawingml/2006/main">
            <a:off x="6477000" y="1762125"/>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45" name="protected-update-equation">
            <a:extLst xmlns:a="http://schemas.openxmlformats.org/drawingml/2006/main">
              <a:ext uri="{FF2B5EF4-FFF2-40B4-BE49-F238E27FC236}">
                <a16:creationId xmlns:a16="http://schemas.microsoft.com/office/drawing/2014/main" id="{C0589AB0-3A98-449D-8E96-D13B6CC80664}"/>
              </a:ext>
            </a:extLst>
          </p:cNvPr>
          <p:cNvSpPr>
            <a:spLocks xmlns:a="http://schemas.openxmlformats.org/drawingml/2006/main" noGrp="1"/>
          </p:cNvSpPr>
          <p:nvPr/>
        </p:nvSpPr>
        <p:spPr>
          <a:xfrm xmlns:a="http://schemas.openxmlformats.org/drawingml/2006/main">
            <a:off x="6553200"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ḡₖᵗ = gₖᵗ / max(1, ‖gₖᵗ‖₂/C)</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uₖᵗ = Qₛₜ(ḡₖᵗ + zₖᵗ + eₖᵗ)</a:t>
            </a:r>
          </a:p>
        </p:txBody>
      </p:sp>
      <p:sp>
        <p:nvSpPr>
          <p:cNvPr id="246" name="protected-update-explanation">
            <a:extLst xmlns:a="http://schemas.openxmlformats.org/drawingml/2006/main">
              <a:ext uri="{FF2B5EF4-FFF2-40B4-BE49-F238E27FC236}">
                <a16:creationId xmlns:a16="http://schemas.microsoft.com/office/drawing/2014/main" id="{C2870143-9667-4B0D-A93B-FA30BCC80606}"/>
              </a:ext>
            </a:extLst>
          </p:cNvPr>
          <p:cNvSpPr>
            <a:spLocks xmlns:a="http://schemas.openxmlformats.org/drawingml/2006/main" noGrp="1"/>
          </p:cNvSpPr>
          <p:nvPr/>
        </p:nvSpPr>
        <p:spPr>
          <a:xfrm xmlns:a="http://schemas.openxmlformats.org/drawingml/2006/main">
            <a:off x="6553200"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50"/>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C bounds each gradient. zₖᵗ adds Gaussian DP noise, eₖᵗ carries the compression residual, and Qₛₜ applies the CAABC-FL block compressor.</a:t>
            </a:r>
          </a:p>
        </p:txBody>
      </p:sp>
      <p:sp>
        <p:nvSpPr>
          <p:cNvPr id="247" name="protected-update-takeaway">
            <a:extLst xmlns:a="http://schemas.openxmlformats.org/drawingml/2006/main">
              <a:ext uri="{FF2B5EF4-FFF2-40B4-BE49-F238E27FC236}">
                <a16:creationId xmlns:a16="http://schemas.microsoft.com/office/drawing/2014/main" id="{CA0E8D0A-92C2-44FC-A191-959156B1795D}"/>
              </a:ext>
            </a:extLst>
          </p:cNvPr>
          <p:cNvSpPr>
            <a:spLocks xmlns:a="http://schemas.openxmlformats.org/drawingml/2006/main" noGrp="1"/>
          </p:cNvSpPr>
          <p:nvPr/>
        </p:nvSpPr>
        <p:spPr>
          <a:xfrm xmlns:a="http://schemas.openxmlformats.org/drawingml/2006/main">
            <a:off x="6553200"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A9D6"/>
                </a:solidFill>
                <a:latin typeface="Arial"/>
                <a:ea typeface="Arial"/>
                <a:cs typeface="Arial"/>
              </a:defRPr>
            </a:pPr>
            <a:r>
              <a:rPr sz="1125" b="1">
                <a:solidFill>
                  <a:srgbClr val="00A9D6"/>
                </a:solidFill>
                <a:latin typeface="Arial"/>
                <a:ea typeface="Arial"/>
                <a:cs typeface="Arial"/>
              </a:rPr>
              <a:t>Result: a bounded, private and compression-aware client update.</a:t>
            </a:r>
          </a:p>
        </p:txBody>
      </p:sp>
      <p:sp>
        <p:nvSpPr>
          <p:cNvPr id="248" name="encrypted-aggregation-title">
            <a:extLst xmlns:a="http://schemas.openxmlformats.org/drawingml/2006/main">
              <a:ext uri="{FF2B5EF4-FFF2-40B4-BE49-F238E27FC236}">
                <a16:creationId xmlns:a16="http://schemas.microsoft.com/office/drawing/2014/main" id="{4F565ACE-3B3B-4646-A107-E1AF767DE8FF}"/>
              </a:ext>
            </a:extLst>
          </p:cNvPr>
          <p:cNvSpPr>
            <a:spLocks xmlns:a="http://schemas.openxmlformats.org/drawingml/2006/main" noGrp="1"/>
          </p:cNvSpPr>
          <p:nvPr/>
        </p:nvSpPr>
        <p:spPr>
          <a:xfrm xmlns:a="http://schemas.openxmlformats.org/drawingml/2006/main">
            <a:off x="904875"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Encrypted aggregation</a:t>
            </a:r>
          </a:p>
        </p:txBody>
      </p:sp>
      <p:sp>
        <p:nvSpPr>
          <p:cNvPr id="249" name="encrypted-aggregation-rule">
            <a:extLst xmlns:a="http://schemas.openxmlformats.org/drawingml/2006/main">
              <a:ext uri="{FF2B5EF4-FFF2-40B4-BE49-F238E27FC236}">
                <a16:creationId xmlns:a16="http://schemas.microsoft.com/office/drawing/2014/main" id="{D4E628CF-50B1-4E64-9A20-1090396E404A}"/>
              </a:ext>
            </a:extLst>
          </p:cNvPr>
          <p:cNvSpPr>
            <a:spLocks xmlns:a="http://schemas.openxmlformats.org/drawingml/2006/main" noGrp="1"/>
          </p:cNvSpPr>
          <p:nvPr/>
        </p:nvSpPr>
        <p:spPr>
          <a:xfrm xmlns:a="http://schemas.openxmlformats.org/drawingml/2006/main">
            <a:off x="904875" y="3924300"/>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50" name="encrypted-aggregation-equation">
            <a:extLst xmlns:a="http://schemas.openxmlformats.org/drawingml/2006/main">
              <a:ext uri="{FF2B5EF4-FFF2-40B4-BE49-F238E27FC236}">
                <a16:creationId xmlns:a16="http://schemas.microsoft.com/office/drawing/2014/main" id="{4CCFADB6-34C0-4E2D-96BA-F1A38B975721}"/>
              </a:ext>
            </a:extLst>
          </p:cNvPr>
          <p:cNvSpPr>
            <a:spLocks xmlns:a="http://schemas.openxmlformats.org/drawingml/2006/main" noGrp="1"/>
          </p:cNvSpPr>
          <p:nvPr/>
        </p:nvSpPr>
        <p:spPr>
          <a:xfrm xmlns:a="http://schemas.openxmlformats.org/drawingml/2006/main">
            <a:off x="981075" y="404812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cₜ = ⊕ₖ∈Aₜ Encₚₖ(uₖᵗ)</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wₜ₊₁ = wₜ − ηₜ Dec(cₜ)/|Aₜ|</a:t>
            </a:r>
          </a:p>
        </p:txBody>
      </p:sp>
      <p:sp>
        <p:nvSpPr>
          <p:cNvPr id="251" name="encrypted-aggregation-explanation">
            <a:extLst xmlns:a="http://schemas.openxmlformats.org/drawingml/2006/main">
              <a:ext uri="{FF2B5EF4-FFF2-40B4-BE49-F238E27FC236}">
                <a16:creationId xmlns:a16="http://schemas.microsoft.com/office/drawing/2014/main" id="{EE3EAF5F-FFB7-485D-A8DD-73C42CCDEE96}"/>
              </a:ext>
            </a:extLst>
          </p:cNvPr>
          <p:cNvSpPr>
            <a:spLocks xmlns:a="http://schemas.openxmlformats.org/drawingml/2006/main" noGrp="1"/>
          </p:cNvSpPr>
          <p:nvPr/>
        </p:nvSpPr>
        <p:spPr>
          <a:xfrm xmlns:a="http://schemas.openxmlformats.org/drawingml/2006/main">
            <a:off x="981075" y="4686300"/>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57"/>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Aₜ contains admitted clients. CKKS sums encrypted uₖᵗ values without exposing them. Custodians decrypt cₜ, the aggregate, rather than individual updates.</a:t>
            </a:r>
          </a:p>
        </p:txBody>
      </p:sp>
      <p:sp>
        <p:nvSpPr>
          <p:cNvPr id="252" name="encrypted-aggregation-takeaway">
            <a:extLst xmlns:a="http://schemas.openxmlformats.org/drawingml/2006/main">
              <a:ext uri="{FF2B5EF4-FFF2-40B4-BE49-F238E27FC236}">
                <a16:creationId xmlns:a16="http://schemas.microsoft.com/office/drawing/2014/main" id="{B1906C49-A301-4C72-8F3B-C2DF5C38CD68}"/>
              </a:ext>
            </a:extLst>
          </p:cNvPr>
          <p:cNvSpPr>
            <a:spLocks xmlns:a="http://schemas.openxmlformats.org/drawingml/2006/main" noGrp="1"/>
          </p:cNvSpPr>
          <p:nvPr/>
        </p:nvSpPr>
        <p:spPr>
          <a:xfrm xmlns:a="http://schemas.openxmlformats.org/drawingml/2006/main">
            <a:off x="981075" y="5229225"/>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63"/>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ηₜ controls the update step and |Aₜ| produces the mean aggregate.</a:t>
            </a:r>
          </a:p>
        </p:txBody>
      </p:sp>
      <p:sp>
        <p:nvSpPr>
          <p:cNvPr id="253" name="constraints-title">
            <a:extLst xmlns:a="http://schemas.openxmlformats.org/drawingml/2006/main">
              <a:ext uri="{FF2B5EF4-FFF2-40B4-BE49-F238E27FC236}">
                <a16:creationId xmlns:a16="http://schemas.microsoft.com/office/drawing/2014/main" id="{53DD9FDF-3741-493D-AB81-B019B35C7F35}"/>
              </a:ext>
            </a:extLst>
          </p:cNvPr>
          <p:cNvSpPr>
            <a:spLocks xmlns:a="http://schemas.openxmlformats.org/drawingml/2006/main" noGrp="1"/>
          </p:cNvSpPr>
          <p:nvPr/>
        </p:nvSpPr>
        <p:spPr>
          <a:xfrm xmlns:a="http://schemas.openxmlformats.org/drawingml/2006/main">
            <a:off x="6477000"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1E3A5F"/>
                </a:solidFill>
                <a:latin typeface="Arial"/>
                <a:ea typeface="Arial"/>
                <a:cs typeface="Arial"/>
              </a:defRPr>
            </a:pPr>
            <a:r>
              <a:rPr sz="2025" b="1">
                <a:solidFill>
                  <a:srgbClr val="1E3A5F"/>
                </a:solidFill>
                <a:latin typeface="Arial"/>
                <a:ea typeface="Arial"/>
                <a:cs typeface="Arial"/>
              </a:rPr>
              <a:t>Design constraints</a:t>
            </a:r>
          </a:p>
        </p:txBody>
      </p:sp>
      <p:sp>
        <p:nvSpPr>
          <p:cNvPr id="254" name="constraints-rule">
            <a:extLst xmlns:a="http://schemas.openxmlformats.org/drawingml/2006/main">
              <a:ext uri="{FF2B5EF4-FFF2-40B4-BE49-F238E27FC236}">
                <a16:creationId xmlns:a16="http://schemas.microsoft.com/office/drawing/2014/main" id="{ACDF0887-D9F8-4DAB-8E94-80F0BF5E7D67}"/>
              </a:ext>
            </a:extLst>
          </p:cNvPr>
          <p:cNvSpPr>
            <a:spLocks xmlns:a="http://schemas.openxmlformats.org/drawingml/2006/main" noGrp="1"/>
          </p:cNvSpPr>
          <p:nvPr/>
        </p:nvSpPr>
        <p:spPr>
          <a:xfrm xmlns:a="http://schemas.openxmlformats.org/drawingml/2006/main">
            <a:off x="6477000" y="3924300"/>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55" name="constraints-objective">
            <a:extLst xmlns:a="http://schemas.openxmlformats.org/drawingml/2006/main">
              <a:ext uri="{FF2B5EF4-FFF2-40B4-BE49-F238E27FC236}">
                <a16:creationId xmlns:a16="http://schemas.microsoft.com/office/drawing/2014/main" id="{4E551B32-E413-4E20-A51F-2E73B6BAECD9}"/>
              </a:ext>
            </a:extLst>
          </p:cNvPr>
          <p:cNvSpPr>
            <a:spLocks xmlns:a="http://schemas.openxmlformats.org/drawingml/2006/main" noGrp="1"/>
          </p:cNvSpPr>
          <p:nvPr/>
        </p:nvSpPr>
        <p:spPr>
          <a:xfrm xmlns:a="http://schemas.openxmlformats.org/drawingml/2006/main">
            <a:off x="6553200" y="4067175"/>
            <a:ext cx="461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225"/>
          </a:bodyPr>
          <a:lstStyle xmlns:a="http://schemas.openxmlformats.org/drawingml/2006/main"/>
          <a:p xmlns:a="http://schemas.openxmlformats.org/drawingml/2006/main">
            <a:pPr>
              <a:buNone/>
              <a:defRPr sz="1350" b="1">
                <a:solidFill>
                  <a:srgbClr val="1F2937"/>
                </a:solidFill>
                <a:latin typeface="Arial"/>
                <a:ea typeface="Arial"/>
                <a:cs typeface="Arial"/>
              </a:defRPr>
            </a:pPr>
            <a:r>
              <a:rPr sz="1350" b="1">
                <a:solidFill>
                  <a:srgbClr val="1F2937"/>
                </a:solidFill>
                <a:latin typeface="Arial"/>
                <a:ea typeface="Arial"/>
                <a:cs typeface="Arial"/>
              </a:rPr>
              <a:t>Minimize prediction loss and serialized upload subject to:</a:t>
            </a:r>
          </a:p>
        </p:txBody>
      </p:sp>
      <p:sp>
        <p:nvSpPr>
          <p:cNvPr id="256" name="constraints-list-left">
            <a:extLst xmlns:a="http://schemas.openxmlformats.org/drawingml/2006/main">
              <a:ext uri="{FF2B5EF4-FFF2-40B4-BE49-F238E27FC236}">
                <a16:creationId xmlns:a16="http://schemas.microsoft.com/office/drawing/2014/main" id="{9135BCB5-8D25-4202-887F-791C987F9F76}"/>
              </a:ext>
            </a:extLst>
          </p:cNvPr>
          <p:cNvSpPr>
            <a:spLocks xmlns:a="http://schemas.openxmlformats.org/drawingml/2006/main" noGrp="1"/>
          </p:cNvSpPr>
          <p:nvPr/>
        </p:nvSpPr>
        <p:spPr>
          <a:xfrm xmlns:a="http://schemas.openxmlformats.org/drawingml/2006/main">
            <a:off x="6553200" y="44386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Privacy</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Integrity</a:t>
            </a:r>
          </a:p>
        </p:txBody>
      </p:sp>
      <p:sp>
        <p:nvSpPr>
          <p:cNvPr id="257" name="constraints-values-left">
            <a:extLst xmlns:a="http://schemas.openxmlformats.org/drawingml/2006/main">
              <a:ext uri="{FF2B5EF4-FFF2-40B4-BE49-F238E27FC236}">
                <a16:creationId xmlns:a16="http://schemas.microsoft.com/office/drawing/2014/main" id="{88B4E04D-EB19-4B6C-96E9-37BF912A6A83}"/>
              </a:ext>
            </a:extLst>
          </p:cNvPr>
          <p:cNvSpPr>
            <a:spLocks xmlns:a="http://schemas.openxmlformats.org/drawingml/2006/main" noGrp="1"/>
          </p:cNvSpPr>
          <p:nvPr/>
        </p:nvSpPr>
        <p:spPr>
          <a:xfrm xmlns:a="http://schemas.openxmlformats.org/drawingml/2006/main">
            <a:off x="7620000" y="4438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Record-level differential privacy</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Independently checked aggregate</a:t>
            </a:r>
          </a:p>
        </p:txBody>
      </p:sp>
      <p:sp>
        <p:nvSpPr>
          <p:cNvPr id="258" name="constraints-list-right">
            <a:extLst xmlns:a="http://schemas.openxmlformats.org/drawingml/2006/main">
              <a:ext uri="{FF2B5EF4-FFF2-40B4-BE49-F238E27FC236}">
                <a16:creationId xmlns:a16="http://schemas.microsoft.com/office/drawing/2014/main" id="{6BB50B8B-1E53-42B5-9842-96AB03D06685}"/>
              </a:ext>
            </a:extLst>
          </p:cNvPr>
          <p:cNvSpPr>
            <a:spLocks xmlns:a="http://schemas.openxmlformats.org/drawingml/2006/main" noGrp="1"/>
          </p:cNvSpPr>
          <p:nvPr/>
        </p:nvSpPr>
        <p:spPr>
          <a:xfrm xmlns:a="http://schemas.openxmlformats.org/drawingml/2006/main">
            <a:off x="6553200" y="50101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Release</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Audit</a:t>
            </a:r>
          </a:p>
        </p:txBody>
      </p:sp>
      <p:sp>
        <p:nvSpPr>
          <p:cNvPr id="259" name="constraints-values-right">
            <a:extLst xmlns:a="http://schemas.openxmlformats.org/drawingml/2006/main">
              <a:ext uri="{FF2B5EF4-FFF2-40B4-BE49-F238E27FC236}">
                <a16:creationId xmlns:a16="http://schemas.microsoft.com/office/drawing/2014/main" id="{752038E5-E065-462B-B6EA-84737D2DDB45}"/>
              </a:ext>
            </a:extLst>
          </p:cNvPr>
          <p:cNvSpPr>
            <a:spLocks xmlns:a="http://schemas.openxmlformats.org/drawingml/2006/main" noGrp="1"/>
          </p:cNvSpPr>
          <p:nvPr/>
        </p:nvSpPr>
        <p:spPr>
          <a:xfrm xmlns:a="http://schemas.openxmlformats.org/drawingml/2006/main">
            <a:off x="7620000" y="50101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Threshold authorization</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Permissioned execution evidence</a:t>
            </a:r>
          </a:p>
        </p:txBody>
      </p:sp>
      <p:sp>
        <p:nvSpPr>
          <p:cNvPr id="260" name="problem-formulation-column-divider">
            <a:extLst xmlns:a="http://schemas.openxmlformats.org/drawingml/2006/main">
              <a:ext uri="{FF2B5EF4-FFF2-40B4-BE49-F238E27FC236}">
                <a16:creationId xmlns:a16="http://schemas.microsoft.com/office/drawing/2014/main" id="{B1D8E0C4-C8D6-4FC8-B6B9-1B62E7237EF6}"/>
              </a:ext>
            </a:extLst>
          </p:cNvPr>
          <p:cNvSpPr>
            <a:spLocks xmlns:a="http://schemas.openxmlformats.org/drawingml/2006/main" noGrp="1"/>
          </p:cNvSpPr>
          <p:nvPr/>
        </p:nvSpPr>
        <p:spPr>
          <a:xfrm xmlns:a="http://schemas.openxmlformats.org/drawingml/2006/main">
            <a:off x="6076950" y="1409700"/>
            <a:ext cx="14288" cy="4171950"/>
          </a:xfrm>
          <a:prstGeom xmlns:a="http://schemas.openxmlformats.org/drawingml/2006/main" prst="rect">
            <a:avLst/>
          </a:prstGeom>
          <a:solidFill xmlns:a="http://schemas.openxmlformats.org/drawingml/2006/main">
            <a:srgbClr val="D7DEE7"/>
          </a:solidFill>
          <a:ln xmlns:a="http://schemas.openxmlformats.org/drawingml/2006/main" w="0">
            <a:noFill/>
          </a:ln>
        </p:spPr>
      </p:sp>
      <p:sp>
        <p:nvSpPr>
          <p:cNvPr id="261" name="problem-formulation-round-summary">
            <a:extLst xmlns:a="http://schemas.openxmlformats.org/drawingml/2006/main">
              <a:ext uri="{FF2B5EF4-FFF2-40B4-BE49-F238E27FC236}">
                <a16:creationId xmlns:a16="http://schemas.microsoft.com/office/drawing/2014/main" id="{5FC43600-EC93-4CAA-8525-F78230726572}"/>
              </a:ext>
            </a:extLst>
          </p:cNvPr>
          <p:cNvSpPr>
            <a:spLocks xmlns:a="http://schemas.openxmlformats.org/drawingml/2006/main" noGrp="1"/>
          </p:cNvSpPr>
          <p:nvPr/>
        </p:nvSpPr>
        <p:spPr>
          <a:xfrm xmlns:a="http://schemas.openxmlformats.org/drawingml/2006/main">
            <a:off x="2143125" y="57150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i="1">
                <a:solidFill>
                  <a:srgbClr val="1E3A5F"/>
                </a:solidFill>
                <a:latin typeface="Arial"/>
                <a:ea typeface="Arial"/>
                <a:cs typeface="Arial"/>
              </a:defRPr>
            </a:pPr>
            <a:r>
              <a:rPr sz="1200" i="1">
                <a:solidFill>
                  <a:srgbClr val="1E3A5F"/>
                </a:solidFill>
                <a:latin typeface="Arial"/>
                <a:ea typeface="Arial"/>
                <a:cs typeface="Arial"/>
              </a:rPr>
              <a:t>One training round constructs protected local updates, aggregates ciphertexts, and releases only a validated global model.</a:t>
            </a:r>
          </a:p>
        </p:txBody>
      </p:sp>
      <p:pic>
        <p:nvPicPr>
          <p:cNvPr id="306" name="Picture 1"/>
          <p:cNvPicPr>
            <a:picLocks xmlns:a="http://schemas.openxmlformats.org/drawingml/2006/main" noChangeAspect="1"/>
          </p:cNvPicPr>
          <p:nvPr/>
        </p:nvPicPr>
        <p:blipFill>
          <a:blip xmlns:r="http://schemas.openxmlformats.org/officeDocument/2006/relationships" xmlns:a="http://schemas.openxmlformats.org/drawingml/2006/main" r:embed="Rf6ba9eb9f3124884"/>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22</a:t>
            </a:r>
            <a:endParaRPr sz="2800"/>
          </a:p>
        </p:txBody>
      </p:sp>
      <p:pic>
        <p:nvPicPr>
          <p:cNvPr id="26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41bcf5bbab14c5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43150"/>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80" name="Picture 1"/>
          <p:cNvPicPr>
            <a:picLocks xmlns:a="http://schemas.openxmlformats.org/drawingml/2006/main" noChangeAspect="1"/>
          </p:cNvPicPr>
          <p:nvPr/>
        </p:nvPicPr>
        <p:blipFill>
          <a:blip xmlns:r="http://schemas.openxmlformats.org/officeDocument/2006/relationships" xmlns:a="http://schemas.openxmlformats.org/drawingml/2006/main" r:embed="R4ddb9f89457a464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
        <p:nvSpPr>
          <p:cNvPr id="237" name="research-design-redesign-cover">
            <a:extLst xmlns:a="http://schemas.openxmlformats.org/drawingml/2006/main">
              <a:ext uri="{FF2B5EF4-FFF2-40B4-BE49-F238E27FC236}">
                <a16:creationId xmlns:a16="http://schemas.microsoft.com/office/drawing/2014/main" id="{D4A98444-E94E-4782-BB1E-B55EF0D34614}"/>
              </a:ext>
            </a:extLst>
          </p:cNvPr>
          <p:cNvSpPr>
            <a:spLocks xmlns:a="http://schemas.openxmlformats.org/drawingml/2006/main" noGrp="1"/>
          </p:cNvSpPr>
          <p:nvPr/>
        </p:nvSpPr>
        <p:spPr>
          <a:xfrm xmlns:a="http://schemas.openxmlformats.org/drawingml/2006/main">
            <a:off x="523875" y="1143000"/>
            <a:ext cx="1114425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research-design-subtitle">
            <a:extLst xmlns:a="http://schemas.openxmlformats.org/drawingml/2006/main">
              <a:ext uri="{FF2B5EF4-FFF2-40B4-BE49-F238E27FC236}">
                <a16:creationId xmlns:a16="http://schemas.microsoft.com/office/drawing/2014/main" id="{CED47B46-FC6E-42EF-BBA4-D9D79C1C8C47}"/>
              </a:ext>
            </a:extLst>
          </p:cNvPr>
          <p:cNvSpPr>
            <a:spLocks xmlns:a="http://schemas.openxmlformats.org/drawingml/2006/main" noGrp="1"/>
          </p:cNvSpPr>
          <p:nvPr/>
        </p:nvSpPr>
        <p:spPr>
          <a:xfrm xmlns:a="http://schemas.openxmlformats.org/drawingml/2006/main">
            <a:off x="1285875" y="1257300"/>
            <a:ext cx="962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a:solidFill>
                  <a:srgbClr val="5D6878"/>
                </a:solidFill>
                <a:latin typeface="Arial"/>
                <a:ea typeface="Arial"/>
                <a:cs typeface="Arial"/>
              </a:defRPr>
            </a:pPr>
            <a:r>
              <a:rPr sz="1350">
                <a:solidFill>
                  <a:srgbClr val="5D6878"/>
                </a:solidFill>
                <a:latin typeface="Arial"/>
                <a:ea typeface="Arial"/>
                <a:cs typeface="Arial"/>
              </a:rPr>
              <a:t>Controlled cross-silo comparison under one frozen protocol</a:t>
            </a:r>
          </a:p>
        </p:txBody>
      </p:sp>
      <p:sp>
        <p:nvSpPr>
          <p:cNvPr id="239" name="research-design-process-line">
            <a:extLst xmlns:a="http://schemas.openxmlformats.org/drawingml/2006/main">
              <a:ext uri="{FF2B5EF4-FFF2-40B4-BE49-F238E27FC236}">
                <a16:creationId xmlns:a16="http://schemas.microsoft.com/office/drawing/2014/main" id="{FE7B14B1-B22D-4459-ADAC-168BCE8E5D45}"/>
              </a:ext>
            </a:extLst>
          </p:cNvPr>
          <p:cNvSpPr>
            <a:spLocks xmlns:a="http://schemas.openxmlformats.org/drawingml/2006/main" noGrp="1"/>
          </p:cNvSpPr>
          <p:nvPr/>
        </p:nvSpPr>
        <p:spPr>
          <a:xfrm xmlns:a="http://schemas.openxmlformats.org/drawingml/2006/main">
            <a:off x="1685925" y="2038350"/>
            <a:ext cx="8629650" cy="38100"/>
          </a:xfrm>
          <a:prstGeom xmlns:a="http://schemas.openxmlformats.org/drawingml/2006/main" prst="rect">
            <a:avLst/>
          </a:prstGeom>
          <a:solidFill xmlns:a="http://schemas.openxmlformats.org/drawingml/2006/main">
            <a:srgbClr val="D8E1EA"/>
          </a:solidFill>
          <a:ln xmlns:a="http://schemas.openxmlformats.org/drawingml/2006/main" w="0">
            <a:noFill/>
          </a:ln>
        </p:spPr>
      </p:sp>
      <p:sp>
        <p:nvSpPr>
          <p:cNvPr id="240" name="research-design-stage-1-node">
            <a:extLst xmlns:a="http://schemas.openxmlformats.org/drawingml/2006/main">
              <a:ext uri="{FF2B5EF4-FFF2-40B4-BE49-F238E27FC236}">
                <a16:creationId xmlns:a16="http://schemas.microsoft.com/office/drawing/2014/main" id="{48FB27D2-C3CD-490E-8597-89F874C30FD6}"/>
              </a:ext>
            </a:extLst>
          </p:cNvPr>
          <p:cNvSpPr>
            <a:spLocks xmlns:a="http://schemas.openxmlformats.org/drawingml/2006/main" noGrp="1"/>
          </p:cNvSpPr>
          <p:nvPr/>
        </p:nvSpPr>
        <p:spPr>
          <a:xfrm xmlns:a="http://schemas.openxmlformats.org/drawingml/2006/main">
            <a:off x="1438275" y="1790700"/>
            <a:ext cx="552450" cy="552450"/>
          </a:xfrm>
          <a:prstGeom xmlns:a="http://schemas.openxmlformats.org/drawingml/2006/main" prst="ellipse">
            <a:avLst/>
          </a:prstGeom>
          <a:solidFill xmlns:a="http://schemas.openxmlformats.org/drawingml/2006/main">
            <a:srgbClr val="008A46"/>
          </a:solidFill>
          <a:ln xmlns:a="http://schemas.openxmlformats.org/drawingml/2006/main" w="19050">
            <a:solidFill>
              <a:srgbClr val="FFFFFF"/>
            </a:solidFill>
          </a:ln>
        </p:spPr>
      </p:sp>
      <p:sp>
        <p:nvSpPr>
          <p:cNvPr id="241" name="research-design-stage-1-number">
            <a:extLst xmlns:a="http://schemas.openxmlformats.org/drawingml/2006/main">
              <a:ext uri="{FF2B5EF4-FFF2-40B4-BE49-F238E27FC236}">
                <a16:creationId xmlns:a16="http://schemas.microsoft.com/office/drawing/2014/main" id="{DA1C5B51-7E09-4B46-ABC4-8A3C69A8C4C8}"/>
              </a:ext>
            </a:extLst>
          </p:cNvPr>
          <p:cNvSpPr>
            <a:spLocks xmlns:a="http://schemas.openxmlformats.org/drawingml/2006/main" noGrp="1"/>
          </p:cNvSpPr>
          <p:nvPr/>
        </p:nvSpPr>
        <p:spPr>
          <a:xfrm xmlns:a="http://schemas.openxmlformats.org/drawingml/2006/main">
            <a:off x="1438275" y="179070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242" name="research-design-stage-1-title">
            <a:extLst xmlns:a="http://schemas.openxmlformats.org/drawingml/2006/main">
              <a:ext uri="{FF2B5EF4-FFF2-40B4-BE49-F238E27FC236}">
                <a16:creationId xmlns:a16="http://schemas.microsoft.com/office/drawing/2014/main" id="{3464DBF5-61CF-4013-AB5D-0764E09D5524}"/>
              </a:ext>
            </a:extLst>
          </p:cNvPr>
          <p:cNvSpPr>
            <a:spLocks xmlns:a="http://schemas.openxmlformats.org/drawingml/2006/main" noGrp="1"/>
          </p:cNvSpPr>
          <p:nvPr/>
        </p:nvSpPr>
        <p:spPr>
          <a:xfrm xmlns:a="http://schemas.openxmlformats.org/drawingml/2006/main">
            <a:off x="523875" y="24955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08A46"/>
                </a:solidFill>
                <a:latin typeface="Arial"/>
                <a:ea typeface="Arial"/>
                <a:cs typeface="Arial"/>
              </a:defRPr>
            </a:pPr>
            <a:r>
              <a:rPr sz="1500" b="1">
                <a:solidFill>
                  <a:srgbClr val="008A46"/>
                </a:solidFill>
                <a:latin typeface="Arial"/>
                <a:ea typeface="Arial"/>
                <a:cs typeface="Arial"/>
              </a:rPr>
              <a:t>Cohort and partition</a:t>
            </a:r>
          </a:p>
        </p:txBody>
      </p:sp>
      <p:sp>
        <p:nvSpPr>
          <p:cNvPr id="243" name="research-design-stage-1-rule">
            <a:extLst xmlns:a="http://schemas.openxmlformats.org/drawingml/2006/main">
              <a:ext uri="{FF2B5EF4-FFF2-40B4-BE49-F238E27FC236}">
                <a16:creationId xmlns:a16="http://schemas.microsoft.com/office/drawing/2014/main" id="{C2FDB291-E6D2-4CB2-A598-953D64759391}"/>
              </a:ext>
            </a:extLst>
          </p:cNvPr>
          <p:cNvSpPr>
            <a:spLocks xmlns:a="http://schemas.openxmlformats.org/drawingml/2006/main" noGrp="1"/>
          </p:cNvSpPr>
          <p:nvPr/>
        </p:nvSpPr>
        <p:spPr>
          <a:xfrm xmlns:a="http://schemas.openxmlformats.org/drawingml/2006/main">
            <a:off x="800100" y="2895600"/>
            <a:ext cx="1828800" cy="21908"/>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4" name="research-design-stage-1-body">
            <a:extLst xmlns:a="http://schemas.openxmlformats.org/drawingml/2006/main">
              <a:ext uri="{FF2B5EF4-FFF2-40B4-BE49-F238E27FC236}">
                <a16:creationId xmlns:a16="http://schemas.microsoft.com/office/drawing/2014/main" id="{52728191-2C3E-470B-BADE-364A2CB3494C}"/>
              </a:ext>
            </a:extLst>
          </p:cNvPr>
          <p:cNvSpPr>
            <a:spLocks xmlns:a="http://schemas.openxmlformats.org/drawingml/2006/main" noGrp="1"/>
          </p:cNvSpPr>
          <p:nvPr/>
        </p:nvSpPr>
        <p:spPr>
          <a:xfrm xmlns:a="http://schemas.openxmlformats.org/drawingml/2006/main">
            <a:off x="514350" y="3009900"/>
            <a:ext cx="2400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PhysioNet 2019</a:t>
            </a:r>
          </a:p>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40,336 patients</a:t>
            </a:r>
          </a:p>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Natural Hospital A/B split</a:t>
            </a:r>
          </a:p>
        </p:txBody>
      </p:sp>
      <p:sp>
        <p:nvSpPr>
          <p:cNvPr id="245" name="research-design-stage-2-node">
            <a:extLst xmlns:a="http://schemas.openxmlformats.org/drawingml/2006/main">
              <a:ext uri="{FF2B5EF4-FFF2-40B4-BE49-F238E27FC236}">
                <a16:creationId xmlns:a16="http://schemas.microsoft.com/office/drawing/2014/main" id="{54E7CD91-FB99-44F2-BCB8-D51BE536B873}"/>
              </a:ext>
            </a:extLst>
          </p:cNvPr>
          <p:cNvSpPr>
            <a:spLocks xmlns:a="http://schemas.openxmlformats.org/drawingml/2006/main" noGrp="1"/>
          </p:cNvSpPr>
          <p:nvPr/>
        </p:nvSpPr>
        <p:spPr>
          <a:xfrm xmlns:a="http://schemas.openxmlformats.org/drawingml/2006/main">
            <a:off x="4295775" y="1790700"/>
            <a:ext cx="552450" cy="552450"/>
          </a:xfrm>
          <a:prstGeom xmlns:a="http://schemas.openxmlformats.org/drawingml/2006/main" prst="ellipse">
            <a:avLst/>
          </a:prstGeom>
          <a:solidFill xmlns:a="http://schemas.openxmlformats.org/drawingml/2006/main">
            <a:srgbClr val="062B6F"/>
          </a:solidFill>
          <a:ln xmlns:a="http://schemas.openxmlformats.org/drawingml/2006/main" w="19050">
            <a:solidFill>
              <a:srgbClr val="FFFFFF"/>
            </a:solidFill>
          </a:ln>
        </p:spPr>
      </p:sp>
      <p:sp>
        <p:nvSpPr>
          <p:cNvPr id="246" name="research-design-stage-2-number">
            <a:extLst xmlns:a="http://schemas.openxmlformats.org/drawingml/2006/main">
              <a:ext uri="{FF2B5EF4-FFF2-40B4-BE49-F238E27FC236}">
                <a16:creationId xmlns:a16="http://schemas.microsoft.com/office/drawing/2014/main" id="{29555F63-70D8-4098-B8C6-F1AEB2279ACD}"/>
              </a:ext>
            </a:extLst>
          </p:cNvPr>
          <p:cNvSpPr>
            <a:spLocks xmlns:a="http://schemas.openxmlformats.org/drawingml/2006/main" noGrp="1"/>
          </p:cNvSpPr>
          <p:nvPr/>
        </p:nvSpPr>
        <p:spPr>
          <a:xfrm xmlns:a="http://schemas.openxmlformats.org/drawingml/2006/main">
            <a:off x="4295775" y="179070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247" name="research-design-stage-2-title">
            <a:extLst xmlns:a="http://schemas.openxmlformats.org/drawingml/2006/main">
              <a:ext uri="{FF2B5EF4-FFF2-40B4-BE49-F238E27FC236}">
                <a16:creationId xmlns:a16="http://schemas.microsoft.com/office/drawing/2014/main" id="{68517FD5-33DA-46BD-B8A2-E089E7E1F435}"/>
              </a:ext>
            </a:extLst>
          </p:cNvPr>
          <p:cNvSpPr>
            <a:spLocks xmlns:a="http://schemas.openxmlformats.org/drawingml/2006/main" noGrp="1"/>
          </p:cNvSpPr>
          <p:nvPr/>
        </p:nvSpPr>
        <p:spPr>
          <a:xfrm xmlns:a="http://schemas.openxmlformats.org/drawingml/2006/main">
            <a:off x="3381375" y="24955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62B6F"/>
                </a:solidFill>
                <a:latin typeface="Arial"/>
                <a:ea typeface="Arial"/>
                <a:cs typeface="Arial"/>
              </a:defRPr>
            </a:pPr>
            <a:r>
              <a:rPr sz="1500" b="1">
                <a:solidFill>
                  <a:srgbClr val="062B6F"/>
                </a:solidFill>
                <a:latin typeface="Arial"/>
                <a:ea typeface="Arial"/>
                <a:cs typeface="Arial"/>
              </a:rPr>
              <a:t>Frozen protocol</a:t>
            </a:r>
          </a:p>
        </p:txBody>
      </p:sp>
      <p:sp>
        <p:nvSpPr>
          <p:cNvPr id="248" name="research-design-stage-2-rule">
            <a:extLst xmlns:a="http://schemas.openxmlformats.org/drawingml/2006/main">
              <a:ext uri="{FF2B5EF4-FFF2-40B4-BE49-F238E27FC236}">
                <a16:creationId xmlns:a16="http://schemas.microsoft.com/office/drawing/2014/main" id="{E8D56160-11D7-4609-821F-E2317EBE4CAF}"/>
              </a:ext>
            </a:extLst>
          </p:cNvPr>
          <p:cNvSpPr>
            <a:spLocks xmlns:a="http://schemas.openxmlformats.org/drawingml/2006/main" noGrp="1"/>
          </p:cNvSpPr>
          <p:nvPr/>
        </p:nvSpPr>
        <p:spPr>
          <a:xfrm xmlns:a="http://schemas.openxmlformats.org/drawingml/2006/main">
            <a:off x="3657600" y="2895600"/>
            <a:ext cx="1828800" cy="21908"/>
          </a:xfrm>
          <a:prstGeom xmlns:a="http://schemas.openxmlformats.org/drawingml/2006/main" prst="rect">
            <a:avLst/>
          </a:prstGeom>
          <a:solidFill xmlns:a="http://schemas.openxmlformats.org/drawingml/2006/main">
            <a:srgbClr val="062B6F"/>
          </a:solidFill>
          <a:ln xmlns:a="http://schemas.openxmlformats.org/drawingml/2006/main" w="0">
            <a:noFill/>
          </a:ln>
        </p:spPr>
      </p:sp>
      <p:sp>
        <p:nvSpPr>
          <p:cNvPr id="249" name="research-design-stage-2-body">
            <a:extLst xmlns:a="http://schemas.openxmlformats.org/drawingml/2006/main">
              <a:ext uri="{FF2B5EF4-FFF2-40B4-BE49-F238E27FC236}">
                <a16:creationId xmlns:a16="http://schemas.microsoft.com/office/drawing/2014/main" id="{06276786-A442-44AE-B7AD-1C703A88AFB3}"/>
              </a:ext>
            </a:extLst>
          </p:cNvPr>
          <p:cNvSpPr>
            <a:spLocks xmlns:a="http://schemas.openxmlformats.org/drawingml/2006/main" noGrp="1"/>
          </p:cNvSpPr>
          <p:nvPr/>
        </p:nvSpPr>
        <p:spPr>
          <a:xfrm xmlns:a="http://schemas.openxmlformats.org/drawingml/2006/main">
            <a:off x="3371850" y="3009900"/>
            <a:ext cx="2400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Five paired seeds</a:t>
            </a:r>
          </a:p>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Same MLP and evaluation split</a:t>
            </a:r>
          </a:p>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Fixed privacy, CKKS and round budgets</a:t>
            </a:r>
          </a:p>
        </p:txBody>
      </p:sp>
      <p:sp>
        <p:nvSpPr>
          <p:cNvPr id="250" name="research-design-stage-3-node">
            <a:extLst xmlns:a="http://schemas.openxmlformats.org/drawingml/2006/main">
              <a:ext uri="{FF2B5EF4-FFF2-40B4-BE49-F238E27FC236}">
                <a16:creationId xmlns:a16="http://schemas.microsoft.com/office/drawing/2014/main" id="{CB25280C-A8F8-4933-B21F-A02B8FE2D780}"/>
              </a:ext>
            </a:extLst>
          </p:cNvPr>
          <p:cNvSpPr>
            <a:spLocks xmlns:a="http://schemas.openxmlformats.org/drawingml/2006/main" noGrp="1"/>
          </p:cNvSpPr>
          <p:nvPr/>
        </p:nvSpPr>
        <p:spPr>
          <a:xfrm xmlns:a="http://schemas.openxmlformats.org/drawingml/2006/main">
            <a:off x="7153275" y="1790700"/>
            <a:ext cx="552450" cy="552450"/>
          </a:xfrm>
          <a:prstGeom xmlns:a="http://schemas.openxmlformats.org/drawingml/2006/main" prst="ellipse">
            <a:avLst/>
          </a:prstGeom>
          <a:solidFill xmlns:a="http://schemas.openxmlformats.org/drawingml/2006/main">
            <a:srgbClr val="00A6A6"/>
          </a:solidFill>
          <a:ln xmlns:a="http://schemas.openxmlformats.org/drawingml/2006/main" w="19050">
            <a:solidFill>
              <a:srgbClr val="FFFFFF"/>
            </a:solidFill>
          </a:ln>
        </p:spPr>
      </p:sp>
      <p:sp>
        <p:nvSpPr>
          <p:cNvPr id="251" name="research-design-stage-3-number">
            <a:extLst xmlns:a="http://schemas.openxmlformats.org/drawingml/2006/main">
              <a:ext uri="{FF2B5EF4-FFF2-40B4-BE49-F238E27FC236}">
                <a16:creationId xmlns:a16="http://schemas.microsoft.com/office/drawing/2014/main" id="{513DAEFE-485B-4BB5-BA13-CC93962411A3}"/>
              </a:ext>
            </a:extLst>
          </p:cNvPr>
          <p:cNvSpPr>
            <a:spLocks xmlns:a="http://schemas.openxmlformats.org/drawingml/2006/main" noGrp="1"/>
          </p:cNvSpPr>
          <p:nvPr/>
        </p:nvSpPr>
        <p:spPr>
          <a:xfrm xmlns:a="http://schemas.openxmlformats.org/drawingml/2006/main">
            <a:off x="7153275" y="179070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252" name="research-design-stage-3-title">
            <a:extLst xmlns:a="http://schemas.openxmlformats.org/drawingml/2006/main">
              <a:ext uri="{FF2B5EF4-FFF2-40B4-BE49-F238E27FC236}">
                <a16:creationId xmlns:a16="http://schemas.microsoft.com/office/drawing/2014/main" id="{97F1778E-80B0-4AE5-A754-A42BB335E12E}"/>
              </a:ext>
            </a:extLst>
          </p:cNvPr>
          <p:cNvSpPr>
            <a:spLocks xmlns:a="http://schemas.openxmlformats.org/drawingml/2006/main" noGrp="1"/>
          </p:cNvSpPr>
          <p:nvPr/>
        </p:nvSpPr>
        <p:spPr>
          <a:xfrm xmlns:a="http://schemas.openxmlformats.org/drawingml/2006/main">
            <a:off x="6238875" y="24955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0A6A6"/>
                </a:solidFill>
                <a:latin typeface="Arial"/>
                <a:ea typeface="Arial"/>
                <a:cs typeface="Arial"/>
              </a:defRPr>
            </a:pPr>
            <a:r>
              <a:rPr sz="1500" b="1">
                <a:solidFill>
                  <a:srgbClr val="00A6A6"/>
                </a:solidFill>
                <a:latin typeface="Arial"/>
                <a:ea typeface="Arial"/>
                <a:cs typeface="Arial"/>
              </a:rPr>
              <a:t>Comparative evaluation</a:t>
            </a:r>
          </a:p>
        </p:txBody>
      </p:sp>
      <p:sp>
        <p:nvSpPr>
          <p:cNvPr id="253" name="research-design-stage-3-rule">
            <a:extLst xmlns:a="http://schemas.openxmlformats.org/drawingml/2006/main">
              <a:ext uri="{FF2B5EF4-FFF2-40B4-BE49-F238E27FC236}">
                <a16:creationId xmlns:a16="http://schemas.microsoft.com/office/drawing/2014/main" id="{77849AD0-D346-446B-8621-121C5BC17E39}"/>
              </a:ext>
            </a:extLst>
          </p:cNvPr>
          <p:cNvSpPr>
            <a:spLocks xmlns:a="http://schemas.openxmlformats.org/drawingml/2006/main" noGrp="1"/>
          </p:cNvSpPr>
          <p:nvPr/>
        </p:nvSpPr>
        <p:spPr>
          <a:xfrm xmlns:a="http://schemas.openxmlformats.org/drawingml/2006/main">
            <a:off x="6515100" y="2895600"/>
            <a:ext cx="1828800" cy="21908"/>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254" name="research-design-stage-3-body">
            <a:extLst xmlns:a="http://schemas.openxmlformats.org/drawingml/2006/main">
              <a:ext uri="{FF2B5EF4-FFF2-40B4-BE49-F238E27FC236}">
                <a16:creationId xmlns:a16="http://schemas.microsoft.com/office/drawing/2014/main" id="{E3923C93-B092-45F6-A47A-886747574720}"/>
              </a:ext>
            </a:extLst>
          </p:cNvPr>
          <p:cNvSpPr>
            <a:spLocks xmlns:a="http://schemas.openxmlformats.org/drawingml/2006/main" noGrp="1"/>
          </p:cNvSpPr>
          <p:nvPr/>
        </p:nvSpPr>
        <p:spPr>
          <a:xfrm xmlns:a="http://schemas.openxmlformats.org/drawingml/2006/main">
            <a:off x="6229350" y="3009900"/>
            <a:ext cx="2400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CAABC-FL and four baselines</a:t>
            </a:r>
          </a:p>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Benign and registered attacks</a:t>
            </a:r>
          </a:p>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Utility, privacy, robustness and system cost</a:t>
            </a:r>
          </a:p>
        </p:txBody>
      </p:sp>
      <p:sp>
        <p:nvSpPr>
          <p:cNvPr id="255" name="research-design-stage-4-node">
            <a:extLst xmlns:a="http://schemas.openxmlformats.org/drawingml/2006/main">
              <a:ext uri="{FF2B5EF4-FFF2-40B4-BE49-F238E27FC236}">
                <a16:creationId xmlns:a16="http://schemas.microsoft.com/office/drawing/2014/main" id="{7CF92633-2C89-4277-BF15-34186ABE99E0}"/>
              </a:ext>
            </a:extLst>
          </p:cNvPr>
          <p:cNvSpPr>
            <a:spLocks xmlns:a="http://schemas.openxmlformats.org/drawingml/2006/main" noGrp="1"/>
          </p:cNvSpPr>
          <p:nvPr/>
        </p:nvSpPr>
        <p:spPr>
          <a:xfrm xmlns:a="http://schemas.openxmlformats.org/drawingml/2006/main">
            <a:off x="10010775" y="1790700"/>
            <a:ext cx="552450" cy="552450"/>
          </a:xfrm>
          <a:prstGeom xmlns:a="http://schemas.openxmlformats.org/drawingml/2006/main" prst="ellipse">
            <a:avLst/>
          </a:prstGeom>
          <a:solidFill xmlns:a="http://schemas.openxmlformats.org/drawingml/2006/main">
            <a:srgbClr val="062B6F"/>
          </a:solidFill>
          <a:ln xmlns:a="http://schemas.openxmlformats.org/drawingml/2006/main" w="19050">
            <a:solidFill>
              <a:srgbClr val="FFFFFF"/>
            </a:solidFill>
          </a:ln>
        </p:spPr>
      </p:sp>
      <p:sp>
        <p:nvSpPr>
          <p:cNvPr id="256" name="research-design-stage-4-number">
            <a:extLst xmlns:a="http://schemas.openxmlformats.org/drawingml/2006/main">
              <a:ext uri="{FF2B5EF4-FFF2-40B4-BE49-F238E27FC236}">
                <a16:creationId xmlns:a16="http://schemas.microsoft.com/office/drawing/2014/main" id="{26F14A92-1CB0-4480-96E6-93B49E4D1125}"/>
              </a:ext>
            </a:extLst>
          </p:cNvPr>
          <p:cNvSpPr>
            <a:spLocks xmlns:a="http://schemas.openxmlformats.org/drawingml/2006/main" noGrp="1"/>
          </p:cNvSpPr>
          <p:nvPr/>
        </p:nvSpPr>
        <p:spPr>
          <a:xfrm xmlns:a="http://schemas.openxmlformats.org/drawingml/2006/main">
            <a:off x="10010775" y="179070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257" name="research-design-stage-4-title">
            <a:extLst xmlns:a="http://schemas.openxmlformats.org/drawingml/2006/main">
              <a:ext uri="{FF2B5EF4-FFF2-40B4-BE49-F238E27FC236}">
                <a16:creationId xmlns:a16="http://schemas.microsoft.com/office/drawing/2014/main" id="{8512B620-4B93-4822-8312-C7F5BB50CD82}"/>
              </a:ext>
            </a:extLst>
          </p:cNvPr>
          <p:cNvSpPr>
            <a:spLocks xmlns:a="http://schemas.openxmlformats.org/drawingml/2006/main" noGrp="1"/>
          </p:cNvSpPr>
          <p:nvPr/>
        </p:nvSpPr>
        <p:spPr>
          <a:xfrm xmlns:a="http://schemas.openxmlformats.org/drawingml/2006/main">
            <a:off x="9096375" y="24955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62B6F"/>
                </a:solidFill>
                <a:latin typeface="Arial"/>
                <a:ea typeface="Arial"/>
                <a:cs typeface="Arial"/>
              </a:defRPr>
            </a:pPr>
            <a:r>
              <a:rPr sz="1500" b="1">
                <a:solidFill>
                  <a:srgbClr val="062B6F"/>
                </a:solidFill>
                <a:latin typeface="Arial"/>
                <a:ea typeface="Arial"/>
                <a:cs typeface="Arial"/>
              </a:rPr>
              <a:t>Statistical inference</a:t>
            </a:r>
          </a:p>
        </p:txBody>
      </p:sp>
      <p:sp>
        <p:nvSpPr>
          <p:cNvPr id="258" name="research-design-stage-4-rule">
            <a:extLst xmlns:a="http://schemas.openxmlformats.org/drawingml/2006/main">
              <a:ext uri="{FF2B5EF4-FFF2-40B4-BE49-F238E27FC236}">
                <a16:creationId xmlns:a16="http://schemas.microsoft.com/office/drawing/2014/main" id="{EAA76674-325B-4106-B5F0-0F4481C74248}"/>
              </a:ext>
            </a:extLst>
          </p:cNvPr>
          <p:cNvSpPr>
            <a:spLocks xmlns:a="http://schemas.openxmlformats.org/drawingml/2006/main" noGrp="1"/>
          </p:cNvSpPr>
          <p:nvPr/>
        </p:nvSpPr>
        <p:spPr>
          <a:xfrm xmlns:a="http://schemas.openxmlformats.org/drawingml/2006/main">
            <a:off x="9372600" y="2895600"/>
            <a:ext cx="1828800" cy="21908"/>
          </a:xfrm>
          <a:prstGeom xmlns:a="http://schemas.openxmlformats.org/drawingml/2006/main" prst="rect">
            <a:avLst/>
          </a:prstGeom>
          <a:solidFill xmlns:a="http://schemas.openxmlformats.org/drawingml/2006/main">
            <a:srgbClr val="062B6F"/>
          </a:solidFill>
          <a:ln xmlns:a="http://schemas.openxmlformats.org/drawingml/2006/main" w="0">
            <a:noFill/>
          </a:ln>
        </p:spPr>
      </p:sp>
      <p:sp>
        <p:nvSpPr>
          <p:cNvPr id="259" name="research-design-stage-4-body">
            <a:extLst xmlns:a="http://schemas.openxmlformats.org/drawingml/2006/main">
              <a:ext uri="{FF2B5EF4-FFF2-40B4-BE49-F238E27FC236}">
                <a16:creationId xmlns:a16="http://schemas.microsoft.com/office/drawing/2014/main" id="{474E4311-D91F-4D95-99CF-F579A08EA0CE}"/>
              </a:ext>
            </a:extLst>
          </p:cNvPr>
          <p:cNvSpPr>
            <a:spLocks xmlns:a="http://schemas.openxmlformats.org/drawingml/2006/main" noGrp="1"/>
          </p:cNvSpPr>
          <p:nvPr/>
        </p:nvSpPr>
        <p:spPr>
          <a:xfrm xmlns:a="http://schemas.openxmlformats.org/drawingml/2006/main">
            <a:off x="9086850" y="3009900"/>
            <a:ext cx="2400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34"/>
          </a:bodyPr>
          <a:lstStyle xmlns:a="http://schemas.openxmlformats.org/drawingml/2006/main"/>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Paired confidence intervals and tests</a:t>
            </a:r>
          </a:p>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Multiplicity-aware interpretation</a:t>
            </a:r>
          </a:p>
          <a:p xmlns:a="http://schemas.openxmlformats.org/drawingml/2006/main">
            <a:pPr algn="ctr">
              <a:defRPr sz="1238">
                <a:solidFill>
                  <a:srgbClr val="263244"/>
                </a:solidFill>
                <a:latin typeface="Arial"/>
                <a:ea typeface="Arial"/>
                <a:cs typeface="Arial"/>
              </a:defRPr>
            </a:pPr>
            <a:r>
              <a:rPr sz="1238">
                <a:solidFill>
                  <a:srgbClr val="263244"/>
                </a:solidFill>
                <a:latin typeface="Arial"/>
                <a:ea typeface="Arial"/>
                <a:cs typeface="Arial"/>
              </a:rPr>
              <a:t>Claims bounded to the evaluated protocol</a:t>
            </a:r>
          </a:p>
        </p:txBody>
      </p:sp>
      <p:sp>
        <p:nvSpPr>
          <p:cNvPr id="260" name="research-design-control-band">
            <a:extLst xmlns:a="http://schemas.openxmlformats.org/drawingml/2006/main">
              <a:ext uri="{FF2B5EF4-FFF2-40B4-BE49-F238E27FC236}">
                <a16:creationId xmlns:a16="http://schemas.microsoft.com/office/drawing/2014/main" id="{D3D386B3-6D68-4212-A493-5F43530804E6}"/>
              </a:ext>
            </a:extLst>
          </p:cNvPr>
          <p:cNvSpPr>
            <a:spLocks xmlns:a="http://schemas.openxmlformats.org/drawingml/2006/main" noGrp="1"/>
          </p:cNvSpPr>
          <p:nvPr/>
        </p:nvSpPr>
        <p:spPr>
          <a:xfrm xmlns:a="http://schemas.openxmlformats.org/drawingml/2006/main">
            <a:off x="1095375" y="4476750"/>
            <a:ext cx="10001250" cy="1000125"/>
          </a:xfrm>
          <a:prstGeom xmlns:a="http://schemas.openxmlformats.org/drawingml/2006/main" prst="roundRect">
            <a:avLst>
              <a:gd name="adj" fmla="val 7619"/>
            </a:avLst>
          </a:prstGeom>
          <a:solidFill xmlns:a="http://schemas.openxmlformats.org/drawingml/2006/main">
            <a:srgbClr val="F2F8FB"/>
          </a:solidFill>
          <a:ln xmlns:a="http://schemas.openxmlformats.org/drawingml/2006/main" w="11430">
            <a:solidFill>
              <a:srgbClr val="A8C8D8"/>
            </a:solidFill>
          </a:ln>
        </p:spPr>
      </p:sp>
      <p:sp>
        <p:nvSpPr>
          <p:cNvPr id="261" name="research-design-control-label">
            <a:extLst xmlns:a="http://schemas.openxmlformats.org/drawingml/2006/main">
              <a:ext uri="{FF2B5EF4-FFF2-40B4-BE49-F238E27FC236}">
                <a16:creationId xmlns:a16="http://schemas.microsoft.com/office/drawing/2014/main" id="{33233235-EA68-452E-A84E-C274BE00B93F}"/>
              </a:ext>
            </a:extLst>
          </p:cNvPr>
          <p:cNvSpPr>
            <a:spLocks xmlns:a="http://schemas.openxmlformats.org/drawingml/2006/main" noGrp="1"/>
          </p:cNvSpPr>
          <p:nvPr/>
        </p:nvSpPr>
        <p:spPr>
          <a:xfrm xmlns:a="http://schemas.openxmlformats.org/drawingml/2006/main">
            <a:off x="1381125" y="45720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88" b="1">
                <a:solidFill>
                  <a:srgbClr val="008A46"/>
                </a:solidFill>
                <a:latin typeface="Arial"/>
                <a:ea typeface="Arial"/>
                <a:cs typeface="Arial"/>
              </a:defRPr>
            </a:pPr>
            <a:r>
              <a:rPr sz="1088" b="1">
                <a:solidFill>
                  <a:srgbClr val="008A46"/>
                </a:solidFill>
                <a:latin typeface="Arial"/>
                <a:ea typeface="Arial"/>
                <a:cs typeface="Arial"/>
              </a:rPr>
              <a:t>CONTROL PRINCIPLE</a:t>
            </a:r>
          </a:p>
        </p:txBody>
      </p:sp>
      <p:sp>
        <p:nvSpPr>
          <p:cNvPr id="262" name="research-design-control-text">
            <a:extLst xmlns:a="http://schemas.openxmlformats.org/drawingml/2006/main">
              <a:ext uri="{FF2B5EF4-FFF2-40B4-BE49-F238E27FC236}">
                <a16:creationId xmlns:a16="http://schemas.microsoft.com/office/drawing/2014/main" id="{1F9A4859-AB5D-48A3-8BF4-60BD7FED3FEB}"/>
              </a:ext>
            </a:extLst>
          </p:cNvPr>
          <p:cNvSpPr>
            <a:spLocks xmlns:a="http://schemas.openxmlformats.org/drawingml/2006/main" noGrp="1"/>
          </p:cNvSpPr>
          <p:nvPr/>
        </p:nvSpPr>
        <p:spPr>
          <a:xfrm xmlns:a="http://schemas.openxmlformats.org/drawingml/2006/main">
            <a:off x="1381125" y="4876800"/>
            <a:ext cx="942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259"/>
          </a:bodyPr>
          <a:lstStyle xmlns:a="http://schemas.openxmlformats.org/drawingml/2006/main"/>
          <a:p xmlns:a="http://schemas.openxmlformats.org/drawingml/2006/main">
            <a:pPr algn="l">
              <a:defRPr sz="1350">
                <a:solidFill>
                  <a:srgbClr val="062B6F"/>
                </a:solidFill>
                <a:latin typeface="Arial"/>
                <a:ea typeface="Arial"/>
                <a:cs typeface="Arial"/>
              </a:defRPr>
            </a:pPr>
            <a:r>
              <a:rPr sz="1350">
                <a:solidFill>
                  <a:srgbClr val="062B6F"/>
                </a:solidFill>
                <a:latin typeface="Arial"/>
                <a:ea typeface="Arial"/>
                <a:cs typeface="Arial"/>
              </a:rPr>
              <a:t>Only the learning and aggregation method changes. The dataset, hospital split, MLP, privacy budget, CKKS parameters and round budget remain fixed.</a:t>
            </a:r>
          </a:p>
        </p:txBody>
      </p:sp>
    </p:spTree>
    <p:extLst>
      <p:ext uri="{BB962C8B-B14F-4D97-AF65-F5344CB8AC3E}">
        <p14:creationId xmlns:p14="http://schemas.microsoft.com/office/powerpoint/2010/main" val="225174890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23</a:t>
            </a:r>
            <a:endParaRPr sz="2800"/>
          </a:p>
        </p:txBody>
      </p:sp>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5f31ee2147a496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2336799"/>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3289299"/>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0" name="Picture 1"/>
          <p:cNvPicPr>
            <a:picLocks xmlns:a="http://schemas.openxmlformats.org/drawingml/2006/main" noChangeAspect="1"/>
          </p:cNvPicPr>
          <p:nvPr/>
        </p:nvPicPr>
        <p:blipFill>
          <a:blip xmlns:r="http://schemas.openxmlformats.org/officeDocument/2006/relationships" xmlns:a="http://schemas.openxmlformats.org/drawingml/2006/main" r:embed="Ra598c14fbfd949f3"/>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24419817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24</a:t>
            </a:r>
            <a:endParaRPr sz="2800"/>
          </a:p>
        </p:txBody>
      </p:sp>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364de3a622b418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4" name="Picture 1"/>
          <p:cNvPicPr>
            <a:picLocks xmlns:a="http://schemas.openxmlformats.org/drawingml/2006/main" noChangeAspect="1"/>
          </p:cNvPicPr>
          <p:nvPr/>
        </p:nvPicPr>
        <p:blipFill>
          <a:blip xmlns:r="http://schemas.openxmlformats.org/officeDocument/2006/relationships" xmlns:a="http://schemas.openxmlformats.org/drawingml/2006/main" r:embed="Rfd5f7a7650b34651"/>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Experimental Setup</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25</a:t>
            </a:r>
            <a:endParaRPr sz="2800"/>
          </a:p>
        </p:txBody>
      </p:sp>
      <p:pic>
        <p:nvPicPr>
          <p:cNvPr id="24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51bdebb3a7f4c0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experimental-setup-cover">
            <a:extLst xmlns:a="http://schemas.openxmlformats.org/drawingml/2006/main">
              <a:ext uri="{FF2B5EF4-FFF2-40B4-BE49-F238E27FC236}">
                <a16:creationId xmlns:a16="http://schemas.microsoft.com/office/drawing/2014/main" id="{CDA198E3-4036-4AD7-AEDE-3C363622FD0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experimental-setup-caption">
            <a:extLst xmlns:a="http://schemas.openxmlformats.org/drawingml/2006/main">
              <a:ext uri="{FF2B5EF4-FFF2-40B4-BE49-F238E27FC236}">
                <a16:creationId xmlns:a16="http://schemas.microsoft.com/office/drawing/2014/main" id="{E21722B4-E8C1-4EF1-B8D4-E369BFA02AAB}"/>
              </a:ext>
            </a:extLst>
          </p:cNvPr>
          <p:cNvSpPr>
            <a:spLocks xmlns:a="http://schemas.openxmlformats.org/drawingml/2006/main" noGrp="1"/>
          </p:cNvSpPr>
          <p:nvPr/>
        </p:nvSpPr>
        <p:spPr>
          <a:xfrm xmlns:a="http://schemas.openxmlformats.org/drawingml/2006/main">
            <a:off x="1047750" y="112395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Frozen protocol used for paired utility, privacy, robustness, and systems evaluation</a:t>
            </a:r>
          </a:p>
        </p:txBody>
      </p:sp>
      <p:graphicFrame>
        <p:nvGraphicFramePr>
          <p:cNvPr id="264" name="Table 262"/>
          <p:cNvGraphicFramePr/>
          <p:nvPr/>
        </p:nvGraphicFramePr>
        <p:xfrm>
          <a:off xmlns:a="http://schemas.openxmlformats.org/drawingml/2006/main" x="952500" y="1524000"/>
          <a:ext xmlns:a="http://schemas.openxmlformats.org/drawingml/2006/main" cx="10287000" cy="4095749"/>
        </p:xfrm>
        <a:graphic xmlns:a="http://schemas.openxmlformats.org/drawingml/2006/main">
          <a:graphicData uri="http://schemas.openxmlformats.org/drawingml/2006/table">
            <a:tbl>
              <a:tblPr firstRow="1" bandRow="1"/>
              <a:tblGrid>
                <a:gridCol w="2333625"/>
                <a:gridCol w="7953375"/>
              </a:tblGrid>
              <a:tr h="585107">
                <a:tc>
                  <a:txBody>
                    <a:bodyPr/>
                    <a:lstStyle/>
                    <a:p>
                      <a:r>
                        <a:rPr sz="1275" b="1">
                          <a:solidFill>
                            <a:srgbClr val="FFFFFF"/>
                          </a:solidFill>
                          <a:latin typeface="Arial"/>
                          <a:ea typeface="Arial"/>
                          <a:cs typeface="Arial"/>
                        </a:rPr>
                        <a:t>Component</a:t>
                      </a:r>
                    </a:p>
                  </a:txBody>
                  <a:tcPr marL="76200" marR="76200" marT="47625" marB="47625" anchor="ctr">
                    <a:solidFill>
                      <a:srgbClr val="17365D"/>
                    </a:solidFill>
                  </a:tcPr>
                </a:tc>
                <a:tc>
                  <a:txBody>
                    <a:bodyPr/>
                    <a:lstStyle/>
                    <a:p>
                      <a:r>
                        <a:rPr sz="1275" b="1">
                          <a:solidFill>
                            <a:srgbClr val="FFFFFF"/>
                          </a:solidFill>
                          <a:latin typeface="Arial"/>
                          <a:ea typeface="Arial"/>
                          <a:cs typeface="Arial"/>
                        </a:rPr>
                        <a:t>Registered configuration</a:t>
                      </a:r>
                    </a:p>
                  </a:txBody>
                  <a:tcPr marL="76200" marR="76200" marT="47625" marB="47625" anchor="ctr">
                    <a:solidFill>
                      <a:srgbClr val="17365D"/>
                    </a:solidFill>
                  </a:tcPr>
                </a:tc>
              </a:tr>
              <a:tr h="585107">
                <a:tc>
                  <a:txBody>
                    <a:bodyPr/>
                    <a:lstStyle/>
                    <a:p>
                      <a:r>
                        <a:rPr sz="1185" b="1">
                          <a:solidFill>
                            <a:srgbClr val="008A46"/>
                          </a:solidFill>
                          <a:latin typeface="Arial"/>
                          <a:ea typeface="Arial"/>
                          <a:cs typeface="Arial"/>
                        </a:rPr>
                        <a:t>Dataset and split</a:t>
                      </a:r>
                    </a:p>
                  </a:txBody>
                  <a:tcPr marL="76200" marR="76200" marT="47625" marB="47625" anchor="ctr">
                    <a:solidFill>
                      <a:srgbClr val="EAF4F0"/>
                    </a:solidFill>
                  </a:tcPr>
                </a:tc>
                <a:tc>
                  <a:txBody>
                    <a:bodyPr/>
                    <a:lstStyle/>
                    <a:p>
                      <a:r>
                        <a:rPr sz="1185">
                          <a:solidFill>
                            <a:srgbClr val="263244"/>
                          </a:solidFill>
                          <a:latin typeface="Arial"/>
                          <a:ea typeface="Arial"/>
                          <a:cs typeface="Arial"/>
                        </a:rPr>
                        <a:t>PhysioNet/</a:t>
                      </a:r>
                      <a:r>
                        <a:rPr sz="1185">
                          <a:solidFill>
                            <a:srgbClr val="263244"/>
                          </a:solidFill>
                          <a:latin typeface="Arial"/>
                          <a:ea typeface="Arial"/>
                          <a:cs typeface="Arial"/>
                        </a:rPr>
                        <a:t>CinC</a:t>
                      </a:r>
                      <a:r>
                        <a:rPr sz="1185">
                          <a:solidFill>
                            <a:srgbClr val="263244"/>
                          </a:solidFill>
                          <a:latin typeface="Arial"/>
                          <a:ea typeface="Arial"/>
                          <a:cs typeface="Arial"/>
                        </a:rPr>
                        <a:t> 2019 sepsis cohort: 40,336 patients from 2 natural hospitals; stratified 70/15/15 train, validation, and locked test partitions.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Model and training</a:t>
                      </a:r>
                    </a:p>
                  </a:txBody>
                  <a:tcPr marL="76200" marR="76200" marT="47625" marB="47625" anchor="ctr">
                    <a:solidFill>
                      <a:srgbClr val="EAF4F0"/>
                    </a:solidFill>
                  </a:tcPr>
                </a:tc>
                <a:tc>
                  <a:txBody>
                    <a:bodyPr/>
                    <a:lstStyle/>
                    <a:p>
                      <a:r>
                        <a:rPr sz="1185">
                          <a:solidFill>
                            <a:srgbClr val="263244"/>
                          </a:solidFill>
                          <a:latin typeface="Arial"/>
                          <a:ea typeface="Arial"/>
                          <a:cs typeface="Arial"/>
                        </a:rPr>
                        <a:t>280–64–1 multilayer perceptron with 18,049 parameters; 20 federated rounds, one local epoch, batch size 128, and learning rate 0.03.</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Privacy and encryption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Patient clipping C = 1.0, Gaussian noise multiplier σ = 1.2, δ = 10⁻⁵, and RDP accounting; </a:t>
                      </a:r>
                      <a:r>
                        <a:rPr sz="1185">
                          <a:solidFill>
                            <a:srgbClr val="263244"/>
                          </a:solidFill>
                          <a:latin typeface="Arial"/>
                          <a:ea typeface="Arial"/>
                          <a:cs typeface="Arial"/>
                        </a:rPr>
                        <a:t>TenSEAL</a:t>
                      </a:r>
                      <a:r>
                        <a:rPr sz="1185">
                          <a:solidFill>
                            <a:srgbClr val="263244"/>
                          </a:solidFill>
                          <a:latin typeface="Arial"/>
                          <a:ea typeface="Arial"/>
                          <a:cs typeface="Arial"/>
                        </a:rPr>
                        <a:t> CKKS with N = 8192 and scale 2⁴⁰.</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CAABC-FL configuration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256-coordinate blocks, </a:t>
                      </a:r>
                      <a:r>
                        <a:rPr sz="1185">
                          <a:solidFill>
                            <a:srgbClr val="263244"/>
                          </a:solidFill>
                          <a:latin typeface="Arial"/>
                          <a:ea typeface="Arial"/>
                          <a:cs typeface="Arial"/>
                        </a:rPr>
                        <a:t>2</a:t>
                      </a:r>
                      <a:r>
                        <a:rPr sz="1185">
                          <a:solidFill>
                            <a:srgbClr val="263244"/>
                          </a:solidFill>
                          <a:latin typeface="Arial"/>
                          <a:ea typeface="Arial"/>
                          <a:cs typeface="Arial"/>
                        </a:rPr>
                        <a:t> encrypted update chunks, support refresh every 5 rounds, and error feedback for discarded coordinates.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Security evaluation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LiRA and RMIA with 8 reference models per seed; 300-step gradient reconstruction; 20 virtual clients, 7 poisoning attacks, and 10–40% malicious participation.</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Replication and analysis</a:t>
                      </a:r>
                    </a:p>
                  </a:txBody>
                  <a:tcPr marL="76200" marR="76200" marT="47625" marB="47625" anchor="ctr">
                    <a:solidFill>
                      <a:srgbClr val="EAF4F0"/>
                    </a:solidFill>
                  </a:tcPr>
                </a:tc>
                <a:tc>
                  <a:txBody>
                    <a:bodyPr/>
                    <a:lstStyle/>
                    <a:p>
                      <a:r>
                        <a:rPr sz="1185">
                          <a:solidFill>
                            <a:srgbClr val="263244"/>
                          </a:solidFill>
                          <a:latin typeface="Arial"/>
                          <a:ea typeface="Arial"/>
                          <a:cs typeface="Arial"/>
                        </a:rPr>
                        <a:t>10 paired seeds for the core protected comparison and 5 for secondary security comparisons; paired 95% t intervals with Holm correction.</a:t>
                      </a:r>
                    </a:p>
                  </a:txBody>
                  <a:tcPr marL="76200" marR="76200" marT="47625" marB="47625" anchor="ctr">
                    <a:solidFill>
                      <a:srgbClr val="FFFFFF"/>
                    </a:solidFill>
                  </a:tcPr>
                </a:tc>
              </a:tr>
            </a:tbl>
          </a:graphicData>
        </a:graphic>
      </p:graphicFrame>
      <p:sp>
        <p:nvSpPr>
          <p:cNvPr id="240" name="experimental-setup-lock-note">
            <a:extLst xmlns:a="http://schemas.openxmlformats.org/drawingml/2006/main">
              <a:ext uri="{FF2B5EF4-FFF2-40B4-BE49-F238E27FC236}">
                <a16:creationId xmlns:a16="http://schemas.microsoft.com/office/drawing/2014/main" id="{7651E294-469B-451F-A65D-A63696400F1E}"/>
              </a:ext>
            </a:extLst>
          </p:cNvPr>
          <p:cNvSpPr>
            <a:spLocks xmlns:a="http://schemas.openxmlformats.org/drawingml/2006/main" noGrp="1"/>
          </p:cNvSpPr>
          <p:nvPr/>
        </p:nvSpPr>
        <p:spPr>
          <a:xfrm xmlns:a="http://schemas.openxmlformats.org/drawingml/2006/main">
            <a:off x="1095375" y="5715000"/>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008A46"/>
                </a:solidFill>
                <a:latin typeface="Arial"/>
                <a:ea typeface="Arial"/>
                <a:cs typeface="Arial"/>
              </a:defRPr>
            </a:pPr>
            <a:r>
              <a:rPr sz="1163" i="1">
                <a:solidFill>
                  <a:srgbClr val="008A46"/>
                </a:solidFill>
                <a:latin typeface="Arial"/>
                <a:ea typeface="Arial"/>
                <a:cs typeface="Arial"/>
              </a:rPr>
              <a:t>The protocol, decision rules, and operating thresholds were frozen before confirmatory test access.</a:t>
            </a:r>
          </a:p>
        </p:txBody>
      </p:sp>
      <p:pic>
        <p:nvPicPr>
          <p:cNvPr id="266" name="Picture 265"/>
          <p:cNvPicPr>
            <a:picLocks xmlns:a="http://schemas.openxmlformats.org/drawingml/2006/main" noChangeAspect="1"/>
          </p:cNvPicPr>
          <p:nvPr/>
        </p:nvPicPr>
        <p:blipFill>
          <a:blip xmlns:r="http://schemas.openxmlformats.org/officeDocument/2006/relationships" xmlns:a="http://schemas.openxmlformats.org/drawingml/2006/main" r:embed="Rc51bdebb3a7f4c0c"/>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pic>
        <p:nvPicPr>
          <p:cNvPr id="267" name="Picture 1"/>
          <p:cNvPicPr>
            <a:picLocks xmlns:a="http://schemas.openxmlformats.org/drawingml/2006/main" noChangeAspect="1"/>
          </p:cNvPicPr>
          <p:nvPr/>
        </p:nvPicPr>
        <p:blipFill>
          <a:blip xmlns:r="http://schemas.openxmlformats.org/officeDocument/2006/relationships" xmlns:a="http://schemas.openxmlformats.org/drawingml/2006/main" r:embed="Rb0a90fcf9734456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26</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f6a78770b0549a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7"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9" name="Picture 1"/>
          <p:cNvPicPr>
            <a:picLocks xmlns:a="http://schemas.openxmlformats.org/drawingml/2006/main" noChangeAspect="1"/>
          </p:cNvPicPr>
          <p:nvPr/>
        </p:nvPicPr>
        <p:blipFill>
          <a:blip xmlns:r="http://schemas.openxmlformats.org/officeDocument/2006/relationships" xmlns:a="http://schemas.openxmlformats.org/drawingml/2006/main" r:embed="R1c2a39ba8d7e494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724"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000508d179f04f3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725"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f40d684599f94741">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727"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f5ff29512c1142fd">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728"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27</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732" name="Picture 3"/>
          <p:cNvPicPr>
            <a:picLocks xmlns:a="http://schemas.openxmlformats.org/drawingml/2006/main" noChangeAspect="1"/>
          </p:cNvPicPr>
          <p:nvPr/>
        </p:nvPicPr>
        <p:blipFill>
          <a:blip xmlns:r="http://schemas.openxmlformats.org/officeDocument/2006/relationships" xmlns:a="http://schemas.openxmlformats.org/drawingml/2006/main" r:embed="R997e3eef31dc4292"/>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51185477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28</a:t>
            </a:r>
            <a:endParaRPr sz="2800"/>
          </a:p>
        </p:txBody>
      </p:sp>
      <p:pic>
        <p:nvPicPr>
          <p:cNvPr id="24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1af7a535ad54eb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571625"/>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700" b="1" i="0">
                <a:solidFill>
                  <a:srgbClr val="123968"/>
                </a:solidFill>
                <a:latin typeface="Arial"/>
                <a:ea typeface="Arial"/>
                <a:cs typeface="Arial"/>
              </a:defRPr>
            </a:pPr>
            <a:r>
              <a:rPr sz="2700" b="1" i="0">
                <a:solidFill>
                  <a:srgbClr val="123968"/>
                </a:solidFill>
                <a:latin typeface="Arial"/>
                <a:ea typeface="Arial"/>
                <a:cs typeface="Arial"/>
              </a:rPr>
              <a:t>0.5035</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1431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13" b="1" i="0">
                <a:solidFill>
                  <a:srgbClr val="123968"/>
                </a:solidFill>
                <a:latin typeface="Arial"/>
                <a:ea typeface="Arial"/>
                <a:cs typeface="Arial"/>
              </a:defRPr>
            </a:pPr>
            <a:r>
              <a:rPr sz="1313" b="1" i="0">
                <a:solidFill>
                  <a:srgbClr val="123968"/>
                </a:solidFill>
                <a:latin typeface="Arial"/>
                <a:ea typeface="Arial"/>
                <a:cs typeface="Arial"/>
              </a:rPr>
              <a:t>Membership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lnSpcReduction="10000"/>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a:t>
            </a:r>
            <a:r>
              <a:rPr sz="1725">
                <a:solidFill>
                  <a:srgbClr val="1F2937"/>
                </a:solidFill>
                <a:latin typeface="Arial"/>
                <a:ea typeface="Arial"/>
                <a:cs typeface="Arial"/>
              </a:rPr>
              <a:t>FedAvg</a:t>
            </a:r>
            <a:r>
              <a:rPr sz="1725">
                <a:solidFill>
                  <a:srgbClr val="1F2937"/>
                </a:solidFill>
                <a:latin typeface="Arial"/>
                <a:ea typeface="Arial"/>
                <a:cs typeface="Arial"/>
              </a:rPr>
              <a:t>-CKKS.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a:t>
            </a:r>
            <a:r>
              <a:rPr sz="1725">
                <a:solidFill>
                  <a:srgbClr val="1F2937"/>
                </a:solidFill>
                <a:latin typeface="Arial"/>
                <a:ea typeface="Arial"/>
                <a:cs typeface="Arial"/>
              </a:rPr>
              <a:t>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ivacy-metric-divider">
            <a:extLst xmlns:a="http://schemas.openxmlformats.org/drawingml/2006/main">
              <a:ext uri="{FF2B5EF4-FFF2-40B4-BE49-F238E27FC236}">
                <a16:creationId xmlns:a16="http://schemas.microsoft.com/office/drawing/2014/main" id="{8D45347A-18C2-40B8-A635-ABD90C51BFF1}"/>
              </a:ext>
            </a:extLst>
          </p:cNvPr>
          <p:cNvSpPr>
            <a:spLocks xmlns:a="http://schemas.openxmlformats.org/drawingml/2006/main" noGrp="1"/>
          </p:cNvSpPr>
          <p:nvPr/>
        </p:nvSpPr>
        <p:spPr>
          <a:xfrm xmlns:a="http://schemas.openxmlformats.org/drawingml/2006/main">
            <a:off x="9601200" y="2590800"/>
            <a:ext cx="1752600" cy="13335"/>
          </a:xfrm>
          <a:prstGeom xmlns:a="http://schemas.openxmlformats.org/drawingml/2006/main" prst="rect">
            <a:avLst/>
          </a:prstGeom>
          <a:solidFill xmlns:a="http://schemas.openxmlformats.org/drawingml/2006/main">
            <a:srgbClr val="B6C4D2"/>
          </a:solidFill>
          <a:ln xmlns:a="http://schemas.openxmlformats.org/drawingml/2006/main" w="0">
            <a:noFill/>
          </a:ln>
        </p:spPr>
      </p:sp>
      <p:sp>
        <p:nvSpPr>
          <p:cNvPr id="238" name="gradient-reconstruction-rmse-value">
            <a:extLst xmlns:a="http://schemas.openxmlformats.org/drawingml/2006/main">
              <a:ext uri="{FF2B5EF4-FFF2-40B4-BE49-F238E27FC236}">
                <a16:creationId xmlns:a16="http://schemas.microsoft.com/office/drawing/2014/main" id="{3DBC6A48-C221-47F5-8EE7-6E909DD7209F}"/>
              </a:ext>
            </a:extLst>
          </p:cNvPr>
          <p:cNvSpPr>
            <a:spLocks xmlns:a="http://schemas.openxmlformats.org/drawingml/2006/main" noGrp="1"/>
          </p:cNvSpPr>
          <p:nvPr/>
        </p:nvSpPr>
        <p:spPr>
          <a:xfrm xmlns:a="http://schemas.openxmlformats.org/drawingml/2006/main">
            <a:off x="9191625" y="2657475"/>
            <a:ext cx="257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100" b="1">
                <a:solidFill>
                  <a:srgbClr val="008A46"/>
                </a:solidFill>
                <a:latin typeface="Arial"/>
                <a:ea typeface="Arial"/>
                <a:cs typeface="Arial"/>
              </a:defRPr>
            </a:pPr>
            <a:r>
              <a:rPr sz="2100" b="1">
                <a:solidFill>
                  <a:srgbClr val="008A46"/>
                </a:solidFill>
                <a:latin typeface="Arial"/>
                <a:ea typeface="Arial"/>
                <a:cs typeface="Arial"/>
              </a:rPr>
              <a:t>0.684 to 2.763</a:t>
            </a:r>
          </a:p>
        </p:txBody>
      </p:sp>
      <p:sp>
        <p:nvSpPr>
          <p:cNvPr id="239" name="gradient-reconstruction-rmse-label">
            <a:extLst xmlns:a="http://schemas.openxmlformats.org/drawingml/2006/main">
              <a:ext uri="{FF2B5EF4-FFF2-40B4-BE49-F238E27FC236}">
                <a16:creationId xmlns:a16="http://schemas.microsoft.com/office/drawing/2014/main" id="{5D1EB6B7-4BAC-42FA-B817-5A5C3FA401C6}"/>
              </a:ext>
            </a:extLst>
          </p:cNvPr>
          <p:cNvSpPr>
            <a:spLocks xmlns:a="http://schemas.openxmlformats.org/drawingml/2006/main" noGrp="1"/>
          </p:cNvSpPr>
          <p:nvPr/>
        </p:nvSpPr>
        <p:spPr>
          <a:xfrm xmlns:a="http://schemas.openxmlformats.org/drawingml/2006/main">
            <a:off x="9191625" y="308610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576"/>
          </a:bodyPr>
          <a:lstStyle xmlns:a="http://schemas.openxmlformats.org/drawingml/2006/main"/>
          <a:p xmlns:a="http://schemas.openxmlformats.org/drawingml/2006/main">
            <a:pPr algn="ctr">
              <a:buNone/>
              <a:defRPr sz="1088" b="1">
                <a:solidFill>
                  <a:srgbClr val="123968"/>
                </a:solidFill>
                <a:latin typeface="Arial"/>
                <a:ea typeface="Arial"/>
                <a:cs typeface="Arial"/>
              </a:defRPr>
            </a:pPr>
            <a:r>
              <a:rPr sz="1088" b="1">
                <a:solidFill>
                  <a:srgbClr val="123968"/>
                </a:solidFill>
                <a:latin typeface="Arial"/>
                <a:ea typeface="Arial"/>
                <a:cs typeface="Arial"/>
              </a:rPr>
              <a:t>Reconstruction RMSE (300 steps)</a:t>
            </a:r>
          </a:p>
          <a:p xmlns:a="http://schemas.openxmlformats.org/drawingml/2006/main">
            <a:pPr algn="ctr">
              <a:buNone/>
              <a:defRPr sz="1088" b="1">
                <a:solidFill>
                  <a:srgbClr val="123968"/>
                </a:solidFill>
                <a:latin typeface="Arial"/>
                <a:ea typeface="Arial"/>
                <a:cs typeface="Arial"/>
              </a:defRPr>
            </a:pPr>
            <a:r>
              <a:rPr sz="1088" b="1">
                <a:solidFill>
                  <a:srgbClr val="123968"/>
                </a:solidFill>
                <a:latin typeface="Arial"/>
                <a:ea typeface="Arial"/>
                <a:cs typeface="Arial"/>
              </a:rPr>
              <a:t>Higher means less accurate recovery</a:t>
            </a:r>
          </a:p>
        </p:txBody>
      </p:sp>
      <p:pic>
        <p:nvPicPr>
          <p:cNvPr id="262" name="Picture 1"/>
          <p:cNvPicPr>
            <a:picLocks xmlns:a="http://schemas.openxmlformats.org/drawingml/2006/main" noChangeAspect="1"/>
          </p:cNvPicPr>
          <p:nvPr/>
        </p:nvPicPr>
        <p:blipFill>
          <a:blip xmlns:r="http://schemas.openxmlformats.org/officeDocument/2006/relationships" xmlns:a="http://schemas.openxmlformats.org/drawingml/2006/main" r:embed="Ra13ad5e251ca4121"/>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8624058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29</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896f14ec29344f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8" name="Table 239"/>
          <p:cNvGraphicFramePr/>
          <p:nvPr/>
        </p:nvGraphicFramePr>
        <p:xfrm>
          <a:off xmlns:a="http://schemas.openxmlformats.org/drawingml/2006/main" x="428625" y="1571625"/>
          <a:ext xmlns:a="http://schemas.openxmlformats.org/drawingml/2006/main" cx="6191250" cy="3667128"/>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a:t>
                      </a:r>
                      <a:r>
                        <a:rPr sz="1238">
                          <a:solidFill>
                            <a:srgbClr val="1F2937"/>
                          </a:solidFill>
                          <a:latin typeface="Arial"/>
                          <a:ea typeface="Arial"/>
                          <a:cs typeface="Arial"/>
                        </a:rPr>
                        <a:t>FedAvg</a:t>
                      </a:r>
                      <a:r>
                        <a:rPr sz="1238">
                          <a:solidFill>
                            <a:srgbClr val="1F2937"/>
                          </a:solidFill>
                          <a:latin typeface="Arial"/>
                          <a:ea typeface="Arial"/>
                          <a:cs typeface="Arial"/>
                        </a:rPr>
                        <a:t>-CKKS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b="1">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39"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9a8bb314fa0b4139"/>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2" name="Picture 1"/>
          <p:cNvPicPr>
            <a:picLocks xmlns:a="http://schemas.openxmlformats.org/drawingml/2006/main" noChangeAspect="1"/>
          </p:cNvPicPr>
          <p:nvPr/>
        </p:nvPicPr>
        <p:blipFill>
          <a:blip xmlns:r="http://schemas.openxmlformats.org/officeDocument/2006/relationships" xmlns:a="http://schemas.openxmlformats.org/drawingml/2006/main" r:embed="R1c245a612a0f47e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41782926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366833"/>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30</a:t>
            </a:r>
            <a:endParaRPr sz="2800"/>
          </a:p>
        </p:txBody>
      </p:sp>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2e6cefbf85e4d2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8" name="Picture 239"/>
          <p:cNvPicPr>
            <a:picLocks xmlns:a="http://schemas.openxmlformats.org/drawingml/2006/main" noChangeAspect="1"/>
          </p:cNvPicPr>
          <p:nvPr/>
        </p:nvPicPr>
        <p:blipFill>
          <a:blip xmlns:r="http://schemas.openxmlformats.org/officeDocument/2006/relationships" xmlns:a="http://schemas.openxmlformats.org/drawingml/2006/main" r:embed="Ra71e1f2f691d4384"/>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39" name="Picture 240"/>
          <p:cNvPicPr>
            <a:picLocks xmlns:a="http://schemas.openxmlformats.org/drawingml/2006/main" noChangeAspect="1"/>
          </p:cNvPicPr>
          <p:nvPr/>
        </p:nvPicPr>
        <p:blipFill>
          <a:blip xmlns:r="http://schemas.openxmlformats.org/officeDocument/2006/relationships" xmlns:a="http://schemas.openxmlformats.org/drawingml/2006/main" r:embed="Rd4e19f3e19254135"/>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46" lnSpcReduction="10000"/>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4" name="Picture 1"/>
          <p:cNvPicPr>
            <a:picLocks xmlns:a="http://schemas.openxmlformats.org/drawingml/2006/main" noChangeAspect="1"/>
          </p:cNvPicPr>
          <p:nvPr/>
        </p:nvPicPr>
        <p:blipFill>
          <a:blip xmlns:r="http://schemas.openxmlformats.org/officeDocument/2006/relationships" xmlns:a="http://schemas.openxmlformats.org/drawingml/2006/main" r:embed="Rdf22af5ae2b341dd"/>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43640598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774"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b6909ff184274b8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775"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33680b01195f4e0c">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777"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ce2d2de78dd84f60">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778"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31</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782" name="Picture 1"/>
          <p:cNvPicPr>
            <a:picLocks xmlns:a="http://schemas.openxmlformats.org/drawingml/2006/main" noChangeAspect="1"/>
          </p:cNvPicPr>
          <p:nvPr/>
        </p:nvPicPr>
        <p:blipFill>
          <a:blip xmlns:r="http://schemas.openxmlformats.org/officeDocument/2006/relationships" xmlns:a="http://schemas.openxmlformats.org/drawingml/2006/main" r:embed="R0f4f98a782ef4a11"/>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67585801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32</a:t>
            </a:r>
            <a:endParaRPr sz="2800"/>
          </a:p>
        </p:txBody>
      </p:sp>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4ea2a3592954f3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833" lnSpcReduction="1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6" name="Picture 1"/>
          <p:cNvPicPr>
            <a:picLocks xmlns:a="http://schemas.openxmlformats.org/drawingml/2006/main" noChangeAspect="1"/>
          </p:cNvPicPr>
          <p:nvPr/>
        </p:nvPicPr>
        <p:blipFill>
          <a:blip xmlns:r="http://schemas.openxmlformats.org/officeDocument/2006/relationships" xmlns:a="http://schemas.openxmlformats.org/drawingml/2006/main" r:embed="Rc67b815381424fd9"/>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093132514"/>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33</a:t>
            </a:r>
            <a:endParaRPr sz="2800"/>
          </a:p>
        </p:txBody>
      </p:sp>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e8e6890c15640d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5</a:t>
            </a:r>
            <a:r>
              <a:rPr sz="1688" b="0" i="0">
                <a:solidFill>
                  <a:srgbClr val="1F2937"/>
                </a:solidFill>
                <a:latin typeface="Arial"/>
                <a:ea typeface="Arial"/>
                <a:cs typeface="Arial"/>
              </a:rPr>
              <a:t> paired seeds cover utility, </a:t>
            </a:r>
            <a:r>
              <a:rPr sz="1688" b="0" i="0">
                <a:solidFill>
                  <a:srgbClr val="1F2937"/>
                </a:solidFill>
                <a:latin typeface="Arial"/>
                <a:ea typeface="Arial"/>
                <a:cs typeface="Arial"/>
              </a:rPr>
              <a:t>LiRA</a:t>
            </a:r>
            <a:r>
              <a:rPr sz="1688" b="0" i="0">
                <a:solidFill>
                  <a:srgbClr val="1F2937"/>
                </a:solidFill>
                <a:latin typeface="Arial"/>
                <a:ea typeface="Arial"/>
                <a:cs typeface="Arial"/>
              </a:rPr>
              <a:t>/RMIA, 300-step reconstruction, </a:t>
            </a:r>
            <a:r>
              <a:rPr sz="1688" b="0" i="0">
                <a:solidFill>
                  <a:srgbClr val="1F2937"/>
                </a:solidFill>
                <a:latin typeface="Arial"/>
                <a:ea typeface="Arial"/>
                <a:cs typeface="Arial"/>
              </a:rPr>
              <a:t>7</a:t>
            </a:r>
            <a:r>
              <a:rPr sz="1688" b="0" i="0">
                <a:solidFill>
                  <a:srgbClr val="1F2937"/>
                </a:solidFill>
                <a:latin typeface="Arial"/>
                <a:ea typeface="Arial"/>
                <a:cs typeface="Arial"/>
              </a:rPr>
              <a:t>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82" name="Picture 1"/>
          <p:cNvPicPr>
            <a:picLocks xmlns:a="http://schemas.openxmlformats.org/drawingml/2006/main" noChangeAspect="1"/>
          </p:cNvPicPr>
          <p:nvPr/>
        </p:nvPicPr>
        <p:blipFill>
          <a:blip xmlns:r="http://schemas.openxmlformats.org/officeDocument/2006/relationships" xmlns:a="http://schemas.openxmlformats.org/drawingml/2006/main" r:embed="Ra16aba3a078843e4"/>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
        <p:nvSpPr>
          <p:cNvPr id="237" name="research-contributions-replacement-cover">
            <a:extLst xmlns:a="http://schemas.openxmlformats.org/drawingml/2006/main">
              <a:ext uri="{FF2B5EF4-FFF2-40B4-BE49-F238E27FC236}">
                <a16:creationId xmlns:a16="http://schemas.microsoft.com/office/drawing/2014/main" id="{9A57B5B5-828D-415E-931D-9AF8B3CCC929}"/>
              </a:ext>
            </a:extLst>
          </p:cNvPr>
          <p:cNvSpPr>
            <a:spLocks xmlns:a="http://schemas.openxmlformats.org/drawingml/2006/main" noGrp="1"/>
          </p:cNvSpPr>
          <p:nvPr/>
        </p:nvSpPr>
        <p:spPr>
          <a:xfrm xmlns:a="http://schemas.openxmlformats.org/drawingml/2006/main">
            <a:off x="523875" y="1143000"/>
            <a:ext cx="1114425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contribution-01-number">
            <a:extLst xmlns:a="http://schemas.openxmlformats.org/drawingml/2006/main">
              <a:ext uri="{FF2B5EF4-FFF2-40B4-BE49-F238E27FC236}">
                <a16:creationId xmlns:a16="http://schemas.microsoft.com/office/drawing/2014/main" id="{5F5CF7F2-524F-4945-8ECB-D50D3E38A26A}"/>
              </a:ext>
            </a:extLst>
          </p:cNvPr>
          <p:cNvSpPr>
            <a:spLocks xmlns:a="http://schemas.openxmlformats.org/drawingml/2006/main" noGrp="1"/>
          </p:cNvSpPr>
          <p:nvPr/>
        </p:nvSpPr>
        <p:spPr>
          <a:xfrm xmlns:a="http://schemas.openxmlformats.org/drawingml/2006/main">
            <a:off x="809625" y="13525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08A46"/>
                </a:solidFill>
                <a:latin typeface="Arial"/>
                <a:ea typeface="Arial"/>
                <a:cs typeface="Arial"/>
              </a:defRPr>
            </a:pPr>
            <a:r>
              <a:rPr sz="1088" b="1">
                <a:solidFill>
                  <a:srgbClr val="008A46"/>
                </a:solidFill>
                <a:latin typeface="Arial"/>
                <a:ea typeface="Arial"/>
                <a:cs typeface="Arial"/>
              </a:rPr>
              <a:t>01</a:t>
            </a:r>
          </a:p>
        </p:txBody>
      </p:sp>
      <p:sp>
        <p:nvSpPr>
          <p:cNvPr id="239" name="contribution-01-title">
            <a:extLst xmlns:a="http://schemas.openxmlformats.org/drawingml/2006/main">
              <a:ext uri="{FF2B5EF4-FFF2-40B4-BE49-F238E27FC236}">
                <a16:creationId xmlns:a16="http://schemas.microsoft.com/office/drawing/2014/main" id="{2CD4A583-2061-4726-9474-EC29709B364B}"/>
              </a:ext>
            </a:extLst>
          </p:cNvPr>
          <p:cNvSpPr>
            <a:spLocks xmlns:a="http://schemas.openxmlformats.org/drawingml/2006/main" noGrp="1"/>
          </p:cNvSpPr>
          <p:nvPr/>
        </p:nvSpPr>
        <p:spPr>
          <a:xfrm xmlns:a="http://schemas.openxmlformats.org/drawingml/2006/main">
            <a:off x="1266825" y="13335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08A46"/>
                </a:solidFill>
                <a:latin typeface="Arial"/>
                <a:ea typeface="Arial"/>
                <a:cs typeface="Arial"/>
              </a:defRPr>
            </a:pPr>
            <a:r>
              <a:rPr sz="1575" b="1">
                <a:solidFill>
                  <a:srgbClr val="008A46"/>
                </a:solidFill>
                <a:latin typeface="Arial"/>
                <a:ea typeface="Arial"/>
                <a:cs typeface="Arial"/>
              </a:rPr>
              <a:t>Theoretical contribution</a:t>
            </a:r>
          </a:p>
        </p:txBody>
      </p:sp>
      <p:sp>
        <p:nvSpPr>
          <p:cNvPr id="240" name="contribution-01-rule">
            <a:extLst xmlns:a="http://schemas.openxmlformats.org/drawingml/2006/main">
              <a:ext uri="{FF2B5EF4-FFF2-40B4-BE49-F238E27FC236}">
                <a16:creationId xmlns:a16="http://schemas.microsoft.com/office/drawing/2014/main" id="{58838FDE-FB26-4EBA-8187-1CD976B0FA31}"/>
              </a:ext>
            </a:extLst>
          </p:cNvPr>
          <p:cNvSpPr>
            <a:spLocks xmlns:a="http://schemas.openxmlformats.org/drawingml/2006/main" noGrp="1"/>
          </p:cNvSpPr>
          <p:nvPr/>
        </p:nvSpPr>
        <p:spPr>
          <a:xfrm xmlns:a="http://schemas.openxmlformats.org/drawingml/2006/main">
            <a:off x="809625" y="1695450"/>
            <a:ext cx="4762500" cy="21908"/>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1" name="contribution-01-body">
            <a:extLst xmlns:a="http://schemas.openxmlformats.org/drawingml/2006/main">
              <a:ext uri="{FF2B5EF4-FFF2-40B4-BE49-F238E27FC236}">
                <a16:creationId xmlns:a16="http://schemas.microsoft.com/office/drawing/2014/main" id="{3D2A8EDE-76F1-4789-A94E-8BBABAC5AB73}"/>
              </a:ext>
            </a:extLst>
          </p:cNvPr>
          <p:cNvSpPr>
            <a:spLocks xmlns:a="http://schemas.openxmlformats.org/drawingml/2006/main" noGrp="1"/>
          </p:cNvSpPr>
          <p:nvPr/>
        </p:nvSpPr>
        <p:spPr>
          <a:xfrm xmlns:a="http://schemas.openxmlformats.org/drawingml/2006/main">
            <a:off x="809625" y="17907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Defines collaboration through four interacting properties: released-model privacy, update confidentiality, encrypted communication efficiency, and accountable integrity.</a:t>
            </a:r>
          </a:p>
        </p:txBody>
      </p:sp>
      <p:sp>
        <p:nvSpPr>
          <p:cNvPr id="242" name="contribution-02-number">
            <a:extLst xmlns:a="http://schemas.openxmlformats.org/drawingml/2006/main">
              <a:ext uri="{FF2B5EF4-FFF2-40B4-BE49-F238E27FC236}">
                <a16:creationId xmlns:a16="http://schemas.microsoft.com/office/drawing/2014/main" id="{5380FDCE-7F1A-43F9-ABBA-45C7851F9B05}"/>
              </a:ext>
            </a:extLst>
          </p:cNvPr>
          <p:cNvSpPr>
            <a:spLocks xmlns:a="http://schemas.openxmlformats.org/drawingml/2006/main" noGrp="1"/>
          </p:cNvSpPr>
          <p:nvPr/>
        </p:nvSpPr>
        <p:spPr>
          <a:xfrm xmlns:a="http://schemas.openxmlformats.org/drawingml/2006/main">
            <a:off x="809625" y="26479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62B6F"/>
                </a:solidFill>
                <a:latin typeface="Arial"/>
                <a:ea typeface="Arial"/>
                <a:cs typeface="Arial"/>
              </a:defRPr>
            </a:pPr>
            <a:r>
              <a:rPr sz="1088" b="1">
                <a:solidFill>
                  <a:srgbClr val="062B6F"/>
                </a:solidFill>
                <a:latin typeface="Arial"/>
                <a:ea typeface="Arial"/>
                <a:cs typeface="Arial"/>
              </a:rPr>
              <a:t>02</a:t>
            </a:r>
          </a:p>
        </p:txBody>
      </p:sp>
      <p:sp>
        <p:nvSpPr>
          <p:cNvPr id="243" name="contribution-02-title">
            <a:extLst xmlns:a="http://schemas.openxmlformats.org/drawingml/2006/main">
              <a:ext uri="{FF2B5EF4-FFF2-40B4-BE49-F238E27FC236}">
                <a16:creationId xmlns:a16="http://schemas.microsoft.com/office/drawing/2014/main" id="{ED74DF65-7EF3-468E-823D-489B325D5259}"/>
              </a:ext>
            </a:extLst>
          </p:cNvPr>
          <p:cNvSpPr>
            <a:spLocks xmlns:a="http://schemas.openxmlformats.org/drawingml/2006/main" noGrp="1"/>
          </p:cNvSpPr>
          <p:nvPr/>
        </p:nvSpPr>
        <p:spPr>
          <a:xfrm xmlns:a="http://schemas.openxmlformats.org/drawingml/2006/main">
            <a:off x="1266825" y="26289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62B6F"/>
                </a:solidFill>
                <a:latin typeface="Arial"/>
                <a:ea typeface="Arial"/>
                <a:cs typeface="Arial"/>
              </a:defRPr>
            </a:pPr>
            <a:r>
              <a:rPr sz="1575" b="1">
                <a:solidFill>
                  <a:srgbClr val="062B6F"/>
                </a:solidFill>
                <a:latin typeface="Arial"/>
                <a:ea typeface="Arial"/>
                <a:cs typeface="Arial"/>
              </a:rPr>
              <a:t>Algorithmic contribution</a:t>
            </a:r>
          </a:p>
        </p:txBody>
      </p:sp>
      <p:sp>
        <p:nvSpPr>
          <p:cNvPr id="244" name="contribution-02-rule">
            <a:extLst xmlns:a="http://schemas.openxmlformats.org/drawingml/2006/main">
              <a:ext uri="{FF2B5EF4-FFF2-40B4-BE49-F238E27FC236}">
                <a16:creationId xmlns:a16="http://schemas.microsoft.com/office/drawing/2014/main" id="{AC5869AE-DF38-4B88-AF3C-A438CBE3F96F}"/>
              </a:ext>
            </a:extLst>
          </p:cNvPr>
          <p:cNvSpPr>
            <a:spLocks xmlns:a="http://schemas.openxmlformats.org/drawingml/2006/main" noGrp="1"/>
          </p:cNvSpPr>
          <p:nvPr/>
        </p:nvSpPr>
        <p:spPr>
          <a:xfrm xmlns:a="http://schemas.openxmlformats.org/drawingml/2006/main">
            <a:off x="809625" y="2990850"/>
            <a:ext cx="4762500" cy="21908"/>
          </a:xfrm>
          <a:prstGeom xmlns:a="http://schemas.openxmlformats.org/drawingml/2006/main" prst="rect">
            <a:avLst/>
          </a:prstGeom>
          <a:solidFill xmlns:a="http://schemas.openxmlformats.org/drawingml/2006/main">
            <a:srgbClr val="062B6F"/>
          </a:solidFill>
          <a:ln xmlns:a="http://schemas.openxmlformats.org/drawingml/2006/main" w="0">
            <a:noFill/>
          </a:ln>
        </p:spPr>
      </p:sp>
      <p:sp>
        <p:nvSpPr>
          <p:cNvPr id="245" name="contribution-02-body">
            <a:extLst xmlns:a="http://schemas.openxmlformats.org/drawingml/2006/main">
              <a:ext uri="{FF2B5EF4-FFF2-40B4-BE49-F238E27FC236}">
                <a16:creationId xmlns:a16="http://schemas.microsoft.com/office/drawing/2014/main" id="{C4D0ACA6-576D-4F96-829B-C171AD654B0E}"/>
              </a:ext>
            </a:extLst>
          </p:cNvPr>
          <p:cNvSpPr>
            <a:spLocks xmlns:a="http://schemas.openxmlformats.org/drawingml/2006/main" noGrp="1"/>
          </p:cNvSpPr>
          <p:nvPr/>
        </p:nvSpPr>
        <p:spPr>
          <a:xfrm xmlns:a="http://schemas.openxmlformats.org/drawingml/2006/main">
            <a:off x="809625" y="30861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CAABC-FL combines encrypted aggregate block scoring, shared CKKS-aligned support, periodic refresh, and residual error feedback.</a:t>
            </a:r>
          </a:p>
        </p:txBody>
      </p:sp>
      <p:sp>
        <p:nvSpPr>
          <p:cNvPr id="246" name="contribution-03-number">
            <a:extLst xmlns:a="http://schemas.openxmlformats.org/drawingml/2006/main">
              <a:ext uri="{FF2B5EF4-FFF2-40B4-BE49-F238E27FC236}">
                <a16:creationId xmlns:a16="http://schemas.microsoft.com/office/drawing/2014/main" id="{CAC6379C-C647-4A8E-9444-AB2F04A5DE89}"/>
              </a:ext>
            </a:extLst>
          </p:cNvPr>
          <p:cNvSpPr>
            <a:spLocks xmlns:a="http://schemas.openxmlformats.org/drawingml/2006/main" noGrp="1"/>
          </p:cNvSpPr>
          <p:nvPr/>
        </p:nvSpPr>
        <p:spPr>
          <a:xfrm xmlns:a="http://schemas.openxmlformats.org/drawingml/2006/main">
            <a:off x="809625" y="39433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08A46"/>
                </a:solidFill>
                <a:latin typeface="Arial"/>
                <a:ea typeface="Arial"/>
                <a:cs typeface="Arial"/>
              </a:defRPr>
            </a:pPr>
            <a:r>
              <a:rPr sz="1088" b="1">
                <a:solidFill>
                  <a:srgbClr val="008A46"/>
                </a:solidFill>
                <a:latin typeface="Arial"/>
                <a:ea typeface="Arial"/>
                <a:cs typeface="Arial"/>
              </a:rPr>
              <a:t>03</a:t>
            </a:r>
          </a:p>
        </p:txBody>
      </p:sp>
      <p:sp>
        <p:nvSpPr>
          <p:cNvPr id="247" name="contribution-03-title">
            <a:extLst xmlns:a="http://schemas.openxmlformats.org/drawingml/2006/main">
              <a:ext uri="{FF2B5EF4-FFF2-40B4-BE49-F238E27FC236}">
                <a16:creationId xmlns:a16="http://schemas.microsoft.com/office/drawing/2014/main" id="{8978481B-9B79-4F01-8573-41282B125E88}"/>
              </a:ext>
            </a:extLst>
          </p:cNvPr>
          <p:cNvSpPr>
            <a:spLocks xmlns:a="http://schemas.openxmlformats.org/drawingml/2006/main" noGrp="1"/>
          </p:cNvSpPr>
          <p:nvPr/>
        </p:nvSpPr>
        <p:spPr>
          <a:xfrm xmlns:a="http://schemas.openxmlformats.org/drawingml/2006/main">
            <a:off x="1266825" y="39243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08A46"/>
                </a:solidFill>
                <a:latin typeface="Arial"/>
                <a:ea typeface="Arial"/>
                <a:cs typeface="Arial"/>
              </a:defRPr>
            </a:pPr>
            <a:r>
              <a:rPr sz="1575" b="1">
                <a:solidFill>
                  <a:srgbClr val="008A46"/>
                </a:solidFill>
                <a:latin typeface="Arial"/>
                <a:ea typeface="Arial"/>
                <a:cs typeface="Arial"/>
              </a:rPr>
              <a:t>Practical contribution</a:t>
            </a:r>
          </a:p>
        </p:txBody>
      </p:sp>
      <p:sp>
        <p:nvSpPr>
          <p:cNvPr id="248" name="contribution-03-rule">
            <a:extLst xmlns:a="http://schemas.openxmlformats.org/drawingml/2006/main">
              <a:ext uri="{FF2B5EF4-FFF2-40B4-BE49-F238E27FC236}">
                <a16:creationId xmlns:a16="http://schemas.microsoft.com/office/drawing/2014/main" id="{1EDDB5BF-0EAF-4294-841C-C6C05EEA190B}"/>
              </a:ext>
            </a:extLst>
          </p:cNvPr>
          <p:cNvSpPr>
            <a:spLocks xmlns:a="http://schemas.openxmlformats.org/drawingml/2006/main" noGrp="1"/>
          </p:cNvSpPr>
          <p:nvPr/>
        </p:nvSpPr>
        <p:spPr>
          <a:xfrm xmlns:a="http://schemas.openxmlformats.org/drawingml/2006/main">
            <a:off x="809625" y="4286250"/>
            <a:ext cx="4762500" cy="21908"/>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9" name="contribution-03-body">
            <a:extLst xmlns:a="http://schemas.openxmlformats.org/drawingml/2006/main">
              <a:ext uri="{FF2B5EF4-FFF2-40B4-BE49-F238E27FC236}">
                <a16:creationId xmlns:a16="http://schemas.microsoft.com/office/drawing/2014/main" id="{F372E62C-C404-4A2C-AF7D-8043EBF7364E}"/>
              </a:ext>
            </a:extLst>
          </p:cNvPr>
          <p:cNvSpPr>
            <a:spLocks xmlns:a="http://schemas.openxmlformats.org/drawingml/2006/main" noGrp="1"/>
          </p:cNvSpPr>
          <p:nvPr/>
        </p:nvSpPr>
        <p:spPr>
          <a:xfrm xmlns:a="http://schemas.openxmlformats.org/drawingml/2006/main">
            <a:off x="809625" y="4381500"/>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Implements a multi-service system with signed artifacts, independent aggregate checks, governed release and inference, rollback, and three external audit witnesses.</a:t>
            </a:r>
          </a:p>
        </p:txBody>
      </p:sp>
      <p:sp>
        <p:nvSpPr>
          <p:cNvPr id="250" name="contribution-04-number">
            <a:extLst xmlns:a="http://schemas.openxmlformats.org/drawingml/2006/main">
              <a:ext uri="{FF2B5EF4-FFF2-40B4-BE49-F238E27FC236}">
                <a16:creationId xmlns:a16="http://schemas.microsoft.com/office/drawing/2014/main" id="{7D6249F4-F5BC-442B-B1E2-98436295029A}"/>
              </a:ext>
            </a:extLst>
          </p:cNvPr>
          <p:cNvSpPr>
            <a:spLocks xmlns:a="http://schemas.openxmlformats.org/drawingml/2006/main" noGrp="1"/>
          </p:cNvSpPr>
          <p:nvPr/>
        </p:nvSpPr>
        <p:spPr>
          <a:xfrm xmlns:a="http://schemas.openxmlformats.org/drawingml/2006/main">
            <a:off x="6286500" y="13525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62B6F"/>
                </a:solidFill>
                <a:latin typeface="Arial"/>
                <a:ea typeface="Arial"/>
                <a:cs typeface="Arial"/>
              </a:defRPr>
            </a:pPr>
            <a:r>
              <a:rPr sz="1088" b="1">
                <a:solidFill>
                  <a:srgbClr val="062B6F"/>
                </a:solidFill>
                <a:latin typeface="Arial"/>
                <a:ea typeface="Arial"/>
                <a:cs typeface="Arial"/>
              </a:rPr>
              <a:t>04</a:t>
            </a:r>
          </a:p>
        </p:txBody>
      </p:sp>
      <p:sp>
        <p:nvSpPr>
          <p:cNvPr id="251" name="contribution-04-title">
            <a:extLst xmlns:a="http://schemas.openxmlformats.org/drawingml/2006/main">
              <a:ext uri="{FF2B5EF4-FFF2-40B4-BE49-F238E27FC236}">
                <a16:creationId xmlns:a16="http://schemas.microsoft.com/office/drawing/2014/main" id="{673E0CC7-F387-41B9-B486-33B0E2F3746C}"/>
              </a:ext>
            </a:extLst>
          </p:cNvPr>
          <p:cNvSpPr>
            <a:spLocks xmlns:a="http://schemas.openxmlformats.org/drawingml/2006/main" noGrp="1"/>
          </p:cNvSpPr>
          <p:nvPr/>
        </p:nvSpPr>
        <p:spPr>
          <a:xfrm xmlns:a="http://schemas.openxmlformats.org/drawingml/2006/main">
            <a:off x="6743700" y="133350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62B6F"/>
                </a:solidFill>
                <a:latin typeface="Arial"/>
                <a:ea typeface="Arial"/>
                <a:cs typeface="Arial"/>
              </a:defRPr>
            </a:pPr>
            <a:r>
              <a:rPr sz="1575" b="1">
                <a:solidFill>
                  <a:srgbClr val="062B6F"/>
                </a:solidFill>
                <a:latin typeface="Arial"/>
                <a:ea typeface="Arial"/>
                <a:cs typeface="Arial"/>
              </a:rPr>
              <a:t>Methodological contribution</a:t>
            </a:r>
          </a:p>
        </p:txBody>
      </p:sp>
      <p:sp>
        <p:nvSpPr>
          <p:cNvPr id="252" name="contribution-04-rule">
            <a:extLst xmlns:a="http://schemas.openxmlformats.org/drawingml/2006/main">
              <a:ext uri="{FF2B5EF4-FFF2-40B4-BE49-F238E27FC236}">
                <a16:creationId xmlns:a16="http://schemas.microsoft.com/office/drawing/2014/main" id="{54821083-14A0-4BF6-95B1-A9AF103460FB}"/>
              </a:ext>
            </a:extLst>
          </p:cNvPr>
          <p:cNvSpPr>
            <a:spLocks xmlns:a="http://schemas.openxmlformats.org/drawingml/2006/main" noGrp="1"/>
          </p:cNvSpPr>
          <p:nvPr/>
        </p:nvSpPr>
        <p:spPr>
          <a:xfrm xmlns:a="http://schemas.openxmlformats.org/drawingml/2006/main">
            <a:off x="6286500" y="1695450"/>
            <a:ext cx="4762500" cy="21908"/>
          </a:xfrm>
          <a:prstGeom xmlns:a="http://schemas.openxmlformats.org/drawingml/2006/main" prst="rect">
            <a:avLst/>
          </a:prstGeom>
          <a:solidFill xmlns:a="http://schemas.openxmlformats.org/drawingml/2006/main">
            <a:srgbClr val="062B6F"/>
          </a:solidFill>
          <a:ln xmlns:a="http://schemas.openxmlformats.org/drawingml/2006/main" w="0">
            <a:noFill/>
          </a:ln>
        </p:spPr>
      </p:sp>
      <p:sp>
        <p:nvSpPr>
          <p:cNvPr id="253" name="contribution-04-body">
            <a:extLst xmlns:a="http://schemas.openxmlformats.org/drawingml/2006/main">
              <a:ext uri="{FF2B5EF4-FFF2-40B4-BE49-F238E27FC236}">
                <a16:creationId xmlns:a16="http://schemas.microsoft.com/office/drawing/2014/main" id="{43B7B09E-4A69-4E28-8066-E5D823F29C93}"/>
              </a:ext>
            </a:extLst>
          </p:cNvPr>
          <p:cNvSpPr>
            <a:spLocks xmlns:a="http://schemas.openxmlformats.org/drawingml/2006/main" noGrp="1"/>
          </p:cNvSpPr>
          <p:nvPr/>
        </p:nvSpPr>
        <p:spPr>
          <a:xfrm xmlns:a="http://schemas.openxmlformats.org/drawingml/2006/main">
            <a:off x="6286500" y="17907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Uses a frozen paired protocol to measure utility, privacy attacks, one-round and longitudinal poisoning, ciphertext bytes, correctness, timing, and statistical uncertainty.</a:t>
            </a:r>
          </a:p>
        </p:txBody>
      </p:sp>
      <p:sp>
        <p:nvSpPr>
          <p:cNvPr id="254" name="contribution-05-number">
            <a:extLst xmlns:a="http://schemas.openxmlformats.org/drawingml/2006/main">
              <a:ext uri="{FF2B5EF4-FFF2-40B4-BE49-F238E27FC236}">
                <a16:creationId xmlns:a16="http://schemas.microsoft.com/office/drawing/2014/main" id="{A533E4E5-3B74-4CB2-B0E7-45BF91184EC5}"/>
              </a:ext>
            </a:extLst>
          </p:cNvPr>
          <p:cNvSpPr>
            <a:spLocks xmlns:a="http://schemas.openxmlformats.org/drawingml/2006/main" noGrp="1"/>
          </p:cNvSpPr>
          <p:nvPr/>
        </p:nvSpPr>
        <p:spPr>
          <a:xfrm xmlns:a="http://schemas.openxmlformats.org/drawingml/2006/main">
            <a:off x="6286500" y="30099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088" b="1">
                <a:solidFill>
                  <a:srgbClr val="00A6DF"/>
                </a:solidFill>
                <a:latin typeface="Arial"/>
                <a:ea typeface="Arial"/>
                <a:cs typeface="Arial"/>
              </a:defRPr>
            </a:pPr>
            <a:r>
              <a:rPr sz="1088" b="1">
                <a:solidFill>
                  <a:srgbClr val="00A6DF"/>
                </a:solidFill>
                <a:latin typeface="Arial"/>
                <a:ea typeface="Arial"/>
                <a:cs typeface="Arial"/>
              </a:rPr>
              <a:t>05</a:t>
            </a:r>
          </a:p>
        </p:txBody>
      </p:sp>
      <p:sp>
        <p:nvSpPr>
          <p:cNvPr id="255" name="contribution-05-title">
            <a:extLst xmlns:a="http://schemas.openxmlformats.org/drawingml/2006/main">
              <a:ext uri="{FF2B5EF4-FFF2-40B4-BE49-F238E27FC236}">
                <a16:creationId xmlns:a16="http://schemas.microsoft.com/office/drawing/2014/main" id="{31434BF2-9B2B-4D79-AABC-76FB3CA2B71C}"/>
              </a:ext>
            </a:extLst>
          </p:cNvPr>
          <p:cNvSpPr>
            <a:spLocks xmlns:a="http://schemas.openxmlformats.org/drawingml/2006/main" noGrp="1"/>
          </p:cNvSpPr>
          <p:nvPr/>
        </p:nvSpPr>
        <p:spPr>
          <a:xfrm xmlns:a="http://schemas.openxmlformats.org/drawingml/2006/main">
            <a:off x="6743700" y="2990850"/>
            <a:ext cx="4305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75" b="1">
                <a:solidFill>
                  <a:srgbClr val="00A6DF"/>
                </a:solidFill>
                <a:latin typeface="Arial"/>
                <a:ea typeface="Arial"/>
                <a:cs typeface="Arial"/>
              </a:defRPr>
            </a:pPr>
            <a:r>
              <a:rPr sz="1575" b="1">
                <a:solidFill>
                  <a:srgbClr val="00A6DF"/>
                </a:solidFill>
                <a:latin typeface="Arial"/>
                <a:ea typeface="Arial"/>
                <a:cs typeface="Arial"/>
              </a:rPr>
              <a:t>Empirical contribution</a:t>
            </a:r>
          </a:p>
        </p:txBody>
      </p:sp>
      <p:sp>
        <p:nvSpPr>
          <p:cNvPr id="256" name="contribution-05-rule">
            <a:extLst xmlns:a="http://schemas.openxmlformats.org/drawingml/2006/main">
              <a:ext uri="{FF2B5EF4-FFF2-40B4-BE49-F238E27FC236}">
                <a16:creationId xmlns:a16="http://schemas.microsoft.com/office/drawing/2014/main" id="{1B71ACD5-61CC-4663-9F7D-B2598870D4AC}"/>
              </a:ext>
            </a:extLst>
          </p:cNvPr>
          <p:cNvSpPr>
            <a:spLocks xmlns:a="http://schemas.openxmlformats.org/drawingml/2006/main" noGrp="1"/>
          </p:cNvSpPr>
          <p:nvPr/>
        </p:nvSpPr>
        <p:spPr>
          <a:xfrm xmlns:a="http://schemas.openxmlformats.org/drawingml/2006/main">
            <a:off x="6286500" y="3352800"/>
            <a:ext cx="4762500" cy="21908"/>
          </a:xfrm>
          <a:prstGeom xmlns:a="http://schemas.openxmlformats.org/drawingml/2006/main" prst="rect">
            <a:avLst/>
          </a:prstGeom>
          <a:solidFill xmlns:a="http://schemas.openxmlformats.org/drawingml/2006/main">
            <a:srgbClr val="00A6DF"/>
          </a:solidFill>
          <a:ln xmlns:a="http://schemas.openxmlformats.org/drawingml/2006/main" w="0">
            <a:noFill/>
          </a:ln>
        </p:spPr>
      </p:sp>
      <p:sp>
        <p:nvSpPr>
          <p:cNvPr id="257" name="empirical-result-highlight">
            <a:extLst xmlns:a="http://schemas.openxmlformats.org/drawingml/2006/main">
              <a:ext uri="{FF2B5EF4-FFF2-40B4-BE49-F238E27FC236}">
                <a16:creationId xmlns:a16="http://schemas.microsoft.com/office/drawing/2014/main" id="{5D0970E0-2969-4AF7-BF48-98F846631C4E}"/>
              </a:ext>
            </a:extLst>
          </p:cNvPr>
          <p:cNvSpPr>
            <a:spLocks xmlns:a="http://schemas.openxmlformats.org/drawingml/2006/main" noGrp="1"/>
          </p:cNvSpPr>
          <p:nvPr/>
        </p:nvSpPr>
        <p:spPr>
          <a:xfrm xmlns:a="http://schemas.openxmlformats.org/drawingml/2006/main">
            <a:off x="6286500" y="3533775"/>
            <a:ext cx="4762500" cy="838200"/>
          </a:xfrm>
          <a:prstGeom xmlns:a="http://schemas.openxmlformats.org/drawingml/2006/main" prst="roundRect">
            <a:avLst>
              <a:gd name="adj" fmla="val 9091"/>
            </a:avLst>
          </a:prstGeom>
          <a:solidFill xmlns:a="http://schemas.openxmlformats.org/drawingml/2006/main">
            <a:srgbClr val="EAF7FC"/>
          </a:solidFill>
          <a:ln xmlns:a="http://schemas.openxmlformats.org/drawingml/2006/main" w="11430">
            <a:solidFill>
              <a:srgbClr val="8CCFE7"/>
            </a:solidFill>
          </a:ln>
        </p:spPr>
      </p:sp>
      <p:sp>
        <p:nvSpPr>
          <p:cNvPr id="258" name="empirical-56-percent">
            <a:extLst xmlns:a="http://schemas.openxmlformats.org/drawingml/2006/main">
              <a:ext uri="{FF2B5EF4-FFF2-40B4-BE49-F238E27FC236}">
                <a16:creationId xmlns:a16="http://schemas.microsoft.com/office/drawing/2014/main" id="{4D1E69D3-BB75-44ED-B14C-718DD8EAE18D}"/>
              </a:ext>
            </a:extLst>
          </p:cNvPr>
          <p:cNvSpPr>
            <a:spLocks xmlns:a="http://schemas.openxmlformats.org/drawingml/2006/main" noGrp="1"/>
          </p:cNvSpPr>
          <p:nvPr/>
        </p:nvSpPr>
        <p:spPr>
          <a:xfrm xmlns:a="http://schemas.openxmlformats.org/drawingml/2006/main">
            <a:off x="6477000" y="3648075"/>
            <a:ext cx="1476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475" b="1">
                <a:solidFill>
                  <a:srgbClr val="062B6F"/>
                </a:solidFill>
                <a:latin typeface="Arial"/>
                <a:ea typeface="Arial"/>
                <a:cs typeface="Arial"/>
              </a:defRPr>
            </a:pPr>
            <a:r>
              <a:rPr sz="2475" b="1">
                <a:solidFill>
                  <a:srgbClr val="062B6F"/>
                </a:solidFill>
                <a:latin typeface="Arial"/>
                <a:ea typeface="Arial"/>
                <a:cs typeface="Arial"/>
              </a:rPr>
              <a:t>56.0%</a:t>
            </a:r>
          </a:p>
        </p:txBody>
      </p:sp>
      <p:sp>
        <p:nvSpPr>
          <p:cNvPr id="259" name="empirical-reduction-label">
            <a:extLst xmlns:a="http://schemas.openxmlformats.org/drawingml/2006/main">
              <a:ext uri="{FF2B5EF4-FFF2-40B4-BE49-F238E27FC236}">
                <a16:creationId xmlns:a16="http://schemas.microsoft.com/office/drawing/2014/main" id="{AFD84EDF-9884-4278-BBF7-8FE46153747C}"/>
              </a:ext>
            </a:extLst>
          </p:cNvPr>
          <p:cNvSpPr>
            <a:spLocks xmlns:a="http://schemas.openxmlformats.org/drawingml/2006/main" noGrp="1"/>
          </p:cNvSpPr>
          <p:nvPr/>
        </p:nvSpPr>
        <p:spPr>
          <a:xfrm xmlns:a="http://schemas.openxmlformats.org/drawingml/2006/main">
            <a:off x="8048625" y="3686175"/>
            <a:ext cx="2714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88" b="1">
                <a:solidFill>
                  <a:srgbClr val="062B6F"/>
                </a:solidFill>
                <a:latin typeface="Arial"/>
                <a:ea typeface="Arial"/>
                <a:cs typeface="Arial"/>
              </a:defRPr>
            </a:pPr>
            <a:r>
              <a:rPr sz="1388" b="1">
                <a:solidFill>
                  <a:srgbClr val="062B6F"/>
                </a:solidFill>
                <a:latin typeface="Arial"/>
                <a:ea typeface="Arial"/>
                <a:cs typeface="Arial"/>
              </a:rPr>
              <a:t>lower encrypted upload</a:t>
            </a:r>
          </a:p>
        </p:txBody>
      </p:sp>
      <p:sp>
        <p:nvSpPr>
          <p:cNvPr id="260" name="empirical-result-body">
            <a:extLst xmlns:a="http://schemas.openxmlformats.org/drawingml/2006/main">
              <a:ext uri="{FF2B5EF4-FFF2-40B4-BE49-F238E27FC236}">
                <a16:creationId xmlns:a16="http://schemas.microsoft.com/office/drawing/2014/main" id="{E4CA0BB8-4229-45A6-AC57-0FE9E601251E}"/>
              </a:ext>
            </a:extLst>
          </p:cNvPr>
          <p:cNvSpPr>
            <a:spLocks xmlns:a="http://schemas.openxmlformats.org/drawingml/2006/main" noGrp="1"/>
          </p:cNvSpPr>
          <p:nvPr/>
        </p:nvSpPr>
        <p:spPr>
          <a:xfrm xmlns:a="http://schemas.openxmlformats.org/drawingml/2006/main">
            <a:off x="6286500" y="44958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38">
                <a:solidFill>
                  <a:srgbClr val="263244"/>
                </a:solidFill>
                <a:latin typeface="Arial"/>
                <a:ea typeface="Arial"/>
                <a:cs typeface="Arial"/>
              </a:defRPr>
            </a:pPr>
            <a:r>
              <a:rPr sz="1238">
                <a:solidFill>
                  <a:srgbClr val="263244"/>
                </a:solidFill>
                <a:latin typeface="Arial"/>
                <a:ea typeface="Arial"/>
                <a:cs typeface="Arial"/>
              </a:rPr>
              <a:t>CAABC-FL met the registered AUROC non-inferiority criterion. AUPRC and operating-point trade-offs remain visible.</a:t>
            </a:r>
          </a:p>
        </p:txBody>
      </p:sp>
      <p:sp>
        <p:nvSpPr>
          <p:cNvPr id="261" name="claim-boundary-note-background">
            <a:extLst xmlns:a="http://schemas.openxmlformats.org/drawingml/2006/main">
              <a:ext uri="{FF2B5EF4-FFF2-40B4-BE49-F238E27FC236}">
                <a16:creationId xmlns:a16="http://schemas.microsoft.com/office/drawing/2014/main" id="{89BF778D-3ECC-4A14-8C88-168408961B2F}"/>
              </a:ext>
            </a:extLst>
          </p:cNvPr>
          <p:cNvSpPr>
            <a:spLocks xmlns:a="http://schemas.openxmlformats.org/drawingml/2006/main" noGrp="1"/>
          </p:cNvSpPr>
          <p:nvPr/>
        </p:nvSpPr>
        <p:spPr>
          <a:xfrm xmlns:a="http://schemas.openxmlformats.org/drawingml/2006/main">
            <a:off x="809625" y="5400675"/>
            <a:ext cx="10239375" cy="457200"/>
          </a:xfrm>
          <a:prstGeom xmlns:a="http://schemas.openxmlformats.org/drawingml/2006/main" prst="rect">
            <a:avLst/>
          </a:prstGeom>
          <a:solidFill xmlns:a="http://schemas.openxmlformats.org/drawingml/2006/main">
            <a:srgbClr val="F6F8FA"/>
          </a:solidFill>
          <a:ln xmlns:a="http://schemas.openxmlformats.org/drawingml/2006/main" w="9525">
            <a:solidFill>
              <a:srgbClr val="D9E2EC"/>
            </a:solidFill>
          </a:ln>
        </p:spPr>
      </p:sp>
      <p:sp>
        <p:nvSpPr>
          <p:cNvPr id="262" name="claim-boundary-note">
            <a:extLst xmlns:a="http://schemas.openxmlformats.org/drawingml/2006/main">
              <a:ext uri="{FF2B5EF4-FFF2-40B4-BE49-F238E27FC236}">
                <a16:creationId xmlns:a16="http://schemas.microsoft.com/office/drawing/2014/main" id="{8C275864-A8A8-4863-8896-58B622F98B54}"/>
              </a:ext>
            </a:extLst>
          </p:cNvPr>
          <p:cNvSpPr>
            <a:spLocks xmlns:a="http://schemas.openxmlformats.org/drawingml/2006/main" noGrp="1"/>
          </p:cNvSpPr>
          <p:nvPr/>
        </p:nvSpPr>
        <p:spPr>
          <a:xfrm xmlns:a="http://schemas.openxmlformats.org/drawingml/2006/main">
            <a:off x="1000125" y="5467350"/>
            <a:ext cx="9858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73" i="1">
                <a:solidFill>
                  <a:srgbClr val="5D6878"/>
                </a:solidFill>
                <a:latin typeface="Arial"/>
                <a:ea typeface="Arial"/>
                <a:cs typeface="Arial"/>
              </a:defRPr>
            </a:pPr>
            <a:r>
              <a:rPr sz="1073" i="1">
                <a:solidFill>
                  <a:srgbClr val="5D6878"/>
                </a:solidFill>
                <a:latin typeface="Arial"/>
                <a:ea typeface="Arial"/>
                <a:cs typeface="Arial"/>
              </a:rPr>
              <a:t>Evidence boundary: claims apply to the evaluated dataset, attacks, seeds, trust assumptions, and deployment environment.</a:t>
            </a:r>
          </a:p>
        </p:txBody>
      </p:sp>
    </p:spTree>
    <p:extLst>
      <p:ext uri="{BB962C8B-B14F-4D97-AF65-F5344CB8AC3E}">
        <p14:creationId xmlns:p14="http://schemas.microsoft.com/office/powerpoint/2010/main" val="3838165317"/>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34</a:t>
            </a:r>
            <a:endParaRPr sz="2800"/>
          </a:p>
        </p:txBody>
      </p:sp>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c20ebcbfbd64f1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lgn="l">
              <a:spcAft>
                <a:spcPts val="1000"/>
              </a:spcAft>
              <a:buChar char="•"/>
              <a:defRPr sz="1500">
                <a:solidFill>
                  <a:srgbClr val="263244"/>
                </a:solidFill>
                <a:latin typeface="Arial"/>
                <a:ea typeface="Arial"/>
                <a:cs typeface="Arial"/>
              </a:defRPr>
            </a:pPr>
            <a:r>
              <a:rPr sz="1500">
                <a:solidFill>
                  <a:srgbClr val="263244"/>
                </a:solidFill>
                <a:latin typeface="Arial"/>
                <a:ea typeface="Arial"/>
                <a:cs typeface="Arial"/>
              </a:rPr>
              <a:t>External validity: One retrospective sepsis cohort, two source hospitals, and one MLP. No prospective or external clinical validation.</a:t>
            </a:r>
          </a:p>
          <a:p xmlns:a="http://schemas.openxmlformats.org/drawingml/2006/main">
            <a:pPr marL="254000" indent="-127000" algn="l">
              <a:spcAft>
                <a:spcPts val="1000"/>
              </a:spcAft>
              <a:buChar char="•"/>
              <a:defRPr sz="1500">
                <a:solidFill>
                  <a:srgbClr val="263244"/>
                </a:solidFill>
                <a:latin typeface="Arial"/>
                <a:ea typeface="Arial"/>
                <a:cs typeface="Arial"/>
              </a:defRPr>
            </a:pPr>
            <a:r>
              <a:rPr sz="1500">
                <a:solidFill>
                  <a:srgbClr val="263244"/>
                </a:solidFill>
                <a:latin typeface="Arial"/>
                <a:ea typeface="Arial"/>
                <a:cs typeface="Arial"/>
              </a:rPr>
              <a:t>Key governance: The main TenSEAL path retains central key custody. The OpenFHE threshold test remains an isolated 3-of-3 experiment.</a:t>
            </a:r>
          </a:p>
          <a:p xmlns:a="http://schemas.openxmlformats.org/drawingml/2006/main">
            <a:pPr marL="254000" indent="-127000" algn="l">
              <a:spcAft>
                <a:spcPts val="1000"/>
              </a:spcAft>
              <a:buChar char="•"/>
              <a:defRPr sz="1500">
                <a:solidFill>
                  <a:srgbClr val="263244"/>
                </a:solidFill>
                <a:latin typeface="Arial"/>
                <a:ea typeface="Arial"/>
                <a:cs typeface="Arial"/>
              </a:defRPr>
            </a:pPr>
            <a:r>
              <a:rPr sz="1500">
                <a:solidFill>
                  <a:srgbClr val="263244"/>
                </a:solidFill>
                <a:latin typeface="Arial"/>
                <a:ea typeface="Arial"/>
                <a:cs typeface="Arial"/>
              </a:rPr>
              <a:t>Deployment realism: Timing came from sequential single-host runs. No wide-area deployment or physical TDX/SEV-SNP cluster was tested.</a:t>
            </a:r>
          </a:p>
          <a:p xmlns:a="http://schemas.openxmlformats.org/drawingml/2006/main">
            <a:pPr marL="254000" indent="-127000" algn="l">
              <a:spcAft>
                <a:spcPts val="1000"/>
              </a:spcAft>
              <a:buChar char="•"/>
              <a:defRPr sz="1500">
                <a:solidFill>
                  <a:srgbClr val="263244"/>
                </a:solidFill>
                <a:latin typeface="Arial"/>
                <a:ea typeface="Arial"/>
                <a:cs typeface="Arial"/>
              </a:defRPr>
            </a:pPr>
            <a:r>
              <a:rPr sz="1500">
                <a:solidFill>
                  <a:srgbClr val="263244"/>
                </a:solidFill>
                <a:latin typeface="Arial"/>
                <a:ea typeface="Arial"/>
                <a:cs typeface="Arial"/>
              </a:rPr>
              <a:t>Evaluation scope: Privacy and poisoning conclusions cover only the registered attacks, five seeds, and evaluated trust assumptions.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lnSpcReduction="10000"/>
          </a:bodyPr>
          <a:lstStyle xmlns:a="http://schemas.openxmlformats.org/drawingml/2006/main"/>
          <a:p xmlns:a="http://schemas.openxmlformats.org/drawingml/2006/main">
            <a:pPr algn="ctr">
              <a:buNone/>
              <a:defRPr sz="1313" b="1" i="0">
                <a:solidFill>
                  <a:srgbClr val="C00000"/>
                </a:solidFill>
                <a:latin typeface="Arial"/>
                <a:ea typeface="Arial"/>
                <a:cs typeface="Arial"/>
              </a:defRPr>
            </a:pPr>
            <a:r>
              <a:rPr sz="1313" b="1" i="0">
                <a:solidFill>
                  <a:srgbClr val="C00000"/>
                </a:solidFill>
                <a:latin typeface="Arial"/>
                <a:ea typeface="Arial"/>
                <a:cs typeface="Arial"/>
              </a:rPr>
              <a:t>Evidence supports bounded protocol-level claims. Clinical and production-security validation remain future work.</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4" name="Picture 1"/>
          <p:cNvPicPr>
            <a:picLocks xmlns:a="http://schemas.openxmlformats.org/drawingml/2006/main" noChangeAspect="1"/>
          </p:cNvPicPr>
          <p:nvPr/>
        </p:nvPicPr>
        <p:blipFill>
          <a:blip xmlns:r="http://schemas.openxmlformats.org/officeDocument/2006/relationships" xmlns:a="http://schemas.openxmlformats.org/drawingml/2006/main" r:embed="Rc7731b1a3990424f"/>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96104022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35</a:t>
            </a:r>
            <a:endParaRPr sz="2800"/>
          </a:p>
        </p:txBody>
      </p:sp>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13feb0cb73d493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8" name="Picture 1"/>
          <p:cNvPicPr>
            <a:picLocks xmlns:a="http://schemas.openxmlformats.org/drawingml/2006/main" noChangeAspect="1"/>
          </p:cNvPicPr>
          <p:nvPr/>
        </p:nvPicPr>
        <p:blipFill>
          <a:blip xmlns:r="http://schemas.openxmlformats.org/officeDocument/2006/relationships" xmlns:a="http://schemas.openxmlformats.org/drawingml/2006/main" r:embed="Re9eddd2bd35148fc"/>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57563943"/>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Conclusion</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36</a:t>
            </a:r>
            <a:endParaRPr sz="2800"/>
          </a:p>
        </p:txBody>
      </p:sp>
      <p:pic>
        <p:nvPicPr>
          <p:cNvPr id="26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9a6bd5370db4d0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9" name="final-conclusion-content-cover">
            <a:extLst xmlns:a="http://schemas.openxmlformats.org/drawingml/2006/main">
              <a:ext uri="{FF2B5EF4-FFF2-40B4-BE49-F238E27FC236}">
                <a16:creationId xmlns:a16="http://schemas.microsoft.com/office/drawing/2014/main" id="{50E68349-A6A5-4612-9F21-F3E7A4C4D983}"/>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0" name="final-conclusion-subtitle">
            <a:extLst xmlns:a="http://schemas.openxmlformats.org/drawingml/2006/main">
              <a:ext uri="{FF2B5EF4-FFF2-40B4-BE49-F238E27FC236}">
                <a16:creationId xmlns:a16="http://schemas.microsoft.com/office/drawing/2014/main" id="{2BC6AE6C-64EB-41C7-9D00-661205D21167}"/>
              </a:ext>
            </a:extLst>
          </p:cNvPr>
          <p:cNvSpPr>
            <a:spLocks xmlns:a="http://schemas.openxmlformats.org/drawingml/2006/main" noGrp="1"/>
          </p:cNvSpPr>
          <p:nvPr/>
        </p:nvSpPr>
        <p:spPr>
          <a:xfrm xmlns:a="http://schemas.openxmlformats.org/drawingml/2006/main">
            <a:off x="1428750" y="1219200"/>
            <a:ext cx="933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The study demonstrates an integrated and empirically evaluated approach to secure multi-institutional federated learning.</a:t>
            </a:r>
          </a:p>
        </p:txBody>
      </p:sp>
      <p:sp>
        <p:nvSpPr>
          <p:cNvPr id="241" name="conclusion-label-1">
            <a:extLst xmlns:a="http://schemas.openxmlformats.org/drawingml/2006/main">
              <a:ext uri="{FF2B5EF4-FFF2-40B4-BE49-F238E27FC236}">
                <a16:creationId xmlns:a16="http://schemas.microsoft.com/office/drawing/2014/main" id="{55301C9E-74C9-48F0-B8EB-051138288CE2}"/>
              </a:ext>
            </a:extLst>
          </p:cNvPr>
          <p:cNvSpPr>
            <a:spLocks xmlns:a="http://schemas.openxmlformats.org/drawingml/2006/main" noGrp="1"/>
          </p:cNvSpPr>
          <p:nvPr/>
        </p:nvSpPr>
        <p:spPr>
          <a:xfrm xmlns:a="http://schemas.openxmlformats.org/drawingml/2006/main">
            <a:off x="1000125" y="176212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Integrated framework</a:t>
            </a:r>
          </a:p>
        </p:txBody>
      </p:sp>
      <p:sp>
        <p:nvSpPr>
          <p:cNvPr id="242" name="conclusion-text-1">
            <a:extLst xmlns:a="http://schemas.openxmlformats.org/drawingml/2006/main">
              <a:ext uri="{FF2B5EF4-FFF2-40B4-BE49-F238E27FC236}">
                <a16:creationId xmlns:a16="http://schemas.microsoft.com/office/drawing/2014/main" id="{9203BA06-2C18-44F9-AF9A-8926F3C28993}"/>
              </a:ext>
            </a:extLst>
          </p:cNvPr>
          <p:cNvSpPr>
            <a:spLocks xmlns:a="http://schemas.openxmlformats.org/drawingml/2006/main" noGrp="1"/>
          </p:cNvSpPr>
          <p:nvPr/>
        </p:nvSpPr>
        <p:spPr>
          <a:xfrm xmlns:a="http://schemas.openxmlformats.org/drawingml/2006/main">
            <a:off x="3810000" y="176212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CAABC-FL combines record-level privacy, ciphertext-aligned compression, CKKS-protected aggregation, controlled model release and auditable governance in one workflow.</a:t>
            </a:r>
          </a:p>
        </p:txBody>
      </p:sp>
      <p:sp>
        <p:nvSpPr>
          <p:cNvPr id="243" name="conclusion-rule-1">
            <a:extLst xmlns:a="http://schemas.openxmlformats.org/drawingml/2006/main">
              <a:ext uri="{FF2B5EF4-FFF2-40B4-BE49-F238E27FC236}">
                <a16:creationId xmlns:a16="http://schemas.microsoft.com/office/drawing/2014/main" id="{4EEC5555-25D0-4A7B-9555-631907CE1AA9}"/>
              </a:ext>
            </a:extLst>
          </p:cNvPr>
          <p:cNvSpPr>
            <a:spLocks xmlns:a="http://schemas.openxmlformats.org/drawingml/2006/main" noGrp="1"/>
          </p:cNvSpPr>
          <p:nvPr/>
        </p:nvSpPr>
        <p:spPr>
          <a:xfrm xmlns:a="http://schemas.openxmlformats.org/drawingml/2006/main">
            <a:off x="904875" y="248602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4" name="conclusion-label-2">
            <a:extLst xmlns:a="http://schemas.openxmlformats.org/drawingml/2006/main">
              <a:ext uri="{FF2B5EF4-FFF2-40B4-BE49-F238E27FC236}">
                <a16:creationId xmlns:a16="http://schemas.microsoft.com/office/drawing/2014/main" id="{0F568816-CA8C-4564-9B39-0858575AA86D}"/>
              </a:ext>
            </a:extLst>
          </p:cNvPr>
          <p:cNvSpPr>
            <a:spLocks xmlns:a="http://schemas.openxmlformats.org/drawingml/2006/main" noGrp="1"/>
          </p:cNvSpPr>
          <p:nvPr/>
        </p:nvSpPr>
        <p:spPr>
          <a:xfrm xmlns:a="http://schemas.openxmlformats.org/drawingml/2006/main">
            <a:off x="1000125" y="266700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Experimental evidence</a:t>
            </a:r>
          </a:p>
        </p:txBody>
      </p:sp>
      <p:sp>
        <p:nvSpPr>
          <p:cNvPr id="245" name="conclusion-text-2">
            <a:extLst xmlns:a="http://schemas.openxmlformats.org/drawingml/2006/main">
              <a:ext uri="{FF2B5EF4-FFF2-40B4-BE49-F238E27FC236}">
                <a16:creationId xmlns:a16="http://schemas.microsoft.com/office/drawing/2014/main" id="{E768B45E-A1C0-4488-B9DD-6E0B2F66E259}"/>
              </a:ext>
            </a:extLst>
          </p:cNvPr>
          <p:cNvSpPr>
            <a:spLocks xmlns:a="http://schemas.openxmlformats.org/drawingml/2006/main" noGrp="1"/>
          </p:cNvSpPr>
          <p:nvPr/>
        </p:nvSpPr>
        <p:spPr>
          <a:xfrm xmlns:a="http://schemas.openxmlformats.org/drawingml/2006/main">
            <a:off x="3810000" y="266700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registered experiments retained comparable predictive utility, reduced serialized encrypted upload, and limited membership and reconstruction exposure under the tested settings.</a:t>
            </a:r>
          </a:p>
        </p:txBody>
      </p:sp>
      <p:sp>
        <p:nvSpPr>
          <p:cNvPr id="246" name="conclusion-rule-2">
            <a:extLst xmlns:a="http://schemas.openxmlformats.org/drawingml/2006/main">
              <a:ext uri="{FF2B5EF4-FFF2-40B4-BE49-F238E27FC236}">
                <a16:creationId xmlns:a16="http://schemas.microsoft.com/office/drawing/2014/main" id="{27686754-AAB5-4C53-A24A-891ECCEC6F40}"/>
              </a:ext>
            </a:extLst>
          </p:cNvPr>
          <p:cNvSpPr>
            <a:spLocks xmlns:a="http://schemas.openxmlformats.org/drawingml/2006/main" noGrp="1"/>
          </p:cNvSpPr>
          <p:nvPr/>
        </p:nvSpPr>
        <p:spPr>
          <a:xfrm xmlns:a="http://schemas.openxmlformats.org/drawingml/2006/main">
            <a:off x="904875" y="3390900"/>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7" name="conclusion-label-3">
            <a:extLst xmlns:a="http://schemas.openxmlformats.org/drawingml/2006/main">
              <a:ext uri="{FF2B5EF4-FFF2-40B4-BE49-F238E27FC236}">
                <a16:creationId xmlns:a16="http://schemas.microsoft.com/office/drawing/2014/main" id="{9C9379D0-AC92-4052-B686-80553A665FAB}"/>
              </a:ext>
            </a:extLst>
          </p:cNvPr>
          <p:cNvSpPr>
            <a:spLocks xmlns:a="http://schemas.openxmlformats.org/drawingml/2006/main" noGrp="1"/>
          </p:cNvSpPr>
          <p:nvPr/>
        </p:nvSpPr>
        <p:spPr>
          <a:xfrm xmlns:a="http://schemas.openxmlformats.org/drawingml/2006/main">
            <a:off x="1000125" y="357187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Robust collaboration</a:t>
            </a:r>
          </a:p>
        </p:txBody>
      </p:sp>
      <p:sp>
        <p:nvSpPr>
          <p:cNvPr id="248" name="conclusion-text-3">
            <a:extLst xmlns:a="http://schemas.openxmlformats.org/drawingml/2006/main">
              <a:ext uri="{FF2B5EF4-FFF2-40B4-BE49-F238E27FC236}">
                <a16:creationId xmlns:a16="http://schemas.microsoft.com/office/drawing/2014/main" id="{0524D455-E99B-4935-991A-AABA968123A2}"/>
              </a:ext>
            </a:extLst>
          </p:cNvPr>
          <p:cNvSpPr>
            <a:spLocks xmlns:a="http://schemas.openxmlformats.org/drawingml/2006/main" noGrp="1"/>
          </p:cNvSpPr>
          <p:nvPr/>
        </p:nvSpPr>
        <p:spPr>
          <a:xfrm xmlns:a="http://schemas.openxmlformats.org/drawingml/2006/main">
            <a:off x="3810000" y="357187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Validation, reputation, rollback and audit controls improved resilience under the evaluated poisoning scenarios while preserving the protected aggregation path.</a:t>
            </a:r>
          </a:p>
        </p:txBody>
      </p:sp>
      <p:sp>
        <p:nvSpPr>
          <p:cNvPr id="249" name="conclusion-rule-3">
            <a:extLst xmlns:a="http://schemas.openxmlformats.org/drawingml/2006/main">
              <a:ext uri="{FF2B5EF4-FFF2-40B4-BE49-F238E27FC236}">
                <a16:creationId xmlns:a16="http://schemas.microsoft.com/office/drawing/2014/main" id="{466410C8-6CA1-4F80-B7C4-95089CAFD4E3}"/>
              </a:ext>
            </a:extLst>
          </p:cNvPr>
          <p:cNvSpPr>
            <a:spLocks xmlns:a="http://schemas.openxmlformats.org/drawingml/2006/main" noGrp="1"/>
          </p:cNvSpPr>
          <p:nvPr/>
        </p:nvSpPr>
        <p:spPr>
          <a:xfrm xmlns:a="http://schemas.openxmlformats.org/drawingml/2006/main">
            <a:off x="904875" y="429577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50" name="conclusion-label-4">
            <a:extLst xmlns:a="http://schemas.openxmlformats.org/drawingml/2006/main">
              <a:ext uri="{FF2B5EF4-FFF2-40B4-BE49-F238E27FC236}">
                <a16:creationId xmlns:a16="http://schemas.microsoft.com/office/drawing/2014/main" id="{12411998-3451-485E-AAB6-3E660EF5F96F}"/>
              </a:ext>
            </a:extLst>
          </p:cNvPr>
          <p:cNvSpPr>
            <a:spLocks xmlns:a="http://schemas.openxmlformats.org/drawingml/2006/main" noGrp="1"/>
          </p:cNvSpPr>
          <p:nvPr/>
        </p:nvSpPr>
        <p:spPr>
          <a:xfrm xmlns:a="http://schemas.openxmlformats.org/drawingml/2006/main">
            <a:off x="1000125" y="447675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Claim boundary</a:t>
            </a:r>
          </a:p>
        </p:txBody>
      </p:sp>
      <p:sp>
        <p:nvSpPr>
          <p:cNvPr id="251" name="conclusion-text-4">
            <a:extLst xmlns:a="http://schemas.openxmlformats.org/drawingml/2006/main">
              <a:ext uri="{FF2B5EF4-FFF2-40B4-BE49-F238E27FC236}">
                <a16:creationId xmlns:a16="http://schemas.microsoft.com/office/drawing/2014/main" id="{F34CFDE2-6AB9-4104-BC0D-718F99F35090}"/>
              </a:ext>
            </a:extLst>
          </p:cNvPr>
          <p:cNvSpPr>
            <a:spLocks xmlns:a="http://schemas.openxmlformats.org/drawingml/2006/main" noGrp="1"/>
          </p:cNvSpPr>
          <p:nvPr/>
        </p:nvSpPr>
        <p:spPr>
          <a:xfrm xmlns:a="http://schemas.openxmlformats.org/drawingml/2006/main">
            <a:off x="3810000" y="447675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results support a defensible research system rather than universal security or production readiness; broader clinical, threshold-custody and multi-host validation remains necessary.</a:t>
            </a:r>
          </a:p>
        </p:txBody>
      </p:sp>
      <p:sp>
        <p:nvSpPr>
          <p:cNvPr id="252" name="final-conclusion-takeaway-box">
            <a:extLst xmlns:a="http://schemas.openxmlformats.org/drawingml/2006/main">
              <a:ext uri="{FF2B5EF4-FFF2-40B4-BE49-F238E27FC236}">
                <a16:creationId xmlns:a16="http://schemas.microsoft.com/office/drawing/2014/main" id="{93A03521-FD85-4E02-BDBD-F814A62381B3}"/>
              </a:ext>
            </a:extLst>
          </p:cNvPr>
          <p:cNvSpPr>
            <a:spLocks xmlns:a="http://schemas.openxmlformats.org/drawingml/2006/main" noGrp="1"/>
          </p:cNvSpPr>
          <p:nvPr/>
        </p:nvSpPr>
        <p:spPr>
          <a:xfrm xmlns:a="http://schemas.openxmlformats.org/drawingml/2006/main">
            <a:off x="1476375" y="5391150"/>
            <a:ext cx="9239250" cy="619125"/>
          </a:xfrm>
          <a:prstGeom xmlns:a="http://schemas.openxmlformats.org/drawingml/2006/main" prst="roundRect">
            <a:avLst>
              <a:gd name="adj" fmla="val 12308"/>
            </a:avLst>
          </a:prstGeom>
          <a:solidFill xmlns:a="http://schemas.openxmlformats.org/drawingml/2006/main">
            <a:srgbClr val="E8F4EE"/>
          </a:solidFill>
          <a:ln xmlns:a="http://schemas.openxmlformats.org/drawingml/2006/main" w="15240">
            <a:solidFill>
              <a:srgbClr val="008A46"/>
            </a:solidFill>
          </a:ln>
        </p:spPr>
      </p:sp>
      <p:sp>
        <p:nvSpPr>
          <p:cNvPr id="253" name="final-conclusion-takeaway">
            <a:extLst xmlns:a="http://schemas.openxmlformats.org/drawingml/2006/main">
              <a:ext uri="{FF2B5EF4-FFF2-40B4-BE49-F238E27FC236}">
                <a16:creationId xmlns:a16="http://schemas.microsoft.com/office/drawing/2014/main" id="{FFBA74EA-F6D6-4A91-9CEB-D8D4A2E86B04}"/>
              </a:ext>
            </a:extLst>
          </p:cNvPr>
          <p:cNvSpPr>
            <a:spLocks xmlns:a="http://schemas.openxmlformats.org/drawingml/2006/main" noGrp="1"/>
          </p:cNvSpPr>
          <p:nvPr/>
        </p:nvSpPr>
        <p:spPr>
          <a:xfrm xmlns:a="http://schemas.openxmlformats.org/drawingml/2006/main">
            <a:off x="1762125" y="5467350"/>
            <a:ext cx="866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389" lnSpcReduction="10000"/>
          </a:bodyPr>
          <a:lstStyle xmlns:a="http://schemas.openxmlformats.org/drawingml/2006/main"/>
          <a:p xmlns:a="http://schemas.openxmlformats.org/drawingml/2006/main">
            <a:pPr algn="ctr">
              <a:buNone/>
              <a:defRPr sz="1350" b="1">
                <a:solidFill>
                  <a:srgbClr val="17365D"/>
                </a:solidFill>
                <a:latin typeface="Arial"/>
                <a:ea typeface="Arial"/>
                <a:cs typeface="Arial"/>
              </a:defRPr>
            </a:pPr>
            <a:r>
              <a:rPr sz="1350" b="1">
                <a:solidFill>
                  <a:srgbClr val="17365D"/>
                </a:solidFill>
                <a:latin typeface="Arial"/>
                <a:ea typeface="Arial"/>
                <a:cs typeface="Arial"/>
              </a:rPr>
              <a:t>CAABC-FL shows that privacy, encrypted communication efficiency, poisoning resilience and accountability can be evaluated together within one multi-institutional learning protocol.</a:t>
            </a:r>
          </a:p>
        </p:txBody>
      </p:sp>
      <p:sp>
        <p:nvSpPr>
          <p:cNvPr id="256" name="single-paragraph-conclusion-cover">
            <a:extLst xmlns:a="http://schemas.openxmlformats.org/drawingml/2006/main">
              <a:ext uri="{FF2B5EF4-FFF2-40B4-BE49-F238E27FC236}">
                <a16:creationId xmlns:a16="http://schemas.microsoft.com/office/drawing/2014/main" id="{AA2F1210-C3F2-464B-90AB-E3BF8155DA48}"/>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7" name="single-paragraph-conclusion">
            <a:extLst xmlns:a="http://schemas.openxmlformats.org/drawingml/2006/main">
              <a:ext uri="{FF2B5EF4-FFF2-40B4-BE49-F238E27FC236}">
                <a16:creationId xmlns:a16="http://schemas.microsoft.com/office/drawing/2014/main" id="{A3A3039E-D759-4431-B294-D81D3AD9C089}"/>
              </a:ext>
            </a:extLst>
          </p:cNvPr>
          <p:cNvSpPr>
            <a:spLocks xmlns:a="http://schemas.openxmlformats.org/drawingml/2006/main" noGrp="1"/>
          </p:cNvSpPr>
          <p:nvPr/>
        </p:nvSpPr>
        <p:spPr>
          <a:xfrm xmlns:a="http://schemas.openxmlformats.org/drawingml/2006/main">
            <a:off x="1381125" y="1952625"/>
            <a:ext cx="9429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725">
                <a:solidFill>
                  <a:srgbClr val="263244"/>
                </a:solidFill>
                <a:latin typeface="Arial"/>
                <a:ea typeface="Arial"/>
                <a:cs typeface="Arial"/>
              </a:defRPr>
            </a:pPr>
            <a:r>
              <a:rPr sz="1725">
                <a:solidFill>
                  <a:srgbClr val="263244"/>
                </a:solidFill>
                <a:latin typeface="Arial"/>
                <a:ea typeface="Arial"/>
                <a:cs typeface="Arial"/>
              </a:rPr>
              <a:t>This thesis developed CAABC-FL as an integrated framework for secure multi-institutional federated learning. The system combines record-level differential privacy, ciphertext-aligned adaptive compression, CKKS-protected aggregation, controlled model release, poisoning-aware validation, and auditable governance within a single workflow. Across the registered experiments, CAABC-FL maintained comparable predictive utility, reduced serialized encrypted upload, limited membership-inference and gradient-reconstruction exposure, and improved resilience under the evaluated poisoning scenarios. These findings demonstrate that privacy, communication efficiency, robustness, and accountability can be addressed together, while broader clinical validation, real multi-host deployment, and dropout-tolerant threshold custody remain necessary before production use.</a:t>
            </a:r>
          </a:p>
        </p:txBody>
      </p:sp>
      <p:pic>
        <p:nvPicPr>
          <p:cNvPr id="296" name="Picture 1"/>
          <p:cNvPicPr>
            <a:picLocks xmlns:a="http://schemas.openxmlformats.org/drawingml/2006/main" noChangeAspect="1"/>
          </p:cNvPicPr>
          <p:nvPr/>
        </p:nvPicPr>
        <p:blipFill>
          <a:blip xmlns:r="http://schemas.openxmlformats.org/officeDocument/2006/relationships" xmlns:a="http://schemas.openxmlformats.org/drawingml/2006/main" r:embed="Rcf4d58cf18ce4514"/>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3557563943"/>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37</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57e1293fa364ef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6" name="Picture 1"/>
          <p:cNvPicPr>
            <a:picLocks xmlns:a="http://schemas.openxmlformats.org/drawingml/2006/main" noChangeAspect="1"/>
          </p:cNvPicPr>
          <p:nvPr/>
        </p:nvPicPr>
        <p:blipFill>
          <a:blip xmlns:r="http://schemas.openxmlformats.org/officeDocument/2006/relationships" xmlns:a="http://schemas.openxmlformats.org/drawingml/2006/main" r:embed="Ra599ce14903549b6"/>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42205720"/>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38</a:t>
            </a:r>
            <a:endParaRPr sz="2800"/>
          </a:p>
        </p:txBody>
      </p:sp>
      <p:pic>
        <p:nvPicPr>
          <p:cNvPr id="23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c4089b95b064b8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6" name="Picture 1"/>
          <p:cNvPicPr>
            <a:picLocks xmlns:a="http://schemas.openxmlformats.org/drawingml/2006/main" noChangeAspect="1"/>
          </p:cNvPicPr>
          <p:nvPr/>
        </p:nvPicPr>
        <p:blipFill>
          <a:blip xmlns:r="http://schemas.openxmlformats.org/officeDocument/2006/relationships" xmlns:a="http://schemas.openxmlformats.org/drawingml/2006/main" r:embed="Rf0a6b09a4f1a4f8a"/>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243780179"/>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Thesis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39</a:t>
            </a:r>
            <a:endParaRPr sz="2800"/>
          </a:p>
        </p:txBody>
      </p:sp>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ce5f2e4f8954a6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7"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40" name="Picture 1"/>
          <p:cNvPicPr>
            <a:picLocks xmlns:a="http://schemas.openxmlformats.org/drawingml/2006/main" noChangeAspect="1"/>
          </p:cNvPicPr>
          <p:nvPr/>
        </p:nvPicPr>
        <p:blipFill>
          <a:blip xmlns:r="http://schemas.openxmlformats.org/officeDocument/2006/relationships" xmlns:a="http://schemas.openxmlformats.org/drawingml/2006/main" r:embed="Rf1ef45237eac4437"/>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40</a:t>
            </a:r>
            <a:endParaRPr sz="2800"/>
          </a:p>
        </p:txBody>
      </p:sp>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e49e67e3631419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54" name="Picture 2"/>
          <p:cNvPicPr>
            <a:picLocks xmlns:a="http://schemas.openxmlformats.org/drawingml/2006/main" noChangeAspect="1"/>
          </p:cNvPicPr>
          <p:nvPr/>
        </p:nvPicPr>
        <p:blipFill>
          <a:blip xmlns:r="http://schemas.openxmlformats.org/officeDocument/2006/relationships" xmlns:a="http://schemas.openxmlformats.org/drawingml/2006/main" r:embed="Ra3797f0a71784480"/>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41</a:t>
            </a:r>
            <a:endParaRPr sz="2800"/>
          </a:p>
        </p:txBody>
      </p:sp>
      <p:pic>
        <p:nvPicPr>
          <p:cNvPr id="22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69d6fa77b494ee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29"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01e40f65ab3048f6">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2" name="Picture 1"/>
          <p:cNvPicPr>
            <a:picLocks xmlns:a="http://schemas.openxmlformats.org/drawingml/2006/main" noChangeAspect="1"/>
          </p:cNvPicPr>
          <p:nvPr/>
        </p:nvPicPr>
        <p:blipFill>
          <a:blip xmlns:r="http://schemas.openxmlformats.org/officeDocument/2006/relationships" xmlns:a="http://schemas.openxmlformats.org/drawingml/2006/main" r:embed="Rd7d3957f5c2f4960"/>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909310205"/>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d8ab93dbbb564a01">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42c06fe5b1a4ac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42</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619" name="Picture 1"/>
          <p:cNvPicPr>
            <a:picLocks xmlns:a="http://schemas.openxmlformats.org/drawingml/2006/main" noChangeAspect="1"/>
          </p:cNvPicPr>
          <p:nvPr/>
        </p:nvPicPr>
        <p:blipFill>
          <a:blip xmlns:r="http://schemas.openxmlformats.org/officeDocument/2006/relationships" xmlns:a="http://schemas.openxmlformats.org/drawingml/2006/main" r:embed="R368297ab53974ece"/>
          <a:stretch xmlns:a="http://schemas.openxmlformats.org/drawingml/2006/main">
            <a:fillRect l="0" t="0" r="0" b="0"/>
          </a:stretch>
        </p:blipFill>
        <p:spPr>
          <a:xfrm xmlns:a="http://schemas.openxmlformats.org/drawingml/2006/main">
            <a:off x="452560" y="285995"/>
            <a:ext cx="772088" cy="772088"/>
          </a:xfrm>
          <a:prstGeom xmlns:a="http://schemas.openxmlformats.org/drawingml/2006/main" prst="rect">
            <a:avLst/>
          </a:prstGeom>
        </p:spPr>
      </p:pic>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2026-09-24T18:09:26.3830000Z</dcterms:created>
  <dcterms:modified xsi:type="dcterms:W3CDTF">2026-09-24T18:09:26.3830000Z</dcterms:modified>
</coreProperties>
</file>